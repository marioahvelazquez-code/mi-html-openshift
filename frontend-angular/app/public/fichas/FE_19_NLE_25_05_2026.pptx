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302" r:id="rId46"/>
    <p:sldId id="287" r:id="rId8"/>
    <p:sldId id="262" r:id="rId9"/>
    <p:sldId id="263" r:id="rId10"/>
    <p:sldId id="303" r:id="rId47"/>
    <p:sldId id="280" r:id="rId11"/>
    <p:sldId id="267" r:id="rId12"/>
    <p:sldId id="298" r:id="rId13"/>
    <p:sldId id="304" r:id="rId48"/>
    <p:sldId id="305" r:id="rId49"/>
    <p:sldId id="306" r:id="rId50"/>
    <p:sldId id="307" r:id="rId51"/>
    <p:sldId id="281" r:id="rId14"/>
    <p:sldId id="308" r:id="rId4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BF915-2AE0-CD0C-C535-360A98581E24}" v="2" dt="2026-05-12T23:24:46.35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4" Type="http://schemas.openxmlformats.org/officeDocument/2006/relationships/slide" Target="slides/slide32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13.495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13.495" v="0"/>
        <pc:sldMkLst>
          <pc:docMk/>
          <pc:sldMk cId="2914491268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3:10.817" v="122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3:55.521" v="111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3:55.521" v="111" actId="1036"/>
          <ac:spMkLst>
            <pc:docMk/>
            <pc:sldMk cId="0" sldId="260"/>
            <ac:spMk id="7" creationId="{8382AF01-7334-4981-80B3-0CFDE2EEDB3F}"/>
          </ac:spMkLst>
        </pc:spChg>
        <pc:graphicFrameChg chg="add mod">
          <ac:chgData name="Edgar Rosales Ortega" userId="d1d54fc2-1570-4978-babc-e22e1526833f" providerId="ADAL" clId="{66BE7C30-C669-4152-AC74-10076FC0590C}" dt="2026-04-30T23:13:45.630" v="41" actId="1076"/>
          <ac:graphicFrameMkLst>
            <pc:docMk/>
            <pc:sldMk cId="0" sldId="260"/>
            <ac:graphicFrameMk id="6" creationId="{05D392A7-4856-B5FA-7BA0-DACBE1B0143E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3:55.521" v="111" actId="1036"/>
          <ac:picMkLst>
            <pc:docMk/>
            <pc:sldMk cId="0" sldId="260"/>
            <ac:picMk id="5" creationId="{6CC13DD0-CDE9-DA9A-B21F-4F6777C651C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4-23T16:24:58.541" v="24" actId="1076"/>
        <pc:sldMkLst>
          <pc:docMk/>
          <pc:sldMk cId="0" sldId="261"/>
        </pc:sldMkLst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6" creationId="{9A60B5AE-6A52-40E0-BA55-4A26B285A8CB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7" creationId="{61D90382-60EB-098E-75D1-0BEC13CE7E81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9" creationId="{3FCEE298-4446-4A50-BD3E-D57BC2E1A790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2" creationId="{28619D78-1686-20B9-2ABA-6F2391182686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3" creationId="{A26AEFA8-5436-75D3-C758-BA8AA5B3E09E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4" creationId="{447CD27E-6218-1FB9-1FAE-A2237CEC39ED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5" creationId="{8F81BDF3-E550-6075-30DD-797C29A5FB27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27" creationId="{F2714972-880C-9688-5F2A-6F90DD3AA8FA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29" creationId="{4A5AFF74-816E-A49A-0D84-693297F31E69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0" creationId="{B1EC9B91-702F-6C44-5D6C-23F8928BE439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2" creationId="{006AD9CD-2780-E740-1C8C-6EACF39C50C6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3" creationId="{5F123575-3BEE-8375-1288-E5091D498E81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4" creationId="{F291BCB1-6C69-CE80-1204-77B7A34B5960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5" creationId="{FECB2C17-083B-8E9A-9318-544388B7FA0C}"/>
          </ac:spMkLst>
        </pc:spChg>
        <pc:grpChg chg="add mod">
          <ac:chgData name="Edgar Rosales Ortega" userId="d1d54fc2-1570-4978-babc-e22e1526833f" providerId="ADAL" clId="{66BE7C30-C669-4152-AC74-10076FC0590C}" dt="2026-04-23T16:24:45.419" v="22"/>
          <ac:grpSpMkLst>
            <pc:docMk/>
            <pc:sldMk cId="0" sldId="261"/>
            <ac:grpSpMk id="15" creationId="{6F1E9E07-5573-4BB2-3BB0-C8509AE0A884}"/>
          </ac:grpSpMkLst>
        </pc:grpChg>
        <pc:grpChg chg="add mod">
          <ac:chgData name="Edgar Rosales Ortega" userId="d1d54fc2-1570-4978-babc-e22e1526833f" providerId="ADAL" clId="{66BE7C30-C669-4152-AC74-10076FC0590C}" dt="2026-04-23T16:24:58.541" v="24" actId="1076"/>
          <ac:grpSpMkLst>
            <pc:docMk/>
            <pc:sldMk cId="0" sldId="261"/>
            <ac:grpSpMk id="26" creationId="{A36DF2AC-F32D-ADD1-3964-F97564924BEE}"/>
          </ac:grpSpMkLst>
        </pc:grpChg>
        <pc:picChg chg="mod">
          <ac:chgData name="Edgar Rosales Ortega" userId="d1d54fc2-1570-4978-babc-e22e1526833f" providerId="ADAL" clId="{66BE7C30-C669-4152-AC74-10076FC0590C}" dt="2026-04-23T16:24:45.419" v="22"/>
          <ac:picMkLst>
            <pc:docMk/>
            <pc:sldMk cId="0" sldId="261"/>
            <ac:picMk id="18" creationId="{E80D2EB8-2C4E-5C34-8FD5-5E1D5E74BCC5}"/>
          </ac:picMkLst>
        </pc:picChg>
        <pc:picChg chg="mod">
          <ac:chgData name="Edgar Rosales Ortega" userId="d1d54fc2-1570-4978-babc-e22e1526833f" providerId="ADAL" clId="{66BE7C30-C669-4152-AC74-10076FC0590C}" dt="2026-04-23T16:24:45.419" v="22"/>
          <ac:picMkLst>
            <pc:docMk/>
            <pc:sldMk cId="0" sldId="261"/>
            <ac:picMk id="21" creationId="{FA077940-501E-A491-26CF-906DA2019C2D}"/>
          </ac:picMkLst>
        </pc:picChg>
        <pc:picChg chg="mod">
          <ac:chgData name="Edgar Rosales Ortega" userId="d1d54fc2-1570-4978-babc-e22e1526833f" providerId="ADAL" clId="{66BE7C30-C669-4152-AC74-10076FC0590C}" dt="2026-04-23T16:24:58.541" v="24" actId="1076"/>
          <ac:picMkLst>
            <pc:docMk/>
            <pc:sldMk cId="0" sldId="261"/>
            <ac:picMk id="28" creationId="{AEE7FE33-1622-ABF4-9C1F-173008E6A736}"/>
          </ac:picMkLst>
        </pc:picChg>
        <pc:picChg chg="mod">
          <ac:chgData name="Edgar Rosales Ortega" userId="d1d54fc2-1570-4978-babc-e22e1526833f" providerId="ADAL" clId="{66BE7C30-C669-4152-AC74-10076FC0590C}" dt="2026-04-23T16:24:58.541" v="24" actId="1076"/>
          <ac:picMkLst>
            <pc:docMk/>
            <pc:sldMk cId="0" sldId="261"/>
            <ac:picMk id="31" creationId="{84F9DA91-1702-5E82-DDF7-148673E1F2A2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2:27.653" v="114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2:33.750" v="116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2:19.926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9:15.807" v="2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2:42.568" v="117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2:42.568" v="117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1:16.485" v="113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57.821" v="37" actId="1076"/>
          <ac:spMkLst>
            <pc:docMk/>
            <pc:sldMk cId="0" sldId="279"/>
            <ac:spMk id="2" creationId="{27F5C3B4-C02D-4899-6560-7B5406E99DC1}"/>
          </ac:spMkLst>
        </pc:spChg>
        <pc:spChg chg="mod">
          <ac:chgData name="Edgar Rosales Ortega" userId="d1d54fc2-1570-4978-babc-e22e1526833f" providerId="ADAL" clId="{66BE7C30-C669-4152-AC74-10076FC0590C}" dt="2026-05-05T18:01:16.485" v="113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2:17.039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9:19.271" v="2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59.310" v="112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3:10.817" v="122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3:10.817" v="122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2:12.129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9:22.354" v="2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2:57.037" v="11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2:57.037" v="119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1:21.129" v="7"/>
        <pc:sldMkLst>
          <pc:docMk/>
          <pc:sldMk cId="3015847869" sldId="298"/>
        </pc:sldMkLst>
      </pc:sldChg>
    </pc:docChg>
  </pc:docChgLst>
  <pc:docChgLst>
    <pc:chgData name="Gerardo Jahir Lara Garcia" userId="S::gerardo.larag@imss.gob.mx::84d5cd65-4601-4e92-b448-a9da4809e012" providerId="AD" clId="Web-{10DBF915-2AE0-CD0C-C535-360A98581E24}"/>
    <pc:docChg chg="modSld">
      <pc:chgData name="Gerardo Jahir Lara Garcia" userId="S::gerardo.larag@imss.gob.mx::84d5cd65-4601-4e92-b448-a9da4809e012" providerId="AD" clId="Web-{10DBF915-2AE0-CD0C-C535-360A98581E24}" dt="2026-05-12T23:24:46.355" v="1"/>
      <pc:docMkLst>
        <pc:docMk/>
      </pc:docMkLst>
      <pc:sldChg chg="addSp">
        <pc:chgData name="Gerardo Jahir Lara Garcia" userId="S::gerardo.larag@imss.gob.mx::84d5cd65-4601-4e92-b448-a9da4809e012" providerId="AD" clId="Web-{10DBF915-2AE0-CD0C-C535-360A98581E24}" dt="2026-05-12T23:24:46.355" v="1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3" creationId="{ABCC6279-D2EB-1F1F-D811-3FFF80887FF1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6" creationId="{4578A0AA-9DC1-3453-263A-76BE5A8BE282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10DBF915-2AE0-CD0C-C535-360A98581E24}" dt="2026-05-12T23:24:46.355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46.355" v="1"/>
          <ac:picMkLst>
            <pc:docMk/>
            <pc:sldMk cId="364733940" sldId="284"/>
            <ac:picMk id="8" creationId="{4F2E1097-3694-6090-CBA5-667DCD67E48E}"/>
          </ac:picMkLst>
        </pc:picChg>
      </pc:sldChg>
      <pc:sldChg chg="addSp">
        <pc:chgData name="Gerardo Jahir Lara Garcia" userId="S::gerardo.larag@imss.gob.mx::84d5cd65-4601-4e92-b448-a9da4809e012" providerId="AD" clId="Web-{10DBF915-2AE0-CD0C-C535-360A98581E24}" dt="2026-05-12T23:24:35.230" v="0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12" creationId="{CA535D92-E281-11D7-D7CB-F8BAB9F176B8}"/>
          </ac:spMkLst>
        </pc:sp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8" creationId="{170CBE01-E044-2F44-556A-69D0B561DC01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4430739.0</c:v>
                </c:pt>
                <c:pt idx="1">
                  <c:v>329033.0</c:v>
                </c:pt>
                <c:pt idx="2">
                  <c:v>1734290.0</c:v>
                </c:pt>
                <c:pt idx="3">
                  <c:v>22140.0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33.94936978141786</c:v>
                </c:pt>
                <c:pt idx="1">
                  <c:v>66.05063021858214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9.4813941774</c:v>
                </c:pt>
                <c:pt idx="1">
                  <c:v>90.5186058226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33.22</c:v>
                </c:pt>
                <c:pt idx="1">
                  <c:v>66.78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33.67</c:v>
                </c:pt>
                <c:pt idx="1">
                  <c:v>66.33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</c:v>
                </c:pt>
                <c:pt idx="1">
                  <c:v>677</c:v>
                </c:pt>
                <c:pt idx="2">
                  <c:v>637</c:v>
                </c:pt>
                <c:pt idx="3">
                  <c:v>614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 de la Construcción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4761</c:v>
                </c:pt>
                <c:pt idx="1">
                  <c:v>392984</c:v>
                </c:pt>
                <c:pt idx="2">
                  <c:v>169579</c:v>
                </c:pt>
                <c:pt idx="3">
                  <c:v>11255</c:v>
                </c:pt>
                <c:pt idx="4">
                  <c:v>177038</c:v>
                </c:pt>
                <c:pt idx="5">
                  <c:v>668430</c:v>
                </c:pt>
                <c:pt idx="6">
                  <c:v>129462</c:v>
                </c:pt>
                <c:pt idx="7">
                  <c:v>12109</c:v>
                </c:pt>
                <c:pt idx="8">
                  <c:v>382409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 de la Construcción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4395</c:v>
                </c:pt>
                <c:pt idx="1">
                  <c:v>393144</c:v>
                </c:pt>
                <c:pt idx="2">
                  <c:v>170161</c:v>
                </c:pt>
                <c:pt idx="3">
                  <c:v>11347</c:v>
                </c:pt>
                <c:pt idx="4">
                  <c:v>178679</c:v>
                </c:pt>
                <c:pt idx="5">
                  <c:v>676535</c:v>
                </c:pt>
                <c:pt idx="6">
                  <c:v>131689</c:v>
                </c:pt>
                <c:pt idx="7">
                  <c:v>12470</c:v>
                </c:pt>
                <c:pt idx="8">
                  <c:v>394477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1594494</c:v>
                </c:pt>
                <c:pt idx="1">
                  <c:v>1638911</c:v>
                </c:pt>
                <c:pt idx="2">
                  <c:v>1597182</c:v>
                </c:pt>
                <c:pt idx="3">
                  <c:v>1648874</c:v>
                </c:pt>
                <c:pt idx="4">
                  <c:v>1735312</c:v>
                </c:pt>
                <c:pt idx="5">
                  <c:v>1826259</c:v>
                </c:pt>
                <c:pt idx="6">
                  <c:v>1898720</c:v>
                </c:pt>
                <c:pt idx="7">
                  <c:v>1948027</c:v>
                </c:pt>
                <c:pt idx="8">
                  <c:v>1972897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Nuevo León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_Nuevo Le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68%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4,430,739</a:t>
            </a:r>
            <a:br/>
            <a:r>
              <a:t>68%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329,033</a:t>
            </a:r>
            <a:br/>
            <a:r>
              <a:t>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1,734,290</a:t>
            </a:r>
            <a:br/>
            <a:r>
              <a:t>27%</a:t>
            </a:r>
          </a:p>
        </p:txBody>
      </p:sp>
      <p:pic>
        <p:nvPicPr>
          <p:cNvPr id="125" name="Picture 124" descr="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9555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22,140</a:t>
            </a:r>
            <a:br/>
            <a:r>
              <a:t>0.34%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6,516,202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4,122,799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4,458,754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2,310,445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2,557,298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1,608,191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1,972,897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329,831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326,998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193,710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1,812,354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1,901,456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663,871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898,001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819,245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3,460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21,965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29,929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976514392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9_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557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2,658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1,082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46 UMF, 3 UMFH, 1 UMF-UMAA y no incluye 7 Unidades Auxiliares de Medicina Familiar.</a:t>
            </a:r>
            <a:br/>
            <a:r>
              <a:t>3. Incluye la UMFR 1 unidades.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7;g3d0b4d3c5c9_2_44">
            <a:extLst>
              <a:ext uri="{FF2B5EF4-FFF2-40B4-BE49-F238E27FC236}">
                <a16:creationId xmlns:a16="http://schemas.microsoft.com/office/drawing/2014/main" id="{6CC13DD0-CDE9-DA9A-B21F-4F6777C651C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10" y="2003451"/>
            <a:ext cx="2632199" cy="23748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200;g3d0b4d3c5c9_2_44">
            <a:extLst>
              <a:ext uri="{FF2B5EF4-FFF2-40B4-BE49-F238E27FC236}">
                <a16:creationId xmlns:a16="http://schemas.microsoft.com/office/drawing/2014/main" id="{05D392A7-4856-B5FA-7BA0-DACBE1B014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336266"/>
              </p:ext>
            </p:extLst>
          </p:nvPr>
        </p:nvGraphicFramePr>
        <p:xfrm>
          <a:off x="288000" y="1191600"/>
          <a:ext cx="7198700" cy="51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Traumatologia y Ortopedia No. 21, Monterrey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382AF01-7334-4981-80B3-0CFDE2EEDB3F}"/>
              </a:ext>
            </a:extLst>
          </p:cNvPr>
          <p:cNvSpPr txBox="1"/>
          <p:nvPr/>
        </p:nvSpPr>
        <p:spPr>
          <a:xfrm>
            <a:off x="2985371" y="1884624"/>
            <a:ext cx="452330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</a:t>
            </a:r>
            <a:r>
              <a:rPr lang="es-ES" sz="105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1 de noviembre de 1945, se inicia la atención médica y servicios de seguridad social en la entidad.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primera unidad en abrir fue la Unidad de Medicina Familiar No. 3</a:t>
            </a:r>
            <a:r>
              <a:rPr lang="es-ES" sz="105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,</a:t>
            </a: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que funcionó como el primer punto de atención primaria para trabajadores y sus familias.</a:t>
            </a:r>
            <a:endParaRPr lang="es-ES" sz="1050" i="0" u="none" strike="noStrike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15 de mayo de 1952 se inauguró el primer hospital que operó formalmente bajo el IMSS en Monterrey,  Unidad Médica de Alta Especialidad No. 21 de Traumatología y Ortopedia.</a:t>
            </a: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Este hospital se convirtió en el primer establecimiento hospitalario de mayor complejidad en la región, y brindó cobertura principalmente a trabajadores de la industria siderúrgica, cementera, vidriera, cervecera.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19_NUEVO_LE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6F1E9E07-5573-4BB2-3BB0-C8509AE0A884}"/>
              </a:ext>
            </a:extLst>
          </p:cNvPr>
          <p:cNvGrpSpPr/>
          <p:nvPr/>
        </p:nvGrpSpPr>
        <p:grpSpPr>
          <a:xfrm>
            <a:off x="538696" y="4827421"/>
            <a:ext cx="6695008" cy="4050179"/>
            <a:chOff x="538696" y="4827421"/>
            <a:chExt cx="6695008" cy="4050179"/>
          </a:xfrm>
        </p:grpSpPr>
        <p:sp>
          <p:nvSpPr>
            <p:cNvPr id="16" name="Google Shape;234;g3d635d120e2_2_8">
              <a:extLst>
                <a:ext uri="{FF2B5EF4-FFF2-40B4-BE49-F238E27FC236}">
                  <a16:creationId xmlns:a16="http://schemas.microsoft.com/office/drawing/2014/main" id="{9A60B5AE-6A52-40E0-BA55-4A26B285A8CB}"/>
                </a:ext>
              </a:extLst>
            </p:cNvPr>
            <p:cNvSpPr/>
            <p:nvPr/>
          </p:nvSpPr>
          <p:spPr>
            <a:xfrm>
              <a:off x="1532270" y="6767998"/>
              <a:ext cx="1734278" cy="2755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35;g3d635d120e2_2_8">
              <a:extLst>
                <a:ext uri="{FF2B5EF4-FFF2-40B4-BE49-F238E27FC236}">
                  <a16:creationId xmlns:a16="http://schemas.microsoft.com/office/drawing/2014/main" id="{61D90382-60EB-098E-75D1-0BEC13CE7E81}"/>
                </a:ext>
              </a:extLst>
            </p:cNvPr>
            <p:cNvSpPr/>
            <p:nvPr/>
          </p:nvSpPr>
          <p:spPr>
            <a:xfrm>
              <a:off x="1083240" y="6767998"/>
              <a:ext cx="460404" cy="2755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4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8" name="Google Shape;236;g3d635d120e2_2_8">
              <a:extLst>
                <a:ext uri="{FF2B5EF4-FFF2-40B4-BE49-F238E27FC236}">
                  <a16:creationId xmlns:a16="http://schemas.microsoft.com/office/drawing/2014/main" id="{E80D2EB8-2C4E-5C34-8FD5-5E1D5E74BCC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8603" y="5611330"/>
              <a:ext cx="2163582" cy="11397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242;g3d635d120e2_2_8">
              <a:extLst>
                <a:ext uri="{FF2B5EF4-FFF2-40B4-BE49-F238E27FC236}">
                  <a16:creationId xmlns:a16="http://schemas.microsoft.com/office/drawing/2014/main" id="{3FCEE298-4446-4A50-BD3E-D57BC2E1A790}"/>
                </a:ext>
              </a:extLst>
            </p:cNvPr>
            <p:cNvSpPr txBox="1"/>
            <p:nvPr/>
          </p:nvSpPr>
          <p:spPr>
            <a:xfrm>
              <a:off x="1273686" y="7056785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17 Monterrey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4 Guadalupe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HTO 21 Monterrey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$118.7 mdp</a:t>
              </a:r>
              <a:endParaRPr sz="1300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0" name="Google Shape;229;g3d635d120e2_2_8">
              <a:extLst>
                <a:ext uri="{FF2B5EF4-FFF2-40B4-BE49-F238E27FC236}">
                  <a16:creationId xmlns:a16="http://schemas.microsoft.com/office/drawing/2014/main" id="{E627C803-CBD1-F47B-CFAE-CAF8DA45223F}"/>
                </a:ext>
              </a:extLst>
            </p:cNvPr>
            <p:cNvGrpSpPr/>
            <p:nvPr/>
          </p:nvGrpSpPr>
          <p:grpSpPr>
            <a:xfrm>
              <a:off x="4498304" y="6727131"/>
              <a:ext cx="1976199" cy="390948"/>
              <a:chOff x="5290923" y="7426607"/>
              <a:chExt cx="2192702" cy="381007"/>
            </a:xfrm>
          </p:grpSpPr>
          <p:sp>
            <p:nvSpPr>
              <p:cNvPr id="24" name="Google Shape;230;g3d635d120e2_2_8">
                <a:extLst>
                  <a:ext uri="{FF2B5EF4-FFF2-40B4-BE49-F238E27FC236}">
                    <a16:creationId xmlns:a16="http://schemas.microsoft.com/office/drawing/2014/main" id="{447CD27E-6218-1FB9-1FAE-A2237CEC39ED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10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25" name="Google Shape;231;g3d635d120e2_2_8">
                <a:extLst>
                  <a:ext uri="{FF2B5EF4-FFF2-40B4-BE49-F238E27FC236}">
                    <a16:creationId xmlns:a16="http://schemas.microsoft.com/office/drawing/2014/main" id="{8F81BDF3-E550-6075-30DD-797C29A5FB27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1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" name="Google Shape;232;g3d635d120e2_2_8">
              <a:extLst>
                <a:ext uri="{FF2B5EF4-FFF2-40B4-BE49-F238E27FC236}">
                  <a16:creationId xmlns:a16="http://schemas.microsoft.com/office/drawing/2014/main" id="{FA077940-501E-A491-26CF-906DA2019C2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96151" y="5400982"/>
              <a:ext cx="2233472" cy="1404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41;g3d635d120e2_2_8">
              <a:extLst>
                <a:ext uri="{FF2B5EF4-FFF2-40B4-BE49-F238E27FC236}">
                  <a16:creationId xmlns:a16="http://schemas.microsoft.com/office/drawing/2014/main" id="{28619D78-1686-20B9-2ABA-6F2391182686}"/>
                </a:ext>
              </a:extLst>
            </p:cNvPr>
            <p:cNvSpPr txBox="1"/>
            <p:nvPr/>
          </p:nvSpPr>
          <p:spPr>
            <a:xfrm>
              <a:off x="4306560" y="7071000"/>
              <a:ext cx="2382600" cy="180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25" tIns="89025" rIns="89025" bIns="89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</a:pPr>
              <a:r>
                <a:rPr lang="es" sz="1266" b="1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UMF</a:t>
              </a:r>
              <a:endParaRPr sz="1266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</a:pPr>
              <a:r>
                <a:rPr lang="es" sz="974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UMF 14 Cadereyta, UMF 35 Monterrey, UMF 31 San Nicolas de los Garza, UMF 43 Escobedo</a:t>
              </a:r>
              <a:endParaRPr sz="974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</a:pPr>
              <a:r>
                <a:rPr lang="es" sz="1266" b="1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Hospitales</a:t>
              </a:r>
              <a:endParaRPr sz="1266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1"/>
                <a:buFont typeface="Arial"/>
                <a:buNone/>
              </a:pPr>
              <a:r>
                <a:rPr lang="es" sz="974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HGO 23 Monterrey, HGZ 17 Monterrey, HGZMF 6 S. Nicolás de los Garza, HGSMF 11 Montemorelos, HGZ 33 Félix U. Gómez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1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$33.8 mdp</a:t>
              </a:r>
              <a:endParaRPr sz="1300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</a:pPr>
              <a:endParaRPr sz="1266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26AEFA8-5436-75D3-C758-BA8AA5B3E09E}"/>
                </a:ext>
              </a:extLst>
            </p:cNvPr>
            <p:cNvSpPr txBox="1"/>
            <p:nvPr/>
          </p:nvSpPr>
          <p:spPr>
            <a:xfrm>
              <a:off x="538696" y="4827421"/>
              <a:ext cx="66950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Fortalecimiento de equipo médico</a:t>
              </a:r>
              <a:endParaRPr lang="es-ES" b="0" dirty="0">
                <a:effectLst/>
              </a:endParaRPr>
            </a:p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Compra 2025-2026 equipo mayor  (Instalación abril-mayo)</a:t>
              </a:r>
              <a:endParaRPr lang="es-MX" dirty="0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36DF2AC-F32D-ADD1-3964-F97564924BEE}"/>
              </a:ext>
            </a:extLst>
          </p:cNvPr>
          <p:cNvGrpSpPr/>
          <p:nvPr/>
        </p:nvGrpSpPr>
        <p:grpSpPr>
          <a:xfrm>
            <a:off x="663634" y="6394488"/>
            <a:ext cx="6695008" cy="3487808"/>
            <a:chOff x="557617" y="4459671"/>
            <a:chExt cx="6695008" cy="3487808"/>
          </a:xfrm>
        </p:grpSpPr>
        <p:sp>
          <p:nvSpPr>
            <p:cNvPr id="27" name="Google Shape;237;g3d635d120e2_2_8">
              <a:extLst>
                <a:ext uri="{FF2B5EF4-FFF2-40B4-BE49-F238E27FC236}">
                  <a16:creationId xmlns:a16="http://schemas.microsoft.com/office/drawing/2014/main" id="{F2714972-880C-9688-5F2A-6F90DD3AA8FA}"/>
                </a:ext>
              </a:extLst>
            </p:cNvPr>
            <p:cNvSpPr/>
            <p:nvPr/>
          </p:nvSpPr>
          <p:spPr>
            <a:xfrm>
              <a:off x="1287255" y="6871239"/>
              <a:ext cx="2010300" cy="3735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8" name="Google Shape;238;g3d635d120e2_2_8">
              <a:extLst>
                <a:ext uri="{FF2B5EF4-FFF2-40B4-BE49-F238E27FC236}">
                  <a16:creationId xmlns:a16="http://schemas.microsoft.com/office/drawing/2014/main" id="{AEE7FE33-1622-ABF4-9C1F-173008E6A736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3394" y="5326097"/>
              <a:ext cx="2437581" cy="1545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39;g3d635d120e2_2_8">
              <a:extLst>
                <a:ext uri="{FF2B5EF4-FFF2-40B4-BE49-F238E27FC236}">
                  <a16:creationId xmlns:a16="http://schemas.microsoft.com/office/drawing/2014/main" id="{4A5AFF74-816E-A49A-0D84-693297F31E69}"/>
                </a:ext>
              </a:extLst>
            </p:cNvPr>
            <p:cNvSpPr/>
            <p:nvPr/>
          </p:nvSpPr>
          <p:spPr>
            <a:xfrm>
              <a:off x="813398" y="6889679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0" name="Google Shape;243;g3d635d120e2_2_8">
              <a:extLst>
                <a:ext uri="{FF2B5EF4-FFF2-40B4-BE49-F238E27FC236}">
                  <a16:creationId xmlns:a16="http://schemas.microsoft.com/office/drawing/2014/main" id="{B1EC9B91-702F-6C44-5D6C-23F8928BE439}"/>
                </a:ext>
              </a:extLst>
            </p:cNvPr>
            <p:cNvSpPr txBox="1"/>
            <p:nvPr/>
          </p:nvSpPr>
          <p:spPr>
            <a:xfrm>
              <a:off x="891795" y="7300829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25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</a:rPr>
                <a:t>$40.6 mdp</a:t>
              </a:r>
              <a:endParaRPr lang="es" sz="1300" b="1" dirty="0">
                <a:solidFill>
                  <a:schemeClr val="dk2"/>
                </a:solidFill>
                <a:latin typeface="Montserrat"/>
                <a:sym typeface="Montserrat"/>
              </a:endParaRPr>
            </a:p>
          </p:txBody>
        </p:sp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84F9DA91-1702-5E82-DDF7-148673E1F2A2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7734" y="5178830"/>
              <a:ext cx="2197135" cy="1965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Google Shape;237;g3d635d120e2_2_8">
              <a:extLst>
                <a:ext uri="{FF2B5EF4-FFF2-40B4-BE49-F238E27FC236}">
                  <a16:creationId xmlns:a16="http://schemas.microsoft.com/office/drawing/2014/main" id="{006AD9CD-2780-E740-1C8C-6EACF39C50C6}"/>
                </a:ext>
              </a:extLst>
            </p:cNvPr>
            <p:cNvSpPr/>
            <p:nvPr/>
          </p:nvSpPr>
          <p:spPr>
            <a:xfrm>
              <a:off x="4998031" y="7114079"/>
              <a:ext cx="1826838" cy="3735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Angiógrafo</a:t>
              </a:r>
              <a:endParaRPr sz="1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" name="Google Shape;239;g3d635d120e2_2_8">
              <a:extLst>
                <a:ext uri="{FF2B5EF4-FFF2-40B4-BE49-F238E27FC236}">
                  <a16:creationId xmlns:a16="http://schemas.microsoft.com/office/drawing/2014/main" id="{5F123575-3BEE-8375-1288-E5091D498E81}"/>
                </a:ext>
              </a:extLst>
            </p:cNvPr>
            <p:cNvSpPr/>
            <p:nvPr/>
          </p:nvSpPr>
          <p:spPr>
            <a:xfrm>
              <a:off x="4543831" y="7123474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4" name="Google Shape;243;g3d635d120e2_2_8">
              <a:extLst>
                <a:ext uri="{FF2B5EF4-FFF2-40B4-BE49-F238E27FC236}">
                  <a16:creationId xmlns:a16="http://schemas.microsoft.com/office/drawing/2014/main" id="{F291BCB1-6C69-CE80-1204-77B7A34B5960}"/>
                </a:ext>
              </a:extLst>
            </p:cNvPr>
            <p:cNvSpPr txBox="1"/>
            <p:nvPr/>
          </p:nvSpPr>
          <p:spPr>
            <a:xfrm>
              <a:off x="4974425" y="7516379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</a:rPr>
                <a:t>$25.3 mdp</a:t>
              </a:r>
              <a:endParaRPr lang="es" sz="1300" b="1" dirty="0">
                <a:solidFill>
                  <a:schemeClr val="dk2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ECB2C17-083B-8E9A-9318-544388B7FA0C}"/>
                </a:ext>
              </a:extLst>
            </p:cNvPr>
            <p:cNvSpPr txBox="1"/>
            <p:nvPr/>
          </p:nvSpPr>
          <p:spPr>
            <a:xfrm>
              <a:off x="557617" y="4459671"/>
              <a:ext cx="66950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Fortalecimiento de equipo médico</a:t>
              </a:r>
              <a:endParaRPr lang="es-ES" b="0" dirty="0">
                <a:effectLst/>
              </a:endParaRPr>
            </a:p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Compra 2025-2026 equipo mayor  (Instalación abril-mayo)</a:t>
              </a:r>
              <a:endParaRPr lang="es-MX" dirty="0"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19108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B47F6B8-3D81-1F6D-BBBD-610B44398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50BAFD6-A418-706F-1BEE-901C47C1522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0323EF9-3D95-46FC-1F11-6282A6A2B567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666A425-99C8-FE55-B993-C52B0B7830DF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589BCC6-E47E-A7A7-2E53-6C9BD31FB292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7030EF-CEDF-3320-1981-AA79D2D29757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6592EC-604D-D607-CEFD-A4AD87C69C0C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+27,591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+752,007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+155,568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7,479,758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752,007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2,549,817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7,464,504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1,869,251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155,568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687,694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2,070,280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119,452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27,591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45,805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136,056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60,948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Gral. Teran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196,188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68,785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48,032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Anáhuac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Lampazos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Villa Aldama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China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Galeana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Dr. Arroyo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Cerralvo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Agualeguas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Aramberri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La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294,601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105,621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Hualahuises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San Rafael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92,679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46,014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Dr. González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64,795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San Nicolas de los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122,181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97,900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43,217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217,548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510,680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1,504,240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19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9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8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19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1,504,240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9036A9B7-BAF4-52BB-2C3C-B325A3B7219A}"/>
              </a:ext>
            </a:extLst>
          </p:cNvPr>
          <p:cNvSpPr txBox="1"/>
          <p:nvPr/>
        </p:nvSpPr>
        <p:spPr>
          <a:xfrm>
            <a:off x="4282734" y="6179801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8 Nuevas UMTC con   27 consultorios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C37F19-71B3-7E8E-95D3-685C11090B9A}"/>
              </a:ext>
            </a:extLst>
          </p:cNvPr>
          <p:cNvSpPr txBox="1"/>
          <p:nvPr/>
        </p:nvSpPr>
        <p:spPr>
          <a:xfrm>
            <a:off x="4581075" y="7217881"/>
            <a:ext cx="3191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HGZMF 6 S. Nicolas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73 San Nicolas de los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36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72 Buena Vista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26 Monterrey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 (113 consultorios)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(613,481 consultas)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1200" y="1695600"/>
          <a:ext cx="7473599" cy="34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El Cercado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11,646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29,050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442,430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40,119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146,809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14 Cadereyta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106,748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41,397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16 Allende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21,049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Apodaca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81,195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V.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199,722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67,917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Villa García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62,026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 San Pedro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362,165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128,129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51,670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151,536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Ciénega Flores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74,416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26,148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43,052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371,644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121,157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401,295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136,611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S. Nicolas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27,028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132,740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413,280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Salinas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24,681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29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53,332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134,231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Pino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304,145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101,893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Escobedo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282,838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98,318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S. Pedro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38,711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Sta. Catarina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137,189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47,646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420202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74,556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-12,080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44,754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64,601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227,779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80,658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57,124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138,706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50,248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17,113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1,120,123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47,014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404,331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1,152,670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4950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UMFR 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188,644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17,452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64,523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53,415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315,451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52,873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120,991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25,742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HPSIQ 22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749,128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108,554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283,363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917,610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1,869,251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155,568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687,694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2,070,280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826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898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33.2%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988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826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2,070,280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553201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12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58,930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9,023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20,174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66,435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4305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60,522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25,631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69,621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119,452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27,591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45,805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136,056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04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776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33.7%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866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04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136,056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127 en Hospitales, 2 en sede, 22 en UMF y 248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807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807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463998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463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847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25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Cardiología 34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20C4CA6-8BFA-859B-3085-CED55AF65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724064"/>
              </p:ext>
            </p:extLst>
          </p:nvPr>
        </p:nvGraphicFramePr>
        <p:xfrm>
          <a:off x="287050" y="92718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15,916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3,842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31,963	 Personal de Salud: 22,232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4,704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7,203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7,964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5,086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2,084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31,714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1,295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383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399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8,743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3,285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45,037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(432,283)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(47,954)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(5,952)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(7,061)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(408,579)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(37,308)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(3,179)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(7,056)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(86,770)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(29,899)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(2,824)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(4,844)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(78,709)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(28,515)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(53,118)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(19,617)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(1,975)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(2,319)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293,884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4,431,795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295,650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4,192,701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FAB3-3619-9B51-51CB-ABBE2426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1,776,849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833,877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652,220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579,457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550,601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449,354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Amlodipino, tableta o cápsula (presión alta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381,315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332,687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324,570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290,365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49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673293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016882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030672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8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2931281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29450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9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853785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197372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03613" y="428150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Resonancia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Magnética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29560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5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$1,582.6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20 unidades, Nuevo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$193.6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20 unidades,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8 unidades (H. de Cardiología No. 34 Monterrey,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de Gineco-Obst. No. 23 Monterrey, HGZ No.17, HGZ No.2, HGZ No. 33, en Monterrey, HGZ No.4 Guadalupe, HGZ No.6 San Nicolas de los Garza, HGZ No.67 Apodaca)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$162.2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9 unidades (HGSZ No.12 Linares, HGZ No.17, HGZ No.2, HGZ No.33 en Monterrey; HGZ No.4 Guadalupe, HGZ No.67 Apodaca, HGZ No.6, UMAA  No.65, UMAA No.7, en San Nicolas de los Garza)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subdelegaciones No.1, 2, 3 y 4 Nuevo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13 unidades,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4 unidades (HGZ No.17, HGZ No.33 en Monterrey; HGZ No.4 Guadalupe, HGZ No.6 San Nicolas de los Garza)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$2,218.9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7344000"/>
          <a:ext cx="52956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9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53  piezas de equipo médico: 4 congeladores horizontales de refrigerantes para vacunas, 21 refrigeradores para vacunas, 4 refrigeradores congeladores de 5.4 pies cúbicos, 3 unidades de anestesia básicas (con protección antimagnética), 1 barrera de cristal de plomo, 1 cofre de plomo, 1 monitor de radiación de pared, 2 monitores de signos vitales para el traslado del paciente, (con protección antimagnética), 5 mastógrafos digitales con estereotaxia y tomosíntesis, 4 unidades para 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95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UMF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Santa Catarina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$2,892.5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No.15  Monterrey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$481.6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10 + 5  Benito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UMF Plus General Escobedo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$207.3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UMF Plus Salinas Victoria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$203.6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$4,005.8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3275994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3959992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42 Equipos electromecánicos para 7 unidades; 4 elevadores, 11 equipos de casa de máquinas, 21 equipos de aire acondicionado, 4 lavadoras y 2 secadoras.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4,847.0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277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77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Atención Oncológica HGZ No. 47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$264.0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Plus No. 1, Paraje San José II García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Santa Catarina (ZIMIX)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Clínica de Detección de Cáncer de mama, Fuente Bella General Escobedo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$200.0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Simulación para la Excelencia Clínica y Quirúrgica en la ciudad de Monterrey, Nuevo León.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$164.4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Santa Cecilia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$160.0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Remodelación Teatro IMSS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Club del Adulto Mayor CSS No. 1 Monterrey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$4.2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2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$1,310.6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4535989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21998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590398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1,310.6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Pesquería, Escobedo (3), Zuazua, García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82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0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validación o en integración de expediente para donación: 7 en Pesquería, Escobedo, Zuazua, García y Monterrey.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12,505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2,976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STyA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Subdelegación No.4, Monterrey , NL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 1, Monterrey 2 (San Nicolás de Los Garza), Cadereyta Jiménez (No. 5), Guadalupe Cercado (No. 3), Linares (No. 7), Montemorelos (No. 6), Sabinas Hidalgo (No. 4) e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32 Monterrey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9_n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14,068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Soriana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-7.69%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+0.93%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+1.72%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+2.98%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1,769,266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172,917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1,948,027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1,796,953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170,248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1,972,897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7F5C3B4-C02D-4899-6560-7B5406E99DC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$723.80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$397.12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$723.80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$21,714.0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Aeropuertos y Servicios Auxiliares Sin Tipo de Sociedad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Banobras Fid 2012 Sistema Integral del Tránsito Metropolitano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Global Facilities Management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$27.29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Educativa Metropolitana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Talento en Ingeniería de Soluciones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4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055600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 (113 consultorios)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5600"/>
          <a:ext cx="7473599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66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203,361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73,327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68 Rincón de la Sierra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57,421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Lincoln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47,150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Zuazua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33,635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71 Metroplex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140,739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48,410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5,188,389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460,180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1,772,563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5,165,072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241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241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Cardiología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997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997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1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1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221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221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121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121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con UMAA No.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Física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248 especialistas (sustitutos)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Imagenología Molecular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293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1035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600171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6001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6001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6001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6001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con UMAA No. 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6001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Física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60017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452</Words>
  <Application>Microsoft Office PowerPoint</Application>
  <PresentationFormat>Personalizado</PresentationFormat>
  <Paragraphs>111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96</cp:revision>
  <dcterms:modified xsi:type="dcterms:W3CDTF">2026-05-12T23:24:46Z</dcterms:modified>
</cp:coreProperties>
</file>