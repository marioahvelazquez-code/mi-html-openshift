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301" r:id="rId45"/>
    <p:sldId id="281" r:id="rId14"/>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387EAA75-3293-46ED-BD4E-698FF24301C3}">
          <p14:sldIdLst>
            <p14:sldId id="256"/>
            <p14:sldId id="289"/>
            <p14:sldId id="258"/>
            <p14:sldId id="259"/>
            <p14:sldId id="260"/>
            <p14:sldId id="261"/>
            <p14:sldId id="287"/>
            <p14:sldId id="262"/>
            <p14:sldId id="263"/>
            <p14:sldId id="280"/>
            <p14:sldId id="267"/>
            <p14:sldId id="298"/>
            <p14:sldId id="281"/>
            <p14:sldId id="288"/>
            <p14:sldId id="270"/>
            <p14:sldId id="271"/>
            <p14:sldId id="272"/>
            <p14:sldId id="300"/>
            <p14:sldId id="297"/>
            <p14:sldId id="284"/>
            <p14:sldId id="299"/>
            <p14:sldId id="277"/>
            <p14:sldId id="278"/>
            <p14:sldId id="279"/>
          </p14:sldIdLst>
        </p14:section>
      </p14:sectionLst>
    </p:ex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5D6879-095E-CAE2-58A5-48CDE842E8CD}" v="13" dt="2026-05-12T23:36:03.44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5" Type="http://schemas.openxmlformats.org/officeDocument/2006/relationships/slide" Target="slides/slide25.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7:02.153" v="0"/>
      <pc:docMkLst>
        <pc:docMk/>
      </pc:docMkLst>
      <pc:sldChg chg="add">
        <pc:chgData name="Carlos Esponda Rosales" userId="08a2b2cc-6d12-4dea-90fe-c484bece8186" providerId="ADAL" clId="{6846A1DD-3EC1-5A12-B3C5-9C410579EE4F}" dt="2026-05-08T17:37:02.153" v="0"/>
        <pc:sldMkLst>
          <pc:docMk/>
          <pc:sldMk cId="4056737297" sldId="300"/>
        </pc:sldMkLst>
      </pc:sldChg>
    </pc:docChg>
  </pc:docChgLst>
  <pc:docChgLst>
    <pc:chgData name="Edgar Rosales Ortega" userId="d1d54fc2-1570-4978-babc-e22e1526833f" providerId="ADAL" clId="{66BE7C30-C669-4152-AC74-10076FC0590C}"/>
    <pc:docChg chg="custSel modSld sldOrd delSection modSection">
      <pc:chgData name="Edgar Rosales Ortega" userId="d1d54fc2-1570-4978-babc-e22e1526833f" providerId="ADAL" clId="{66BE7C30-C669-4152-AC74-10076FC0590C}" dt="2026-05-07T19:18:41.404" v="95" actId="14100"/>
      <pc:docMkLst>
        <pc:docMk/>
      </pc:docMkLst>
      <pc:sldChg chg="addSp delSp modSp mod">
        <pc:chgData name="Edgar Rosales Ortega" userId="d1d54fc2-1570-4978-babc-e22e1526833f" providerId="ADAL" clId="{66BE7C30-C669-4152-AC74-10076FC0590C}" dt="2026-04-30T23:15:26.805" v="84" actId="1036"/>
        <pc:sldMkLst>
          <pc:docMk/>
          <pc:sldMk cId="0" sldId="260"/>
        </pc:sldMkLst>
        <pc:spChg chg="add mod">
          <ac:chgData name="Edgar Rosales Ortega" userId="d1d54fc2-1570-4978-babc-e22e1526833f" providerId="ADAL" clId="{66BE7C30-C669-4152-AC74-10076FC0590C}" dt="2026-04-30T23:15:26.805" v="84" actId="1036"/>
          <ac:spMkLst>
            <pc:docMk/>
            <pc:sldMk cId="0" sldId="260"/>
            <ac:spMk id="7" creationId="{AB5EBA3F-0462-2907-42E4-8A5B10221247}"/>
          </ac:spMkLst>
        </pc:spChg>
        <pc:graphicFrameChg chg="add mod">
          <ac:chgData name="Edgar Rosales Ortega" userId="d1d54fc2-1570-4978-babc-e22e1526833f" providerId="ADAL" clId="{66BE7C30-C669-4152-AC74-10076FC0590C}" dt="2026-04-30T23:15:19.560" v="30" actId="1076"/>
          <ac:graphicFrameMkLst>
            <pc:docMk/>
            <pc:sldMk cId="0" sldId="260"/>
            <ac:graphicFrameMk id="5" creationId="{B6422C63-C584-DA7D-D548-6D46E70946B8}"/>
          </ac:graphicFrameMkLst>
        </pc:graphicFrameChg>
        <pc:picChg chg="add mod">
          <ac:chgData name="Edgar Rosales Ortega" userId="d1d54fc2-1570-4978-babc-e22e1526833f" providerId="ADAL" clId="{66BE7C30-C669-4152-AC74-10076FC0590C}" dt="2026-04-30T23:15:26.805" v="84" actId="1036"/>
          <ac:picMkLst>
            <pc:docMk/>
            <pc:sldMk cId="0" sldId="260"/>
            <ac:picMk id="6" creationId="{38EBD931-852E-790E-68B4-DD570977E59F}"/>
          </ac:picMkLst>
        </pc:picChg>
      </pc:sldChg>
      <pc:sldChg chg="addSp delSp modSp mod">
        <pc:chgData name="Edgar Rosales Ortega" userId="d1d54fc2-1570-4978-babc-e22e1526833f" providerId="ADAL" clId="{66BE7C30-C669-4152-AC74-10076FC0590C}" dt="2026-05-05T18:02:57.945" v="85" actId="164"/>
        <pc:sldMkLst>
          <pc:docMk/>
          <pc:sldMk cId="0" sldId="261"/>
        </pc:sldMkLst>
        <pc:spChg chg="mod">
          <ac:chgData name="Edgar Rosales Ortega" userId="d1d54fc2-1570-4978-babc-e22e1526833f" providerId="ADAL" clId="{66BE7C30-C669-4152-AC74-10076FC0590C}" dt="2026-05-05T18:02:57.945" v="85" actId="164"/>
          <ac:spMkLst>
            <pc:docMk/>
            <pc:sldMk cId="0" sldId="261"/>
            <ac:spMk id="3" creationId="{FCD9118F-E270-11BA-3B2C-980F56AACEA2}"/>
          </ac:spMkLst>
        </pc:spChg>
        <pc:spChg chg="mod">
          <ac:chgData name="Edgar Rosales Ortega" userId="d1d54fc2-1570-4978-babc-e22e1526833f" providerId="ADAL" clId="{66BE7C30-C669-4152-AC74-10076FC0590C}" dt="2026-05-05T18:02:57.945" v="85" actId="164"/>
          <ac:spMkLst>
            <pc:docMk/>
            <pc:sldMk cId="0" sldId="261"/>
            <ac:spMk id="4" creationId="{5336E88B-A52B-9017-FCD2-22FCAD5C50CA}"/>
          </ac:spMkLst>
        </pc:spChg>
        <pc:spChg chg="mod">
          <ac:chgData name="Edgar Rosales Ortega" userId="d1d54fc2-1570-4978-babc-e22e1526833f" providerId="ADAL" clId="{66BE7C30-C669-4152-AC74-10076FC0590C}" dt="2026-05-05T18:02:57.945" v="85" actId="164"/>
          <ac:spMkLst>
            <pc:docMk/>
            <pc:sldMk cId="0" sldId="261"/>
            <ac:spMk id="6" creationId="{0D5675C5-ADCF-57B9-7A0D-77F34DDB0A00}"/>
          </ac:spMkLst>
        </pc:spChg>
        <pc:spChg chg="add mod">
          <ac:chgData name="Edgar Rosales Ortega" userId="d1d54fc2-1570-4978-babc-e22e1526833f" providerId="ADAL" clId="{66BE7C30-C669-4152-AC74-10076FC0590C}" dt="2026-05-05T18:02:57.945" v="85" actId="164"/>
          <ac:spMkLst>
            <pc:docMk/>
            <pc:sldMk cId="0" sldId="261"/>
            <ac:spMk id="7" creationId="{35EEDBBB-C626-54A9-134F-C8BCFE390D61}"/>
          </ac:spMkLst>
        </pc:spChg>
        <pc:grpChg chg="add mod">
          <ac:chgData name="Edgar Rosales Ortega" userId="d1d54fc2-1570-4978-babc-e22e1526833f" providerId="ADAL" clId="{66BE7C30-C669-4152-AC74-10076FC0590C}" dt="2026-05-05T18:02:57.945" v="85" actId="164"/>
          <ac:grpSpMkLst>
            <pc:docMk/>
            <pc:sldMk cId="0" sldId="261"/>
            <ac:grpSpMk id="5" creationId="{5EEAEDEB-8662-B2ED-CDAF-23FE54DB37D0}"/>
          </ac:grpSpMkLst>
        </pc:grpChg>
        <pc:picChg chg="mod">
          <ac:chgData name="Edgar Rosales Ortega" userId="d1d54fc2-1570-4978-babc-e22e1526833f" providerId="ADAL" clId="{66BE7C30-C669-4152-AC74-10076FC0590C}" dt="2026-05-05T18:02:57.945" v="85" actId="164"/>
          <ac:picMkLst>
            <pc:docMk/>
            <pc:sldMk cId="0" sldId="261"/>
            <ac:picMk id="2" creationId="{2288EA93-70A9-64C8-B438-1B46BA32A3AC}"/>
          </ac:picMkLst>
        </pc:picChg>
      </pc:sldChg>
      <pc:sldChg chg="delSp mod">
        <pc:chgData name="Edgar Rosales Ortega" userId="d1d54fc2-1570-4978-babc-e22e1526833f" providerId="ADAL" clId="{66BE7C30-C669-4152-AC74-10076FC0590C}" dt="2026-05-07T19:18:10.514" v="88" actId="478"/>
        <pc:sldMkLst>
          <pc:docMk/>
          <pc:sldMk cId="0" sldId="262"/>
        </pc:sldMkLst>
      </pc:sldChg>
      <pc:sldChg chg="addSp delSp modSp mod">
        <pc:chgData name="Edgar Rosales Ortega" userId="d1d54fc2-1570-4978-babc-e22e1526833f" providerId="ADAL" clId="{66BE7C30-C669-4152-AC74-10076FC0590C}" dt="2026-05-07T19:18:16.370" v="90" actId="478"/>
        <pc:sldMkLst>
          <pc:docMk/>
          <pc:sldMk cId="0" sldId="263"/>
        </pc:sldMkLst>
      </pc:sldChg>
      <pc:sldChg chg="modSp mod ord">
        <pc:chgData name="Edgar Rosales Ortega" userId="d1d54fc2-1570-4978-babc-e22e1526833f" providerId="ADAL" clId="{66BE7C30-C669-4152-AC74-10076FC0590C}" dt="2026-04-30T15:53:59.883" v="26"/>
        <pc:sldMkLst>
          <pc:docMk/>
          <pc:sldMk cId="0" sldId="267"/>
        </pc:sldMkLst>
        <pc:graphicFrameChg chg="modGraphic">
          <ac:chgData name="Edgar Rosales Ortega" userId="d1d54fc2-1570-4978-babc-e22e1526833f" providerId="ADAL" clId="{66BE7C30-C669-4152-AC74-10076FC0590C}" dt="2026-04-30T00:20:47.800"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18:24.533" v="91"/>
        <pc:sldMkLst>
          <pc:docMk/>
          <pc:sldMk cId="0" sldId="272"/>
        </pc:sldMkLst>
        <pc:graphicFrameChg chg="mod">
          <ac:chgData name="Edgar Rosales Ortega" userId="d1d54fc2-1570-4978-babc-e22e1526833f" providerId="ADAL" clId="{66BE7C30-C669-4152-AC74-10076FC0590C}" dt="2026-05-07T19:18:24.533" v="9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3:17.187" v="87" actId="1076"/>
        <pc:sldMkLst>
          <pc:docMk/>
          <pc:sldMk cId="0" sldId="279"/>
        </pc:sldMkLst>
        <pc:spChg chg="add mod">
          <ac:chgData name="Edgar Rosales Ortega" userId="d1d54fc2-1570-4978-babc-e22e1526833f" providerId="ADAL" clId="{66BE7C30-C669-4152-AC74-10076FC0590C}" dt="2026-04-30T16:28:57.585" v="27" actId="1076"/>
          <ac:spMkLst>
            <pc:docMk/>
            <pc:sldMk cId="0" sldId="279"/>
            <ac:spMk id="2" creationId="{C40E98EE-4DF2-1751-AF7E-15529E7A6F40}"/>
          </ac:spMkLst>
        </pc:spChg>
        <pc:spChg chg="mod">
          <ac:chgData name="Edgar Rosales Ortega" userId="d1d54fc2-1570-4978-babc-e22e1526833f" providerId="ADAL" clId="{66BE7C30-C669-4152-AC74-10076FC0590C}" dt="2026-05-05T18:03:17.187" v="8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3:55.566" v="24"/>
        <pc:sldMkLst>
          <pc:docMk/>
          <pc:sldMk cId="540716406" sldId="280"/>
        </pc:sldMkLst>
        <pc:graphicFrameChg chg="modGraphic">
          <ac:chgData name="Edgar Rosales Ortega" userId="d1d54fc2-1570-4978-babc-e22e1526833f" providerId="ADAL" clId="{66BE7C30-C669-4152-AC74-10076FC0590C}" dt="2026-04-30T00:20:50.808"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3:04.776" v="86" actId="478"/>
        <pc:sldMkLst>
          <pc:docMk/>
          <pc:sldMk cId="3828482411" sldId="281"/>
        </pc:sldMkLst>
      </pc:sldChg>
      <pc:sldChg chg="modSp mod">
        <pc:chgData name="Edgar Rosales Ortega" userId="d1d54fc2-1570-4978-babc-e22e1526833f" providerId="ADAL" clId="{66BE7C30-C669-4152-AC74-10076FC0590C}" dt="2026-05-07T19:18:41.404" v="95" actId="14100"/>
        <pc:sldMkLst>
          <pc:docMk/>
          <pc:sldMk cId="364733940" sldId="284"/>
        </pc:sldMkLst>
        <pc:picChg chg="mod">
          <ac:chgData name="Edgar Rosales Ortega" userId="d1d54fc2-1570-4978-babc-e22e1526833f" providerId="ADAL" clId="{66BE7C30-C669-4152-AC74-10076FC0590C}" dt="2026-05-07T19:18:41.404" v="95"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3:31.390" v="21"/>
        <pc:sldMkLst>
          <pc:docMk/>
          <pc:sldMk cId="748044913" sldId="287"/>
        </pc:sldMkLst>
        <pc:graphicFrameChg chg="modGraphic">
          <ac:chgData name="Edgar Rosales Ortega" userId="d1d54fc2-1570-4978-babc-e22e1526833f" providerId="ADAL" clId="{66BE7C30-C669-4152-AC74-10076FC0590C}" dt="2026-04-30T00:20:54.326"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18:35.208" v="93" actId="14100"/>
        <pc:sldMkLst>
          <pc:docMk/>
          <pc:sldMk cId="3240565764" sldId="297"/>
        </pc:sldMkLst>
        <pc:picChg chg="mod">
          <ac:chgData name="Edgar Rosales Ortega" userId="d1d54fc2-1570-4978-babc-e22e1526833f" providerId="ADAL" clId="{66BE7C30-C669-4152-AC74-10076FC0590C}" dt="2026-05-07T19:18:35.208"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1:59.601" v="1"/>
        <pc:sldMkLst>
          <pc:docMk/>
          <pc:sldMk cId="1524095599" sldId="298"/>
        </pc:sldMkLst>
      </pc:sldChg>
    </pc:docChg>
  </pc:docChgLst>
  <pc:docChgLst>
    <pc:chgData name="Gerardo Jahir Lara Garcia" userId="S::gerardo.larag@imss.gob.mx::84d5cd65-4601-4e92-b448-a9da4809e012" providerId="AD" clId="Web-{785D6879-095E-CAE2-58A5-48CDE842E8CD}"/>
    <pc:docChg chg="modSld">
      <pc:chgData name="Gerardo Jahir Lara Garcia" userId="S::gerardo.larag@imss.gob.mx::84d5cd65-4601-4e92-b448-a9da4809e012" providerId="AD" clId="Web-{785D6879-095E-CAE2-58A5-48CDE842E8CD}" dt="2026-05-12T23:36:03.445" v="11" actId="1076"/>
      <pc:docMkLst>
        <pc:docMk/>
      </pc:docMkLst>
      <pc:sldChg chg="addSp modSp">
        <pc:chgData name="Gerardo Jahir Lara Garcia" userId="S::gerardo.larag@imss.gob.mx::84d5cd65-4601-4e92-b448-a9da4809e012" providerId="AD" clId="Web-{785D6879-095E-CAE2-58A5-48CDE842E8CD}" dt="2026-05-12T23:36:03.445" v="11" actId="1076"/>
        <pc:sldMkLst>
          <pc:docMk/>
          <pc:sldMk cId="364733940" sldId="284"/>
        </pc:sldMkLst>
        <pc:picChg chg="add mod">
          <ac:chgData name="Gerardo Jahir Lara Garcia" userId="S::gerardo.larag@imss.gob.mx::84d5cd65-4601-4e92-b448-a9da4809e012" providerId="AD" clId="Web-{785D6879-095E-CAE2-58A5-48CDE842E8CD}" dt="2026-05-12T23:36:03.445" v="11" actId="1076"/>
          <ac:picMkLst>
            <pc:docMk/>
            <pc:sldMk cId="364733940" sldId="284"/>
            <ac:picMk id="3" creationId="{493BD56D-50F4-B7CD-7D1A-69F0C3A8C29E}"/>
          </ac:picMkLst>
        </pc:picChg>
      </pc:sldChg>
      <pc:sldChg chg="addSp modSp">
        <pc:chgData name="Gerardo Jahir Lara Garcia" userId="S::gerardo.larag@imss.gob.mx::84d5cd65-4601-4e92-b448-a9da4809e012" providerId="AD" clId="Web-{785D6879-095E-CAE2-58A5-48CDE842E8CD}" dt="2026-05-12T23:35:20.694" v="3" actId="1076"/>
        <pc:sldMkLst>
          <pc:docMk/>
          <pc:sldMk cId="3240565764" sldId="297"/>
        </pc:sldMkLst>
        <pc:picChg chg="add mod">
          <ac:chgData name="Gerardo Jahir Lara Garcia" userId="S::gerardo.larag@imss.gob.mx::84d5cd65-4601-4e92-b448-a9da4809e012" providerId="AD" clId="Web-{785D6879-095E-CAE2-58A5-48CDE842E8CD}" dt="2026-05-12T23:35:20.694" v="3" actId="1076"/>
          <ac:picMkLst>
            <pc:docMk/>
            <pc:sldMk cId="3240565764" sldId="297"/>
            <ac:picMk id="3" creationId="{4A354C11-472E-B13F-7640-F22CBC3FCD5B}"/>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1635531.0</c:v>
                </c:pt>
                <c:pt idx="1">
                  <c:v>191529.0</c:v>
                </c:pt>
                <c:pt idx="2">
                  <c:v>861822.0</c:v>
                </c:pt>
                <c:pt idx="3">
                  <c:v>12096.0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28.972419928825623</c:v>
                </c:pt>
                <c:pt idx="1">
                  <c:v>71.02758007117438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15.9867939682</c:v>
                </c:pt>
                <c:pt idx="1">
                  <c:v>84.0132060318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35.57061825536016</c:v>
                </c:pt>
                <c:pt idx="1">
                  <c:v>64.42938174463984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33.30630037001369</c:v>
                </c:pt>
                <c:pt idx="1">
                  <c:v>66.69369962998631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38</c:v>
                </c:pt>
                <c:pt idx="1">
                  <c:v>189</c:v>
                </c:pt>
                <c:pt idx="2">
                  <c:v>200</c:v>
                </c:pt>
                <c:pt idx="3">
                  <c:v>188</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para Empresas, Personas y el Hogar</c:v>
                </c:pt>
                <c:pt idx="4">
                  <c:v>Servicios Sociales y Comunales</c:v>
                </c:pt>
                <c:pt idx="5">
                  <c:v>Comercio</c:v>
                </c:pt>
                <c:pt idx="6">
                  <c:v>Industrias Extractivas</c:v>
                </c:pt>
                <c:pt idx="7">
                  <c:v>Ind Eléctrica y Captación y Suministro de Agua Potable</c:v>
                </c:pt>
                <c:pt idx="8">
                  <c:v>Transportes y Comunicaciones</c:v>
                </c:pt>
              </c:strCache>
            </c:strRef>
          </c:cat>
          <c:val>
            <c:numRef>
              <c:f>Sheet1!$B$2:$B$10</c:f>
              <c:numCache>
                <c:formatCode>General</c:formatCode>
                <c:ptCount val="9"/>
                <c:pt idx="0">
                  <c:v>22806</c:v>
                </c:pt>
                <c:pt idx="1">
                  <c:v>251087</c:v>
                </c:pt>
                <c:pt idx="2">
                  <c:v>62145</c:v>
                </c:pt>
                <c:pt idx="3">
                  <c:v>136566</c:v>
                </c:pt>
                <c:pt idx="4">
                  <c:v>66101</c:v>
                </c:pt>
                <c:pt idx="5">
                  <c:v>125511</c:v>
                </c:pt>
                <c:pt idx="6">
                  <c:v>2172</c:v>
                </c:pt>
                <c:pt idx="7">
                  <c:v>4356</c:v>
                </c:pt>
                <c:pt idx="8">
                  <c:v>46545</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para Empresas, Personas y el Hogar</c:v>
                </c:pt>
                <c:pt idx="4">
                  <c:v>Servicios Sociales y Comunales</c:v>
                </c:pt>
                <c:pt idx="5">
                  <c:v>Comercio</c:v>
                </c:pt>
                <c:pt idx="6">
                  <c:v>Industrias Extractivas</c:v>
                </c:pt>
                <c:pt idx="7">
                  <c:v>Ind Eléctrica y Captación y Suministro de Agua Potable</c:v>
                </c:pt>
                <c:pt idx="8">
                  <c:v>Transportes y Comunicaciones</c:v>
                </c:pt>
              </c:strCache>
            </c:strRef>
          </c:cat>
          <c:val>
            <c:numRef>
              <c:f>Sheet1!$C$2:$C$10</c:f>
              <c:numCache>
                <c:formatCode>General</c:formatCode>
                <c:ptCount val="9"/>
                <c:pt idx="0">
                  <c:v>21112</c:v>
                </c:pt>
                <c:pt idx="1">
                  <c:v>247597</c:v>
                </c:pt>
                <c:pt idx="2">
                  <c:v>61842</c:v>
                </c:pt>
                <c:pt idx="3">
                  <c:v>138883</c:v>
                </c:pt>
                <c:pt idx="4">
                  <c:v>67494</c:v>
                </c:pt>
                <c:pt idx="5">
                  <c:v>129172</c:v>
                </c:pt>
                <c:pt idx="6">
                  <c:v>2287</c:v>
                </c:pt>
                <c:pt idx="7">
                  <c:v>4761</c:v>
                </c:pt>
                <c:pt idx="8">
                  <c:v>51121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567605</c:v>
                </c:pt>
                <c:pt idx="1">
                  <c:v>602636</c:v>
                </c:pt>
                <c:pt idx="2">
                  <c:v>591189</c:v>
                </c:pt>
                <c:pt idx="3">
                  <c:v>614757</c:v>
                </c:pt>
                <c:pt idx="4">
                  <c:v>646893</c:v>
                </c:pt>
                <c:pt idx="5">
                  <c:v>682969</c:v>
                </c:pt>
                <c:pt idx="6">
                  <c:v>709405</c:v>
                </c:pt>
                <c:pt idx="7">
                  <c:v>717289</c:v>
                </c:pt>
                <c:pt idx="8">
                  <c:v>724269</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Querétaro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_Querétar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1,635,531</a:t>
            </a:r>
            <a:br/>
            <a:r>
              <a:t>61%</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191,529</a:t>
            </a:r>
            <a:br/>
            <a:r>
              <a:t>7%</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861,822</a:t>
            </a:r>
            <a:br/>
            <a:r>
              <a:t>32%</a:t>
            </a:r>
          </a:p>
        </p:txBody>
      </p:sp>
      <p:pic>
        <p:nvPicPr>
          <p:cNvPr id="125" name="Picture 124" descr="22.png"/>
          <p:cNvPicPr>
            <a:picLocks noChangeAspect="1"/>
          </p:cNvPicPr>
          <p:nvPr/>
        </p:nvPicPr>
        <p:blipFill>
          <a:blip r:embed="rId8"/>
          <a:stretch>
            <a:fillRect/>
          </a:stretch>
        </p:blipFill>
        <p:spPr>
          <a:xfrm>
            <a:off x="1220400" y="3290400"/>
            <a:ext cx="1393116"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12,096</a:t>
            </a:r>
            <a:br/>
            <a:r>
              <a:t>0.45%</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2,700,978</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1,371,919</a:t>
                      </a:r>
                    </a:p>
                  </a:txBody>
                  <a:tcPr>
                    <a:solidFill>
                      <a:srgbClr val="EBD2D9"/>
                    </a:solidFill>
                  </a:tcPr>
                </a:tc>
                <a:tc>
                  <a:txBody>
                    <a:bodyPr/>
                    <a:lstStyle/>
                    <a:p>
                      <a:pPr algn="ctr">
                        <a:defRPr sz="900" b="1">
                          <a:solidFill>
                            <a:srgbClr val="000000"/>
                          </a:solidFill>
                          <a:latin typeface="Montserrat"/>
                        </a:defRPr>
                      </a:pPr>
                      <a:r>
                        <a:t>1,644,260</a:t>
                      </a:r>
                    </a:p>
                  </a:txBody>
                  <a:tcPr>
                    <a:solidFill>
                      <a:srgbClr val="EBD2D9"/>
                    </a:solidFill>
                  </a:tcPr>
                </a:tc>
                <a:tc>
                  <a:txBody>
                    <a:bodyPr/>
                    <a:lstStyle/>
                    <a:p>
                      <a:pPr algn="ctr">
                        <a:defRPr sz="900" b="1">
                          <a:solidFill>
                            <a:srgbClr val="000000"/>
                          </a:solidFill>
                          <a:latin typeface="Montserrat"/>
                        </a:defRPr>
                      </a:pPr>
                      <a:r>
                        <a:t>20%</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797,662</a:t>
                      </a:r>
                    </a:p>
                  </a:txBody>
                  <a:tcPr>
                    <a:solidFill>
                      <a:srgbClr val="EBD2D9"/>
                    </a:solidFill>
                  </a:tcPr>
                </a:tc>
                <a:tc>
                  <a:txBody>
                    <a:bodyPr/>
                    <a:lstStyle/>
                    <a:p>
                      <a:pPr algn="ctr">
                        <a:defRPr sz="900" b="1">
                          <a:solidFill>
                            <a:srgbClr val="000000"/>
                          </a:solidFill>
                          <a:latin typeface="Montserrat"/>
                        </a:defRPr>
                      </a:pPr>
                      <a:r>
                        <a:t>1,005,466</a:t>
                      </a:r>
                    </a:p>
                  </a:txBody>
                  <a:tcPr>
                    <a:solidFill>
                      <a:srgbClr val="EBD2D9"/>
                    </a:solidFill>
                  </a:tcPr>
                </a:tc>
                <a:tc>
                  <a:txBody>
                    <a:bodyPr/>
                    <a:lstStyle/>
                    <a:p>
                      <a:pPr algn="ctr">
                        <a:defRPr sz="900" b="1">
                          <a:solidFill>
                            <a:srgbClr val="000000"/>
                          </a:solidFill>
                          <a:latin typeface="Montserrat"/>
                        </a:defRPr>
                      </a:pPr>
                      <a:r>
                        <a:t>26%</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576,858</a:t>
                      </a:r>
                    </a:p>
                  </a:txBody>
                  <a:tcPr>
                    <a:solidFill>
                      <a:srgbClr val="F8F4EC"/>
                    </a:solidFill>
                  </a:tcPr>
                </a:tc>
                <a:tc>
                  <a:txBody>
                    <a:bodyPr/>
                    <a:lstStyle/>
                    <a:p>
                      <a:pPr algn="ctr">
                        <a:defRPr sz="900" b="1">
                          <a:solidFill>
                            <a:srgbClr val="000000"/>
                          </a:solidFill>
                          <a:latin typeface="Montserrat"/>
                        </a:defRPr>
                      </a:pPr>
                      <a:r>
                        <a:t>724,269</a:t>
                      </a:r>
                    </a:p>
                  </a:txBody>
                  <a:tcPr>
                    <a:solidFill>
                      <a:srgbClr val="F8F4EC"/>
                    </a:solidFill>
                  </a:tcPr>
                </a:tc>
                <a:tc>
                  <a:txBody>
                    <a:bodyPr/>
                    <a:lstStyle/>
                    <a:p>
                      <a:pPr algn="ctr">
                        <a:defRPr sz="900" b="1">
                          <a:solidFill>
                            <a:srgbClr val="000000"/>
                          </a:solidFill>
                          <a:latin typeface="Montserrat"/>
                        </a:defRPr>
                      </a:pPr>
                      <a:r>
                        <a:t>26%</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74,840</a:t>
                      </a:r>
                    </a:p>
                  </a:txBody>
                  <a:tcPr>
                    <a:solidFill>
                      <a:srgbClr val="FFFFFF"/>
                    </a:solidFill>
                  </a:tcPr>
                </a:tc>
                <a:tc>
                  <a:txBody>
                    <a:bodyPr/>
                    <a:lstStyle/>
                    <a:p>
                      <a:pPr algn="ctr">
                        <a:defRPr sz="900">
                          <a:solidFill>
                            <a:srgbClr val="000000"/>
                          </a:solidFill>
                          <a:latin typeface="Montserrat"/>
                        </a:defRPr>
                      </a:pPr>
                      <a:r>
                        <a:t>134,003</a:t>
                      </a:r>
                    </a:p>
                  </a:txBody>
                  <a:tcPr>
                    <a:solidFill>
                      <a:srgbClr val="FFFFFF"/>
                    </a:solidFill>
                  </a:tcPr>
                </a:tc>
                <a:tc>
                  <a:txBody>
                    <a:bodyPr/>
                    <a:lstStyle/>
                    <a:p>
                      <a:pPr algn="ctr">
                        <a:defRPr sz="900">
                          <a:solidFill>
                            <a:srgbClr val="000000"/>
                          </a:solidFill>
                          <a:latin typeface="Montserrat"/>
                        </a:defRPr>
                      </a:pPr>
                      <a:r>
                        <a:t>79%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17,399</a:t>
                      </a:r>
                    </a:p>
                  </a:txBody>
                  <a:tcPr>
                    <a:solidFill>
                      <a:srgbClr val="FFFFFF"/>
                    </a:solidFill>
                  </a:tcPr>
                </a:tc>
                <a:tc>
                  <a:txBody>
                    <a:bodyPr/>
                    <a:lstStyle/>
                    <a:p>
                      <a:pPr algn="ctr">
                        <a:defRPr sz="900">
                          <a:solidFill>
                            <a:srgbClr val="000000"/>
                          </a:solidFill>
                          <a:latin typeface="Montserrat"/>
                        </a:defRPr>
                      </a:pPr>
                      <a:r>
                        <a:t>21,133</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128,565</a:t>
                      </a:r>
                    </a:p>
                  </a:txBody>
                  <a:tcPr>
                    <a:solidFill>
                      <a:srgbClr val="CCE0DD"/>
                    </a:solidFill>
                  </a:tcPr>
                </a:tc>
                <a:tc>
                  <a:txBody>
                    <a:bodyPr/>
                    <a:lstStyle/>
                    <a:p>
                      <a:pPr algn="ctr">
                        <a:defRPr sz="900" b="1">
                          <a:solidFill>
                            <a:srgbClr val="000000"/>
                          </a:solidFill>
                          <a:latin typeface="Montserrat"/>
                        </a:defRPr>
                      </a:pPr>
                      <a:r>
                        <a:t>184,339</a:t>
                      </a:r>
                    </a:p>
                  </a:txBody>
                  <a:tcPr>
                    <a:solidFill>
                      <a:srgbClr val="CCE0DD"/>
                    </a:solidFill>
                  </a:tcPr>
                </a:tc>
                <a:tc>
                  <a:txBody>
                    <a:bodyPr/>
                    <a:lstStyle/>
                    <a:p>
                      <a:pPr algn="ctr">
                        <a:defRPr sz="900" b="1">
                          <a:solidFill>
                            <a:srgbClr val="000000"/>
                          </a:solidFill>
                          <a:latin typeface="Montserrat"/>
                        </a:defRPr>
                      </a:pPr>
                      <a:r>
                        <a:t>43%</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119,676</a:t>
                      </a:r>
                    </a:p>
                  </a:txBody>
                  <a:tcPr>
                    <a:solidFill>
                      <a:srgbClr val="FFFFFF"/>
                    </a:solidFill>
                  </a:tcPr>
                </a:tc>
                <a:tc>
                  <a:txBody>
                    <a:bodyPr/>
                    <a:lstStyle/>
                    <a:p>
                      <a:pPr algn="ctr">
                        <a:defRPr sz="900">
                          <a:solidFill>
                            <a:srgbClr val="000000"/>
                          </a:solidFill>
                          <a:latin typeface="Montserrat"/>
                        </a:defRPr>
                      </a:pPr>
                      <a:r>
                        <a:t>173,194</a:t>
                      </a:r>
                    </a:p>
                  </a:txBody>
                  <a:tcPr>
                    <a:solidFill>
                      <a:srgbClr val="FFFFFF"/>
                    </a:solidFill>
                  </a:tcPr>
                </a:tc>
                <a:tc>
                  <a:txBody>
                    <a:bodyPr/>
                    <a:lstStyle/>
                    <a:p>
                      <a:pPr algn="ctr">
                        <a:defRPr sz="900">
                          <a:solidFill>
                            <a:srgbClr val="000000"/>
                          </a:solidFill>
                          <a:latin typeface="Montserrat"/>
                        </a:defRPr>
                      </a:pPr>
                      <a:r>
                        <a:t>45%</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5,103</a:t>
                      </a:r>
                    </a:p>
                  </a:txBody>
                  <a:tcPr>
                    <a:solidFill>
                      <a:srgbClr val="FFFFFF"/>
                    </a:solidFill>
                  </a:tcPr>
                </a:tc>
                <a:tc>
                  <a:txBody>
                    <a:bodyPr/>
                    <a:lstStyle/>
                    <a:p>
                      <a:pPr algn="ctr">
                        <a:defRPr sz="900">
                          <a:solidFill>
                            <a:srgbClr val="000000"/>
                          </a:solidFill>
                          <a:latin typeface="Montserrat"/>
                        </a:defRPr>
                      </a:pPr>
                      <a:r>
                        <a:t>3,903</a:t>
                      </a:r>
                    </a:p>
                  </a:txBody>
                  <a:tcPr>
                    <a:solidFill>
                      <a:srgbClr val="FFFFFF"/>
                    </a:solidFill>
                  </a:tcPr>
                </a:tc>
                <a:tc>
                  <a:txBody>
                    <a:bodyPr/>
                    <a:lstStyle/>
                    <a:p>
                      <a:pPr algn="ctr">
                        <a:defRPr sz="900">
                          <a:solidFill>
                            <a:srgbClr val="000000"/>
                          </a:solidFill>
                          <a:latin typeface="Montserrat"/>
                        </a:defRPr>
                      </a:pPr>
                      <a:r>
                        <a:t>-24%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3,786</a:t>
                      </a:r>
                    </a:p>
                  </a:txBody>
                  <a:tcPr>
                    <a:solidFill>
                      <a:srgbClr val="FFFFFF"/>
                    </a:solidFill>
                  </a:tcPr>
                </a:tc>
                <a:tc>
                  <a:txBody>
                    <a:bodyPr/>
                    <a:lstStyle/>
                    <a:p>
                      <a:pPr algn="ctr">
                        <a:defRPr sz="900">
                          <a:solidFill>
                            <a:srgbClr val="000000"/>
                          </a:solidFill>
                          <a:latin typeface="Montserrat"/>
                        </a:defRPr>
                      </a:pPr>
                      <a:r>
                        <a:t>7,242</a:t>
                      </a:r>
                    </a:p>
                  </a:txBody>
                  <a:tcPr>
                    <a:solidFill>
                      <a:srgbClr val="FFFFFF"/>
                    </a:solidFill>
                  </a:tcPr>
                </a:tc>
                <a:tc>
                  <a:txBody>
                    <a:bodyPr/>
                    <a:lstStyle/>
                    <a:p>
                      <a:pPr algn="ctr">
                        <a:defRPr sz="900">
                          <a:solidFill>
                            <a:srgbClr val="000000"/>
                          </a:solidFill>
                          <a:latin typeface="Montserrat"/>
                        </a:defRPr>
                      </a:pPr>
                      <a:r>
                        <a:t>91%</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574,257</a:t>
                      </a:r>
                    </a:p>
                  </a:txBody>
                  <a:tcPr>
                    <a:solidFill>
                      <a:srgbClr val="EBD2D9"/>
                    </a:solidFill>
                  </a:tcPr>
                </a:tc>
                <a:tc>
                  <a:txBody>
                    <a:bodyPr/>
                    <a:lstStyle/>
                    <a:p>
                      <a:pPr algn="ctr">
                        <a:defRPr sz="900" b="1">
                          <a:solidFill>
                            <a:srgbClr val="000000"/>
                          </a:solidFill>
                          <a:latin typeface="Montserrat"/>
                        </a:defRPr>
                      </a:pPr>
                      <a:r>
                        <a:t>638,794</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187,077</a:t>
                      </a:r>
                    </a:p>
                  </a:txBody>
                  <a:tcPr>
                    <a:solidFill>
                      <a:srgbClr val="FFFFFF"/>
                    </a:solidFill>
                  </a:tcPr>
                </a:tc>
                <a:tc>
                  <a:txBody>
                    <a:bodyPr/>
                    <a:lstStyle/>
                    <a:p>
                      <a:pPr algn="ctr">
                        <a:defRPr sz="900">
                          <a:solidFill>
                            <a:srgbClr val="000000"/>
                          </a:solidFill>
                          <a:latin typeface="Montserrat"/>
                        </a:defRPr>
                      </a:pPr>
                      <a:r>
                        <a:t>226,485</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294,089</a:t>
                      </a:r>
                    </a:p>
                  </a:txBody>
                  <a:tcPr>
                    <a:solidFill>
                      <a:srgbClr val="FFFFFF"/>
                    </a:solidFill>
                  </a:tcPr>
                </a:tc>
                <a:tc>
                  <a:txBody>
                    <a:bodyPr/>
                    <a:lstStyle/>
                    <a:p>
                      <a:pPr algn="ctr">
                        <a:defRPr sz="900">
                          <a:solidFill>
                            <a:srgbClr val="000000"/>
                          </a:solidFill>
                          <a:latin typeface="Montserrat"/>
                        </a:defRPr>
                      </a:pPr>
                      <a:r>
                        <a:t>275,663</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93,091</a:t>
                      </a:r>
                    </a:p>
                  </a:txBody>
                  <a:tcPr>
                    <a:solidFill>
                      <a:srgbClr val="FFFFFF"/>
                    </a:solidFill>
                  </a:tcPr>
                </a:tc>
                <a:tc>
                  <a:txBody>
                    <a:bodyPr/>
                    <a:lstStyle/>
                    <a:p>
                      <a:pPr algn="ctr">
                        <a:defRPr sz="900">
                          <a:solidFill>
                            <a:srgbClr val="000000"/>
                          </a:solidFill>
                          <a:latin typeface="Montserrat"/>
                        </a:defRPr>
                      </a:pPr>
                      <a:r>
                        <a:t>136,646</a:t>
                      </a:r>
                    </a:p>
                  </a:txBody>
                  <a:tcPr>
                    <a:solidFill>
                      <a:srgbClr val="FFFFFF"/>
                    </a:solidFill>
                  </a:tcPr>
                </a:tc>
                <a:tc>
                  <a:txBody>
                    <a:bodyPr/>
                    <a:lstStyle/>
                    <a:p>
                      <a:pPr algn="ctr">
                        <a:defRPr sz="900">
                          <a:solidFill>
                            <a:srgbClr val="000000"/>
                          </a:solidFill>
                          <a:latin typeface="Montserrat"/>
                        </a:defRPr>
                      </a:pPr>
                      <a:r>
                        <a:t>47%</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914</a:t>
                      </a:r>
                    </a:p>
                  </a:txBody>
                  <a:tcPr>
                    <a:solidFill>
                      <a:srgbClr val="F8F4EC"/>
                    </a:solidFill>
                  </a:tcPr>
                </a:tc>
                <a:tc>
                  <a:txBody>
                    <a:bodyPr/>
                    <a:lstStyle/>
                    <a:p>
                      <a:pPr algn="ctr">
                        <a:defRPr b="1" sz="900">
                          <a:latin typeface="Montserrat"/>
                        </a:defRPr>
                      </a:pPr>
                      <a:r>
                        <a:t>910</a:t>
                      </a:r>
                    </a:p>
                  </a:txBody>
                  <a:tcPr>
                    <a:solidFill>
                      <a:srgbClr val="F8F4EC"/>
                    </a:solidFill>
                  </a:tcPr>
                </a:tc>
                <a:tc>
                  <a:txBody>
                    <a:bodyPr/>
                    <a:lstStyle/>
                    <a:p>
                      <a:pPr algn="ctr">
                        <a:defRPr b="1" sz="900">
                          <a:solidFill>
                            <a:srgbClr val="A61C00"/>
                          </a:solidFill>
                          <a:latin typeface="Montserrat"/>
                        </a:defRPr>
                      </a:pPr>
                      <a:r>
                        <a:t>0%</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8,055</a:t>
                      </a:r>
                    </a:p>
                  </a:txBody>
                  <a:tcPr>
                    <a:solidFill>
                      <a:srgbClr val="F8F4EC"/>
                    </a:solidFill>
                  </a:tcPr>
                </a:tc>
                <a:tc>
                  <a:txBody>
                    <a:bodyPr/>
                    <a:lstStyle/>
                    <a:p>
                      <a:pPr algn="ctr">
                        <a:defRPr b="1" sz="900">
                          <a:latin typeface="Montserrat"/>
                        </a:defRPr>
                      </a:pPr>
                      <a:r>
                        <a:t>10,512</a:t>
                      </a:r>
                    </a:p>
                  </a:txBody>
                  <a:tcPr>
                    <a:solidFill>
                      <a:srgbClr val="F8F4EC"/>
                    </a:solidFill>
                  </a:tcPr>
                </a:tc>
                <a:tc>
                  <a:txBody>
                    <a:bodyPr/>
                    <a:lstStyle/>
                    <a:p>
                      <a:pPr algn="ctr">
                        <a:defRPr b="1" sz="900">
                          <a:latin typeface="Montserrat"/>
                        </a:defRPr>
                      </a:pPr>
                      <a:r>
                        <a:t>31%</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71100970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2_q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54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701</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361</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26</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168</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701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415</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3472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21 UMF, 1 UMFH y no incluye 4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15;g3d0b4d3c5c9_0_70">
            <a:extLst>
              <a:ext uri="{FF2B5EF4-FFF2-40B4-BE49-F238E27FC236}">
                <a16:creationId xmlns:a16="http://schemas.microsoft.com/office/drawing/2014/main" id="{B6422C63-C584-DA7D-D548-6D46E70946B8}"/>
              </a:ext>
            </a:extLst>
          </p:cNvPr>
          <p:cNvGraphicFramePr/>
          <p:nvPr>
            <p:extLst>
              <p:ext uri="{D42A27DB-BD31-4B8C-83A1-F6EECF244321}">
                <p14:modId xmlns:p14="http://schemas.microsoft.com/office/powerpoint/2010/main" val="1916795592"/>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Regional No. 1, Querétaro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16;g3d0b4d3c5c9_0_70">
            <a:extLst>
              <a:ext uri="{FF2B5EF4-FFF2-40B4-BE49-F238E27FC236}">
                <a16:creationId xmlns:a16="http://schemas.microsoft.com/office/drawing/2014/main" id="{38EBD931-852E-790E-68B4-DD570977E59F}"/>
              </a:ext>
            </a:extLst>
          </p:cNvPr>
          <p:cNvPicPr preferRelativeResize="0"/>
          <p:nvPr/>
        </p:nvPicPr>
        <p:blipFill>
          <a:blip r:embed="rId4">
            <a:alphaModFix/>
          </a:blip>
          <a:stretch>
            <a:fillRect/>
          </a:stretch>
        </p:blipFill>
        <p:spPr>
          <a:xfrm>
            <a:off x="286850" y="2456655"/>
            <a:ext cx="2938682" cy="2019181"/>
          </a:xfrm>
          <a:prstGeom prst="rect">
            <a:avLst/>
          </a:prstGeom>
          <a:noFill/>
          <a:ln>
            <a:noFill/>
          </a:ln>
        </p:spPr>
      </p:pic>
      <p:sp>
        <p:nvSpPr>
          <p:cNvPr id="7" name="CuadroTexto 6">
            <a:extLst>
              <a:ext uri="{FF2B5EF4-FFF2-40B4-BE49-F238E27FC236}">
                <a16:creationId xmlns:a16="http://schemas.microsoft.com/office/drawing/2014/main" id="{AB5EBA3F-0462-2907-42E4-8A5B10221247}"/>
              </a:ext>
            </a:extLst>
          </p:cNvPr>
          <p:cNvSpPr txBox="1"/>
          <p:nvPr/>
        </p:nvSpPr>
        <p:spPr>
          <a:xfrm>
            <a:off x="3596038" y="1882561"/>
            <a:ext cx="3889512" cy="3513782"/>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en 1957, con la apertura de la primera Casa de la Asegurada. En esta primera etapa, las consultas se otorgaban principalmente en espacios no hospitalarios, centradas en medicina general, prevención, atención materno‑infantil y primeros servicios de consulta externa.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Querétaro fue el Hospital General Regional No. 1 (HGR No. 1), iniciando operaciones en noviembre de 1964.</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HGR No. 1 contaba con una capacidad instalada propia de un hospital regional de segundo nivel de la época, y comenzó brindando servicios de hospitalización general, urgencias, cirugía general, gineco‑obstetricia, medicina interna, pediatría y auxiliares de diagnóstico..</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2_QUERETARO.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HGR 1 Querétaro</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t>291</a:t>
                      </a:r>
                    </a:p>
                  </a:txBody>
                  <a:tcPr anchor="ctr">
                    <a:solidFill>
                      <a:srgbClr val="FFFFFF"/>
                    </a:solidFill>
                  </a:tcPr>
                </a:tc>
                <a:tc>
                  <a:txBody>
                    <a:bodyPr/>
                    <a:lstStyle/>
                    <a:p>
                      <a:pPr algn="ctr">
                        <a:defRPr sz="900">
                          <a:latin typeface="Montserrat"/>
                        </a:defRPr>
                      </a:pPr>
                      <a:r>
                        <a:t>141</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43</a:t>
                      </a:r>
                    </a:p>
                  </a:txBody>
                  <a:tcPr anchor="ctr">
                    <a:solidFill>
                      <a:srgbClr val="FFFFFF"/>
                    </a:solidFill>
                  </a:tcPr>
                </a:tc>
              </a:tr>
              <a:tr h="230400">
                <a:tc>
                  <a:txBody>
                    <a:bodyPr/>
                    <a:lstStyle/>
                    <a:p>
                      <a:pPr algn="l">
                        <a:defRPr sz="900">
                          <a:latin typeface="Montserrat"/>
                        </a:defRPr>
                      </a:pPr>
                      <a:r>
                        <a:t>HGZ 3 S. Juan del Río</a:t>
                      </a:r>
                    </a:p>
                  </a:txBody>
                  <a:tcPr anchor="ctr">
                    <a:solidFill>
                      <a:srgbClr val="EFEFEF"/>
                    </a:solidFill>
                  </a:tcPr>
                </a:tc>
                <a:tc>
                  <a:txBody>
                    <a:bodyPr/>
                    <a:lstStyle/>
                    <a:p>
                      <a:pPr algn="ctr">
                        <a:defRPr sz="900">
                          <a:latin typeface="Montserrat"/>
                        </a:defRPr>
                      </a:pPr>
                      <a:r>
                        <a:t>Julio de 1992</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UMAA 1 Querétaro (Aut)</a:t>
                      </a:r>
                    </a:p>
                  </a:txBody>
                  <a:tcPr anchor="ctr">
                    <a:solidFill>
                      <a:srgbClr val="FFFFFF"/>
                    </a:solidFill>
                  </a:tcPr>
                </a:tc>
                <a:tc>
                  <a:txBody>
                    <a:bodyPr/>
                    <a:lstStyle/>
                    <a:p>
                      <a:pPr algn="ctr">
                        <a:defRPr sz="900">
                          <a:latin typeface="Montserrat"/>
                        </a:defRPr>
                      </a:pPr>
                      <a:r>
                        <a:t>Junio de 2006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HGR 2 El Marqués</a:t>
                      </a:r>
                    </a:p>
                  </a:txBody>
                  <a:tcPr anchor="ctr">
                    <a:solidFill>
                      <a:srgbClr val="EFEFEF"/>
                    </a:solidFill>
                  </a:tcPr>
                </a:tc>
                <a:tc>
                  <a:txBody>
                    <a:bodyPr/>
                    <a:lstStyle/>
                    <a:p>
                      <a:pPr algn="ctr">
                        <a:defRPr sz="900">
                          <a:latin typeface="Montserrat"/>
                        </a:defRPr>
                      </a:pPr>
                      <a:r>
                        <a:t>Noviembre de 2018</a:t>
                      </a:r>
                    </a:p>
                  </a:txBody>
                  <a:tcPr anchor="ctr">
                    <a:solidFill>
                      <a:srgbClr val="EFEFEF"/>
                    </a:solidFill>
                  </a:tcPr>
                </a:tc>
                <a:tc>
                  <a:txBody>
                    <a:bodyPr/>
                    <a:lstStyle/>
                    <a:p>
                      <a:pPr algn="ctr">
                        <a:defRPr sz="900">
                          <a:latin typeface="Montserrat"/>
                        </a:defRPr>
                      </a:pPr>
                      <a:r>
                        <a:t>320</a:t>
                      </a:r>
                    </a:p>
                  </a:txBody>
                  <a:tcPr anchor="ctr">
                    <a:solidFill>
                      <a:srgbClr val="EFEFEF"/>
                    </a:solidFill>
                  </a:tcPr>
                </a:tc>
                <a:tc>
                  <a:txBody>
                    <a:bodyPr/>
                    <a:lstStyle/>
                    <a:p>
                      <a:pPr algn="ctr">
                        <a:defRPr sz="900">
                          <a:latin typeface="Montserrat"/>
                        </a:defRPr>
                      </a:pPr>
                      <a:r>
                        <a:t>142</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45</a:t>
                      </a:r>
                    </a:p>
                  </a:txBody>
                  <a:tcPr anchor="ctr">
                    <a:solidFill>
                      <a:srgbClr val="EFEFEF"/>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701</a:t>
                      </a:r>
                    </a:p>
                  </a:txBody>
                  <a:tcPr anchor="ctr">
                    <a:solidFill>
                      <a:srgbClr val="D3E9E7"/>
                    </a:solidFill>
                  </a:tcPr>
                </a:tc>
                <a:tc>
                  <a:txBody>
                    <a:bodyPr/>
                    <a:lstStyle/>
                    <a:p>
                      <a:pPr algn="ctr">
                        <a:defRPr sz="900" b="1">
                          <a:solidFill>
                            <a:srgbClr val="006556"/>
                          </a:solidFill>
                          <a:latin typeface="Montserrat"/>
                        </a:defRPr>
                      </a:pPr>
                      <a:r>
                        <a:t>361</a:t>
                      </a:r>
                    </a:p>
                  </a:txBody>
                  <a:tcPr anchor="ctr">
                    <a:solidFill>
                      <a:srgbClr val="D3E9E7"/>
                    </a:solidFill>
                  </a:tcPr>
                </a:tc>
                <a:tc>
                  <a:txBody>
                    <a:bodyPr/>
                    <a:lstStyle/>
                    <a:p>
                      <a:pPr algn="ctr">
                        <a:defRPr sz="900" b="1">
                          <a:solidFill>
                            <a:srgbClr val="006556"/>
                          </a:solidFill>
                          <a:latin typeface="Montserrat"/>
                        </a:defRPr>
                      </a:pPr>
                      <a:r>
                        <a:t>48</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116</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5" name="Grupo 4">
            <a:extLst>
              <a:ext uri="{FF2B5EF4-FFF2-40B4-BE49-F238E27FC236}">
                <a16:creationId xmlns:a16="http://schemas.microsoft.com/office/drawing/2014/main" id="{5EEAEDEB-8662-B2ED-CDAF-23FE54DB37D0}"/>
              </a:ext>
            </a:extLst>
          </p:cNvPr>
          <p:cNvGrpSpPr/>
          <p:nvPr/>
        </p:nvGrpSpPr>
        <p:grpSpPr>
          <a:xfrm>
            <a:off x="149075" y="5452152"/>
            <a:ext cx="7772400" cy="3339378"/>
            <a:chOff x="149075" y="5452152"/>
            <a:chExt cx="7772400" cy="3339378"/>
          </a:xfrm>
        </p:grpSpPr>
        <p:pic>
          <p:nvPicPr>
            <p:cNvPr id="2" name="Google Shape;271;g3d635d120e2_2_87" title="HGZ 86 URUAPAN.jpg">
              <a:extLst>
                <a:ext uri="{FF2B5EF4-FFF2-40B4-BE49-F238E27FC236}">
                  <a16:creationId xmlns:a16="http://schemas.microsoft.com/office/drawing/2014/main" id="{2288EA93-70A9-64C8-B438-1B46BA32A3AC}"/>
                </a:ext>
              </a:extLst>
            </p:cNvPr>
            <p:cNvPicPr preferRelativeResize="0"/>
            <p:nvPr/>
          </p:nvPicPr>
          <p:blipFill rotWithShape="1">
            <a:blip r:embed="rId4">
              <a:alphaModFix/>
            </a:blip>
            <a:srcRect l="1417" t="15479" r="44279" b="26090"/>
            <a:stretch/>
          </p:blipFill>
          <p:spPr>
            <a:xfrm>
              <a:off x="2565713" y="6232559"/>
              <a:ext cx="2401009" cy="1562332"/>
            </a:xfrm>
            <a:prstGeom prst="rect">
              <a:avLst/>
            </a:prstGeom>
            <a:noFill/>
            <a:ln>
              <a:noFill/>
            </a:ln>
            <a:effectLst>
              <a:outerShdw blurRad="114300" dist="57150" dir="10800000" algn="bl" rotWithShape="0">
                <a:srgbClr val="000000">
                  <a:alpha val="50000"/>
                </a:srgbClr>
              </a:outerShdw>
            </a:effectLst>
          </p:spPr>
        </p:pic>
        <p:sp>
          <p:nvSpPr>
            <p:cNvPr id="3" name="Google Shape;273;g3d635d120e2_2_87">
              <a:extLst>
                <a:ext uri="{FF2B5EF4-FFF2-40B4-BE49-F238E27FC236}">
                  <a16:creationId xmlns:a16="http://schemas.microsoft.com/office/drawing/2014/main" id="{FCD9118F-E270-11BA-3B2C-980F56AACEA2}"/>
                </a:ext>
              </a:extLst>
            </p:cNvPr>
            <p:cNvSpPr/>
            <p:nvPr/>
          </p:nvSpPr>
          <p:spPr>
            <a:xfrm>
              <a:off x="2988254" y="7808763"/>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a:t>
              </a:r>
              <a:endParaRPr sz="1100">
                <a:solidFill>
                  <a:srgbClr val="FFFFFF"/>
                </a:solidFill>
              </a:endParaRPr>
            </a:p>
          </p:txBody>
        </p:sp>
        <p:sp>
          <p:nvSpPr>
            <p:cNvPr id="4" name="Google Shape;274;g3d635d120e2_2_87">
              <a:extLst>
                <a:ext uri="{FF2B5EF4-FFF2-40B4-BE49-F238E27FC236}">
                  <a16:creationId xmlns:a16="http://schemas.microsoft.com/office/drawing/2014/main" id="{5336E88B-A52B-9017-FCD2-22FCAD5C50CA}"/>
                </a:ext>
              </a:extLst>
            </p:cNvPr>
            <p:cNvSpPr/>
            <p:nvPr/>
          </p:nvSpPr>
          <p:spPr>
            <a:xfrm>
              <a:off x="2565722" y="7808752"/>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6" name="Google Shape;282;g3d635d120e2_2_87">
              <a:extLst>
                <a:ext uri="{FF2B5EF4-FFF2-40B4-BE49-F238E27FC236}">
                  <a16:creationId xmlns:a16="http://schemas.microsoft.com/office/drawing/2014/main" id="{0D5675C5-ADCF-57B9-7A0D-77F34DDB0A00}"/>
                </a:ext>
              </a:extLst>
            </p:cNvPr>
            <p:cNvSpPr txBox="1"/>
            <p:nvPr/>
          </p:nvSpPr>
          <p:spPr>
            <a:xfrm>
              <a:off x="149075" y="545215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7" name="Google Shape;275;g3d635d120e2_2_87">
              <a:extLst>
                <a:ext uri="{FF2B5EF4-FFF2-40B4-BE49-F238E27FC236}">
                  <a16:creationId xmlns:a16="http://schemas.microsoft.com/office/drawing/2014/main" id="{35EEDBBB-C626-54A9-134F-C8BCFE390D61}"/>
                </a:ext>
              </a:extLst>
            </p:cNvPr>
            <p:cNvSpPr txBox="1"/>
            <p:nvPr/>
          </p:nvSpPr>
          <p:spPr>
            <a:xfrm>
              <a:off x="2511699" y="8146768"/>
              <a:ext cx="23232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1 Querétaro</a:t>
              </a:r>
            </a:p>
            <a:p>
              <a:pPr marL="0" marR="63500" lvl="0" indent="0" algn="ctr"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$4.3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154" name="Table 153"/>
          <p:cNvGraphicFramePr>
            <a:graphicFrameLocks noGrp="1"/>
          </p:cNvGraphicFramePr>
          <p:nvPr/>
        </p:nvGraphicFramePr>
        <p:xfrm>
          <a:off x="93600" y="1180800"/>
          <a:ext cx="7534799" cy="1295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UMAA 1 Querétaro (Aut)</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r>
              <a:tr h="215999">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HGR 1 Querétaro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4</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92847347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B3238C87-67CB-A792-44F9-BEB7AACCF1B6}"/>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24DBA245-D0F2-5439-3D4E-406757F4198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CB93BA46-99FC-F8F4-980E-6D1E57E3DAB9}"/>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93451C3C-D474-8429-BEA1-D4D7C6B2EBA2}"/>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8AA76FC8-0D17-5DAE-8CF8-97BCD9A18BE7}"/>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F3F70D3E-ED13-9419-AB91-37DC4C86D4FF}"/>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756F5CB7-B5D2-B019-ED75-9B546CD1ECF9}"/>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+4,035</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+314,716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+124,547</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2,361,256</a:t>
                      </a:r>
                    </a:p>
                  </a:txBody>
                  <a:tcPr marL="0" marR="0" marT="0" marB="0" anchor="ctr">
                    <a:solidFill>
                      <a:srgbClr val="FFFFFF"/>
                    </a:solidFill>
                  </a:tcPr>
                </a:tc>
                <a:tc>
                  <a:txBody>
                    <a:bodyPr/>
                    <a:lstStyle/>
                    <a:p>
                      <a:pPr algn="ctr">
                        <a:defRPr sz="1000">
                          <a:solidFill>
                            <a:srgbClr val="404040"/>
                          </a:solidFill>
                          <a:latin typeface="Montserrat"/>
                        </a:defRPr>
                      </a:pPr>
                      <a:r>
                        <a:t>314,716</a:t>
                      </a:r>
                    </a:p>
                  </a:txBody>
                  <a:tcPr marL="0" marR="0" marT="0" marB="0" anchor="ctr">
                    <a:solidFill>
                      <a:srgbClr val="FFFFFF"/>
                    </a:solidFill>
                  </a:tcPr>
                </a:tc>
                <a:tc>
                  <a:txBody>
                    <a:bodyPr/>
                    <a:lstStyle/>
                    <a:p>
                      <a:pPr algn="ctr">
                        <a:defRPr sz="1000" b="1">
                          <a:solidFill>
                            <a:srgbClr val="980000"/>
                          </a:solidFill>
                          <a:latin typeface="Montserrat"/>
                        </a:defRPr>
                      </a:pPr>
                      <a:r>
                        <a:t>791,163</a:t>
                      </a:r>
                    </a:p>
                  </a:txBody>
                  <a:tcPr marL="0" marR="0" marT="0" marB="0" anchor="ctr">
                    <a:solidFill>
                      <a:srgbClr val="ECD3D9"/>
                    </a:solidFill>
                  </a:tcPr>
                </a:tc>
                <a:tc>
                  <a:txBody>
                    <a:bodyPr/>
                    <a:lstStyle/>
                    <a:p>
                      <a:pPr algn="ctr">
                        <a:defRPr sz="1000" b="1">
                          <a:solidFill>
                            <a:srgbClr val="980000"/>
                          </a:solidFill>
                          <a:latin typeface="Montserrat"/>
                        </a:defRPr>
                      </a:pPr>
                      <a:r>
                        <a:t>2,371,808</a:t>
                      </a:r>
                    </a:p>
                  </a:txBody>
                  <a:tcPr marL="0" marR="0" marT="0" marB="0" anchor="ctr">
                    <a:solidFill>
                      <a:srgbClr val="ECD3D9"/>
                    </a:solidFill>
                  </a:tcPr>
                </a:tc>
                <a:tc>
                  <a:txBody>
                    <a:bodyPr/>
                    <a:lstStyle/>
                    <a:p>
                      <a:pPr algn="ctr">
                        <a:defRPr sz="1000" b="1">
                          <a:solidFill>
                            <a:srgbClr val="980000"/>
                          </a:solidFill>
                          <a:latin typeface="Montserrat"/>
                        </a:defRPr>
                      </a:pPr>
                      <a:r>
                        <a:t>33.4%</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620,528</a:t>
                      </a:r>
                    </a:p>
                  </a:txBody>
                  <a:tcPr marL="0" marR="0" marT="0" marB="0" anchor="ctr">
                    <a:solidFill>
                      <a:srgbClr val="EFEFEF"/>
                    </a:solidFill>
                  </a:tcPr>
                </a:tc>
                <a:tc>
                  <a:txBody>
                    <a:bodyPr/>
                    <a:lstStyle/>
                    <a:p>
                      <a:pPr algn="ctr">
                        <a:defRPr sz="1000">
                          <a:solidFill>
                            <a:srgbClr val="404040"/>
                          </a:solidFill>
                          <a:latin typeface="Montserrat"/>
                        </a:defRPr>
                      </a:pPr>
                      <a:r>
                        <a:t>124,547</a:t>
                      </a:r>
                    </a:p>
                  </a:txBody>
                  <a:tcPr marL="0" marR="0" marT="0" marB="0" anchor="ctr">
                    <a:solidFill>
                      <a:srgbClr val="EFEFEF"/>
                    </a:solidFill>
                  </a:tcPr>
                </a:tc>
                <a:tc>
                  <a:txBody>
                    <a:bodyPr/>
                    <a:lstStyle/>
                    <a:p>
                      <a:pPr algn="ctr">
                        <a:defRPr sz="1000" b="1">
                          <a:solidFill>
                            <a:srgbClr val="980000"/>
                          </a:solidFill>
                          <a:latin typeface="Montserrat"/>
                        </a:defRPr>
                      </a:pPr>
                      <a:r>
                        <a:t>225,130</a:t>
                      </a:r>
                    </a:p>
                  </a:txBody>
                  <a:tcPr marL="0" marR="0" marT="0" marB="0" anchor="ctr">
                    <a:solidFill>
                      <a:srgbClr val="F4E3E7"/>
                    </a:solidFill>
                  </a:tcPr>
                </a:tc>
                <a:tc>
                  <a:txBody>
                    <a:bodyPr/>
                    <a:lstStyle/>
                    <a:p>
                      <a:pPr algn="ctr">
                        <a:defRPr sz="1000" b="1">
                          <a:solidFill>
                            <a:srgbClr val="980000"/>
                          </a:solidFill>
                          <a:latin typeface="Montserrat"/>
                        </a:defRPr>
                      </a:pPr>
                      <a:r>
                        <a:t>632,910</a:t>
                      </a:r>
                    </a:p>
                  </a:txBody>
                  <a:tcPr marL="0" marR="0" marT="0" marB="0" anchor="ctr">
                    <a:solidFill>
                      <a:srgbClr val="F4E3E7"/>
                    </a:solidFill>
                  </a:tcPr>
                </a:tc>
                <a:tc>
                  <a:txBody>
                    <a:bodyPr/>
                    <a:lstStyle/>
                    <a:p>
                      <a:pPr algn="ctr">
                        <a:defRPr sz="1000" b="1">
                          <a:solidFill>
                            <a:srgbClr val="980000"/>
                          </a:solidFill>
                          <a:latin typeface="Montserrat"/>
                        </a:defRPr>
                      </a:pPr>
                      <a:r>
                        <a:t>35.6%</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35,419</a:t>
                      </a:r>
                    </a:p>
                  </a:txBody>
                  <a:tcPr marL="0" marR="0" marT="0" marB="0" anchor="ctr">
                    <a:solidFill>
                      <a:srgbClr val="FFFFFF"/>
                    </a:solidFill>
                  </a:tcPr>
                </a:tc>
                <a:tc>
                  <a:txBody>
                    <a:bodyPr/>
                    <a:lstStyle/>
                    <a:p>
                      <a:pPr algn="ctr">
                        <a:defRPr sz="1000">
                          <a:solidFill>
                            <a:srgbClr val="404040"/>
                          </a:solidFill>
                          <a:latin typeface="Montserrat"/>
                        </a:defRPr>
                      </a:pPr>
                      <a:r>
                        <a:t>4,035</a:t>
                      </a:r>
                    </a:p>
                  </a:txBody>
                  <a:tcPr marL="0" marR="0" marT="0" marB="0" anchor="ctr">
                    <a:solidFill>
                      <a:srgbClr val="FFFFFF"/>
                    </a:solidFill>
                  </a:tcPr>
                </a:tc>
                <a:tc>
                  <a:txBody>
                    <a:bodyPr/>
                    <a:lstStyle/>
                    <a:p>
                      <a:pPr algn="ctr">
                        <a:defRPr sz="1000" b="1">
                          <a:solidFill>
                            <a:srgbClr val="980000"/>
                          </a:solidFill>
                          <a:latin typeface="Montserrat"/>
                        </a:defRPr>
                      </a:pPr>
                      <a:r>
                        <a:t>13,142</a:t>
                      </a:r>
                    </a:p>
                  </a:txBody>
                  <a:tcPr marL="0" marR="0" marT="0" marB="0" anchor="ctr">
                    <a:solidFill>
                      <a:srgbClr val="ECD3D9"/>
                    </a:solidFill>
                  </a:tcPr>
                </a:tc>
                <a:tc>
                  <a:txBody>
                    <a:bodyPr/>
                    <a:lstStyle/>
                    <a:p>
                      <a:pPr algn="ctr">
                        <a:defRPr sz="1000" b="1">
                          <a:solidFill>
                            <a:srgbClr val="980000"/>
                          </a:solidFill>
                          <a:latin typeface="Montserrat"/>
                        </a:defRPr>
                      </a:pPr>
                      <a:r>
                        <a:t>39,458</a:t>
                      </a:r>
                    </a:p>
                  </a:txBody>
                  <a:tcPr marL="0" marR="0" marT="0" marB="0" anchor="ctr">
                    <a:solidFill>
                      <a:srgbClr val="ECD3D9"/>
                    </a:solidFill>
                  </a:tcPr>
                </a:tc>
                <a:tc>
                  <a:txBody>
                    <a:bodyPr/>
                    <a:lstStyle/>
                    <a:p>
                      <a:pPr algn="ctr">
                        <a:defRPr sz="1000" b="1">
                          <a:solidFill>
                            <a:srgbClr val="980000"/>
                          </a:solidFill>
                          <a:latin typeface="Montserrat"/>
                        </a:defRPr>
                      </a:pPr>
                      <a:r>
                        <a:t>33.3%</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10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1814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UMFH 4 Tequisquiapan</a:t>
                      </a:r>
                    </a:p>
                  </a:txBody>
                  <a:tcPr marL="0" marR="0" marT="0" marB="0">
                    <a:solidFill>
                      <a:srgbClr val="FFFFFF"/>
                    </a:solidFill>
                  </a:tcPr>
                </a:tc>
                <a:tc>
                  <a:txBody>
                    <a:bodyPr/>
                    <a:lstStyle/>
                    <a:p>
                      <a:pPr algn="ctr">
                        <a:defRPr sz="1000">
                          <a:latin typeface="Montserrat"/>
                        </a:defRPr>
                      </a:pPr>
                      <a:r>
                        <a:t>49,436</a:t>
                      </a:r>
                    </a:p>
                  </a:txBody>
                  <a:tcPr marL="0" marR="0" marT="0" marB="0">
                    <a:solidFill>
                      <a:srgbClr val="FFFFFF"/>
                    </a:solidFill>
                  </a:tcPr>
                </a:tc>
                <a:tc>
                  <a:txBody>
                    <a:bodyPr/>
                    <a:lstStyle/>
                    <a:p>
                      <a:pPr algn="ctr">
                        <a:defRPr sz="1000">
                          <a:latin typeface="Montserrat"/>
                        </a:defRPr>
                      </a:pPr>
                      <a:r>
                        <a:t>6,723</a:t>
                      </a:r>
                    </a:p>
                  </a:txBody>
                  <a:tcPr marL="0" marR="0" marT="0" marB="0">
                    <a:solidFill>
                      <a:srgbClr val="FFFFFF"/>
                    </a:solidFill>
                  </a:tcPr>
                </a:tc>
                <a:tc>
                  <a:txBody>
                    <a:bodyPr/>
                    <a:lstStyle/>
                    <a:p>
                      <a:pPr algn="ctr">
                        <a:defRPr sz="1000">
                          <a:latin typeface="Montserrat"/>
                        </a:defRPr>
                      </a:pPr>
                      <a:r>
                        <a:t>16,464</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59 Huimilpan</a:t>
                      </a:r>
                    </a:p>
                  </a:txBody>
                  <a:tcPr marL="0" marR="0" marT="0" marB="0">
                    <a:solidFill>
                      <a:srgbClr val="EFEFEF"/>
                    </a:solidFill>
                  </a:tcPr>
                </a:tc>
                <a:tc>
                  <a:txBody>
                    <a:bodyPr/>
                    <a:lstStyle/>
                    <a:p>
                      <a:pPr algn="ctr">
                        <a:defRPr sz="1000">
                          <a:latin typeface="Montserrat"/>
                        </a:defRPr>
                      </a:pPr>
                      <a:r>
                        <a:t>7,722</a:t>
                      </a:r>
                    </a:p>
                  </a:txBody>
                  <a:tcPr marL="0" marR="0" marT="0" marB="0">
                    <a:solidFill>
                      <a:srgbClr val="EFEFEF"/>
                    </a:solidFill>
                  </a:tcPr>
                </a:tc>
                <a:tc>
                  <a:txBody>
                    <a:bodyPr/>
                    <a:lstStyle/>
                    <a:p>
                      <a:pPr algn="ctr">
                        <a:defRPr sz="1000">
                          <a:latin typeface="Montserrat"/>
                        </a:defRPr>
                      </a:pPr>
                      <a:r>
                        <a:t>414</a:t>
                      </a:r>
                    </a:p>
                  </a:txBody>
                  <a:tcPr marL="0" marR="0" marT="0" marB="0">
                    <a:solidFill>
                      <a:srgbClr val="EFEFEF"/>
                    </a:solidFill>
                  </a:tcPr>
                </a:tc>
                <a:tc>
                  <a:txBody>
                    <a:bodyPr/>
                    <a:lstStyle/>
                    <a:p>
                      <a:pPr algn="ctr">
                        <a:defRPr sz="1000">
                          <a:latin typeface="Montserrat"/>
                        </a:defRPr>
                      </a:pPr>
                      <a:r>
                        <a:t>2,587</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28.7%</a:t>
                      </a:r>
                    </a:p>
                  </a:txBody>
                  <a:tcPr marL="0" marR="0" marT="0" marB="0">
                    <a:solidFill>
                      <a:srgbClr val="ECD3D9"/>
                    </a:solidFill>
                  </a:tcPr>
                </a:tc>
              </a:tr>
              <a:tr h="151200">
                <a:tc>
                  <a:txBody>
                    <a:bodyPr/>
                    <a:lstStyle/>
                    <a:p>
                      <a:pPr algn="l">
                        <a:defRPr sz="1000">
                          <a:latin typeface="Montserrat"/>
                        </a:defRPr>
                      </a:pPr>
                      <a:r>
                        <a:t>UMF 57 Colón</a:t>
                      </a:r>
                    </a:p>
                  </a:txBody>
                  <a:tcPr marL="0" marR="0" marT="0" marB="0">
                    <a:solidFill>
                      <a:srgbClr val="FFFFFF"/>
                    </a:solidFill>
                  </a:tcPr>
                </a:tc>
                <a:tc>
                  <a:txBody>
                    <a:bodyPr/>
                    <a:lstStyle/>
                    <a:p>
                      <a:pPr algn="ctr">
                        <a:defRPr sz="1000">
                          <a:latin typeface="Montserrat"/>
                        </a:defRPr>
                      </a:pPr>
                      <a:r>
                        <a:t>32,669</a:t>
                      </a:r>
                    </a:p>
                  </a:txBody>
                  <a:tcPr marL="0" marR="0" marT="0" marB="0">
                    <a:solidFill>
                      <a:srgbClr val="FFFFFF"/>
                    </a:solidFill>
                  </a:tcPr>
                </a:tc>
                <a:tc>
                  <a:txBody>
                    <a:bodyPr/>
                    <a:lstStyle/>
                    <a:p>
                      <a:pPr algn="ctr">
                        <a:defRPr sz="1000">
                          <a:latin typeface="Montserrat"/>
                        </a:defRPr>
                      </a:pPr>
                      <a:r>
                        <a:t>13,714</a:t>
                      </a:r>
                    </a:p>
                  </a:txBody>
                  <a:tcPr marL="0" marR="0" marT="0" marB="0">
                    <a:solidFill>
                      <a:srgbClr val="FFFFFF"/>
                    </a:solidFill>
                  </a:tcPr>
                </a:tc>
                <a:tc>
                  <a:txBody>
                    <a:bodyPr/>
                    <a:lstStyle/>
                    <a:p>
                      <a:pPr algn="ctr">
                        <a:defRPr sz="1000">
                          <a:latin typeface="Montserrat"/>
                        </a:defRPr>
                      </a:pPr>
                      <a:r>
                        <a:t>10,777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28.7%</a:t>
                      </a:r>
                    </a:p>
                  </a:txBody>
                  <a:tcPr marL="0" marR="0" marT="0" marB="0">
                    <a:solidFill>
                      <a:srgbClr val="ECD3D9"/>
                    </a:solidFill>
                  </a:tcPr>
                </a:tc>
              </a:tr>
              <a:tr h="151200">
                <a:tc>
                  <a:txBody>
                    <a:bodyPr/>
                    <a:lstStyle/>
                    <a:p>
                      <a:pPr algn="l">
                        <a:defRPr sz="1000">
                          <a:latin typeface="Montserrat"/>
                        </a:defRPr>
                      </a:pPr>
                      <a:r>
                        <a:t>UMF 63 S. Joaquín</a:t>
                      </a:r>
                    </a:p>
                  </a:txBody>
                  <a:tcPr marL="0" marR="0" marT="0" marB="0">
                    <a:solidFill>
                      <a:srgbClr val="EFEFEF"/>
                    </a:solidFill>
                  </a:tcPr>
                </a:tc>
                <a:tc>
                  <a:txBody>
                    <a:bodyPr/>
                    <a:lstStyle/>
                    <a:p>
                      <a:pPr algn="ctr">
                        <a:defRPr sz="1000">
                          <a:latin typeface="Montserrat"/>
                        </a:defRPr>
                      </a:pPr>
                      <a:r>
                        <a:t>2,657</a:t>
                      </a:r>
                    </a:p>
                  </a:txBody>
                  <a:tcPr marL="0" marR="0" marT="0" marB="0">
                    <a:solidFill>
                      <a:srgbClr val="EFEFEF"/>
                    </a:solidFill>
                  </a:tcPr>
                </a:tc>
                <a:tc>
                  <a:txBody>
                    <a:bodyPr/>
                    <a:lstStyle/>
                    <a:p>
                      <a:pPr algn="ctr">
                        <a:defRPr sz="1000">
                          <a:latin typeface="Montserrat"/>
                        </a:defRPr>
                      </a:pPr>
                      <a:r>
                        <a:t>565</a:t>
                      </a:r>
                    </a:p>
                  </a:txBody>
                  <a:tcPr marL="0" marR="0" marT="0" marB="0">
                    <a:solidFill>
                      <a:srgbClr val="EFEFEF"/>
                    </a:solidFill>
                  </a:tcPr>
                </a:tc>
                <a:tc>
                  <a:txBody>
                    <a:bodyPr/>
                    <a:lstStyle/>
                    <a:p>
                      <a:pPr algn="ctr">
                        <a:defRPr sz="1000">
                          <a:latin typeface="Montserrat"/>
                        </a:defRPr>
                      </a:pPr>
                      <a:r>
                        <a:t>967</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24.2%</a:t>
                      </a:r>
                    </a:p>
                  </a:txBody>
                  <a:tcPr marL="0" marR="0" marT="0" marB="0">
                    <a:solidFill>
                      <a:srgbClr val="ECD3D9"/>
                    </a:solidFill>
                  </a:tcPr>
                </a:tc>
              </a:tr>
              <a:tr h="151200">
                <a:tc>
                  <a:txBody>
                    <a:bodyPr/>
                    <a:lstStyle/>
                    <a:p>
                      <a:pPr algn="l">
                        <a:defRPr sz="1000">
                          <a:latin typeface="Montserrat"/>
                        </a:defRPr>
                      </a:pPr>
                      <a:r>
                        <a:t>UMF 64 Toliman</a:t>
                      </a:r>
                    </a:p>
                  </a:txBody>
                  <a:tcPr marL="0" marR="0" marT="0" marB="0">
                    <a:solidFill>
                      <a:srgbClr val="FFFFFF"/>
                    </a:solidFill>
                  </a:tcPr>
                </a:tc>
                <a:tc>
                  <a:txBody>
                    <a:bodyPr/>
                    <a:lstStyle/>
                    <a:p>
                      <a:pPr algn="ctr">
                        <a:defRPr sz="1000">
                          <a:latin typeface="Montserrat"/>
                        </a:defRPr>
                      </a:pPr>
                      <a:r>
                        <a:t>5,862</a:t>
                      </a:r>
                    </a:p>
                  </a:txBody>
                  <a:tcPr marL="0" marR="0" marT="0" marB="0">
                    <a:solidFill>
                      <a:srgbClr val="FFFFFF"/>
                    </a:solidFill>
                  </a:tcPr>
                </a:tc>
                <a:tc>
                  <a:txBody>
                    <a:bodyPr/>
                    <a:lstStyle/>
                    <a:p>
                      <a:pPr algn="ctr">
                        <a:defRPr sz="1000">
                          <a:latin typeface="Montserrat"/>
                        </a:defRPr>
                      </a:pPr>
                      <a:r>
                        <a:t>1,211</a:t>
                      </a:r>
                    </a:p>
                  </a:txBody>
                  <a:tcPr marL="0" marR="0" marT="0" marB="0">
                    <a:solidFill>
                      <a:srgbClr val="FFFFFF"/>
                    </a:solidFill>
                  </a:tcPr>
                </a:tc>
                <a:tc>
                  <a:txBody>
                    <a:bodyPr/>
                    <a:lstStyle/>
                    <a:p>
                      <a:pPr algn="ctr">
                        <a:defRPr sz="1000">
                          <a:latin typeface="Montserrat"/>
                        </a:defRPr>
                      </a:pPr>
                      <a:r>
                        <a:t>1,708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24.4%</a:t>
                      </a:r>
                    </a:p>
                  </a:txBody>
                  <a:tcPr marL="0" marR="0" marT="0" marB="0">
                    <a:solidFill>
                      <a:srgbClr val="ECD3D9"/>
                    </a:solidFill>
                  </a:tcPr>
                </a:tc>
              </a:tr>
              <a:tr h="151200">
                <a:tc>
                  <a:txBody>
                    <a:bodyPr/>
                    <a:lstStyle/>
                    <a:p>
                      <a:pPr algn="l">
                        <a:defRPr sz="1000">
                          <a:latin typeface="Montserrat"/>
                        </a:defRPr>
                      </a:pPr>
                      <a:r>
                        <a:t>UMF 58 E. Montes</a:t>
                      </a:r>
                    </a:p>
                  </a:txBody>
                  <a:tcPr marL="0" marR="0" marT="0" marB="0">
                    <a:solidFill>
                      <a:srgbClr val="EFEFEF"/>
                    </a:solidFill>
                  </a:tcPr>
                </a:tc>
                <a:tc>
                  <a:txBody>
                    <a:bodyPr/>
                    <a:lstStyle/>
                    <a:p>
                      <a:pPr algn="ctr">
                        <a:defRPr sz="1000">
                          <a:latin typeface="Montserrat"/>
                        </a:defRPr>
                      </a:pPr>
                      <a:r>
                        <a:t>29,049</a:t>
                      </a:r>
                    </a:p>
                  </a:txBody>
                  <a:tcPr marL="0" marR="0" marT="0" marB="0">
                    <a:solidFill>
                      <a:srgbClr val="EFEFEF"/>
                    </a:solidFill>
                  </a:tcPr>
                </a:tc>
                <a:tc>
                  <a:txBody>
                    <a:bodyPr/>
                    <a:lstStyle/>
                    <a:p>
                      <a:pPr algn="ctr">
                        <a:defRPr sz="1000">
                          <a:latin typeface="Montserrat"/>
                        </a:defRPr>
                      </a:pPr>
                      <a:r>
                        <a:t>9,513</a:t>
                      </a:r>
                    </a:p>
                  </a:txBody>
                  <a:tcPr marL="0" marR="0" marT="0" marB="0">
                    <a:solidFill>
                      <a:srgbClr val="EFEFEF"/>
                    </a:solidFill>
                  </a:tcPr>
                </a:tc>
                <a:tc>
                  <a:txBody>
                    <a:bodyPr/>
                    <a:lstStyle/>
                    <a:p>
                      <a:pPr algn="ctr">
                        <a:defRPr sz="1000">
                          <a:latin typeface="Montserrat"/>
                        </a:defRPr>
                      </a:pPr>
                      <a:r>
                        <a:t>10,215</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27.2%</a:t>
                      </a:r>
                    </a:p>
                  </a:txBody>
                  <a:tcPr marL="0" marR="0" marT="0" marB="0">
                    <a:solidFill>
                      <a:srgbClr val="ECD3D9"/>
                    </a:solidFill>
                  </a:tcPr>
                </a:tc>
              </a:tr>
              <a:tr h="151200">
                <a:tc>
                  <a:txBody>
                    <a:bodyPr/>
                    <a:lstStyle/>
                    <a:p>
                      <a:pPr algn="l">
                        <a:defRPr sz="1000">
                          <a:latin typeface="Montserrat"/>
                        </a:defRPr>
                      </a:pPr>
                      <a:r>
                        <a:t>UMF 12 Cadereyta</a:t>
                      </a:r>
                    </a:p>
                  </a:txBody>
                  <a:tcPr marL="0" marR="0" marT="0" marB="0">
                    <a:solidFill>
                      <a:srgbClr val="FFFFFF"/>
                    </a:solidFill>
                  </a:tcPr>
                </a:tc>
                <a:tc>
                  <a:txBody>
                    <a:bodyPr/>
                    <a:lstStyle/>
                    <a:p>
                      <a:pPr algn="ctr">
                        <a:defRPr sz="1000">
                          <a:latin typeface="Montserrat"/>
                        </a:defRPr>
                      </a:pPr>
                      <a:r>
                        <a:t>27,889</a:t>
                      </a:r>
                    </a:p>
                  </a:txBody>
                  <a:tcPr marL="0" marR="0" marT="0" marB="0">
                    <a:solidFill>
                      <a:srgbClr val="FFFFFF"/>
                    </a:solidFill>
                  </a:tcPr>
                </a:tc>
                <a:tc>
                  <a:txBody>
                    <a:bodyPr/>
                    <a:lstStyle/>
                    <a:p>
                      <a:pPr algn="ctr">
                        <a:defRPr sz="1000">
                          <a:latin typeface="Montserrat"/>
                        </a:defRPr>
                      </a:pPr>
                      <a:r>
                        <a:t>7,503</a:t>
                      </a:r>
                    </a:p>
                  </a:txBody>
                  <a:tcPr marL="0" marR="0" marT="0" marB="0">
                    <a:solidFill>
                      <a:srgbClr val="FFFFFF"/>
                    </a:solidFill>
                  </a:tcPr>
                </a:tc>
                <a:tc>
                  <a:txBody>
                    <a:bodyPr/>
                    <a:lstStyle/>
                    <a:p>
                      <a:pPr algn="ctr">
                        <a:defRPr sz="1000">
                          <a:latin typeface="Montserrat"/>
                        </a:defRPr>
                      </a:pPr>
                      <a:r>
                        <a:t>11,256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66 Maconi</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975</a:t>
                      </a:r>
                    </a:p>
                  </a:txBody>
                  <a:tcPr marL="0" marR="0" marT="0" marB="0">
                    <a:solidFill>
                      <a:srgbClr val="EFEFEF"/>
                    </a:solidFill>
                  </a:tcPr>
                </a:tc>
                <a:tc>
                  <a:txBody>
                    <a:bodyPr/>
                    <a:lstStyle/>
                    <a:p>
                      <a:pPr algn="ctr">
                        <a:defRPr sz="1000">
                          <a:latin typeface="Montserrat"/>
                        </a:defRPr>
                      </a:pPr>
                      <a:r>
                        <a:t>957</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23.9%</a:t>
                      </a:r>
                    </a:p>
                  </a:txBody>
                  <a:tcPr marL="0" marR="0" marT="0" marB="0">
                    <a:solidFill>
                      <a:srgbClr val="ECD3D9"/>
                    </a:solidFill>
                  </a:tcPr>
                </a:tc>
              </a:tr>
              <a:tr h="151200">
                <a:tc>
                  <a:txBody>
                    <a:bodyPr/>
                    <a:lstStyle/>
                    <a:p>
                      <a:pPr algn="l">
                        <a:defRPr sz="1000">
                          <a:latin typeface="Montserrat"/>
                        </a:defRPr>
                      </a:pPr>
                      <a:r>
                        <a:t>UMF 5 P. Escobedo</a:t>
                      </a:r>
                    </a:p>
                  </a:txBody>
                  <a:tcPr marL="0" marR="0" marT="0" marB="0">
                    <a:solidFill>
                      <a:srgbClr val="FFFFFF"/>
                    </a:solidFill>
                  </a:tcPr>
                </a:tc>
                <a:tc>
                  <a:txBody>
                    <a:bodyPr/>
                    <a:lstStyle/>
                    <a:p>
                      <a:pPr algn="ctr">
                        <a:defRPr sz="1000">
                          <a:latin typeface="Montserrat"/>
                        </a:defRPr>
                      </a:pPr>
                      <a:r>
                        <a:t>118,668</a:t>
                      </a:r>
                    </a:p>
                  </a:txBody>
                  <a:tcPr marL="0" marR="0" marT="0" marB="0">
                    <a:solidFill>
                      <a:srgbClr val="FFFFFF"/>
                    </a:solidFill>
                  </a:tcPr>
                </a:tc>
                <a:tc>
                  <a:txBody>
                    <a:bodyPr/>
                    <a:lstStyle/>
                    <a:p>
                      <a:pPr algn="ctr">
                        <a:defRPr sz="1000">
                          <a:latin typeface="Montserrat"/>
                        </a:defRPr>
                      </a:pPr>
                      <a:r>
                        <a:t>19,965</a:t>
                      </a:r>
                    </a:p>
                  </a:txBody>
                  <a:tcPr marL="0" marR="0" marT="0" marB="0">
                    <a:solidFill>
                      <a:srgbClr val="FFFFFF"/>
                    </a:solidFill>
                  </a:tcPr>
                </a:tc>
                <a:tc>
                  <a:txBody>
                    <a:bodyPr/>
                    <a:lstStyle/>
                    <a:p>
                      <a:pPr algn="ctr">
                        <a:defRPr sz="1000">
                          <a:latin typeface="Montserrat"/>
                        </a:defRPr>
                      </a:pPr>
                      <a:r>
                        <a:t>36,579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56 Amealco</a:t>
                      </a:r>
                    </a:p>
                  </a:txBody>
                  <a:tcPr marL="0" marR="0" marT="0" marB="0">
                    <a:solidFill>
                      <a:srgbClr val="EFEFEF"/>
                    </a:solidFill>
                  </a:tcPr>
                </a:tc>
                <a:tc>
                  <a:txBody>
                    <a:bodyPr/>
                    <a:lstStyle/>
                    <a:p>
                      <a:pPr algn="ctr">
                        <a:defRPr sz="1000">
                          <a:latin typeface="Montserrat"/>
                        </a:defRPr>
                      </a:pPr>
                      <a:r>
                        <a:t>20,525</a:t>
                      </a:r>
                    </a:p>
                  </a:txBody>
                  <a:tcPr marL="0" marR="0" marT="0" marB="0">
                    <a:solidFill>
                      <a:srgbClr val="EFEFEF"/>
                    </a:solidFill>
                  </a:tcPr>
                </a:tc>
                <a:tc>
                  <a:txBody>
                    <a:bodyPr/>
                    <a:lstStyle/>
                    <a:p>
                      <a:pPr algn="ctr">
                        <a:defRPr sz="1000">
                          <a:latin typeface="Montserrat"/>
                        </a:defRPr>
                      </a:pPr>
                      <a:r>
                        <a:t>2,460</a:t>
                      </a:r>
                    </a:p>
                  </a:txBody>
                  <a:tcPr marL="0" marR="0" marT="0" marB="0">
                    <a:solidFill>
                      <a:srgbClr val="EFEFEF"/>
                    </a:solidFill>
                  </a:tcPr>
                </a:tc>
                <a:tc>
                  <a:txBody>
                    <a:bodyPr/>
                    <a:lstStyle/>
                    <a:p>
                      <a:pPr algn="ctr">
                        <a:defRPr sz="1000">
                          <a:latin typeface="Montserrat"/>
                        </a:defRPr>
                      </a:pPr>
                      <a:r>
                        <a:t>6,185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24.7%</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297,285</a:t>
                      </a:r>
                    </a:p>
                  </a:txBody>
                  <a:tcPr marL="0" marR="0" marT="0" marB="0">
                    <a:solidFill>
                      <a:srgbClr val="D3E9E7"/>
                    </a:solidFill>
                  </a:tcPr>
                </a:tc>
                <a:tc>
                  <a:txBody>
                    <a:bodyPr/>
                    <a:lstStyle/>
                    <a:p>
                      <a:pPr algn="ctr">
                        <a:defRPr sz="1000" b="1">
                          <a:solidFill>
                            <a:srgbClr val="006556"/>
                          </a:solidFill>
                          <a:latin typeface="Montserrat"/>
                        </a:defRPr>
                      </a:pPr>
                      <a:r>
                        <a:t>63,043</a:t>
                      </a:r>
                    </a:p>
                  </a:txBody>
                  <a:tcPr marL="0" marR="0" marT="0" marB="0">
                    <a:solidFill>
                      <a:srgbClr val="D3E9E7"/>
                    </a:solidFill>
                  </a:tcPr>
                </a:tc>
                <a:tc>
                  <a:txBody>
                    <a:bodyPr/>
                    <a:lstStyle/>
                    <a:p>
                      <a:pPr algn="ctr">
                        <a:defRPr sz="1000" b="1">
                          <a:solidFill>
                            <a:srgbClr val="FFFFFF"/>
                          </a:solidFill>
                          <a:latin typeface="Montserrat"/>
                        </a:defRPr>
                      </a:pPr>
                      <a:r>
                        <a:t>97,695</a:t>
                      </a:r>
                    </a:p>
                  </a:txBody>
                  <a:tcPr marL="0" marR="0" marT="0" marB="0">
                    <a:solidFill>
                      <a:srgbClr val="9F2241"/>
                    </a:solidFill>
                  </a:tcPr>
                </a:tc>
                <a:tc>
                  <a:txBody>
                    <a:bodyPr/>
                    <a:lstStyle/>
                    <a:p>
                      <a:pPr algn="ctr">
                        <a:defRPr sz="1000" b="1">
                          <a:solidFill>
                            <a:srgbClr val="FFFFFF"/>
                          </a:solidFill>
                          <a:latin typeface="Montserrat"/>
                        </a:defRPr>
                      </a:pPr>
                      <a:r>
                        <a:t>337,200</a:t>
                      </a:r>
                    </a:p>
                  </a:txBody>
                  <a:tcPr marL="0" marR="0" marT="0" marB="0">
                    <a:solidFill>
                      <a:srgbClr val="9F2241"/>
                    </a:solidFill>
                  </a:tcPr>
                </a:tc>
                <a:tc>
                  <a:txBody>
                    <a:bodyPr/>
                    <a:lstStyle/>
                    <a:p>
                      <a:pPr algn="ctr">
                        <a:defRPr sz="1000" b="1">
                          <a:solidFill>
                            <a:srgbClr val="FFFFFF"/>
                          </a:solidFill>
                          <a:latin typeface="Montserrat"/>
                        </a:defRPr>
                      </a:pPr>
                      <a:r>
                        <a:t>29.0%</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4226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4946400"/>
            <a:ext cx="1800000" cy="360000"/>
          </a:xfrm>
          <a:prstGeom prst="rect">
            <a:avLst/>
          </a:prstGeom>
          <a:noFill/>
        </p:spPr>
        <p:txBody>
          <a:bodyPr wrap="none">
            <a:spAutoFit/>
          </a:bodyPr>
          <a:lstStyle/>
          <a:p>
            <a:pPr algn="ctr"/>
            <a:r>
              <a:rPr sz="2400" b="1">
                <a:solidFill>
                  <a:srgbClr val="9F2241"/>
                </a:solidFill>
                <a:latin typeface="Montserrat"/>
              </a:rPr>
              <a:t>29.0%</a:t>
            </a:r>
          </a:p>
        </p:txBody>
      </p:sp>
      <p:sp>
        <p:nvSpPr>
          <p:cNvPr id="11" name="TextBox 10"/>
          <p:cNvSpPr txBox="1"/>
          <p:nvPr/>
        </p:nvSpPr>
        <p:spPr>
          <a:xfrm>
            <a:off x="4780800" y="5846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4226400"/>
            <a:ext cx="2854800" cy="1198800"/>
          </a:xfrm>
          <a:prstGeom prst="rect">
            <a:avLst/>
          </a:prstGeom>
          <a:noFill/>
        </p:spPr>
        <p:txBody>
          <a:bodyPr wrap="square">
            <a:spAutoFit/>
          </a:bodyPr>
          <a:lstStyle/>
          <a:p>
            <a:pPr algn="ctr">
              <a:defRPr sz="3600" b="1">
                <a:solidFill>
                  <a:srgbClr val="9F2241"/>
                </a:solidFill>
                <a:latin typeface="Montserrat"/>
              </a:defRPr>
            </a:pPr>
            <a:r>
              <a:t>337,200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61" name="CuadroTexto 260">
            <a:extLst>
              <a:ext uri="{FF2B5EF4-FFF2-40B4-BE49-F238E27FC236}">
                <a16:creationId xmlns:a16="http://schemas.microsoft.com/office/drawing/2014/main" id="{E595643D-899B-65A9-60BB-1D7D7F88CF0F}"/>
              </a:ext>
            </a:extLst>
          </p:cNvPr>
          <p:cNvSpPr txBox="1"/>
          <p:nvPr/>
        </p:nvSpPr>
        <p:spPr>
          <a:xfrm>
            <a:off x="4356717" y="5183693"/>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1 Nueva UMTC con   2 consultorios</a:t>
            </a:r>
          </a:p>
        </p:txBody>
      </p:sp>
      <p:sp>
        <p:nvSpPr>
          <p:cNvPr id="262" name="CuadroTexto 261">
            <a:extLst>
              <a:ext uri="{FF2B5EF4-FFF2-40B4-BE49-F238E27FC236}">
                <a16:creationId xmlns:a16="http://schemas.microsoft.com/office/drawing/2014/main" id="{4F6E33E2-A6CF-23E3-A6CF-EC229DA0E531}"/>
              </a:ext>
            </a:extLst>
          </p:cNvPr>
          <p:cNvSpPr txBox="1"/>
          <p:nvPr/>
        </p:nvSpPr>
        <p:spPr>
          <a:xfrm>
            <a:off x="4779045" y="6466299"/>
            <a:ext cx="2686003" cy="307777"/>
          </a:xfrm>
          <a:prstGeom prst="rect">
            <a:avLst/>
          </a:prstGeom>
          <a:noFill/>
        </p:spPr>
        <p:txBody>
          <a:bodyPr wrap="square">
            <a:spAutoFit/>
          </a:bodyPr>
          <a:lstStyle/>
          <a:p>
            <a:r>
              <a:rPr lang="es-MX" dirty="0">
                <a:latin typeface="Montserrat" panose="00000500000000000000" pitchFamily="2" charset="0"/>
              </a:rPr>
              <a:t>UMF 5 P. Escobedo</a:t>
            </a:r>
          </a:p>
        </p:txBody>
      </p:sp>
      <p:sp>
        <p:nvSpPr>
          <p:cNvPr id="263" name="TextBox 26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64" name="TextBox 26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265" name="TextBox 26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12 Unidades Médicas de tiempo completo (61 consultorios)</a:t>
            </a:r>
          </a:p>
        </p:txBody>
      </p:sp>
      <p:sp>
        <p:nvSpPr>
          <p:cNvPr id="266" name="TextBox 26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67" name="Connector 26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269" name="TextBox 268"/>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(348,934 consultas)</a:t>
            </a:r>
          </a:p>
        </p:txBody>
      </p:sp>
      <p:graphicFrame>
        <p:nvGraphicFramePr>
          <p:cNvPr id="270" name="Table 269"/>
          <p:cNvGraphicFramePr>
            <a:graphicFrameLocks noGrp="1"/>
          </p:cNvGraphicFramePr>
          <p:nvPr/>
        </p:nvGraphicFramePr>
        <p:xfrm>
          <a:off x="151200" y="16956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 San Cayetano</a:t>
                      </a:r>
                    </a:p>
                  </a:txBody>
                  <a:tcPr marL="0" marR="0" marT="0" marB="0">
                    <a:solidFill>
                      <a:srgbClr val="FFFFFF"/>
                    </a:solidFill>
                  </a:tcPr>
                </a:tc>
                <a:tc>
                  <a:txBody>
                    <a:bodyPr/>
                    <a:lstStyle/>
                    <a:p>
                      <a:pPr algn="ctr">
                        <a:defRPr sz="1000">
                          <a:solidFill>
                            <a:srgbClr val="000000"/>
                          </a:solidFill>
                          <a:latin typeface="Montserrat"/>
                        </a:defRPr>
                      </a:pPr>
                      <a:r>
                        <a:t>117,836</a:t>
                      </a:r>
                    </a:p>
                  </a:txBody>
                  <a:tcPr marL="0" marR="0" marT="0" marB="0">
                    <a:solidFill>
                      <a:srgbClr val="FFFFFF"/>
                    </a:solidFill>
                  </a:tcPr>
                </a:tc>
                <a:tc>
                  <a:txBody>
                    <a:bodyPr/>
                    <a:lstStyle/>
                    <a:p>
                      <a:pPr algn="ctr">
                        <a:defRPr sz="1000">
                          <a:solidFill>
                            <a:srgbClr val="000000"/>
                          </a:solidFill>
                          <a:latin typeface="Montserrat"/>
                        </a:defRPr>
                      </a:pPr>
                      <a:r>
                        <a:t>27,189</a:t>
                      </a:r>
                    </a:p>
                  </a:txBody>
                  <a:tcPr marL="0" marR="0" marT="0" marB="0">
                    <a:solidFill>
                      <a:srgbClr val="FFFFFF"/>
                    </a:solidFill>
                  </a:tcPr>
                </a:tc>
                <a:tc>
                  <a:txBody>
                    <a:bodyPr/>
                    <a:lstStyle/>
                    <a:p>
                      <a:pPr algn="ctr">
                        <a:defRPr sz="1000">
                          <a:solidFill>
                            <a:srgbClr val="000000"/>
                          </a:solidFill>
                          <a:latin typeface="Montserrat"/>
                        </a:defRPr>
                      </a:pPr>
                      <a:r>
                        <a:t>40,556</a:t>
                      </a:r>
                    </a:p>
                  </a:txBody>
                  <a:tcPr marL="0" marR="0" marT="0" marB="0">
                    <a:solidFill>
                      <a:srgbClr val="ECD3D9"/>
                    </a:solidFill>
                  </a:tcPr>
                </a:tc>
                <a:tc>
                  <a:txBody>
                    <a:bodyPr/>
                    <a:lstStyle/>
                    <a:p>
                      <a:pPr algn="ctr">
                        <a:defRPr sz="1000">
                          <a:solidFill>
                            <a:srgbClr val="000000"/>
                          </a:solidFill>
                          <a:latin typeface="Montserrat"/>
                        </a:defRPr>
                      </a:pPr>
                      <a:r>
                        <a:t>114,000</a:t>
                      </a:r>
                    </a:p>
                  </a:txBody>
                  <a:tcPr marL="0" marR="0" marT="0" marB="0">
                    <a:solidFill>
                      <a:srgbClr val="ECD3D9"/>
                    </a:solidFill>
                  </a:tcPr>
                </a:tc>
                <a:tc>
                  <a:txBody>
                    <a:bodyPr/>
                    <a:lstStyle/>
                    <a:p>
                      <a:pPr algn="ctr">
                        <a:defRPr sz="1000">
                          <a:solidFill>
                            <a:srgbClr val="000000"/>
                          </a:solidFill>
                          <a:latin typeface="Montserrat"/>
                        </a:defRPr>
                      </a:pPr>
                      <a:r>
                        <a:t>35.6%</a:t>
                      </a:r>
                    </a:p>
                  </a:txBody>
                  <a:tcPr marL="0" marR="0" marT="0" marB="0">
                    <a:solidFill>
                      <a:srgbClr val="ECD3D9"/>
                    </a:solidFill>
                  </a:tcPr>
                </a:tc>
              </a:tr>
              <a:tr h="151200">
                <a:tc>
                  <a:txBody>
                    <a:bodyPr/>
                    <a:lstStyle/>
                    <a:p>
                      <a:pPr algn="l">
                        <a:defRPr sz="1000">
                          <a:solidFill>
                            <a:srgbClr val="000000"/>
                          </a:solidFill>
                          <a:latin typeface="Montserrat"/>
                        </a:defRPr>
                      </a:pPr>
                      <a:r>
                        <a:t>UMF 6 S. Juan del Río</a:t>
                      </a:r>
                    </a:p>
                  </a:txBody>
                  <a:tcPr marL="0" marR="0" marT="0" marB="0">
                    <a:solidFill>
                      <a:srgbClr val="EFEFEF"/>
                    </a:solidFill>
                  </a:tcPr>
                </a:tc>
                <a:tc>
                  <a:txBody>
                    <a:bodyPr/>
                    <a:lstStyle/>
                    <a:p>
                      <a:pPr algn="ctr">
                        <a:defRPr sz="1000">
                          <a:solidFill>
                            <a:srgbClr val="000000"/>
                          </a:solidFill>
                          <a:latin typeface="Montserrat"/>
                        </a:defRPr>
                      </a:pPr>
                      <a:r>
                        <a:t>192,456</a:t>
                      </a:r>
                    </a:p>
                  </a:txBody>
                  <a:tcPr marL="0" marR="0" marT="0" marB="0">
                    <a:solidFill>
                      <a:srgbClr val="EFEFEF"/>
                    </a:solidFill>
                  </a:tcPr>
                </a:tc>
                <a:tc>
                  <a:txBody>
                    <a:bodyPr/>
                    <a:lstStyle/>
                    <a:p>
                      <a:pPr algn="ctr">
                        <a:defRPr sz="1000">
                          <a:solidFill>
                            <a:srgbClr val="000000"/>
                          </a:solidFill>
                          <a:latin typeface="Montserrat"/>
                        </a:defRPr>
                      </a:pPr>
                      <a:r>
                        <a:t>21,444</a:t>
                      </a:r>
                    </a:p>
                  </a:txBody>
                  <a:tcPr marL="0" marR="0" marT="0" marB="0">
                    <a:solidFill>
                      <a:srgbClr val="EFEFEF"/>
                    </a:solidFill>
                  </a:tcPr>
                </a:tc>
                <a:tc>
                  <a:txBody>
                    <a:bodyPr/>
                    <a:lstStyle/>
                    <a:p>
                      <a:pPr algn="ctr">
                        <a:defRPr sz="1000">
                          <a:solidFill>
                            <a:srgbClr val="000000"/>
                          </a:solidFill>
                          <a:latin typeface="Montserrat"/>
                        </a:defRPr>
                      </a:pPr>
                      <a:r>
                        <a:t>63,152</a:t>
                      </a:r>
                    </a:p>
                  </a:txBody>
                  <a:tcPr marL="0" marR="0" marT="0" marB="0">
                    <a:solidFill>
                      <a:srgbClr val="ECD3D9"/>
                    </a:solidFill>
                  </a:tcPr>
                </a:tc>
                <a:tc>
                  <a:txBody>
                    <a:bodyPr/>
                    <a:lstStyle/>
                    <a:p>
                      <a:pPr algn="ctr">
                        <a:defRPr sz="1000">
                          <a:solidFill>
                            <a:srgbClr val="000000"/>
                          </a:solidFill>
                          <a:latin typeface="Montserrat"/>
                        </a:defRPr>
                      </a:pPr>
                      <a:r>
                        <a:t>187,000</a:t>
                      </a:r>
                    </a:p>
                  </a:txBody>
                  <a:tcPr marL="0" marR="0" marT="0" marB="0">
                    <a:solidFill>
                      <a:srgbClr val="ECD3D9"/>
                    </a:solidFill>
                  </a:tcPr>
                </a:tc>
                <a:tc>
                  <a:txBody>
                    <a:bodyPr/>
                    <a:lstStyle/>
                    <a:p>
                      <a:pPr algn="ctr">
                        <a:defRPr sz="1000">
                          <a:solidFill>
                            <a:srgbClr val="000000"/>
                          </a:solidFill>
                          <a:latin typeface="Montserrat"/>
                        </a:defRPr>
                      </a:pPr>
                      <a:r>
                        <a:t>33.8%</a:t>
                      </a:r>
                    </a:p>
                  </a:txBody>
                  <a:tcPr marL="0" marR="0" marT="0" marB="0">
                    <a:solidFill>
                      <a:srgbClr val="ECD3D9"/>
                    </a:solidFill>
                  </a:tcPr>
                </a:tc>
              </a:tr>
              <a:tr h="151200">
                <a:tc>
                  <a:txBody>
                    <a:bodyPr/>
                    <a:lstStyle/>
                    <a:p>
                      <a:pPr algn="l">
                        <a:defRPr sz="1000">
                          <a:solidFill>
                            <a:srgbClr val="000000"/>
                          </a:solidFill>
                          <a:latin typeface="Montserrat"/>
                        </a:defRPr>
                      </a:pPr>
                      <a:r>
                        <a:t>UMF 13 Querétaro</a:t>
                      </a:r>
                    </a:p>
                  </a:txBody>
                  <a:tcPr marL="0" marR="0" marT="0" marB="0">
                    <a:solidFill>
                      <a:srgbClr val="FFFFFF"/>
                    </a:solidFill>
                  </a:tcPr>
                </a:tc>
                <a:tc>
                  <a:txBody>
                    <a:bodyPr/>
                    <a:lstStyle/>
                    <a:p>
                      <a:pPr algn="ctr">
                        <a:defRPr sz="1000">
                          <a:solidFill>
                            <a:srgbClr val="000000"/>
                          </a:solidFill>
                          <a:latin typeface="Montserrat"/>
                        </a:defRPr>
                      </a:pPr>
                      <a:r>
                        <a:t>264,584</a:t>
                      </a:r>
                    </a:p>
                  </a:txBody>
                  <a:tcPr marL="0" marR="0" marT="0" marB="0">
                    <a:solidFill>
                      <a:srgbClr val="FFFFFF"/>
                    </a:solidFill>
                  </a:tcPr>
                </a:tc>
                <a:tc>
                  <a:txBody>
                    <a:bodyPr/>
                    <a:lstStyle/>
                    <a:p>
                      <a:pPr algn="ctr">
                        <a:defRPr sz="1000">
                          <a:solidFill>
                            <a:srgbClr val="000000"/>
                          </a:solidFill>
                          <a:latin typeface="Montserrat"/>
                        </a:defRPr>
                      </a:pPr>
                      <a:r>
                        <a:t>28,506</a:t>
                      </a:r>
                    </a:p>
                  </a:txBody>
                  <a:tcPr marL="0" marR="0" marT="0" marB="0">
                    <a:solidFill>
                      <a:srgbClr val="FFFFFF"/>
                    </a:solidFill>
                  </a:tcPr>
                </a:tc>
                <a:tc>
                  <a:txBody>
                    <a:bodyPr/>
                    <a:lstStyle/>
                    <a:p>
                      <a:pPr algn="ctr">
                        <a:defRPr sz="1000">
                          <a:solidFill>
                            <a:srgbClr val="000000"/>
                          </a:solidFill>
                          <a:latin typeface="Montserrat"/>
                        </a:defRPr>
                      </a:pPr>
                      <a:r>
                        <a:t>86,847</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31.5%</a:t>
                      </a:r>
                    </a:p>
                  </a:txBody>
                  <a:tcPr marL="0" marR="0" marT="0" marB="0">
                    <a:solidFill>
                      <a:srgbClr val="ECD3D9"/>
                    </a:solidFill>
                  </a:tcPr>
                </a:tc>
              </a:tr>
              <a:tr h="151200">
                <a:tc>
                  <a:txBody>
                    <a:bodyPr/>
                    <a:lstStyle/>
                    <a:p>
                      <a:pPr algn="l">
                        <a:defRPr sz="1000">
                          <a:solidFill>
                            <a:srgbClr val="000000"/>
                          </a:solidFill>
                          <a:latin typeface="Montserrat"/>
                        </a:defRPr>
                      </a:pPr>
                      <a:r>
                        <a:t>UMF 16 Querétaro</a:t>
                      </a:r>
                    </a:p>
                  </a:txBody>
                  <a:tcPr marL="0" marR="0" marT="0" marB="0">
                    <a:solidFill>
                      <a:srgbClr val="EFEFEF"/>
                    </a:solidFill>
                  </a:tcPr>
                </a:tc>
                <a:tc>
                  <a:txBody>
                    <a:bodyPr/>
                    <a:lstStyle/>
                    <a:p>
                      <a:pPr algn="ctr">
                        <a:defRPr sz="1000">
                          <a:solidFill>
                            <a:srgbClr val="000000"/>
                          </a:solidFill>
                          <a:latin typeface="Montserrat"/>
                        </a:defRPr>
                      </a:pPr>
                      <a:r>
                        <a:t>234,952</a:t>
                      </a:r>
                    </a:p>
                  </a:txBody>
                  <a:tcPr marL="0" marR="0" marT="0" marB="0">
                    <a:solidFill>
                      <a:srgbClr val="EFEFEF"/>
                    </a:solidFill>
                  </a:tcPr>
                </a:tc>
                <a:tc>
                  <a:txBody>
                    <a:bodyPr/>
                    <a:lstStyle/>
                    <a:p>
                      <a:pPr algn="ctr">
                        <a:defRPr sz="1000">
                          <a:solidFill>
                            <a:srgbClr val="000000"/>
                          </a:solidFill>
                          <a:latin typeface="Montserrat"/>
                        </a:defRPr>
                      </a:pPr>
                      <a:r>
                        <a:t>29,078</a:t>
                      </a:r>
                    </a:p>
                  </a:txBody>
                  <a:tcPr marL="0" marR="0" marT="0" marB="0">
                    <a:solidFill>
                      <a:srgbClr val="EFEFEF"/>
                    </a:solidFill>
                  </a:tcPr>
                </a:tc>
                <a:tc>
                  <a:txBody>
                    <a:bodyPr/>
                    <a:lstStyle/>
                    <a:p>
                      <a:pPr algn="ctr">
                        <a:defRPr sz="1000">
                          <a:solidFill>
                            <a:srgbClr val="000000"/>
                          </a:solidFill>
                          <a:latin typeface="Montserrat"/>
                        </a:defRPr>
                      </a:pPr>
                      <a:r>
                        <a:t>79,092</a:t>
                      </a:r>
                    </a:p>
                  </a:txBody>
                  <a:tcPr marL="0" marR="0" marT="0" marB="0">
                    <a:solidFill>
                      <a:srgbClr val="ECD3D9"/>
                    </a:solidFill>
                  </a:tcPr>
                </a:tc>
                <a:tc>
                  <a:txBody>
                    <a:bodyPr/>
                    <a:lstStyle/>
                    <a:p>
                      <a:pPr algn="ctr">
                        <a:defRPr sz="1000">
                          <a:solidFill>
                            <a:srgbClr val="000000"/>
                          </a:solidFill>
                          <a:latin typeface="Montserrat"/>
                        </a:defRPr>
                      </a:pPr>
                      <a:r>
                        <a:t>228,000</a:t>
                      </a:r>
                    </a:p>
                  </a:txBody>
                  <a:tcPr marL="0" marR="0" marT="0" marB="0">
                    <a:solidFill>
                      <a:srgbClr val="ECD3D9"/>
                    </a:solidFill>
                  </a:tcPr>
                </a:tc>
                <a:tc>
                  <a:txBody>
                    <a:bodyPr/>
                    <a:lstStyle/>
                    <a:p>
                      <a:pPr algn="ctr">
                        <a:defRPr sz="1000">
                          <a:solidFill>
                            <a:srgbClr val="000000"/>
                          </a:solidFill>
                          <a:latin typeface="Montserrat"/>
                        </a:defRPr>
                      </a:pPr>
                      <a:r>
                        <a:t>34.7%</a:t>
                      </a:r>
                    </a:p>
                  </a:txBody>
                  <a:tcPr marL="0" marR="0" marT="0" marB="0">
                    <a:solidFill>
                      <a:srgbClr val="ECD3D9"/>
                    </a:solidFill>
                  </a:tcPr>
                </a:tc>
              </a:tr>
              <a:tr h="151200">
                <a:tc>
                  <a:txBody>
                    <a:bodyPr/>
                    <a:lstStyle/>
                    <a:p>
                      <a:pPr algn="l">
                        <a:defRPr sz="1000">
                          <a:solidFill>
                            <a:srgbClr val="000000"/>
                          </a:solidFill>
                          <a:latin typeface="Montserrat"/>
                        </a:defRPr>
                      </a:pPr>
                      <a:r>
                        <a:t>UMF 11 S. R. Jaúregui</a:t>
                      </a:r>
                    </a:p>
                  </a:txBody>
                  <a:tcPr marL="0" marR="0" marT="0" marB="0">
                    <a:solidFill>
                      <a:srgbClr val="FFFFFF"/>
                    </a:solidFill>
                  </a:tcPr>
                </a:tc>
                <a:tc>
                  <a:txBody>
                    <a:bodyPr/>
                    <a:lstStyle/>
                    <a:p>
                      <a:pPr algn="ctr">
                        <a:defRPr sz="1000">
                          <a:solidFill>
                            <a:srgbClr val="000000"/>
                          </a:solidFill>
                          <a:latin typeface="Montserrat"/>
                        </a:defRPr>
                      </a:pPr>
                      <a:r>
                        <a:t>147,570</a:t>
                      </a:r>
                    </a:p>
                  </a:txBody>
                  <a:tcPr marL="0" marR="0" marT="0" marB="0">
                    <a:solidFill>
                      <a:srgbClr val="FFFFFF"/>
                    </a:solidFill>
                  </a:tcPr>
                </a:tc>
                <a:tc>
                  <a:txBody>
                    <a:bodyPr/>
                    <a:lstStyle/>
                    <a:p>
                      <a:pPr algn="ctr">
                        <a:defRPr sz="1000">
                          <a:solidFill>
                            <a:srgbClr val="000000"/>
                          </a:solidFill>
                          <a:latin typeface="Montserrat"/>
                        </a:defRPr>
                      </a:pPr>
                      <a:r>
                        <a:t>27,396</a:t>
                      </a:r>
                    </a:p>
                  </a:txBody>
                  <a:tcPr marL="0" marR="0" marT="0" marB="0">
                    <a:solidFill>
                      <a:srgbClr val="FFFFFF"/>
                    </a:solidFill>
                  </a:tcPr>
                </a:tc>
                <a:tc>
                  <a:txBody>
                    <a:bodyPr/>
                    <a:lstStyle/>
                    <a:p>
                      <a:pPr algn="ctr">
                        <a:defRPr sz="1000">
                          <a:solidFill>
                            <a:srgbClr val="000000"/>
                          </a:solidFill>
                          <a:latin typeface="Montserrat"/>
                        </a:defRPr>
                      </a:pPr>
                      <a:r>
                        <a:t>48,190</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33.5%</a:t>
                      </a:r>
                    </a:p>
                  </a:txBody>
                  <a:tcPr marL="0" marR="0" marT="0" marB="0">
                    <a:solidFill>
                      <a:srgbClr val="ECD3D9"/>
                    </a:solidFill>
                  </a:tcPr>
                </a:tc>
              </a:tr>
              <a:tr h="151200">
                <a:tc>
                  <a:txBody>
                    <a:bodyPr/>
                    <a:lstStyle/>
                    <a:p>
                      <a:pPr algn="l">
                        <a:defRPr sz="1000">
                          <a:solidFill>
                            <a:srgbClr val="000000"/>
                          </a:solidFill>
                          <a:latin typeface="Montserrat"/>
                        </a:defRPr>
                      </a:pPr>
                      <a:r>
                        <a:t>UMF 14 El Pueblito</a:t>
                      </a:r>
                    </a:p>
                  </a:txBody>
                  <a:tcPr marL="0" marR="0" marT="0" marB="0">
                    <a:solidFill>
                      <a:srgbClr val="EFEFEF"/>
                    </a:solidFill>
                  </a:tcPr>
                </a:tc>
                <a:tc>
                  <a:txBody>
                    <a:bodyPr/>
                    <a:lstStyle/>
                    <a:p>
                      <a:pPr algn="ctr">
                        <a:defRPr sz="1000">
                          <a:solidFill>
                            <a:srgbClr val="000000"/>
                          </a:solidFill>
                          <a:latin typeface="Montserrat"/>
                        </a:defRPr>
                      </a:pPr>
                      <a:r>
                        <a:t>99,932</a:t>
                      </a:r>
                    </a:p>
                  </a:txBody>
                  <a:tcPr marL="0" marR="0" marT="0" marB="0">
                    <a:solidFill>
                      <a:srgbClr val="EFEFEF"/>
                    </a:solidFill>
                  </a:tcPr>
                </a:tc>
                <a:tc>
                  <a:txBody>
                    <a:bodyPr/>
                    <a:lstStyle/>
                    <a:p>
                      <a:pPr algn="ctr">
                        <a:defRPr sz="1000">
                          <a:solidFill>
                            <a:srgbClr val="000000"/>
                          </a:solidFill>
                          <a:latin typeface="Montserrat"/>
                        </a:defRPr>
                      </a:pPr>
                      <a:r>
                        <a:t>5,532</a:t>
                      </a:r>
                    </a:p>
                  </a:txBody>
                  <a:tcPr marL="0" marR="0" marT="0" marB="0">
                    <a:solidFill>
                      <a:srgbClr val="EFEFEF"/>
                    </a:solidFill>
                  </a:tcPr>
                </a:tc>
                <a:tc>
                  <a:txBody>
                    <a:bodyPr/>
                    <a:lstStyle/>
                    <a:p>
                      <a:pPr algn="ctr">
                        <a:defRPr sz="1000">
                          <a:solidFill>
                            <a:srgbClr val="000000"/>
                          </a:solidFill>
                          <a:latin typeface="Montserrat"/>
                        </a:defRPr>
                      </a:pPr>
                      <a:r>
                        <a:t>32,893</a:t>
                      </a:r>
                    </a:p>
                  </a:txBody>
                  <a:tcPr marL="0" marR="0" marT="0" marB="0">
                    <a:solidFill>
                      <a:srgbClr val="ECD3D9"/>
                    </a:solidFill>
                  </a:tcPr>
                </a:tc>
                <a:tc>
                  <a:txBody>
                    <a:bodyPr/>
                    <a:lstStyle/>
                    <a:p>
                      <a:pPr algn="ctr">
                        <a:defRPr sz="1000">
                          <a:solidFill>
                            <a:srgbClr val="000000"/>
                          </a:solidFill>
                          <a:latin typeface="Montserrat"/>
                        </a:defRPr>
                      </a:pPr>
                      <a:r>
                        <a:t>97,000</a:t>
                      </a:r>
                    </a:p>
                  </a:txBody>
                  <a:tcPr marL="0" marR="0" marT="0" marB="0">
                    <a:solidFill>
                      <a:srgbClr val="ECD3D9"/>
                    </a:solidFill>
                  </a:tcPr>
                </a:tc>
                <a:tc>
                  <a:txBody>
                    <a:bodyPr/>
                    <a:lstStyle/>
                    <a:p>
                      <a:pPr algn="ctr">
                        <a:defRPr sz="1000">
                          <a:solidFill>
                            <a:srgbClr val="000000"/>
                          </a:solidFill>
                          <a:latin typeface="Montserrat"/>
                        </a:defRPr>
                      </a:pPr>
                      <a:r>
                        <a:t>33.9%</a:t>
                      </a:r>
                    </a:p>
                  </a:txBody>
                  <a:tcPr marL="0" marR="0" marT="0" marB="0">
                    <a:solidFill>
                      <a:srgbClr val="ECD3D9"/>
                    </a:solidFill>
                  </a:tcPr>
                </a:tc>
              </a:tr>
              <a:tr h="151200">
                <a:tc>
                  <a:txBody>
                    <a:bodyPr/>
                    <a:lstStyle/>
                    <a:p>
                      <a:pPr algn="l">
                        <a:defRPr sz="1000">
                          <a:solidFill>
                            <a:srgbClr val="000000"/>
                          </a:solidFill>
                          <a:latin typeface="Montserrat"/>
                        </a:defRPr>
                      </a:pPr>
                      <a:r>
                        <a:t>UMF 9 Del Tintero</a:t>
                      </a:r>
                    </a:p>
                  </a:txBody>
                  <a:tcPr marL="0" marR="0" marT="0" marB="0">
                    <a:solidFill>
                      <a:srgbClr val="FFFFFF"/>
                    </a:solidFill>
                  </a:tcPr>
                </a:tc>
                <a:tc>
                  <a:txBody>
                    <a:bodyPr/>
                    <a:lstStyle/>
                    <a:p>
                      <a:pPr algn="ctr">
                        <a:defRPr sz="1000">
                          <a:solidFill>
                            <a:srgbClr val="000000"/>
                          </a:solidFill>
                          <a:latin typeface="Montserrat"/>
                        </a:defRPr>
                      </a:pPr>
                      <a:r>
                        <a:t>276,369</a:t>
                      </a:r>
                    </a:p>
                  </a:txBody>
                  <a:tcPr marL="0" marR="0" marT="0" marB="0">
                    <a:solidFill>
                      <a:srgbClr val="FFFFFF"/>
                    </a:solidFill>
                  </a:tcPr>
                </a:tc>
                <a:tc>
                  <a:txBody>
                    <a:bodyPr/>
                    <a:lstStyle/>
                    <a:p>
                      <a:pPr algn="ctr">
                        <a:defRPr sz="1000">
                          <a:solidFill>
                            <a:srgbClr val="000000"/>
                          </a:solidFill>
                          <a:latin typeface="Montserrat"/>
                        </a:defRPr>
                      </a:pPr>
                      <a:r>
                        <a:t>16,911</a:t>
                      </a:r>
                    </a:p>
                  </a:txBody>
                  <a:tcPr marL="0" marR="0" marT="0" marB="0">
                    <a:solidFill>
                      <a:srgbClr val="FFFFFF"/>
                    </a:solidFill>
                  </a:tcPr>
                </a:tc>
                <a:tc>
                  <a:txBody>
                    <a:bodyPr/>
                    <a:lstStyle/>
                    <a:p>
                      <a:pPr algn="ctr">
                        <a:defRPr sz="1000">
                          <a:solidFill>
                            <a:srgbClr val="000000"/>
                          </a:solidFill>
                          <a:latin typeface="Montserrat"/>
                        </a:defRPr>
                      </a:pPr>
                      <a:r>
                        <a:t>93,191</a:t>
                      </a:r>
                    </a:p>
                  </a:txBody>
                  <a:tcPr marL="0" marR="0" marT="0" marB="0">
                    <a:solidFill>
                      <a:srgbClr val="ECD3D9"/>
                    </a:solidFill>
                  </a:tcPr>
                </a:tc>
                <a:tc>
                  <a:txBody>
                    <a:bodyPr/>
                    <a:lstStyle/>
                    <a:p>
                      <a:pPr algn="ctr">
                        <a:defRPr sz="1000">
                          <a:solidFill>
                            <a:srgbClr val="000000"/>
                          </a:solidFill>
                          <a:latin typeface="Montserrat"/>
                        </a:defRPr>
                      </a:pPr>
                      <a:r>
                        <a:t>269,000</a:t>
                      </a:r>
                    </a:p>
                  </a:txBody>
                  <a:tcPr marL="0" marR="0" marT="0" marB="0">
                    <a:solidFill>
                      <a:srgbClr val="ECD3D9"/>
                    </a:solidFill>
                  </a:tcPr>
                </a:tc>
                <a:tc>
                  <a:txBody>
                    <a:bodyPr/>
                    <a:lstStyle/>
                    <a:p>
                      <a:pPr algn="ctr">
                        <a:defRPr sz="1000">
                          <a:solidFill>
                            <a:srgbClr val="000000"/>
                          </a:solidFill>
                          <a:latin typeface="Montserrat"/>
                        </a:defRPr>
                      </a:pPr>
                      <a:r>
                        <a:t>34.6%</a:t>
                      </a:r>
                    </a:p>
                  </a:txBody>
                  <a:tcPr marL="0" marR="0" marT="0" marB="0">
                    <a:solidFill>
                      <a:srgbClr val="ECD3D9"/>
                    </a:solidFill>
                  </a:tcPr>
                </a:tc>
              </a:tr>
              <a:tr h="151200">
                <a:tc>
                  <a:txBody>
                    <a:bodyPr/>
                    <a:lstStyle/>
                    <a:p>
                      <a:pPr algn="l">
                        <a:defRPr sz="1000">
                          <a:solidFill>
                            <a:srgbClr val="000000"/>
                          </a:solidFill>
                          <a:latin typeface="Montserrat"/>
                        </a:defRPr>
                      </a:pPr>
                      <a:r>
                        <a:t>UMF 15 Querétaro</a:t>
                      </a:r>
                    </a:p>
                  </a:txBody>
                  <a:tcPr marL="0" marR="0" marT="0" marB="0">
                    <a:solidFill>
                      <a:srgbClr val="EFEFEF"/>
                    </a:solidFill>
                  </a:tcPr>
                </a:tc>
                <a:tc>
                  <a:txBody>
                    <a:bodyPr/>
                    <a:lstStyle/>
                    <a:p>
                      <a:pPr algn="ctr">
                        <a:defRPr sz="1000">
                          <a:solidFill>
                            <a:srgbClr val="000000"/>
                          </a:solidFill>
                          <a:latin typeface="Montserrat"/>
                        </a:defRPr>
                      </a:pPr>
                      <a:r>
                        <a:t>203,089</a:t>
                      </a:r>
                    </a:p>
                  </a:txBody>
                  <a:tcPr marL="0" marR="0" marT="0" marB="0">
                    <a:solidFill>
                      <a:srgbClr val="EFEFEF"/>
                    </a:solidFill>
                  </a:tcPr>
                </a:tc>
                <a:tc>
                  <a:txBody>
                    <a:bodyPr/>
                    <a:lstStyle/>
                    <a:p>
                      <a:pPr algn="ctr">
                        <a:defRPr sz="1000">
                          <a:solidFill>
                            <a:srgbClr val="000000"/>
                          </a:solidFill>
                          <a:latin typeface="Montserrat"/>
                        </a:defRPr>
                      </a:pPr>
                      <a:r>
                        <a:t>6,949</a:t>
                      </a:r>
                    </a:p>
                  </a:txBody>
                  <a:tcPr marL="0" marR="0" marT="0" marB="0">
                    <a:solidFill>
                      <a:srgbClr val="EFEFEF"/>
                    </a:solidFill>
                  </a:tcPr>
                </a:tc>
                <a:tc>
                  <a:txBody>
                    <a:bodyPr/>
                    <a:lstStyle/>
                    <a:p>
                      <a:pPr algn="ctr">
                        <a:defRPr sz="1000">
                          <a:solidFill>
                            <a:srgbClr val="000000"/>
                          </a:solidFill>
                          <a:latin typeface="Montserrat"/>
                        </a:defRPr>
                      </a:pPr>
                      <a:r>
                        <a:t>66,354</a:t>
                      </a:r>
                    </a:p>
                  </a:txBody>
                  <a:tcPr marL="0" marR="0" marT="0" marB="0">
                    <a:solidFill>
                      <a:srgbClr val="ECD3D9"/>
                    </a:solidFill>
                  </a:tcPr>
                </a:tc>
                <a:tc>
                  <a:txBody>
                    <a:bodyPr/>
                    <a:lstStyle/>
                    <a:p>
                      <a:pPr algn="ctr">
                        <a:defRPr sz="1000">
                          <a:solidFill>
                            <a:srgbClr val="000000"/>
                          </a:solidFill>
                          <a:latin typeface="Montserrat"/>
                        </a:defRPr>
                      </a:pPr>
                      <a:r>
                        <a:t>198,000</a:t>
                      </a:r>
                    </a:p>
                  </a:txBody>
                  <a:tcPr marL="0" marR="0" marT="0" marB="0">
                    <a:solidFill>
                      <a:srgbClr val="ECD3D9"/>
                    </a:solidFill>
                  </a:tcPr>
                </a:tc>
                <a:tc>
                  <a:txBody>
                    <a:bodyPr/>
                    <a:lstStyle/>
                    <a:p>
                      <a:pPr algn="ctr">
                        <a:defRPr sz="1000">
                          <a:solidFill>
                            <a:srgbClr val="000000"/>
                          </a:solidFill>
                          <a:latin typeface="Montserrat"/>
                        </a:defRPr>
                      </a:pPr>
                      <a:r>
                        <a:t>33.5%</a:t>
                      </a:r>
                    </a:p>
                  </a:txBody>
                  <a:tcPr marL="0" marR="0" marT="0" marB="0">
                    <a:solidFill>
                      <a:srgbClr val="ECD3D9"/>
                    </a:solidFill>
                  </a:tcPr>
                </a:tc>
              </a:tr>
              <a:tr h="151200">
                <a:tc>
                  <a:txBody>
                    <a:bodyPr/>
                    <a:lstStyle/>
                    <a:p>
                      <a:pPr algn="l">
                        <a:defRPr sz="1000">
                          <a:solidFill>
                            <a:srgbClr val="000000"/>
                          </a:solidFill>
                          <a:latin typeface="Montserrat"/>
                        </a:defRPr>
                      </a:pPr>
                      <a:r>
                        <a:t>UMF 10 S. Gregorio</a:t>
                      </a:r>
                    </a:p>
                  </a:txBody>
                  <a:tcPr marL="0" marR="0" marT="0" marB="0">
                    <a:solidFill>
                      <a:srgbClr val="FFFFFF"/>
                    </a:solidFill>
                  </a:tcPr>
                </a:tc>
                <a:tc>
                  <a:txBody>
                    <a:bodyPr/>
                    <a:lstStyle/>
                    <a:p>
                      <a:pPr algn="ctr">
                        <a:defRPr sz="1000">
                          <a:solidFill>
                            <a:srgbClr val="000000"/>
                          </a:solidFill>
                          <a:latin typeface="Montserrat"/>
                        </a:defRPr>
                      </a:pPr>
                      <a:r>
                        <a:t>89,550</a:t>
                      </a:r>
                    </a:p>
                  </a:txBody>
                  <a:tcPr marL="0" marR="0" marT="0" marB="0">
                    <a:solidFill>
                      <a:srgbClr val="FFFFFF"/>
                    </a:solidFill>
                  </a:tcPr>
                </a:tc>
                <a:tc>
                  <a:txBody>
                    <a:bodyPr/>
                    <a:lstStyle/>
                    <a:p>
                      <a:pPr algn="ctr">
                        <a:defRPr sz="1000">
                          <a:solidFill>
                            <a:srgbClr val="000000"/>
                          </a:solidFill>
                          <a:latin typeface="Montserrat"/>
                        </a:defRPr>
                      </a:pPr>
                      <a:r>
                        <a:t>21,333</a:t>
                      </a:r>
                    </a:p>
                  </a:txBody>
                  <a:tcPr marL="0" marR="0" marT="0" marB="0">
                    <a:solidFill>
                      <a:srgbClr val="FFFFFF"/>
                    </a:solidFill>
                  </a:tcPr>
                </a:tc>
                <a:tc>
                  <a:txBody>
                    <a:bodyPr/>
                    <a:lstStyle/>
                    <a:p>
                      <a:pPr algn="ctr">
                        <a:defRPr sz="1000">
                          <a:solidFill>
                            <a:srgbClr val="000000"/>
                          </a:solidFill>
                          <a:latin typeface="Montserrat"/>
                        </a:defRPr>
                      </a:pPr>
                      <a:r>
                        <a:t>33,151</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38.1%</a:t>
                      </a:r>
                    </a:p>
                  </a:txBody>
                  <a:tcPr marL="0" marR="0" marT="0" marB="0">
                    <a:solidFill>
                      <a:srgbClr val="ECD3D9"/>
                    </a:solidFill>
                  </a:tcPr>
                </a:tc>
              </a:tr>
              <a:tr h="151200">
                <a:tc>
                  <a:txBody>
                    <a:bodyPr/>
                    <a:lstStyle/>
                    <a:p>
                      <a:pPr algn="l">
                        <a:defRPr sz="1000">
                          <a:solidFill>
                            <a:srgbClr val="000000"/>
                          </a:solidFill>
                          <a:latin typeface="Montserrat"/>
                        </a:defRPr>
                      </a:pPr>
                      <a:r>
                        <a:t>UMF 7 S. Juan del Río</a:t>
                      </a:r>
                    </a:p>
                  </a:txBody>
                  <a:tcPr marL="0" marR="0" marT="0" marB="0">
                    <a:solidFill>
                      <a:srgbClr val="EFEFEF"/>
                    </a:solidFill>
                  </a:tcPr>
                </a:tc>
                <a:tc>
                  <a:txBody>
                    <a:bodyPr/>
                    <a:lstStyle/>
                    <a:p>
                      <a:pPr algn="ctr">
                        <a:defRPr sz="1000">
                          <a:solidFill>
                            <a:srgbClr val="000000"/>
                          </a:solidFill>
                          <a:latin typeface="Montserrat"/>
                        </a:defRPr>
                      </a:pPr>
                      <a:r>
                        <a:t>175,329</a:t>
                      </a:r>
                    </a:p>
                  </a:txBody>
                  <a:tcPr marL="0" marR="0" marT="0" marB="0">
                    <a:solidFill>
                      <a:srgbClr val="EFEFEF"/>
                    </a:solidFill>
                  </a:tcPr>
                </a:tc>
                <a:tc>
                  <a:txBody>
                    <a:bodyPr/>
                    <a:lstStyle/>
                    <a:p>
                      <a:pPr algn="ctr">
                        <a:defRPr sz="1000">
                          <a:solidFill>
                            <a:srgbClr val="000000"/>
                          </a:solidFill>
                          <a:latin typeface="Montserrat"/>
                        </a:defRPr>
                      </a:pPr>
                      <a:r>
                        <a:t>48,650</a:t>
                      </a:r>
                    </a:p>
                  </a:txBody>
                  <a:tcPr marL="0" marR="0" marT="0" marB="0">
                    <a:solidFill>
                      <a:srgbClr val="EFEFEF"/>
                    </a:solidFill>
                  </a:tcPr>
                </a:tc>
                <a:tc>
                  <a:txBody>
                    <a:bodyPr/>
                    <a:lstStyle/>
                    <a:p>
                      <a:pPr algn="ctr">
                        <a:defRPr sz="1000">
                          <a:solidFill>
                            <a:srgbClr val="000000"/>
                          </a:solidFill>
                          <a:latin typeface="Montserrat"/>
                        </a:defRPr>
                      </a:pPr>
                      <a:r>
                        <a:t>62,806</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35.1%</a:t>
                      </a:r>
                    </a:p>
                  </a:txBody>
                  <a:tcPr marL="0" marR="0" marT="0" marB="0">
                    <a:solidFill>
                      <a:srgbClr val="ECD3D9"/>
                    </a:solidFill>
                  </a:tcPr>
                </a:tc>
              </a:tr>
              <a:tr h="151200">
                <a:tc>
                  <a:txBody>
                    <a:bodyPr/>
                    <a:lstStyle/>
                    <a:p>
                      <a:pPr algn="l">
                        <a:defRPr sz="1000">
                          <a:solidFill>
                            <a:srgbClr val="000000"/>
                          </a:solidFill>
                          <a:latin typeface="Montserrat"/>
                        </a:defRPr>
                      </a:pPr>
                      <a:r>
                        <a:t>UMF 8 El Marqués</a:t>
                      </a:r>
                    </a:p>
                  </a:txBody>
                  <a:tcPr marL="0" marR="0" marT="0" marB="0">
                    <a:solidFill>
                      <a:srgbClr val="FFFFFF"/>
                    </a:solidFill>
                  </a:tcPr>
                </a:tc>
                <a:tc>
                  <a:txBody>
                    <a:bodyPr/>
                    <a:lstStyle/>
                    <a:p>
                      <a:pPr algn="ctr">
                        <a:defRPr sz="1000">
                          <a:solidFill>
                            <a:srgbClr val="000000"/>
                          </a:solidFill>
                          <a:latin typeface="Montserrat"/>
                        </a:defRPr>
                      </a:pPr>
                      <a:r>
                        <a:t>167,301</a:t>
                      </a:r>
                    </a:p>
                  </a:txBody>
                  <a:tcPr marL="0" marR="0" marT="0" marB="0">
                    <a:solidFill>
                      <a:srgbClr val="FFFFFF"/>
                    </a:solidFill>
                  </a:tcPr>
                </a:tc>
                <a:tc>
                  <a:txBody>
                    <a:bodyPr/>
                    <a:lstStyle/>
                    <a:p>
                      <a:pPr algn="ctr">
                        <a:defRPr sz="1000">
                          <a:solidFill>
                            <a:srgbClr val="000000"/>
                          </a:solidFill>
                          <a:latin typeface="Montserrat"/>
                        </a:defRPr>
                      </a:pPr>
                      <a:r>
                        <a:t>10,694</a:t>
                      </a:r>
                    </a:p>
                  </a:txBody>
                  <a:tcPr marL="0" marR="0" marT="0" marB="0">
                    <a:solidFill>
                      <a:srgbClr val="FFFFFF"/>
                    </a:solidFill>
                  </a:tcPr>
                </a:tc>
                <a:tc>
                  <a:txBody>
                    <a:bodyPr/>
                    <a:lstStyle/>
                    <a:p>
                      <a:pPr algn="ctr">
                        <a:defRPr sz="1000">
                          <a:solidFill>
                            <a:srgbClr val="000000"/>
                          </a:solidFill>
                          <a:latin typeface="Montserrat"/>
                        </a:defRPr>
                      </a:pPr>
                      <a:r>
                        <a:t>54,749</a:t>
                      </a:r>
                    </a:p>
                  </a:txBody>
                  <a:tcPr marL="0" marR="0" marT="0" marB="0">
                    <a:solidFill>
                      <a:srgbClr val="ECD3D9"/>
                    </a:solidFill>
                  </a:tcPr>
                </a:tc>
                <a:tc>
                  <a:txBody>
                    <a:bodyPr/>
                    <a:lstStyle/>
                    <a:p>
                      <a:pPr algn="ctr">
                        <a:defRPr sz="1000">
                          <a:solidFill>
                            <a:srgbClr val="000000"/>
                          </a:solidFill>
                          <a:latin typeface="Montserrat"/>
                        </a:defRPr>
                      </a:pPr>
                      <a:r>
                        <a:t>163,000</a:t>
                      </a:r>
                    </a:p>
                  </a:txBody>
                  <a:tcPr marL="0" marR="0" marT="0" marB="0">
                    <a:solidFill>
                      <a:srgbClr val="ECD3D9"/>
                    </a:solidFill>
                  </a:tcPr>
                </a:tc>
                <a:tc>
                  <a:txBody>
                    <a:bodyPr/>
                    <a:lstStyle/>
                    <a:p>
                      <a:pPr algn="ctr">
                        <a:defRPr sz="1000">
                          <a:solidFill>
                            <a:srgbClr val="000000"/>
                          </a:solidFill>
                          <a:latin typeface="Montserrat"/>
                        </a:defRPr>
                      </a:pPr>
                      <a:r>
                        <a:t>33.6%</a:t>
                      </a:r>
                    </a:p>
                  </a:txBody>
                  <a:tcPr marL="0" marR="0" marT="0" marB="0">
                    <a:solidFill>
                      <a:srgbClr val="ECD3D9"/>
                    </a:solidFill>
                  </a:tcPr>
                </a:tc>
              </a:tr>
              <a:tr h="151200">
                <a:tc>
                  <a:txBody>
                    <a:bodyPr/>
                    <a:lstStyle/>
                    <a:p>
                      <a:pPr algn="l">
                        <a:defRPr sz="1000">
                          <a:solidFill>
                            <a:srgbClr val="000000"/>
                          </a:solidFill>
                          <a:latin typeface="Montserrat"/>
                        </a:defRPr>
                      </a:pPr>
                      <a:r>
                        <a:t>UMF 17 Corregidora</a:t>
                      </a:r>
                    </a:p>
                  </a:txBody>
                  <a:tcPr marL="0" marR="0" marT="0" marB="0">
                    <a:solidFill>
                      <a:srgbClr val="EFEFEF"/>
                    </a:solidFill>
                  </a:tcPr>
                </a:tc>
                <a:tc>
                  <a:txBody>
                    <a:bodyPr/>
                    <a:lstStyle/>
                    <a:p>
                      <a:pPr algn="ctr">
                        <a:defRPr sz="1000">
                          <a:solidFill>
                            <a:srgbClr val="000000"/>
                          </a:solidFill>
                          <a:latin typeface="Montserrat"/>
                        </a:defRPr>
                      </a:pPr>
                      <a:r>
                        <a:t>95,003</a:t>
                      </a:r>
                    </a:p>
                  </a:txBody>
                  <a:tcPr marL="0" marR="0" marT="0" marB="0">
                    <a:solidFill>
                      <a:srgbClr val="EFEFEF"/>
                    </a:solidFill>
                  </a:tcPr>
                </a:tc>
                <a:tc>
                  <a:txBody>
                    <a:bodyPr/>
                    <a:lstStyle/>
                    <a:p>
                      <a:pPr algn="ctr">
                        <a:defRPr sz="1000">
                          <a:solidFill>
                            <a:srgbClr val="000000"/>
                          </a:solidFill>
                          <a:latin typeface="Montserrat"/>
                        </a:defRPr>
                      </a:pPr>
                      <a:r>
                        <a:t>7,991</a:t>
                      </a:r>
                    </a:p>
                  </a:txBody>
                  <a:tcPr marL="0" marR="0" marT="0" marB="0">
                    <a:solidFill>
                      <a:srgbClr val="EFEFEF"/>
                    </a:solidFill>
                  </a:tcPr>
                </a:tc>
                <a:tc>
                  <a:txBody>
                    <a:bodyPr/>
                    <a:lstStyle/>
                    <a:p>
                      <a:pPr algn="ctr">
                        <a:defRPr sz="1000">
                          <a:solidFill>
                            <a:srgbClr val="000000"/>
                          </a:solidFill>
                          <a:latin typeface="Montserrat"/>
                        </a:defRPr>
                      </a:pPr>
                      <a:r>
                        <a:t>32,487</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34.9%</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2,063,971</a:t>
                      </a:r>
                    </a:p>
                  </a:txBody>
                  <a:tcPr marL="0" marR="0" marT="0" marB="0">
                    <a:solidFill>
                      <a:srgbClr val="D3E9E7"/>
                    </a:solidFill>
                  </a:tcPr>
                </a:tc>
                <a:tc>
                  <a:txBody>
                    <a:bodyPr/>
                    <a:lstStyle/>
                    <a:p>
                      <a:pPr algn="ctr">
                        <a:defRPr sz="1000" b="1">
                          <a:solidFill>
                            <a:srgbClr val="006556"/>
                          </a:solidFill>
                          <a:latin typeface="Montserrat"/>
                        </a:defRPr>
                      </a:pPr>
                      <a:r>
                        <a:t>251,673</a:t>
                      </a:r>
                    </a:p>
                  </a:txBody>
                  <a:tcPr marL="0" marR="0" marT="0" marB="0">
                    <a:solidFill>
                      <a:srgbClr val="D3E9E7"/>
                    </a:solidFill>
                  </a:tcPr>
                </a:tc>
                <a:tc>
                  <a:txBody>
                    <a:bodyPr/>
                    <a:lstStyle/>
                    <a:p>
                      <a:pPr algn="ctr">
                        <a:defRPr sz="1000" b="1">
                          <a:solidFill>
                            <a:srgbClr val="FFFFFF"/>
                          </a:solidFill>
                          <a:latin typeface="Montserrat"/>
                        </a:defRPr>
                      </a:pPr>
                      <a:r>
                        <a:t>693,468</a:t>
                      </a:r>
                    </a:p>
                  </a:txBody>
                  <a:tcPr marL="0" marR="0" marT="0" marB="0">
                    <a:solidFill>
                      <a:srgbClr val="9F2241"/>
                    </a:solidFill>
                  </a:tcPr>
                </a:tc>
                <a:tc>
                  <a:txBody>
                    <a:bodyPr/>
                    <a:lstStyle/>
                    <a:p>
                      <a:pPr algn="ctr">
                        <a:defRPr sz="1000" b="1">
                          <a:solidFill>
                            <a:srgbClr val="FFFFFF"/>
                          </a:solidFill>
                          <a:latin typeface="Montserrat"/>
                        </a:defRPr>
                      </a:pPr>
                      <a:r>
                        <a:t>2,034,608</a:t>
                      </a:r>
                    </a:p>
                  </a:txBody>
                  <a:tcPr marL="0" marR="0" marT="0" marB="0">
                    <a:solidFill>
                      <a:srgbClr val="9F2241"/>
                    </a:solidFill>
                  </a:tcPr>
                </a:tc>
                <a:tc>
                  <a:txBody>
                    <a:bodyPr/>
                    <a:lstStyle/>
                    <a:p>
                      <a:pPr algn="ctr">
                        <a:defRPr sz="1000" b="1">
                          <a:solidFill>
                            <a:srgbClr val="FFFFFF"/>
                          </a:solidFill>
                          <a:latin typeface="Montserrat"/>
                        </a:defRPr>
                      </a:pPr>
                      <a:r>
                        <a:t>34.1%</a:t>
                      </a:r>
                    </a:p>
                  </a:txBody>
                  <a:tcPr marL="0" marR="0" marT="0" marB="0">
                    <a:solidFill>
                      <a:srgbClr val="9F2241"/>
                    </a:solidFill>
                  </a:tcPr>
                </a:tc>
              </a:tr>
            </a:tbl>
          </a:graphicData>
        </a:graphic>
      </p:graphicFrame>
      <p:graphicFrame>
        <p:nvGraphicFramePr>
          <p:cNvPr id="271" name="Chart 270"/>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72" name="TextBox 271"/>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42642270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220,066</a:t>
                      </a:r>
                    </a:p>
                  </a:txBody>
                  <a:tcPr>
                    <a:solidFill>
                      <a:srgbClr val="FFFFFF"/>
                    </a:solidFill>
                  </a:tcPr>
                </a:tc>
                <a:tc>
                  <a:txBody>
                    <a:bodyPr/>
                    <a:lstStyle/>
                    <a:p>
                      <a:pPr algn="ctr">
                        <a:defRPr sz="1000">
                          <a:latin typeface="Montserrat"/>
                        </a:defRPr>
                      </a:pPr>
                      <a:r>
                        <a:t>10,051</a:t>
                      </a:r>
                    </a:p>
                  </a:txBody>
                  <a:tcPr>
                    <a:solidFill>
                      <a:srgbClr val="FFFFFF"/>
                    </a:solidFill>
                  </a:tcPr>
                </a:tc>
                <a:tc>
                  <a:txBody>
                    <a:bodyPr/>
                    <a:lstStyle/>
                    <a:p>
                      <a:pPr algn="ctr">
                        <a:defRPr sz="1000">
                          <a:latin typeface="Montserrat"/>
                        </a:defRPr>
                      </a:pPr>
                      <a:r>
                        <a:t>84,648</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37.9%</a:t>
                      </a:r>
                    </a:p>
                  </a:txBody>
                  <a:tcPr>
                    <a:solidFill>
                      <a:srgbClr val="ECD3D9"/>
                    </a:solidFill>
                  </a:tcPr>
                </a:tc>
              </a:tr>
              <a:tr h="284400">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28,130</a:t>
                      </a:r>
                    </a:p>
                  </a:txBody>
                  <a:tcPr>
                    <a:solidFill>
                      <a:srgbClr val="EFEFEF"/>
                    </a:solidFill>
                  </a:tcPr>
                </a:tc>
                <a:tc>
                  <a:txBody>
                    <a:bodyPr/>
                    <a:lstStyle/>
                    <a:p>
                      <a:pPr algn="ctr">
                        <a:defRPr sz="1000">
                          <a:latin typeface="Montserrat"/>
                        </a:defRPr>
                      </a:pPr>
                      <a:r>
                        <a:t>10,409</a:t>
                      </a:r>
                    </a:p>
                  </a:txBody>
                  <a:tcPr>
                    <a:solidFill>
                      <a:srgbClr val="EFEFEF"/>
                    </a:solidFill>
                  </a:tcPr>
                </a:tc>
                <a:tc>
                  <a:txBody>
                    <a:bodyPr/>
                    <a:lstStyle/>
                    <a:p>
                      <a:pPr algn="ctr">
                        <a:defRPr sz="1000">
                          <a:latin typeface="Montserrat"/>
                        </a:defRPr>
                      </a:pPr>
                      <a:r>
                        <a:t>12,293</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35.1%</a:t>
                      </a:r>
                    </a:p>
                  </a:txBody>
                  <a:tcPr>
                    <a:solidFill>
                      <a:srgbClr val="ECD3D9"/>
                    </a:solidFill>
                  </a:tcPr>
                </a:tc>
              </a:tr>
              <a:tr h="284400">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93,762</a:t>
                      </a:r>
                    </a:p>
                  </a:txBody>
                  <a:tcPr>
                    <a:solidFill>
                      <a:srgbClr val="FFFFFF"/>
                    </a:solidFill>
                  </a:tcPr>
                </a:tc>
                <a:tc>
                  <a:txBody>
                    <a:bodyPr/>
                    <a:lstStyle/>
                    <a:p>
                      <a:pPr algn="ctr">
                        <a:defRPr sz="1000">
                          <a:latin typeface="Montserrat"/>
                        </a:defRPr>
                      </a:pPr>
                      <a:r>
                        <a:t>21,175</a:t>
                      </a:r>
                    </a:p>
                  </a:txBody>
                  <a:tcPr>
                    <a:solidFill>
                      <a:srgbClr val="FFFFFF"/>
                    </a:solidFill>
                  </a:tcPr>
                </a:tc>
                <a:tc>
                  <a:txBody>
                    <a:bodyPr/>
                    <a:lstStyle/>
                    <a:p>
                      <a:pPr algn="ctr">
                        <a:defRPr sz="1000">
                          <a:latin typeface="Montserrat"/>
                        </a:defRPr>
                      </a:pPr>
                      <a:r>
                        <a:t>34,058</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34.6%</a:t>
                      </a:r>
                    </a:p>
                  </a:txBody>
                  <a:tcPr>
                    <a:solidFill>
                      <a:srgbClr val="ECD3D9"/>
                    </a:solidFill>
                  </a:tcPr>
                </a:tc>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278,570</a:t>
                      </a:r>
                    </a:p>
                  </a:txBody>
                  <a:tcPr>
                    <a:solidFill>
                      <a:srgbClr val="EFEFEF"/>
                    </a:solidFill>
                  </a:tcPr>
                </a:tc>
                <a:tc>
                  <a:txBody>
                    <a:bodyPr/>
                    <a:lstStyle/>
                    <a:p>
                      <a:pPr algn="ctr">
                        <a:defRPr sz="1000">
                          <a:latin typeface="Montserrat"/>
                        </a:defRPr>
                      </a:pPr>
                      <a:r>
                        <a:t>82,912</a:t>
                      </a:r>
                    </a:p>
                  </a:txBody>
                  <a:tcPr>
                    <a:solidFill>
                      <a:srgbClr val="EFEFEF"/>
                    </a:solidFill>
                  </a:tcPr>
                </a:tc>
                <a:tc>
                  <a:txBody>
                    <a:bodyPr/>
                    <a:lstStyle/>
                    <a:p>
                      <a:pPr algn="ctr">
                        <a:defRPr sz="1000">
                          <a:latin typeface="Montserrat"/>
                        </a:defRPr>
                      </a:pPr>
                      <a:r>
                        <a:t>94,131</a:t>
                      </a:r>
                    </a:p>
                  </a:txBody>
                  <a:tcPr>
                    <a:solidFill>
                      <a:srgbClr val="ECD3D9"/>
                    </a:solidFill>
                  </a:tcPr>
                </a:tc>
                <a:tc>
                  <a:txBody>
                    <a:bodyPr/>
                    <a:lstStyle/>
                    <a:p>
                      <a:pPr algn="ctr">
                        <a:defRPr sz="1000">
                          <a:latin typeface="Montserrat"/>
                        </a:defRPr>
                      </a:pPr>
                      <a:r>
                        <a:t>275,940</a:t>
                      </a:r>
                    </a:p>
                  </a:txBody>
                  <a:tcPr>
                    <a:solidFill>
                      <a:srgbClr val="ECD3D9"/>
                    </a:solidFill>
                  </a:tcPr>
                </a:tc>
                <a:tc>
                  <a:txBody>
                    <a:bodyPr/>
                    <a:lstStyle/>
                    <a:p>
                      <a:pPr algn="ctr">
                        <a:defRPr sz="1000">
                          <a:latin typeface="Montserrat"/>
                        </a:defRPr>
                      </a:pPr>
                      <a:r>
                        <a:t>34.1%</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620,528</a:t>
                      </a:r>
                    </a:p>
                  </a:txBody>
                  <a:tcPr>
                    <a:solidFill>
                      <a:srgbClr val="D3E9E7"/>
                    </a:solidFill>
                  </a:tcPr>
                </a:tc>
                <a:tc>
                  <a:txBody>
                    <a:bodyPr/>
                    <a:lstStyle/>
                    <a:p>
                      <a:pPr algn="ctr">
                        <a:defRPr sz="1000" b="1">
                          <a:solidFill>
                            <a:srgbClr val="006556"/>
                          </a:solidFill>
                          <a:latin typeface="Montserrat"/>
                        </a:defRPr>
                      </a:pPr>
                      <a:r>
                        <a:t>124,547</a:t>
                      </a:r>
                    </a:p>
                  </a:txBody>
                  <a:tcPr>
                    <a:solidFill>
                      <a:srgbClr val="D3E9E7"/>
                    </a:solidFill>
                  </a:tcPr>
                </a:tc>
                <a:tc>
                  <a:txBody>
                    <a:bodyPr/>
                    <a:lstStyle/>
                    <a:p>
                      <a:pPr algn="ctr">
                        <a:defRPr sz="1000" b="1">
                          <a:solidFill>
                            <a:srgbClr val="FFFFFF"/>
                          </a:solidFill>
                          <a:latin typeface="Montserrat"/>
                        </a:defRPr>
                      </a:pPr>
                      <a:r>
                        <a:t>225,130</a:t>
                      </a:r>
                    </a:p>
                  </a:txBody>
                  <a:tcPr>
                    <a:solidFill>
                      <a:srgbClr val="9F2241"/>
                    </a:solidFill>
                  </a:tcPr>
                </a:tc>
                <a:tc>
                  <a:txBody>
                    <a:bodyPr/>
                    <a:lstStyle/>
                    <a:p>
                      <a:pPr algn="ctr">
                        <a:defRPr sz="1000" b="1">
                          <a:solidFill>
                            <a:srgbClr val="FFFFFF"/>
                          </a:solidFill>
                          <a:latin typeface="Montserrat"/>
                        </a:defRPr>
                      </a:pPr>
                      <a:r>
                        <a:t>632,910</a:t>
                      </a:r>
                    </a:p>
                  </a:txBody>
                  <a:tcPr>
                    <a:solidFill>
                      <a:srgbClr val="9F2241"/>
                    </a:solidFill>
                  </a:tcPr>
                </a:tc>
                <a:tc>
                  <a:txBody>
                    <a:bodyPr/>
                    <a:lstStyle/>
                    <a:p>
                      <a:pPr algn="ctr">
                        <a:defRPr sz="1000" b="1">
                          <a:solidFill>
                            <a:srgbClr val="FFFFFF"/>
                          </a:solidFill>
                          <a:latin typeface="Montserrat"/>
                        </a:defRPr>
                      </a:pPr>
                      <a:r>
                        <a:t>35.6%</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942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662000"/>
            <a:ext cx="1800000" cy="360000"/>
          </a:xfrm>
          <a:prstGeom prst="rect">
            <a:avLst/>
          </a:prstGeom>
          <a:noFill/>
        </p:spPr>
        <p:txBody>
          <a:bodyPr wrap="none">
            <a:spAutoFit/>
          </a:bodyPr>
          <a:lstStyle/>
          <a:p>
            <a:pPr algn="ctr"/>
            <a:r>
              <a:rPr sz="2400" b="1">
                <a:solidFill>
                  <a:srgbClr val="9F2241"/>
                </a:solidFill>
                <a:latin typeface="Montserrat"/>
              </a:rPr>
              <a:t>35.6%</a:t>
            </a:r>
          </a:p>
        </p:txBody>
      </p:sp>
      <p:sp>
        <p:nvSpPr>
          <p:cNvPr id="239" name="TextBox 238"/>
          <p:cNvSpPr txBox="1"/>
          <p:nvPr/>
        </p:nvSpPr>
        <p:spPr>
          <a:xfrm>
            <a:off x="4780800" y="556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942000"/>
            <a:ext cx="2854800" cy="1198800"/>
          </a:xfrm>
          <a:prstGeom prst="rect">
            <a:avLst/>
          </a:prstGeom>
          <a:noFill/>
        </p:spPr>
        <p:txBody>
          <a:bodyPr wrap="square">
            <a:spAutoFit/>
          </a:bodyPr>
          <a:lstStyle/>
          <a:p>
            <a:pPr algn="ctr">
              <a:defRPr sz="3600" b="1">
                <a:solidFill>
                  <a:srgbClr val="9F2241"/>
                </a:solidFill>
                <a:latin typeface="Montserrat"/>
              </a:defRPr>
            </a:pPr>
            <a:r>
              <a:t>632,910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8211014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12,160</a:t>
                      </a:r>
                    </a:p>
                  </a:txBody>
                  <a:tcPr>
                    <a:solidFill>
                      <a:srgbClr val="FFFFFF"/>
                    </a:solidFill>
                  </a:tcPr>
                </a:tc>
                <a:tc>
                  <a:txBody>
                    <a:bodyPr/>
                    <a:lstStyle/>
                    <a:p>
                      <a:pPr algn="ctr">
                        <a:defRPr sz="1000">
                          <a:latin typeface="Montserrat"/>
                        </a:defRPr>
                      </a:pPr>
                      <a:r>
                        <a:t>224</a:t>
                      </a:r>
                    </a:p>
                  </a:txBody>
                  <a:tcPr>
                    <a:solidFill>
                      <a:srgbClr val="FFFFFF"/>
                    </a:solidFill>
                  </a:tcPr>
                </a:tc>
                <a:tc>
                  <a:txBody>
                    <a:bodyPr/>
                    <a:lstStyle/>
                    <a:p>
                      <a:pPr algn="ctr">
                        <a:defRPr sz="1000">
                          <a:latin typeface="Montserrat"/>
                        </a:defRPr>
                      </a:pPr>
                      <a:r>
                        <a:t>4,428</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36.7%</a:t>
                      </a:r>
                    </a:p>
                  </a:txBody>
                  <a:tcPr>
                    <a:solidFill>
                      <a:srgbClr val="ECD3D9"/>
                    </a:solidFill>
                  </a:tcPr>
                </a:tc>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14,025</a:t>
                      </a:r>
                    </a:p>
                  </a:txBody>
                  <a:tcPr>
                    <a:solidFill>
                      <a:srgbClr val="EFEFEF"/>
                    </a:solidFill>
                  </a:tcPr>
                </a:tc>
                <a:tc>
                  <a:txBody>
                    <a:bodyPr/>
                    <a:lstStyle/>
                    <a:p>
                      <a:pPr algn="ctr">
                        <a:defRPr sz="1000">
                          <a:latin typeface="Montserrat"/>
                        </a:defRPr>
                      </a:pPr>
                      <a:r>
                        <a:t>2,268</a:t>
                      </a:r>
                    </a:p>
                  </a:txBody>
                  <a:tcPr>
                    <a:solidFill>
                      <a:srgbClr val="EFEFEF"/>
                    </a:solidFill>
                  </a:tcPr>
                </a:tc>
                <a:tc>
                  <a:txBody>
                    <a:bodyPr/>
                    <a:lstStyle/>
                    <a:p>
                      <a:pPr algn="ctr">
                        <a:defRPr sz="1000">
                          <a:latin typeface="Montserrat"/>
                        </a:defRPr>
                      </a:pPr>
                      <a:r>
                        <a:t>5,509</a:t>
                      </a:r>
                    </a:p>
                  </a:txBody>
                  <a:tcPr>
                    <a:solidFill>
                      <a:srgbClr val="ECD3D9"/>
                    </a:solidFill>
                  </a:tcPr>
                </a:tc>
                <a:tc>
                  <a:txBody>
                    <a:bodyPr/>
                    <a:lstStyle/>
                    <a:p>
                      <a:pPr algn="ctr">
                        <a:defRPr sz="1000">
                          <a:latin typeface="Montserrat"/>
                        </a:defRPr>
                      </a:pPr>
                      <a:r>
                        <a:t>15,890</a:t>
                      </a:r>
                    </a:p>
                  </a:txBody>
                  <a:tcPr>
                    <a:solidFill>
                      <a:srgbClr val="ECD3D9"/>
                    </a:solidFill>
                  </a:tcPr>
                </a:tc>
                <a:tc>
                  <a:txBody>
                    <a:bodyPr/>
                    <a:lstStyle/>
                    <a:p>
                      <a:pPr algn="ctr">
                        <a:defRPr sz="1000">
                          <a:latin typeface="Montserrat"/>
                        </a:defRPr>
                      </a:pPr>
                      <a:r>
                        <a:t>34.7%</a:t>
                      </a:r>
                    </a:p>
                  </a:txBody>
                  <a:tcPr>
                    <a:solidFill>
                      <a:srgbClr val="ECD3D9"/>
                    </a:solidFill>
                  </a:tcPr>
                </a:tc>
              </a:tr>
              <a:tr h="284400">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5,531</a:t>
                      </a:r>
                    </a:p>
                  </a:txBody>
                  <a:tcPr>
                    <a:solidFill>
                      <a:srgbClr val="FFFFFF"/>
                    </a:solidFill>
                  </a:tcPr>
                </a:tc>
                <a:tc>
                  <a:txBody>
                    <a:bodyPr/>
                    <a:lstStyle/>
                    <a:p>
                      <a:pPr algn="ctr">
                        <a:defRPr sz="1000">
                          <a:latin typeface="Montserrat"/>
                        </a:defRPr>
                      </a:pPr>
                      <a:r>
                        <a:t>788</a:t>
                      </a:r>
                    </a:p>
                  </a:txBody>
                  <a:tcPr>
                    <a:solidFill>
                      <a:srgbClr val="FFFFFF"/>
                    </a:solidFill>
                  </a:tcPr>
                </a:tc>
                <a:tc>
                  <a:txBody>
                    <a:bodyPr/>
                    <a:lstStyle/>
                    <a:p>
                      <a:pPr algn="ctr">
                        <a:defRPr sz="1000">
                          <a:latin typeface="Montserrat"/>
                        </a:defRPr>
                      </a:pPr>
                      <a:r>
                        <a:t>2,080</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30.6%</a:t>
                      </a:r>
                    </a:p>
                  </a:txBody>
                  <a:tcPr>
                    <a:solidFill>
                      <a:srgbClr val="ECD3D9"/>
                    </a:solidFill>
                  </a:tcPr>
                </a:tc>
              </a:tr>
              <a:tr h="284400">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3,703</a:t>
                      </a:r>
                    </a:p>
                  </a:txBody>
                  <a:tcPr>
                    <a:solidFill>
                      <a:srgbClr val="EFEFEF"/>
                    </a:solidFill>
                  </a:tcPr>
                </a:tc>
                <a:tc>
                  <a:txBody>
                    <a:bodyPr/>
                    <a:lstStyle/>
                    <a:p>
                      <a:pPr algn="ctr">
                        <a:defRPr sz="1000">
                          <a:latin typeface="Montserrat"/>
                        </a:defRPr>
                      </a:pPr>
                      <a:r>
                        <a:t>755</a:t>
                      </a:r>
                    </a:p>
                  </a:txBody>
                  <a:tcPr>
                    <a:solidFill>
                      <a:srgbClr val="EFEFEF"/>
                    </a:solidFill>
                  </a:tcPr>
                </a:tc>
                <a:tc>
                  <a:txBody>
                    <a:bodyPr/>
                    <a:lstStyle/>
                    <a:p>
                      <a:pPr algn="ctr">
                        <a:defRPr sz="1000">
                          <a:latin typeface="Montserrat"/>
                        </a:defRPr>
                      </a:pPr>
                      <a:r>
                        <a:t>1,125</a:t>
                      </a:r>
                    </a:p>
                  </a:txBody>
                  <a:tcPr>
                    <a:solidFill>
                      <a:srgbClr val="ECD3D9"/>
                    </a:solidFill>
                  </a:tcPr>
                </a:tc>
                <a:tc>
                  <a:txBody>
                    <a:bodyPr/>
                    <a:lstStyle/>
                    <a:p>
                      <a:pPr algn="ctr">
                        <a:defRPr sz="1000">
                          <a:latin typeface="Montserrat"/>
                        </a:defRPr>
                      </a:pPr>
                      <a:r>
                        <a:t>4,698</a:t>
                      </a:r>
                    </a:p>
                  </a:txBody>
                  <a:tcPr>
                    <a:solidFill>
                      <a:srgbClr val="ECD3D9"/>
                    </a:solidFill>
                  </a:tcPr>
                </a:tc>
                <a:tc>
                  <a:txBody>
                    <a:bodyPr/>
                    <a:lstStyle/>
                    <a:p>
                      <a:pPr algn="ctr">
                        <a:defRPr sz="1000">
                          <a:latin typeface="Montserrat"/>
                        </a:defRPr>
                      </a:pPr>
                      <a:r>
                        <a:t>23.9%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35,419</a:t>
                      </a:r>
                    </a:p>
                  </a:txBody>
                  <a:tcPr>
                    <a:solidFill>
                      <a:srgbClr val="D3E9E7"/>
                    </a:solidFill>
                  </a:tcPr>
                </a:tc>
                <a:tc>
                  <a:txBody>
                    <a:bodyPr/>
                    <a:lstStyle/>
                    <a:p>
                      <a:pPr algn="ctr">
                        <a:defRPr sz="1000" b="1">
                          <a:solidFill>
                            <a:srgbClr val="006556"/>
                          </a:solidFill>
                          <a:latin typeface="Montserrat"/>
                        </a:defRPr>
                      </a:pPr>
                      <a:r>
                        <a:t>4,035</a:t>
                      </a:r>
                    </a:p>
                  </a:txBody>
                  <a:tcPr>
                    <a:solidFill>
                      <a:srgbClr val="D3E9E7"/>
                    </a:solidFill>
                  </a:tcPr>
                </a:tc>
                <a:tc>
                  <a:txBody>
                    <a:bodyPr/>
                    <a:lstStyle/>
                    <a:p>
                      <a:pPr algn="ctr">
                        <a:defRPr sz="1000" b="1">
                          <a:solidFill>
                            <a:srgbClr val="FFFFFF"/>
                          </a:solidFill>
                          <a:latin typeface="Montserrat"/>
                        </a:defRPr>
                      </a:pPr>
                      <a:r>
                        <a:t>13,142</a:t>
                      </a:r>
                    </a:p>
                  </a:txBody>
                  <a:tcPr>
                    <a:solidFill>
                      <a:srgbClr val="9F2241"/>
                    </a:solidFill>
                  </a:tcPr>
                </a:tc>
                <a:tc>
                  <a:txBody>
                    <a:bodyPr/>
                    <a:lstStyle/>
                    <a:p>
                      <a:pPr algn="ctr">
                        <a:defRPr sz="1000" b="1">
                          <a:solidFill>
                            <a:srgbClr val="FFFFFF"/>
                          </a:solidFill>
                          <a:latin typeface="Montserrat"/>
                        </a:defRPr>
                      </a:pPr>
                      <a:r>
                        <a:t>39,458</a:t>
                      </a:r>
                    </a:p>
                  </a:txBody>
                  <a:tcPr>
                    <a:solidFill>
                      <a:srgbClr val="9F2241"/>
                    </a:solidFill>
                  </a:tcPr>
                </a:tc>
                <a:tc>
                  <a:txBody>
                    <a:bodyPr/>
                    <a:lstStyle/>
                    <a:p>
                      <a:pPr algn="ctr">
                        <a:defRPr sz="1000" b="1">
                          <a:solidFill>
                            <a:srgbClr val="FFFFFF"/>
                          </a:solidFill>
                          <a:latin typeface="Montserrat"/>
                        </a:defRPr>
                      </a:pPr>
                      <a:r>
                        <a:t>33.3%</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585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305600"/>
            <a:ext cx="1800000" cy="360000"/>
          </a:xfrm>
          <a:prstGeom prst="rect">
            <a:avLst/>
          </a:prstGeom>
          <a:noFill/>
        </p:spPr>
        <p:txBody>
          <a:bodyPr wrap="none">
            <a:spAutoFit/>
          </a:bodyPr>
          <a:lstStyle/>
          <a:p>
            <a:pPr algn="ctr"/>
            <a:r>
              <a:rPr sz="2400" b="1">
                <a:solidFill>
                  <a:srgbClr val="9F2241"/>
                </a:solidFill>
                <a:latin typeface="Montserrat"/>
              </a:rPr>
              <a:t>33.3%</a:t>
            </a:r>
          </a:p>
        </p:txBody>
      </p:sp>
      <p:sp>
        <p:nvSpPr>
          <p:cNvPr id="236" name="TextBox 235"/>
          <p:cNvSpPr txBox="1"/>
          <p:nvPr/>
        </p:nvSpPr>
        <p:spPr>
          <a:xfrm>
            <a:off x="4780800" y="520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585600"/>
            <a:ext cx="2854800" cy="1198800"/>
          </a:xfrm>
          <a:prstGeom prst="rect">
            <a:avLst/>
          </a:prstGeom>
          <a:noFill/>
        </p:spPr>
        <p:txBody>
          <a:bodyPr wrap="square">
            <a:spAutoFit/>
          </a:bodyPr>
          <a:lstStyle/>
          <a:p>
            <a:pPr algn="ctr">
              <a:defRPr sz="3600" b="1">
                <a:solidFill>
                  <a:srgbClr val="9F2241"/>
                </a:solidFill>
                <a:latin typeface="Montserrat"/>
              </a:defRPr>
            </a:pPr>
            <a:r>
              <a:t>39,458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 en Hospitales, 0 en sede, 11 en UMF y 168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26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Regional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075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No. 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07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2279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UMAA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extLst>
      <p:ext uri="{BB962C8B-B14F-4D97-AF65-F5344CB8AC3E}">
        <p14:creationId xmlns:p14="http://schemas.microsoft.com/office/powerpoint/2010/main" val="1524095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8008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80080">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168</a:t>
                      </a:r>
                    </a:p>
                  </a:txBody>
                  <a:tcPr anchor="ctr" marL="45720" marR="45720" marT="45720" marB="45720">
                    <a:solidFill>
                      <a:srgbClr val="FFFFFF"/>
                    </a:solidFill>
                  </a:tcPr>
                </a:tc>
                <a:tc>
                  <a:txBody>
                    <a:bodyPr/>
                    <a:lstStyle/>
                    <a:p>
                      <a:pPr algn="ctr">
                        <a:defRPr sz="1100" b="1">
                          <a:solidFill>
                            <a:srgbClr val="000000"/>
                          </a:solidFill>
                          <a:latin typeface="Montserrat"/>
                        </a:defRPr>
                      </a:pPr>
                      <a:r>
                        <a:t>81.9%</a:t>
                      </a:r>
                    </a:p>
                  </a:txBody>
                  <a:tcPr anchor="ctr" marL="45720" marR="45720" marT="45720" marB="45720">
                    <a:solidFill>
                      <a:srgbClr val="FFFFFF"/>
                    </a:solidFill>
                  </a:tcPr>
                </a:tc>
              </a:tr>
              <a:tr h="280080">
                <a:tc>
                  <a:txBody>
                    <a:bodyPr/>
                    <a:lstStyle/>
                    <a:p>
                      <a:pPr algn="l">
                        <a:defRPr sz="1100" b="0">
                          <a:solidFill>
                            <a:srgbClr val="000000"/>
                          </a:solidFill>
                          <a:latin typeface="Montserrat"/>
                        </a:defRPr>
                      </a:pPr>
                      <a:r>
                        <a:t>Hospital General Regional 2</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87.3%</a:t>
                      </a:r>
                    </a:p>
                  </a:txBody>
                  <a:tcPr anchor="ctr" marL="45720" marR="45720" marT="45720" marB="45720">
                    <a:solidFill>
                      <a:srgbClr val="D9D9D9"/>
                    </a:solidFill>
                  </a:tcPr>
                </a:tc>
              </a:tr>
              <a:tr h="280080">
                <a:tc>
                  <a:txBody>
                    <a:bodyPr/>
                    <a:lstStyle/>
                    <a:p>
                      <a:pPr algn="l">
                        <a:defRPr sz="1100" b="0">
                          <a:solidFill>
                            <a:srgbClr val="000000"/>
                          </a:solidFill>
                          <a:latin typeface="Montserrat"/>
                        </a:defRPr>
                      </a:pPr>
                      <a:r>
                        <a:t>Hospital General Regional 1</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91.7%</a:t>
                      </a:r>
                    </a:p>
                  </a:txBody>
                  <a:tcPr anchor="ctr" marL="45720" marR="45720" marT="45720" marB="45720">
                    <a:solidFill>
                      <a:srgbClr val="FFFFFF"/>
                    </a:solidFill>
                  </a:tcPr>
                </a:tc>
              </a:tr>
              <a:tr h="280080">
                <a:tc>
                  <a:txBody>
                    <a:bodyPr/>
                    <a:lstStyle/>
                    <a:p>
                      <a:pPr algn="l">
                        <a:defRPr sz="1100" b="0">
                          <a:solidFill>
                            <a:srgbClr val="000000"/>
                          </a:solidFill>
                          <a:latin typeface="Montserrat"/>
                        </a:defRPr>
                      </a:pPr>
                      <a:r>
                        <a:t>Hospital General de Zona 3</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93.1%</a:t>
                      </a:r>
                    </a:p>
                  </a:txBody>
                  <a:tcPr anchor="ctr" marL="45720" marR="45720" marT="45720" marB="45720">
                    <a:solidFill>
                      <a:srgbClr val="D9D9D9"/>
                    </a:solidFill>
                  </a:tcPr>
                </a:tc>
              </a:tr>
              <a:tr h="280080">
                <a:tc>
                  <a:txBody>
                    <a:bodyPr/>
                    <a:lstStyle/>
                    <a:p>
                      <a:pPr algn="l">
                        <a:defRPr sz="1100" b="0">
                          <a:solidFill>
                            <a:srgbClr val="000000"/>
                          </a:solidFill>
                          <a:latin typeface="Montserrat"/>
                        </a:defRPr>
                      </a:pPr>
                      <a:r>
                        <a:t>UMAA 1</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94.1%</a:t>
                      </a:r>
                    </a:p>
                  </a:txBody>
                  <a:tcPr anchor="ctr" marL="45720" marR="45720" marT="45720" marB="45720">
                    <a:solidFill>
                      <a:srgbClr val="FFFFFF"/>
                    </a:solidFill>
                  </a:tcPr>
                </a:tc>
              </a:tr>
              <a:tr h="280080">
                <a:tc>
                  <a:txBody>
                    <a:bodyPr/>
                    <a:lstStyle/>
                    <a:p>
                      <a:pPr algn="l">
                        <a:defRPr sz="1100" b="0">
                          <a:solidFill>
                            <a:srgbClr val="000000"/>
                          </a:solidFill>
                          <a:latin typeface="Montserrat"/>
                        </a:defRPr>
                      </a:pPr>
                      <a:r>
                        <a:t>Unidad de Medicina Familiar 9</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95.1%</a:t>
                      </a:r>
                    </a:p>
                  </a:txBody>
                  <a:tcPr anchor="ctr" marL="45720" marR="45720" marT="45720" marB="45720">
                    <a:solidFill>
                      <a:srgbClr val="D9D9D9"/>
                    </a:solidFill>
                  </a:tcPr>
                </a:tc>
              </a:tr>
              <a:tr h="280080">
                <a:tc>
                  <a:txBody>
                    <a:bodyPr/>
                    <a:lstStyle/>
                    <a:p>
                      <a:pPr algn="l">
                        <a:defRPr sz="1100" b="0">
                          <a:solidFill>
                            <a:srgbClr val="000000"/>
                          </a:solidFill>
                          <a:latin typeface="Montserrat"/>
                        </a:defRPr>
                      </a:pPr>
                      <a:r>
                        <a:t>Unidad de Medicina Familiar 13</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96.0%</a:t>
                      </a:r>
                    </a:p>
                  </a:txBody>
                  <a:tcPr anchor="ctr" marL="45720" marR="45720" marT="45720" marB="45720">
                    <a:solidFill>
                      <a:srgbClr val="FFFFFF"/>
                    </a:solidFill>
                  </a:tcPr>
                </a:tc>
              </a:tr>
              <a:tr h="280080">
                <a:tc>
                  <a:txBody>
                    <a:bodyPr/>
                    <a:lstStyle/>
                    <a:p>
                      <a:pPr algn="l">
                        <a:defRPr sz="1100" b="0">
                          <a:solidFill>
                            <a:srgbClr val="000000"/>
                          </a:solidFill>
                          <a:latin typeface="Montserrat"/>
                        </a:defRPr>
                      </a:pPr>
                      <a:r>
                        <a:t>Unidad de Medicina Familiar 7</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97.0%</a:t>
                      </a:r>
                    </a:p>
                  </a:txBody>
                  <a:tcPr anchor="ctr" marL="45720" marR="45720" marT="45720" marB="45720">
                    <a:solidFill>
                      <a:srgbClr val="D9D9D9"/>
                    </a:solidFill>
                  </a:tcPr>
                </a:tc>
              </a:tr>
              <a:tr h="280080">
                <a:tc>
                  <a:txBody>
                    <a:bodyPr/>
                    <a:lstStyle/>
                    <a:p>
                      <a:pPr algn="l">
                        <a:defRPr sz="1100" b="0">
                          <a:solidFill>
                            <a:srgbClr val="000000"/>
                          </a:solidFill>
                          <a:latin typeface="Montserrat"/>
                        </a:defRPr>
                      </a:pPr>
                      <a:r>
                        <a:t>Unidad de Medicina Familiar 2</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280080">
                <a:tc>
                  <a:txBody>
                    <a:bodyPr/>
                    <a:lstStyle/>
                    <a:p>
                      <a:pPr algn="l">
                        <a:defRPr sz="1100" b="0">
                          <a:solidFill>
                            <a:srgbClr val="000000"/>
                          </a:solidFill>
                          <a:latin typeface="Montserrat"/>
                        </a:defRPr>
                      </a:pPr>
                      <a:r>
                        <a:t>Hospital General Regional No. 2</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98.5%</a:t>
                      </a:r>
                    </a:p>
                  </a:txBody>
                  <a:tcPr anchor="ctr" marL="45720" marR="45720" marT="45720" marB="45720">
                    <a:solidFill>
                      <a:srgbClr val="D9D9D9"/>
                    </a:solidFill>
                  </a:tcPr>
                </a:tc>
              </a:tr>
              <a:tr h="280080">
                <a:tc>
                  <a:txBody>
                    <a:bodyPr/>
                    <a:lstStyle/>
                    <a:p>
                      <a:pPr algn="l">
                        <a:defRPr sz="1100" b="0">
                          <a:solidFill>
                            <a:srgbClr val="000000"/>
                          </a:solidFill>
                          <a:latin typeface="Montserrat"/>
                        </a:defRPr>
                      </a:pPr>
                      <a:r>
                        <a:t>Unidad de Medicina Familiar 10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99.0%</a:t>
                      </a:r>
                    </a:p>
                  </a:txBody>
                  <a:tcPr anchor="ctr" marL="45720" marR="45720" marT="45720" marB="45720">
                    <a:solidFill>
                      <a:srgbClr val="FFFFFF"/>
                    </a:solidFill>
                  </a:tcPr>
                </a:tc>
              </a:tr>
              <a:tr h="280080">
                <a:tc>
                  <a:txBody>
                    <a:bodyPr/>
                    <a:lstStyle/>
                    <a:p>
                      <a:pPr algn="l">
                        <a:defRPr sz="1100" b="0">
                          <a:solidFill>
                            <a:srgbClr val="000000"/>
                          </a:solidFill>
                          <a:latin typeface="Montserrat"/>
                        </a:defRPr>
                      </a:pPr>
                      <a:r>
                        <a:t>Unidad de Medicina Familiar 16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280080">
                <a:tc>
                  <a:txBody>
                    <a:bodyPr/>
                    <a:lstStyle/>
                    <a:p>
                      <a:pPr algn="l">
                        <a:defRPr sz="1100" b="0">
                          <a:solidFill>
                            <a:srgbClr val="000000"/>
                          </a:solidFill>
                          <a:latin typeface="Montserrat"/>
                        </a:defRPr>
                      </a:pPr>
                      <a:r>
                        <a:t>Unidad de Medicina Familiar 8</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28008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205</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F61EB5-B94A-BBC4-F2A3-3246403104D7}"/>
              </a:ext>
            </a:extLst>
          </p:cNvPr>
          <p:cNvGraphicFramePr/>
          <p:nvPr>
            <p:extLst>
              <p:ext uri="{D42A27DB-BD31-4B8C-83A1-F6EECF244321}">
                <p14:modId xmlns:p14="http://schemas.microsoft.com/office/powerpoint/2010/main" val="3896244087"/>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2,666</a:t>
                      </a:r>
                    </a:p>
                  </a:txBody>
                  <a:tcPr anchor="ctr">
                    <a:solidFill>
                      <a:srgbClr val="FFFFFF"/>
                    </a:solidFill>
                  </a:tcPr>
                </a:tc>
                <a:tc>
                  <a:txBody>
                    <a:bodyPr/>
                    <a:lstStyle/>
                    <a:p>
                      <a:pPr algn="ctr">
                        <a:defRPr sz="1000">
                          <a:latin typeface="Montserrat"/>
                        </a:defRPr>
                      </a:pPr>
                      <a:r>
                        <a:t>37.0%</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1,672</a:t>
                      </a:r>
                    </a:p>
                  </a:txBody>
                  <a:tcPr anchor="ctr">
                    <a:solidFill>
                      <a:srgbClr val="D9D9D9"/>
                    </a:solidFill>
                  </a:tcPr>
                </a:tc>
                <a:tc>
                  <a:txBody>
                    <a:bodyPr/>
                    <a:lstStyle/>
                    <a:p>
                      <a:pPr algn="ctr">
                        <a:defRPr sz="1000">
                          <a:latin typeface="Montserrat"/>
                        </a:defRPr>
                      </a:pPr>
                      <a:r>
                        <a:t>60.2%</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675</a:t>
                      </a:r>
                    </a:p>
                  </a:txBody>
                  <a:tcPr anchor="ctr">
                    <a:solidFill>
                      <a:srgbClr val="FFFFFF"/>
                    </a:solidFill>
                  </a:tcPr>
                </a:tc>
                <a:tc>
                  <a:txBody>
                    <a:bodyPr/>
                    <a:lstStyle/>
                    <a:p>
                      <a:pPr algn="ctr">
                        <a:defRPr sz="1000">
                          <a:latin typeface="Montserrat"/>
                        </a:defRPr>
                      </a:pPr>
                      <a:r>
                        <a:t>69.5%</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482</a:t>
                      </a:r>
                    </a:p>
                  </a:txBody>
                  <a:tcPr anchor="ctr">
                    <a:solidFill>
                      <a:srgbClr val="D9D9D9"/>
                    </a:solidFill>
                  </a:tcPr>
                </a:tc>
                <a:tc>
                  <a:txBody>
                    <a:bodyPr/>
                    <a:lstStyle/>
                    <a:p>
                      <a:pPr algn="ctr">
                        <a:defRPr sz="1000">
                          <a:latin typeface="Montserrat"/>
                        </a:defRPr>
                      </a:pPr>
                      <a:r>
                        <a:t>76.2%</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477</a:t>
                      </a:r>
                    </a:p>
                  </a:txBody>
                  <a:tcPr anchor="ctr">
                    <a:solidFill>
                      <a:srgbClr val="FFFFFF"/>
                    </a:solidFill>
                  </a:tcPr>
                </a:tc>
                <a:tc>
                  <a:txBody>
                    <a:bodyPr/>
                    <a:lstStyle/>
                    <a:p>
                      <a:pPr algn="ctr">
                        <a:defRPr sz="1000">
                          <a:latin typeface="Montserrat"/>
                        </a:defRPr>
                      </a:pPr>
                      <a:r>
                        <a:t>82.9%</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421</a:t>
                      </a:r>
                    </a:p>
                  </a:txBody>
                  <a:tcPr anchor="ctr">
                    <a:solidFill>
                      <a:srgbClr val="D9D9D9"/>
                    </a:solidFill>
                  </a:tcPr>
                </a:tc>
                <a:tc>
                  <a:txBody>
                    <a:bodyPr/>
                    <a:lstStyle/>
                    <a:p>
                      <a:pPr algn="ctr">
                        <a:defRPr sz="1000">
                          <a:latin typeface="Montserrat"/>
                        </a:defRPr>
                      </a:pPr>
                      <a:r>
                        <a:t>88.7%</a:t>
                      </a:r>
                    </a:p>
                  </a:txBody>
                  <a:tcPr anchor="ctr">
                    <a:solidFill>
                      <a:srgbClr val="D9D9D9"/>
                    </a:solidFill>
                  </a:tcPr>
                </a:tc>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t>351</a:t>
                      </a:r>
                    </a:p>
                  </a:txBody>
                  <a:tcPr anchor="ctr">
                    <a:solidFill>
                      <a:srgbClr val="FFFFFF"/>
                    </a:solidFill>
                  </a:tcPr>
                </a:tc>
                <a:tc>
                  <a:txBody>
                    <a:bodyPr/>
                    <a:lstStyle/>
                    <a:p>
                      <a:pPr algn="ctr">
                        <a:defRPr sz="1000">
                          <a:latin typeface="Montserrat"/>
                        </a:defRPr>
                      </a:pPr>
                      <a:r>
                        <a:t>93.6%</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216</a:t>
                      </a:r>
                    </a:p>
                  </a:txBody>
                  <a:tcPr anchor="ctr">
                    <a:solidFill>
                      <a:srgbClr val="D9D9D9"/>
                    </a:solidFill>
                  </a:tcPr>
                </a:tc>
                <a:tc>
                  <a:txBody>
                    <a:bodyPr/>
                    <a:lstStyle/>
                    <a:p>
                      <a:pPr algn="ctr">
                        <a:defRPr sz="1000">
                          <a:latin typeface="Montserrat"/>
                        </a:defRPr>
                      </a:pPr>
                      <a:r>
                        <a:t>96.6%</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159</a:t>
                      </a:r>
                    </a:p>
                  </a:txBody>
                  <a:tcPr anchor="ctr">
                    <a:solidFill>
                      <a:srgbClr val="FFFFFF"/>
                    </a:solidFill>
                  </a:tcPr>
                </a:tc>
                <a:tc>
                  <a:txBody>
                    <a:bodyPr/>
                    <a:lstStyle/>
                    <a:p>
                      <a:pPr algn="ctr">
                        <a:defRPr sz="1000">
                          <a:latin typeface="Montserrat"/>
                        </a:defRPr>
                      </a:pPr>
                      <a:r>
                        <a:t>98.8%</a:t>
                      </a:r>
                    </a:p>
                  </a:txBody>
                  <a:tcPr anchor="ctr">
                    <a:solidFill>
                      <a:srgbClr val="FFFFFF"/>
                    </a:solidFill>
                  </a:tcPr>
                </a:tc>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t>89</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7,208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490</a:t>
                      </a:r>
                    </a:p>
                  </a:txBody>
                  <a:tcPr anchor="ctr">
                    <a:solidFill>
                      <a:srgbClr val="FFFFFF"/>
                    </a:solidFill>
                  </a:tcPr>
                </a:tc>
                <a:tc>
                  <a:txBody>
                    <a:bodyPr/>
                    <a:lstStyle/>
                    <a:p>
                      <a:pPr algn="ctr">
                        <a:defRPr sz="1000">
                          <a:latin typeface="Montserrat"/>
                        </a:defRPr>
                      </a:pPr>
                      <a:r>
                        <a:t>28.8%</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371</a:t>
                      </a:r>
                    </a:p>
                  </a:txBody>
                  <a:tcPr anchor="ctr">
                    <a:solidFill>
                      <a:srgbClr val="D9D9D9"/>
                    </a:solidFill>
                  </a:tcPr>
                </a:tc>
                <a:tc>
                  <a:txBody>
                    <a:bodyPr/>
                    <a:lstStyle/>
                    <a:p>
                      <a:pPr algn="ctr">
                        <a:defRPr sz="1000">
                          <a:latin typeface="Montserrat"/>
                        </a:defRPr>
                      </a:pPr>
                      <a:r>
                        <a:t>50.6%</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281</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271</a:t>
                      </a:r>
                    </a:p>
                  </a:txBody>
                  <a:tcPr anchor="ctr">
                    <a:solidFill>
                      <a:srgbClr val="D9D9D9"/>
                    </a:solidFill>
                  </a:tcPr>
                </a:tc>
                <a:tc>
                  <a:txBody>
                    <a:bodyPr/>
                    <a:lstStyle/>
                    <a:p>
                      <a:pPr algn="ctr">
                        <a:defRPr sz="1000">
                          <a:latin typeface="Montserrat"/>
                        </a:defRPr>
                      </a:pPr>
                      <a:r>
                        <a:t>83.0%</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169</a:t>
                      </a:r>
                    </a:p>
                  </a:txBody>
                  <a:tcPr anchor="ctr">
                    <a:solidFill>
                      <a:srgbClr val="FFFFFF"/>
                    </a:solidFill>
                  </a:tcPr>
                </a:tc>
                <a:tc>
                  <a:txBody>
                    <a:bodyPr/>
                    <a:lstStyle/>
                    <a:p>
                      <a:pPr algn="ctr">
                        <a:defRPr sz="1000">
                          <a:latin typeface="Montserrat"/>
                        </a:defRPr>
                      </a:pPr>
                      <a:r>
                        <a:t>92.9%</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96.9%</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52</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1,702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10,037	 Personal de Salud: 6,721</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+257.9%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19</a:t>
                      </a:r>
                    </a:p>
                  </a:txBody>
                  <a:tcPr marL="0" marR="0" marT="0" marB="0">
                    <a:noFill/>
                  </a:tcPr>
                </a:tc>
                <a:tc>
                  <a:txBody>
                    <a:bodyPr/>
                    <a:lstStyle/>
                    <a:p>
                      <a:pPr algn="ctr">
                        <a:defRPr b="1" sz="1500">
                          <a:solidFill>
                            <a:srgbClr val="B4975A"/>
                          </a:solidFill>
                          <a:latin typeface="Montserrat"/>
                        </a:defRPr>
                      </a:pPr>
                      <a:r>
                        <a:t>68</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1,058</a:t>
                      </a:r>
                    </a:p>
                  </a:txBody>
                  <a:tcPr marL="0" marR="0" marT="0" marB="0">
                    <a:noFill/>
                  </a:tcPr>
                </a:tc>
                <a:tc>
                  <a:txBody>
                    <a:bodyPr/>
                    <a:lstStyle/>
                    <a:p>
                      <a:pPr algn="ctr">
                        <a:defRPr b="1" sz="1500">
                          <a:solidFill>
                            <a:srgbClr val="B4975A"/>
                          </a:solidFill>
                          <a:latin typeface="Montserrat"/>
                        </a:defRPr>
                      </a:pPr>
                      <a:r>
                        <a:t>1,577</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+47.6%</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1,665</a:t>
                      </a:r>
                    </a:p>
                  </a:txBody>
                  <a:tcPr marL="0" marR="0" marT="0" marB="0">
                    <a:noFill/>
                  </a:tcPr>
                </a:tc>
                <a:tc>
                  <a:txBody>
                    <a:bodyPr/>
                    <a:lstStyle/>
                    <a:p>
                      <a:pPr algn="ctr">
                        <a:defRPr b="1" sz="1500">
                          <a:solidFill>
                            <a:srgbClr val="B4975A"/>
                          </a:solidFill>
                          <a:latin typeface="Montserrat"/>
                        </a:defRPr>
                      </a:pPr>
                      <a:r>
                        <a:t>2,457</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+46.8%</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1,151</a:t>
                      </a:r>
                    </a:p>
                  </a:txBody>
                  <a:tcPr marL="0" marR="0" marT="0" marB="0">
                    <a:noFill/>
                  </a:tcPr>
                </a:tc>
                <a:tc>
                  <a:txBody>
                    <a:bodyPr/>
                    <a:lstStyle/>
                    <a:p>
                      <a:pPr algn="ctr">
                        <a:defRPr b="1" sz="1500">
                          <a:solidFill>
                            <a:srgbClr val="B4975A"/>
                          </a:solidFill>
                          <a:latin typeface="Montserrat"/>
                        </a:defRPr>
                      </a:pPr>
                      <a:r>
                        <a:t>1,690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+207.7%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207</a:t>
                      </a:r>
                    </a:p>
                  </a:txBody>
                  <a:tcPr marL="0" marR="0" marT="0" marB="0">
                    <a:noFill/>
                  </a:tcPr>
                </a:tc>
                <a:tc>
                  <a:txBody>
                    <a:bodyPr/>
                    <a:lstStyle/>
                    <a:p>
                      <a:pPr algn="ctr">
                        <a:defRPr b="1" sz="1500">
                          <a:solidFill>
                            <a:srgbClr val="B4975A"/>
                          </a:solidFill>
                          <a:latin typeface="Montserrat"/>
                        </a:defRPr>
                      </a:pPr>
                      <a:r>
                        <a:t>637</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270</a:t>
                      </a:r>
                    </a:p>
                  </a:txBody>
                  <a:tcPr marL="0" marR="0" marT="0" marB="0">
                    <a:noFill/>
                  </a:tcPr>
                </a:tc>
                <a:tc>
                  <a:txBody>
                    <a:bodyPr/>
                    <a:lstStyle/>
                    <a:p>
                      <a:pPr algn="ctr">
                        <a:defRPr b="1" sz="1500">
                          <a:solidFill>
                            <a:srgbClr val="B4975A"/>
                          </a:solidFill>
                          <a:latin typeface="Montserrat"/>
                        </a:defRPr>
                      </a:pPr>
                      <a:r>
                        <a:t>292</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53</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30</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24</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14</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36</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18</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16</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18</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73</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126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9,780</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712</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110</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148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2,830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1,026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19</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14,348</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(129,051)</a:t>
                      </a:r>
                    </a:p>
                  </a:txBody>
                  <a:tcPr>
                    <a:solidFill>
                      <a:srgbClr val="FFFFFF"/>
                    </a:solidFill>
                  </a:tcPr>
                </a:tc>
                <a:tc>
                  <a:txBody>
                    <a:bodyPr/>
                    <a:lstStyle/>
                    <a:p>
                      <a:pPr algn="ctr"/>
                      <a:r>
                        <a:rPr sz="900" b="0">
                          <a:latin typeface="Montserrat"/>
                        </a:rPr>
                        <a:t>Tumores malignos
(15,338)</a:t>
                      </a:r>
                    </a:p>
                  </a:txBody>
                  <a:tcPr>
                    <a:solidFill>
                      <a:srgbClr val="FFFFFF"/>
                    </a:solidFill>
                  </a:tcPr>
                </a:tc>
                <a:tc>
                  <a:txBody>
                    <a:bodyPr/>
                    <a:lstStyle/>
                    <a:p>
                      <a:pPr algn="ctr"/>
                      <a:r>
                        <a:rPr sz="900" b="0">
                          <a:latin typeface="Montserrat"/>
                        </a:rPr>
                        <a:t>Cesárea
(2,357)</a:t>
                      </a:r>
                    </a:p>
                  </a:txBody>
                  <a:tcPr>
                    <a:solidFill>
                      <a:srgbClr val="FFFFFF"/>
                    </a:solidFill>
                  </a:tcPr>
                </a:tc>
                <a:tc>
                  <a:txBody>
                    <a:bodyPr/>
                    <a:lstStyle/>
                    <a:p>
                      <a:pPr algn="ctr"/>
                      <a:r>
                        <a:rPr sz="900" b="0">
                          <a:latin typeface="Montserrat"/>
                        </a:rPr>
                        <a:t>Embarazo, parto y puerperio
(3,770)</a:t>
                      </a:r>
                    </a:p>
                  </a:txBody>
                  <a:tcPr>
                    <a:solidFill>
                      <a:srgbClr val="FFFFFF"/>
                    </a:solidFill>
                  </a:tcPr>
                </a:tc>
                <a:tc>
                  <a:txBody>
                    <a:bodyPr/>
                    <a:lstStyle/>
                    <a:p>
                      <a:pPr algn="ctr"/>
                      <a:r>
                        <a:rPr sz="900" b="0">
                          <a:latin typeface="Montserrat"/>
                        </a:rPr>
                        <a:t>Enfermedades del corazón
(169)</a:t>
                      </a:r>
                    </a:p>
                  </a:txBody>
                  <a:tcPr>
                    <a:solidFill>
                      <a:srgbClr val="FFFFFF"/>
                    </a:solidFill>
                  </a:tcPr>
                </a:tc>
              </a:tr>
              <a:tr h="489600">
                <a:tc>
                  <a:txBody>
                    <a:bodyPr/>
                    <a:lstStyle/>
                    <a:p>
                      <a:pPr algn="ctr"/>
                      <a:r>
                        <a:rPr sz="900" b="0">
                          <a:latin typeface="Montserrat"/>
                        </a:rPr>
                        <a:t>Enfermedades del corazón
(104,307)</a:t>
                      </a:r>
                    </a:p>
                  </a:txBody>
                  <a:tcPr>
                    <a:solidFill>
                      <a:srgbClr val="EFEFEF"/>
                    </a:solidFill>
                  </a:tcPr>
                </a:tc>
                <a:tc>
                  <a:txBody>
                    <a:bodyPr/>
                    <a:lstStyle/>
                    <a:p>
                      <a:pPr algn="ctr"/>
                      <a:r>
                        <a:rPr sz="900" b="0">
                          <a:latin typeface="Montserrat"/>
                        </a:rPr>
                        <a:t>Enfermedades y trastornos de las articulaciones
(14,925)</a:t>
                      </a:r>
                    </a:p>
                  </a:txBody>
                  <a:tcPr>
                    <a:solidFill>
                      <a:srgbClr val="EFEFEF"/>
                    </a:solidFill>
                  </a:tcPr>
                </a:tc>
                <a:tc>
                  <a:txBody>
                    <a:bodyPr/>
                    <a:lstStyle/>
                    <a:p>
                      <a:pPr algn="ctr"/>
                      <a:r>
                        <a:rPr sz="900" b="0">
                          <a:latin typeface="Montserrat"/>
                        </a:rPr>
                        <a:t>Traumatismos y envenenamientos
(1,814)</a:t>
                      </a:r>
                    </a:p>
                  </a:txBody>
                  <a:tcPr>
                    <a:solidFill>
                      <a:srgbClr val="EFEFEF"/>
                    </a:solidFill>
                  </a:tcPr>
                </a:tc>
                <a:tc>
                  <a:txBody>
                    <a:bodyPr/>
                    <a:lstStyle/>
                    <a:p>
                      <a:pPr algn="ctr"/>
                      <a:r>
                        <a:rPr sz="900" b="0">
                          <a:latin typeface="Montserrat"/>
                        </a:rPr>
                        <a:t>Traumatismos e intoxicaciones
(1,975)</a:t>
                      </a:r>
                    </a:p>
                  </a:txBody>
                  <a:tcPr>
                    <a:solidFill>
                      <a:srgbClr val="EFEFEF"/>
                    </a:solidFill>
                  </a:tcPr>
                </a:tc>
                <a:tc>
                  <a:txBody>
                    <a:bodyPr/>
                    <a:lstStyle/>
                    <a:p>
                      <a:pPr algn="ctr"/>
                      <a:r>
                        <a:rPr sz="900" b="0">
                          <a:latin typeface="Montserrat"/>
                        </a:rPr>
                        <a:t>Tumores malignos
(124)</a:t>
                      </a:r>
                    </a:p>
                  </a:txBody>
                  <a:tcPr>
                    <a:solidFill>
                      <a:srgbClr val="EFEFEF"/>
                    </a:solidFill>
                  </a:tcPr>
                </a:tc>
              </a:tr>
              <a:tr h="489600">
                <a:tc>
                  <a:txBody>
                    <a:bodyPr/>
                    <a:lstStyle/>
                    <a:p>
                      <a:pPr algn="ctr"/>
                      <a:r>
                        <a:rPr sz="900" b="0">
                          <a:latin typeface="Montserrat"/>
                        </a:rPr>
                        <a:t>Infecciones respiratorias agudas
(41,227)</a:t>
                      </a:r>
                    </a:p>
                  </a:txBody>
                  <a:tcPr>
                    <a:solidFill>
                      <a:srgbClr val="FFFFFF"/>
                    </a:solidFill>
                  </a:tcPr>
                </a:tc>
                <a:tc>
                  <a:txBody>
                    <a:bodyPr/>
                    <a:lstStyle/>
                    <a:p>
                      <a:pPr algn="ctr"/>
                      <a:r>
                        <a:rPr sz="900" b="0">
                          <a:latin typeface="Montserrat"/>
                        </a:rPr>
                        <a:t>Traumatismos e intoxicaciones
(14,902)</a:t>
                      </a:r>
                    </a:p>
                  </a:txBody>
                  <a:tcPr>
                    <a:solidFill>
                      <a:srgbClr val="FFFFFF"/>
                    </a:solidFill>
                  </a:tcPr>
                </a:tc>
                <a:tc>
                  <a:txBody>
                    <a:bodyPr/>
                    <a:lstStyle/>
                    <a:p>
                      <a:pPr algn="ctr"/>
                      <a:r>
                        <a:rPr sz="900" b="0">
                          <a:latin typeface="Montserrat"/>
                        </a:rPr>
                        <a:t>Cirugía de Hernias (Hernioplastía)
(833)</a:t>
                      </a:r>
                    </a:p>
                  </a:txBody>
                  <a:tcPr>
                    <a:solidFill>
                      <a:srgbClr val="FFFFFF"/>
                    </a:solidFill>
                  </a:tcPr>
                </a:tc>
                <a:tc>
                  <a:txBody>
                    <a:bodyPr/>
                    <a:lstStyle/>
                    <a:p>
                      <a:pPr algn="ctr"/>
                      <a:r>
                        <a:rPr sz="900" b="0">
                          <a:latin typeface="Montserrat"/>
                        </a:rPr>
                        <a:t>Hernias
(883)</a:t>
                      </a:r>
                    </a:p>
                  </a:txBody>
                  <a:tcPr>
                    <a:solidFill>
                      <a:srgbClr val="FFFFFF"/>
                    </a:solidFill>
                  </a:tcPr>
                </a:tc>
                <a:tc>
                  <a:txBody>
                    <a:bodyPr/>
                    <a:lstStyle/>
                    <a:p>
                      <a:pPr algn="ctr"/>
                      <a:r>
                        <a:rPr sz="900" b="0">
                          <a:latin typeface="Montserrat"/>
                        </a:rPr>
                        <a:t>Diabetes mellitus
(122)</a:t>
                      </a:r>
                    </a:p>
                  </a:txBody>
                  <a:tcPr>
                    <a:solidFill>
                      <a:srgbClr val="FFFFFF"/>
                    </a:solidFill>
                  </a:tcPr>
                </a:tc>
              </a:tr>
              <a:tr h="489600">
                <a:tc>
                  <a:txBody>
                    <a:bodyPr/>
                    <a:lstStyle/>
                    <a:p>
                      <a:pPr algn="ctr"/>
                      <a:r>
                        <a:rPr sz="900" b="0">
                          <a:latin typeface="Montserrat"/>
                        </a:rPr>
                        <a:t>traumatismos e intoxicaciones
(29,833)</a:t>
                      </a:r>
                    </a:p>
                  </a:txBody>
                  <a:tcPr>
                    <a:solidFill>
                      <a:srgbClr val="EFEFEF"/>
                    </a:solidFill>
                  </a:tcPr>
                </a:tc>
                <a:tc>
                  <a:txBody>
                    <a:bodyPr/>
                    <a:lstStyle/>
                    <a:p>
                      <a:pPr algn="ctr"/>
                      <a:r>
                        <a:rPr sz="900" b="0">
                          <a:latin typeface="Montserrat"/>
                        </a:rPr>
                        <a:t>Problemas y enfermedades de la columna vertebral
(12,350)</a:t>
                      </a:r>
                    </a:p>
                  </a:txBody>
                  <a:tcPr>
                    <a:solidFill>
                      <a:srgbClr val="EFEFEF"/>
                    </a:solidFill>
                  </a:tcPr>
                </a:tc>
                <a:tc>
                  <a:txBody>
                    <a:bodyPr/>
                    <a:lstStyle/>
                    <a:p>
                      <a:pPr algn="ctr"/>
                      <a:r>
                        <a:rPr sz="900" b="0">
                          <a:latin typeface="Montserrat"/>
                        </a:rPr>
                        <a:t>Cirugía de vesicula biliar (Colecistectomía)
(717)</a:t>
                      </a:r>
                    </a:p>
                  </a:txBody>
                  <a:tcPr>
                    <a:solidFill>
                      <a:srgbClr val="EFEFEF"/>
                    </a:solidFill>
                  </a:tcPr>
                </a:tc>
                <a:tc>
                  <a:txBody>
                    <a:bodyPr/>
                    <a:lstStyle/>
                    <a:p>
                      <a:pPr algn="ctr"/>
                      <a:r>
                        <a:rPr sz="900" b="0">
                          <a:latin typeface="Montserrat"/>
                        </a:rPr>
                        <a:t>Enfermedades de la vesicula biliar
(830)</a:t>
                      </a:r>
                    </a:p>
                  </a:txBody>
                  <a:tcPr>
                    <a:solidFill>
                      <a:srgbClr val="EFEFEF"/>
                    </a:solidFill>
                  </a:tcPr>
                </a:tc>
                <a:tc>
                  <a:txBody>
                    <a:bodyPr/>
                    <a:lstStyle/>
                    <a:p>
                      <a:pPr algn="ctr"/>
                      <a:r>
                        <a:rPr sz="900" b="0">
                          <a:latin typeface="Montserrat"/>
                        </a:rPr>
                        <a:t>Insuficiencia renal
(88)</a:t>
                      </a:r>
                    </a:p>
                  </a:txBody>
                  <a:tcPr>
                    <a:solidFill>
                      <a:srgbClr val="EFEFEF"/>
                    </a:solidFill>
                  </a:tcPr>
                </a:tc>
              </a:tr>
              <a:tr h="489600">
                <a:tc>
                  <a:txBody>
                    <a:bodyPr/>
                    <a:lstStyle/>
                    <a:p>
                      <a:pPr algn="ctr"/>
                      <a:r>
                        <a:rPr sz="900" b="0">
                          <a:latin typeface="Montserrat"/>
                        </a:rPr>
                        <a:t>Embarazo, parto y puerperio
(17,909)</a:t>
                      </a:r>
                    </a:p>
                  </a:txBody>
                  <a:tcPr>
                    <a:solidFill>
                      <a:srgbClr val="FFFFFF"/>
                    </a:solidFill>
                  </a:tcPr>
                </a:tc>
                <a:tc>
                  <a:txBody>
                    <a:bodyPr/>
                    <a:lstStyle/>
                    <a:p>
                      <a:pPr algn="ctr"/>
                      <a:r>
                        <a:rPr sz="900" b="0">
                          <a:latin typeface="Montserrat"/>
                        </a:rPr>
                        <a:t>Enfermedades del corazón
(10,788)</a:t>
                      </a:r>
                    </a:p>
                  </a:txBody>
                  <a:tcPr>
                    <a:solidFill>
                      <a:srgbClr val="FFFFFF"/>
                    </a:solidFill>
                  </a:tcPr>
                </a:tc>
                <a:tc>
                  <a:txBody>
                    <a:bodyPr/>
                    <a:lstStyle/>
                    <a:p>
                      <a:pPr algn="ctr"/>
                      <a:r>
                        <a:rPr sz="900" b="0">
                          <a:latin typeface="Montserrat"/>
                        </a:rPr>
                        <a:t>Artropatias
(476)</a:t>
                      </a:r>
                    </a:p>
                  </a:txBody>
                  <a:tcPr>
                    <a:solidFill>
                      <a:srgbClr val="FFFFFF"/>
                    </a:solidFill>
                  </a:tcPr>
                </a:tc>
                <a:tc>
                  <a:txBody>
                    <a:bodyPr/>
                    <a:lstStyle/>
                    <a:p>
                      <a:pPr algn="ctr"/>
                      <a:r>
                        <a:rPr sz="900" b="0">
                          <a:latin typeface="Montserrat"/>
                        </a:rPr>
                        <a:t>Enfermedades perinatales
(757)</a:t>
                      </a:r>
                    </a:p>
                  </a:txBody>
                  <a:tcPr>
                    <a:solidFill>
                      <a:srgbClr val="FFFFFF"/>
                    </a:solidFill>
                  </a:tcPr>
                </a:tc>
                <a:tc>
                  <a:txBody>
                    <a:bodyPr/>
                    <a:lstStyle/>
                    <a:p>
                      <a:pPr algn="ctr"/>
                      <a:r>
                        <a:rPr sz="900" b="0">
                          <a:latin typeface="Montserrat"/>
                        </a:rPr>
                        <a:t>Neumonía e influenza
(83)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97,425</a:t>
                      </a:r>
                    </a:p>
                  </a:txBody>
                  <a:tcPr>
                    <a:solidFill>
                      <a:srgbClr val="FFFFFF"/>
                    </a:solidFill>
                  </a:tcPr>
                </a:tc>
                <a:tc>
                  <a:txBody>
                    <a:bodyPr/>
                    <a:lstStyle/>
                    <a:p>
                      <a:pPr algn="ctr"/>
                      <a:r>
                        <a:rPr sz="1100" b="0">
                          <a:solidFill>
                            <a:srgbClr val="434343"/>
                          </a:solidFill>
                          <a:latin typeface="Montserrat"/>
                        </a:rPr>
                        <a:t>1,169,860</a:t>
                      </a:r>
                    </a:p>
                  </a:txBody>
                  <a:tcPr>
                    <a:solidFill>
                      <a:srgbClr val="FFFFFF"/>
                    </a:solidFill>
                  </a:tcPr>
                </a:tc>
                <a:tc>
                  <a:txBody>
                    <a:bodyPr/>
                    <a:lstStyle/>
                    <a:p>
                      <a:pPr algn="ctr"/>
                      <a:r>
                        <a:rPr sz="1100" b="0">
                          <a:solidFill>
                            <a:srgbClr val="434343"/>
                          </a:solidFill>
                          <a:latin typeface="Montserrat"/>
                        </a:rPr>
                        <a:t>92.3%</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82,699</a:t>
                      </a:r>
                    </a:p>
                  </a:txBody>
                  <a:tcPr>
                    <a:solidFill>
                      <a:srgbClr val="D9D9D9"/>
                    </a:solidFill>
                  </a:tcPr>
                </a:tc>
                <a:tc>
                  <a:txBody>
                    <a:bodyPr/>
                    <a:lstStyle/>
                    <a:p>
                      <a:pPr algn="ctr"/>
                      <a:r>
                        <a:rPr sz="1100" b="1">
                          <a:solidFill>
                            <a:srgbClr val="006455"/>
                          </a:solidFill>
                          <a:latin typeface="Montserrat"/>
                        </a:rPr>
                        <a:t>1,380,324</a:t>
                      </a:r>
                    </a:p>
                  </a:txBody>
                  <a:tcPr>
                    <a:solidFill>
                      <a:srgbClr val="D9D9D9"/>
                    </a:solidFill>
                  </a:tcPr>
                </a:tc>
                <a:tc>
                  <a:txBody>
                    <a:bodyPr/>
                    <a:lstStyle/>
                    <a:p>
                      <a:pPr algn="ctr"/>
                      <a:r>
                        <a:rPr sz="1100" b="1">
                          <a:solidFill>
                            <a:srgbClr val="006455"/>
                          </a:solidFill>
                          <a:latin typeface="Montserrat"/>
                        </a:rPr>
                        <a:t>94.3%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D1D1-7DC0-DB61-D555-1D27F0EABA28}"/>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380,127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179,824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174,176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163,637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163,302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161,837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158,981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150,829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134,878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FFFFF"/>
                    </a:solidFill>
                  </a:tcPr>
                </a:tc>
                <a:tc>
                  <a:txBody>
                    <a:bodyPr/>
                    <a:lstStyle/>
                    <a:p>
                      <a:pPr algn="ctr">
                        <a:defRPr sz="900" b="0">
                          <a:solidFill>
                            <a:srgbClr val="333333"/>
                          </a:solidFill>
                          <a:latin typeface="Montserrat"/>
                        </a:defRPr>
                      </a:pPr>
                      <a:r>
                        <a:t>126,153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405673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3"/>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pic>
        <p:nvPicPr>
          <p:cNvPr id="3" name="Imagen 2" descr="Imagen que contiene firmar, lado, parada, camión&#10;&#10;El contenido generado por IA puede ser incorrecto.">
            <a:extLst>
              <a:ext uri="{FF2B5EF4-FFF2-40B4-BE49-F238E27FC236}">
                <a16:creationId xmlns:a16="http://schemas.microsoft.com/office/drawing/2014/main" id="{4A354C11-472E-B13F-7640-F22CBC3FCD5B}"/>
              </a:ext>
            </a:extLst>
          </p:cNvPr>
          <p:cNvPicPr>
            <a:picLocks noChangeAspect="1"/>
          </p:cNvPicPr>
          <p:nvPr/>
        </p:nvPicPr>
        <p:blipFill>
          <a:blip r:embed="rId5"/>
          <a:stretch>
            <a:fillRect/>
          </a:stretch>
        </p:blipFill>
        <p:spPr>
          <a:xfrm>
            <a:off x="-4892" y="1673469"/>
            <a:ext cx="1593128" cy="3883856"/>
          </a:xfrm>
          <a:prstGeom prst="rect">
            <a:avLst/>
          </a:prstGeom>
        </p:spPr>
      </p:pic>
      <p:sp>
        <p:nvSpPr>
          <p:cNvPr id="7" name="TextBox 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8" name="Table 7"/>
          <p:cNvGraphicFramePr>
            <a:graphicFrameLocks noGrp="1"/>
          </p:cNvGraphicFramePr>
          <p:nvPr/>
        </p:nvGraphicFramePr>
        <p:xfrm>
          <a:off x="1785600" y="15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Nueva Sala de Hemodinamia en el HGR 2 El Marqués,</a:t>
                      </a:r>
                    </a:p>
                  </a:txBody>
                  <a:tcPr marL="3600" marR="3600" marT="3600" marB="3600">
                    <a:solidFill>
                      <a:srgbClr val="FFFFFF"/>
                    </a:solidFill>
                  </a:tcPr>
                </a:tc>
                <a:tc>
                  <a:txBody>
                    <a:bodyPr/>
                    <a:lstStyle/>
                    <a:p>
                      <a:pPr algn="ctr">
                        <a:lnSpc>
                          <a:spcPct val="100000"/>
                        </a:lnSpc>
                      </a:pPr>
                      <a:r>
                        <a:rPr sz="1000">
                          <a:latin typeface="Montserrat"/>
                        </a:rPr>
                        <a:t>$34.1</a:t>
                      </a:r>
                    </a:p>
                  </a:txBody>
                  <a:tcPr marL="3600" marR="3600" marT="3600" marB="3600">
                    <a:solidFill>
                      <a:srgbClr val="FFFFFF"/>
                    </a:solidFill>
                  </a:tcPr>
                </a:tc>
              </a:tr>
            </a:tbl>
          </a:graphicData>
        </a:graphic>
      </p:graphicFrame>
      <p:graphicFrame>
        <p:nvGraphicFramePr>
          <p:cNvPr id="9" name="Table 8"/>
          <p:cNvGraphicFramePr>
            <a:graphicFrameLocks noGrp="1"/>
          </p:cNvGraphicFramePr>
          <p:nvPr/>
        </p:nvGraphicFramePr>
        <p:xfrm>
          <a:off x="1785600" y="2304000"/>
          <a:ext cx="5295600" cy="2700000"/>
        </p:xfrm>
        <a:graphic>
          <a:graphicData uri="http://schemas.openxmlformats.org/drawingml/2006/table">
            <a:tbl>
              <a:tblPr firstRow="1" bandRow="1">
                <a:tableStyleId>{5C22544A-7EE6-4342-B048-85BDC9FD1C3A}</a:tableStyleId>
              </a:tblPr>
              <a:tblGrid>
                <a:gridCol w="4176000"/>
                <a:gridCol w="1119600"/>
              </a:tblGrid>
              <a:tr h="385714">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85714">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$352.1</a:t>
                      </a:r>
                    </a:p>
                  </a:txBody>
                  <a:tcPr marL="3600" marR="3600" marT="3600" marB="3600">
                    <a:solidFill>
                      <a:srgbClr val="FFFFFF"/>
                    </a:solidFill>
                  </a:tcPr>
                </a:tc>
              </a:tr>
              <a:tr h="385714">
                <a:tc>
                  <a:txBody>
                    <a:bodyPr/>
                    <a:lstStyle/>
                    <a:p>
                      <a:pPr algn="l">
                        <a:lnSpc>
                          <a:spcPct val="100000"/>
                        </a:lnSpc>
                      </a:pPr>
                      <a:r>
                        <a:rPr sz="1000">
                          <a:latin typeface="Montserrat"/>
                        </a:rPr>
                        <a:t>Remodelación y mejora de imagen en el HGZ No. 3 San Juan del Río y HGR No.1 Querétaro</a:t>
                      </a:r>
                    </a:p>
                  </a:txBody>
                  <a:tcPr marL="3600" marR="3600" marT="3600" marB="3600">
                    <a:solidFill>
                      <a:srgbClr val="D9D9D9"/>
                    </a:solidFill>
                  </a:tcPr>
                </a:tc>
                <a:tc>
                  <a:txBody>
                    <a:bodyPr/>
                    <a:lstStyle/>
                    <a:p>
                      <a:pPr algn="ctr">
                        <a:lnSpc>
                          <a:spcPct val="100000"/>
                        </a:lnSpc>
                      </a:pPr>
                      <a:r>
                        <a:rPr sz="1000">
                          <a:latin typeface="Montserrat"/>
                        </a:rPr>
                        <a:t>$161.3</a:t>
                      </a:r>
                    </a:p>
                  </a:txBody>
                  <a:tcPr marL="3600" marR="3600" marT="3600" marB="3600">
                    <a:solidFill>
                      <a:srgbClr val="D9D9D9"/>
                    </a:solidFill>
                  </a:tcPr>
                </a:tc>
              </a:tr>
              <a:tr h="385714">
                <a:tc>
                  <a:txBody>
                    <a:bodyPr/>
                    <a:lstStyle/>
                    <a:p>
                      <a:pPr algn="l">
                        <a:lnSpc>
                          <a:spcPct val="100000"/>
                        </a:lnSpc>
                      </a:pPr>
                      <a:r>
                        <a:rPr sz="1000">
                          <a:latin typeface="Montserrat"/>
                        </a:rPr>
                        <a:t>Intervención en áreas de mejora en Subdelegacion Querétaro</a:t>
                      </a:r>
                    </a:p>
                  </a:txBody>
                  <a:tcPr marL="3600" marR="3600" marT="3600" marB="3600">
                    <a:solidFill>
                      <a:srgbClr val="FFFFFF"/>
                    </a:solidFill>
                  </a:tcPr>
                </a:tc>
                <a:tc>
                  <a:txBody>
                    <a:bodyPr/>
                    <a:lstStyle/>
                    <a:p>
                      <a:pPr algn="ctr">
                        <a:lnSpc>
                          <a:spcPct val="100000"/>
                        </a:lnSpc>
                      </a:pPr>
                      <a:r>
                        <a:rPr sz="1000">
                          <a:latin typeface="Montserrat"/>
                        </a:rPr>
                        <a:t>$3.5</a:t>
                      </a:r>
                    </a:p>
                  </a:txBody>
                  <a:tcPr marL="3600" marR="3600" marT="3600" marB="3600">
                    <a:solidFill>
                      <a:srgbClr val="FFFFFF"/>
                    </a:solidFill>
                  </a:tcPr>
                </a:tc>
              </a:tr>
              <a:tr h="385714">
                <a:tc>
                  <a:txBody>
                    <a:bodyPr/>
                    <a:lstStyle/>
                    <a:p>
                      <a:pPr algn="l">
                        <a:lnSpc>
                          <a:spcPct val="100000"/>
                        </a:lnSpc>
                      </a:pPr>
                      <a:r>
                        <a:rPr sz="1000">
                          <a:latin typeface="Montserrat"/>
                        </a:rPr>
                        <a:t>Intervención en áreas de residencias médicas en HGZ No. 3 San Juan del Río</a:t>
                      </a:r>
                    </a:p>
                  </a:txBody>
                  <a:tcPr marL="3600" marR="3600" marT="3600" marB="3600">
                    <a:solidFill>
                      <a:srgbClr val="D9D9D9"/>
                    </a:solidFill>
                  </a:tcPr>
                </a:tc>
                <a:tc>
                  <a:txBody>
                    <a:bodyPr/>
                    <a:lstStyle/>
                    <a:p>
                      <a:pPr algn="ctr">
                        <a:lnSpc>
                          <a:spcPct val="100000"/>
                        </a:lnSpc>
                      </a:pPr>
                      <a:r>
                        <a:rPr sz="1000">
                          <a:latin typeface="Montserrat"/>
                        </a:rPr>
                        <a:t>$0.8</a:t>
                      </a:r>
                    </a:p>
                  </a:txBody>
                  <a:tcPr marL="3600" marR="3600" marT="3600" marB="3600">
                    <a:solidFill>
                      <a:srgbClr val="D9D9D9"/>
                    </a:solidFill>
                  </a:tcPr>
                </a:tc>
              </a:tr>
              <a:tr h="385714">
                <a:tc>
                  <a:txBody>
                    <a:bodyPr/>
                    <a:lstStyle/>
                    <a:p>
                      <a:pPr algn="l">
                        <a:lnSpc>
                          <a:spcPct val="100000"/>
                        </a:lnSpc>
                      </a:pPr>
                      <a:r>
                        <a:rPr sz="1000">
                          <a:latin typeface="Montserrat"/>
                        </a:rPr>
                        <a:t>Intervención en áreas de accesibilidad (rampas) en UMF No. 6 San Juan del Río</a:t>
                      </a:r>
                    </a:p>
                  </a:txBody>
                  <a:tcPr marL="3600" marR="3600" marT="3600" marB="3600">
                    <a:solidFill>
                      <a:srgbClr val="FFFFFF"/>
                    </a:solidFill>
                  </a:tcPr>
                </a:tc>
                <a:tc>
                  <a:txBody>
                    <a:bodyPr/>
                    <a:lstStyle/>
                    <a:p>
                      <a:pPr algn="ctr">
                        <a:lnSpc>
                          <a:spcPct val="100000"/>
                        </a:lnSpc>
                      </a:pPr>
                      <a:r>
                        <a:rPr sz="1000">
                          <a:latin typeface="Montserrat"/>
                        </a:rPr>
                        <a:t>$0.2</a:t>
                      </a:r>
                    </a:p>
                  </a:txBody>
                  <a:tcPr marL="3600" marR="3600" marT="3600" marB="3600">
                    <a:solidFill>
                      <a:srgbClr val="FFFFFF"/>
                    </a:solidFill>
                  </a:tcPr>
                </a:tc>
              </a:tr>
              <a:tr h="385716">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$517.9</a:t>
                      </a:r>
                    </a:p>
                  </a:txBody>
                  <a:tcPr marL="3600" marR="3600" marT="3600" marB="3600">
                    <a:solidFill>
                      <a:srgbClr val="ECE1D2"/>
                    </a:solidFill>
                  </a:tcPr>
                </a:tc>
              </a:tr>
            </a:tbl>
          </a:graphicData>
        </a:graphic>
      </p:graphicFrame>
      <p:graphicFrame>
        <p:nvGraphicFramePr>
          <p:cNvPr id="10" name="Table 9"/>
          <p:cNvGraphicFramePr>
            <a:graphicFrameLocks noGrp="1"/>
          </p:cNvGraphicFramePr>
          <p:nvPr/>
        </p:nvGraphicFramePr>
        <p:xfrm>
          <a:off x="1785600" y="5184000"/>
          <a:ext cx="5295600" cy="1440000"/>
        </p:xfrm>
        <a:graphic>
          <a:graphicData uri="http://schemas.openxmlformats.org/drawingml/2006/table">
            <a:tbl>
              <a:tblPr firstRow="1" bandRow="1">
                <a:tableStyleId>{5C22544A-7EE6-4342-B048-85BDC9FD1C3A}</a:tableStyleId>
              </a:tblPr>
              <a:tblGrid>
                <a:gridCol w="4176000"/>
                <a:gridCol w="1119600"/>
              </a:tblGrid>
              <a:tr h="72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720000">
                <a:tc>
                  <a:txBody>
                    <a:bodyPr/>
                    <a:lstStyle/>
                    <a:p>
                      <a:pPr algn="l">
                        <a:lnSpc>
                          <a:spcPct val="100000"/>
                        </a:lnSpc>
                      </a:pPr>
                      <a:r>
                        <a:rPr sz="1000">
                          <a:latin typeface="Montserrat"/>
                        </a:rPr>
                        <a:t>Adquisición de 8 piezas de equipo médico: 2 refrigeradores para vacunas, 3 refrigeradores congeladores de 5.4 pies cúbicos, 1 monitor de signos vitales para el traslado del paciente (con protección antimagnética), 1 unidad de anestesia básica (con protección antimagnética), 1 mastógrafo digital con estereotaxia y tomosíntesis</a:t>
                      </a:r>
                    </a:p>
                  </a:txBody>
                  <a:tcPr marL="3600" marR="3600" marT="3600" marB="3600">
                    <a:solidFill>
                      <a:srgbClr val="FFFFFF"/>
                    </a:solidFill>
                  </a:tcPr>
                </a:tc>
                <a:tc>
                  <a:txBody>
                    <a:bodyPr/>
                    <a:lstStyle/>
                    <a:p>
                      <a:pPr algn="ctr">
                        <a:lnSpc>
                          <a:spcPct val="100000"/>
                        </a:lnSpc>
                      </a:pPr>
                      <a:r>
                        <a:rPr sz="1000">
                          <a:latin typeface="Montserrat"/>
                        </a:rPr>
                        <a:t>$8.0</a:t>
                      </a:r>
                    </a:p>
                  </a:txBody>
                  <a:tcPr marL="3600" marR="3600" marT="3600" marB="3600">
                    <a:solidFill>
                      <a:srgbClr val="FFFFFF"/>
                    </a:solidFill>
                  </a:tcPr>
                </a:tc>
              </a:tr>
            </a:tbl>
          </a:graphicData>
        </a:graphic>
      </p:graphicFrame>
      <p:sp>
        <p:nvSpPr>
          <p:cNvPr id="11" name="TextBox 1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560.0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59936"/>
          </a:xfrm>
          <a:prstGeom prst="rect">
            <a:avLst/>
          </a:prstGeom>
          <a:noFill/>
          <a:ln>
            <a:noFill/>
          </a:ln>
        </p:spPr>
      </p:pic>
      <p:pic>
        <p:nvPicPr>
          <p:cNvPr id="3" name="Imagen 2">
            <a:extLst>
              <a:ext uri="{FF2B5EF4-FFF2-40B4-BE49-F238E27FC236}">
                <a16:creationId xmlns:a16="http://schemas.microsoft.com/office/drawing/2014/main" id="{493BD56D-50F4-B7CD-7D1A-69F0C3A8C29E}"/>
              </a:ext>
            </a:extLst>
          </p:cNvPr>
          <p:cNvPicPr>
            <a:picLocks noChangeAspect="1"/>
          </p:cNvPicPr>
          <p:nvPr/>
        </p:nvPicPr>
        <p:blipFill>
          <a:blip r:embed="rId5"/>
          <a:stretch>
            <a:fillRect/>
          </a:stretch>
        </p:blipFill>
        <p:spPr>
          <a:xfrm>
            <a:off x="3130" y="1658241"/>
            <a:ext cx="1671873" cy="2883901"/>
          </a:xfrm>
          <a:prstGeom prst="rect">
            <a:avLst/>
          </a:prstGeom>
        </p:spPr>
      </p:pic>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9" name="Table 8"/>
          <p:cNvGraphicFramePr>
            <a:graphicFrameLocks noGrp="1"/>
          </p:cNvGraphicFramePr>
          <p:nvPr/>
        </p:nvGraphicFramePr>
        <p:xfrm>
          <a:off x="1785600" y="1584000"/>
          <a:ext cx="5396400" cy="2267991"/>
        </p:xfrm>
        <a:graphic>
          <a:graphicData uri="http://schemas.openxmlformats.org/drawingml/2006/table">
            <a:tbl>
              <a:tblPr firstRow="1" bandRow="1">
                <a:tableStyleId>{5C22544A-7EE6-4342-B048-85BDC9FD1C3A}</a:tableStyleId>
              </a:tblPr>
              <a:tblGrid>
                <a:gridCol w="4255200"/>
                <a:gridCol w="1141200"/>
              </a:tblGrid>
              <a:tr h="377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77998">
                <a:tc>
                  <a:txBody>
                    <a:bodyPr/>
                    <a:lstStyle/>
                    <a:p>
                      <a:pPr algn="l">
                        <a:lnSpc>
                          <a:spcPct val="100000"/>
                        </a:lnSpc>
                      </a:pPr>
                      <a:r>
                        <a:rPr sz="1000">
                          <a:latin typeface="Montserrat"/>
                        </a:rPr>
                        <a:t>Ampliación y Remodelación UMF 6 San Juan del Río 20 CMF + 8 Enfermería + Urgencias + 4 Especialidades + MFR (13 existentes + 7 nuevos)</a:t>
                      </a:r>
                    </a:p>
                  </a:txBody>
                  <a:tcPr marL="3600" marR="3600" marT="3600" marB="3600">
                    <a:solidFill>
                      <a:srgbClr val="FFFFFF"/>
                    </a:solidFill>
                  </a:tcPr>
                </a:tc>
                <a:tc>
                  <a:txBody>
                    <a:bodyPr/>
                    <a:lstStyle/>
                    <a:p>
                      <a:pPr algn="ctr">
                        <a:lnSpc>
                          <a:spcPct val="100000"/>
                        </a:lnSpc>
                      </a:pPr>
                      <a:r>
                        <a:rPr sz="1000">
                          <a:latin typeface="Montserrat"/>
                        </a:rPr>
                        <a:t>$548.2</a:t>
                      </a:r>
                    </a:p>
                  </a:txBody>
                  <a:tcPr marL="3600" marR="3600" marT="3600" marB="3600">
                    <a:solidFill>
                      <a:srgbClr val="FFFFFF"/>
                    </a:solidFill>
                  </a:tcPr>
                </a:tc>
              </a:tr>
              <a:tr h="377998">
                <a:tc>
                  <a:txBody>
                    <a:bodyPr/>
                    <a:lstStyle/>
                    <a:p>
                      <a:pPr algn="l">
                        <a:lnSpc>
                          <a:spcPct val="100000"/>
                        </a:lnSpc>
                      </a:pPr>
                      <a:r>
                        <a:rPr sz="1000">
                          <a:latin typeface="Montserrat"/>
                        </a:rPr>
                        <a:t>CECI 200 Pedro Escobedo, CECI 150 El Marqués</a:t>
                      </a:r>
                    </a:p>
                  </a:txBody>
                  <a:tcPr marL="3600" marR="3600" marT="3600" marB="3600">
                    <a:solidFill>
                      <a:srgbClr val="D9D9D9"/>
                    </a:solidFill>
                  </a:tcPr>
                </a:tc>
                <a:tc>
                  <a:txBody>
                    <a:bodyPr/>
                    <a:lstStyle/>
                    <a:p>
                      <a:pPr algn="ctr">
                        <a:lnSpc>
                          <a:spcPct val="100000"/>
                        </a:lnSpc>
                      </a:pPr>
                      <a:r>
                        <a:rPr sz="1000">
                          <a:latin typeface="Montserrat"/>
                        </a:rPr>
                        <a:t>$99.1</a:t>
                      </a:r>
                    </a:p>
                  </a:txBody>
                  <a:tcPr marL="3600" marR="3600" marT="3600" marB="3600">
                    <a:solidFill>
                      <a:srgbClr val="D9D9D9"/>
                    </a:solidFill>
                  </a:tcPr>
                </a:tc>
              </a:tr>
              <a:tr h="377998">
                <a:tc>
                  <a:txBody>
                    <a:bodyPr/>
                    <a:lstStyle/>
                    <a:p>
                      <a:pPr algn="l">
                        <a:lnSpc>
                          <a:spcPct val="100000"/>
                        </a:lnSpc>
                      </a:pPr>
                      <a:r>
                        <a:rPr sz="1000">
                          <a:latin typeface="Montserrat"/>
                        </a:rPr>
                        <a:t>Ampliación de las Aulas y Áreas de Enseñanza del Hospital General Regional No. 1, Querétaro</a:t>
                      </a:r>
                    </a:p>
                  </a:txBody>
                  <a:tcPr marL="3600" marR="3600" marT="3600" marB="3600">
                    <a:solidFill>
                      <a:srgbClr val="FFFFFF"/>
                    </a:solidFill>
                  </a:tcPr>
                </a:tc>
                <a:tc>
                  <a:txBody>
                    <a:bodyPr/>
                    <a:lstStyle/>
                    <a:p>
                      <a:pPr algn="ctr">
                        <a:lnSpc>
                          <a:spcPct val="100000"/>
                        </a:lnSpc>
                      </a:pPr>
                      <a:r>
                        <a:rPr sz="1000">
                          <a:latin typeface="Montserrat"/>
                        </a:rPr>
                        <a:t>$27.5</a:t>
                      </a:r>
                    </a:p>
                  </a:txBody>
                  <a:tcPr marL="3600" marR="3600" marT="3600" marB="3600">
                    <a:solidFill>
                      <a:srgbClr val="FFFFFF"/>
                    </a:solidFill>
                  </a:tcPr>
                </a:tc>
              </a:tr>
              <a:tr h="377998">
                <a:tc>
                  <a:txBody>
                    <a:bodyPr/>
                    <a:lstStyle/>
                    <a:p>
                      <a:pPr algn="l">
                        <a:lnSpc>
                          <a:spcPct val="100000"/>
                        </a:lnSpc>
                      </a:pPr>
                      <a:r>
                        <a:rPr sz="1000">
                          <a:latin typeface="Montserrat"/>
                        </a:rPr>
                        <a:t>Construcción de la techumbre de la Cancha de Usos Múltiples de la U.D. Querétaro</a:t>
                      </a:r>
                    </a:p>
                  </a:txBody>
                  <a:tcPr marL="3600" marR="3600" marT="3600" marB="3600">
                    <a:solidFill>
                      <a:srgbClr val="D9D9D9"/>
                    </a:solidFill>
                  </a:tcPr>
                </a:tc>
                <a:tc>
                  <a:txBody>
                    <a:bodyPr/>
                    <a:lstStyle/>
                    <a:p>
                      <a:pPr algn="ctr">
                        <a:lnSpc>
                          <a:spcPct val="100000"/>
                        </a:lnSpc>
                      </a:pPr>
                      <a:r>
                        <a:rPr sz="1000">
                          <a:latin typeface="Montserrat"/>
                        </a:rPr>
                        <a:t>$6.5</a:t>
                      </a:r>
                    </a:p>
                  </a:txBody>
                  <a:tcPr marL="3600" marR="3600" marT="3600" marB="3600">
                    <a:solidFill>
                      <a:srgbClr val="D9D9D9"/>
                    </a:solidFill>
                  </a:tcPr>
                </a:tc>
              </a:tr>
              <a:tr h="37800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$681.3</a:t>
                      </a:r>
                    </a:p>
                  </a:txBody>
                  <a:tcPr marL="3600" marR="3600" marT="3600" marB="3600">
                    <a:solidFill>
                      <a:srgbClr val="9F2241"/>
                    </a:solidFill>
                  </a:tcPr>
                </a:tc>
              </a:tr>
            </a:tbl>
          </a:graphicData>
        </a:graphic>
      </p:graphicFrame>
      <p:graphicFrame>
        <p:nvGraphicFramePr>
          <p:cNvPr id="10" name="Table 9"/>
          <p:cNvGraphicFramePr>
            <a:graphicFrameLocks noGrp="1"/>
          </p:cNvGraphicFramePr>
          <p:nvPr/>
        </p:nvGraphicFramePr>
        <p:xfrm>
          <a:off x="1785600" y="4031991"/>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$70.9</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HGR 1 Querétaro y HGR 2 El Marqués</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$70.9</a:t>
                      </a:r>
                    </a:p>
                  </a:txBody>
                  <a:tcPr marL="3600" marR="3600" marT="3600" marB="3600">
                    <a:solidFill>
                      <a:srgbClr val="9F2241"/>
                    </a:solidFill>
                  </a:tcPr>
                </a:tc>
              </a:tr>
            </a:tbl>
          </a:graphicData>
        </a:graphic>
      </p:graphicFrame>
      <p:graphicFrame>
        <p:nvGraphicFramePr>
          <p:cNvPr id="11" name="Table 10"/>
          <p:cNvGraphicFramePr>
            <a:graphicFrameLocks noGrp="1"/>
          </p:cNvGraphicFramePr>
          <p:nvPr/>
        </p:nvGraphicFramePr>
        <p:xfrm>
          <a:off x="1785600" y="5219987"/>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28 equipos electromecánicos para 10 unidades; 13 equipos para aire acondicionado, 2 lavadoras, 2 secadoras y 11 equipos para casa de máquinas</a:t>
                      </a:r>
                    </a:p>
                  </a:txBody>
                  <a:tcPr marL="3600" marR="3600" marT="3600" marB="3600">
                    <a:solidFill>
                      <a:srgbClr val="FFFFFF"/>
                    </a:solidFill>
                  </a:tcPr>
                </a:tc>
                <a:tc>
                  <a:txBody>
                    <a:bodyPr/>
                    <a:lstStyle/>
                    <a:p>
                      <a:pPr algn="ctr">
                        <a:lnSpc>
                          <a:spcPct val="100000"/>
                        </a:lnSpc>
                      </a:pPr>
                      <a:r>
                        <a:rPr sz="1000">
                          <a:latin typeface="Montserrat"/>
                        </a:rPr>
                        <a:t>$72.7</a:t>
                      </a:r>
                    </a:p>
                  </a:txBody>
                  <a:tcPr marL="3600" marR="3600" marT="3600" marB="3600">
                    <a:solidFill>
                      <a:srgbClr val="FFFFFF"/>
                    </a:solidFill>
                  </a:tcPr>
                </a:tc>
              </a:tr>
            </a:tbl>
          </a:graphicData>
        </a:graphic>
      </p:graphicFrame>
      <p:sp>
        <p:nvSpPr>
          <p:cNvPr id="12" name="TextBox 11"/>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824.9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del Niño Quemado (Por definir)</a:t>
                      </a:r>
                    </a:p>
                  </a:txBody>
                  <a:tcPr>
                    <a:solidFill>
                      <a:srgbClr val="FFFFFF"/>
                    </a:solidFill>
                  </a:tcPr>
                </a:tc>
                <a:tc>
                  <a:txBody>
                    <a:bodyPr/>
                    <a:lstStyle/>
                    <a:p>
                      <a:pPr algn="ctr">
                        <a:defRPr sz="1000">
                          <a:latin typeface="Montserrat"/>
                        </a:defRPr>
                      </a:pPr>
                      <a:r>
                        <a:t>$0.0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5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Pedro Escobedo, El Marqués</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2 Donación</a:t>
                      </a:r>
                    </a:p>
                  </a:txBody>
                  <a:tcPr marL="72000" marR="72000" anchor="ctr">
                    <a:noFill/>
                  </a:tcPr>
                </a:tc>
                <a:tc>
                  <a:txBody>
                    <a:bodyPr/>
                    <a:lstStyle/>
                    <a:p>
                      <a:pPr algn="ctr">
                        <a:defRPr sz="1200" b="0">
                          <a:solidFill>
                            <a:srgbClr val="FFFFFF"/>
                          </a:solidFill>
                          <a:latin typeface="Montserrat"/>
                        </a:defRPr>
                      </a:pPr>
                      <a:r>
                        <a:t>Tequisquiapan, San Juan del Río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12</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12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El Marqués y Pedro Escobedo. En validación o en integración de expediente para donación: 3 en Tequisquiapan y San Juan del Río.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31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30 indirectas</a:t>
                      </a:r>
                    </a:p>
                  </a:txBody>
                  <a:tcPr anchor="ctr">
                    <a:solidFill>
                      <a:srgbClr val="FFFFFF"/>
                    </a:solidFill>
                  </a:tcPr>
                </a:tc>
                <a:tc>
                  <a:txBody>
                    <a:bodyPr/>
                    <a:lstStyle/>
                    <a:p>
                      <a:pPr algn="ctr"/>
                      <a:r>
                        <a:rPr b="1" sz="1000">
                          <a:latin typeface="Montserrat"/>
                        </a:rPr>
                        <a:t>5,719 </a:t>
                      </a:r>
                      <a:r>
                        <a:rPr b="1" sz="1000">
                          <a:latin typeface="Montserrat"/>
                        </a:rPr>
                        <a:t>inscritos</a:t>
                      </a:r>
                    </a:p>
                    <a:p>
                      <a:pPr algn="ctr">
                        <a:defRPr sz="1000">
                          <a:solidFill>
                            <a:srgbClr val="505050"/>
                          </a:solidFill>
                          <a:latin typeface="Montserrat"/>
                        </a:defRPr>
                      </a:pPr>
                      <a:r>
                        <a:t>1,861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1 CECEM</a:t>
                      </a:r>
                    </a:p>
                  </a:txBody>
                  <a:tcPr anchor="ctr" marL="28800" marR="28800" marT="0" marB="0">
                    <a:solidFill>
                      <a:srgbClr val="FFFFFF"/>
                    </a:solidFill>
                  </a:tcPr>
                </a:tc>
                <a:tc>
                  <a:txBody>
                    <a:bodyPr/>
                    <a:lstStyle/>
                    <a:p>
                      <a:pPr algn="ctr">
                        <a:defRPr sz="800">
                          <a:latin typeface="Montserrat"/>
                        </a:defRPr>
                      </a:pPr>
                      <a:r>
                        <a:t>San Pedrito Peñuelas</a:t>
                      </a:r>
                    </a:p>
                  </a:txBody>
                  <a:tcPr anchor="ctr" marL="28800" marR="28800" marT="0" marB="0">
                    <a:solidFill>
                      <a:srgbClr val="FFFFFF"/>
                    </a:solidFill>
                  </a:tcPr>
                </a:tc>
              </a:tr>
              <a:tr h="418319">
                <a:tc>
                  <a:txBody>
                    <a:bodyPr/>
                    <a:lstStyle/>
                    <a:p>
                      <a:pPr algn="ctr">
                        <a:defRPr sz="800" b="1">
                          <a:latin typeface="Montserrat"/>
                        </a:defRPr>
                      </a:pPr>
                      <a:r>
                        <a:t>1 Centro de Seguridad Social</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r h="418319">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Querétaro</a:t>
                      </a:r>
                    </a:p>
                  </a:txBody>
                  <a:tcPr anchor="ctr" marL="28800" marR="28800" marT="0" marB="0">
                    <a:solidFill>
                      <a:srgbClr val="FFFFFF"/>
                    </a:solidFill>
                  </a:tcPr>
                </a:tc>
              </a:tr>
              <a:tr h="418323">
                <a:tc>
                  <a:txBody>
                    <a:bodyPr/>
                    <a:lstStyle/>
                    <a:p>
                      <a:pPr algn="ctr">
                        <a:defRPr sz="800" b="1">
                          <a:latin typeface="Montserrat"/>
                        </a:defRPr>
                      </a:pPr>
                      <a:r>
                        <a:t>1 Unidad Deportiva</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35 Querétaro</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bl>
          </a:graphicData>
        </a:graphic>
      </p:graphicFrame>
      <p:pic>
        <p:nvPicPr>
          <p:cNvPr id="470" name="Picture 469" descr="map_tipo2_22_qro.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31</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Poder Ejecutivo del Estado de Queretaro</a:t>
                      </a:r>
                    </a:p>
                  </a:txBody>
                  <a:tcPr anchor="ctr">
                    <a:solidFill>
                      <a:srgbClr val="FFFFFF"/>
                    </a:solidFill>
                  </a:tcPr>
                </a:tc>
                <a:tc>
                  <a:txBody>
                    <a:bodyPr/>
                    <a:lstStyle/>
                    <a:p>
                      <a:pPr algn="ctr">
                        <a:defRPr sz="850">
                          <a:latin typeface="Montserrat"/>
                        </a:defRPr>
                      </a:pPr>
                      <a:r>
                        <a:t>15,113</a:t>
                      </a:r>
                    </a:p>
                  </a:txBody>
                  <a:tcPr anchor="ctr">
                    <a:solidFill>
                      <a:srgbClr val="FFFFFF"/>
                    </a:solidFill>
                  </a:tcPr>
                </a:tc>
                <a:tc>
                  <a:txBody>
                    <a:bodyPr/>
                    <a:lstStyle/>
                    <a:p>
                      <a:pPr algn="ctr">
                        <a:defRPr sz="850">
                          <a:latin typeface="Montserrat"/>
                        </a:defRPr>
                      </a:pPr>
                      <a:r>
                        <a:t>14,939</a:t>
                      </a:r>
                    </a:p>
                  </a:txBody>
                  <a:tcPr anchor="ctr">
                    <a:solidFill>
                      <a:srgbClr val="FFFFFF"/>
                    </a:solidFill>
                  </a:tcPr>
                </a:tc>
                <a:tc>
                  <a:txBody>
                    <a:bodyPr/>
                    <a:lstStyle/>
                    <a:p>
                      <a:pPr algn="ctr">
                        <a:defRPr sz="850" b="1">
                          <a:solidFill>
                            <a:srgbClr val="691C32"/>
                          </a:solidFill>
                          <a:latin typeface="Montserrat"/>
                        </a:defRPr>
                      </a:pPr>
                      <a:r>
                        <a:t>-1.2%</a:t>
                      </a:r>
                    </a:p>
                  </a:txBody>
                  <a:tcPr anchor="ctr">
                    <a:solidFill>
                      <a:srgbClr val="FFFFFF"/>
                    </a:solidFill>
                  </a:tcPr>
                </a:tc>
                <a:tc>
                  <a:txBody>
                    <a:bodyPr/>
                    <a:lstStyle/>
                    <a:p>
                      <a:pPr algn="ctr">
                        <a:defRPr sz="850">
                          <a:latin typeface="Montserrat"/>
                        </a:defRPr>
                      </a:pPr>
                      <a:r>
                        <a:t>Nueva Wal Mart de México S. de R.L. de C.V.</a:t>
                      </a:r>
                    </a:p>
                  </a:txBody>
                  <a:tcPr anchor="ctr">
                    <a:solidFill>
                      <a:srgbClr val="FFFFFF"/>
                    </a:solidFill>
                  </a:tcPr>
                </a:tc>
                <a:tc>
                  <a:txBody>
                    <a:bodyPr/>
                    <a:lstStyle/>
                    <a:p>
                      <a:pPr algn="ctr">
                        <a:defRPr sz="850">
                          <a:latin typeface="Montserrat"/>
                        </a:defRPr>
                      </a:pPr>
                      <a:r>
                        <a:t>4,807</a:t>
                      </a:r>
                    </a:p>
                  </a:txBody>
                  <a:tcPr anchor="ctr">
                    <a:solidFill>
                      <a:srgbClr val="FFFFFF"/>
                    </a:solidFill>
                  </a:tcPr>
                </a:tc>
                <a:tc>
                  <a:txBody>
                    <a:bodyPr/>
                    <a:lstStyle/>
                    <a:p>
                      <a:pPr algn="ctr">
                        <a:defRPr sz="850">
                          <a:latin typeface="Montserrat"/>
                        </a:defRPr>
                      </a:pPr>
                      <a:r>
                        <a:t>4,794</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9,981</a:t>
                      </a:r>
                    </a:p>
                  </a:txBody>
                  <a:tcPr anchor="ctr">
                    <a:solidFill>
                      <a:srgbClr val="D9D9D9"/>
                    </a:solidFill>
                  </a:tcPr>
                </a:tc>
                <a:tc>
                  <a:txBody>
                    <a:bodyPr/>
                    <a:lstStyle/>
                    <a:p>
                      <a:pPr algn="ctr">
                        <a:defRPr sz="850">
                          <a:latin typeface="Montserrat"/>
                        </a:defRPr>
                      </a:pPr>
                      <a:r>
                        <a:t>10,037</a:t>
                      </a:r>
                    </a:p>
                  </a:txBody>
                  <a:tcPr anchor="ctr">
                    <a:solidFill>
                      <a:srgbClr val="D9D9D9"/>
                    </a:solidFill>
                  </a:tcPr>
                </a:tc>
                <a:tc>
                  <a:txBody>
                    <a:bodyPr/>
                    <a:lstStyle/>
                    <a:p>
                      <a:pPr algn="ctr">
                        <a:defRPr sz="850" b="1">
                          <a:solidFill>
                            <a:srgbClr val="006455"/>
                          </a:solidFill>
                          <a:latin typeface="Montserrat"/>
                        </a:defRPr>
                      </a:pPr>
                      <a:r>
                        <a:t>0.6%</a:t>
                      </a:r>
                    </a:p>
                  </a:txBody>
                  <a:tcPr anchor="ctr">
                    <a:solidFill>
                      <a:srgbClr val="D9D9D9"/>
                    </a:solidFill>
                  </a:tcPr>
                </a:tc>
                <a:tc>
                  <a:txBody>
                    <a:bodyPr/>
                    <a:lstStyle/>
                    <a:p>
                      <a:pPr algn="ctr">
                        <a:defRPr sz="850">
                          <a:latin typeface="Montserrat"/>
                        </a:defRPr>
                      </a:pPr>
                      <a:r>
                        <a:t>Autoliv Steering Wheels México S. de R.L. de C.V.</a:t>
                      </a:r>
                    </a:p>
                  </a:txBody>
                  <a:tcPr anchor="ctr">
                    <a:solidFill>
                      <a:srgbClr val="D9D9D9"/>
                    </a:solidFill>
                  </a:tcPr>
                </a:tc>
                <a:tc>
                  <a:txBody>
                    <a:bodyPr/>
                    <a:lstStyle/>
                    <a:p>
                      <a:pPr algn="ctr">
                        <a:defRPr sz="850">
                          <a:latin typeface="Montserrat"/>
                        </a:defRPr>
                      </a:pPr>
                      <a:r>
                        <a:t>4,784</a:t>
                      </a:r>
                    </a:p>
                  </a:txBody>
                  <a:tcPr anchor="ctr">
                    <a:solidFill>
                      <a:srgbClr val="D9D9D9"/>
                    </a:solidFill>
                  </a:tcPr>
                </a:tc>
                <a:tc>
                  <a:txBody>
                    <a:bodyPr/>
                    <a:lstStyle/>
                    <a:p>
                      <a:pPr algn="ctr">
                        <a:defRPr sz="850">
                          <a:latin typeface="Montserrat"/>
                        </a:defRPr>
                      </a:pPr>
                      <a:r>
                        <a:t>4,751</a:t>
                      </a:r>
                    </a:p>
                  </a:txBody>
                  <a:tcPr anchor="ctr">
                    <a:solidFill>
                      <a:srgbClr val="D9D9D9"/>
                    </a:solidFill>
                  </a:tcPr>
                </a:tc>
                <a:tc>
                  <a:txBody>
                    <a:bodyPr/>
                    <a:lstStyle/>
                    <a:p>
                      <a:pPr algn="ctr">
                        <a:defRPr sz="850" b="1">
                          <a:solidFill>
                            <a:srgbClr val="691C32"/>
                          </a:solidFill>
                          <a:latin typeface="Montserrat"/>
                        </a:defRPr>
                      </a:pPr>
                      <a:r>
                        <a:t>-0.7%</a:t>
                      </a:r>
                    </a:p>
                  </a:txBody>
                  <a:tcPr anchor="ctr">
                    <a:solidFill>
                      <a:srgbClr val="D9D9D9"/>
                    </a:solidFill>
                  </a:tcPr>
                </a:tc>
              </a:tr>
              <a:tr h="490320">
                <a:tc>
                  <a:txBody>
                    <a:bodyPr/>
                    <a:lstStyle/>
                    <a:p>
                      <a:pPr algn="ctr">
                        <a:defRPr sz="850">
                          <a:latin typeface="Montserrat"/>
                        </a:defRPr>
                      </a:pPr>
                      <a:r>
                        <a:t>Municipio de Querétaro</a:t>
                      </a:r>
                    </a:p>
                  </a:txBody>
                  <a:tcPr anchor="ctr">
                    <a:solidFill>
                      <a:srgbClr val="FFFFFF"/>
                    </a:solidFill>
                  </a:tcPr>
                </a:tc>
                <a:tc>
                  <a:txBody>
                    <a:bodyPr/>
                    <a:lstStyle/>
                    <a:p>
                      <a:pPr algn="ctr">
                        <a:defRPr sz="850">
                          <a:latin typeface="Montserrat"/>
                        </a:defRPr>
                      </a:pPr>
                      <a:r>
                        <a:t>5,354</a:t>
                      </a:r>
                    </a:p>
                  </a:txBody>
                  <a:tcPr anchor="ctr">
                    <a:solidFill>
                      <a:srgbClr val="FFFFFF"/>
                    </a:solidFill>
                  </a:tcPr>
                </a:tc>
                <a:tc>
                  <a:txBody>
                    <a:bodyPr/>
                    <a:lstStyle/>
                    <a:p>
                      <a:pPr algn="ctr">
                        <a:defRPr sz="850">
                          <a:latin typeface="Montserrat"/>
                        </a:defRPr>
                      </a:pPr>
                      <a:r>
                        <a:t>5,410</a:t>
                      </a:r>
                    </a:p>
                  </a:txBody>
                  <a:tcPr anchor="ctr">
                    <a:solidFill>
                      <a:srgbClr val="FFFFFF"/>
                    </a:solidFill>
                  </a:tcPr>
                </a:tc>
                <a:tc>
                  <a:txBody>
                    <a:bodyPr/>
                    <a:lstStyle/>
                    <a:p>
                      <a:pPr algn="ctr">
                        <a:defRPr sz="850" b="1">
                          <a:solidFill>
                            <a:srgbClr val="006455"/>
                          </a:solidFill>
                          <a:latin typeface="Montserrat"/>
                        </a:defRPr>
                      </a:pPr>
                      <a:r>
                        <a:t>1.1%</a:t>
                      </a:r>
                    </a:p>
                  </a:txBody>
                  <a:tcPr anchor="ctr">
                    <a:solidFill>
                      <a:srgbClr val="FFFFFF"/>
                    </a:solidFill>
                  </a:tcPr>
                </a:tc>
                <a:tc>
                  <a:txBody>
                    <a:bodyPr/>
                    <a:lstStyle/>
                    <a:p>
                      <a:pPr algn="ctr">
                        <a:defRPr sz="850">
                          <a:latin typeface="Montserrat"/>
                        </a:defRPr>
                      </a:pPr>
                      <a:r>
                        <a:t>Banco Santander México S.A., Institución de Banca Multiple, Grupo Financiero San</a:t>
                      </a:r>
                    </a:p>
                  </a:txBody>
                  <a:tcPr anchor="ctr">
                    <a:solidFill>
                      <a:srgbClr val="FFFFFF"/>
                    </a:solidFill>
                  </a:tcPr>
                </a:tc>
                <a:tc>
                  <a:txBody>
                    <a:bodyPr/>
                    <a:lstStyle/>
                    <a:p>
                      <a:pPr algn="ctr">
                        <a:defRPr sz="850">
                          <a:latin typeface="Montserrat"/>
                        </a:defRPr>
                      </a:pPr>
                      <a:r>
                        <a:t>4,700</a:t>
                      </a:r>
                    </a:p>
                  </a:txBody>
                  <a:tcPr anchor="ctr">
                    <a:solidFill>
                      <a:srgbClr val="FFFFFF"/>
                    </a:solidFill>
                  </a:tcPr>
                </a:tc>
                <a:tc>
                  <a:txBody>
                    <a:bodyPr/>
                    <a:lstStyle/>
                    <a:p>
                      <a:pPr algn="ctr">
                        <a:defRPr sz="850">
                          <a:latin typeface="Montserrat"/>
                        </a:defRPr>
                      </a:pPr>
                      <a:r>
                        <a:t>4,619</a:t>
                      </a:r>
                    </a:p>
                  </a:txBody>
                  <a:tcPr anchor="ctr">
                    <a:solidFill>
                      <a:srgbClr val="FFFFFF"/>
                    </a:solidFill>
                  </a:tcPr>
                </a:tc>
                <a:tc>
                  <a:txBody>
                    <a:bodyPr/>
                    <a:lstStyle/>
                    <a:p>
                      <a:pPr algn="ctr">
                        <a:defRPr sz="850" b="1">
                          <a:solidFill>
                            <a:srgbClr val="691C32"/>
                          </a:solidFill>
                          <a:latin typeface="Montserrat"/>
                        </a:defRPr>
                      </a:pPr>
                      <a:r>
                        <a:t>-1.7%</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-7.43%</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-0.49%</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+1.70%</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+2.92%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+5.29%</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+9.30%</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+9.83%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583,375</a:t>
                      </a:r>
                    </a:p>
                  </a:txBody>
                  <a:tcPr>
                    <a:solidFill>
                      <a:srgbClr val="FFFFFF"/>
                    </a:solidFill>
                  </a:tcPr>
                </a:tc>
                <a:tc>
                  <a:txBody>
                    <a:bodyPr/>
                    <a:lstStyle/>
                    <a:p>
                      <a:pPr algn="ctr">
                        <a:defRPr sz="900">
                          <a:latin typeface="Montserrat"/>
                        </a:defRPr>
                      </a:pPr>
                      <a:r>
                        <a:t>16,174</a:t>
                      </a:r>
                    </a:p>
                  </a:txBody>
                  <a:tcPr>
                    <a:solidFill>
                      <a:srgbClr val="FFFFFF"/>
                    </a:solidFill>
                  </a:tcPr>
                </a:tc>
                <a:tc>
                  <a:txBody>
                    <a:bodyPr/>
                    <a:lstStyle/>
                    <a:p>
                      <a:pPr algn="ctr">
                        <a:defRPr sz="900">
                          <a:latin typeface="Montserrat"/>
                        </a:defRPr>
                      </a:pPr>
                      <a:r>
                        <a:t>115,315</a:t>
                      </a:r>
                    </a:p>
                  </a:txBody>
                  <a:tcPr>
                    <a:solidFill>
                      <a:srgbClr val="FFFFFF"/>
                    </a:solidFill>
                  </a:tcPr>
                </a:tc>
                <a:tc>
                  <a:txBody>
                    <a:bodyPr/>
                    <a:lstStyle/>
                    <a:p>
                      <a:pPr algn="ctr">
                        <a:defRPr sz="900">
                          <a:latin typeface="Montserrat"/>
                        </a:defRPr>
                      </a:pPr>
                      <a:r>
                        <a:t>2,425</a:t>
                      </a:r>
                    </a:p>
                  </a:txBody>
                  <a:tcPr>
                    <a:solidFill>
                      <a:srgbClr val="FFFFFF"/>
                    </a:solidFill>
                  </a:tcPr>
                </a:tc>
                <a:tc>
                  <a:txBody>
                    <a:bodyPr/>
                    <a:lstStyle/>
                    <a:p>
                      <a:pPr algn="ctr">
                        <a:defRPr sz="900">
                          <a:latin typeface="Montserrat"/>
                        </a:defRPr>
                      </a:pPr>
                      <a:r>
                        <a:t>717,289</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594,152</a:t>
                      </a:r>
                    </a:p>
                  </a:txBody>
                  <a:tcPr>
                    <a:solidFill>
                      <a:srgbClr val="D9D9D9"/>
                    </a:solidFill>
                  </a:tcPr>
                </a:tc>
                <a:tc>
                  <a:txBody>
                    <a:bodyPr/>
                    <a:lstStyle/>
                    <a:p>
                      <a:pPr algn="ctr">
                        <a:defRPr sz="900">
                          <a:latin typeface="Montserrat"/>
                        </a:defRPr>
                      </a:pPr>
                      <a:r>
                        <a:t>15,005</a:t>
                      </a:r>
                    </a:p>
                  </a:txBody>
                  <a:tcPr>
                    <a:solidFill>
                      <a:srgbClr val="D9D9D9"/>
                    </a:solidFill>
                  </a:tcPr>
                </a:tc>
                <a:tc>
                  <a:txBody>
                    <a:bodyPr/>
                    <a:lstStyle/>
                    <a:p>
                      <a:pPr algn="ctr">
                        <a:defRPr sz="900">
                          <a:latin typeface="Montserrat"/>
                        </a:defRPr>
                      </a:pPr>
                      <a:r>
                        <a:t>113,662</a:t>
                      </a:r>
                    </a:p>
                  </a:txBody>
                  <a:tcPr>
                    <a:solidFill>
                      <a:srgbClr val="D9D9D9"/>
                    </a:solidFill>
                  </a:tcPr>
                </a:tc>
                <a:tc>
                  <a:txBody>
                    <a:bodyPr/>
                    <a:lstStyle/>
                    <a:p>
                      <a:pPr algn="ctr">
                        <a:defRPr sz="900">
                          <a:latin typeface="Montserrat"/>
                        </a:defRPr>
                      </a:pPr>
                      <a:r>
                        <a:t>1,450</a:t>
                      </a:r>
                    </a:p>
                  </a:txBody>
                  <a:tcPr>
                    <a:solidFill>
                      <a:srgbClr val="D9D9D9"/>
                    </a:solidFill>
                  </a:tcPr>
                </a:tc>
                <a:tc>
                  <a:txBody>
                    <a:bodyPr/>
                    <a:lstStyle/>
                    <a:p>
                      <a:pPr algn="ctr">
                        <a:defRPr sz="900">
                          <a:latin typeface="Montserrat"/>
                        </a:defRPr>
                      </a:pPr>
                      <a:r>
                        <a:t>724,269</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+1.8%</a:t>
                      </a:r>
                    </a:p>
                  </a:txBody>
                  <a:tcPr>
                    <a:solidFill>
                      <a:srgbClr val="FFFFFF"/>
                    </a:solidFill>
                  </a:tcPr>
                </a:tc>
                <a:tc>
                  <a:txBody>
                    <a:bodyPr/>
                    <a:lstStyle/>
                    <a:p>
                      <a:pPr algn="ctr">
                        <a:defRPr sz="900" b="0">
                          <a:solidFill>
                            <a:srgbClr val="691C32"/>
                          </a:solidFill>
                          <a:latin typeface="Montserrat"/>
                        </a:defRPr>
                      </a:pPr>
                      <a:r>
                        <a:t>-7.2%</a:t>
                      </a:r>
                    </a:p>
                  </a:txBody>
                  <a:tcPr>
                    <a:solidFill>
                      <a:srgbClr val="FFFFFF"/>
                    </a:solidFill>
                  </a:tcPr>
                </a:tc>
                <a:tc>
                  <a:txBody>
                    <a:bodyPr/>
                    <a:lstStyle/>
                    <a:p>
                      <a:pPr algn="ctr">
                        <a:defRPr sz="900" b="0">
                          <a:solidFill>
                            <a:srgbClr val="691C32"/>
                          </a:solidFill>
                          <a:latin typeface="Montserrat"/>
                        </a:defRPr>
                      </a:pPr>
                      <a:r>
                        <a:t>-1.4%</a:t>
                      </a:r>
                    </a:p>
                  </a:txBody>
                  <a:tcPr>
                    <a:solidFill>
                      <a:srgbClr val="FFFFFF"/>
                    </a:solidFill>
                  </a:tcPr>
                </a:tc>
                <a:tc>
                  <a:txBody>
                    <a:bodyPr/>
                    <a:lstStyle/>
                    <a:p>
                      <a:pPr algn="ctr">
                        <a:defRPr sz="900" b="0">
                          <a:solidFill>
                            <a:srgbClr val="691C32"/>
                          </a:solidFill>
                          <a:latin typeface="Montserrat"/>
                        </a:defRPr>
                      </a:pPr>
                      <a:r>
                        <a:t>-40.2%</a:t>
                      </a:r>
                    </a:p>
                  </a:txBody>
                  <a:tcPr>
                    <a:solidFill>
                      <a:srgbClr val="FFFFFF"/>
                    </a:solidFill>
                  </a:tcPr>
                </a:tc>
                <a:tc>
                  <a:txBody>
                    <a:bodyPr/>
                    <a:lstStyle/>
                    <a:p>
                      <a:pPr algn="ctr">
                        <a:defRPr sz="900" b="1">
                          <a:solidFill>
                            <a:srgbClr val="006455"/>
                          </a:solidFill>
                          <a:latin typeface="Montserrat"/>
                        </a:defRPr>
                      </a:pPr>
                      <a:r>
                        <a:t>+1.0%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40E98EE-4DF2-1751-AF7E-15529E7A6F40}"/>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$718.49</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$402.99</a:t>
                      </a:r>
                    </a:p>
                  </a:txBody>
                  <a:tcPr anchor="ctr">
                    <a:solidFill>
                      <a:srgbClr val="EEEEEE"/>
                    </a:solidFill>
                  </a:tcPr>
                </a:tc>
                <a:tc>
                  <a:txBody>
                    <a:bodyPr/>
                    <a:lstStyle/>
                    <a:p>
                      <a:pPr algn="ctr">
                        <a:defRPr sz="1100" b="1">
                          <a:latin typeface="Montserrat"/>
                        </a:defRPr>
                      </a:pPr>
                      <a:r>
                        <a:t>$718.49</a:t>
                      </a:r>
                    </a:p>
                  </a:txBody>
                  <a:tcPr anchor="ctr">
                    <a:solidFill>
                      <a:srgbClr val="EEEEEE"/>
                    </a:solidFill>
                  </a:tcPr>
                </a:tc>
                <a:tc>
                  <a:txBody>
                    <a:bodyPr/>
                    <a:lstStyle/>
                    <a:p>
                      <a:pPr algn="ctr">
                        <a:defRPr sz="1100">
                          <a:latin typeface="Montserrat"/>
                        </a:defRPr>
                      </a:pPr>
                      <a:r>
                        <a:t>26.0%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$21,554.7</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051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2">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Tribunal electoral del Estado de Querétaro</a:t>
                      </a:r>
                    </a:p>
                  </a:txBody>
                  <a:tcPr>
                    <a:solidFill>
                      <a:srgbClr val="FFFFFF"/>
                    </a:solidFill>
                  </a:tcPr>
                </a:tc>
                <a:tc>
                  <a:txBody>
                    <a:bodyPr/>
                    <a:lstStyle/>
                    <a:p>
                      <a:pPr algn="ctr">
                        <a:defRPr sz="900">
                          <a:latin typeface="Montserrat"/>
                        </a:defRPr>
                      </a:pPr>
                      <a:r>
                        <a:t>$0.05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Poder Ejecutivo del Estado de Querétaro</a:t>
                      </a:r>
                    </a:p>
                  </a:txBody>
                  <a:tcPr>
                    <a:solidFill>
                      <a:srgbClr val="EEEEEE"/>
                    </a:solidFill>
                  </a:tcPr>
                </a:tc>
                <a:tc>
                  <a:txBody>
                    <a:bodyPr/>
                    <a:lstStyle/>
                    <a:p>
                      <a:pPr algn="ctr">
                        <a:defRPr sz="900">
                          <a:latin typeface="Montserrat"/>
                        </a:defRPr>
                      </a:pPr>
                      <a:r>
                        <a:t>$0.00</a:t>
                      </a:r>
                    </a:p>
                  </a:txBody>
                  <a:tcPr>
                    <a:solidFill>
                      <a:srgbClr val="EEEEEE"/>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Ssspive Valle de México SC</a:t>
                      </a:r>
                    </a:p>
                  </a:txBody>
                  <a:tcPr>
                    <a:solidFill>
                      <a:srgbClr val="FFFFFF"/>
                    </a:solidFill>
                  </a:tcPr>
                </a:tc>
                <a:tc>
                  <a:txBody>
                    <a:bodyPr/>
                    <a:lstStyle/>
                    <a:p>
                      <a:pPr algn="ctr">
                        <a:defRPr sz="900">
                          <a:latin typeface="Montserrat"/>
                        </a:defRPr>
                      </a:pPr>
                      <a:r>
                        <a:t>$15.97</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Human Kind SA de CV</a:t>
                      </a:r>
                    </a:p>
                  </a:txBody>
                  <a:tcPr>
                    <a:solidFill>
                      <a:srgbClr val="EEEEEE"/>
                    </a:solidFill>
                  </a:tcPr>
                </a:tc>
                <a:tc>
                  <a:txBody>
                    <a:bodyPr/>
                    <a:lstStyle/>
                    <a:p>
                      <a:pPr algn="ctr">
                        <a:defRPr sz="900">
                          <a:latin typeface="Montserrat"/>
                        </a:defRPr>
                      </a:pPr>
                      <a:r>
                        <a:t>$14.26</a:t>
                      </a:r>
                    </a:p>
                  </a:txBody>
                  <a:tcPr>
                    <a:solidFill>
                      <a:srgbClr val="EEEEEE"/>
                    </a:solidFill>
                  </a:tcPr>
                </a:tc>
              </a:tr>
              <a:tr h="288000">
                <a:tc vMerge="1">
                  <a:txBody>
                    <a:bodyPr/>
                    <a:lstStyle/>
                    <a:p/>
                  </a:txBody>
                  <a:tcPr>
                    <a:solidFill>
                      <a:srgbClr val="006455"/>
                    </a:solidFill>
                  </a:tcPr>
                </a:tc>
                <a:tc>
                  <a:txBody>
                    <a:bodyPr/>
                    <a:lstStyle/>
                    <a:p>
                      <a:pPr algn="ctr">
                        <a:defRPr sz="900">
                          <a:latin typeface="Montserrat"/>
                        </a:defRPr>
                      </a:pPr>
                      <a:r>
                        <a:t>Bon Appetit CT S de RL de CV</a:t>
                      </a:r>
                    </a:p>
                  </a:txBody>
                  <a:tcPr>
                    <a:solidFill>
                      <a:srgbClr val="FFFFFF"/>
                    </a:solidFill>
                  </a:tcPr>
                </a:tc>
                <a:tc>
                  <a:txBody>
                    <a:bodyPr/>
                    <a:lstStyle/>
                    <a:p>
                      <a:pPr algn="ctr">
                        <a:defRPr sz="900">
                          <a:latin typeface="Montserrat"/>
                        </a:defRPr>
                      </a:pPr>
                      <a:r>
                        <a:t>$13.28</a:t>
                      </a:r>
                    </a:p>
                  </a:txBody>
                  <a:tcPr>
                    <a:solidFill>
                      <a:srgbClr val="FFFFFF"/>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26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349596"/>
            <a:ext cx="6840000" cy="360000"/>
          </a:xfrm>
          <a:prstGeom prst="rect">
            <a:avLst/>
          </a:prstGeom>
          <a:noFill/>
        </p:spPr>
        <p:txBody>
          <a:bodyPr wrap="none" anchor="ctr">
            <a:spAutoFit/>
          </a:bodyPr>
          <a:lstStyle/>
          <a:p>
            <a:pPr algn="l">
              <a:defRPr sz="2000" b="1">
                <a:solidFill>
                  <a:srgbClr val="BC955C"/>
                </a:solidFill>
                <a:latin typeface="Montserrat"/>
              </a:defRPr>
            </a:pPr>
            <a:r>
              <a:t>168 especialistas (sustitutos)</a:t>
            </a:r>
          </a:p>
        </p:txBody>
      </p:sp>
      <p:cxnSp>
        <p:nvCxnSpPr>
          <p:cNvPr id="14" name="Connector 13"/>
          <p:cNvCxnSpPr/>
          <p:nvPr/>
        </p:nvCxnSpPr>
        <p:spPr>
          <a:xfrm>
            <a:off x="360000" y="574559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360000" y="5817596"/>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16" name="Table 15"/>
          <p:cNvGraphicFramePr>
            <a:graphicFrameLocks noGrp="1"/>
          </p:cNvGraphicFramePr>
          <p:nvPr/>
        </p:nvGraphicFramePr>
        <p:xfrm>
          <a:off x="3960000" y="5817596"/>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168</a:t>
                      </a:r>
                    </a:p>
                  </a:txBody>
                  <a:tcPr>
                    <a:solidFill>
                      <a:srgbClr val="D3E9E7"/>
                    </a:solidFill>
                  </a:tcPr>
                </a:tc>
              </a:tr>
            </a:tbl>
          </a:graphicData>
        </a:graphic>
      </p:graphicFrame>
      <p:sp>
        <p:nvSpPr>
          <p:cNvPr id="17" name="TextBox 16"/>
          <p:cNvSpPr txBox="1"/>
          <p:nvPr/>
        </p:nvSpPr>
        <p:spPr>
          <a:xfrm>
            <a:off x="270000" y="10893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381</TotalTime>
  <Words>342</Words>
  <Application>Microsoft Office PowerPoint</Application>
  <PresentationFormat>Personalizado</PresentationFormat>
  <Paragraphs>80</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101</cp:revision>
  <dcterms:modified xsi:type="dcterms:W3CDTF">2026-05-12T23:36:06Z</dcterms:modified>
</cp:coreProperties>
</file>