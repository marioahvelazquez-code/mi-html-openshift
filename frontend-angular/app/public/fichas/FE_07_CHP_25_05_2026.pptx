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30"/>
  </p:notesMasterIdLst>
  <p:sldIdLst>
    <p:sldId id="256" r:id="rId5"/>
    <p:sldId id="289" r:id="rId6"/>
    <p:sldId id="258" r:id="rId7"/>
    <p:sldId id="259" r:id="rId8"/>
    <p:sldId id="260" r:id="rId9"/>
    <p:sldId id="300" r:id="rId46"/>
    <p:sldId id="261" r:id="rId10"/>
    <p:sldId id="287" r:id="rId11"/>
    <p:sldId id="262" r:id="rId12"/>
    <p:sldId id="263" r:id="rId13"/>
    <p:sldId id="280" r:id="rId14"/>
    <p:sldId id="267" r:id="rId15"/>
    <p:sldId id="298" r:id="rId16"/>
    <p:sldId id="301" r:id="rId47"/>
    <p:sldId id="302" r:id="rId48"/>
    <p:sldId id="303" r:id="rId49"/>
    <p:sldId id="304" r:id="rId50"/>
    <p:sldId id="305" r:id="rId51"/>
    <p:sldId id="281" r:id="rId17"/>
    <p:sldId id="306" r:id="rId45"/>
    <p:sldId id="288" r:id="rId18"/>
    <p:sldId id="270" r:id="rId19"/>
    <p:sldId id="271" r:id="rId20"/>
    <p:sldId id="272" r:id="rId21"/>
    <p:sldId id="299" r:id="rId22"/>
    <p:sldId id="297" r:id="rId23"/>
    <p:sldId id="284" r:id="rId24"/>
    <p:sldId id="290" r:id="rId25"/>
    <p:sldId id="277" r:id="rId26"/>
    <p:sldId id="278" r:id="rId27"/>
    <p:sldId id="279" r:id="rId28"/>
    <p:sldId id="282" r:id="rId29"/>
  </p:sldIdLst>
  <p:sldSz cx="7772400" cy="10058400"/>
  <p:notesSz cx="6858000" cy="9144000"/>
  <p:embeddedFontLst>
    <p:embeddedFont>
      <p:font typeface="Montserrat" panose="00000500000000000000" pitchFamily="2" charset="0"/>
      <p:regular r:id="rId31"/>
      <p:bold r:id="rId32"/>
      <p:italic r:id="rId33"/>
      <p:boldItalic r:id="rId34"/>
    </p:embeddedFont>
    <p:embeddedFont>
      <p:font typeface="Noto Sans" panose="020B0502040504020204" pitchFamily="34" charset="0"/>
      <p:regular r:id="rId35"/>
      <p:bold r:id="rId36"/>
      <p:italic r:id="rId37"/>
      <p:boldItalic r:id="rId3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28F3B2-D3D0-E5B3-C8FD-420E1F43D035}" v="137" dt="2026-05-12T22:19:03.999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02" autoAdjust="0"/>
    <p:restoredTop sz="94759"/>
  </p:normalViewPr>
  <p:slideViewPr>
    <p:cSldViewPr snapToGrid="0">
      <p:cViewPr varScale="1">
        <p:scale>
          <a:sx n="78" d="100"/>
          <a:sy n="78" d="100"/>
        </p:scale>
        <p:origin x="3088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notesMaster" Target="notesMasters/notesMaster1.xml"/><Relationship Id="rId31" Type="http://schemas.openxmlformats.org/officeDocument/2006/relationships/font" Target="fonts/font1.fntdata"/><Relationship Id="rId32" Type="http://schemas.openxmlformats.org/officeDocument/2006/relationships/font" Target="fonts/font2.fntdata"/><Relationship Id="rId33" Type="http://schemas.openxmlformats.org/officeDocument/2006/relationships/font" Target="fonts/font3.fntdata"/><Relationship Id="rId34" Type="http://schemas.openxmlformats.org/officeDocument/2006/relationships/font" Target="fonts/font4.fntdata"/><Relationship Id="rId35" Type="http://schemas.openxmlformats.org/officeDocument/2006/relationships/font" Target="fonts/font5.fntdata"/><Relationship Id="rId36" Type="http://schemas.openxmlformats.org/officeDocument/2006/relationships/font" Target="fonts/font6.fntdata"/><Relationship Id="rId37" Type="http://schemas.openxmlformats.org/officeDocument/2006/relationships/font" Target="fonts/font7.fntdata"/><Relationship Id="rId38" Type="http://schemas.openxmlformats.org/officeDocument/2006/relationships/font" Target="fonts/font8.fntdata"/><Relationship Id="rId45" Type="http://schemas.openxmlformats.org/officeDocument/2006/relationships/slide" Target="slides/slide32.xml"/><Relationship Id="rId46" Type="http://schemas.openxmlformats.org/officeDocument/2006/relationships/slide" Target="slides/slide26.xml"/><Relationship Id="rId47" Type="http://schemas.openxmlformats.org/officeDocument/2006/relationships/slide" Target="slides/slide27.xml"/><Relationship Id="rId48" Type="http://schemas.openxmlformats.org/officeDocument/2006/relationships/slide" Target="slides/slide28.xml"/><Relationship Id="rId49" Type="http://schemas.openxmlformats.org/officeDocument/2006/relationships/slide" Target="slides/slide29.xml"/><Relationship Id="rId50" Type="http://schemas.openxmlformats.org/officeDocument/2006/relationships/slide" Target="slides/slide30.xml"/><Relationship Id="rId51" Type="http://schemas.openxmlformats.org/officeDocument/2006/relationships/slide" Target="slides/slide31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1:32.865" v="0"/>
      <pc:docMkLst>
        <pc:docMk/>
      </pc:docMkLst>
      <pc:sldChg chg="add">
        <pc:chgData name="Carlos Esponda Rosales" userId="08a2b2cc-6d12-4dea-90fe-c484bece8186" providerId="ADAL" clId="{6846A1DD-3EC1-5A12-B3C5-9C410579EE4F}" dt="2026-05-08T17:31:32.865" v="0"/>
        <pc:sldMkLst>
          <pc:docMk/>
          <pc:sldMk cId="940563321" sldId="299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7:06:05.268" v="6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04:20.743" v="55" actId="25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04:20.743" v="55" actId="255"/>
          <ac:spMkLst>
            <pc:docMk/>
            <pc:sldMk cId="0" sldId="260"/>
            <ac:spMk id="7" creationId="{E6F0CB79-1082-5D89-CF5A-6D65910CD3AF}"/>
          </ac:spMkLst>
        </pc:spChg>
        <pc:graphicFrameChg chg="add mod modGraphic">
          <ac:chgData name="Edgar Rosales Ortega" userId="d1d54fc2-1570-4978-babc-e22e1526833f" providerId="ADAL" clId="{66BE7C30-C669-4152-AC74-10076FC0590C}" dt="2026-04-30T23:03:52.330" v="42" actId="1076"/>
          <ac:graphicFrameMkLst>
            <pc:docMk/>
            <pc:sldMk cId="0" sldId="260"/>
            <ac:graphicFrameMk id="5" creationId="{6DC9DD6A-2936-288C-E063-2CADEE427F9A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04:10.854" v="54" actId="1037"/>
          <ac:picMkLst>
            <pc:docMk/>
            <pc:sldMk cId="0" sldId="260"/>
            <ac:picMk id="6" creationId="{5C14B75E-987D-5262-C18F-72D37892A4DF}"/>
          </ac:picMkLst>
        </pc:picChg>
      </pc:sldChg>
      <pc:sldChg chg="delSp mod">
        <pc:chgData name="Edgar Rosales Ortega" userId="d1d54fc2-1570-4978-babc-e22e1526833f" providerId="ADAL" clId="{66BE7C30-C669-4152-AC74-10076FC0590C}" dt="2026-05-07T17:05:30.393" v="58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7:05:32.349" v="59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5:26.021" v="36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06:50.230" v="2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7:05:41.307" v="60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7:05:41.307" v="60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51:57.370" v="57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4:35.180" v="37" actId="1076"/>
          <ac:spMkLst>
            <pc:docMk/>
            <pc:sldMk cId="0" sldId="279"/>
            <ac:spMk id="2" creationId="{88110417-5E73-93FD-85C4-2FAF8829EDB0}"/>
          </ac:spMkLst>
        </pc:spChg>
        <pc:spChg chg="mod">
          <ac:chgData name="Edgar Rosales Ortega" userId="d1d54fc2-1570-4978-babc-e22e1526833f" providerId="ADAL" clId="{66BE7C30-C669-4152-AC74-10076FC0590C}" dt="2026-05-05T17:51:57.370" v="57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5:21.968" v="34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06:55.216" v="26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1:39.306" v="56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7:06:05.268" v="6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7:06:05.268" v="6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5:15.047" v="32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06:58.970" v="27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7:05:47.512" v="6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7:05:47.512" v="61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9D28F3B2-D3D0-E5B3-C8FD-420E1F43D035}"/>
    <pc:docChg chg="modSld">
      <pc:chgData name="Gerardo Jahir Lara Garcia" userId="S::gerardo.larag@imss.gob.mx::84d5cd65-4601-4e92-b448-a9da4809e012" providerId="AD" clId="Web-{9D28F3B2-D3D0-E5B3-C8FD-420E1F43D035}" dt="2026-05-12T22:19:03.999" v="77" actId="1076"/>
      <pc:docMkLst>
        <pc:docMk/>
      </pc:docMkLst>
      <pc:sldChg chg="addSp delSp modSp">
        <pc:chgData name="Gerardo Jahir Lara Garcia" userId="S::gerardo.larag@imss.gob.mx::84d5cd65-4601-4e92-b448-a9da4809e012" providerId="AD" clId="Web-{9D28F3B2-D3D0-E5B3-C8FD-420E1F43D035}" dt="2026-05-12T22:19:03.999" v="77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9D28F3B2-D3D0-E5B3-C8FD-420E1F43D035}" dt="2026-05-12T22:12:36.588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9:03.983" v="76" actId="1076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8:33.904" v="53" actId="1076"/>
          <ac:spMkLst>
            <pc:docMk/>
            <pc:sldMk cId="364733940" sldId="284"/>
            <ac:spMk id="9" creationId="{907F7F6F-8FF8-56A0-795F-B2A127C97D4D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7:06.442" v="24"/>
          <ac:spMkLst>
            <pc:docMk/>
            <pc:sldMk cId="364733940" sldId="284"/>
            <ac:spMk id="11" creationId="{2C157DF6-A7FD-940D-19DA-323ACD68454D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9:03.999" v="77" actId="1076"/>
          <ac:spMkLst>
            <pc:docMk/>
            <pc:sldMk cId="364733940" sldId="284"/>
            <ac:spMk id="12" creationId="{4E8B9161-4F95-C649-5C51-B3F923D5B3F1}"/>
          </ac:spMkLst>
        </pc:spChg>
        <pc:picChg chg="add mod">
          <ac:chgData name="Gerardo Jahir Lara Garcia" userId="S::gerardo.larag@imss.gob.mx::84d5cd65-4601-4e92-b448-a9da4809e012" providerId="AD" clId="Web-{9D28F3B2-D3D0-E5B3-C8FD-420E1F43D035}" dt="2026-05-12T22:19:03.983" v="75" actId="1076"/>
          <ac:picMkLst>
            <pc:docMk/>
            <pc:sldMk cId="364733940" sldId="284"/>
            <ac:picMk id="4" creationId="{488C755F-8E2D-8CE1-6C1B-6DBB55EE2CD3}"/>
          </ac:picMkLst>
        </pc:picChg>
        <pc:picChg chg="add mod">
          <ac:chgData name="Gerardo Jahir Lara Garcia" userId="S::gerardo.larag@imss.gob.mx::84d5cd65-4601-4e92-b448-a9da4809e012" providerId="AD" clId="Web-{9D28F3B2-D3D0-E5B3-C8FD-420E1F43D035}" dt="2026-05-12T22:18:33.904" v="52" actId="1076"/>
          <ac:picMkLst>
            <pc:docMk/>
            <pc:sldMk cId="364733940" sldId="284"/>
            <ac:picMk id="8" creationId="{4F2E1097-3694-6090-CBA5-667DCD67E48E}"/>
          </ac:picMkLst>
        </pc:picChg>
        <pc:picChg chg="add del">
          <ac:chgData name="Gerardo Jahir Lara Garcia" userId="S::gerardo.larag@imss.gob.mx::84d5cd65-4601-4e92-b448-a9da4809e012" providerId="AD" clId="Web-{9D28F3B2-D3D0-E5B3-C8FD-420E1F43D035}" dt="2026-05-12T22:17:06.442" v="25"/>
          <ac:picMkLst>
            <pc:docMk/>
            <pc:sldMk cId="364733940" sldId="284"/>
            <ac:picMk id="10" creationId="{CA24C0E7-282C-9B96-A7B5-7554B2C6EF8D}"/>
          </ac:picMkLst>
        </pc:picChg>
      </pc:sldChg>
      <pc:sldChg chg="addSp delSp modSp">
        <pc:chgData name="Gerardo Jahir Lara Garcia" userId="S::gerardo.larag@imss.gob.mx::84d5cd65-4601-4e92-b448-a9da4809e012" providerId="AD" clId="Web-{9D28F3B2-D3D0-E5B3-C8FD-420E1F43D035}" dt="2026-05-12T22:16:07.486" v="23"/>
        <pc:sldMkLst>
          <pc:docMk/>
          <pc:sldMk cId="3240565764" sldId="297"/>
        </pc:sldMkLst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3" creationId="{21AE8FA6-CA77-F761-93C9-BF2570CBBE30}"/>
          </ac:spMkLst>
        </pc:spChg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7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5:50.595" v="20" actId="20577"/>
          <ac:spMkLst>
            <pc:docMk/>
            <pc:sldMk cId="3240565764" sldId="297"/>
            <ac:spMk id="9" creationId="{50F1217E-09B0-81A3-6E99-CB1DE729ADDF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6:07.486" v="23"/>
          <ac:spMkLst>
            <pc:docMk/>
            <pc:sldMk cId="3240565764" sldId="297"/>
            <ac:spMk id="10" creationId="{991C7EE4-1170-AC4C-597D-3383D8E8A8F9}"/>
          </ac:spMkLst>
        </pc:spChg>
        <pc:spChg chg="add del">
          <ac:chgData name="Gerardo Jahir Lara Garcia" userId="S::gerardo.larag@imss.gob.mx::84d5cd65-4601-4e92-b448-a9da4809e012" providerId="AD" clId="Web-{9D28F3B2-D3D0-E5B3-C8FD-420E1F43D035}" dt="2026-05-12T22:16:07.486" v="21"/>
          <ac:spMkLst>
            <pc:docMk/>
            <pc:sldMk cId="3240565764" sldId="297"/>
            <ac:spMk id="12" creationId="{CA535D92-E281-11D7-D7CB-F8BAB9F176B8}"/>
          </ac:spMkLst>
        </pc:spChg>
        <pc:spChg chg="add">
          <ac:chgData name="Gerardo Jahir Lara Garcia" userId="S::gerardo.larag@imss.gob.mx::84d5cd65-4601-4e92-b448-a9da4809e012" providerId="AD" clId="Web-{9D28F3B2-D3D0-E5B3-C8FD-420E1F43D035}" dt="2026-05-12T22:12:24.041" v="0"/>
          <ac:spMkLst>
            <pc:docMk/>
            <pc:sldMk cId="3240565764" sldId="297"/>
            <ac:spMk id="13" creationId="{B9C2E918-974F-A566-8C8B-5DDE4ED4290B}"/>
          </ac:spMkLst>
        </pc:spChg>
        <pc:spChg chg="add mod">
          <ac:chgData name="Gerardo Jahir Lara Garcia" userId="S::gerardo.larag@imss.gob.mx::84d5cd65-4601-4e92-b448-a9da4809e012" providerId="AD" clId="Web-{9D28F3B2-D3D0-E5B3-C8FD-420E1F43D035}" dt="2026-05-12T22:15:31.157" v="17" actId="20577"/>
          <ac:spMkLst>
            <pc:docMk/>
            <pc:sldMk cId="3240565764" sldId="297"/>
            <ac:spMk id="15" creationId="{A0083CC0-370A-999A-F425-0B0E05DEB5CF}"/>
          </ac:spMkLst>
        </pc:spChg>
        <pc:picChg chg="add">
          <ac:chgData name="Gerardo Jahir Lara Garcia" userId="S::gerardo.larag@imss.gob.mx::84d5cd65-4601-4e92-b448-a9da4809e012" providerId="AD" clId="Web-{9D28F3B2-D3D0-E5B3-C8FD-420E1F43D035}" dt="2026-05-12T22:12:24.041" v="0"/>
          <ac:picMkLst>
            <pc:docMk/>
            <pc:sldMk cId="3240565764" sldId="297"/>
            <ac:picMk id="8" creationId="{170CBE01-E044-2F44-556A-69D0B561DC01}"/>
          </ac:picMkLst>
        </pc:picChg>
        <pc:picChg chg="add del">
          <ac:chgData name="Gerardo Jahir Lara Garcia" userId="S::gerardo.larag@imss.gob.mx::84d5cd65-4601-4e92-b448-a9da4809e012" providerId="AD" clId="Web-{9D28F3B2-D3D0-E5B3-C8FD-420E1F43D035}" dt="2026-05-12T22:16:07.486" v="22"/>
          <ac:picMkLst>
            <pc:docMk/>
            <pc:sldMk cId="3240565764" sldId="297"/>
            <ac:picMk id="11" creationId="{F7B31A16-FD1A-331A-6F76-259EB810FD76}"/>
          </ac:picMkLst>
        </pc:picChg>
        <pc:picChg chg="add">
          <ac:chgData name="Gerardo Jahir Lara Garcia" userId="S::gerardo.larag@imss.gob.mx::84d5cd65-4601-4e92-b448-a9da4809e012" providerId="AD" clId="Web-{9D28F3B2-D3D0-E5B3-C8FD-420E1F43D035}" dt="2026-05-12T22:12:24.041" v="0"/>
          <ac:picMkLst>
            <pc:docMk/>
            <pc:sldMk cId="3240565764" sldId="297"/>
            <ac:picMk id="14" creationId="{C365C7D6-999E-5396-FE1A-9AF265B06DAC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549ECF"/>
              </a:solidFill>
            </c:spPr>
          </c:dPt>
          <c:dPt>
            <c:idx val="2"/>
            <c:spPr>
              <a:solidFill>
                <a:srgbClr val="691C32"/>
              </a:solidFill>
            </c:spPr>
          </c:dPt>
          <c:dPt>
            <c:idx val="3"/>
            <c:spPr>
              <a:solidFill>
                <a:srgbClr val="BC955C"/>
              </a:solidFill>
            </c:spPr>
          </c:dPt>
          <c:dPt>
            <c:idx val="4"/>
            <c:spPr>
              <a:solidFill>
                <a:srgbClr val="9E9E9E"/>
              </a:solidFill>
            </c:spPr>
          </c:dPt>
          <c:cat>
            <c:strRef>
              <c:f>Sheet1!$A$2:$A$6</c:f>
              <c:strCache>
                <c:ptCount val="5"/>
                <c:pt idx="0">
                  <c:v>IMSS</c:v>
                </c:pt>
                <c:pt idx="1">
                  <c:v>IMSS Coplamar</c:v>
                </c:pt>
                <c:pt idx="2">
                  <c:v>ISSSTE</c:v>
                </c:pt>
                <c:pt idx="3">
                  <c:v>IMSS-BIENESTAR</c:v>
                </c:pt>
                <c:pt idx="4">
                  <c:v>Otros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1062345.0</c:v>
                </c:pt>
                <c:pt idx="1">
                  <c:v>1952597.0</c:v>
                </c:pt>
                <c:pt idx="2">
                  <c:v>494805.0</c:v>
                </c:pt>
                <c:pt idx="3">
                  <c:v>2640079.0</c:v>
                </c:pt>
                <c:pt idx="4">
                  <c:v>35643.0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30.717484874147672</c:v>
                </c:pt>
                <c:pt idx="1">
                  <c:v>69.28251512585233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6.357292981800001</c:v>
                </c:pt>
                <c:pt idx="1">
                  <c:v>93.6427070182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24.178852932411186</c:v>
                </c:pt>
                <c:pt idx="1">
                  <c:v>75.82114706758881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27.391742195367573</c:v>
                </c:pt>
                <c:pt idx="1">
                  <c:v>72.60825780463243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38</c:v>
                </c:pt>
                <c:pt idx="1">
                  <c:v>102</c:v>
                </c:pt>
                <c:pt idx="2">
                  <c:v>116</c:v>
                </c:pt>
                <c:pt idx="3">
                  <c:v>103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21771</c:v>
                </c:pt>
                <c:pt idx="1">
                  <c:v>40363</c:v>
                </c:pt>
                <c:pt idx="2">
                  <c:v>1095</c:v>
                </c:pt>
                <c:pt idx="3">
                  <c:v>17384</c:v>
                </c:pt>
                <c:pt idx="4">
                  <c:v>3243</c:v>
                </c:pt>
                <c:pt idx="5">
                  <c:v>29603</c:v>
                </c:pt>
                <c:pt idx="6">
                  <c:v>76739</c:v>
                </c:pt>
                <c:pt idx="7">
                  <c:v>62040</c:v>
                </c:pt>
                <c:pt idx="8">
                  <c:v>8775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 de la Construcción</c:v>
                </c:pt>
                <c:pt idx="1">
                  <c:v>Servicios para Empresas, Personas y el Hogar</c:v>
                </c:pt>
                <c:pt idx="2">
                  <c:v>Industrias Extractivas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Industrias de la Transformación</c:v>
                </c:pt>
                <c:pt idx="6">
                  <c:v>Comercio</c:v>
                </c:pt>
                <c:pt idx="7">
                  <c:v>Servicios Sociales y Comunales</c:v>
                </c:pt>
                <c:pt idx="8">
                  <c:v>Transportes y Comunicaciones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18864</c:v>
                </c:pt>
                <c:pt idx="1">
                  <c:v>38848</c:v>
                </c:pt>
                <c:pt idx="2">
                  <c:v>1065</c:v>
                </c:pt>
                <c:pt idx="3">
                  <c:v>17029</c:v>
                </c:pt>
                <c:pt idx="4">
                  <c:v>3229</c:v>
                </c:pt>
                <c:pt idx="5">
                  <c:v>29618</c:v>
                </c:pt>
                <c:pt idx="6">
                  <c:v>76993</c:v>
                </c:pt>
                <c:pt idx="7">
                  <c:v>64633</c:v>
                </c:pt>
                <c:pt idx="8">
                  <c:v>9389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223036</c:v>
                </c:pt>
                <c:pt idx="1">
                  <c:v>222472</c:v>
                </c:pt>
                <c:pt idx="2">
                  <c:v>225177</c:v>
                </c:pt>
                <c:pt idx="3">
                  <c:v>228147</c:v>
                </c:pt>
                <c:pt idx="4">
                  <c:v>237801</c:v>
                </c:pt>
                <c:pt idx="5">
                  <c:v>245920</c:v>
                </c:pt>
                <c:pt idx="6">
                  <c:v>258205</c:v>
                </c:pt>
                <c:pt idx="7">
                  <c:v>261013</c:v>
                </c:pt>
                <c:pt idx="8">
                  <c:v>259668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370e87ffe7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03" name="Google Shape;503;g370e87ffe7a_0_0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04" name="Google Shape;504;g370e87ffe7a_0_0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Relationship Id="rId9" Type="http://schemas.openxmlformats.org/officeDocument/2006/relationships/image" Target="../media/image25.png"/><Relationship Id="rId10" Type="http://schemas.openxmlformats.org/officeDocument/2006/relationships/image" Target="../media/image26.png"/><Relationship Id="rId11" Type="http://schemas.openxmlformats.org/officeDocument/2006/relationships/image" Target="../media/image27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30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4.png"/><Relationship Id="rId5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3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0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Chiapas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7_Chiap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49% de la población (incluye COPLAMAR)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1,062,345</a:t>
            </a:r>
            <a:br/>
            <a:r>
              <a:t>17%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5600" y="24876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1,952,597</a:t>
            </a:r>
            <a:br/>
            <a:r>
              <a:t>32%</a:t>
            </a:r>
          </a:p>
        </p:txBody>
      </p:sp>
      <p:pic>
        <p:nvPicPr>
          <p:cNvPr id="122" name="Picture 121" descr="imss_coplam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04800" y="2523600"/>
            <a:ext cx="586036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5796000" y="2696400"/>
            <a:ext cx="122400" cy="122400"/>
          </a:xfrm>
          <a:prstGeom prst="rect">
            <a:avLst/>
          </a:prstGeom>
          <a:solidFill>
            <a:srgbClr val="539ED0"/>
          </a:solidFill>
          <a:ln>
            <a:solidFill>
              <a:srgbClr val="539E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494,805</a:t>
            </a:r>
            <a:br/>
            <a:r>
              <a:t>8%</a:t>
            </a:r>
          </a:p>
        </p:txBody>
      </p:sp>
      <p:pic>
        <p:nvPicPr>
          <p:cNvPr id="125" name="Picture 124" descr="isss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2,640,079</a:t>
            </a:r>
            <a:br/>
            <a:r>
              <a:t>43%</a:t>
            </a:r>
          </a:p>
        </p:txBody>
      </p:sp>
      <p:pic>
        <p:nvPicPr>
          <p:cNvPr id="128" name="Picture 127" descr="0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35,643</a:t>
            </a:r>
            <a:br/>
            <a:r>
              <a:t>0.58%</a:t>
            </a:r>
          </a:p>
        </p:txBody>
      </p:sp>
      <p:pic>
        <p:nvPicPr>
          <p:cNvPr id="131" name="Picture 130" descr="otros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32" name="Rectangle 131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6,185,469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803,426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1,067,155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33%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480,798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681,804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225,667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259,668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60,556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8,338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203,237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298,877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199,867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297,282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-83%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1,151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322,628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385,351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104,040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123,761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151,689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66,899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106,639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8" name="Table 137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960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826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9" name="Table 138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3,760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5,668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51%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0" name="Table 139"/>
          <p:cNvGraphicFramePr>
            <a:graphicFrameLocks noGrp="1"/>
          </p:cNvGraphicFramePr>
          <p:nvPr/>
        </p:nvGraphicFramePr>
        <p:xfrm>
          <a:off x="5947200" y="8733600"/>
          <a:ext cx="1738800" cy="55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 2026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348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41" name="TextBox 140"/>
          <p:cNvSpPr txBox="1"/>
          <p:nvPr/>
        </p:nvSpPr>
        <p:spPr>
          <a:xfrm>
            <a:off x="136800" y="9536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00">
                <a:solidFill>
                  <a:srgbClr val="FFFFFF"/>
                </a:solidFill>
                <a:latin typeface="Montserrat"/>
              </a:defRPr>
            </a:pPr>
            <a:r>
              <a:t>** PTPD que superaron el umbral de ingreso mínimo neto</a:t>
            </a:r>
          </a:p>
        </p:txBody>
      </p:sp>
      <p:pic>
        <p:nvPicPr>
          <p:cNvPr id="142" name="Picture 141" descr="PTP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080400" y="8161200"/>
            <a:ext cx="1666800" cy="486000"/>
          </a:xfrm>
          <a:prstGeom prst="rect">
            <a:avLst/>
          </a:prstGeom>
        </p:spPr>
      </p:pic>
      <p:sp>
        <p:nvSpPr>
          <p:cNvPr id="143" name="TextBox 14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/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 e IMSS Coplamar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7_chi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972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115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470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356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4536000" y="6854400"/>
          <a:ext cx="3096000" cy="124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6000"/>
                <a:gridCol w="846000"/>
                <a:gridCol w="846000"/>
                <a:gridCol w="558000"/>
              </a:tblGrid>
              <a:tr h="248400"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 anchor="ctr"/>
                </a:tc>
              </a:tr>
              <a:tr h="248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0" marR="0" marT="10800" marB="10800" anchor="ctr">
                    <a:solidFill>
                      <a:srgbClr val="BC955C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563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48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573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603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7" name="Table 136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195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HR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956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8" name="TextBox 137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28 UMF, 1 UMF-UMAA y no incluye 13 Unidades Auxiliares de Medicina Familiar.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110;g3d0b4d3c5c9_3_23">
            <a:extLst>
              <a:ext uri="{FF2B5EF4-FFF2-40B4-BE49-F238E27FC236}">
                <a16:creationId xmlns:a16="http://schemas.microsoft.com/office/drawing/2014/main" id="{6DC9DD6A-2936-288C-E063-2CADEE427F9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8593834"/>
              </p:ext>
            </p:extLst>
          </p:nvPr>
        </p:nvGraphicFramePr>
        <p:xfrm>
          <a:off x="288000" y="1191600"/>
          <a:ext cx="708955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089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914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Hospital de Zona, Tapachula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116;g3d0b4d3c5c9_3_23">
            <a:extLst>
              <a:ext uri="{FF2B5EF4-FFF2-40B4-BE49-F238E27FC236}">
                <a16:creationId xmlns:a16="http://schemas.microsoft.com/office/drawing/2014/main" id="{5C14B75E-987D-5262-C18F-72D37892A4D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0520" y="2124482"/>
            <a:ext cx="2693769" cy="2023721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E6F0CB79-1082-5D89-CF5A-6D65910CD3AF}"/>
              </a:ext>
            </a:extLst>
          </p:cNvPr>
          <p:cNvSpPr txBox="1"/>
          <p:nvPr/>
        </p:nvSpPr>
        <p:spPr>
          <a:xfrm>
            <a:off x="2981769" y="1989874"/>
            <a:ext cx="4601165" cy="25468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21 de mayo de 1956, el HCT autorizó el inició de la prestación de servicios de seguridad social en Chiapas.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27 de septiembre de 1956, en un inmueble del centro de Tapachula, se otorgaron servicios médicos para menos de cinco mil derechohabientes de las fincas cafetaleras de Cacahoatán 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1957 un edificio que había sido un hotel fue adaptado para ofrecer con 12 camas los servicios de consulta externa, hospitalización y cirugía.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8 de abril de 1968, se inauguró el Hospital General de Zona (HGZ) No. 1 consolidando la atención hospitalaria especializada en la región.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chi_0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1959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1972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Noviembre de 1973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2020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Diciembre de 2025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470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Fuente: Cédula de actualización de variables seleccionadas del IFU.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98502248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583D8A8B-59B1-13BC-D85F-42743026C85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C7739D0-971F-FDB6-13CF-63053C1FF784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7AE8B1C-4CF8-6E0D-7226-9E6C11CAA59C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5E5DD89D-D87F-88E6-5CFF-56F387DEFD5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4F6DE39-632F-445F-66E2-A1B5222239DC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2991F226-0222-6105-ACCE-2FA3FC3D943E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1D608396-FCEF-FD07-5FAA-28A30CD9798B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+739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+237,978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+51,605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1,606,986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237,978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515,069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1,603,424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314,000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51,605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117,641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486,545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24.2%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15,333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739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5,440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19,860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26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42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E. Sto. Domingo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6,652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6 F. Chapultepec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3,288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12 Cacahoatan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18,711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5 Cd. Hidalgo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15,225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Mazatán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15,187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Arriaga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40,904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10,700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12,478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S.Cristobal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66,756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9,167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22,062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I. Pujiltic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35,543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3,321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11,647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20 Angostura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14,019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-683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5,001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33 Pijijiapan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5,773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40 Cd. Reforma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26,881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12,392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7,124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41 Mal Paso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5,108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Chicoasén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14,454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3,159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18 Comitan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8,642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21,843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45 Palenque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-5,944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42 Peñitas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7,212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2,611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43 Pichucalco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29,238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12,297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4,978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29 Mapastepec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12,170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886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3,789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34 Villaflores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14,549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26 Escuintha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21,155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8,337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Acapetahua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5,285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2,993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44 Estación Júarez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1,942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Cintalapa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23,309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7,854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27 Frontera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2,210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Tapachula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174,342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43,717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54,545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 Tapachula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177,665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13,999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57,991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175,392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898,981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171,302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281,468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916,312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30.7%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6645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73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30.7%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8265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6645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916,312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uadroTexto 48">
            <a:extLst>
              <a:ext uri="{FF2B5EF4-FFF2-40B4-BE49-F238E27FC236}">
                <a16:creationId xmlns:a16="http://schemas.microsoft.com/office/drawing/2014/main" id="{F679BBF1-D21B-3530-8354-611AE50B8DE0}"/>
              </a:ext>
            </a:extLst>
          </p:cNvPr>
          <p:cNvSpPr txBox="1"/>
          <p:nvPr/>
        </p:nvSpPr>
        <p:spPr>
          <a:xfrm>
            <a:off x="4118089" y="5193655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5 Nuevas UMTC con   10 consultorios</a:t>
            </a:r>
          </a:p>
        </p:txBody>
      </p:sp>
      <p:graphicFrame>
        <p:nvGraphicFramePr>
          <p:cNvPr id="50" name="Tabla 49">
            <a:extLst>
              <a:ext uri="{FF2B5EF4-FFF2-40B4-BE49-F238E27FC236}">
                <a16:creationId xmlns:a16="http://schemas.microsoft.com/office/drawing/2014/main" id="{306C4051-E044-E777-922C-B3F72DE5F5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2733100"/>
              </p:ext>
            </p:extLst>
          </p:nvPr>
        </p:nvGraphicFramePr>
        <p:xfrm>
          <a:off x="4632011" y="6581932"/>
          <a:ext cx="2808830" cy="173545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13360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11 Tapachula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17 San Cristóbal de las Casas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18 Comitán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HGSMF 19 Huixtla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51" name="TextBox 5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29 Unidades de Medicina Familiar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(15 consultorios)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Unidades Auxiliares de Medicina Familiar, ni hospitales que den servicio de medicina familiar</a:t>
            </a:r>
            <a:br/>
            <a:r>
              <a:t>Corte de información: Semana 18, 26 abril 2026</a:t>
            </a:r>
            <a:br/>
            <a:r>
              <a:t>Las consultas de medicina familiar incluyen los hospitales con UMF</a:t>
            </a:r>
            <a:br/>
            <a:r>
              <a:t>No se incluye la productividad de Medicina Familiar de Hospitales, sólo contempla Unidades de primer nivel.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(64,851 consultas)</a:t>
            </a:r>
          </a:p>
        </p:txBody>
      </p:sp>
      <p:graphicFrame>
        <p:nvGraphicFramePr>
          <p:cNvPr id="58" name="Table 57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13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222,590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17,480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69,675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215,000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23 Tuxtla Gutiérrez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239,655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23,325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80,614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25 Tuxtla Gutiérrez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144,642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9,269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49,514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140,000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606,887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50,074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199,803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586,000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34.1%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9" name="Chart 58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60" name="TextBox 59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6%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62594804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</a:t>
            </a:r>
            <a:br/>
            <a:r>
              <a:t>No se contempla la productividad de UMF y/o UMAA, exclusivamente segundo nivel de atención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168,194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45,196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177,390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24,696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98,550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123,875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41,156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179,945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10,808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5,427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11,123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13,140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314,000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51,605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117,641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486,545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24.2%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9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24.2%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8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486,545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51557155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Avance alcanzado respecto a la meta anual establecida.</a:t>
            </a:r>
            <a:br/>
            <a:r>
              <a:t>Corte de información: Semana: 18, 26 abril 2026 </a:t>
            </a:r>
            <a:br/>
            <a:r>
              <a:t>Puede existir diferencias en metas por la metodología de cálculo por los tipos de quirófanos considerados</a:t>
            </a:r>
            <a:br/>
            <a:r>
              <a:t>No se contempla la productividad de UMF y/o UMAA, exclusivamente segundo nivel de atención.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HGRE 13 "XIV de Septiembre"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2,190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19 Huixtla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1 Nueva Frontera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2,404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 2 Tuxtla Gutiérrez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6,828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1,701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7,320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15 Tonala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15,333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739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5,440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19,860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27.4%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27.4%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19,860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235 en Hospitales, 6 en sede, 20 en UMF y 110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/ MF 15 Tonalá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059999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19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059999"/>
          <a:ext cx="3456000" cy="23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0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975998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Calidad de la Atención Clínica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Gastroenterología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Paliativa y del Dolor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Pediátrico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5975998"/>
          <a:ext cx="3456000" cy="129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Neurología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4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598518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Ocozozoautla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Sn Felipe Ecatepec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Mapastepec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Bochil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Venustiano C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Ocosingo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19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Altamirano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Motozintla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Gpe Tepeyac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/ MF 15 Tonalá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Benemérito de las Américas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86BEACC4-E897-1DD4-BF73-5A2BFDAC40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92618952"/>
              </p:ext>
            </p:extLst>
          </p:nvPr>
        </p:nvGraphicFramePr>
        <p:xfrm>
          <a:off x="287050" y="942684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18, 26 abril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1,569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73.6%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463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91.9%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4,258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58.4%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109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87.0%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864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11,684	 Personal de Salud: 5,895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+106.3%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+93.1%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765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1,477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+66.8%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2,197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+67.6%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856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1,435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+252.0%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102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359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+13.5%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328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387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235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1,002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6,450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362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50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78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1,655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551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9,018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(82,251)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(8,545)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(1,037)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(1,871)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(69,668)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(5,564)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(858)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(1,073)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(92)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(19,319)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(4,599)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Los demás tumores benignos
(305)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(825)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(11,794)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(4,242)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(304)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(582)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(10,300)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(4,043)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(271)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(431)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(47)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116,555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867,632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88.2%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121,681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1,091,484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90.0%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D35A2-BB4D-3E11-5937-DE3E8031A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199,394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148,928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148,398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129,645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119,662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118,688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Complejo B, tableta, comprimido o cápsula (vitamínico)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105,455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105,050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103,478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Albendazol, tableta (antiparasitario)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102,889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5633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15617"/>
            <a:ext cx="1599000" cy="771583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5497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198568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12358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4112967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4126757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72874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Hospital </a:t>
            </a:r>
            <a:endParaRPr lang="en-US"/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(1a Etapa)</a:t>
            </a:r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144 camas, Tuxtla Gutiérrez (1a etapa)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$2,920.0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proyecto HGZ 60 camas, Comitán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$2,922.4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2844000"/>
          <a:ext cx="5295600" cy="46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68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$404.2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Tapachula y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$47.8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y mejora de imagen en el HGSMF 15 Tonalá, HGSMF 19 Huixtla y HGZ 2 Tuxtla Gutiérrez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$45.7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2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$36.4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UMF No. 23, Tuxtla Gutiérrez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HGZ No. 2 Tuxtla Gutiérrez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$15.3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7 unidades (HGZ No. 2 UMAA, UMF No.13, UMF No. 23, UMF No. 25 Tuxtla Gutiérrez;UMF No.1, UMF No. 11 Tapachula)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UMAA Tuxtla Gutiérrez y UMF No. 17 San Cristobal de las Casas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68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$598.6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7704000"/>
          <a:ext cx="5295600" cy="7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36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1 pieza de equipo médico: 1 refrigerador congelador de 5.4 pies cúbicos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3,521.1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3189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959" y="3332627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10500" y="3428685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 </a:t>
            </a: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Rural</a:t>
            </a:r>
            <a:endParaRPr lang="en-US"/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078658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2143639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Centro de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</a:rPr>
              <a:t>Mezclas</a:t>
            </a:r>
          </a:p>
        </p:txBody>
      </p:sp>
      <p:sp>
        <p:nvSpPr>
          <p:cNvPr id="12" name="CuadroTexto 9">
            <a:extLst>
              <a:ext uri="{FF2B5EF4-FFF2-40B4-BE49-F238E27FC236}">
                <a16:creationId xmlns:a16="http://schemas.microsoft.com/office/drawing/2014/main" id="{4E8B9161-4F95-C649-5C51-B3F923D5B3F1}"/>
              </a:ext>
            </a:extLst>
          </p:cNvPr>
          <p:cNvSpPr txBox="1"/>
          <p:nvPr/>
        </p:nvSpPr>
        <p:spPr>
          <a:xfrm>
            <a:off x="-1183653" y="30103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Fortalecimiento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Nuevo Centro de Simulación para la Excelencia Clínica y Quirúrgica en Tuxtla Gutiérrez, Chiapas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$149.6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1785600" y="2519997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015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$254.5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Fortalecimiento del HR Bochil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$99.1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2015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Mezclas UMF No. 1 Tapachula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$26.0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2016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$379.6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3707993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31 Equipos electromecánicos para 13 unidades; 9 lavadoras, 8 secadoras, y 14 equipos para aires acondicionados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$221.0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750.2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35774520"/>
              </p:ext>
            </p:extLst>
          </p:nvPr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rtl="0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endParaRPr sz="15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sz="18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" sz="1800" b="1" i="0" u="none" strike="noStrike" cap="none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sz="1800" b="1" i="0" u="none" strike="noStrike" cap="none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de Zona Comitan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$800.0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Hospital General Regional Tuxtla Gutierrez (2a etapa)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$135.0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$935.0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77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45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4139992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935.0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Tapachula, Tuxtla Gutierrez, San Cristóbal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6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4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Tuxtla Gutiérrez.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12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11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1,217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197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6971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6971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3 Centros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Tapachula, Los Pinos, Linda Vista Shanka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697201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Unidad Deportiva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Tuxtla Gutiérrez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Tiendas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12 Tapachula (Cierre Temporal) y No. 13 Tuxtla Gutiérrez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Velatorio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Tapachula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7_chi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12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Poder Ejecutivo del Gobierno del Estado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16,536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16,693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Arnecom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5,903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11,302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11,684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4,788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4,758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6,778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6,670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-1.6%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2,477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-13.35%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-3.75%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-2.74%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-2.04%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-0.43%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+0.33%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+4.18%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+7.00%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219,501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10,552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27,996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261,013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219,035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9,739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27,453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3,441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259,668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-7.7%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-1.9%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+16.1%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88110417-5E73-93FD-85C4-2FAF8829EDB0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$571.92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$302.98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$571.92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$17,157.6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de Ciencias y Artes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$9.51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Politécnica de Tapachula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$5.68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Colegio de Bachilleres de Chiapas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Caja Popular San Juan Bosco SC de Ap de RL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$33.59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Campo y Berries de Zamora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Procesamiento Especializado de Alimentos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$7.35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12" name="Google Shape;512;g370e87ffe7a_0_0"/>
          <p:cNvGraphicFramePr/>
          <p:nvPr/>
        </p:nvGraphicFramePr>
        <p:xfrm>
          <a:off x="-126" y="2788487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3. Productividad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18" name="Google Shape;518;g370e87ffe7a_0_0"/>
          <p:cNvGraphicFramePr/>
          <p:nvPr/>
        </p:nvGraphicFramePr>
        <p:xfrm>
          <a:off x="0" y="5391789"/>
          <a:ext cx="7772400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 dirty="0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4. Personal</a:t>
                      </a:r>
                      <a:endParaRPr sz="1700" b="1" u="none" strike="noStrike" cap="none" dirty="0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0" name="Google Shape;520;g370e87ffe7a_0_0"/>
          <p:cNvGraphicFramePr/>
          <p:nvPr/>
        </p:nvGraphicFramePr>
        <p:xfrm>
          <a:off x="-2134" y="811308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635000" marR="0" lvl="0" indent="-3365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6455"/>
                        </a:buClr>
                        <a:buSzPts val="1700"/>
                        <a:buFont typeface="Montserrat"/>
                        <a:buAutoNum type="arabicPeriod"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1" name="Google Shape;521;g370e87ffe7a_0_0"/>
          <p:cNvGraphicFramePr/>
          <p:nvPr/>
        </p:nvGraphicFramePr>
        <p:xfrm>
          <a:off x="-126" y="7519253"/>
          <a:ext cx="7772400" cy="39605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77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6050">
                <a:tc>
                  <a:txBody>
                    <a:bodyPr/>
                    <a:lstStyle/>
                    <a:p>
                      <a:pPr marL="26670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5. Organización comunitaria</a:t>
                      </a:r>
                      <a:endParaRPr sz="17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3" name="Google Shape;523;g370e87ffe7a_0_0"/>
          <p:cNvGraphicFramePr/>
          <p:nvPr/>
        </p:nvGraphicFramePr>
        <p:xfrm>
          <a:off x="3884217" y="826580"/>
          <a:ext cx="3886325" cy="31594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3886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36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600"/>
                        <a:buFont typeface="Arial"/>
                        <a:buNone/>
                      </a:pPr>
                      <a:r>
                        <a:rPr lang="es" sz="1600" b="1" u="none" strike="noStrike" cap="none">
                          <a:solidFill>
                            <a:srgbClr val="00645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2.  Población beneficiada </a:t>
                      </a:r>
                      <a:endParaRPr sz="1600" b="1" u="none" strike="noStrike" cap="none">
                        <a:solidFill>
                          <a:srgbClr val="00645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72300" marR="36150" marT="36050" marB="3605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645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24" name="Google Shape;524;g370e87ffe7a_0_0"/>
          <p:cNvCxnSpPr/>
          <p:nvPr/>
        </p:nvCxnSpPr>
        <p:spPr>
          <a:xfrm>
            <a:off x="6214233" y="135507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29" name="Google Shape;529;g370e87ffe7a_0_0"/>
          <p:cNvCxnSpPr/>
          <p:nvPr/>
        </p:nvCxnSpPr>
        <p:spPr>
          <a:xfrm>
            <a:off x="6214233" y="2225029"/>
            <a:ext cx="0" cy="524700"/>
          </a:xfrm>
          <a:prstGeom prst="straightConnector1">
            <a:avLst/>
          </a:prstGeom>
          <a:noFill/>
          <a:ln w="19050" cap="flat" cmpd="sng">
            <a:solidFill>
              <a:srgbClr val="A4825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30" name="TextBox 529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 PROGRAMA IMSS-COPLAMAR</a:t>
            </a:r>
          </a:p>
        </p:txBody>
      </p:sp>
      <p:sp>
        <p:nvSpPr>
          <p:cNvPr id="531" name="TextBox 530"/>
          <p:cNvSpPr txBox="1"/>
          <p:nvPr/>
        </p:nvSpPr>
        <p:spPr>
          <a:xfrm>
            <a:off x="309600" y="51192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sp>
        <p:nvSpPr>
          <p:cNvPr id="532" name="TextBox 531"/>
          <p:cNvSpPr txBox="1"/>
          <p:nvPr/>
        </p:nvSpPr>
        <p:spPr>
          <a:xfrm>
            <a:off x="309600" y="9190800"/>
            <a:ext cx="1958400" cy="27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enero-diciembre 2025</a:t>
            </a:r>
          </a:p>
        </p:txBody>
      </p:sp>
      <p:graphicFrame>
        <p:nvGraphicFramePr>
          <p:cNvPr id="533" name="Table 532"/>
          <p:cNvGraphicFramePr>
            <a:graphicFrameLocks noGrp="1"/>
          </p:cNvGraphicFramePr>
          <p:nvPr/>
        </p:nvGraphicFramePr>
        <p:xfrm>
          <a:off x="310896" y="1335024"/>
          <a:ext cx="3575304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024128"/>
              </a:tblGrid>
              <a:tr h="17765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Rural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564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Brigada Salud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Médica Móvil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54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Centros de Atención Rural Obstétrica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776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4" name="Table 533"/>
          <p:cNvGraphicFramePr>
            <a:graphicFrameLocks noGrp="1"/>
          </p:cNvGraphicFramePr>
          <p:nvPr/>
        </p:nvGraphicFramePr>
        <p:xfrm>
          <a:off x="310896" y="3209544"/>
          <a:ext cx="4965192" cy="1691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5064"/>
                <a:gridCol w="1655064"/>
                <a:gridCol w="1655064"/>
              </a:tblGrid>
              <a:tr h="18796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Concepto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Productividad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Día Típico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consultas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2,067,867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7,854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Familiar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1,945,581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7,455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Estomatología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23,006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63,626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ctr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35,654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9,711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Partos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10,646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</a:tr>
              <a:tr h="187960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Egresos Hosp.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20,588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5" name="Table 534"/>
          <p:cNvGraphicFramePr>
            <a:graphicFrameLocks noGrp="1"/>
          </p:cNvGraphicFramePr>
          <p:nvPr/>
        </p:nvGraphicFramePr>
        <p:xfrm>
          <a:off x="310896" y="5815584"/>
          <a:ext cx="7022592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4208"/>
                <a:gridCol w="923544"/>
                <a:gridCol w="1179576"/>
                <a:gridCol w="1179576"/>
                <a:gridCol w="1179576"/>
                <a:gridCol w="896112"/>
              </a:tblGrid>
              <a:tr h="201168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Disciplina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Base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Confianza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Estatuto A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Sustitutos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51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807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Enfermeras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949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1,647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Paramédicos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169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Administrativas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211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Generales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</a:t>
                      </a:r>
                    </a:p>
                  </a:txBody>
                  <a:tcPr anchor="ctr" marL="73152" marR="73152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430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0" sz="11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Acción Comunitaria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 marL="73152" marR="73152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>
                        <a:defRPr b="1" sz="11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2,081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158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3,325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36" name="Table 535"/>
          <p:cNvGraphicFramePr>
            <a:graphicFrameLocks noGrp="1"/>
          </p:cNvGraphicFramePr>
          <p:nvPr/>
        </p:nvGraphicFramePr>
        <p:xfrm>
          <a:off x="310896" y="7991856"/>
          <a:ext cx="7004303" cy="612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6696"/>
                <a:gridCol w="996696"/>
                <a:gridCol w="832104"/>
                <a:gridCol w="1060704"/>
                <a:gridCol w="969264"/>
                <a:gridCol w="1042415"/>
                <a:gridCol w="1106424"/>
              </a:tblGrid>
              <a:tr h="30632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OOAD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 Rurales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Comités de Salud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Integrantes de Comités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Voluntarios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Parteras Voluntarias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Médicos Tradicionales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306324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 Programa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2,577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2,665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16,903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24,435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2,680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 marL="73152" marR="73152" marT="0" marB="0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537" name="Rounded Rectangle 536"/>
          <p:cNvSpPr/>
          <p:nvPr/>
        </p:nvSpPr>
        <p:spPr>
          <a:xfrm rot="16200000">
            <a:off x="5648400" y="-93600"/>
            <a:ext cx="7920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38" name="Connector 537"/>
          <p:cNvCxnSpPr/>
          <p:nvPr/>
        </p:nvCxnSpPr>
        <p:spPr>
          <a:xfrm>
            <a:off x="6213600" y="1353600"/>
            <a:ext cx="0" cy="5760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9" name="TextBox 538"/>
          <p:cNvSpPr txBox="1"/>
          <p:nvPr/>
        </p:nvSpPr>
        <p:spPr>
          <a:xfrm>
            <a:off x="4478400" y="1429200"/>
            <a:ext cx="16452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000">
                <a:solidFill>
                  <a:srgbClr val="A08250"/>
                </a:solidFill>
                <a:latin typeface="Montserrat"/>
              </a:defRPr>
            </a:pPr>
            <a:r>
              <a:t>1,952,597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beneficiaria</a:t>
            </a:r>
          </a:p>
        </p:txBody>
      </p:sp>
      <p:sp>
        <p:nvSpPr>
          <p:cNvPr id="540" name="TextBox 539"/>
          <p:cNvSpPr txBox="1"/>
          <p:nvPr/>
        </p:nvSpPr>
        <p:spPr>
          <a:xfrm>
            <a:off x="6393600" y="1195200"/>
            <a:ext cx="1137600" cy="5003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367,076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Derechohabiente</a:t>
            </a:r>
          </a:p>
        </p:txBody>
      </p:sp>
      <p:sp>
        <p:nvSpPr>
          <p:cNvPr id="541" name="TextBox 540"/>
          <p:cNvSpPr txBox="1"/>
          <p:nvPr/>
        </p:nvSpPr>
        <p:spPr>
          <a:xfrm>
            <a:off x="5443200" y="1602000"/>
            <a:ext cx="2998800" cy="37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1500">
                <a:solidFill>
                  <a:srgbClr val="A08250"/>
                </a:solidFill>
                <a:latin typeface="Montserrat"/>
              </a:defRPr>
            </a:pPr>
            <a:r>
              <a:t>1,585,521</a:t>
            </a:r>
          </a:p>
          <a:p>
            <a:pPr algn="ctr">
              <a:defRPr sz="1000">
                <a:solidFill>
                  <a:srgbClr val="A08250"/>
                </a:solidFill>
                <a:latin typeface="Montserrat"/>
              </a:defRPr>
            </a:pPr>
            <a:r>
              <a:t>Población abierta</a:t>
            </a:r>
          </a:p>
        </p:txBody>
      </p:sp>
      <p:sp>
        <p:nvSpPr>
          <p:cNvPr id="542" name="Rounded Rectangle 541"/>
          <p:cNvSpPr/>
          <p:nvPr/>
        </p:nvSpPr>
        <p:spPr>
          <a:xfrm rot="16200000">
            <a:off x="5652000" y="802800"/>
            <a:ext cx="763200" cy="3466800"/>
          </a:xfrm>
          <a:prstGeom prst="roundRect">
            <a:avLst/>
          </a:prstGeom>
          <a:solidFill>
            <a:srgbClr val="D9D9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43" name="Connector 542"/>
          <p:cNvCxnSpPr/>
          <p:nvPr/>
        </p:nvCxnSpPr>
        <p:spPr>
          <a:xfrm>
            <a:off x="6213600" y="2224800"/>
            <a:ext cx="0" cy="525600"/>
          </a:xfrm>
          <a:prstGeom prst="line">
            <a:avLst/>
          </a:prstGeom>
          <a:ln w="12700">
            <a:solidFill>
              <a:srgbClr val="A082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4" name="TextBox 543"/>
          <p:cNvSpPr txBox="1"/>
          <p:nvPr/>
        </p:nvSpPr>
        <p:spPr>
          <a:xfrm>
            <a:off x="4672800" y="2289600"/>
            <a:ext cx="1198800" cy="43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A08250"/>
                </a:solidFill>
                <a:latin typeface="Montserrat"/>
              </a:defRPr>
            </a:pPr>
            <a:r>
              <a:t>881,356</a:t>
            </a:r>
          </a:p>
        </p:txBody>
      </p:sp>
      <p:sp>
        <p:nvSpPr>
          <p:cNvPr id="545" name="TextBox 544"/>
          <p:cNvSpPr txBox="1"/>
          <p:nvPr/>
        </p:nvSpPr>
        <p:spPr>
          <a:xfrm>
            <a:off x="6501600" y="2163600"/>
            <a:ext cx="1007999" cy="5003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A08250"/>
                </a:solidFill>
                <a:latin typeface="Montserrat"/>
              </a:defRPr>
            </a:pPr>
            <a:r>
              <a:t>Población en localidades indígenas</a:t>
            </a:r>
          </a:p>
        </p:txBody>
      </p:sp>
      <p:sp>
        <p:nvSpPr>
          <p:cNvPr id="546" name="Rounded Rectangle 545"/>
          <p:cNvSpPr/>
          <p:nvPr/>
        </p:nvSpPr>
        <p:spPr>
          <a:xfrm>
            <a:off x="5608800" y="32904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7" name="TextBox 546"/>
          <p:cNvSpPr txBox="1"/>
          <p:nvPr/>
        </p:nvSpPr>
        <p:spPr>
          <a:xfrm>
            <a:off x="5608800" y="32904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2,067,867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consultas anuales</a:t>
            </a:r>
          </a:p>
        </p:txBody>
      </p:sp>
      <p:sp>
        <p:nvSpPr>
          <p:cNvPr id="548" name="Rounded Rectangle 547"/>
          <p:cNvSpPr/>
          <p:nvPr/>
        </p:nvSpPr>
        <p:spPr>
          <a:xfrm>
            <a:off x="5608800" y="4212000"/>
            <a:ext cx="2163600" cy="6840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9" name="TextBox 548"/>
          <p:cNvSpPr txBox="1"/>
          <p:nvPr/>
        </p:nvSpPr>
        <p:spPr>
          <a:xfrm>
            <a:off x="5608800" y="4212000"/>
            <a:ext cx="2163600" cy="684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2600">
                <a:solidFill>
                  <a:srgbClr val="FFFFFF"/>
                </a:solidFill>
                <a:latin typeface="Montserrat"/>
              </a:defRPr>
            </a:pPr>
            <a:r>
              <a:t>9,711</a:t>
            </a:r>
          </a:p>
          <a:p>
            <a:pPr algn="ctr">
              <a:defRPr sz="1600">
                <a:solidFill>
                  <a:srgbClr val="CFC48C"/>
                </a:solidFill>
                <a:latin typeface="Montserrat"/>
              </a:defRPr>
            </a:pPr>
            <a:r>
              <a:t>cirugías anuales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5600" y="1234800"/>
          <a:ext cx="7650000" cy="2995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IMSS-Coplamar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San Felipe Ecatepec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Ocosingo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Marzo de 1981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Ocozocoautla de Espinosa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Octubre de 1982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Bochil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Motozintla de Mendoza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1986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Venustiano Carranza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Agosto de 1988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Benemérito de Las Américas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Mapastepec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1993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Guadalupe Tepeyac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Septiembre de 1993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HR Altamirano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Junio de 1995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315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122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785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Las consultas de medicina familiar incluyen los hospitales con UMF.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Servicios de Sangre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Altamirano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5745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Benemérito de las Américas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5745599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Bochil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790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Gpe Tepeyac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7905598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Mapastepec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Motozintla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Ocosingo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235 en Hospitales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Ocozozoautla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569600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Sn Felipe Ecatepec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981600"/>
          <a:ext cx="3456000" cy="172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7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Rural Venustiano C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6321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Sede delegacional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6717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6789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20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973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973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0000" y="3873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960000" y="3873599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960000" y="5025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360000" y="5925597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371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110 especialistas (sustitutos)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Neumología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Urgencias Pediátrica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CHIAPAS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43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371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BA805D1-863E-47FE-87DC-FB7399B7A8C4}">
  <ds:schemaRefs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3d87255f-2171-4f5a-8886-6c25af21384a"/>
    <ds:schemaRef ds:uri="http://purl.org/dc/dcmitype/"/>
    <ds:schemaRef ds:uri="edc1cba3-a8b7-49a1-a01c-6ad98ac12acf"/>
    <ds:schemaRef ds:uri="http://purl.org/dc/terms/"/>
    <ds:schemaRef ds:uri="http://schemas.openxmlformats.org/package/2006/metadata/core-properties"/>
    <ds:schemaRef ds:uri="http://schemas.microsoft.com/office/2006/metadata/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5DC24EA3-111D-4B65-9E97-ECF6962F8E7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C0E0688-E2AC-47E7-A884-5FE727475E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1268</TotalTime>
  <Words>334</Words>
  <Application>Microsoft Office PowerPoint</Application>
  <PresentationFormat>Personalizado</PresentationFormat>
  <Paragraphs>85</Paragraphs>
  <Slides>25</Slides>
  <Notes>22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26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102</cp:revision>
  <dcterms:modified xsi:type="dcterms:W3CDTF">2026-05-12T22:19:11Z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