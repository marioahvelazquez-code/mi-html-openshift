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89" r:id="rId3"/>
    <p:sldId id="258" r:id="rId4"/>
    <p:sldId id="259" r:id="rId5"/>
    <p:sldId id="260" r:id="rId6"/>
    <p:sldId id="301" r:id="rId46"/>
    <p:sldId id="261" r:id="rId7"/>
    <p:sldId id="287" r:id="rId8"/>
    <p:sldId id="262" r:id="rId9"/>
    <p:sldId id="263" r:id="rId10"/>
    <p:sldId id="280" r:id="rId11"/>
    <p:sldId id="267" r:id="rId12"/>
    <p:sldId id="298" r:id="rId13"/>
    <p:sldId id="302" r:id="rId47"/>
    <p:sldId id="303" r:id="rId48"/>
    <p:sldId id="281" r:id="rId14"/>
    <p:sldId id="288" r:id="rId15"/>
    <p:sldId id="270" r:id="rId16"/>
    <p:sldId id="271" r:id="rId17"/>
    <p:sldId id="272" r:id="rId18"/>
    <p:sldId id="300" r:id="rId19"/>
    <p:sldId id="297" r:id="rId20"/>
    <p:sldId id="284" r:id="rId21"/>
    <p:sldId id="299" r:id="rId22"/>
    <p:sldId id="277" r:id="rId23"/>
    <p:sldId id="278" r:id="rId24"/>
    <p:sldId id="279" r:id="rId25"/>
    <p:sldId id="282"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
      <p:font typeface="Noto Sans Black" panose="020B0604020202020204" charset="0"/>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6C82A2-1554-D2A8-39A3-89A8D408A13C}" v="17" dt="2026-05-12T22:42:10.451"/>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02" autoAdjust="0"/>
    <p:restoredTop sz="94759"/>
  </p:normalViewPr>
  <p:slideViewPr>
    <p:cSldViewPr snapToGrid="0">
      <p:cViewPr varScale="1">
        <p:scale>
          <a:sx n="78" d="100"/>
          <a:sy n="78" d="100"/>
        </p:scale>
        <p:origin x="3088"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2:52.503" v="0"/>
      <pc:docMkLst>
        <pc:docMk/>
      </pc:docMkLst>
      <pc:sldChg chg="add">
        <pc:chgData name="Carlos Esponda Rosales" userId="08a2b2cc-6d12-4dea-90fe-c484bece8186" providerId="ADAL" clId="{6846A1DD-3EC1-5A12-B3C5-9C410579EE4F}" dt="2026-05-08T17:32:52.503" v="0"/>
        <pc:sldMkLst>
          <pc:docMk/>
          <pc:sldMk cId="3324551169" sldId="300"/>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8:00:58.064" v="119" actId="14100"/>
      <pc:docMkLst>
        <pc:docMk/>
      </pc:docMkLst>
      <pc:sldChg chg="addSp delSp modSp mod">
        <pc:chgData name="Edgar Rosales Ortega" userId="d1d54fc2-1570-4978-babc-e22e1526833f" providerId="ADAL" clId="{66BE7C30-C669-4152-AC74-10076FC0590C}" dt="2026-04-30T23:09:44.161" v="104" actId="1076"/>
        <pc:sldMkLst>
          <pc:docMk/>
          <pc:sldMk cId="0" sldId="260"/>
        </pc:sldMkLst>
        <pc:spChg chg="add mod">
          <ac:chgData name="Edgar Rosales Ortega" userId="d1d54fc2-1570-4978-babc-e22e1526833f" providerId="ADAL" clId="{66BE7C30-C669-4152-AC74-10076FC0590C}" dt="2026-04-30T23:09:35.803" v="102" actId="1035"/>
          <ac:spMkLst>
            <pc:docMk/>
            <pc:sldMk cId="0" sldId="260"/>
            <ac:spMk id="8" creationId="{4067D10F-1AEF-9E29-F99F-AB2C5527E075}"/>
          </ac:spMkLst>
        </pc:spChg>
        <pc:graphicFrameChg chg="add mod">
          <ac:chgData name="Edgar Rosales Ortega" userId="d1d54fc2-1570-4978-babc-e22e1526833f" providerId="ADAL" clId="{66BE7C30-C669-4152-AC74-10076FC0590C}" dt="2026-04-30T23:09:28.472" v="40" actId="1076"/>
          <ac:graphicFrameMkLst>
            <pc:docMk/>
            <pc:sldMk cId="0" sldId="260"/>
            <ac:graphicFrameMk id="6" creationId="{9DFC0BA5-5C9C-B059-5B74-402440E96DC7}"/>
          </ac:graphicFrameMkLst>
        </pc:graphicFrameChg>
        <pc:picChg chg="add mod">
          <ac:chgData name="Edgar Rosales Ortega" userId="d1d54fc2-1570-4978-babc-e22e1526833f" providerId="ADAL" clId="{66BE7C30-C669-4152-AC74-10076FC0590C}" dt="2026-04-30T23:09:44.161" v="104" actId="1076"/>
          <ac:picMkLst>
            <pc:docMk/>
            <pc:sldMk cId="0" sldId="260"/>
            <ac:picMk id="7" creationId="{EBE398C2-7EA2-8E00-A460-8140C5BC2EB3}"/>
          </ac:picMkLst>
        </pc:picChg>
      </pc:sldChg>
      <pc:sldChg chg="addSp delSp modSp mod">
        <pc:chgData name="Edgar Rosales Ortega" userId="d1d54fc2-1570-4978-babc-e22e1526833f" providerId="ADAL" clId="{66BE7C30-C669-4152-AC74-10076FC0590C}" dt="2026-05-05T17:56:40.057" v="105" actId="164"/>
        <pc:sldMkLst>
          <pc:docMk/>
          <pc:sldMk cId="0" sldId="261"/>
        </pc:sldMkLst>
        <pc:spChg chg="add mod">
          <ac:chgData name="Edgar Rosales Ortega" userId="d1d54fc2-1570-4978-babc-e22e1526833f" providerId="ADAL" clId="{66BE7C30-C669-4152-AC74-10076FC0590C}" dt="2026-05-05T17:56:40.057" v="105" actId="164"/>
          <ac:spMkLst>
            <pc:docMk/>
            <pc:sldMk cId="0" sldId="261"/>
            <ac:spMk id="7" creationId="{5BC37EAF-87AB-0F78-0020-7BCB84D5C8BC}"/>
          </ac:spMkLst>
        </pc:spChg>
        <pc:spChg chg="add mod">
          <ac:chgData name="Edgar Rosales Ortega" userId="d1d54fc2-1570-4978-babc-e22e1526833f" providerId="ADAL" clId="{66BE7C30-C669-4152-AC74-10076FC0590C}" dt="2026-05-05T17:56:40.057" v="105" actId="164"/>
          <ac:spMkLst>
            <pc:docMk/>
            <pc:sldMk cId="0" sldId="261"/>
            <ac:spMk id="8" creationId="{70C4DDE0-27AB-7054-557E-C8C647D00CAA}"/>
          </ac:spMkLst>
        </pc:spChg>
        <pc:spChg chg="add mod">
          <ac:chgData name="Edgar Rosales Ortega" userId="d1d54fc2-1570-4978-babc-e22e1526833f" providerId="ADAL" clId="{66BE7C30-C669-4152-AC74-10076FC0590C}" dt="2026-05-05T17:56:40.057" v="105" actId="164"/>
          <ac:spMkLst>
            <pc:docMk/>
            <pc:sldMk cId="0" sldId="261"/>
            <ac:spMk id="9" creationId="{0EE4122A-4775-B513-4D0E-1FE52FE3FD96}"/>
          </ac:spMkLst>
        </pc:spChg>
        <pc:spChg chg="add mod">
          <ac:chgData name="Edgar Rosales Ortega" userId="d1d54fc2-1570-4978-babc-e22e1526833f" providerId="ADAL" clId="{66BE7C30-C669-4152-AC74-10076FC0590C}" dt="2026-05-05T17:56:40.057" v="105" actId="164"/>
          <ac:spMkLst>
            <pc:docMk/>
            <pc:sldMk cId="0" sldId="261"/>
            <ac:spMk id="10" creationId="{42C7F049-E53E-C6BA-1454-F1810786337D}"/>
          </ac:spMkLst>
        </pc:spChg>
        <pc:grpChg chg="add mod">
          <ac:chgData name="Edgar Rosales Ortega" userId="d1d54fc2-1570-4978-babc-e22e1526833f" providerId="ADAL" clId="{66BE7C30-C669-4152-AC74-10076FC0590C}" dt="2026-05-05T17:56:40.057" v="105" actId="164"/>
          <ac:grpSpMkLst>
            <pc:docMk/>
            <pc:sldMk cId="0" sldId="261"/>
            <ac:grpSpMk id="2" creationId="{750AA6D3-18F8-05F5-C809-792B0C40545E}"/>
          </ac:grpSpMkLst>
        </pc:grpChg>
        <pc:picChg chg="add mod">
          <ac:chgData name="Edgar Rosales Ortega" userId="d1d54fc2-1570-4978-babc-e22e1526833f" providerId="ADAL" clId="{66BE7C30-C669-4152-AC74-10076FC0590C}" dt="2026-05-05T17:56:40.057" v="105" actId="164"/>
          <ac:picMkLst>
            <pc:docMk/>
            <pc:sldMk cId="0" sldId="261"/>
            <ac:picMk id="11" creationId="{2296D0F3-84CE-1143-2414-CC403DE591D0}"/>
          </ac:picMkLst>
        </pc:picChg>
      </pc:sldChg>
      <pc:sldChg chg="delSp mod">
        <pc:chgData name="Edgar Rosales Ortega" userId="d1d54fc2-1570-4978-babc-e22e1526833f" providerId="ADAL" clId="{66BE7C30-C669-4152-AC74-10076FC0590C}" dt="2026-05-07T17:28:43.976" v="108" actId="478"/>
        <pc:sldMkLst>
          <pc:docMk/>
          <pc:sldMk cId="0" sldId="262"/>
        </pc:sldMkLst>
      </pc:sldChg>
      <pc:sldChg chg="addSp delSp modSp mod">
        <pc:chgData name="Edgar Rosales Ortega" userId="d1d54fc2-1570-4978-babc-e22e1526833f" providerId="ADAL" clId="{66BE7C30-C669-4152-AC74-10076FC0590C}" dt="2026-05-07T17:28:55.183" v="110" actId="478"/>
        <pc:sldMkLst>
          <pc:docMk/>
          <pc:sldMk cId="0" sldId="263"/>
        </pc:sldMkLst>
      </pc:sldChg>
      <pc:sldChg chg="modSp mod ord">
        <pc:chgData name="Edgar Rosales Ortega" userId="d1d54fc2-1570-4978-babc-e22e1526833f" providerId="ADAL" clId="{66BE7C30-C669-4152-AC74-10076FC0590C}" dt="2026-04-30T15:48:11.037" v="33"/>
        <pc:sldMkLst>
          <pc:docMk/>
          <pc:sldMk cId="0" sldId="267"/>
        </pc:sldMkLst>
        <pc:graphicFrameChg chg="modGraphic">
          <ac:chgData name="Edgar Rosales Ortega" userId="d1d54fc2-1570-4978-babc-e22e1526833f" providerId="ADAL" clId="{66BE7C30-C669-4152-AC74-10076FC0590C}" dt="2026-04-30T00:10:48.519" v="22" actId="6549"/>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7:29:05.748" v="111"/>
        <pc:sldMkLst>
          <pc:docMk/>
          <pc:sldMk cId="0" sldId="272"/>
        </pc:sldMkLst>
        <pc:graphicFrameChg chg="mod">
          <ac:chgData name="Edgar Rosales Ortega" userId="d1d54fc2-1570-4978-babc-e22e1526833f" providerId="ADAL" clId="{66BE7C30-C669-4152-AC74-10076FC0590C}" dt="2026-05-07T17:29:05.748" v="111"/>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7:57:03.368" v="107" actId="1076"/>
        <pc:sldMkLst>
          <pc:docMk/>
          <pc:sldMk cId="0" sldId="279"/>
        </pc:sldMkLst>
        <pc:spChg chg="add mod">
          <ac:chgData name="Edgar Rosales Ortega" userId="d1d54fc2-1570-4978-babc-e22e1526833f" providerId="ADAL" clId="{66BE7C30-C669-4152-AC74-10076FC0590C}" dt="2026-04-30T16:26:06.687" v="34" actId="1076"/>
          <ac:spMkLst>
            <pc:docMk/>
            <pc:sldMk cId="0" sldId="279"/>
            <ac:spMk id="2" creationId="{6BDB91EE-2477-F5F5-BE73-0369E6C50E2B}"/>
          </ac:spMkLst>
        </pc:spChg>
        <pc:spChg chg="mod">
          <ac:chgData name="Edgar Rosales Ortega" userId="d1d54fc2-1570-4978-babc-e22e1526833f" providerId="ADAL" clId="{66BE7C30-C669-4152-AC74-10076FC0590C}" dt="2026-05-05T17:57:03.368" v="107"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48:07.849" v="31"/>
        <pc:sldMkLst>
          <pc:docMk/>
          <pc:sldMk cId="540716406" sldId="280"/>
        </pc:sldMkLst>
        <pc:graphicFrameChg chg="modGraphic">
          <ac:chgData name="Edgar Rosales Ortega" userId="d1d54fc2-1570-4978-babc-e22e1526833f" providerId="ADAL" clId="{66BE7C30-C669-4152-AC74-10076FC0590C}" dt="2026-04-30T00:10:51.772" v="23" actId="6549"/>
          <ac:graphicFrameMkLst>
            <pc:docMk/>
            <pc:sldMk cId="540716406" sldId="280"/>
            <ac:graphicFrameMk id="230" creationId="{64EDC3BC-A199-227A-0CEC-FB808E16739F}"/>
          </ac:graphicFrameMkLst>
        </pc:graphicFrameChg>
      </pc:sldChg>
      <pc:sldChg chg="addSp delSp modSp mod ord">
        <pc:chgData name="Edgar Rosales Ortega" userId="d1d54fc2-1570-4978-babc-e22e1526833f" providerId="ADAL" clId="{66BE7C30-C669-4152-AC74-10076FC0590C}" dt="2026-05-05T17:56:47.548" v="106" actId="478"/>
        <pc:sldMkLst>
          <pc:docMk/>
          <pc:sldMk cId="3828482411" sldId="281"/>
        </pc:sldMkLst>
      </pc:sldChg>
      <pc:sldChg chg="modSp mod">
        <pc:chgData name="Edgar Rosales Ortega" userId="d1d54fc2-1570-4978-babc-e22e1526833f" providerId="ADAL" clId="{66BE7C30-C669-4152-AC74-10076FC0590C}" dt="2026-05-07T18:00:58.064" v="119" actId="14100"/>
        <pc:sldMkLst>
          <pc:docMk/>
          <pc:sldMk cId="364733940" sldId="284"/>
        </pc:sldMkLst>
        <pc:picChg chg="mod">
          <ac:chgData name="Edgar Rosales Ortega" userId="d1d54fc2-1570-4978-babc-e22e1526833f" providerId="ADAL" clId="{66BE7C30-C669-4152-AC74-10076FC0590C}" dt="2026-05-07T18:00:58.064" v="119"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48:01.623" v="29"/>
        <pc:sldMkLst>
          <pc:docMk/>
          <pc:sldMk cId="748044913" sldId="287"/>
        </pc:sldMkLst>
        <pc:graphicFrameChg chg="modGraphic">
          <ac:chgData name="Edgar Rosales Ortega" userId="d1d54fc2-1570-4978-babc-e22e1526833f" providerId="ADAL" clId="{66BE7C30-C669-4152-AC74-10076FC0590C}" dt="2026-04-30T00:10:55.435" v="24" actId="6549"/>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7:29:35.563" v="116" actId="14100"/>
        <pc:sldMkLst>
          <pc:docMk/>
          <pc:sldMk cId="3240565764" sldId="297"/>
        </pc:sldMkLst>
        <pc:picChg chg="mod">
          <ac:chgData name="Edgar Rosales Ortega" userId="d1d54fc2-1570-4978-babc-e22e1526833f" providerId="ADAL" clId="{66BE7C30-C669-4152-AC74-10076FC0590C}" dt="2026-05-07T17:29:35.563" v="116" actId="14100"/>
          <ac:picMkLst>
            <pc:docMk/>
            <pc:sldMk cId="3240565764" sldId="297"/>
            <ac:picMk id="5" creationId="{4689FF38-8CFA-FB37-4E7B-B5603B7FC116}"/>
          </ac:picMkLst>
        </pc:picChg>
      </pc:sldChg>
    </pc:docChg>
  </pc:docChgLst>
  <pc:docChgLst>
    <pc:chgData name="Gerardo Jahir Lara Garcia" userId="S::gerardo.larag@imss.gob.mx::84d5cd65-4601-4e92-b448-a9da4809e012" providerId="AD" clId="Web-{E26C82A2-1554-D2A8-39A3-89A8D408A13C}"/>
    <pc:docChg chg="modSld">
      <pc:chgData name="Gerardo Jahir Lara Garcia" userId="S::gerardo.larag@imss.gob.mx::84d5cd65-4601-4e92-b448-a9da4809e012" providerId="AD" clId="Web-{E26C82A2-1554-D2A8-39A3-89A8D408A13C}" dt="2026-05-12T22:42:10.451" v="14" actId="1076"/>
      <pc:docMkLst>
        <pc:docMk/>
      </pc:docMkLst>
      <pc:sldChg chg="addSp delSp modSp">
        <pc:chgData name="Gerardo Jahir Lara Garcia" userId="S::gerardo.larag@imss.gob.mx::84d5cd65-4601-4e92-b448-a9da4809e012" providerId="AD" clId="Web-{E26C82A2-1554-D2A8-39A3-89A8D408A13C}" dt="2026-05-12T22:42:10.451" v="14" actId="1076"/>
        <pc:sldMkLst>
          <pc:docMk/>
          <pc:sldMk cId="364733940" sldId="284"/>
        </pc:sldMkLst>
        <pc:spChg chg="add">
          <ac:chgData name="Gerardo Jahir Lara Garcia" userId="S::gerardo.larag@imss.gob.mx::84d5cd65-4601-4e92-b448-a9da4809e012" providerId="AD" clId="Web-{E26C82A2-1554-D2A8-39A3-89A8D408A13C}" dt="2026-05-12T22:40:26.339" v="1"/>
          <ac:spMkLst>
            <pc:docMk/>
            <pc:sldMk cId="364733940" sldId="284"/>
            <ac:spMk id="3" creationId="{ABCC6279-D2EB-1F1F-D811-3FFF80887FF1}"/>
          </ac:spMkLst>
        </pc:spChg>
        <pc:spChg chg="add del">
          <ac:chgData name="Gerardo Jahir Lara Garcia" userId="S::gerardo.larag@imss.gob.mx::84d5cd65-4601-4e92-b448-a9da4809e012" providerId="AD" clId="Web-{E26C82A2-1554-D2A8-39A3-89A8D408A13C}" dt="2026-05-12T22:41:51.920" v="9"/>
          <ac:spMkLst>
            <pc:docMk/>
            <pc:sldMk cId="364733940" sldId="284"/>
            <ac:spMk id="6" creationId="{4578A0AA-9DC1-3453-263A-76BE5A8BE282}"/>
          </ac:spMkLst>
        </pc:spChg>
        <pc:spChg chg="add del">
          <ac:chgData name="Gerardo Jahir Lara Garcia" userId="S::gerardo.larag@imss.gob.mx::84d5cd65-4601-4e92-b448-a9da4809e012" providerId="AD" clId="Web-{E26C82A2-1554-D2A8-39A3-89A8D408A13C}" dt="2026-05-12T22:41:51.920" v="7"/>
          <ac:spMkLst>
            <pc:docMk/>
            <pc:sldMk cId="364733940" sldId="284"/>
            <ac:spMk id="9" creationId="{907F7F6F-8FF8-56A0-795F-B2A127C97D4D}"/>
          </ac:spMkLst>
        </pc:spChg>
        <pc:spChg chg="add mod">
          <ac:chgData name="Gerardo Jahir Lara Garcia" userId="S::gerardo.larag@imss.gob.mx::84d5cd65-4601-4e92-b448-a9da4809e012" providerId="AD" clId="Web-{E26C82A2-1554-D2A8-39A3-89A8D408A13C}" dt="2026-05-12T22:42:10.451" v="14" actId="1076"/>
          <ac:spMkLst>
            <pc:docMk/>
            <pc:sldMk cId="364733940" sldId="284"/>
            <ac:spMk id="11" creationId="{2C157DF6-A7FD-940D-19DA-323ACD68454D}"/>
          </ac:spMkLst>
        </pc:spChg>
        <pc:picChg chg="add del">
          <ac:chgData name="Gerardo Jahir Lara Garcia" userId="S::gerardo.larag@imss.gob.mx::84d5cd65-4601-4e92-b448-a9da4809e012" providerId="AD" clId="Web-{E26C82A2-1554-D2A8-39A3-89A8D408A13C}" dt="2026-05-12T22:41:51.920" v="10"/>
          <ac:picMkLst>
            <pc:docMk/>
            <pc:sldMk cId="364733940" sldId="284"/>
            <ac:picMk id="4" creationId="{488C755F-8E2D-8CE1-6C1B-6DBB55EE2CD3}"/>
          </ac:picMkLst>
        </pc:picChg>
        <pc:picChg chg="add del">
          <ac:chgData name="Gerardo Jahir Lara Garcia" userId="S::gerardo.larag@imss.gob.mx::84d5cd65-4601-4e92-b448-a9da4809e012" providerId="AD" clId="Web-{E26C82A2-1554-D2A8-39A3-89A8D408A13C}" dt="2026-05-12T22:41:51.920" v="8"/>
          <ac:picMkLst>
            <pc:docMk/>
            <pc:sldMk cId="364733940" sldId="284"/>
            <ac:picMk id="8" creationId="{4F2E1097-3694-6090-CBA5-667DCD67E48E}"/>
          </ac:picMkLst>
        </pc:picChg>
        <pc:picChg chg="add mod">
          <ac:chgData name="Gerardo Jahir Lara Garcia" userId="S::gerardo.larag@imss.gob.mx::84d5cd65-4601-4e92-b448-a9da4809e012" providerId="AD" clId="Web-{E26C82A2-1554-D2A8-39A3-89A8D408A13C}" dt="2026-05-12T22:42:10.436" v="13" actId="1076"/>
          <ac:picMkLst>
            <pc:docMk/>
            <pc:sldMk cId="364733940" sldId="284"/>
            <ac:picMk id="10" creationId="{CA24C0E7-282C-9B96-A7B5-7554B2C6EF8D}"/>
          </ac:picMkLst>
        </pc:picChg>
      </pc:sldChg>
      <pc:sldChg chg="addSp delSp modSp">
        <pc:chgData name="Gerardo Jahir Lara Garcia" userId="S::gerardo.larag@imss.gob.mx::84d5cd65-4601-4e92-b448-a9da4809e012" providerId="AD" clId="Web-{E26C82A2-1554-D2A8-39A3-89A8D408A13C}" dt="2026-05-12T22:41:09.074" v="6"/>
        <pc:sldMkLst>
          <pc:docMk/>
          <pc:sldMk cId="3240565764" sldId="297"/>
        </pc:sldMkLst>
        <pc:spChg chg="add">
          <ac:chgData name="Gerardo Jahir Lara Garcia" userId="S::gerardo.larag@imss.gob.mx::84d5cd65-4601-4e92-b448-a9da4809e012" providerId="AD" clId="Web-{E26C82A2-1554-D2A8-39A3-89A8D408A13C}" dt="2026-05-12T22:40:15.448" v="0"/>
          <ac:spMkLst>
            <pc:docMk/>
            <pc:sldMk cId="3240565764" sldId="297"/>
            <ac:spMk id="3" creationId="{21AE8FA6-CA77-F761-93C9-BF2570CBBE30}"/>
          </ac:spMkLst>
        </pc:spChg>
        <pc:spChg chg="add">
          <ac:chgData name="Gerardo Jahir Lara Garcia" userId="S::gerardo.larag@imss.gob.mx::84d5cd65-4601-4e92-b448-a9da4809e012" providerId="AD" clId="Web-{E26C82A2-1554-D2A8-39A3-89A8D408A13C}" dt="2026-05-12T22:40:15.448" v="0"/>
          <ac:spMkLst>
            <pc:docMk/>
            <pc:sldMk cId="3240565764" sldId="297"/>
            <ac:spMk id="7" creationId="{FD4175D4-66CF-7FBC-B843-C149C5339DF1}"/>
          </ac:spMkLst>
        </pc:spChg>
        <pc:spChg chg="add mod">
          <ac:chgData name="Gerardo Jahir Lara Garcia" userId="S::gerardo.larag@imss.gob.mx::84d5cd65-4601-4e92-b448-a9da4809e012" providerId="AD" clId="Web-{E26C82A2-1554-D2A8-39A3-89A8D408A13C}" dt="2026-05-12T22:40:58.886" v="3" actId="20577"/>
          <ac:spMkLst>
            <pc:docMk/>
            <pc:sldMk cId="3240565764" sldId="297"/>
            <ac:spMk id="9" creationId="{50F1217E-09B0-81A3-6E99-CB1DE729ADDF}"/>
          </ac:spMkLst>
        </pc:spChg>
        <pc:spChg chg="add del">
          <ac:chgData name="Gerardo Jahir Lara Garcia" userId="S::gerardo.larag@imss.gob.mx::84d5cd65-4601-4e92-b448-a9da4809e012" providerId="AD" clId="Web-{E26C82A2-1554-D2A8-39A3-89A8D408A13C}" dt="2026-05-12T22:41:09.074" v="6"/>
          <ac:spMkLst>
            <pc:docMk/>
            <pc:sldMk cId="3240565764" sldId="297"/>
            <ac:spMk id="10" creationId="{991C7EE4-1170-AC4C-597D-3383D8E8A8F9}"/>
          </ac:spMkLst>
        </pc:spChg>
        <pc:spChg chg="add del">
          <ac:chgData name="Gerardo Jahir Lara Garcia" userId="S::gerardo.larag@imss.gob.mx::84d5cd65-4601-4e92-b448-a9da4809e012" providerId="AD" clId="Web-{E26C82A2-1554-D2A8-39A3-89A8D408A13C}" dt="2026-05-12T22:41:09.074" v="4"/>
          <ac:spMkLst>
            <pc:docMk/>
            <pc:sldMk cId="3240565764" sldId="297"/>
            <ac:spMk id="12" creationId="{CA535D92-E281-11D7-D7CB-F8BAB9F176B8}"/>
          </ac:spMkLst>
        </pc:spChg>
        <pc:spChg chg="add">
          <ac:chgData name="Gerardo Jahir Lara Garcia" userId="S::gerardo.larag@imss.gob.mx::84d5cd65-4601-4e92-b448-a9da4809e012" providerId="AD" clId="Web-{E26C82A2-1554-D2A8-39A3-89A8D408A13C}" dt="2026-05-12T22:40:15.448" v="0"/>
          <ac:spMkLst>
            <pc:docMk/>
            <pc:sldMk cId="3240565764" sldId="297"/>
            <ac:spMk id="13" creationId="{B9C2E918-974F-A566-8C8B-5DDE4ED4290B}"/>
          </ac:spMkLst>
        </pc:spChg>
        <pc:spChg chg="add">
          <ac:chgData name="Gerardo Jahir Lara Garcia" userId="S::gerardo.larag@imss.gob.mx::84d5cd65-4601-4e92-b448-a9da4809e012" providerId="AD" clId="Web-{E26C82A2-1554-D2A8-39A3-89A8D408A13C}" dt="2026-05-12T22:40:15.448" v="0"/>
          <ac:spMkLst>
            <pc:docMk/>
            <pc:sldMk cId="3240565764" sldId="297"/>
            <ac:spMk id="15" creationId="{A0083CC0-370A-999A-F425-0B0E05DEB5CF}"/>
          </ac:spMkLst>
        </pc:spChg>
        <pc:picChg chg="add">
          <ac:chgData name="Gerardo Jahir Lara Garcia" userId="S::gerardo.larag@imss.gob.mx::84d5cd65-4601-4e92-b448-a9da4809e012" providerId="AD" clId="Web-{E26C82A2-1554-D2A8-39A3-89A8D408A13C}" dt="2026-05-12T22:40:15.448" v="0"/>
          <ac:picMkLst>
            <pc:docMk/>
            <pc:sldMk cId="3240565764" sldId="297"/>
            <ac:picMk id="8" creationId="{170CBE01-E044-2F44-556A-69D0B561DC01}"/>
          </ac:picMkLst>
        </pc:picChg>
        <pc:picChg chg="add del">
          <ac:chgData name="Gerardo Jahir Lara Garcia" userId="S::gerardo.larag@imss.gob.mx::84d5cd65-4601-4e92-b448-a9da4809e012" providerId="AD" clId="Web-{E26C82A2-1554-D2A8-39A3-89A8D408A13C}" dt="2026-05-12T22:41:09.074" v="5"/>
          <ac:picMkLst>
            <pc:docMk/>
            <pc:sldMk cId="3240565764" sldId="297"/>
            <ac:picMk id="11" creationId="{F7B31A16-FD1A-331A-6F76-259EB810FD76}"/>
          </ac:picMkLst>
        </pc:picChg>
        <pc:picChg chg="add">
          <ac:chgData name="Gerardo Jahir Lara Garcia" userId="S::gerardo.larag@imss.gob.mx::84d5cd65-4601-4e92-b448-a9da4809e012" providerId="AD" clId="Web-{E26C82A2-1554-D2A8-39A3-89A8D408A13C}" dt="2026-05-12T22:40:15.448" v="0"/>
          <ac:picMkLst>
            <pc:docMk/>
            <pc:sldMk cId="3240565764" sldId="297"/>
            <ac:picMk id="14" creationId="{C365C7D6-999E-5396-FE1A-9AF265B06DA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549ECF"/>
              </a:solidFill>
            </c:spPr>
          </c:dPt>
          <c:dPt>
            <c:idx val="2"/>
            <c:spPr>
              <a:solidFill>
                <a:srgbClr val="691C32"/>
              </a:solidFill>
            </c:spPr>
          </c:dPt>
          <c:dPt>
            <c:idx val="3"/>
            <c:spPr>
              <a:solidFill>
                <a:srgbClr val="BC955C"/>
              </a:solidFill>
            </c:spPr>
          </c:dPt>
          <c:dPt>
            <c:idx val="4"/>
            <c:spPr>
              <a:solidFill>
                <a:srgbClr val="9E9E9E"/>
              </a:solidFill>
            </c:spPr>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777061.0</c:v>
                </c:pt>
                <c:pt idx="1">
                  <c:v>78827.0</c:v>
                </c:pt>
                <c:pt idx="2">
                  <c:v>625250.0</c:v>
                </c:pt>
                <c:pt idx="3">
                  <c:v>2092137.0</c:v>
                </c:pt>
                <c:pt idx="4">
                  <c:v>33021.0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40.27277444222074</c:v>
                </c:pt>
                <c:pt idx="1">
                  <c:v>59.72722555777926</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6.373985408099999</c:v>
                </c:pt>
                <c:pt idx="1">
                  <c:v>93.6260145919</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39.17312661498708</c:v>
                </c:pt>
                <c:pt idx="1">
                  <c:v>60.82687338501292</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41.180842812823165</c:v>
                </c:pt>
                <c:pt idx="1">
                  <c:v>58.819157187176835</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35</c:v>
                </c:pt>
                <c:pt idx="1">
                  <c:v>72</c:v>
                </c:pt>
                <c:pt idx="2">
                  <c:v>67</c:v>
                </c:pt>
                <c:pt idx="3">
                  <c:v>74</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de la Transformación</c:v>
                </c:pt>
                <c:pt idx="1">
                  <c:v>Industria de la Construcción</c:v>
                </c:pt>
                <c:pt idx="2">
                  <c:v>Agricultura, Ganaderia, Silvicultura, Pesca y Caza</c:v>
                </c:pt>
                <c:pt idx="3">
                  <c:v>Industrias Extractivas</c:v>
                </c:pt>
                <c:pt idx="4">
                  <c:v>Ind Eléctrica y Captación y Suministro de Agua Potable</c:v>
                </c:pt>
                <c:pt idx="5">
                  <c:v>Servicios para Empresas, Personas y el Hogar</c:v>
                </c:pt>
                <c:pt idx="6">
                  <c:v>Servicios Sociales y Comunales</c:v>
                </c:pt>
                <c:pt idx="7">
                  <c:v>Comercio</c:v>
                </c:pt>
                <c:pt idx="8">
                  <c:v>Transportes y Comunicaciones</c:v>
                </c:pt>
              </c:strCache>
            </c:strRef>
          </c:cat>
          <c:val>
            <c:numRef>
              <c:f>Sheet1!$B$2:$B$10</c:f>
              <c:numCache>
                <c:formatCode>General</c:formatCode>
                <c:ptCount val="9"/>
                <c:pt idx="0">
                  <c:v>7869</c:v>
                </c:pt>
                <c:pt idx="1">
                  <c:v>16043</c:v>
                </c:pt>
                <c:pt idx="2">
                  <c:v>1643</c:v>
                </c:pt>
                <c:pt idx="3">
                  <c:v>3456</c:v>
                </c:pt>
                <c:pt idx="4">
                  <c:v>2895</c:v>
                </c:pt>
                <c:pt idx="5">
                  <c:v>50853</c:v>
                </c:pt>
                <c:pt idx="6">
                  <c:v>19974</c:v>
                </c:pt>
                <c:pt idx="7">
                  <c:v>52001</c:v>
                </c:pt>
                <c:pt idx="8">
                  <c:v>5846</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de la Transformación</c:v>
                </c:pt>
                <c:pt idx="1">
                  <c:v>Industria de la Construcción</c:v>
                </c:pt>
                <c:pt idx="2">
                  <c:v>Agricultura, Ganaderia, Silvicultura, Pesca y Caza</c:v>
                </c:pt>
                <c:pt idx="3">
                  <c:v>Industrias Extractivas</c:v>
                </c:pt>
                <c:pt idx="4">
                  <c:v>Ind Eléctrica y Captación y Suministro de Agua Potable</c:v>
                </c:pt>
                <c:pt idx="5">
                  <c:v>Servicios para Empresas, Personas y el Hogar</c:v>
                </c:pt>
                <c:pt idx="6">
                  <c:v>Servicios Sociales y Comunales</c:v>
                </c:pt>
                <c:pt idx="7">
                  <c:v>Comercio</c:v>
                </c:pt>
                <c:pt idx="8">
                  <c:v>Transportes y Comunicaciones</c:v>
                </c:pt>
              </c:strCache>
            </c:strRef>
          </c:cat>
          <c:val>
            <c:numRef>
              <c:f>Sheet1!$C$2:$C$10</c:f>
              <c:numCache>
                <c:formatCode>General</c:formatCode>
                <c:ptCount val="9"/>
                <c:pt idx="0">
                  <c:v>6908</c:v>
                </c:pt>
                <c:pt idx="1">
                  <c:v>14872</c:v>
                </c:pt>
                <c:pt idx="2">
                  <c:v>1546</c:v>
                </c:pt>
                <c:pt idx="3">
                  <c:v>3317</c:v>
                </c:pt>
                <c:pt idx="4">
                  <c:v>2847</c:v>
                </c:pt>
                <c:pt idx="5">
                  <c:v>50740</c:v>
                </c:pt>
                <c:pt idx="6">
                  <c:v>20124</c:v>
                </c:pt>
                <c:pt idx="7">
                  <c:v>52981</c:v>
                </c:pt>
                <c:pt idx="8">
                  <c:v>6122</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161752</c:v>
                </c:pt>
                <c:pt idx="1">
                  <c:v>156272</c:v>
                </c:pt>
                <c:pt idx="2">
                  <c:v>146499</c:v>
                </c:pt>
                <c:pt idx="3">
                  <c:v>147121</c:v>
                </c:pt>
                <c:pt idx="4">
                  <c:v>150848</c:v>
                </c:pt>
                <c:pt idx="5">
                  <c:v>158324</c:v>
                </c:pt>
                <c:pt idx="6">
                  <c:v>163689</c:v>
                </c:pt>
                <c:pt idx="7">
                  <c:v>160580</c:v>
                </c:pt>
                <c:pt idx="8">
                  <c:v>159457</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 Id="rId10" Type="http://schemas.openxmlformats.org/officeDocument/2006/relationships/image" Target="../media/image2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Guerrero</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Junio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2_Guerrero.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24%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777,061</a:t>
            </a:r>
            <a:br/>
            <a:r>
              <a:t>22%</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5600" y="2487600"/>
            <a:ext cx="1188000" cy="503999"/>
          </a:xfrm>
          <a:prstGeom prst="rect">
            <a:avLst/>
          </a:prstGeom>
          <a:noFill/>
        </p:spPr>
        <p:txBody>
          <a:bodyPr wrap="none"/>
          <a:lstStyle/>
          <a:p>
            <a:pPr algn="l">
              <a:defRPr sz="1400" b="1">
                <a:solidFill>
                  <a:srgbClr val="595959"/>
                </a:solidFill>
                <a:latin typeface="Montserrat"/>
              </a:defRPr>
            </a:pPr>
            <a:r>
              <a:t>78,827</a:t>
            </a:r>
            <a:br/>
            <a:r>
              <a:t>2%</a:t>
            </a:r>
          </a:p>
        </p:txBody>
      </p:sp>
      <p:pic>
        <p:nvPicPr>
          <p:cNvPr id="122" name="Picture 121" descr="imss_coplamar.png"/>
          <p:cNvPicPr>
            <a:picLocks noChangeAspect="1"/>
          </p:cNvPicPr>
          <p:nvPr/>
        </p:nvPicPr>
        <p:blipFill>
          <a:blip r:embed="rId7"/>
          <a:stretch>
            <a:fillRect/>
          </a:stretch>
        </p:blipFill>
        <p:spPr>
          <a:xfrm>
            <a:off x="6004800" y="2523600"/>
            <a:ext cx="586036" cy="468000"/>
          </a:xfrm>
          <a:prstGeom prst="rect">
            <a:avLst/>
          </a:prstGeom>
        </p:spPr>
      </p:pic>
      <p:sp>
        <p:nvSpPr>
          <p:cNvPr id="123" name="Rectangle 122"/>
          <p:cNvSpPr/>
          <p:nvPr/>
        </p:nvSpPr>
        <p:spPr>
          <a:xfrm>
            <a:off x="5796000" y="2696400"/>
            <a:ext cx="122400" cy="122400"/>
          </a:xfrm>
          <a:prstGeom prst="rect">
            <a:avLst/>
          </a:prstGeom>
          <a:solidFill>
            <a:srgbClr val="539ED0"/>
          </a:solidFill>
          <a:ln>
            <a:solidFill>
              <a:srgbClr val="539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625,250</a:t>
            </a:r>
            <a:br/>
            <a:r>
              <a:t>17%</a:t>
            </a:r>
          </a:p>
        </p:txBody>
      </p:sp>
      <p:pic>
        <p:nvPicPr>
          <p:cNvPr id="125" name="Picture 124" descr="issste.png"/>
          <p:cNvPicPr>
            <a:picLocks noChangeAspect="1"/>
          </p:cNvPicPr>
          <p:nvPr/>
        </p:nvPicPr>
        <p:blipFill>
          <a:blip r:embed="rId8"/>
          <a:stretch>
            <a:fillRect/>
          </a:stretch>
        </p:blipFill>
        <p:spPr>
          <a:xfrm>
            <a:off x="5151600" y="3798000"/>
            <a:ext cx="1437091" cy="468000"/>
          </a:xfrm>
          <a:prstGeom prst="rect">
            <a:avLst/>
          </a:prstGeom>
        </p:spPr>
      </p:pic>
      <p:sp>
        <p:nvSpPr>
          <p:cNvPr id="126" name="Rectangle 125"/>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2,092,137</a:t>
            </a:r>
            <a:br/>
            <a:r>
              <a:t>58%</a:t>
            </a:r>
          </a:p>
        </p:txBody>
      </p:sp>
      <p:pic>
        <p:nvPicPr>
          <p:cNvPr id="128" name="Picture 127" descr="12.png"/>
          <p:cNvPicPr>
            <a:picLocks noChangeAspect="1"/>
          </p:cNvPicPr>
          <p:nvPr/>
        </p:nvPicPr>
        <p:blipFill>
          <a:blip r:embed="rId9"/>
          <a:stretch>
            <a:fillRect/>
          </a:stretch>
        </p:blipFill>
        <p:spPr>
          <a:xfrm>
            <a:off x="1220400" y="3290400"/>
            <a:ext cx="1247031" cy="468000"/>
          </a:xfrm>
          <a:prstGeom prst="rect">
            <a:avLst/>
          </a:prstGeom>
        </p:spPr>
      </p:pic>
      <p:sp>
        <p:nvSpPr>
          <p:cNvPr id="129" name="Rectangle 128"/>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33,021</a:t>
            </a:r>
            <a:br/>
            <a:r>
              <a:t>0.92%</a:t>
            </a:r>
          </a:p>
        </p:txBody>
      </p:sp>
      <p:pic>
        <p:nvPicPr>
          <p:cNvPr id="131" name="Picture 130" descr="otros.png"/>
          <p:cNvPicPr>
            <a:picLocks noChangeAspect="1"/>
          </p:cNvPicPr>
          <p:nvPr/>
        </p:nvPicPr>
        <p:blipFill>
          <a:blip r:embed="rId10"/>
          <a:stretch>
            <a:fillRect/>
          </a:stretch>
        </p:blipFill>
        <p:spPr>
          <a:xfrm>
            <a:off x="1220400" y="1800000"/>
            <a:ext cx="468000" cy="468000"/>
          </a:xfrm>
          <a:prstGeom prst="rect">
            <a:avLst/>
          </a:prstGeom>
        </p:spPr>
      </p:pic>
      <p:sp>
        <p:nvSpPr>
          <p:cNvPr id="132" name="Rectangle 131"/>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3,606,296</a:t>
            </a:r>
          </a:p>
        </p:txBody>
      </p:sp>
      <p:sp>
        <p:nvSpPr>
          <p:cNvPr id="134" name="TextBox 133"/>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5" name="TextBox 134"/>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6" name="TextBox 135"/>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696,285</a:t>
                      </a:r>
                    </a:p>
                  </a:txBody>
                  <a:tcPr>
                    <a:solidFill>
                      <a:srgbClr val="EBD2D9"/>
                    </a:solidFill>
                  </a:tcPr>
                </a:tc>
                <a:tc>
                  <a:txBody>
                    <a:bodyPr/>
                    <a:lstStyle/>
                    <a:p>
                      <a:pPr algn="ctr">
                        <a:defRPr sz="900" b="1">
                          <a:solidFill>
                            <a:srgbClr val="000000"/>
                          </a:solidFill>
                          <a:latin typeface="Montserrat"/>
                        </a:defRPr>
                      </a:pPr>
                      <a:r>
                        <a:t>777,061</a:t>
                      </a:r>
                    </a:p>
                  </a:txBody>
                  <a:tcPr>
                    <a:solidFill>
                      <a:srgbClr val="EBD2D9"/>
                    </a:solidFill>
                  </a:tcPr>
                </a:tc>
                <a:tc>
                  <a:txBody>
                    <a:bodyPr/>
                    <a:lstStyle/>
                    <a:p>
                      <a:pPr algn="ctr">
                        <a:defRPr sz="900" b="1">
                          <a:solidFill>
                            <a:srgbClr val="000000"/>
                          </a:solidFill>
                          <a:latin typeface="Montserrat"/>
                        </a:defRPr>
                      </a:pPr>
                      <a:r>
                        <a:t>12%</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385,762</a:t>
                      </a:r>
                    </a:p>
                  </a:txBody>
                  <a:tcPr>
                    <a:solidFill>
                      <a:srgbClr val="EBD2D9"/>
                    </a:solidFill>
                  </a:tcPr>
                </a:tc>
                <a:tc>
                  <a:txBody>
                    <a:bodyPr/>
                    <a:lstStyle/>
                    <a:p>
                      <a:pPr algn="ctr">
                        <a:defRPr sz="900" b="1">
                          <a:solidFill>
                            <a:srgbClr val="000000"/>
                          </a:solidFill>
                          <a:latin typeface="Montserrat"/>
                        </a:defRPr>
                      </a:pPr>
                      <a:r>
                        <a:t>456,928</a:t>
                      </a:r>
                    </a:p>
                  </a:txBody>
                  <a:tcPr>
                    <a:solidFill>
                      <a:srgbClr val="EBD2D9"/>
                    </a:solidFill>
                  </a:tcPr>
                </a:tc>
                <a:tc>
                  <a:txBody>
                    <a:bodyPr/>
                    <a:lstStyle/>
                    <a:p>
                      <a:pPr algn="ctr">
                        <a:defRPr sz="900" b="1">
                          <a:solidFill>
                            <a:srgbClr val="000000"/>
                          </a:solidFill>
                          <a:latin typeface="Montserrat"/>
                        </a:defRPr>
                      </a:pPr>
                      <a:r>
                        <a:t>18%</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157,793</a:t>
                      </a:r>
                    </a:p>
                  </a:txBody>
                  <a:tcPr>
                    <a:solidFill>
                      <a:srgbClr val="F8F4EC"/>
                    </a:solidFill>
                  </a:tcPr>
                </a:tc>
                <a:tc>
                  <a:txBody>
                    <a:bodyPr/>
                    <a:lstStyle/>
                    <a:p>
                      <a:pPr algn="ctr">
                        <a:defRPr sz="900" b="1">
                          <a:solidFill>
                            <a:srgbClr val="000000"/>
                          </a:solidFill>
                          <a:latin typeface="Montserrat"/>
                        </a:defRPr>
                      </a:pPr>
                      <a:r>
                        <a:t>159,457</a:t>
                      </a:r>
                    </a:p>
                  </a:txBody>
                  <a:tcPr>
                    <a:solidFill>
                      <a:srgbClr val="F8F4EC"/>
                    </a:solidFill>
                  </a:tcPr>
                </a:tc>
                <a:tc>
                  <a:txBody>
                    <a:bodyPr/>
                    <a:lstStyle/>
                    <a:p>
                      <a:pPr algn="ctr">
                        <a:defRPr sz="900" b="1">
                          <a:solidFill>
                            <a:srgbClr val="000000"/>
                          </a:solidFill>
                          <a:latin typeface="Montserrat"/>
                        </a:defRPr>
                      </a:pPr>
                      <a:r>
                        <a:t>1%</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47,963</a:t>
                      </a:r>
                    </a:p>
                  </a:txBody>
                  <a:tcPr>
                    <a:solidFill>
                      <a:srgbClr val="FFFFFF"/>
                    </a:solidFill>
                  </a:tcPr>
                </a:tc>
                <a:tc>
                  <a:txBody>
                    <a:bodyPr/>
                    <a:lstStyle/>
                    <a:p>
                      <a:pPr algn="ctr">
                        <a:defRPr sz="900">
                          <a:solidFill>
                            <a:srgbClr val="000000"/>
                          </a:solidFill>
                          <a:latin typeface="Montserrat"/>
                        </a:defRPr>
                      </a:pPr>
                      <a:r>
                        <a:t>67,257</a:t>
                      </a:r>
                    </a:p>
                  </a:txBody>
                  <a:tcPr>
                    <a:solidFill>
                      <a:srgbClr val="FFFFFF"/>
                    </a:solidFill>
                  </a:tcPr>
                </a:tc>
                <a:tc>
                  <a:txBody>
                    <a:bodyPr/>
                    <a:lstStyle/>
                    <a:p>
                      <a:pPr algn="ctr">
                        <a:defRPr sz="900">
                          <a:solidFill>
                            <a:srgbClr val="000000"/>
                          </a:solidFill>
                          <a:latin typeface="Montserrat"/>
                        </a:defRPr>
                      </a:pPr>
                      <a:r>
                        <a:t>40%</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6,956</a:t>
                      </a:r>
                    </a:p>
                  </a:txBody>
                  <a:tcPr>
                    <a:solidFill>
                      <a:srgbClr val="FFFFFF"/>
                    </a:solidFill>
                  </a:tcPr>
                </a:tc>
                <a:tc>
                  <a:txBody>
                    <a:bodyPr/>
                    <a:lstStyle/>
                    <a:p>
                      <a:pPr algn="ctr">
                        <a:defRPr sz="900">
                          <a:solidFill>
                            <a:srgbClr val="000000"/>
                          </a:solidFill>
                          <a:latin typeface="Montserrat"/>
                        </a:defRPr>
                      </a:pPr>
                      <a:r>
                        <a:t>7,385</a:t>
                      </a:r>
                    </a:p>
                  </a:txBody>
                  <a:tcPr>
                    <a:solidFill>
                      <a:srgbClr val="FFFFFF"/>
                    </a:solidFill>
                  </a:tcPr>
                </a:tc>
                <a:tc>
                  <a:txBody>
                    <a:bodyPr/>
                    <a:lstStyle/>
                    <a:p>
                      <a:pPr algn="ctr">
                        <a:defRPr sz="900">
                          <a:solidFill>
                            <a:srgbClr val="000000"/>
                          </a:solidFill>
                          <a:latin typeface="Montserrat"/>
                        </a:defRPr>
                      </a:pPr>
                      <a:r>
                        <a:t>6%</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173,050</a:t>
                      </a:r>
                    </a:p>
                  </a:txBody>
                  <a:tcPr>
                    <a:solidFill>
                      <a:srgbClr val="CCE0DD"/>
                    </a:solidFill>
                  </a:tcPr>
                </a:tc>
                <a:tc>
                  <a:txBody>
                    <a:bodyPr/>
                    <a:lstStyle/>
                    <a:p>
                      <a:pPr algn="ctr">
                        <a:defRPr sz="900" b="1">
                          <a:solidFill>
                            <a:srgbClr val="000000"/>
                          </a:solidFill>
                          <a:latin typeface="Montserrat"/>
                        </a:defRPr>
                      </a:pPr>
                      <a:r>
                        <a:t>181,310</a:t>
                      </a:r>
                    </a:p>
                  </a:txBody>
                  <a:tcPr>
                    <a:solidFill>
                      <a:srgbClr val="CCE0DD"/>
                    </a:solidFill>
                  </a:tcPr>
                </a:tc>
                <a:tc>
                  <a:txBody>
                    <a:bodyPr/>
                    <a:lstStyle/>
                    <a:p>
                      <a:pPr algn="ctr">
                        <a:defRPr sz="900" b="1">
                          <a:solidFill>
                            <a:srgbClr val="000000"/>
                          </a:solidFill>
                          <a:latin typeface="Montserrat"/>
                        </a:defRPr>
                      </a:pPr>
                      <a:r>
                        <a:t>5%</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155,606</a:t>
                      </a:r>
                    </a:p>
                  </a:txBody>
                  <a:tcPr>
                    <a:solidFill>
                      <a:srgbClr val="FFFFFF"/>
                    </a:solidFill>
                  </a:tcPr>
                </a:tc>
                <a:tc>
                  <a:txBody>
                    <a:bodyPr/>
                    <a:lstStyle/>
                    <a:p>
                      <a:pPr algn="ctr">
                        <a:defRPr sz="900">
                          <a:solidFill>
                            <a:srgbClr val="000000"/>
                          </a:solidFill>
                          <a:latin typeface="Montserrat"/>
                        </a:defRPr>
                      </a:pPr>
                      <a:r>
                        <a:t>171,792</a:t>
                      </a:r>
                    </a:p>
                  </a:txBody>
                  <a:tcPr>
                    <a:solidFill>
                      <a:srgbClr val="FFFFFF"/>
                    </a:solidFill>
                  </a:tcPr>
                </a:tc>
                <a:tc>
                  <a:txBody>
                    <a:bodyPr/>
                    <a:lstStyle/>
                    <a:p>
                      <a:pPr algn="ctr">
                        <a:defRPr sz="900">
                          <a:solidFill>
                            <a:srgbClr val="000000"/>
                          </a:solidFill>
                          <a:latin typeface="Montserrat"/>
                        </a:defRPr>
                      </a:pPr>
                      <a:r>
                        <a:t>10%</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15,812</a:t>
                      </a:r>
                    </a:p>
                  </a:txBody>
                  <a:tcPr>
                    <a:solidFill>
                      <a:srgbClr val="FFFFFF"/>
                    </a:solidFill>
                  </a:tcPr>
                </a:tc>
                <a:tc>
                  <a:txBody>
                    <a:bodyPr/>
                    <a:lstStyle/>
                    <a:p>
                      <a:pPr algn="ctr">
                        <a:defRPr sz="900">
                          <a:solidFill>
                            <a:srgbClr val="000000"/>
                          </a:solidFill>
                          <a:latin typeface="Montserrat"/>
                        </a:defRPr>
                      </a:pPr>
                      <a:r>
                        <a:t>7,429</a:t>
                      </a:r>
                    </a:p>
                  </a:txBody>
                  <a:tcPr>
                    <a:solidFill>
                      <a:srgbClr val="FFFFFF"/>
                    </a:solidFill>
                  </a:tcPr>
                </a:tc>
                <a:tc>
                  <a:txBody>
                    <a:bodyPr/>
                    <a:lstStyle/>
                    <a:p>
                      <a:pPr algn="ctr">
                        <a:defRPr sz="900">
                          <a:solidFill>
                            <a:srgbClr val="000000"/>
                          </a:solidFill>
                          <a:latin typeface="Montserrat"/>
                        </a:defRPr>
                      </a:pPr>
                      <a:r>
                        <a:t>-53%</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1,632</a:t>
                      </a:r>
                    </a:p>
                  </a:txBody>
                  <a:tcPr>
                    <a:solidFill>
                      <a:srgbClr val="FFFFFF"/>
                    </a:solidFill>
                  </a:tcPr>
                </a:tc>
                <a:tc>
                  <a:txBody>
                    <a:bodyPr/>
                    <a:lstStyle/>
                    <a:p>
                      <a:pPr algn="ctr">
                        <a:defRPr sz="900">
                          <a:solidFill>
                            <a:srgbClr val="000000"/>
                          </a:solidFill>
                          <a:latin typeface="Montserrat"/>
                        </a:defRPr>
                      </a:pPr>
                      <a:r>
                        <a:t>2,089</a:t>
                      </a:r>
                    </a:p>
                  </a:txBody>
                  <a:tcPr>
                    <a:solidFill>
                      <a:srgbClr val="FFFFFF"/>
                    </a:solidFill>
                  </a:tcPr>
                </a:tc>
                <a:tc>
                  <a:txBody>
                    <a:bodyPr/>
                    <a:lstStyle/>
                    <a:p>
                      <a:pPr algn="ctr">
                        <a:defRPr sz="900">
                          <a:solidFill>
                            <a:srgbClr val="000000"/>
                          </a:solidFill>
                          <a:latin typeface="Montserrat"/>
                        </a:defRPr>
                      </a:pPr>
                      <a:r>
                        <a:t>28%</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310,523</a:t>
                      </a:r>
                    </a:p>
                  </a:txBody>
                  <a:tcPr>
                    <a:solidFill>
                      <a:srgbClr val="EBD2D9"/>
                    </a:solidFill>
                  </a:tcPr>
                </a:tc>
                <a:tc>
                  <a:txBody>
                    <a:bodyPr/>
                    <a:lstStyle/>
                    <a:p>
                      <a:pPr algn="ctr">
                        <a:defRPr sz="900" b="1">
                          <a:solidFill>
                            <a:srgbClr val="000000"/>
                          </a:solidFill>
                          <a:latin typeface="Montserrat"/>
                        </a:defRPr>
                      </a:pPr>
                      <a:r>
                        <a:t>320,133</a:t>
                      </a:r>
                    </a:p>
                  </a:txBody>
                  <a:tcPr>
                    <a:solidFill>
                      <a:srgbClr val="EBD2D9"/>
                    </a:solidFill>
                  </a:tcPr>
                </a:tc>
                <a:tc>
                  <a:txBody>
                    <a:bodyPr/>
                    <a:lstStyle/>
                    <a:p>
                      <a:pPr algn="ctr">
                        <a:defRPr sz="900" b="1">
                          <a:solidFill>
                            <a:srgbClr val="000000"/>
                          </a:solidFill>
                          <a:latin typeface="Montserrat"/>
                        </a:defRPr>
                      </a:pPr>
                      <a:r>
                        <a:t>3%</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95,245</a:t>
                      </a:r>
                    </a:p>
                  </a:txBody>
                  <a:tcPr>
                    <a:solidFill>
                      <a:srgbClr val="FFFFFF"/>
                    </a:solidFill>
                  </a:tcPr>
                </a:tc>
                <a:tc>
                  <a:txBody>
                    <a:bodyPr/>
                    <a:lstStyle/>
                    <a:p>
                      <a:pPr algn="ctr">
                        <a:defRPr sz="900">
                          <a:solidFill>
                            <a:srgbClr val="000000"/>
                          </a:solidFill>
                          <a:latin typeface="Montserrat"/>
                        </a:defRPr>
                      </a:pPr>
                      <a:r>
                        <a:t>102,700</a:t>
                      </a:r>
                    </a:p>
                  </a:txBody>
                  <a:tcPr>
                    <a:solidFill>
                      <a:srgbClr val="FFFFFF"/>
                    </a:solidFill>
                  </a:tcPr>
                </a:tc>
                <a:tc>
                  <a:txBody>
                    <a:bodyPr/>
                    <a:lstStyle/>
                    <a:p>
                      <a:pPr algn="ctr">
                        <a:defRPr sz="900">
                          <a:solidFill>
                            <a:srgbClr val="000000"/>
                          </a:solidFill>
                          <a:latin typeface="Montserrat"/>
                        </a:defRPr>
                      </a:pPr>
                      <a:r>
                        <a:t>8%</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131,724</a:t>
                      </a:r>
                    </a:p>
                  </a:txBody>
                  <a:tcPr>
                    <a:solidFill>
                      <a:srgbClr val="FFFFFF"/>
                    </a:solidFill>
                  </a:tcPr>
                </a:tc>
                <a:tc>
                  <a:txBody>
                    <a:bodyPr/>
                    <a:lstStyle/>
                    <a:p>
                      <a:pPr algn="ctr">
                        <a:defRPr sz="900">
                          <a:solidFill>
                            <a:srgbClr val="000000"/>
                          </a:solidFill>
                          <a:latin typeface="Montserrat"/>
                        </a:defRPr>
                      </a:pPr>
                      <a:r>
                        <a:t>109,912</a:t>
                      </a:r>
                    </a:p>
                  </a:txBody>
                  <a:tcPr>
                    <a:solidFill>
                      <a:srgbClr val="FFFFFF"/>
                    </a:solidFill>
                  </a:tcPr>
                </a:tc>
                <a:tc>
                  <a:txBody>
                    <a:bodyPr/>
                    <a:lstStyle/>
                    <a:p>
                      <a:pPr algn="ctr">
                        <a:defRPr sz="900">
                          <a:solidFill>
                            <a:srgbClr val="000000"/>
                          </a:solidFill>
                          <a:latin typeface="Montserrat"/>
                        </a:defRPr>
                      </a:pPr>
                      <a:r>
                        <a:t>-17%</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83,554</a:t>
                      </a:r>
                    </a:p>
                  </a:txBody>
                  <a:tcPr>
                    <a:solidFill>
                      <a:srgbClr val="FFFFFF"/>
                    </a:solidFill>
                  </a:tcPr>
                </a:tc>
                <a:tc>
                  <a:txBody>
                    <a:bodyPr/>
                    <a:lstStyle/>
                    <a:p>
                      <a:pPr algn="ctr">
                        <a:defRPr sz="900">
                          <a:solidFill>
                            <a:srgbClr val="000000"/>
                          </a:solidFill>
                          <a:latin typeface="Montserrat"/>
                        </a:defRPr>
                      </a:pPr>
                      <a:r>
                        <a:t>107,521</a:t>
                      </a:r>
                    </a:p>
                  </a:txBody>
                  <a:tcPr>
                    <a:solidFill>
                      <a:srgbClr val="FFFFFF"/>
                    </a:solidFill>
                  </a:tcPr>
                </a:tc>
                <a:tc>
                  <a:txBody>
                    <a:bodyPr/>
                    <a:lstStyle/>
                    <a:p>
                      <a:pPr algn="ctr">
                        <a:defRPr sz="900">
                          <a:solidFill>
                            <a:srgbClr val="000000"/>
                          </a:solidFill>
                          <a:latin typeface="Montserrat"/>
                        </a:defRPr>
                      </a:pPr>
                      <a:r>
                        <a:t>29%</a:t>
                      </a:r>
                    </a:p>
                  </a:txBody>
                  <a:tcPr>
                    <a:solidFill>
                      <a:srgbClr val="FFFFFF"/>
                    </a:solidFill>
                  </a:tcPr>
                </a:tc>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1,257</a:t>
                      </a:r>
                    </a:p>
                  </a:txBody>
                  <a:tcPr>
                    <a:solidFill>
                      <a:srgbClr val="F8F4EC"/>
                    </a:solidFill>
                  </a:tcPr>
                </a:tc>
                <a:tc>
                  <a:txBody>
                    <a:bodyPr/>
                    <a:lstStyle/>
                    <a:p>
                      <a:pPr algn="ctr">
                        <a:defRPr b="1" sz="900">
                          <a:latin typeface="Montserrat"/>
                        </a:defRPr>
                      </a:pPr>
                      <a:r>
                        <a:t>1,124</a:t>
                      </a:r>
                    </a:p>
                  </a:txBody>
                  <a:tcPr>
                    <a:solidFill>
                      <a:srgbClr val="F8F4EC"/>
                    </a:solidFill>
                  </a:tcPr>
                </a:tc>
                <a:tc>
                  <a:txBody>
                    <a:bodyPr/>
                    <a:lstStyle/>
                    <a:p>
                      <a:pPr algn="ctr">
                        <a:defRPr b="1" sz="900">
                          <a:solidFill>
                            <a:srgbClr val="A61C00"/>
                          </a:solidFill>
                          <a:latin typeface="Montserrat"/>
                        </a:defRPr>
                      </a:pPr>
                      <a:r>
                        <a:t>-10%</a:t>
                      </a:r>
                    </a:p>
                  </a:txBody>
                  <a:tcPr>
                    <a:solidFill>
                      <a:srgbClr val="F8F4EC"/>
                    </a:solidFill>
                  </a:tcPr>
                </a:tc>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11,664</a:t>
                      </a:r>
                    </a:p>
                  </a:txBody>
                  <a:tcPr>
                    <a:solidFill>
                      <a:srgbClr val="F8F4EC"/>
                    </a:solidFill>
                  </a:tcPr>
                </a:tc>
                <a:tc>
                  <a:txBody>
                    <a:bodyPr/>
                    <a:lstStyle/>
                    <a:p>
                      <a:pPr algn="ctr">
                        <a:defRPr b="1" sz="900">
                          <a:latin typeface="Montserrat"/>
                        </a:defRPr>
                      </a:pPr>
                      <a:r>
                        <a:t>13,403</a:t>
                      </a:r>
                    </a:p>
                  </a:txBody>
                  <a:tcPr>
                    <a:solidFill>
                      <a:srgbClr val="F8F4EC"/>
                    </a:solidFill>
                  </a:tcPr>
                </a:tc>
                <a:tc>
                  <a:txBody>
                    <a:bodyPr/>
                    <a:lstStyle/>
                    <a:p>
                      <a:pPr algn="ctr">
                        <a:defRPr b="1" sz="900">
                          <a:latin typeface="Montserrat"/>
                        </a:defRPr>
                      </a:pPr>
                      <a:r>
                        <a:t>15%</a:t>
                      </a:r>
                    </a:p>
                  </a:txBody>
                  <a:tcPr>
                    <a:solidFill>
                      <a:srgbClr val="F8F4EC"/>
                    </a:solidFill>
                  </a:tcPr>
                </a:tc>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12_gro.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97200" y="6854400"/>
          <a:ext cx="4359600" cy="1170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15</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85</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27</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6</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34</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519</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223</a:t>
                      </a:r>
                    </a:p>
                  </a:txBody>
                  <a:tcPr marL="10800" marR="10800" marT="10800" marB="10800" anchor="ctr">
                    <a:solidFill>
                      <a:srgbClr val="EFEFE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21</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119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519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250</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4536000" y="6854400"/>
          <a:ext cx="3096000" cy="1242000"/>
        </p:xfrm>
        <a:graphic>
          <a:graphicData uri="http://schemas.openxmlformats.org/drawingml/2006/table">
            <a:tbl>
              <a:tblPr firstRow="1" bandRow="1">
                <a:tableStyleId>{5C22544A-7EE6-4342-B048-85BDC9FD1C3A}</a:tableStyleId>
              </a:tblPr>
              <a:tblGrid>
                <a:gridCol w="846000"/>
                <a:gridCol w="846000"/>
                <a:gridCol w="846000"/>
                <a:gridCol w="558000"/>
              </a:tblGrid>
              <a:tr h="248400">
                <a:tc gridSpan="4">
                  <a:txBody>
                    <a:bodyPr/>
                    <a:lstStyle/>
                    <a:p>
                      <a:pPr algn="ctr">
                        <a:defRPr b="1" sz="1000">
                          <a:solidFill>
                            <a:srgbClr val="FFFFFF"/>
                          </a:solidFill>
                          <a:latin typeface="Montserrat"/>
                        </a:defRPr>
                      </a:pPr>
                      <a:r>
                        <a:t>IMSS-COPLAMAR</a:t>
                      </a:r>
                    </a:p>
                  </a:txBody>
                  <a:tcPr marL="10800" marR="10800" marT="10800" marB="10800" anchor="ctr">
                    <a:solidFill>
                      <a:srgbClr val="BC955C"/>
                    </a:solidFill>
                  </a:tcPr>
                </a:tc>
                <a:tc hMerge="1">
                  <a:txBody>
                    <a:bodyPr/>
                    <a:lstStyle/>
                    <a:p/>
                  </a:txBody>
                  <a:tcPr marL="10800" marR="10800" marT="10800" marB="10800" anchor="ctr"/>
                </a:tc>
                <a:tc hMerge="1">
                  <a:txBody>
                    <a:bodyPr/>
                    <a:lstStyle/>
                    <a:p/>
                  </a:txBody>
                  <a:tcPr marL="10800" marR="10800" marT="10800" marB="10800" anchor="ctr"/>
                </a:tc>
                <a:tc hMerge="1">
                  <a:txBody>
                    <a:bodyPr/>
                    <a:lstStyle/>
                    <a:p/>
                  </a:txBody>
                  <a:tcPr marL="10800" marR="10800" marT="10800" marB="10800" anchor="ctr"/>
                </a:tc>
              </a:tr>
              <a:tr h="248400">
                <a:tc>
                  <a:txBody>
                    <a:bodyPr/>
                    <a:lstStyle/>
                    <a:p>
                      <a:pPr algn="ctr">
                        <a:defRPr b="1" sz="1000">
                          <a:solidFill>
                            <a:srgbClr val="FFFFFF"/>
                          </a:solidFill>
                          <a:latin typeface="Montserrat"/>
                        </a:defRPr>
                      </a:pPr>
                      <a:r>
                        <a:t>Nivel</a:t>
                      </a:r>
                    </a:p>
                  </a:txBody>
                  <a:tcPr marL="10800" marR="10800" marT="10800" marB="10800" anchor="ctr">
                    <a:solidFill>
                      <a:srgbClr val="BC955C"/>
                    </a:solidFill>
                  </a:tcPr>
                </a:tc>
                <a:tc>
                  <a:txBody>
                    <a:bodyPr/>
                    <a:lstStyle/>
                    <a:p>
                      <a:pPr algn="ctr">
                        <a:defRPr b="1" sz="1000">
                          <a:solidFill>
                            <a:srgbClr val="FFFFFF"/>
                          </a:solidFill>
                          <a:latin typeface="Montserrat"/>
                        </a:defRPr>
                      </a:pPr>
                      <a:r>
                        <a:t>Unidades</a:t>
                      </a:r>
                    </a:p>
                  </a:txBody>
                  <a:tcPr marL="0" marR="0" marT="10800" marB="10800" anchor="ctr">
                    <a:solidFill>
                      <a:srgbClr val="BC955C"/>
                    </a:solidFill>
                  </a:tcPr>
                </a:tc>
                <a:tc>
                  <a:txBody>
                    <a:bodyPr/>
                    <a:lstStyle/>
                    <a:p>
                      <a:pPr algn="ctr">
                        <a:defRPr b="1" sz="1000">
                          <a:solidFill>
                            <a:srgbClr val="FFFFFF"/>
                          </a:solidFill>
                          <a:latin typeface="Montserrat"/>
                        </a:defRPr>
                      </a:pPr>
                      <a:r>
                        <a:t>Consultorios de MF</a:t>
                      </a:r>
                    </a:p>
                  </a:txBody>
                  <a:tcPr marL="0" marR="0" marT="10800" marB="10800" anchor="ctr">
                    <a:solidFill>
                      <a:srgbClr val="BC955C"/>
                    </a:solidFill>
                  </a:tcPr>
                </a:tc>
                <a:tc>
                  <a:txBody>
                    <a:bodyPr/>
                    <a:lstStyle/>
                    <a:p>
                      <a:pPr algn="ctr">
                        <a:defRPr b="1" sz="1000">
                          <a:solidFill>
                            <a:srgbClr val="FFFFFF"/>
                          </a:solidFill>
                          <a:latin typeface="Montserrat"/>
                        </a:defRPr>
                      </a:pPr>
                      <a:r>
                        <a:t>Camas</a:t>
                      </a:r>
                    </a:p>
                  </a:txBody>
                  <a:tcPr marL="0" marR="0" marT="10800" marB="10800" anchor="ctr">
                    <a:solidFill>
                      <a:srgbClr val="BC955C"/>
                    </a:solidFill>
                  </a:tcPr>
                </a:tc>
              </a:tr>
              <a:tr h="2484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t>19</a:t>
                      </a:r>
                    </a:p>
                  </a:txBody>
                  <a:tcPr marL="10800" marR="10800" marT="10800" marB="10800" anchor="ctr">
                    <a:solidFill>
                      <a:srgbClr val="FFFFFF"/>
                    </a:solidFill>
                  </a:tcPr>
                </a:tc>
                <a:tc>
                  <a:txBody>
                    <a:bodyPr/>
                    <a:lstStyle/>
                    <a:p>
                      <a:pPr algn="ctr">
                        <a:defRPr sz="1000">
                          <a:solidFill>
                            <a:srgbClr val="000000"/>
                          </a:solidFill>
                          <a:latin typeface="Montserrat"/>
                        </a:defRPr>
                      </a:pPr>
                      <a:r>
                        <a:t>22</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tr>
              <a:tr h="2484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1</a:t>
                      </a:r>
                    </a:p>
                  </a:txBody>
                  <a:tcPr marL="10800" marR="10800" marT="10800" marB="10800" anchor="ctr">
                    <a:solidFill>
                      <a:srgbClr val="EFEFEF"/>
                    </a:solidFill>
                  </a:tcPr>
                </a:tc>
                <a:tc>
                  <a:txBody>
                    <a:bodyPr/>
                    <a:lstStyle/>
                    <a:p>
                      <a:pPr algn="ctr">
                        <a:defRPr sz="1000">
                          <a:solidFill>
                            <a:srgbClr val="000000"/>
                          </a:solidFill>
                          <a:latin typeface="Montserrat"/>
                        </a:defRPr>
                      </a:pPr>
                      <a:r>
                        <a:t>4</a:t>
                      </a:r>
                    </a:p>
                  </a:txBody>
                  <a:tcPr marL="10800" marR="10800" marT="10800" marB="10800" anchor="ctr">
                    <a:solidFill>
                      <a:srgbClr val="EFEFEF"/>
                    </a:solidFill>
                  </a:tcPr>
                </a:tc>
                <a:tc>
                  <a:txBody>
                    <a:bodyPr/>
                    <a:lstStyle/>
                    <a:p>
                      <a:pPr algn="ctr">
                        <a:defRPr sz="1000">
                          <a:solidFill>
                            <a:srgbClr val="000000"/>
                          </a:solidFill>
                          <a:latin typeface="Montserrat"/>
                        </a:defRPr>
                      </a:pPr>
                      <a:r>
                        <a:t>30</a:t>
                      </a:r>
                    </a:p>
                  </a:txBody>
                  <a:tcPr marL="10800" marR="10800" marT="10800" marB="10800" anchor="ctr">
                    <a:solidFill>
                      <a:srgbClr val="EFEFEF"/>
                    </a:solidFill>
                  </a:tcPr>
                </a:tc>
              </a:tr>
              <a:tr h="2484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20</a:t>
                      </a:r>
                    </a:p>
                  </a:txBody>
                  <a:tcPr marL="10800" marR="10800" marT="10800" marB="10800" anchor="ctr">
                    <a:solidFill>
                      <a:srgbClr val="D3E9E7"/>
                    </a:solidFill>
                  </a:tcPr>
                </a:tc>
                <a:tc>
                  <a:txBody>
                    <a:bodyPr/>
                    <a:lstStyle/>
                    <a:p>
                      <a:pPr algn="ctr">
                        <a:defRPr sz="1000" b="1">
                          <a:solidFill>
                            <a:srgbClr val="006556"/>
                          </a:solidFill>
                          <a:latin typeface="Montserrat"/>
                        </a:defRPr>
                      </a:pPr>
                      <a:r>
                        <a:t>26</a:t>
                      </a:r>
                    </a:p>
                  </a:txBody>
                  <a:tcPr marL="10800" marR="10800" marT="10800" marB="10800" anchor="ctr">
                    <a:solidFill>
                      <a:srgbClr val="D3E9E7"/>
                    </a:solidFill>
                  </a:tcPr>
                </a:tc>
                <a:tc>
                  <a:txBody>
                    <a:bodyPr/>
                    <a:lstStyle/>
                    <a:p>
                      <a:pPr algn="ctr">
                        <a:defRPr sz="1000" b="1">
                          <a:solidFill>
                            <a:srgbClr val="006556"/>
                          </a:solidFill>
                          <a:latin typeface="Montserrat"/>
                        </a:defRPr>
                      </a:pPr>
                      <a:r>
                        <a:t>30</a:t>
                      </a:r>
                    </a:p>
                  </a:txBody>
                  <a:tcPr marL="10800" marR="10800" marT="10800" marB="10800" anchor="ctr">
                    <a:solidFill>
                      <a:srgbClr val="D3E9E7"/>
                    </a:solidFill>
                  </a:tcPr>
                </a:tc>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1956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195600">
                <a:tc>
                  <a:txBody>
                    <a:bodyPr/>
                    <a:lstStyle/>
                    <a:p>
                      <a:pPr algn="ctr">
                        <a:defRPr sz="1000">
                          <a:solidFill>
                            <a:srgbClr val="000000"/>
                          </a:solidFill>
                          <a:latin typeface="Montserrat"/>
                        </a:defRPr>
                      </a:pPr>
                      <a:r>
                        <a:t>HR</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19560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2</a:t>
                      </a:r>
                    </a:p>
                  </a:txBody>
                  <a:tcPr>
                    <a:solidFill>
                      <a:srgbClr val="FFFFFF"/>
                    </a:solidFill>
                  </a:tcPr>
                </a:tc>
              </a:tr>
              <a:tr h="195600">
                <a:tc>
                  <a:txBody>
                    <a:bodyPr/>
                    <a:lstStyle/>
                    <a:p>
                      <a:pPr algn="ctr">
                        <a:defRPr sz="1000">
                          <a:solidFill>
                            <a:srgbClr val="000000"/>
                          </a:solidFill>
                          <a:latin typeface="Montserrat"/>
                        </a:defRPr>
                      </a:pPr>
                      <a:r>
                        <a:t>HGS</a:t>
                      </a:r>
                    </a:p>
                  </a:txBody>
                  <a:tcPr>
                    <a:solidFill>
                      <a:srgbClr val="EFEFEF"/>
                    </a:solidFill>
                  </a:tcPr>
                </a:tc>
                <a:tc>
                  <a:txBody>
                    <a:bodyPr/>
                    <a:lstStyle/>
                    <a:p>
                      <a:pPr algn="ctr">
                        <a:defRPr sz="1000">
                          <a:solidFill>
                            <a:srgbClr val="000000"/>
                          </a:solidFill>
                          <a:latin typeface="Montserrat"/>
                        </a:defRPr>
                      </a:pPr>
                      <a:r>
                        <a:t>3</a:t>
                      </a:r>
                    </a:p>
                  </a:txBody>
                  <a:tcPr>
                    <a:solidFill>
                      <a:srgbClr val="EFEFEF"/>
                    </a:solidFill>
                  </a:tcPr>
                </a:tc>
              </a:tr>
              <a:tr h="195600">
                <a:tc>
                  <a:txBody>
                    <a:bodyPr/>
                    <a:lstStyle/>
                    <a:p>
                      <a:pPr algn="ctr">
                        <a:defRPr sz="1000">
                          <a:solidFill>
                            <a:srgbClr val="000000"/>
                          </a:solidFill>
                          <a:latin typeface="Montserrat"/>
                        </a:defRPr>
                      </a:pPr>
                      <a:r>
                        <a:t>HGR</a:t>
                      </a:r>
                    </a:p>
                  </a:txBody>
                  <a:tcPr>
                    <a:solidFill>
                      <a:srgbClr val="FFFFFF"/>
                    </a:solidFill>
                  </a:tcPr>
                </a:tc>
                <a:tc>
                  <a:txBody>
                    <a:bodyPr/>
                    <a:lstStyle/>
                    <a:p>
                      <a:pPr algn="ctr">
                        <a:defRPr sz="1000">
                          <a:solidFill>
                            <a:srgbClr val="000000"/>
                          </a:solidFill>
                          <a:latin typeface="Montserrat"/>
                        </a:defRPr>
                      </a:pPr>
                      <a:r>
                        <a:t>1</a:t>
                      </a:r>
                    </a:p>
                  </a:txBody>
                  <a:tcPr>
                    <a:solidFill>
                      <a:srgbClr val="FFFFFF"/>
                    </a:solidFill>
                  </a:tcPr>
                </a:tc>
              </a:tr>
              <a:tr h="1956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r>
            </a:tbl>
          </a:graphicData>
        </a:graphic>
      </p:graphicFrame>
      <p:sp>
        <p:nvSpPr>
          <p:cNvPr id="138" name="TextBox 137"/>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14 UMF, 1 UMF-UMAA y no incluye 9 Unidades Auxiliares de Medicina Familiar.</a:t>
            </a:r>
            <a:br/>
            <a:r>
              <a:t>² No incluye Unidades médicas móviles (UMM) ni Brigadas de salud (BS).</a:t>
            </a:r>
          </a:p>
        </p:txBody>
      </p:sp>
      <p:sp>
        <p:nvSpPr>
          <p:cNvPr id="139" name="TextBox 138"/>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6" name="Google Shape;141;g3d0b4d3c5c9_2_33">
            <a:extLst>
              <a:ext uri="{FF2B5EF4-FFF2-40B4-BE49-F238E27FC236}">
                <a16:creationId xmlns:a16="http://schemas.microsoft.com/office/drawing/2014/main" id="{9DFC0BA5-5C9C-B059-5B74-402440E96DC7}"/>
              </a:ext>
            </a:extLst>
          </p:cNvPr>
          <p:cNvGraphicFramePr/>
          <p:nvPr>
            <p:extLst>
              <p:ext uri="{D42A27DB-BD31-4B8C-83A1-F6EECF244321}">
                <p14:modId xmlns:p14="http://schemas.microsoft.com/office/powerpoint/2010/main" val="485878914"/>
              </p:ext>
            </p:extLst>
          </p:nvPr>
        </p:nvGraphicFramePr>
        <p:xfrm>
          <a:off x="288000" y="1191600"/>
          <a:ext cx="7132025" cy="548640"/>
        </p:xfrm>
        <a:graphic>
          <a:graphicData uri="http://schemas.openxmlformats.org/drawingml/2006/table">
            <a:tbl>
              <a:tblPr>
                <a:noFill/>
              </a:tblPr>
              <a:tblGrid>
                <a:gridCol w="7132025">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Unidad Médico‑Social, Acapulco</a:t>
                      </a:r>
                      <a:endParaRPr sz="18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7" name="Google Shape;143;g3d0b4d3c5c9_2_33">
            <a:extLst>
              <a:ext uri="{FF2B5EF4-FFF2-40B4-BE49-F238E27FC236}">
                <a16:creationId xmlns:a16="http://schemas.microsoft.com/office/drawing/2014/main" id="{EBE398C2-7EA2-8E00-A460-8140C5BC2EB3}"/>
              </a:ext>
            </a:extLst>
          </p:cNvPr>
          <p:cNvPicPr preferRelativeResize="0"/>
          <p:nvPr/>
        </p:nvPicPr>
        <p:blipFill>
          <a:blip r:embed="rId4">
            <a:alphaModFix/>
          </a:blip>
          <a:stretch>
            <a:fillRect/>
          </a:stretch>
        </p:blipFill>
        <p:spPr>
          <a:xfrm>
            <a:off x="288000" y="2412185"/>
            <a:ext cx="3366035" cy="1968086"/>
          </a:xfrm>
          <a:prstGeom prst="rect">
            <a:avLst/>
          </a:prstGeom>
          <a:noFill/>
          <a:ln>
            <a:noFill/>
          </a:ln>
        </p:spPr>
      </p:pic>
      <p:sp>
        <p:nvSpPr>
          <p:cNvPr id="8" name="CuadroTexto 7">
            <a:extLst>
              <a:ext uri="{FF2B5EF4-FFF2-40B4-BE49-F238E27FC236}">
                <a16:creationId xmlns:a16="http://schemas.microsoft.com/office/drawing/2014/main" id="{4067D10F-1AEF-9E29-F99F-AB2C5527E075}"/>
              </a:ext>
            </a:extLst>
          </p:cNvPr>
          <p:cNvSpPr txBox="1"/>
          <p:nvPr/>
        </p:nvSpPr>
        <p:spPr>
          <a:xfrm>
            <a:off x="3727440" y="2081115"/>
            <a:ext cx="3889512" cy="2744341"/>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a operar en el estado en 1957, en Acapulco, las consultas se otorgaban mediante un esquema de subrogación, sobre todo en el Hospital Civil de Acapulco, con consultas de medicina general, atención preventiva y servicios básicos.</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primer hospital propio del IMSS en Guerrero fue la Unidad Médico‑Social del IMSS en Acapulco,  que inició operaciones en 1963. </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Contaba con una capacidad instalada aproximada de 40 camas, y comenzó ofreciendo servicios de hospitalización general, urgencias, medicina interna, cirugía general básica, gineco‑obstetricia, farmacia y apoyo de laboratorio, y dando paso al Hospital Regional del IMSS “Vicente Guerrero”.</a:t>
            </a:r>
          </a:p>
        </p:txBody>
      </p:sp>
      <p:sp>
        <p:nvSpPr>
          <p:cNvPr id="9" name="TextBox 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10" name="TextBox 9"/>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1" name="Connector 10"/>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2" name="Picture 11" descr="gue_12.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3" name="Table 12"/>
          <p:cNvGraphicFramePr>
            <a:graphicFrameLocks noGrp="1"/>
          </p:cNvGraphicFramePr>
          <p:nvPr/>
        </p:nvGraphicFramePr>
        <p:xfrm>
          <a:off x="75600" y="6476399"/>
          <a:ext cx="7650000" cy="18432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HGZMF 4 Iguala</a:t>
                      </a:r>
                    </a:p>
                  </a:txBody>
                  <a:tcPr anchor="ctr">
                    <a:solidFill>
                      <a:srgbClr val="FFFFFF"/>
                    </a:solidFill>
                  </a:tcPr>
                </a:tc>
                <a:tc>
                  <a:txBody>
                    <a:bodyPr/>
                    <a:lstStyle/>
                    <a:p>
                      <a:pPr algn="ctr">
                        <a:defRPr sz="900">
                          <a:latin typeface="Montserrat"/>
                        </a:defRPr>
                      </a:pPr>
                      <a:r>
                        <a:t>Mayo de 1963</a:t>
                      </a:r>
                    </a:p>
                  </a:txBody>
                  <a:tcPr anchor="ctr">
                    <a:solidFill>
                      <a:srgbClr val="FFFFFF"/>
                    </a:solidFill>
                  </a:tcPr>
                </a:tc>
                <a:tc>
                  <a:txBody>
                    <a:bodyPr/>
                    <a:lstStyle/>
                    <a:p>
                      <a:pPr algn="ctr">
                        <a:defRPr sz="900">
                          <a:latin typeface="Montserrat"/>
                        </a:defRPr>
                      </a:pPr>
                      <a:r>
                        <a:t>37</a:t>
                      </a:r>
                    </a:p>
                  </a:txBody>
                  <a:tcPr anchor="ctr">
                    <a:solidFill>
                      <a:srgbClr val="FFFFFF"/>
                    </a:solidFill>
                  </a:tcPr>
                </a:tc>
                <a:tc>
                  <a:txBody>
                    <a:bodyPr/>
                    <a:lstStyle/>
                    <a:p>
                      <a:pPr algn="ctr">
                        <a:defRPr sz="900">
                          <a:latin typeface="Montserrat"/>
                        </a:defRPr>
                      </a:pPr>
                      <a:r>
                        <a:t>22</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13</a:t>
                      </a:r>
                    </a:p>
                  </a:txBody>
                  <a:tcPr anchor="ctr">
                    <a:solidFill>
                      <a:srgbClr val="FFFFFF"/>
                    </a:solidFill>
                  </a:tcPr>
                </a:tc>
              </a:tr>
              <a:tr h="230400">
                <a:tc>
                  <a:txBody>
                    <a:bodyPr/>
                    <a:lstStyle/>
                    <a:p>
                      <a:pPr algn="l">
                        <a:defRPr sz="900">
                          <a:latin typeface="Montserrat"/>
                        </a:defRPr>
                      </a:pPr>
                      <a:r>
                        <a:t>HGZMF 8 Zihuatanejo</a:t>
                      </a:r>
                    </a:p>
                  </a:txBody>
                  <a:tcPr anchor="ctr">
                    <a:solidFill>
                      <a:srgbClr val="EFEFEF"/>
                    </a:solidFill>
                  </a:tcPr>
                </a:tc>
                <a:tc>
                  <a:txBody>
                    <a:bodyPr/>
                    <a:lstStyle/>
                    <a:p>
                      <a:pPr algn="ctr">
                        <a:defRPr sz="900">
                          <a:latin typeface="Montserrat"/>
                        </a:defRPr>
                      </a:pPr>
                      <a:r>
                        <a:t>Agosto de 1963</a:t>
                      </a:r>
                    </a:p>
                  </a:txBody>
                  <a:tcPr anchor="ctr">
                    <a:solidFill>
                      <a:srgbClr val="EFEFEF"/>
                    </a:solidFill>
                  </a:tcPr>
                </a:tc>
                <a:tc>
                  <a:txBody>
                    <a:bodyPr/>
                    <a:lstStyle/>
                    <a:p>
                      <a:pPr algn="ctr">
                        <a:defRPr sz="900">
                          <a:latin typeface="Montserrat"/>
                        </a:defRPr>
                      </a:pPr>
                      <a:r>
                        <a:t>45</a:t>
                      </a:r>
                    </a:p>
                  </a:txBody>
                  <a:tcPr anchor="ctr">
                    <a:solidFill>
                      <a:srgbClr val="EFEFEF"/>
                    </a:solidFill>
                  </a:tcPr>
                </a:tc>
                <a:tc>
                  <a:txBody>
                    <a:bodyPr/>
                    <a:lstStyle/>
                    <a:p>
                      <a:pPr algn="ctr">
                        <a:defRPr sz="900">
                          <a:latin typeface="Montserrat"/>
                        </a:defRPr>
                      </a:pPr>
                      <a:r>
                        <a:t>28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11</a:t>
                      </a:r>
                    </a:p>
                  </a:txBody>
                  <a:tcPr anchor="ctr">
                    <a:solidFill>
                      <a:srgbClr val="EFEFEF"/>
                    </a:solidFill>
                  </a:tcPr>
                </a:tc>
              </a:tr>
              <a:tr h="230400">
                <a:tc>
                  <a:txBody>
                    <a:bodyPr/>
                    <a:lstStyle/>
                    <a:p>
                      <a:pPr algn="l">
                        <a:defRPr sz="900">
                          <a:latin typeface="Montserrat"/>
                        </a:defRPr>
                      </a:pPr>
                      <a:r>
                        <a:t>HGSMF 3 Chilpancingo</a:t>
                      </a:r>
                    </a:p>
                  </a:txBody>
                  <a:tcPr anchor="ctr">
                    <a:solidFill>
                      <a:srgbClr val="FFFFFF"/>
                    </a:solidFill>
                  </a:tcPr>
                </a:tc>
                <a:tc>
                  <a:txBody>
                    <a:bodyPr/>
                    <a:lstStyle/>
                    <a:p>
                      <a:pPr algn="ctr">
                        <a:defRPr sz="900">
                          <a:latin typeface="Montserrat"/>
                        </a:defRPr>
                      </a:pPr>
                      <a:r>
                        <a:t>Noviembre de 1964</a:t>
                      </a:r>
                    </a:p>
                  </a:txBody>
                  <a:tcPr anchor="ctr">
                    <a:solidFill>
                      <a:srgbClr val="FFFFFF"/>
                    </a:solidFill>
                  </a:tcPr>
                </a:tc>
                <a:tc>
                  <a:txBody>
                    <a:bodyPr/>
                    <a:lstStyle/>
                    <a:p>
                      <a:pPr algn="ctr">
                        <a:defRPr sz="900">
                          <a:latin typeface="Montserrat"/>
                        </a:defRPr>
                      </a:pPr>
                      <a:r>
                        <a:t>27</a:t>
                      </a:r>
                    </a:p>
                  </a:txBody>
                  <a:tcPr anchor="ctr">
                    <a:solidFill>
                      <a:srgbClr val="FFFFFF"/>
                    </a:solidFill>
                  </a:tcPr>
                </a:tc>
                <a:tc>
                  <a:txBody>
                    <a:bodyPr/>
                    <a:lstStyle/>
                    <a:p>
                      <a:pPr algn="ctr">
                        <a:defRPr sz="900">
                          <a:latin typeface="Montserrat"/>
                        </a:defRPr>
                      </a:pPr>
                      <a:r>
                        <a:t>25</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9</a:t>
                      </a:r>
                    </a:p>
                  </a:txBody>
                  <a:tcPr anchor="ctr">
                    <a:solidFill>
                      <a:srgbClr val="FFFFFF"/>
                    </a:solidFill>
                  </a:tcPr>
                </a:tc>
              </a:tr>
              <a:tr h="230400">
                <a:tc>
                  <a:txBody>
                    <a:bodyPr/>
                    <a:lstStyle/>
                    <a:p>
                      <a:pPr algn="l">
                        <a:defRPr sz="900">
                          <a:latin typeface="Montserrat"/>
                        </a:defRPr>
                      </a:pPr>
                      <a:r>
                        <a:t>HGSMF 5 Taxco</a:t>
                      </a:r>
                    </a:p>
                  </a:txBody>
                  <a:tcPr anchor="ctr">
                    <a:solidFill>
                      <a:srgbClr val="EFEFEF"/>
                    </a:solidFill>
                  </a:tcPr>
                </a:tc>
                <a:tc>
                  <a:txBody>
                    <a:bodyPr/>
                    <a:lstStyle/>
                    <a:p>
                      <a:pPr algn="ctr">
                        <a:defRPr sz="900">
                          <a:latin typeface="Montserrat"/>
                        </a:defRPr>
                      </a:pPr>
                      <a:r>
                        <a:t>Noviembre de 1986</a:t>
                      </a:r>
                    </a:p>
                  </a:txBody>
                  <a:tcPr anchor="ctr">
                    <a:solidFill>
                      <a:srgbClr val="EFEFEF"/>
                    </a:solidFill>
                  </a:tcPr>
                </a:tc>
                <a:tc>
                  <a:txBody>
                    <a:bodyPr/>
                    <a:lstStyle/>
                    <a:p>
                      <a:pPr algn="ctr">
                        <a:defRPr sz="900">
                          <a:latin typeface="Montserrat"/>
                        </a:defRPr>
                      </a:pPr>
                      <a:r>
                        <a:t>31</a:t>
                      </a:r>
                    </a:p>
                  </a:txBody>
                  <a:tcPr anchor="ctr">
                    <a:solidFill>
                      <a:srgbClr val="EFEFEF"/>
                    </a:solidFill>
                  </a:tcPr>
                </a:tc>
                <a:tc>
                  <a:txBody>
                    <a:bodyPr/>
                    <a:lstStyle/>
                    <a:p>
                      <a:pPr algn="ctr">
                        <a:defRPr sz="900">
                          <a:latin typeface="Montserrat"/>
                        </a:defRPr>
                      </a:pPr>
                      <a:r>
                        <a:t>19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7</a:t>
                      </a:r>
                    </a:p>
                  </a:txBody>
                  <a:tcPr anchor="ctr">
                    <a:solidFill>
                      <a:srgbClr val="EFEFEF"/>
                    </a:solidFill>
                  </a:tcPr>
                </a:tc>
              </a:tr>
              <a:tr h="230400">
                <a:tc>
                  <a:txBody>
                    <a:bodyPr/>
                    <a:lstStyle/>
                    <a:p>
                      <a:pPr algn="l">
                        <a:defRPr sz="900">
                          <a:latin typeface="Montserrat"/>
                        </a:defRPr>
                      </a:pPr>
                      <a:r>
                        <a:t>HGSMF 19 Cd. Altamirano</a:t>
                      </a:r>
                    </a:p>
                  </a:txBody>
                  <a:tcPr anchor="ctr">
                    <a:solidFill>
                      <a:srgbClr val="FFFFFF"/>
                    </a:solidFill>
                  </a:tcPr>
                </a:tc>
                <a:tc>
                  <a:txBody>
                    <a:bodyPr/>
                    <a:lstStyle/>
                    <a:p>
                      <a:pPr algn="ctr">
                        <a:defRPr sz="900">
                          <a:latin typeface="Montserrat"/>
                        </a:defRPr>
                      </a:pPr>
                      <a:r>
                        <a:t>Diciembre de 1986</a:t>
                      </a:r>
                    </a:p>
                  </a:txBody>
                  <a:tcPr anchor="ctr">
                    <a:solidFill>
                      <a:srgbClr val="FFFFFF"/>
                    </a:solidFill>
                  </a:tcPr>
                </a:tc>
                <a:tc>
                  <a:txBody>
                    <a:bodyPr/>
                    <a:lstStyle/>
                    <a:p>
                      <a:pPr algn="ctr">
                        <a:defRPr sz="900">
                          <a:latin typeface="Montserrat"/>
                        </a:defRPr>
                      </a:pPr>
                      <a:r>
                        <a:t>21</a:t>
                      </a:r>
                    </a:p>
                  </a:txBody>
                  <a:tcPr anchor="ctr">
                    <a:solidFill>
                      <a:srgbClr val="FFFFFF"/>
                    </a:solidFill>
                  </a:tcPr>
                </a:tc>
                <a:tc>
                  <a:txBody>
                    <a:bodyPr/>
                    <a:lstStyle/>
                    <a:p>
                      <a:pPr algn="ctr">
                        <a:defRPr sz="900">
                          <a:latin typeface="Montserrat"/>
                        </a:defRPr>
                      </a:pPr>
                      <a:r>
                        <a:t>11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a:txBody>
                    <a:bodyPr/>
                    <a:lstStyle/>
                    <a:p>
                      <a:pPr algn="l">
                        <a:defRPr sz="900">
                          <a:latin typeface="Montserrat"/>
                        </a:defRPr>
                      </a:pPr>
                      <a:r>
                        <a:t>HGR 1 Vicente Guerrero</a:t>
                      </a:r>
                    </a:p>
                  </a:txBody>
                  <a:tcPr anchor="ctr">
                    <a:solidFill>
                      <a:srgbClr val="EFEFEF"/>
                    </a:solidFill>
                  </a:tcPr>
                </a:tc>
                <a:tc>
                  <a:txBody>
                    <a:bodyPr/>
                    <a:lstStyle/>
                    <a:p>
                      <a:pPr algn="ctr">
                        <a:defRPr sz="900">
                          <a:latin typeface="Montserrat"/>
                        </a:defRPr>
                      </a:pPr>
                      <a:r>
                        <a:t>Octubre de 1991</a:t>
                      </a:r>
                    </a:p>
                  </a:txBody>
                  <a:tcPr anchor="ctr">
                    <a:solidFill>
                      <a:srgbClr val="EFEFEF"/>
                    </a:solidFill>
                  </a:tcPr>
                </a:tc>
                <a:tc>
                  <a:txBody>
                    <a:bodyPr/>
                    <a:lstStyle/>
                    <a:p>
                      <a:pPr algn="ctr">
                        <a:defRPr sz="900">
                          <a:latin typeface="Montserrat"/>
                        </a:defRPr>
                      </a:pPr>
                      <a:r>
                        <a:t>358</a:t>
                      </a:r>
                    </a:p>
                  </a:txBody>
                  <a:tcPr anchor="ctr">
                    <a:solidFill>
                      <a:srgbClr val="EFEFEF"/>
                    </a:solidFill>
                  </a:tcPr>
                </a:tc>
                <a:tc>
                  <a:txBody>
                    <a:bodyPr/>
                    <a:lstStyle/>
                    <a:p>
                      <a:pPr algn="ctr">
                        <a:defRPr sz="900">
                          <a:latin typeface="Montserrat"/>
                        </a:defRPr>
                      </a:pPr>
                      <a:r>
                        <a:t>118</a:t>
                      </a:r>
                    </a:p>
                  </a:txBody>
                  <a:tcPr anchor="ctr">
                    <a:solidFill>
                      <a:srgbClr val="EFEFEF"/>
                    </a:solidFill>
                  </a:tcPr>
                </a:tc>
                <a:tc>
                  <a:txBody>
                    <a:bodyPr/>
                    <a:lstStyle/>
                    <a:p>
                      <a:pPr algn="ctr">
                        <a:defRPr sz="900">
                          <a:latin typeface="Montserrat"/>
                        </a:defRPr>
                      </a:pPr>
                      <a:r>
                        <a:t>20</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51</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519</a:t>
                      </a:r>
                    </a:p>
                  </a:txBody>
                  <a:tcPr anchor="ctr">
                    <a:solidFill>
                      <a:srgbClr val="D3E9E7"/>
                    </a:solidFill>
                  </a:tcPr>
                </a:tc>
                <a:tc>
                  <a:txBody>
                    <a:bodyPr/>
                    <a:lstStyle/>
                    <a:p>
                      <a:pPr algn="ctr">
                        <a:defRPr sz="900" b="1">
                          <a:solidFill>
                            <a:srgbClr val="006556"/>
                          </a:solidFill>
                          <a:latin typeface="Montserrat"/>
                        </a:defRPr>
                      </a:pPr>
                      <a:r>
                        <a:t>223</a:t>
                      </a:r>
                    </a:p>
                  </a:txBody>
                  <a:tcPr anchor="ctr">
                    <a:solidFill>
                      <a:srgbClr val="D3E9E7"/>
                    </a:solidFill>
                  </a:tcPr>
                </a:tc>
                <a:tc>
                  <a:txBody>
                    <a:bodyPr/>
                    <a:lstStyle/>
                    <a:p>
                      <a:pPr algn="ctr">
                        <a:defRPr sz="900" b="1">
                          <a:solidFill>
                            <a:srgbClr val="006556"/>
                          </a:solidFill>
                          <a:latin typeface="Montserrat"/>
                        </a:defRPr>
                      </a:pPr>
                      <a:r>
                        <a:t>20</a:t>
                      </a:r>
                    </a:p>
                  </a:txBody>
                  <a:tcPr anchor="ctr">
                    <a:solidFill>
                      <a:srgbClr val="D3E9E7"/>
                    </a:solidFill>
                  </a:tcPr>
                </a:tc>
                <a:tc>
                  <a:txBody>
                    <a:bodyPr/>
                    <a:lstStyle/>
                    <a:p>
                      <a:pPr algn="ctr">
                        <a:defRPr sz="900" b="1">
                          <a:solidFill>
                            <a:srgbClr val="006556"/>
                          </a:solidFill>
                          <a:latin typeface="Montserrat"/>
                        </a:defRPr>
                      </a:pPr>
                      <a:r>
                        <a:t>17</a:t>
                      </a:r>
                    </a:p>
                  </a:txBody>
                  <a:tcPr anchor="ctr">
                    <a:solidFill>
                      <a:srgbClr val="D3E9E7"/>
                    </a:solidFill>
                  </a:tcPr>
                </a:tc>
                <a:tc>
                  <a:txBody>
                    <a:bodyPr/>
                    <a:lstStyle/>
                    <a:p>
                      <a:pPr algn="ctr">
                        <a:defRPr sz="900" b="1">
                          <a:solidFill>
                            <a:srgbClr val="006556"/>
                          </a:solidFill>
                          <a:latin typeface="Montserrat"/>
                        </a:defRPr>
                      </a:pPr>
                      <a:r>
                        <a:t>94</a:t>
                      </a:r>
                    </a:p>
                  </a:txBody>
                  <a:tcPr anchor="ctr">
                    <a:solidFill>
                      <a:srgbClr val="D3E9E7"/>
                    </a:solidFill>
                  </a:tcPr>
                </a:tc>
              </a:tr>
            </a:tbl>
          </a:graphicData>
        </a:graphic>
      </p:graphicFrame>
      <p:sp>
        <p:nvSpPr>
          <p:cNvPr id="14" name="TextBox 13"/>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750AA6D3-18F8-05F5-C809-792B0C40545E}"/>
              </a:ext>
            </a:extLst>
          </p:cNvPr>
          <p:cNvGrpSpPr/>
          <p:nvPr/>
        </p:nvGrpSpPr>
        <p:grpSpPr>
          <a:xfrm>
            <a:off x="59675" y="5401868"/>
            <a:ext cx="7772400" cy="3330917"/>
            <a:chOff x="59675" y="5401868"/>
            <a:chExt cx="7772400" cy="3330917"/>
          </a:xfrm>
        </p:grpSpPr>
        <p:sp>
          <p:nvSpPr>
            <p:cNvPr id="7" name="Google Shape;169;g3d62d805bc0_1_167">
              <a:extLst>
                <a:ext uri="{FF2B5EF4-FFF2-40B4-BE49-F238E27FC236}">
                  <a16:creationId xmlns:a16="http://schemas.microsoft.com/office/drawing/2014/main" id="{5BC37EAF-87AB-0F78-0020-7BCB84D5C8BC}"/>
                </a:ext>
              </a:extLst>
            </p:cNvPr>
            <p:cNvSpPr txBox="1"/>
            <p:nvPr/>
          </p:nvSpPr>
          <p:spPr>
            <a:xfrm>
              <a:off x="59675" y="5401868"/>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sp>
          <p:nvSpPr>
            <p:cNvPr id="8" name="Google Shape;176;g3d62d805bc0_1_167">
              <a:extLst>
                <a:ext uri="{FF2B5EF4-FFF2-40B4-BE49-F238E27FC236}">
                  <a16:creationId xmlns:a16="http://schemas.microsoft.com/office/drawing/2014/main" id="{70C4DDE0-27AB-7054-557E-C8C647D00CAA}"/>
                </a:ext>
              </a:extLst>
            </p:cNvPr>
            <p:cNvSpPr/>
            <p:nvPr/>
          </p:nvSpPr>
          <p:spPr>
            <a:xfrm>
              <a:off x="3193172" y="7733249"/>
              <a:ext cx="19098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Tomógrafo</a:t>
              </a:r>
              <a:endParaRPr sz="1100" b="0" i="0" u="none" strike="noStrike" cap="none">
                <a:solidFill>
                  <a:srgbClr val="FFFFFF"/>
                </a:solidFill>
                <a:latin typeface="Arial"/>
                <a:ea typeface="Arial"/>
                <a:cs typeface="Arial"/>
                <a:sym typeface="Arial"/>
              </a:endParaRPr>
            </a:p>
          </p:txBody>
        </p:sp>
        <p:sp>
          <p:nvSpPr>
            <p:cNvPr id="9" name="Google Shape;177;g3d62d805bc0_1_167">
              <a:extLst>
                <a:ext uri="{FF2B5EF4-FFF2-40B4-BE49-F238E27FC236}">
                  <a16:creationId xmlns:a16="http://schemas.microsoft.com/office/drawing/2014/main" id="{0EE4122A-4775-B513-4D0E-1FE52FE3FD96}"/>
                </a:ext>
              </a:extLst>
            </p:cNvPr>
            <p:cNvSpPr/>
            <p:nvPr/>
          </p:nvSpPr>
          <p:spPr>
            <a:xfrm>
              <a:off x="2691133" y="7733249"/>
              <a:ext cx="5070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10" name="Google Shape;178;g3d62d805bc0_1_167">
              <a:extLst>
                <a:ext uri="{FF2B5EF4-FFF2-40B4-BE49-F238E27FC236}">
                  <a16:creationId xmlns:a16="http://schemas.microsoft.com/office/drawing/2014/main" id="{42C7F049-E53E-C6BA-1454-F1810786337D}"/>
                </a:ext>
              </a:extLst>
            </p:cNvPr>
            <p:cNvSpPr txBox="1"/>
            <p:nvPr/>
          </p:nvSpPr>
          <p:spPr>
            <a:xfrm>
              <a:off x="2707894" y="8086933"/>
              <a:ext cx="2577600" cy="645852"/>
            </a:xfrm>
            <a:prstGeom prst="rect">
              <a:avLst/>
            </a:prstGeom>
            <a:noFill/>
            <a:ln>
              <a:noFill/>
            </a:ln>
          </p:spPr>
          <p:txBody>
            <a:bodyPr spcFirstLastPara="1" wrap="square" lIns="91425" tIns="91425" rIns="91425" bIns="91425" anchor="t" anchorCtr="0">
              <a:spAutoFit/>
            </a:bodyPr>
            <a:lstStyle/>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HGR 1 Vicente Guerrero</a:t>
              </a:r>
            </a:p>
            <a:p>
              <a:pPr marL="0" marR="50800" lvl="0" indent="0" algn="l" rtl="0">
                <a:lnSpc>
                  <a:spcPct val="111000"/>
                </a:lnSpc>
                <a:spcBef>
                  <a:spcPts val="0"/>
                </a:spcBef>
                <a:spcAft>
                  <a:spcPts val="0"/>
                </a:spcAft>
                <a:buNone/>
              </a:pPr>
              <a:r>
                <a:rPr lang="es" sz="1300" b="1" dirty="0">
                  <a:solidFill>
                    <a:srgbClr val="595959"/>
                  </a:solidFill>
                  <a:latin typeface="Montserrat"/>
                  <a:ea typeface="Montserrat"/>
                  <a:cs typeface="Montserrat"/>
                  <a:sym typeface="Montserrat"/>
                </a:rPr>
                <a:t>$29.6 mdp</a:t>
              </a:r>
              <a:r>
                <a:rPr lang="es" sz="1300" dirty="0">
                  <a:solidFill>
                    <a:srgbClr val="595959"/>
                  </a:solidFill>
                  <a:latin typeface="Montserrat"/>
                  <a:ea typeface="Montserrat"/>
                  <a:cs typeface="Montserrat"/>
                  <a:sym typeface="Montserrat"/>
                </a:rPr>
                <a:t>   </a:t>
              </a:r>
              <a:r>
                <a:rPr lang="es" dirty="0">
                  <a:solidFill>
                    <a:srgbClr val="434343"/>
                  </a:solidFill>
                  <a:latin typeface="Noto Sans"/>
                  <a:ea typeface="Noto Sans"/>
                  <a:cs typeface="Noto Sans"/>
                  <a:sym typeface="Noto Sans"/>
                </a:rPr>
                <a:t> </a:t>
              </a:r>
              <a:r>
                <a:rPr lang="es" sz="1300" dirty="0">
                  <a:solidFill>
                    <a:srgbClr val="595959"/>
                  </a:solidFill>
                  <a:latin typeface="Montserrat"/>
                  <a:ea typeface="Montserrat"/>
                  <a:cs typeface="Montserrat"/>
                  <a:sym typeface="Montserrat"/>
                </a:rPr>
                <a:t> </a:t>
              </a:r>
              <a:endParaRPr dirty="0">
                <a:solidFill>
                  <a:srgbClr val="434343"/>
                </a:solidFill>
                <a:latin typeface="Noto Sans"/>
                <a:ea typeface="Noto Sans"/>
                <a:cs typeface="Noto Sans"/>
                <a:sym typeface="Noto Sans"/>
              </a:endParaRPr>
            </a:p>
          </p:txBody>
        </p:sp>
        <p:pic>
          <p:nvPicPr>
            <p:cNvPr id="11" name="Google Shape;179;g3d62d805bc0_1_167">
              <a:extLst>
                <a:ext uri="{FF2B5EF4-FFF2-40B4-BE49-F238E27FC236}">
                  <a16:creationId xmlns:a16="http://schemas.microsoft.com/office/drawing/2014/main" id="{2296D0F3-84CE-1143-2414-CC403DE591D0}"/>
                </a:ext>
              </a:extLst>
            </p:cNvPr>
            <p:cNvPicPr preferRelativeResize="0"/>
            <p:nvPr/>
          </p:nvPicPr>
          <p:blipFill>
            <a:blip r:embed="rId4">
              <a:alphaModFix/>
            </a:blip>
            <a:stretch>
              <a:fillRect/>
            </a:stretch>
          </p:blipFill>
          <p:spPr>
            <a:xfrm>
              <a:off x="2728869" y="6170915"/>
              <a:ext cx="2382553" cy="1562334"/>
            </a:xfrm>
            <a:prstGeom prst="rect">
              <a:avLst/>
            </a:prstGeom>
            <a:noFill/>
            <a:ln>
              <a:noFill/>
            </a:ln>
          </p:spPr>
        </p:pic>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graphicFrame>
        <p:nvGraphicFramePr>
          <p:cNvPr id="154" name="Table 153"/>
          <p:cNvGraphicFramePr>
            <a:graphicFrameLocks noGrp="1"/>
          </p:cNvGraphicFramePr>
          <p:nvPr/>
        </p:nvGraphicFramePr>
        <p:xfrm>
          <a:off x="93600" y="1180800"/>
          <a:ext cx="7534799" cy="1728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HGZMF 4 Iguala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HGSMF 19 Cd. Altamirano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3 Chilpancingo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HGSMF 5 Taxco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HGR 1 Vicente Guerrero</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11</a:t>
                      </a:r>
                    </a:p>
                  </a:txBody>
                  <a:tcPr>
                    <a:solidFill>
                      <a:srgbClr val="FFFFF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HGZMF 8 Zihuatanejo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11</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351182505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F2F49C43-7227-6C20-0CB5-95D0D79AA4FC}"/>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175D7C60-9DFA-3D60-0923-AF82BA5E23E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7020B8D9-0B37-5FB7-D3E2-C2B43607E526}"/>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6B924792-F2BA-770E-00F2-25932E9098A5}"/>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F34FBEF4-06CD-C341-D3E6-44EB829D46A3}"/>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E5A3BAAF-A330-1BC1-293C-C5962576C687}"/>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87778E01-ADD4-EFFC-BE9F-1D72BF34F154}"/>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22, 24 mayo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+9,743</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+77,991</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+111,876</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1,613,411</a:t>
                      </a:r>
                    </a:p>
                  </a:txBody>
                  <a:tcPr marL="0" marR="0" marT="0" marB="0" anchor="ctr">
                    <a:solidFill>
                      <a:srgbClr val="FFFFFF"/>
                    </a:solidFill>
                  </a:tcPr>
                </a:tc>
                <a:tc>
                  <a:txBody>
                    <a:bodyPr/>
                    <a:lstStyle/>
                    <a:p>
                      <a:pPr algn="ctr">
                        <a:defRPr sz="1000">
                          <a:solidFill>
                            <a:srgbClr val="404040"/>
                          </a:solidFill>
                          <a:latin typeface="Montserrat"/>
                        </a:defRPr>
                      </a:pPr>
                      <a:r>
                        <a:t>77,991</a:t>
                      </a:r>
                    </a:p>
                  </a:txBody>
                  <a:tcPr marL="0" marR="0" marT="0" marB="0" anchor="ctr">
                    <a:solidFill>
                      <a:srgbClr val="FFFFFF"/>
                    </a:solidFill>
                  </a:tcPr>
                </a:tc>
                <a:tc>
                  <a:txBody>
                    <a:bodyPr/>
                    <a:lstStyle/>
                    <a:p>
                      <a:pPr algn="ctr">
                        <a:defRPr sz="1000" b="1">
                          <a:solidFill>
                            <a:srgbClr val="980000"/>
                          </a:solidFill>
                          <a:latin typeface="Montserrat"/>
                        </a:defRPr>
                      </a:pPr>
                      <a:r>
                        <a:t>659,028</a:t>
                      </a:r>
                    </a:p>
                  </a:txBody>
                  <a:tcPr marL="0" marR="0" marT="0" marB="0" anchor="ctr">
                    <a:solidFill>
                      <a:srgbClr val="ECD3D9"/>
                    </a:solidFill>
                  </a:tcPr>
                </a:tc>
                <a:tc>
                  <a:txBody>
                    <a:bodyPr/>
                    <a:lstStyle/>
                    <a:p>
                      <a:pPr algn="ctr">
                        <a:defRPr sz="1000" b="1">
                          <a:solidFill>
                            <a:srgbClr val="980000"/>
                          </a:solidFill>
                          <a:latin typeface="Montserrat"/>
                        </a:defRPr>
                      </a:pPr>
                      <a:r>
                        <a:t>1,584,224</a:t>
                      </a:r>
                    </a:p>
                  </a:txBody>
                  <a:tcPr marL="0" marR="0" marT="0" marB="0" anchor="ctr">
                    <a:solidFill>
                      <a:srgbClr val="ECD3D9"/>
                    </a:solidFill>
                  </a:tcPr>
                </a:tc>
                <a:tc>
                  <a:txBody>
                    <a:bodyPr/>
                    <a:lstStyle/>
                    <a:p>
                      <a:pPr algn="ctr">
                        <a:defRPr sz="1000" b="1">
                          <a:solidFill>
                            <a:srgbClr val="980000"/>
                          </a:solidFill>
                          <a:latin typeface="Montserrat"/>
                        </a:defRPr>
                      </a:pPr>
                      <a:r>
                        <a:t>41.6%</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381,290</a:t>
                      </a:r>
                    </a:p>
                  </a:txBody>
                  <a:tcPr marL="0" marR="0" marT="0" marB="0" anchor="ctr">
                    <a:solidFill>
                      <a:srgbClr val="EFEFEF"/>
                    </a:solidFill>
                  </a:tcPr>
                </a:tc>
                <a:tc>
                  <a:txBody>
                    <a:bodyPr/>
                    <a:lstStyle/>
                    <a:p>
                      <a:pPr algn="ctr">
                        <a:defRPr sz="1000">
                          <a:solidFill>
                            <a:srgbClr val="404040"/>
                          </a:solidFill>
                          <a:latin typeface="Montserrat"/>
                        </a:defRPr>
                      </a:pPr>
                      <a:r>
                        <a:t>111,876</a:t>
                      </a:r>
                    </a:p>
                  </a:txBody>
                  <a:tcPr marL="0" marR="0" marT="0" marB="0" anchor="ctr">
                    <a:solidFill>
                      <a:srgbClr val="EFEFEF"/>
                    </a:solidFill>
                  </a:tcPr>
                </a:tc>
                <a:tc>
                  <a:txBody>
                    <a:bodyPr/>
                    <a:lstStyle/>
                    <a:p>
                      <a:pPr algn="ctr">
                        <a:defRPr sz="1000" b="1">
                          <a:solidFill>
                            <a:srgbClr val="980000"/>
                          </a:solidFill>
                          <a:latin typeface="Montserrat"/>
                        </a:defRPr>
                      </a:pPr>
                      <a:r>
                        <a:t>166,002</a:t>
                      </a:r>
                    </a:p>
                  </a:txBody>
                  <a:tcPr marL="0" marR="0" marT="0" marB="0" anchor="ctr">
                    <a:solidFill>
                      <a:srgbClr val="F4E3E7"/>
                    </a:solidFill>
                  </a:tcPr>
                </a:tc>
                <a:tc>
                  <a:txBody>
                    <a:bodyPr/>
                    <a:lstStyle/>
                    <a:p>
                      <a:pPr algn="ctr">
                        <a:defRPr sz="1000" b="1">
                          <a:solidFill>
                            <a:srgbClr val="980000"/>
                          </a:solidFill>
                          <a:latin typeface="Montserrat"/>
                        </a:defRPr>
                      </a:pPr>
                      <a:r>
                        <a:t>423,765</a:t>
                      </a:r>
                    </a:p>
                  </a:txBody>
                  <a:tcPr marL="0" marR="0" marT="0" marB="0" anchor="ctr">
                    <a:solidFill>
                      <a:srgbClr val="F4E3E7"/>
                    </a:solidFill>
                  </a:tcPr>
                </a:tc>
                <a:tc>
                  <a:txBody>
                    <a:bodyPr/>
                    <a:lstStyle/>
                    <a:p>
                      <a:pPr algn="ctr">
                        <a:defRPr sz="1000" b="1">
                          <a:solidFill>
                            <a:srgbClr val="980000"/>
                          </a:solidFill>
                          <a:latin typeface="Montserrat"/>
                        </a:defRPr>
                      </a:pPr>
                      <a:r>
                        <a:t>39.2%</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25,705</a:t>
                      </a:r>
                    </a:p>
                  </a:txBody>
                  <a:tcPr marL="0" marR="0" marT="0" marB="0" anchor="ctr">
                    <a:solidFill>
                      <a:srgbClr val="FFFFFF"/>
                    </a:solidFill>
                  </a:tcPr>
                </a:tc>
                <a:tc>
                  <a:txBody>
                    <a:bodyPr/>
                    <a:lstStyle/>
                    <a:p>
                      <a:pPr algn="ctr">
                        <a:defRPr sz="1000">
                          <a:solidFill>
                            <a:srgbClr val="404040"/>
                          </a:solidFill>
                          <a:latin typeface="Montserrat"/>
                        </a:defRPr>
                      </a:pPr>
                      <a:r>
                        <a:t>9,743</a:t>
                      </a:r>
                    </a:p>
                  </a:txBody>
                  <a:tcPr marL="0" marR="0" marT="0" marB="0" anchor="ctr">
                    <a:solidFill>
                      <a:srgbClr val="FFFFFF"/>
                    </a:solidFill>
                  </a:tcPr>
                </a:tc>
                <a:tc>
                  <a:txBody>
                    <a:bodyPr/>
                    <a:lstStyle/>
                    <a:p>
                      <a:pPr algn="ctr">
                        <a:defRPr sz="1000" b="1">
                          <a:solidFill>
                            <a:srgbClr val="980000"/>
                          </a:solidFill>
                          <a:latin typeface="Montserrat"/>
                        </a:defRPr>
                      </a:pPr>
                      <a:r>
                        <a:t>12,743</a:t>
                      </a:r>
                    </a:p>
                  </a:txBody>
                  <a:tcPr marL="0" marR="0" marT="0" marB="0" anchor="ctr">
                    <a:solidFill>
                      <a:srgbClr val="ECD3D9"/>
                    </a:solidFill>
                  </a:tcPr>
                </a:tc>
                <a:tc>
                  <a:txBody>
                    <a:bodyPr/>
                    <a:lstStyle/>
                    <a:p>
                      <a:pPr algn="ctr">
                        <a:defRPr sz="1000" b="1">
                          <a:solidFill>
                            <a:srgbClr val="980000"/>
                          </a:solidFill>
                          <a:latin typeface="Montserrat"/>
                        </a:defRPr>
                      </a:pPr>
                      <a:r>
                        <a:t>30,944</a:t>
                      </a:r>
                    </a:p>
                  </a:txBody>
                  <a:tcPr marL="0" marR="0" marT="0" marB="0" anchor="ctr">
                    <a:solidFill>
                      <a:srgbClr val="ECD3D9"/>
                    </a:solidFill>
                  </a:tcPr>
                </a:tc>
                <a:tc>
                  <a:txBody>
                    <a:bodyPr/>
                    <a:lstStyle/>
                    <a:p>
                      <a:pPr algn="ctr">
                        <a:defRPr sz="1000" b="1">
                          <a:solidFill>
                            <a:srgbClr val="980000"/>
                          </a:solidFill>
                          <a:latin typeface="Montserrat"/>
                        </a:defRPr>
                      </a:pPr>
                      <a:r>
                        <a:t>41.2%</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15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12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2116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23 Chilapa</a:t>
                      </a:r>
                    </a:p>
                  </a:txBody>
                  <a:tcPr marL="0" marR="0" marT="0" marB="0">
                    <a:solidFill>
                      <a:srgbClr val="FFFFFF"/>
                    </a:solidFill>
                  </a:tcPr>
                </a:tc>
                <a:tc>
                  <a:txBody>
                    <a:bodyPr/>
                    <a:lstStyle/>
                    <a:p>
                      <a:pPr algn="ctr">
                        <a:defRPr sz="1000">
                          <a:latin typeface="Montserrat"/>
                        </a:defRPr>
                      </a:pPr>
                      <a:r>
                        <a:t>6,080</a:t>
                      </a:r>
                    </a:p>
                  </a:txBody>
                  <a:tcPr marL="0" marR="0" marT="0" marB="0">
                    <a:solidFill>
                      <a:srgbClr val="FFFFFF"/>
                    </a:solidFill>
                  </a:tcPr>
                </a:tc>
                <a:tc>
                  <a:txBody>
                    <a:bodyPr/>
                    <a:lstStyle/>
                    <a:p>
                      <a:pPr algn="ctr">
                        <a:defRPr sz="1000">
                          <a:latin typeface="Montserrat"/>
                        </a:defRPr>
                      </a:pPr>
                      <a:r>
                        <a:t>-412</a:t>
                      </a:r>
                    </a:p>
                  </a:txBody>
                  <a:tcPr marL="0" marR="0" marT="0" marB="0">
                    <a:solidFill>
                      <a:srgbClr val="FFFFFF"/>
                    </a:solidFill>
                  </a:tcPr>
                </a:tc>
                <a:tc>
                  <a:txBody>
                    <a:bodyPr/>
                    <a:lstStyle/>
                    <a:p>
                      <a:pPr algn="ctr">
                        <a:defRPr sz="1000">
                          <a:latin typeface="Montserrat"/>
                        </a:defRPr>
                      </a:pPr>
                      <a:r>
                        <a:t>2,510</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35.9%</a:t>
                      </a:r>
                    </a:p>
                  </a:txBody>
                  <a:tcPr marL="0" marR="0" marT="0" marB="0">
                    <a:solidFill>
                      <a:srgbClr val="ECD3D9"/>
                    </a:solidFill>
                  </a:tcPr>
                </a:tc>
              </a:tr>
              <a:tr h="151200">
                <a:tc>
                  <a:txBody>
                    <a:bodyPr/>
                    <a:lstStyle/>
                    <a:p>
                      <a:pPr algn="l">
                        <a:defRPr sz="1000">
                          <a:latin typeface="Montserrat"/>
                        </a:defRPr>
                      </a:pPr>
                      <a:r>
                        <a:t>UMF 7 Tierra Colorada</a:t>
                      </a:r>
                    </a:p>
                  </a:txBody>
                  <a:tcPr marL="0" marR="0" marT="0" marB="0">
                    <a:solidFill>
                      <a:srgbClr val="EFEFEF"/>
                    </a:solidFill>
                  </a:tcPr>
                </a:tc>
                <a:tc>
                  <a:txBody>
                    <a:bodyPr/>
                    <a:lstStyle/>
                    <a:p>
                      <a:pPr algn="ctr">
                        <a:defRPr sz="1000">
                          <a:latin typeface="Montserrat"/>
                        </a:defRPr>
                      </a:pPr>
                      <a:r>
                        <a:t>8,865</a:t>
                      </a:r>
                    </a:p>
                  </a:txBody>
                  <a:tcPr marL="0" marR="0" marT="0" marB="0">
                    <a:solidFill>
                      <a:srgbClr val="EFEFEF"/>
                    </a:solidFill>
                  </a:tcPr>
                </a:tc>
                <a:tc>
                  <a:txBody>
                    <a:bodyPr/>
                    <a:lstStyle/>
                    <a:p>
                      <a:pPr algn="ctr">
                        <a:defRPr sz="1000">
                          <a:latin typeface="Montserrat"/>
                        </a:defRPr>
                      </a:pPr>
                      <a:r>
                        <a:t>43</a:t>
                      </a:r>
                    </a:p>
                  </a:txBody>
                  <a:tcPr marL="0" marR="0" marT="0" marB="0">
                    <a:solidFill>
                      <a:srgbClr val="EFEFEF"/>
                    </a:solidFill>
                  </a:tcPr>
                </a:tc>
                <a:tc>
                  <a:txBody>
                    <a:bodyPr/>
                    <a:lstStyle/>
                    <a:p>
                      <a:pPr algn="ctr">
                        <a:defRPr sz="1000">
                          <a:latin typeface="Montserrat"/>
                        </a:defRPr>
                      </a:pPr>
                      <a:r>
                        <a:t>3,282</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32.8%</a:t>
                      </a:r>
                    </a:p>
                  </a:txBody>
                  <a:tcPr marL="0" marR="0" marT="0" marB="0">
                    <a:solidFill>
                      <a:srgbClr val="ECD3D9"/>
                    </a:solidFill>
                  </a:tcPr>
                </a:tc>
              </a:tr>
              <a:tr h="151200">
                <a:tc>
                  <a:txBody>
                    <a:bodyPr/>
                    <a:lstStyle/>
                    <a:p>
                      <a:pPr algn="l">
                        <a:defRPr sz="1000">
                          <a:latin typeface="Montserrat"/>
                        </a:defRPr>
                      </a:pPr>
                      <a:r>
                        <a:t>UMF 25 Ometepec</a:t>
                      </a:r>
                    </a:p>
                  </a:txBody>
                  <a:tcPr marL="0" marR="0" marT="0" marB="0">
                    <a:solidFill>
                      <a:srgbClr val="FFFFFF"/>
                    </a:solidFill>
                  </a:tcPr>
                </a:tc>
                <a:tc>
                  <a:txBody>
                    <a:bodyPr/>
                    <a:lstStyle/>
                    <a:p>
                      <a:pPr algn="ctr">
                        <a:defRPr sz="1000">
                          <a:latin typeface="Montserrat"/>
                        </a:defRPr>
                      </a:pPr>
                      <a:r>
                        <a:t>13,499</a:t>
                      </a:r>
                    </a:p>
                  </a:txBody>
                  <a:tcPr marL="0" marR="0" marT="0" marB="0">
                    <a:solidFill>
                      <a:srgbClr val="FFFFFF"/>
                    </a:solidFill>
                  </a:tcPr>
                </a:tc>
                <a:tc>
                  <a:txBody>
                    <a:bodyPr/>
                    <a:lstStyle/>
                    <a:p>
                      <a:pPr algn="ctr">
                        <a:defRPr sz="1000">
                          <a:latin typeface="Montserrat"/>
                        </a:defRPr>
                      </a:pPr>
                      <a:r>
                        <a:t>733</a:t>
                      </a:r>
                    </a:p>
                  </a:txBody>
                  <a:tcPr marL="0" marR="0" marT="0" marB="0">
                    <a:solidFill>
                      <a:srgbClr val="FFFFFF"/>
                    </a:solidFill>
                  </a:tcPr>
                </a:tc>
                <a:tc>
                  <a:txBody>
                    <a:bodyPr/>
                    <a:lstStyle/>
                    <a:p>
                      <a:pPr algn="ctr">
                        <a:defRPr sz="1000">
                          <a:latin typeface="Montserrat"/>
                        </a:defRPr>
                      </a:pPr>
                      <a:r>
                        <a:t>4,850</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34.6%</a:t>
                      </a:r>
                    </a:p>
                  </a:txBody>
                  <a:tcPr marL="0" marR="0" marT="0" marB="0">
                    <a:solidFill>
                      <a:srgbClr val="ECD3D9"/>
                    </a:solidFill>
                  </a:tcPr>
                </a:tc>
              </a:tr>
              <a:tr h="151200">
                <a:tc>
                  <a:txBody>
                    <a:bodyPr/>
                    <a:lstStyle/>
                    <a:p>
                      <a:pPr algn="l">
                        <a:defRPr sz="1000">
                          <a:latin typeface="Montserrat"/>
                        </a:defRPr>
                      </a:pPr>
                      <a:r>
                        <a:t>UMF 20 Coyuca</a:t>
                      </a:r>
                    </a:p>
                  </a:txBody>
                  <a:tcPr marL="0" marR="0" marT="0" marB="0">
                    <a:solidFill>
                      <a:srgbClr val="EFEFEF"/>
                    </a:solidFill>
                  </a:tcPr>
                </a:tc>
                <a:tc>
                  <a:txBody>
                    <a:bodyPr/>
                    <a:lstStyle/>
                    <a:p>
                      <a:pPr algn="ctr">
                        <a:defRPr sz="1000">
                          <a:latin typeface="Montserrat"/>
                        </a:defRPr>
                      </a:pPr>
                      <a:r>
                        <a:t>7,035</a:t>
                      </a:r>
                    </a:p>
                  </a:txBody>
                  <a:tcPr marL="0" marR="0" marT="0" marB="0">
                    <a:solidFill>
                      <a:srgbClr val="EFEFEF"/>
                    </a:solidFill>
                  </a:tcPr>
                </a:tc>
                <a:tc>
                  <a:txBody>
                    <a:bodyPr/>
                    <a:lstStyle/>
                    <a:p>
                      <a:pPr algn="ctr">
                        <a:defRPr sz="1000">
                          <a:latin typeface="Montserrat"/>
                        </a:defRPr>
                      </a:pPr>
                      <a:r>
                        <a:t>1,062</a:t>
                      </a:r>
                    </a:p>
                  </a:txBody>
                  <a:tcPr marL="0" marR="0" marT="0" marB="0">
                    <a:solidFill>
                      <a:srgbClr val="EFEFEF"/>
                    </a:solidFill>
                  </a:tcPr>
                </a:tc>
                <a:tc>
                  <a:txBody>
                    <a:bodyPr/>
                    <a:lstStyle/>
                    <a:p>
                      <a:pPr algn="ctr">
                        <a:defRPr sz="1000">
                          <a:latin typeface="Montserrat"/>
                        </a:defRPr>
                      </a:pPr>
                      <a:r>
                        <a:t>2,643</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33.0%</a:t>
                      </a:r>
                    </a:p>
                  </a:txBody>
                  <a:tcPr marL="0" marR="0" marT="0" marB="0">
                    <a:solidFill>
                      <a:srgbClr val="ECD3D9"/>
                    </a:solidFill>
                  </a:tcPr>
                </a:tc>
              </a:tr>
              <a:tr h="151200">
                <a:tc>
                  <a:txBody>
                    <a:bodyPr/>
                    <a:lstStyle/>
                    <a:p>
                      <a:pPr algn="l">
                        <a:defRPr sz="1000">
                          <a:latin typeface="Montserrat"/>
                        </a:defRPr>
                      </a:pPr>
                      <a:r>
                        <a:t>UMF 21 Cutzamala</a:t>
                      </a:r>
                    </a:p>
                  </a:txBody>
                  <a:tcPr marL="0" marR="0" marT="0" marB="0">
                    <a:solidFill>
                      <a:srgbClr val="FFFFFF"/>
                    </a:solidFill>
                  </a:tcPr>
                </a:tc>
                <a:tc>
                  <a:txBody>
                    <a:bodyPr/>
                    <a:lstStyle/>
                    <a:p>
                      <a:pPr algn="ctr">
                        <a:defRPr sz="1000">
                          <a:latin typeface="Montserrat"/>
                        </a:defRPr>
                      </a:pPr>
                      <a:r>
                        <a:t>5,576</a:t>
                      </a:r>
                    </a:p>
                  </a:txBody>
                  <a:tcPr marL="0" marR="0" marT="0" marB="0">
                    <a:solidFill>
                      <a:srgbClr val="FFFFFF"/>
                    </a:solidFill>
                  </a:tcPr>
                </a:tc>
                <a:tc>
                  <a:txBody>
                    <a:bodyPr/>
                    <a:lstStyle/>
                    <a:p>
                      <a:pPr algn="ctr">
                        <a:defRPr sz="1000">
                          <a:latin typeface="Montserrat"/>
                        </a:defRPr>
                      </a:pPr>
                      <a:r>
                        <a:t>193</a:t>
                      </a:r>
                    </a:p>
                  </a:txBody>
                  <a:tcPr marL="0" marR="0" marT="0" marB="0">
                    <a:solidFill>
                      <a:srgbClr val="FFFFFF"/>
                    </a:solidFill>
                  </a:tcPr>
                </a:tc>
                <a:tc>
                  <a:txBody>
                    <a:bodyPr/>
                    <a:lstStyle/>
                    <a:p>
                      <a:pPr algn="ctr">
                        <a:defRPr sz="1000">
                          <a:latin typeface="Montserrat"/>
                        </a:defRPr>
                      </a:pPr>
                      <a:r>
                        <a:t>1,745</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24.9%</a:t>
                      </a:r>
                    </a:p>
                  </a:txBody>
                  <a:tcPr marL="0" marR="0" marT="0" marB="0">
                    <a:solidFill>
                      <a:srgbClr val="ECD3D9"/>
                    </a:solidFill>
                  </a:tcPr>
                </a:tc>
              </a:tr>
              <a:tr h="151200">
                <a:tc>
                  <a:txBody>
                    <a:bodyPr/>
                    <a:lstStyle/>
                    <a:p>
                      <a:pPr algn="l">
                        <a:defRPr sz="1000">
                          <a:latin typeface="Montserrat"/>
                        </a:defRPr>
                      </a:pPr>
                      <a:r>
                        <a:t>UMF 15 Petatlan</a:t>
                      </a:r>
                    </a:p>
                  </a:txBody>
                  <a:tcPr marL="0" marR="0" marT="0" marB="0">
                    <a:solidFill>
                      <a:srgbClr val="EFEFEF"/>
                    </a:solidFill>
                  </a:tcPr>
                </a:tc>
                <a:tc>
                  <a:txBody>
                    <a:bodyPr/>
                    <a:lstStyle/>
                    <a:p>
                      <a:pPr algn="ctr">
                        <a:defRPr sz="1000">
                          <a:latin typeface="Montserrat"/>
                        </a:defRPr>
                      </a:pPr>
                      <a:r>
                        <a:t>12,488</a:t>
                      </a:r>
                    </a:p>
                  </a:txBody>
                  <a:tcPr marL="0" marR="0" marT="0" marB="0">
                    <a:solidFill>
                      <a:srgbClr val="EFEFEF"/>
                    </a:solidFill>
                  </a:tcPr>
                </a:tc>
                <a:tc>
                  <a:txBody>
                    <a:bodyPr/>
                    <a:lstStyle/>
                    <a:p>
                      <a:pPr algn="ctr">
                        <a:defRPr sz="1000">
                          <a:latin typeface="Montserrat"/>
                        </a:defRPr>
                      </a:pPr>
                      <a:r>
                        <a:t>-234</a:t>
                      </a:r>
                    </a:p>
                  </a:txBody>
                  <a:tcPr marL="0" marR="0" marT="0" marB="0">
                    <a:solidFill>
                      <a:srgbClr val="EFEFEF"/>
                    </a:solidFill>
                  </a:tcPr>
                </a:tc>
                <a:tc>
                  <a:txBody>
                    <a:bodyPr/>
                    <a:lstStyle/>
                    <a:p>
                      <a:pPr algn="ctr">
                        <a:defRPr sz="1000">
                          <a:latin typeface="Montserrat"/>
                        </a:defRPr>
                      </a:pPr>
                      <a:r>
                        <a:t>5,053</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36.1%</a:t>
                      </a:r>
                    </a:p>
                  </a:txBody>
                  <a:tcPr marL="0" marR="0" marT="0" marB="0">
                    <a:solidFill>
                      <a:srgbClr val="ECD3D9"/>
                    </a:solidFill>
                  </a:tcPr>
                </a:tc>
              </a:tr>
              <a:tr h="151200">
                <a:tc>
                  <a:txBody>
                    <a:bodyPr/>
                    <a:lstStyle/>
                    <a:p>
                      <a:pPr algn="l">
                        <a:defRPr sz="1000">
                          <a:latin typeface="Montserrat"/>
                        </a:defRPr>
                      </a:pPr>
                      <a:r>
                        <a:t>UMF 17 La Unión</a:t>
                      </a:r>
                    </a:p>
                  </a:txBody>
                  <a:tcPr marL="0" marR="0" marT="0" marB="0">
                    <a:solidFill>
                      <a:srgbClr val="FFFFFF"/>
                    </a:solidFill>
                  </a:tcPr>
                </a:tc>
                <a:tc>
                  <a:txBody>
                    <a:bodyPr/>
                    <a:lstStyle/>
                    <a:p>
                      <a:pPr algn="ctr">
                        <a:defRPr sz="1000">
                          <a:latin typeface="Montserrat"/>
                        </a:defRPr>
                      </a:pPr>
                      <a:r>
                        <a:t>1,627</a:t>
                      </a:r>
                    </a:p>
                  </a:txBody>
                  <a:tcPr marL="0" marR="0" marT="0" marB="0">
                    <a:solidFill>
                      <a:srgbClr val="FFFFFF"/>
                    </a:solidFill>
                  </a:tcPr>
                </a:tc>
                <a:tc>
                  <a:txBody>
                    <a:bodyPr/>
                    <a:lstStyle/>
                    <a:p>
                      <a:pPr algn="ctr">
                        <a:defRPr sz="1000">
                          <a:latin typeface="Montserrat"/>
                        </a:defRPr>
                      </a:pPr>
                      <a:r>
                        <a:t>-290</a:t>
                      </a:r>
                    </a:p>
                  </a:txBody>
                  <a:tcPr marL="0" marR="0" marT="0" marB="0">
                    <a:solidFill>
                      <a:srgbClr val="FFFFFF"/>
                    </a:solidFill>
                  </a:tcPr>
                </a:tc>
                <a:tc>
                  <a:txBody>
                    <a:bodyPr/>
                    <a:lstStyle/>
                    <a:p>
                      <a:pPr algn="ctr">
                        <a:defRPr sz="1000">
                          <a:latin typeface="Montserrat"/>
                        </a:defRPr>
                      </a:pPr>
                      <a:r>
                        <a:t>764</a:t>
                      </a:r>
                    </a:p>
                  </a:txBody>
                  <a:tcPr marL="0" marR="0" marT="0" marB="0">
                    <a:solidFill>
                      <a:srgbClr val="ECD3D9"/>
                    </a:solidFill>
                  </a:tcPr>
                </a:tc>
                <a:tc>
                  <a:txBody>
                    <a:bodyPr/>
                    <a:lstStyle/>
                    <a:p>
                      <a:pPr algn="ctr">
                        <a:defRPr sz="1000">
                          <a:latin typeface="Montserrat"/>
                        </a:defRPr>
                      </a:pPr>
                      <a:r>
                        <a:t>3,000</a:t>
                      </a:r>
                    </a:p>
                  </a:txBody>
                  <a:tcPr marL="0" marR="0" marT="0" marB="0">
                    <a:solidFill>
                      <a:srgbClr val="ECD3D9"/>
                    </a:solidFill>
                  </a:tcPr>
                </a:tc>
                <a:tc>
                  <a:txBody>
                    <a:bodyPr/>
                    <a:lstStyle/>
                    <a:p>
                      <a:pPr algn="ctr">
                        <a:defRPr sz="1000">
                          <a:latin typeface="Montserrat"/>
                        </a:defRPr>
                      </a:pPr>
                      <a:r>
                        <a:t>25.5%</a:t>
                      </a:r>
                    </a:p>
                  </a:txBody>
                  <a:tcPr marL="0" marR="0" marT="0" marB="0">
                    <a:solidFill>
                      <a:srgbClr val="ECD3D9"/>
                    </a:solidFill>
                  </a:tcPr>
                </a:tc>
              </a:tr>
              <a:tr h="151200">
                <a:tc>
                  <a:txBody>
                    <a:bodyPr/>
                    <a:lstStyle/>
                    <a:p>
                      <a:pPr algn="l">
                        <a:defRPr sz="1000">
                          <a:latin typeface="Montserrat"/>
                        </a:defRPr>
                      </a:pPr>
                      <a:r>
                        <a:t>UMF 12 S. Marcos</a:t>
                      </a:r>
                    </a:p>
                  </a:txBody>
                  <a:tcPr marL="0" marR="0" marT="0" marB="0">
                    <a:solidFill>
                      <a:srgbClr val="EFEFEF"/>
                    </a:solidFill>
                  </a:tcPr>
                </a:tc>
                <a:tc>
                  <a:txBody>
                    <a:bodyPr/>
                    <a:lstStyle/>
                    <a:p>
                      <a:pPr algn="ctr">
                        <a:defRPr sz="1000">
                          <a:latin typeface="Montserrat"/>
                        </a:defRPr>
                      </a:pPr>
                      <a:r>
                        <a:t>10,847</a:t>
                      </a:r>
                    </a:p>
                  </a:txBody>
                  <a:tcPr marL="0" marR="0" marT="0" marB="0">
                    <a:solidFill>
                      <a:srgbClr val="EFEFEF"/>
                    </a:solidFill>
                  </a:tcPr>
                </a:tc>
                <a:tc>
                  <a:txBody>
                    <a:bodyPr/>
                    <a:lstStyle/>
                    <a:p>
                      <a:pPr algn="ctr">
                        <a:defRPr sz="1000">
                          <a:latin typeface="Montserrat"/>
                        </a:defRPr>
                      </a:pPr>
                      <a:r>
                        <a:t>-192</a:t>
                      </a:r>
                    </a:p>
                  </a:txBody>
                  <a:tcPr marL="0" marR="0" marT="0" marB="0">
                    <a:solidFill>
                      <a:srgbClr val="EFEFEF"/>
                    </a:solidFill>
                  </a:tcPr>
                </a:tc>
                <a:tc>
                  <a:txBody>
                    <a:bodyPr/>
                    <a:lstStyle/>
                    <a:p>
                      <a:pPr algn="ctr">
                        <a:defRPr sz="1000">
                          <a:latin typeface="Montserrat"/>
                        </a:defRPr>
                      </a:pPr>
                      <a:r>
                        <a:t>4,659</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38.8%</a:t>
                      </a:r>
                    </a:p>
                  </a:txBody>
                  <a:tcPr marL="0" marR="0" marT="0" marB="0">
                    <a:solidFill>
                      <a:srgbClr val="ECD3D9"/>
                    </a:solidFill>
                  </a:tcPr>
                </a:tc>
              </a:tr>
              <a:tr h="151200">
                <a:tc>
                  <a:txBody>
                    <a:bodyPr/>
                    <a:lstStyle/>
                    <a:p>
                      <a:pPr algn="l">
                        <a:defRPr sz="1000">
                          <a:latin typeface="Montserrat"/>
                        </a:defRPr>
                      </a:pPr>
                      <a:r>
                        <a:t>UMF 27 Petacalco</a:t>
                      </a:r>
                    </a:p>
                  </a:txBody>
                  <a:tcPr marL="0" marR="0" marT="0" marB="0">
                    <a:solidFill>
                      <a:srgbClr val="FFFFFF"/>
                    </a:solidFill>
                  </a:tcPr>
                </a:tc>
                <a:tc>
                  <a:txBody>
                    <a:bodyPr/>
                    <a:lstStyle/>
                    <a:p>
                      <a:pPr algn="ctr">
                        <a:defRPr sz="1000">
                          <a:latin typeface="Montserrat"/>
                        </a:defRPr>
                      </a:pPr>
                      <a:r>
                        <a:t>2,510</a:t>
                      </a:r>
                    </a:p>
                  </a:txBody>
                  <a:tcPr marL="0" marR="0" marT="0" marB="0">
                    <a:solidFill>
                      <a:srgbClr val="FFFFFF"/>
                    </a:solidFill>
                  </a:tcPr>
                </a:tc>
                <a:tc>
                  <a:txBody>
                    <a:bodyPr/>
                    <a:lstStyle/>
                    <a:p>
                      <a:pPr algn="ctr">
                        <a:defRPr sz="1000">
                          <a:latin typeface="Montserrat"/>
                        </a:defRPr>
                      </a:pPr>
                      <a:r>
                        <a:t>-325</a:t>
                      </a:r>
                    </a:p>
                  </a:txBody>
                  <a:tcPr marL="0" marR="0" marT="0" marB="0">
                    <a:solidFill>
                      <a:srgbClr val="FFFFFF"/>
                    </a:solidFill>
                  </a:tcPr>
                </a:tc>
                <a:tc>
                  <a:txBody>
                    <a:bodyPr/>
                    <a:lstStyle/>
                    <a:p>
                      <a:pPr algn="ctr">
                        <a:defRPr sz="1000">
                          <a:latin typeface="Montserrat"/>
                        </a:defRPr>
                      </a:pPr>
                      <a:r>
                        <a:t>1,002</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25.1%</a:t>
                      </a:r>
                    </a:p>
                  </a:txBody>
                  <a:tcPr marL="0" marR="0" marT="0" marB="0">
                    <a:solidFill>
                      <a:srgbClr val="ECD3D9"/>
                    </a:solidFill>
                  </a:tcPr>
                </a:tc>
              </a:tr>
              <a:tr h="151200">
                <a:tc>
                  <a:txBody>
                    <a:bodyPr/>
                    <a:lstStyle/>
                    <a:p>
                      <a:pPr algn="l">
                        <a:defRPr sz="1000">
                          <a:latin typeface="Montserrat"/>
                        </a:defRPr>
                      </a:pPr>
                      <a:r>
                        <a:t>UMF 28 El Coloso</a:t>
                      </a:r>
                    </a:p>
                  </a:txBody>
                  <a:tcPr marL="0" marR="0" marT="0" marB="0">
                    <a:solidFill>
                      <a:srgbClr val="EFEFEF"/>
                    </a:solidFill>
                  </a:tcPr>
                </a:tc>
                <a:tc>
                  <a:txBody>
                    <a:bodyPr/>
                    <a:lstStyle/>
                    <a:p>
                      <a:pPr algn="ctr">
                        <a:defRPr sz="1000">
                          <a:latin typeface="Montserrat"/>
                        </a:defRPr>
                      </a:pPr>
                      <a:r>
                        <a:t>62,680</a:t>
                      </a:r>
                    </a:p>
                  </a:txBody>
                  <a:tcPr marL="0" marR="0" marT="0" marB="0">
                    <a:solidFill>
                      <a:srgbClr val="EFEFEF"/>
                    </a:solidFill>
                  </a:tcPr>
                </a:tc>
                <a:tc>
                  <a:txBody>
                    <a:bodyPr/>
                    <a:lstStyle/>
                    <a:p>
                      <a:pPr algn="ctr">
                        <a:defRPr sz="1000">
                          <a:latin typeface="Montserrat"/>
                        </a:defRPr>
                      </a:pPr>
                      <a:r>
                        <a:t>7,450</a:t>
                      </a:r>
                    </a:p>
                  </a:txBody>
                  <a:tcPr marL="0" marR="0" marT="0" marB="0">
                    <a:solidFill>
                      <a:srgbClr val="EFEFEF"/>
                    </a:solidFill>
                  </a:tcPr>
                </a:tc>
                <a:tc>
                  <a:txBody>
                    <a:bodyPr/>
                    <a:lstStyle/>
                    <a:p>
                      <a:pPr algn="ctr">
                        <a:defRPr sz="1000">
                          <a:latin typeface="Montserrat"/>
                        </a:defRPr>
                      </a:pPr>
                      <a:r>
                        <a:t>26,254</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41.9%</a:t>
                      </a:r>
                    </a:p>
                  </a:txBody>
                  <a:tcPr marL="0" marR="0" marT="0" marB="0">
                    <a:solidFill>
                      <a:srgbClr val="ECD3D9"/>
                    </a:solidFill>
                  </a:tcPr>
                </a:tc>
              </a:tr>
              <a:tr h="151200">
                <a:tc>
                  <a:txBody>
                    <a:bodyPr/>
                    <a:lstStyle/>
                    <a:p>
                      <a:pPr algn="l">
                        <a:defRPr sz="1000">
                          <a:latin typeface="Montserrat"/>
                        </a:defRPr>
                      </a:pPr>
                      <a:r>
                        <a:t>UMF 9 Acapulco</a:t>
                      </a:r>
                    </a:p>
                  </a:txBody>
                  <a:tcPr marL="0" marR="0" marT="0" marB="0">
                    <a:solidFill>
                      <a:srgbClr val="FFFFFF"/>
                    </a:solidFill>
                  </a:tcPr>
                </a:tc>
                <a:tc>
                  <a:txBody>
                    <a:bodyPr/>
                    <a:lstStyle/>
                    <a:p>
                      <a:pPr algn="ctr">
                        <a:defRPr sz="1000">
                          <a:latin typeface="Montserrat"/>
                        </a:defRPr>
                      </a:pPr>
                      <a:r>
                        <a:t>403,899</a:t>
                      </a:r>
                    </a:p>
                  </a:txBody>
                  <a:tcPr marL="0" marR="0" marT="0" marB="0">
                    <a:solidFill>
                      <a:srgbClr val="FFFFFF"/>
                    </a:solidFill>
                  </a:tcPr>
                </a:tc>
                <a:tc>
                  <a:txBody>
                    <a:bodyPr/>
                    <a:lstStyle/>
                    <a:p>
                      <a:pPr algn="ctr">
                        <a:defRPr sz="1000">
                          <a:latin typeface="Montserrat"/>
                        </a:defRPr>
                      </a:pPr>
                      <a:r>
                        <a:t>11,468</a:t>
                      </a:r>
                    </a:p>
                  </a:txBody>
                  <a:tcPr marL="0" marR="0" marT="0" marB="0">
                    <a:solidFill>
                      <a:srgbClr val="FFFFFF"/>
                    </a:solidFill>
                  </a:tcPr>
                </a:tc>
                <a:tc>
                  <a:txBody>
                    <a:bodyPr/>
                    <a:lstStyle/>
                    <a:p>
                      <a:pPr algn="ctr">
                        <a:defRPr sz="1000">
                          <a:latin typeface="Montserrat"/>
                        </a:defRPr>
                      </a:pPr>
                      <a:r>
                        <a:t>162,761</a:t>
                      </a:r>
                    </a:p>
                  </a:txBody>
                  <a:tcPr marL="0" marR="0" marT="0" marB="0">
                    <a:solidFill>
                      <a:srgbClr val="ECD3D9"/>
                    </a:solidFill>
                  </a:tcPr>
                </a:tc>
                <a:tc>
                  <a:txBody>
                    <a:bodyPr/>
                    <a:lstStyle/>
                    <a:p>
                      <a:pPr algn="ctr">
                        <a:defRPr sz="1000">
                          <a:latin typeface="Montserrat"/>
                        </a:defRPr>
                      </a:pPr>
                      <a:r>
                        <a:t>391,000</a:t>
                      </a:r>
                    </a:p>
                  </a:txBody>
                  <a:tcPr marL="0" marR="0" marT="0" marB="0">
                    <a:solidFill>
                      <a:srgbClr val="ECD3D9"/>
                    </a:solidFill>
                  </a:tcPr>
                </a:tc>
                <a:tc>
                  <a:txBody>
                    <a:bodyPr/>
                    <a:lstStyle/>
                    <a:p>
                      <a:pPr algn="ctr">
                        <a:defRPr sz="1000">
                          <a:latin typeface="Montserrat"/>
                        </a:defRPr>
                      </a:pPr>
                      <a:r>
                        <a:t>41.6%</a:t>
                      </a:r>
                    </a:p>
                  </a:txBody>
                  <a:tcPr marL="0" marR="0" marT="0" marB="0">
                    <a:solidFill>
                      <a:srgbClr val="ECD3D9"/>
                    </a:solidFill>
                  </a:tcPr>
                </a:tc>
              </a:tr>
              <a:tr h="151200">
                <a:tc>
                  <a:txBody>
                    <a:bodyPr/>
                    <a:lstStyle/>
                    <a:p>
                      <a:pPr algn="l">
                        <a:defRPr sz="1000">
                          <a:latin typeface="Montserrat"/>
                        </a:defRPr>
                      </a:pPr>
                      <a:r>
                        <a:t>UMF 31 Mezcala</a:t>
                      </a:r>
                    </a:p>
                  </a:txBody>
                  <a:tcPr marL="0" marR="0" marT="0" marB="0">
                    <a:solidFill>
                      <a:srgbClr val="EFEFEF"/>
                    </a:solidFill>
                  </a:tcPr>
                </a:tc>
                <a:tc>
                  <a:txBody>
                    <a:bodyPr/>
                    <a:lstStyle/>
                    <a:p>
                      <a:pPr algn="ctr">
                        <a:defRPr sz="1000">
                          <a:latin typeface="Montserrat"/>
                        </a:defRPr>
                      </a:pPr>
                      <a:r>
                        <a:t>5,152</a:t>
                      </a:r>
                    </a:p>
                  </a:txBody>
                  <a:tcPr marL="0" marR="0" marT="0" marB="0">
                    <a:solidFill>
                      <a:srgbClr val="EFEFEF"/>
                    </a:solidFill>
                  </a:tcPr>
                </a:tc>
                <a:tc>
                  <a:txBody>
                    <a:bodyPr/>
                    <a:lstStyle/>
                    <a:p>
                      <a:pPr algn="ctr">
                        <a:defRPr sz="1000">
                          <a:latin typeface="Montserrat"/>
                        </a:defRPr>
                      </a:pPr>
                      <a:r>
                        <a:t>-2,778</a:t>
                      </a:r>
                    </a:p>
                  </a:txBody>
                  <a:tcPr marL="0" marR="0" marT="0" marB="0">
                    <a:solidFill>
                      <a:srgbClr val="EFEFEF"/>
                    </a:solidFill>
                  </a:tcPr>
                </a:tc>
                <a:tc>
                  <a:txBody>
                    <a:bodyPr/>
                    <a:lstStyle/>
                    <a:p>
                      <a:pPr algn="ctr">
                        <a:defRPr sz="1000">
                          <a:latin typeface="Montserrat"/>
                        </a:defRPr>
                      </a:pPr>
                      <a:r>
                        <a:t>1,805</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25.8%</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540,258</a:t>
                      </a:r>
                    </a:p>
                  </a:txBody>
                  <a:tcPr marL="0" marR="0" marT="0" marB="0">
                    <a:solidFill>
                      <a:srgbClr val="D3E9E7"/>
                    </a:solidFill>
                  </a:tcPr>
                </a:tc>
                <a:tc>
                  <a:txBody>
                    <a:bodyPr/>
                    <a:lstStyle/>
                    <a:p>
                      <a:pPr algn="ctr">
                        <a:defRPr sz="1000" b="1">
                          <a:solidFill>
                            <a:srgbClr val="006556"/>
                          </a:solidFill>
                          <a:latin typeface="Montserrat"/>
                        </a:defRPr>
                      </a:pPr>
                      <a:r>
                        <a:t>16,718</a:t>
                      </a:r>
                    </a:p>
                  </a:txBody>
                  <a:tcPr marL="0" marR="0" marT="0" marB="0">
                    <a:solidFill>
                      <a:srgbClr val="D3E9E7"/>
                    </a:solidFill>
                  </a:tcPr>
                </a:tc>
                <a:tc>
                  <a:txBody>
                    <a:bodyPr/>
                    <a:lstStyle/>
                    <a:p>
                      <a:pPr algn="ctr">
                        <a:defRPr sz="1000" b="1">
                          <a:solidFill>
                            <a:srgbClr val="FFFFFF"/>
                          </a:solidFill>
                          <a:latin typeface="Montserrat"/>
                        </a:defRPr>
                      </a:pPr>
                      <a:r>
                        <a:t>217,328</a:t>
                      </a:r>
                    </a:p>
                  </a:txBody>
                  <a:tcPr marL="0" marR="0" marT="0" marB="0">
                    <a:solidFill>
                      <a:srgbClr val="9F2241"/>
                    </a:solidFill>
                  </a:tcPr>
                </a:tc>
                <a:tc>
                  <a:txBody>
                    <a:bodyPr/>
                    <a:lstStyle/>
                    <a:p>
                      <a:pPr algn="ctr">
                        <a:defRPr sz="1000" b="1">
                          <a:solidFill>
                            <a:srgbClr val="FFFFFF"/>
                          </a:solidFill>
                          <a:latin typeface="Montserrat"/>
                        </a:defRPr>
                      </a:pPr>
                      <a:r>
                        <a:t>539,640</a:t>
                      </a:r>
                    </a:p>
                  </a:txBody>
                  <a:tcPr marL="0" marR="0" marT="0" marB="0">
                    <a:solidFill>
                      <a:srgbClr val="9F2241"/>
                    </a:solidFill>
                  </a:tcPr>
                </a:tc>
                <a:tc>
                  <a:txBody>
                    <a:bodyPr/>
                    <a:lstStyle/>
                    <a:p>
                      <a:pPr algn="ctr">
                        <a:defRPr sz="1000" b="1">
                          <a:solidFill>
                            <a:srgbClr val="FFFFFF"/>
                          </a:solidFill>
                          <a:latin typeface="Montserrat"/>
                        </a:defRPr>
                      </a:pPr>
                      <a:r>
                        <a:t>40.3%</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45288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5248800"/>
            <a:ext cx="1800000" cy="360000"/>
          </a:xfrm>
          <a:prstGeom prst="rect">
            <a:avLst/>
          </a:prstGeom>
          <a:noFill/>
        </p:spPr>
        <p:txBody>
          <a:bodyPr wrap="none">
            <a:spAutoFit/>
          </a:bodyPr>
          <a:lstStyle/>
          <a:p>
            <a:pPr algn="ctr"/>
            <a:r>
              <a:rPr sz="2400" b="1">
                <a:solidFill>
                  <a:srgbClr val="9F2241"/>
                </a:solidFill>
                <a:latin typeface="Montserrat"/>
              </a:rPr>
              <a:t>40.3%</a:t>
            </a:r>
          </a:p>
        </p:txBody>
      </p:sp>
      <p:sp>
        <p:nvSpPr>
          <p:cNvPr id="11" name="TextBox 10"/>
          <p:cNvSpPr txBox="1"/>
          <p:nvPr/>
        </p:nvSpPr>
        <p:spPr>
          <a:xfrm>
            <a:off x="4780800" y="61488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4528800"/>
            <a:ext cx="2854800" cy="1198800"/>
          </a:xfrm>
          <a:prstGeom prst="rect">
            <a:avLst/>
          </a:prstGeom>
          <a:noFill/>
        </p:spPr>
        <p:txBody>
          <a:bodyPr wrap="square">
            <a:spAutoFit/>
          </a:bodyPr>
          <a:lstStyle/>
          <a:p>
            <a:pPr algn="ctr">
              <a:defRPr sz="3600" b="1">
                <a:solidFill>
                  <a:srgbClr val="9F2241"/>
                </a:solidFill>
                <a:latin typeface="Montserrat"/>
              </a:defRPr>
            </a:pPr>
            <a:r>
              <a:t>539,640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170" name="CuadroTexto 169">
            <a:extLst>
              <a:ext uri="{FF2B5EF4-FFF2-40B4-BE49-F238E27FC236}">
                <a16:creationId xmlns:a16="http://schemas.microsoft.com/office/drawing/2014/main" id="{4C1EA4E1-D154-9426-79B0-A6DA25087B56}"/>
              </a:ext>
            </a:extLst>
          </p:cNvPr>
          <p:cNvSpPr txBox="1"/>
          <p:nvPr/>
        </p:nvSpPr>
        <p:spPr>
          <a:xfrm>
            <a:off x="4080058" y="5472348"/>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1 Nueva UMTC con   10 consultorios</a:t>
            </a:r>
          </a:p>
        </p:txBody>
      </p:sp>
      <p:graphicFrame>
        <p:nvGraphicFramePr>
          <p:cNvPr id="171" name="Tabla 170">
            <a:extLst>
              <a:ext uri="{FF2B5EF4-FFF2-40B4-BE49-F238E27FC236}">
                <a16:creationId xmlns:a16="http://schemas.microsoft.com/office/drawing/2014/main" id="{E0DDACE4-6A4C-6966-319B-E1D8C4D346EB}"/>
              </a:ext>
            </a:extLst>
          </p:cNvPr>
          <p:cNvGraphicFramePr>
            <a:graphicFrameLocks noGrp="1"/>
          </p:cNvGraphicFramePr>
          <p:nvPr>
            <p:extLst>
              <p:ext uri="{D42A27DB-BD31-4B8C-83A1-F6EECF244321}">
                <p14:modId xmlns:p14="http://schemas.microsoft.com/office/powerpoint/2010/main" val="2301026136"/>
              </p:ext>
            </p:extLst>
          </p:nvPr>
        </p:nvGraphicFramePr>
        <p:xfrm>
          <a:off x="4683854" y="6687767"/>
          <a:ext cx="2808830" cy="668655"/>
        </p:xfrm>
        <a:graphic>
          <a:graphicData uri="http://schemas.openxmlformats.org/drawingml/2006/table">
            <a:tbl>
              <a:tblPr>
                <a:tableStyleId>{4F9E4E24-231D-441B-AD27-9C975659944D}</a:tableStyleId>
              </a:tblPr>
              <a:tblGrid>
                <a:gridCol w="2808830">
                  <a:extLst>
                    <a:ext uri="{9D8B030D-6E8A-4147-A177-3AD203B41FA5}">
                      <a16:colId xmlns:a16="http://schemas.microsoft.com/office/drawing/2014/main" val="3003209570"/>
                    </a:ext>
                  </a:extLst>
                </a:gridCol>
              </a:tblGrid>
              <a:tr h="213360">
                <a:tc>
                  <a:txBody>
                    <a:bodyPr/>
                    <a:lstStyle/>
                    <a:p>
                      <a:pPr marL="228600" indent="-228600" algn="l" fontAlgn="b">
                        <a:buFont typeface="+mj-lt"/>
                        <a:buAutoNum type="arabicParenR"/>
                      </a:pPr>
                      <a:r>
                        <a:rPr lang="es-MX" sz="1400" b="0" u="none" strike="noStrike" dirty="0">
                          <a:effectLst/>
                          <a:latin typeface="Montserrat" panose="00000500000000000000" pitchFamily="2" charset="0"/>
                        </a:rPr>
                        <a:t>UMF  9 Acapulco</a:t>
                      </a: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293740564"/>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721794832"/>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893022568"/>
                  </a:ext>
                </a:extLst>
              </a:tr>
            </a:tbl>
          </a:graphicData>
        </a:graphic>
      </p:graphicFrame>
      <p:sp>
        <p:nvSpPr>
          <p:cNvPr id="172" name="TextBox 17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173" name="TextBox 17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15 Unidades de Medicina Familiar</a:t>
            </a:r>
          </a:p>
        </p:txBody>
      </p:sp>
      <p:sp>
        <p:nvSpPr>
          <p:cNvPr id="174" name="TextBox 173"/>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3 Unidades Médicas de tiempo completo (12 consultorios)</a:t>
            </a:r>
          </a:p>
        </p:txBody>
      </p:sp>
      <p:sp>
        <p:nvSpPr>
          <p:cNvPr id="175" name="TextBox 17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176" name="Connector 175"/>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77" name="TextBox 176"/>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sp>
        <p:nvSpPr>
          <p:cNvPr id="178" name="TextBox 177"/>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(63,365 consultas)</a:t>
            </a:r>
          </a:p>
        </p:txBody>
      </p:sp>
      <p:graphicFrame>
        <p:nvGraphicFramePr>
          <p:cNvPr id="179" name="Table 178"/>
          <p:cNvGraphicFramePr>
            <a:graphicFrameLocks noGrp="1"/>
          </p:cNvGraphicFramePr>
          <p:nvPr/>
        </p:nvGraphicFramePr>
        <p:xfrm>
          <a:off x="151200" y="1695600"/>
          <a:ext cx="7473599" cy="7560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26 Acapulco</a:t>
                      </a:r>
                    </a:p>
                  </a:txBody>
                  <a:tcPr marL="0" marR="0" marT="0" marB="0">
                    <a:solidFill>
                      <a:srgbClr val="FFFFFF"/>
                    </a:solidFill>
                  </a:tcPr>
                </a:tc>
                <a:tc>
                  <a:txBody>
                    <a:bodyPr/>
                    <a:lstStyle/>
                    <a:p>
                      <a:pPr algn="ctr">
                        <a:defRPr sz="1000">
                          <a:solidFill>
                            <a:srgbClr val="000000"/>
                          </a:solidFill>
                          <a:latin typeface="Montserrat"/>
                        </a:defRPr>
                      </a:pPr>
                      <a:r>
                        <a:t>295,316</a:t>
                      </a:r>
                    </a:p>
                  </a:txBody>
                  <a:tcPr marL="0" marR="0" marT="0" marB="0">
                    <a:solidFill>
                      <a:srgbClr val="FFFFFF"/>
                    </a:solidFill>
                  </a:tcPr>
                </a:tc>
                <a:tc>
                  <a:txBody>
                    <a:bodyPr/>
                    <a:lstStyle/>
                    <a:p>
                      <a:pPr algn="ctr">
                        <a:defRPr sz="1000">
                          <a:solidFill>
                            <a:srgbClr val="000000"/>
                          </a:solidFill>
                          <a:latin typeface="Montserrat"/>
                        </a:defRPr>
                      </a:pPr>
                      <a:r>
                        <a:t>4,245</a:t>
                      </a:r>
                    </a:p>
                  </a:txBody>
                  <a:tcPr marL="0" marR="0" marT="0" marB="0">
                    <a:solidFill>
                      <a:srgbClr val="FFFFFF"/>
                    </a:solidFill>
                  </a:tcPr>
                </a:tc>
                <a:tc>
                  <a:txBody>
                    <a:bodyPr/>
                    <a:lstStyle/>
                    <a:p>
                      <a:pPr algn="ctr">
                        <a:defRPr sz="1000">
                          <a:solidFill>
                            <a:srgbClr val="000000"/>
                          </a:solidFill>
                          <a:latin typeface="Montserrat"/>
                        </a:defRPr>
                      </a:pPr>
                      <a:r>
                        <a:t>115,113</a:t>
                      </a:r>
                    </a:p>
                  </a:txBody>
                  <a:tcPr marL="0" marR="0" marT="0" marB="0">
                    <a:solidFill>
                      <a:srgbClr val="ECD3D9"/>
                    </a:solidFill>
                  </a:tcPr>
                </a:tc>
                <a:tc>
                  <a:txBody>
                    <a:bodyPr/>
                    <a:lstStyle/>
                    <a:p>
                      <a:pPr algn="ctr">
                        <a:defRPr sz="1000">
                          <a:solidFill>
                            <a:srgbClr val="000000"/>
                          </a:solidFill>
                          <a:latin typeface="Montserrat"/>
                        </a:defRPr>
                      </a:pPr>
                      <a:r>
                        <a:t>285,000</a:t>
                      </a:r>
                    </a:p>
                  </a:txBody>
                  <a:tcPr marL="0" marR="0" marT="0" marB="0">
                    <a:solidFill>
                      <a:srgbClr val="ECD3D9"/>
                    </a:solidFill>
                  </a:tcPr>
                </a:tc>
                <a:tc>
                  <a:txBody>
                    <a:bodyPr/>
                    <a:lstStyle/>
                    <a:p>
                      <a:pPr algn="ctr">
                        <a:defRPr sz="1000">
                          <a:solidFill>
                            <a:srgbClr val="000000"/>
                          </a:solidFill>
                          <a:latin typeface="Montserrat"/>
                        </a:defRPr>
                      </a:pPr>
                      <a:r>
                        <a:t>40.4%</a:t>
                      </a:r>
                    </a:p>
                  </a:txBody>
                  <a:tcPr marL="0" marR="0" marT="0" marB="0">
                    <a:solidFill>
                      <a:srgbClr val="ECD3D9"/>
                    </a:solidFill>
                  </a:tcPr>
                </a:tc>
              </a:tr>
              <a:tr h="151200">
                <a:tc>
                  <a:txBody>
                    <a:bodyPr/>
                    <a:lstStyle/>
                    <a:p>
                      <a:pPr algn="l">
                        <a:defRPr sz="1000">
                          <a:solidFill>
                            <a:srgbClr val="000000"/>
                          </a:solidFill>
                          <a:latin typeface="Montserrat"/>
                        </a:defRPr>
                      </a:pPr>
                      <a:r>
                        <a:t>UMF 2 La Garita</a:t>
                      </a:r>
                    </a:p>
                  </a:txBody>
                  <a:tcPr marL="0" marR="0" marT="0" marB="0">
                    <a:solidFill>
                      <a:srgbClr val="EFEFEF"/>
                    </a:solidFill>
                  </a:tcPr>
                </a:tc>
                <a:tc>
                  <a:txBody>
                    <a:bodyPr/>
                    <a:lstStyle/>
                    <a:p>
                      <a:pPr algn="ctr">
                        <a:defRPr sz="1000">
                          <a:solidFill>
                            <a:srgbClr val="000000"/>
                          </a:solidFill>
                          <a:latin typeface="Montserrat"/>
                        </a:defRPr>
                      </a:pPr>
                      <a:r>
                        <a:t>159,698</a:t>
                      </a:r>
                    </a:p>
                  </a:txBody>
                  <a:tcPr marL="0" marR="0" marT="0" marB="0">
                    <a:solidFill>
                      <a:srgbClr val="EFEFEF"/>
                    </a:solidFill>
                  </a:tcPr>
                </a:tc>
                <a:tc>
                  <a:txBody>
                    <a:bodyPr/>
                    <a:lstStyle/>
                    <a:p>
                      <a:pPr algn="ctr">
                        <a:defRPr sz="1000">
                          <a:solidFill>
                            <a:srgbClr val="000000"/>
                          </a:solidFill>
                          <a:latin typeface="Montserrat"/>
                        </a:defRPr>
                      </a:pPr>
                      <a:r>
                        <a:t>8,166</a:t>
                      </a:r>
                    </a:p>
                  </a:txBody>
                  <a:tcPr marL="0" marR="0" marT="0" marB="0">
                    <a:solidFill>
                      <a:srgbClr val="EFEFEF"/>
                    </a:solidFill>
                  </a:tcPr>
                </a:tc>
                <a:tc>
                  <a:txBody>
                    <a:bodyPr/>
                    <a:lstStyle/>
                    <a:p>
                      <a:pPr algn="ctr">
                        <a:defRPr sz="1000">
                          <a:solidFill>
                            <a:srgbClr val="000000"/>
                          </a:solidFill>
                          <a:latin typeface="Montserrat"/>
                        </a:defRPr>
                      </a:pPr>
                      <a:r>
                        <a:t>68,125</a:t>
                      </a:r>
                    </a:p>
                  </a:txBody>
                  <a:tcPr marL="0" marR="0" marT="0" marB="0">
                    <a:solidFill>
                      <a:srgbClr val="ECD3D9"/>
                    </a:solidFill>
                  </a:tcPr>
                </a:tc>
                <a:tc>
                  <a:txBody>
                    <a:bodyPr/>
                    <a:lstStyle/>
                    <a:p>
                      <a:pPr algn="ctr">
                        <a:defRPr sz="1000">
                          <a:solidFill>
                            <a:srgbClr val="000000"/>
                          </a:solidFill>
                          <a:latin typeface="Montserrat"/>
                        </a:defRPr>
                      </a:pPr>
                      <a:r>
                        <a:t>155,000</a:t>
                      </a:r>
                    </a:p>
                  </a:txBody>
                  <a:tcPr marL="0" marR="0" marT="0" marB="0">
                    <a:solidFill>
                      <a:srgbClr val="ECD3D9"/>
                    </a:solidFill>
                  </a:tcPr>
                </a:tc>
                <a:tc>
                  <a:txBody>
                    <a:bodyPr/>
                    <a:lstStyle/>
                    <a:p>
                      <a:pPr algn="ctr">
                        <a:defRPr sz="1000">
                          <a:solidFill>
                            <a:srgbClr val="000000"/>
                          </a:solidFill>
                          <a:latin typeface="Montserrat"/>
                        </a:defRPr>
                      </a:pPr>
                      <a:r>
                        <a:t>44.0%</a:t>
                      </a:r>
                    </a:p>
                  </a:txBody>
                  <a:tcPr marL="0" marR="0" marT="0" marB="0">
                    <a:solidFill>
                      <a:srgbClr val="ECD3D9"/>
                    </a:solidFill>
                  </a:tcPr>
                </a:tc>
              </a:tr>
              <a:tr h="151200">
                <a:tc>
                  <a:txBody>
                    <a:bodyPr/>
                    <a:lstStyle/>
                    <a:p>
                      <a:pPr algn="l">
                        <a:defRPr sz="1000">
                          <a:solidFill>
                            <a:srgbClr val="000000"/>
                          </a:solidFill>
                          <a:latin typeface="Montserrat"/>
                        </a:defRPr>
                      </a:pPr>
                      <a:r>
                        <a:t>UMF-UMAA 29 Diamante</a:t>
                      </a:r>
                    </a:p>
                  </a:txBody>
                  <a:tcPr marL="0" marR="0" marT="0" marB="0">
                    <a:solidFill>
                      <a:srgbClr val="FFFFFF"/>
                    </a:solidFill>
                  </a:tcPr>
                </a:tc>
                <a:tc>
                  <a:txBody>
                    <a:bodyPr/>
                    <a:lstStyle/>
                    <a:p>
                      <a:pPr algn="ctr">
                        <a:defRPr sz="1000">
                          <a:solidFill>
                            <a:srgbClr val="000000"/>
                          </a:solidFill>
                          <a:latin typeface="Montserrat"/>
                        </a:defRPr>
                      </a:pPr>
                      <a:r>
                        <a:t>135,206</a:t>
                      </a:r>
                    </a:p>
                  </a:txBody>
                  <a:tcPr marL="0" marR="0" marT="0" marB="0">
                    <a:solidFill>
                      <a:srgbClr val="FFFFFF"/>
                    </a:solidFill>
                  </a:tcPr>
                </a:tc>
                <a:tc>
                  <a:txBody>
                    <a:bodyPr/>
                    <a:lstStyle/>
                    <a:p>
                      <a:pPr algn="ctr">
                        <a:defRPr sz="1000">
                          <a:solidFill>
                            <a:srgbClr val="000000"/>
                          </a:solidFill>
                          <a:latin typeface="Montserrat"/>
                        </a:defRPr>
                      </a:pPr>
                      <a:r>
                        <a:t>31,278</a:t>
                      </a:r>
                    </a:p>
                  </a:txBody>
                  <a:tcPr marL="0" marR="0" marT="0" marB="0">
                    <a:solidFill>
                      <a:srgbClr val="FFFFFF"/>
                    </a:solidFill>
                  </a:tcPr>
                </a:tc>
                <a:tc>
                  <a:txBody>
                    <a:bodyPr/>
                    <a:lstStyle/>
                    <a:p>
                      <a:pPr algn="ctr">
                        <a:defRPr sz="1000">
                          <a:solidFill>
                            <a:srgbClr val="000000"/>
                          </a:solidFill>
                          <a:latin typeface="Montserrat"/>
                        </a:defRPr>
                      </a:pPr>
                      <a:r>
                        <a:t>57,014</a:t>
                      </a:r>
                    </a:p>
                  </a:txBody>
                  <a:tcPr marL="0" marR="0" marT="0" marB="0">
                    <a:solidFill>
                      <a:srgbClr val="ECD3D9"/>
                    </a:solidFill>
                  </a:tcPr>
                </a:tc>
                <a:tc>
                  <a:txBody>
                    <a:bodyPr/>
                    <a:lstStyle/>
                    <a:p>
                      <a:pPr algn="ctr">
                        <a:defRPr sz="1000">
                          <a:solidFill>
                            <a:srgbClr val="000000"/>
                          </a:solidFill>
                          <a:latin typeface="Montserrat"/>
                        </a:defRPr>
                      </a:pPr>
                      <a:r>
                        <a:t>131,000</a:t>
                      </a:r>
                    </a:p>
                  </a:txBody>
                  <a:tcPr marL="0" marR="0" marT="0" marB="0">
                    <a:solidFill>
                      <a:srgbClr val="ECD3D9"/>
                    </a:solidFill>
                  </a:tcPr>
                </a:tc>
                <a:tc>
                  <a:txBody>
                    <a:bodyPr/>
                    <a:lstStyle/>
                    <a:p>
                      <a:pPr algn="ctr">
                        <a:defRPr sz="1000">
                          <a:solidFill>
                            <a:srgbClr val="000000"/>
                          </a:solidFill>
                          <a:latin typeface="Montserrat"/>
                        </a:defRPr>
                      </a:pPr>
                      <a:r>
                        <a:t>43.5%</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590,220</a:t>
                      </a:r>
                    </a:p>
                  </a:txBody>
                  <a:tcPr marL="0" marR="0" marT="0" marB="0">
                    <a:solidFill>
                      <a:srgbClr val="D3E9E7"/>
                    </a:solidFill>
                  </a:tcPr>
                </a:tc>
                <a:tc>
                  <a:txBody>
                    <a:bodyPr/>
                    <a:lstStyle/>
                    <a:p>
                      <a:pPr algn="ctr">
                        <a:defRPr sz="1000" b="1">
                          <a:solidFill>
                            <a:srgbClr val="006556"/>
                          </a:solidFill>
                          <a:latin typeface="Montserrat"/>
                        </a:defRPr>
                      </a:pPr>
                      <a:r>
                        <a:t>43,689</a:t>
                      </a:r>
                    </a:p>
                  </a:txBody>
                  <a:tcPr marL="0" marR="0" marT="0" marB="0">
                    <a:solidFill>
                      <a:srgbClr val="D3E9E7"/>
                    </a:solidFill>
                  </a:tcPr>
                </a:tc>
                <a:tc>
                  <a:txBody>
                    <a:bodyPr/>
                    <a:lstStyle/>
                    <a:p>
                      <a:pPr algn="ctr">
                        <a:defRPr sz="1000" b="1">
                          <a:solidFill>
                            <a:srgbClr val="FFFFFF"/>
                          </a:solidFill>
                          <a:latin typeface="Montserrat"/>
                        </a:defRPr>
                      </a:pPr>
                      <a:r>
                        <a:t>240,252</a:t>
                      </a:r>
                    </a:p>
                  </a:txBody>
                  <a:tcPr marL="0" marR="0" marT="0" marB="0">
                    <a:solidFill>
                      <a:srgbClr val="9F2241"/>
                    </a:solidFill>
                  </a:tcPr>
                </a:tc>
                <a:tc>
                  <a:txBody>
                    <a:bodyPr/>
                    <a:lstStyle/>
                    <a:p>
                      <a:pPr algn="ctr">
                        <a:defRPr sz="1000" b="1">
                          <a:solidFill>
                            <a:srgbClr val="FFFFFF"/>
                          </a:solidFill>
                          <a:latin typeface="Montserrat"/>
                        </a:defRPr>
                      </a:pPr>
                      <a:r>
                        <a:t>571,000</a:t>
                      </a:r>
                    </a:p>
                  </a:txBody>
                  <a:tcPr marL="0" marR="0" marT="0" marB="0">
                    <a:solidFill>
                      <a:srgbClr val="9F2241"/>
                    </a:solidFill>
                  </a:tcPr>
                </a:tc>
                <a:tc>
                  <a:txBody>
                    <a:bodyPr/>
                    <a:lstStyle/>
                    <a:p>
                      <a:pPr algn="ctr">
                        <a:defRPr sz="1000" b="1">
                          <a:solidFill>
                            <a:srgbClr val="FFFFFF"/>
                          </a:solidFill>
                          <a:latin typeface="Montserrat"/>
                        </a:defRPr>
                      </a:pPr>
                      <a:r>
                        <a:t>42.1%</a:t>
                      </a:r>
                    </a:p>
                  </a:txBody>
                  <a:tcPr marL="0" marR="0" marT="0" marB="0">
                    <a:solidFill>
                      <a:srgbClr val="9F2241"/>
                    </a:solidFill>
                  </a:tcPr>
                </a:tc>
              </a:tr>
            </a:tbl>
          </a:graphicData>
        </a:graphic>
      </p:graphicFrame>
      <p:graphicFrame>
        <p:nvGraphicFramePr>
          <p:cNvPr id="180" name="Chart 179"/>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181" name="TextBox 180"/>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71510215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(del 26 de Dic de 2024 al 25 de Dic de 2025)</a:t>
            </a:r>
            <a:br/>
            <a:r>
              <a:t>Corte de información: Semana: 22, 24 mayo 2026</a:t>
            </a:r>
          </a:p>
        </p:txBody>
      </p:sp>
      <p:graphicFrame>
        <p:nvGraphicFramePr>
          <p:cNvPr id="236" name="Table 235"/>
          <p:cNvGraphicFramePr>
            <a:graphicFrameLocks noGrp="1"/>
          </p:cNvGraphicFramePr>
          <p:nvPr/>
        </p:nvGraphicFramePr>
        <p:xfrm>
          <a:off x="144000" y="1494000"/>
          <a:ext cx="7340399" cy="2275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HGR 1 Vicente Guerrero</a:t>
                      </a:r>
                    </a:p>
                  </a:txBody>
                  <a:tcPr>
                    <a:solidFill>
                      <a:srgbClr val="FFFFFF"/>
                    </a:solidFill>
                  </a:tcPr>
                </a:tc>
                <a:tc>
                  <a:txBody>
                    <a:bodyPr/>
                    <a:lstStyle/>
                    <a:p>
                      <a:pPr algn="ctr">
                        <a:defRPr sz="1000">
                          <a:latin typeface="Montserrat"/>
                        </a:defRPr>
                      </a:pPr>
                      <a:r>
                        <a:t>268,517</a:t>
                      </a:r>
                    </a:p>
                  </a:txBody>
                  <a:tcPr>
                    <a:solidFill>
                      <a:srgbClr val="FFFFFF"/>
                    </a:solidFill>
                  </a:tcPr>
                </a:tc>
                <a:tc>
                  <a:txBody>
                    <a:bodyPr/>
                    <a:lstStyle/>
                    <a:p>
                      <a:pPr algn="ctr">
                        <a:defRPr sz="1000">
                          <a:latin typeface="Montserrat"/>
                        </a:defRPr>
                      </a:pPr>
                      <a:r>
                        <a:t>72,944</a:t>
                      </a:r>
                    </a:p>
                  </a:txBody>
                  <a:tcPr>
                    <a:solidFill>
                      <a:srgbClr val="FFFFFF"/>
                    </a:solidFill>
                  </a:tcPr>
                </a:tc>
                <a:tc>
                  <a:txBody>
                    <a:bodyPr/>
                    <a:lstStyle/>
                    <a:p>
                      <a:pPr algn="ctr">
                        <a:defRPr sz="1000">
                          <a:latin typeface="Montserrat"/>
                        </a:defRPr>
                      </a:pPr>
                      <a:r>
                        <a:t>115,875</a:t>
                      </a:r>
                    </a:p>
                  </a:txBody>
                  <a:tcPr>
                    <a:solidFill>
                      <a:srgbClr val="ECD3D9"/>
                    </a:solidFill>
                  </a:tcPr>
                </a:tc>
                <a:tc>
                  <a:txBody>
                    <a:bodyPr/>
                    <a:lstStyle/>
                    <a:p>
                      <a:pPr algn="ctr">
                        <a:defRPr sz="1000">
                          <a:latin typeface="Montserrat"/>
                        </a:defRPr>
                      </a:pPr>
                      <a:r>
                        <a:t>269,370</a:t>
                      </a:r>
                    </a:p>
                  </a:txBody>
                  <a:tcPr>
                    <a:solidFill>
                      <a:srgbClr val="ECD3D9"/>
                    </a:solidFill>
                  </a:tcPr>
                </a:tc>
                <a:tc>
                  <a:txBody>
                    <a:bodyPr/>
                    <a:lstStyle/>
                    <a:p>
                      <a:pPr algn="ctr">
                        <a:defRPr sz="1000">
                          <a:latin typeface="Montserrat"/>
                        </a:defRPr>
                      </a:pPr>
                      <a:r>
                        <a:t>43.0%</a:t>
                      </a:r>
                    </a:p>
                  </a:txBody>
                  <a:tcPr>
                    <a:solidFill>
                      <a:srgbClr val="ECD3D9"/>
                    </a:solidFill>
                  </a:tcPr>
                </a:tc>
              </a:tr>
              <a:tr h="284400">
                <a:tc>
                  <a:txBody>
                    <a:bodyPr/>
                    <a:lstStyle/>
                    <a:p>
                      <a:pPr algn="l">
                        <a:defRPr sz="1000">
                          <a:latin typeface="Montserrat"/>
                        </a:defRPr>
                      </a:pPr>
                      <a:r>
                        <a:t>HGSMF 19 Cd. Altamirano</a:t>
                      </a:r>
                    </a:p>
                  </a:txBody>
                  <a:tcPr>
                    <a:solidFill>
                      <a:srgbClr val="EFEFEF"/>
                    </a:solidFill>
                  </a:tcPr>
                </a:tc>
                <a:tc>
                  <a:txBody>
                    <a:bodyPr/>
                    <a:lstStyle/>
                    <a:p>
                      <a:pPr algn="ctr">
                        <a:defRPr sz="1000">
                          <a:latin typeface="Montserrat"/>
                        </a:defRPr>
                      </a:pPr>
                      <a:r>
                        <a:t>5,374</a:t>
                      </a:r>
                    </a:p>
                  </a:txBody>
                  <a:tcPr>
                    <a:solidFill>
                      <a:srgbClr val="EFEFEF"/>
                    </a:solidFill>
                  </a:tcPr>
                </a:tc>
                <a:tc>
                  <a:txBody>
                    <a:bodyPr/>
                    <a:lstStyle/>
                    <a:p>
                      <a:pPr algn="ctr">
                        <a:defRPr sz="1000">
                          <a:latin typeface="Montserrat"/>
                        </a:defRPr>
                      </a:pPr>
                      <a:r>
                        <a:t>887</a:t>
                      </a:r>
                    </a:p>
                  </a:txBody>
                  <a:tcPr>
                    <a:solidFill>
                      <a:srgbClr val="EFEFEF"/>
                    </a:solidFill>
                  </a:tcPr>
                </a:tc>
                <a:tc>
                  <a:txBody>
                    <a:bodyPr/>
                    <a:lstStyle/>
                    <a:p>
                      <a:pPr algn="ctr">
                        <a:defRPr sz="1000">
                          <a:latin typeface="Montserrat"/>
                        </a:defRPr>
                      </a:pPr>
                      <a:r>
                        <a:t>2,341</a:t>
                      </a:r>
                    </a:p>
                  </a:txBody>
                  <a:tcPr>
                    <a:solidFill>
                      <a:srgbClr val="ECD3D9"/>
                    </a:solidFill>
                  </a:tcPr>
                </a:tc>
                <a:tc>
                  <a:txBody>
                    <a:bodyPr/>
                    <a:lstStyle/>
                    <a:p>
                      <a:pPr algn="ctr">
                        <a:defRPr sz="1000">
                          <a:latin typeface="Montserrat"/>
                        </a:defRPr>
                      </a:pPr>
                      <a:r>
                        <a:t>5,840</a:t>
                      </a:r>
                    </a:p>
                  </a:txBody>
                  <a:tcPr>
                    <a:solidFill>
                      <a:srgbClr val="ECD3D9"/>
                    </a:solidFill>
                  </a:tcPr>
                </a:tc>
                <a:tc>
                  <a:txBody>
                    <a:bodyPr/>
                    <a:lstStyle/>
                    <a:p>
                      <a:pPr algn="ctr">
                        <a:defRPr sz="1000">
                          <a:latin typeface="Montserrat"/>
                        </a:defRPr>
                      </a:pPr>
                      <a:r>
                        <a:t>40.1%</a:t>
                      </a:r>
                    </a:p>
                  </a:txBody>
                  <a:tcPr>
                    <a:solidFill>
                      <a:srgbClr val="ECD3D9"/>
                    </a:solidFill>
                  </a:tcPr>
                </a:tc>
              </a:tr>
              <a:tr h="284400">
                <a:tc>
                  <a:txBody>
                    <a:bodyPr/>
                    <a:lstStyle/>
                    <a:p>
                      <a:pPr algn="l">
                        <a:defRPr sz="1000">
                          <a:latin typeface="Montserrat"/>
                        </a:defRPr>
                      </a:pPr>
                      <a:r>
                        <a:t>HGZMF 4 Iguala</a:t>
                      </a:r>
                    </a:p>
                  </a:txBody>
                  <a:tcPr>
                    <a:solidFill>
                      <a:srgbClr val="FFFFFF"/>
                    </a:solidFill>
                  </a:tcPr>
                </a:tc>
                <a:tc>
                  <a:txBody>
                    <a:bodyPr/>
                    <a:lstStyle/>
                    <a:p>
                      <a:pPr algn="ctr">
                        <a:defRPr sz="1000">
                          <a:latin typeface="Montserrat"/>
                        </a:defRPr>
                      </a:pPr>
                      <a:r>
                        <a:t>29,165</a:t>
                      </a:r>
                    </a:p>
                  </a:txBody>
                  <a:tcPr>
                    <a:solidFill>
                      <a:srgbClr val="FFFFFF"/>
                    </a:solidFill>
                  </a:tcPr>
                </a:tc>
                <a:tc>
                  <a:txBody>
                    <a:bodyPr/>
                    <a:lstStyle/>
                    <a:p>
                      <a:pPr algn="ctr">
                        <a:defRPr sz="1000">
                          <a:latin typeface="Montserrat"/>
                        </a:defRPr>
                      </a:pPr>
                      <a:r>
                        <a:t>6,288</a:t>
                      </a:r>
                    </a:p>
                  </a:txBody>
                  <a:tcPr>
                    <a:solidFill>
                      <a:srgbClr val="FFFFFF"/>
                    </a:solidFill>
                  </a:tcPr>
                </a:tc>
                <a:tc>
                  <a:txBody>
                    <a:bodyPr/>
                    <a:lstStyle/>
                    <a:p>
                      <a:pPr algn="ctr">
                        <a:defRPr sz="1000">
                          <a:latin typeface="Montserrat"/>
                        </a:defRPr>
                      </a:pPr>
                      <a:r>
                        <a:t>14,040</a:t>
                      </a:r>
                    </a:p>
                  </a:txBody>
                  <a:tcPr>
                    <a:solidFill>
                      <a:srgbClr val="ECD3D9"/>
                    </a:solidFill>
                  </a:tcPr>
                </a:tc>
                <a:tc>
                  <a:txBody>
                    <a:bodyPr/>
                    <a:lstStyle/>
                    <a:p>
                      <a:pPr algn="ctr">
                        <a:defRPr sz="1000">
                          <a:latin typeface="Montserrat"/>
                        </a:defRPr>
                      </a:pPr>
                      <a:r>
                        <a:t>37,230</a:t>
                      </a:r>
                    </a:p>
                  </a:txBody>
                  <a:tcPr>
                    <a:solidFill>
                      <a:srgbClr val="ECD3D9"/>
                    </a:solidFill>
                  </a:tcPr>
                </a:tc>
                <a:tc>
                  <a:txBody>
                    <a:bodyPr/>
                    <a:lstStyle/>
                    <a:p>
                      <a:pPr algn="ctr">
                        <a:defRPr sz="1000">
                          <a:latin typeface="Montserrat"/>
                        </a:defRPr>
                      </a:pPr>
                      <a:r>
                        <a:t>37.7%</a:t>
                      </a:r>
                    </a:p>
                  </a:txBody>
                  <a:tcPr>
                    <a:solidFill>
                      <a:srgbClr val="ECD3D9"/>
                    </a:solidFill>
                  </a:tcPr>
                </a:tc>
              </a:tr>
              <a:tr h="284400">
                <a:tc>
                  <a:txBody>
                    <a:bodyPr/>
                    <a:lstStyle/>
                    <a:p>
                      <a:pPr algn="l">
                        <a:defRPr sz="1000">
                          <a:latin typeface="Montserrat"/>
                        </a:defRPr>
                      </a:pPr>
                      <a:r>
                        <a:t>HGSMF 5 Taxco</a:t>
                      </a:r>
                    </a:p>
                  </a:txBody>
                  <a:tcPr>
                    <a:solidFill>
                      <a:srgbClr val="EFEFEF"/>
                    </a:solidFill>
                  </a:tcPr>
                </a:tc>
                <a:tc>
                  <a:txBody>
                    <a:bodyPr/>
                    <a:lstStyle/>
                    <a:p>
                      <a:pPr algn="ctr">
                        <a:defRPr sz="1000">
                          <a:latin typeface="Montserrat"/>
                        </a:defRPr>
                      </a:pPr>
                      <a:r>
                        <a:t>29,405</a:t>
                      </a:r>
                    </a:p>
                  </a:txBody>
                  <a:tcPr>
                    <a:solidFill>
                      <a:srgbClr val="EFEFEF"/>
                    </a:solidFill>
                  </a:tcPr>
                </a:tc>
                <a:tc>
                  <a:txBody>
                    <a:bodyPr/>
                    <a:lstStyle/>
                    <a:p>
                      <a:pPr algn="ctr">
                        <a:defRPr sz="1000">
                          <a:latin typeface="Montserrat"/>
                        </a:defRPr>
                      </a:pPr>
                      <a:r>
                        <a:t>15,445</a:t>
                      </a:r>
                    </a:p>
                  </a:txBody>
                  <a:tcPr>
                    <a:solidFill>
                      <a:srgbClr val="EFEFEF"/>
                    </a:solidFill>
                  </a:tcPr>
                </a:tc>
                <a:tc>
                  <a:txBody>
                    <a:bodyPr/>
                    <a:lstStyle/>
                    <a:p>
                      <a:pPr algn="ctr">
                        <a:defRPr sz="1000">
                          <a:latin typeface="Montserrat"/>
                        </a:defRPr>
                      </a:pPr>
                      <a:r>
                        <a:t>11,394</a:t>
                      </a:r>
                    </a:p>
                  </a:txBody>
                  <a:tcPr>
                    <a:solidFill>
                      <a:srgbClr val="ECD3D9"/>
                    </a:solidFill>
                  </a:tcPr>
                </a:tc>
                <a:tc>
                  <a:txBody>
                    <a:bodyPr/>
                    <a:lstStyle/>
                    <a:p>
                      <a:pPr algn="ctr">
                        <a:defRPr sz="1000">
                          <a:latin typeface="Montserrat"/>
                        </a:defRPr>
                      </a:pPr>
                      <a:r>
                        <a:t>32,850</a:t>
                      </a:r>
                    </a:p>
                  </a:txBody>
                  <a:tcPr>
                    <a:solidFill>
                      <a:srgbClr val="ECD3D9"/>
                    </a:solidFill>
                  </a:tcPr>
                </a:tc>
                <a:tc>
                  <a:txBody>
                    <a:bodyPr/>
                    <a:lstStyle/>
                    <a:p>
                      <a:pPr algn="ctr">
                        <a:defRPr sz="1000">
                          <a:latin typeface="Montserrat"/>
                        </a:defRPr>
                      </a:pPr>
                      <a:r>
                        <a:t>34.7%</a:t>
                      </a:r>
                    </a:p>
                  </a:txBody>
                  <a:tcPr>
                    <a:solidFill>
                      <a:srgbClr val="ECD3D9"/>
                    </a:solidFill>
                  </a:tcPr>
                </a:tc>
              </a:tr>
              <a:tr h="284400">
                <a:tc>
                  <a:txBody>
                    <a:bodyPr/>
                    <a:lstStyle/>
                    <a:p>
                      <a:pPr algn="l">
                        <a:defRPr sz="1000">
                          <a:latin typeface="Montserrat"/>
                        </a:defRPr>
                      </a:pPr>
                      <a:r>
                        <a:t>HGZMF 8 Zihuatanejo</a:t>
                      </a:r>
                    </a:p>
                  </a:txBody>
                  <a:tcPr>
                    <a:solidFill>
                      <a:srgbClr val="FFFFFF"/>
                    </a:solidFill>
                  </a:tcPr>
                </a:tc>
                <a:tc>
                  <a:txBody>
                    <a:bodyPr/>
                    <a:lstStyle/>
                    <a:p>
                      <a:pPr algn="ctr">
                        <a:defRPr sz="1000">
                          <a:latin typeface="Montserrat"/>
                        </a:defRPr>
                      </a:pPr>
                      <a:r>
                        <a:t>27,589</a:t>
                      </a:r>
                    </a:p>
                  </a:txBody>
                  <a:tcPr>
                    <a:solidFill>
                      <a:srgbClr val="FFFFFF"/>
                    </a:solidFill>
                  </a:tcPr>
                </a:tc>
                <a:tc>
                  <a:txBody>
                    <a:bodyPr/>
                    <a:lstStyle/>
                    <a:p>
                      <a:pPr algn="ctr">
                        <a:defRPr sz="1000">
                          <a:latin typeface="Montserrat"/>
                        </a:defRPr>
                      </a:pPr>
                      <a:r>
                        <a:t>11,242</a:t>
                      </a:r>
                    </a:p>
                  </a:txBody>
                  <a:tcPr>
                    <a:solidFill>
                      <a:srgbClr val="FFFFFF"/>
                    </a:solidFill>
                  </a:tcPr>
                </a:tc>
                <a:tc>
                  <a:txBody>
                    <a:bodyPr/>
                    <a:lstStyle/>
                    <a:p>
                      <a:pPr algn="ctr">
                        <a:defRPr sz="1000">
                          <a:latin typeface="Montserrat"/>
                        </a:defRPr>
                      </a:pPr>
                      <a:r>
                        <a:t>12,697</a:t>
                      </a:r>
                    </a:p>
                  </a:txBody>
                  <a:tcPr>
                    <a:solidFill>
                      <a:srgbClr val="ECD3D9"/>
                    </a:solidFill>
                  </a:tcPr>
                </a:tc>
                <a:tc>
                  <a:txBody>
                    <a:bodyPr/>
                    <a:lstStyle/>
                    <a:p>
                      <a:pPr algn="ctr">
                        <a:defRPr sz="1000">
                          <a:latin typeface="Montserrat"/>
                        </a:defRPr>
                      </a:pPr>
                      <a:r>
                        <a:t>43,435</a:t>
                      </a:r>
                    </a:p>
                  </a:txBody>
                  <a:tcPr>
                    <a:solidFill>
                      <a:srgbClr val="ECD3D9"/>
                    </a:solidFill>
                  </a:tcPr>
                </a:tc>
                <a:tc>
                  <a:txBody>
                    <a:bodyPr/>
                    <a:lstStyle/>
                    <a:p>
                      <a:pPr algn="ctr">
                        <a:defRPr sz="1000">
                          <a:latin typeface="Montserrat"/>
                        </a:defRPr>
                      </a:pPr>
                      <a:r>
                        <a:t>29.2%</a:t>
                      </a:r>
                    </a:p>
                  </a:txBody>
                  <a:tcPr>
                    <a:solidFill>
                      <a:srgbClr val="ECD3D9"/>
                    </a:solidFill>
                  </a:tcPr>
                </a:tc>
              </a:tr>
              <a:tr h="284400">
                <a:tc>
                  <a:txBody>
                    <a:bodyPr/>
                    <a:lstStyle/>
                    <a:p>
                      <a:pPr algn="l">
                        <a:defRPr sz="1000">
                          <a:latin typeface="Montserrat"/>
                        </a:defRPr>
                      </a:pPr>
                      <a:r>
                        <a:t>HGSMF 3 Chilpancingo</a:t>
                      </a:r>
                    </a:p>
                  </a:txBody>
                  <a:tcPr>
                    <a:solidFill>
                      <a:srgbClr val="EFEFEF"/>
                    </a:solidFill>
                  </a:tcPr>
                </a:tc>
                <a:tc>
                  <a:txBody>
                    <a:bodyPr/>
                    <a:lstStyle/>
                    <a:p>
                      <a:pPr algn="ctr">
                        <a:defRPr sz="1000">
                          <a:latin typeface="Montserrat"/>
                        </a:defRPr>
                      </a:pPr>
                      <a:r>
                        <a:t>21,240</a:t>
                      </a:r>
                    </a:p>
                  </a:txBody>
                  <a:tcPr>
                    <a:solidFill>
                      <a:srgbClr val="EFEFEF"/>
                    </a:solidFill>
                  </a:tcPr>
                </a:tc>
                <a:tc>
                  <a:txBody>
                    <a:bodyPr/>
                    <a:lstStyle/>
                    <a:p>
                      <a:pPr algn="ctr">
                        <a:defRPr sz="1000">
                          <a:latin typeface="Montserrat"/>
                        </a:defRPr>
                      </a:pPr>
                      <a:r>
                        <a:t>5,070</a:t>
                      </a:r>
                    </a:p>
                  </a:txBody>
                  <a:tcPr>
                    <a:solidFill>
                      <a:srgbClr val="EFEFEF"/>
                    </a:solidFill>
                  </a:tcPr>
                </a:tc>
                <a:tc>
                  <a:txBody>
                    <a:bodyPr/>
                    <a:lstStyle/>
                    <a:p>
                      <a:pPr algn="ctr">
                        <a:defRPr sz="1000">
                          <a:latin typeface="Montserrat"/>
                        </a:defRPr>
                      </a:pPr>
                      <a:r>
                        <a:t>9,655</a:t>
                      </a:r>
                    </a:p>
                  </a:txBody>
                  <a:tcPr>
                    <a:solidFill>
                      <a:srgbClr val="ECD3D9"/>
                    </a:solidFill>
                  </a:tcPr>
                </a:tc>
                <a:tc>
                  <a:txBody>
                    <a:bodyPr/>
                    <a:lstStyle/>
                    <a:p>
                      <a:pPr algn="ctr">
                        <a:defRPr sz="1000">
                          <a:latin typeface="Montserrat"/>
                        </a:defRPr>
                      </a:pPr>
                      <a:r>
                        <a:t>35,040</a:t>
                      </a:r>
                    </a:p>
                  </a:txBody>
                  <a:tcPr>
                    <a:solidFill>
                      <a:srgbClr val="ECD3D9"/>
                    </a:solidFill>
                  </a:tcPr>
                </a:tc>
                <a:tc>
                  <a:txBody>
                    <a:bodyPr/>
                    <a:lstStyle/>
                    <a:p>
                      <a:pPr algn="ctr">
                        <a:defRPr sz="1000">
                          <a:latin typeface="Montserrat"/>
                        </a:defRPr>
                      </a:pPr>
                      <a:r>
                        <a:t>27.6%</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381,290</a:t>
                      </a:r>
                    </a:p>
                  </a:txBody>
                  <a:tcPr>
                    <a:solidFill>
                      <a:srgbClr val="D3E9E7"/>
                    </a:solidFill>
                  </a:tcPr>
                </a:tc>
                <a:tc>
                  <a:txBody>
                    <a:bodyPr/>
                    <a:lstStyle/>
                    <a:p>
                      <a:pPr algn="ctr">
                        <a:defRPr sz="1000" b="1">
                          <a:solidFill>
                            <a:srgbClr val="006556"/>
                          </a:solidFill>
                          <a:latin typeface="Montserrat"/>
                        </a:defRPr>
                      </a:pPr>
                      <a:r>
                        <a:t>111,876</a:t>
                      </a:r>
                    </a:p>
                  </a:txBody>
                  <a:tcPr>
                    <a:solidFill>
                      <a:srgbClr val="D3E9E7"/>
                    </a:solidFill>
                  </a:tcPr>
                </a:tc>
                <a:tc>
                  <a:txBody>
                    <a:bodyPr/>
                    <a:lstStyle/>
                    <a:p>
                      <a:pPr algn="ctr">
                        <a:defRPr sz="1000" b="1">
                          <a:solidFill>
                            <a:srgbClr val="FFFFFF"/>
                          </a:solidFill>
                          <a:latin typeface="Montserrat"/>
                        </a:defRPr>
                      </a:pPr>
                      <a:r>
                        <a:t>166,002</a:t>
                      </a:r>
                    </a:p>
                  </a:txBody>
                  <a:tcPr>
                    <a:solidFill>
                      <a:srgbClr val="9F2241"/>
                    </a:solidFill>
                  </a:tcPr>
                </a:tc>
                <a:tc>
                  <a:txBody>
                    <a:bodyPr/>
                    <a:lstStyle/>
                    <a:p>
                      <a:pPr algn="ctr">
                        <a:defRPr sz="1000" b="1">
                          <a:solidFill>
                            <a:srgbClr val="FFFFFF"/>
                          </a:solidFill>
                          <a:latin typeface="Montserrat"/>
                        </a:defRPr>
                      </a:pPr>
                      <a:r>
                        <a:t>423,765</a:t>
                      </a:r>
                    </a:p>
                  </a:txBody>
                  <a:tcPr>
                    <a:solidFill>
                      <a:srgbClr val="9F2241"/>
                    </a:solidFill>
                  </a:tcPr>
                </a:tc>
                <a:tc>
                  <a:txBody>
                    <a:bodyPr/>
                    <a:lstStyle/>
                    <a:p>
                      <a:pPr algn="ctr">
                        <a:defRPr sz="1000" b="1">
                          <a:solidFill>
                            <a:srgbClr val="FFFFFF"/>
                          </a:solidFill>
                          <a:latin typeface="Montserrat"/>
                        </a:defRPr>
                      </a:pPr>
                      <a:r>
                        <a:t>39.2%</a:t>
                      </a:r>
                    </a:p>
                  </a:txBody>
                  <a:tcPr>
                    <a:solidFill>
                      <a:srgbClr val="9F2241"/>
                    </a:solidFill>
                  </a:tcPr>
                </a:tc>
              </a:tr>
            </a:tbl>
          </a:graphicData>
        </a:graphic>
      </p:graphicFrame>
      <p:graphicFrame>
        <p:nvGraphicFramePr>
          <p:cNvPr id="237" name="Chart 236"/>
          <p:cNvGraphicFramePr>
            <a:graphicFrameLocks noGrp="1"/>
          </p:cNvGraphicFramePr>
          <p:nvPr/>
        </p:nvGraphicFramePr>
        <p:xfrm>
          <a:off x="4780800" y="4518000"/>
          <a:ext cx="1800000" cy="1800000"/>
        </p:xfrm>
        <a:graphic>
          <a:graphicData uri="http://schemas.openxmlformats.org/drawingml/2006/chart">
            <c:chart xmlns:c="http://schemas.openxmlformats.org/drawingml/2006/chart" r:id="rId4"/>
          </a:graphicData>
        </a:graphic>
      </p:graphicFrame>
      <p:sp>
        <p:nvSpPr>
          <p:cNvPr id="238" name="TextBox 237"/>
          <p:cNvSpPr txBox="1"/>
          <p:nvPr/>
        </p:nvSpPr>
        <p:spPr>
          <a:xfrm>
            <a:off x="4780800" y="5238000"/>
            <a:ext cx="1800000" cy="360000"/>
          </a:xfrm>
          <a:prstGeom prst="rect">
            <a:avLst/>
          </a:prstGeom>
          <a:noFill/>
        </p:spPr>
        <p:txBody>
          <a:bodyPr wrap="none">
            <a:spAutoFit/>
          </a:bodyPr>
          <a:lstStyle/>
          <a:p>
            <a:pPr algn="ctr"/>
            <a:r>
              <a:rPr sz="2400" b="1">
                <a:solidFill>
                  <a:srgbClr val="9F2241"/>
                </a:solidFill>
                <a:latin typeface="Montserrat"/>
              </a:rPr>
              <a:t>39.2%</a:t>
            </a:r>
          </a:p>
        </p:txBody>
      </p:sp>
      <p:sp>
        <p:nvSpPr>
          <p:cNvPr id="239" name="TextBox 238"/>
          <p:cNvSpPr txBox="1"/>
          <p:nvPr/>
        </p:nvSpPr>
        <p:spPr>
          <a:xfrm>
            <a:off x="4780800" y="6138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730799" y="4518000"/>
            <a:ext cx="2854800" cy="1198800"/>
          </a:xfrm>
          <a:prstGeom prst="rect">
            <a:avLst/>
          </a:prstGeom>
          <a:noFill/>
        </p:spPr>
        <p:txBody>
          <a:bodyPr wrap="square">
            <a:spAutoFit/>
          </a:bodyPr>
          <a:lstStyle/>
          <a:p>
            <a:pPr algn="ctr">
              <a:defRPr sz="3600" b="1">
                <a:solidFill>
                  <a:srgbClr val="9F2241"/>
                </a:solidFill>
                <a:latin typeface="Montserrat"/>
              </a:defRPr>
            </a:pPr>
            <a:r>
              <a:t>423,765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140124137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22, 24 mayo 2026</a:t>
            </a:r>
          </a:p>
        </p:txBody>
      </p:sp>
      <p:graphicFrame>
        <p:nvGraphicFramePr>
          <p:cNvPr id="233" name="Table 232"/>
          <p:cNvGraphicFramePr>
            <a:graphicFrameLocks noGrp="1"/>
          </p:cNvGraphicFramePr>
          <p:nvPr/>
        </p:nvGraphicFramePr>
        <p:xfrm>
          <a:off x="144000" y="1137600"/>
          <a:ext cx="7340399" cy="2275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HGSMF 19 Cd. Altamirano</a:t>
                      </a:r>
                    </a:p>
                  </a:txBody>
                  <a:tcPr>
                    <a:solidFill>
                      <a:srgbClr val="FFFFFF"/>
                    </a:solidFill>
                  </a:tcPr>
                </a:tc>
                <a:tc>
                  <a:txBody>
                    <a:bodyPr/>
                    <a:lstStyle/>
                    <a:p>
                      <a:pPr algn="ctr">
                        <a:defRPr sz="1000">
                          <a:latin typeface="Montserrat"/>
                        </a:defRPr>
                      </a:pPr>
                      <a:r>
                        <a:t>913</a:t>
                      </a:r>
                    </a:p>
                  </a:txBody>
                  <a:tcPr>
                    <a:solidFill>
                      <a:srgbClr val="FFFFFF"/>
                    </a:solidFill>
                  </a:tcPr>
                </a:tc>
                <a:tc>
                  <a:txBody>
                    <a:bodyPr/>
                    <a:lstStyle/>
                    <a:p>
                      <a:pPr algn="ctr">
                        <a:defRPr sz="1000">
                          <a:latin typeface="Montserrat"/>
                        </a:defRPr>
                      </a:pPr>
                      <a:r>
                        <a:t>478</a:t>
                      </a:r>
                    </a:p>
                  </a:txBody>
                  <a:tcPr>
                    <a:solidFill>
                      <a:srgbClr val="FFFFFF"/>
                    </a:solidFill>
                  </a:tcPr>
                </a:tc>
                <a:tc>
                  <a:txBody>
                    <a:bodyPr/>
                    <a:lstStyle/>
                    <a:p>
                      <a:pPr algn="ctr">
                        <a:defRPr sz="1000">
                          <a:latin typeface="Montserrat"/>
                        </a:defRPr>
                      </a:pPr>
                      <a:r>
                        <a:t>619</a:t>
                      </a:r>
                    </a:p>
                  </a:txBody>
                  <a:tcPr>
                    <a:solidFill>
                      <a:srgbClr val="ECD3D9"/>
                    </a:solidFill>
                  </a:tcPr>
                </a:tc>
                <a:tc>
                  <a:txBody>
                    <a:bodyPr/>
                    <a:lstStyle/>
                    <a:p>
                      <a:pPr algn="ctr">
                        <a:defRPr sz="1000">
                          <a:latin typeface="Montserrat"/>
                        </a:defRPr>
                      </a:pPr>
                      <a:r>
                        <a:t>1,254</a:t>
                      </a:r>
                    </a:p>
                  </a:txBody>
                  <a:tcPr>
                    <a:solidFill>
                      <a:srgbClr val="ECD3D9"/>
                    </a:solidFill>
                  </a:tcPr>
                </a:tc>
                <a:tc>
                  <a:txBody>
                    <a:bodyPr/>
                    <a:lstStyle/>
                    <a:p>
                      <a:pPr algn="ctr">
                        <a:defRPr sz="1000">
                          <a:latin typeface="Montserrat"/>
                        </a:defRPr>
                      </a:pPr>
                      <a:r>
                        <a:t>49.4%</a:t>
                      </a:r>
                    </a:p>
                  </a:txBody>
                  <a:tcPr>
                    <a:solidFill>
                      <a:srgbClr val="ECD3D9"/>
                    </a:solidFill>
                  </a:tcPr>
                </a:tc>
              </a:tr>
              <a:tr h="284400">
                <a:tc>
                  <a:txBody>
                    <a:bodyPr/>
                    <a:lstStyle/>
                    <a:p>
                      <a:pPr algn="l">
                        <a:defRPr sz="1000">
                          <a:latin typeface="Montserrat"/>
                        </a:defRPr>
                      </a:pPr>
                      <a:r>
                        <a:t>HGZMF 4 Iguala</a:t>
                      </a:r>
                    </a:p>
                  </a:txBody>
                  <a:tcPr>
                    <a:solidFill>
                      <a:srgbClr val="EFEFEF"/>
                    </a:solidFill>
                  </a:tcPr>
                </a:tc>
                <a:tc>
                  <a:txBody>
                    <a:bodyPr/>
                    <a:lstStyle/>
                    <a:p>
                      <a:pPr algn="ctr">
                        <a:defRPr sz="1000">
                          <a:latin typeface="Montserrat"/>
                        </a:defRPr>
                      </a:pPr>
                      <a:r>
                        <a:t>2,808</a:t>
                      </a:r>
                    </a:p>
                  </a:txBody>
                  <a:tcPr>
                    <a:solidFill>
                      <a:srgbClr val="EFEFEF"/>
                    </a:solidFill>
                  </a:tcPr>
                </a:tc>
                <a:tc>
                  <a:txBody>
                    <a:bodyPr/>
                    <a:lstStyle/>
                    <a:p>
                      <a:pPr algn="ctr">
                        <a:defRPr sz="1000">
                          <a:latin typeface="Montserrat"/>
                        </a:defRPr>
                      </a:pPr>
                      <a:r>
                        <a:t>1,282</a:t>
                      </a:r>
                    </a:p>
                  </a:txBody>
                  <a:tcPr>
                    <a:solidFill>
                      <a:srgbClr val="EFEFEF"/>
                    </a:solidFill>
                  </a:tcPr>
                </a:tc>
                <a:tc>
                  <a:txBody>
                    <a:bodyPr/>
                    <a:lstStyle/>
                    <a:p>
                      <a:pPr algn="ctr">
                        <a:defRPr sz="1000">
                          <a:latin typeface="Montserrat"/>
                        </a:defRPr>
                      </a:pPr>
                      <a:r>
                        <a:t>1,993</a:t>
                      </a:r>
                    </a:p>
                  </a:txBody>
                  <a:tcPr>
                    <a:solidFill>
                      <a:srgbClr val="ECD3D9"/>
                    </a:solidFill>
                  </a:tcPr>
                </a:tc>
                <a:tc>
                  <a:txBody>
                    <a:bodyPr/>
                    <a:lstStyle/>
                    <a:p>
                      <a:pPr algn="ctr">
                        <a:defRPr sz="1000">
                          <a:latin typeface="Montserrat"/>
                        </a:defRPr>
                      </a:pPr>
                      <a:r>
                        <a:t>4,077</a:t>
                      </a:r>
                    </a:p>
                  </a:txBody>
                  <a:tcPr>
                    <a:solidFill>
                      <a:srgbClr val="ECD3D9"/>
                    </a:solidFill>
                  </a:tcPr>
                </a:tc>
                <a:tc>
                  <a:txBody>
                    <a:bodyPr/>
                    <a:lstStyle/>
                    <a:p>
                      <a:pPr algn="ctr">
                        <a:defRPr sz="1000">
                          <a:latin typeface="Montserrat"/>
                        </a:defRPr>
                      </a:pPr>
                      <a:r>
                        <a:t>48.9%</a:t>
                      </a:r>
                    </a:p>
                  </a:txBody>
                  <a:tcPr>
                    <a:solidFill>
                      <a:srgbClr val="ECD3D9"/>
                    </a:solidFill>
                  </a:tcPr>
                </a:tc>
              </a:tr>
              <a:tr h="284400">
                <a:tc>
                  <a:txBody>
                    <a:bodyPr/>
                    <a:lstStyle/>
                    <a:p>
                      <a:pPr algn="l">
                        <a:defRPr sz="1000">
                          <a:latin typeface="Montserrat"/>
                        </a:defRPr>
                      </a:pPr>
                      <a:r>
                        <a:t>HGSMF 5 Taxco</a:t>
                      </a:r>
                    </a:p>
                  </a:txBody>
                  <a:tcPr>
                    <a:solidFill>
                      <a:srgbClr val="FFFFFF"/>
                    </a:solidFill>
                  </a:tcPr>
                </a:tc>
                <a:tc>
                  <a:txBody>
                    <a:bodyPr/>
                    <a:lstStyle/>
                    <a:p>
                      <a:pPr algn="ctr">
                        <a:defRPr sz="1000">
                          <a:latin typeface="Montserrat"/>
                        </a:defRPr>
                      </a:pPr>
                      <a:r>
                        <a:t>2,059</a:t>
                      </a:r>
                    </a:p>
                  </a:txBody>
                  <a:tcPr>
                    <a:solidFill>
                      <a:srgbClr val="FFFFFF"/>
                    </a:solidFill>
                  </a:tcPr>
                </a:tc>
                <a:tc>
                  <a:txBody>
                    <a:bodyPr/>
                    <a:lstStyle/>
                    <a:p>
                      <a:pPr algn="ctr">
                        <a:defRPr sz="1000">
                          <a:latin typeface="Montserrat"/>
                        </a:defRPr>
                      </a:pPr>
                      <a:r>
                        <a:t>1,491</a:t>
                      </a:r>
                    </a:p>
                  </a:txBody>
                  <a:tcPr>
                    <a:solidFill>
                      <a:srgbClr val="FFFFFF"/>
                    </a:solidFill>
                  </a:tcPr>
                </a:tc>
                <a:tc>
                  <a:txBody>
                    <a:bodyPr/>
                    <a:lstStyle/>
                    <a:p>
                      <a:pPr algn="ctr">
                        <a:defRPr sz="1000">
                          <a:latin typeface="Montserrat"/>
                        </a:defRPr>
                      </a:pPr>
                      <a:r>
                        <a:t>999</a:t>
                      </a:r>
                    </a:p>
                  </a:txBody>
                  <a:tcPr>
                    <a:solidFill>
                      <a:srgbClr val="ECD3D9"/>
                    </a:solidFill>
                  </a:tcPr>
                </a:tc>
                <a:tc>
                  <a:txBody>
                    <a:bodyPr/>
                    <a:lstStyle/>
                    <a:p>
                      <a:pPr algn="ctr">
                        <a:defRPr sz="1000">
                          <a:latin typeface="Montserrat"/>
                        </a:defRPr>
                      </a:pPr>
                      <a:r>
                        <a:t>2,091</a:t>
                      </a:r>
                    </a:p>
                  </a:txBody>
                  <a:tcPr>
                    <a:solidFill>
                      <a:srgbClr val="ECD3D9"/>
                    </a:solidFill>
                  </a:tcPr>
                </a:tc>
                <a:tc>
                  <a:txBody>
                    <a:bodyPr/>
                    <a:lstStyle/>
                    <a:p>
                      <a:pPr algn="ctr">
                        <a:defRPr sz="1000">
                          <a:latin typeface="Montserrat"/>
                        </a:defRPr>
                      </a:pPr>
                      <a:r>
                        <a:t>47.8%</a:t>
                      </a:r>
                    </a:p>
                  </a:txBody>
                  <a:tcPr>
                    <a:solidFill>
                      <a:srgbClr val="ECD3D9"/>
                    </a:solidFill>
                  </a:tcPr>
                </a:tc>
              </a:tr>
              <a:tr h="284400">
                <a:tc>
                  <a:txBody>
                    <a:bodyPr/>
                    <a:lstStyle/>
                    <a:p>
                      <a:pPr algn="l">
                        <a:defRPr sz="1000">
                          <a:latin typeface="Montserrat"/>
                        </a:defRPr>
                      </a:pPr>
                      <a:r>
                        <a:t>HGSMF 3 Chilpancingo</a:t>
                      </a:r>
                    </a:p>
                  </a:txBody>
                  <a:tcPr>
                    <a:solidFill>
                      <a:srgbClr val="EFEFEF"/>
                    </a:solidFill>
                  </a:tcPr>
                </a:tc>
                <a:tc>
                  <a:txBody>
                    <a:bodyPr/>
                    <a:lstStyle/>
                    <a:p>
                      <a:pPr algn="ctr">
                        <a:defRPr sz="1000">
                          <a:latin typeface="Montserrat"/>
                        </a:defRPr>
                      </a:pPr>
                      <a:r>
                        <a:t>1,586</a:t>
                      </a:r>
                    </a:p>
                  </a:txBody>
                  <a:tcPr>
                    <a:solidFill>
                      <a:srgbClr val="EFEFEF"/>
                    </a:solidFill>
                  </a:tcPr>
                </a:tc>
                <a:tc>
                  <a:txBody>
                    <a:bodyPr/>
                    <a:lstStyle/>
                    <a:p>
                      <a:pPr algn="ctr">
                        <a:defRPr sz="1000">
                          <a:latin typeface="Montserrat"/>
                        </a:defRPr>
                      </a:pPr>
                      <a:r>
                        <a:t>551</a:t>
                      </a:r>
                    </a:p>
                  </a:txBody>
                  <a:tcPr>
                    <a:solidFill>
                      <a:srgbClr val="EFEFEF"/>
                    </a:solidFill>
                  </a:tcPr>
                </a:tc>
                <a:tc>
                  <a:txBody>
                    <a:bodyPr/>
                    <a:lstStyle/>
                    <a:p>
                      <a:pPr algn="ctr">
                        <a:defRPr sz="1000">
                          <a:latin typeface="Montserrat"/>
                        </a:defRPr>
                      </a:pPr>
                      <a:r>
                        <a:t>807</a:t>
                      </a:r>
                    </a:p>
                  </a:txBody>
                  <a:tcPr>
                    <a:solidFill>
                      <a:srgbClr val="ECD3D9"/>
                    </a:solidFill>
                  </a:tcPr>
                </a:tc>
                <a:tc>
                  <a:txBody>
                    <a:bodyPr/>
                    <a:lstStyle/>
                    <a:p>
                      <a:pPr algn="ctr">
                        <a:defRPr sz="1000">
                          <a:latin typeface="Montserrat"/>
                        </a:defRPr>
                      </a:pPr>
                      <a:r>
                        <a:t>1,725</a:t>
                      </a:r>
                    </a:p>
                  </a:txBody>
                  <a:tcPr>
                    <a:solidFill>
                      <a:srgbClr val="ECD3D9"/>
                    </a:solidFill>
                  </a:tcPr>
                </a:tc>
                <a:tc>
                  <a:txBody>
                    <a:bodyPr/>
                    <a:lstStyle/>
                    <a:p>
                      <a:pPr algn="ctr">
                        <a:defRPr sz="1000">
                          <a:latin typeface="Montserrat"/>
                        </a:defRPr>
                      </a:pPr>
                      <a:r>
                        <a:t>46.8%</a:t>
                      </a:r>
                    </a:p>
                  </a:txBody>
                  <a:tcPr>
                    <a:solidFill>
                      <a:srgbClr val="ECD3D9"/>
                    </a:solidFill>
                  </a:tcPr>
                </a:tc>
              </a:tr>
              <a:tr h="284400">
                <a:tc>
                  <a:txBody>
                    <a:bodyPr/>
                    <a:lstStyle/>
                    <a:p>
                      <a:pPr algn="l">
                        <a:defRPr sz="1000">
                          <a:latin typeface="Montserrat"/>
                        </a:defRPr>
                      </a:pPr>
                      <a:r>
                        <a:t>HGZMF 8 Zihuatanejo</a:t>
                      </a:r>
                    </a:p>
                  </a:txBody>
                  <a:tcPr>
                    <a:solidFill>
                      <a:srgbClr val="FFFFFF"/>
                    </a:solidFill>
                  </a:tcPr>
                </a:tc>
                <a:tc>
                  <a:txBody>
                    <a:bodyPr/>
                    <a:lstStyle/>
                    <a:p>
                      <a:pPr algn="ctr">
                        <a:defRPr sz="1000">
                          <a:latin typeface="Montserrat"/>
                        </a:defRPr>
                      </a:pPr>
                      <a:r>
                        <a:t>3,830</a:t>
                      </a:r>
                    </a:p>
                  </a:txBody>
                  <a:tcPr>
                    <a:solidFill>
                      <a:srgbClr val="FFFFFF"/>
                    </a:solidFill>
                  </a:tcPr>
                </a:tc>
                <a:tc>
                  <a:txBody>
                    <a:bodyPr/>
                    <a:lstStyle/>
                    <a:p>
                      <a:pPr algn="ctr">
                        <a:defRPr sz="1000">
                          <a:latin typeface="Montserrat"/>
                        </a:defRPr>
                      </a:pPr>
                      <a:r>
                        <a:t>2,428</a:t>
                      </a:r>
                    </a:p>
                  </a:txBody>
                  <a:tcPr>
                    <a:solidFill>
                      <a:srgbClr val="FFFFFF"/>
                    </a:solidFill>
                  </a:tcPr>
                </a:tc>
                <a:tc>
                  <a:txBody>
                    <a:bodyPr/>
                    <a:lstStyle/>
                    <a:p>
                      <a:pPr algn="ctr">
                        <a:defRPr sz="1000">
                          <a:latin typeface="Montserrat"/>
                        </a:defRPr>
                      </a:pPr>
                      <a:r>
                        <a:t>1,911</a:t>
                      </a:r>
                    </a:p>
                  </a:txBody>
                  <a:tcPr>
                    <a:solidFill>
                      <a:srgbClr val="ECD3D9"/>
                    </a:solidFill>
                  </a:tcPr>
                </a:tc>
                <a:tc>
                  <a:txBody>
                    <a:bodyPr/>
                    <a:lstStyle/>
                    <a:p>
                      <a:pPr algn="ctr">
                        <a:defRPr sz="1000">
                          <a:latin typeface="Montserrat"/>
                        </a:defRPr>
                      </a:pPr>
                      <a:r>
                        <a:t>4,182</a:t>
                      </a:r>
                    </a:p>
                  </a:txBody>
                  <a:tcPr>
                    <a:solidFill>
                      <a:srgbClr val="ECD3D9"/>
                    </a:solidFill>
                  </a:tcPr>
                </a:tc>
                <a:tc>
                  <a:txBody>
                    <a:bodyPr/>
                    <a:lstStyle/>
                    <a:p>
                      <a:pPr algn="ctr">
                        <a:defRPr sz="1000">
                          <a:latin typeface="Montserrat"/>
                        </a:defRPr>
                      </a:pPr>
                      <a:r>
                        <a:t>45.7%</a:t>
                      </a:r>
                    </a:p>
                  </a:txBody>
                  <a:tcPr>
                    <a:solidFill>
                      <a:srgbClr val="ECD3D9"/>
                    </a:solidFill>
                  </a:tcPr>
                </a:tc>
              </a:tr>
              <a:tr h="284400">
                <a:tc>
                  <a:txBody>
                    <a:bodyPr/>
                    <a:lstStyle/>
                    <a:p>
                      <a:pPr algn="l">
                        <a:defRPr sz="1000">
                          <a:latin typeface="Montserrat"/>
                        </a:defRPr>
                      </a:pPr>
                      <a:r>
                        <a:t>HGR 1 Vicente Guerrero</a:t>
                      </a:r>
                    </a:p>
                  </a:txBody>
                  <a:tcPr>
                    <a:solidFill>
                      <a:srgbClr val="EFEFEF"/>
                    </a:solidFill>
                  </a:tcPr>
                </a:tc>
                <a:tc>
                  <a:txBody>
                    <a:bodyPr/>
                    <a:lstStyle/>
                    <a:p>
                      <a:pPr algn="ctr">
                        <a:defRPr sz="1000">
                          <a:latin typeface="Montserrat"/>
                        </a:defRPr>
                      </a:pPr>
                      <a:r>
                        <a:t>14,509</a:t>
                      </a:r>
                    </a:p>
                  </a:txBody>
                  <a:tcPr>
                    <a:solidFill>
                      <a:srgbClr val="EFEFEF"/>
                    </a:solidFill>
                  </a:tcPr>
                </a:tc>
                <a:tc>
                  <a:txBody>
                    <a:bodyPr/>
                    <a:lstStyle/>
                    <a:p>
                      <a:pPr algn="ctr">
                        <a:defRPr sz="1000">
                          <a:latin typeface="Montserrat"/>
                        </a:defRPr>
                      </a:pPr>
                      <a:r>
                        <a:t>3,513</a:t>
                      </a:r>
                    </a:p>
                  </a:txBody>
                  <a:tcPr>
                    <a:solidFill>
                      <a:srgbClr val="EFEFEF"/>
                    </a:solidFill>
                  </a:tcPr>
                </a:tc>
                <a:tc>
                  <a:txBody>
                    <a:bodyPr/>
                    <a:lstStyle/>
                    <a:p>
                      <a:pPr algn="ctr">
                        <a:defRPr sz="1000">
                          <a:latin typeface="Montserrat"/>
                        </a:defRPr>
                      </a:pPr>
                      <a:r>
                        <a:t>6,414</a:t>
                      </a:r>
                    </a:p>
                  </a:txBody>
                  <a:tcPr>
                    <a:solidFill>
                      <a:srgbClr val="ECD3D9"/>
                    </a:solidFill>
                  </a:tcPr>
                </a:tc>
                <a:tc>
                  <a:txBody>
                    <a:bodyPr/>
                    <a:lstStyle/>
                    <a:p>
                      <a:pPr algn="ctr">
                        <a:defRPr sz="1000">
                          <a:latin typeface="Montserrat"/>
                        </a:defRPr>
                      </a:pPr>
                      <a:r>
                        <a:t>17,615</a:t>
                      </a:r>
                    </a:p>
                  </a:txBody>
                  <a:tcPr>
                    <a:solidFill>
                      <a:srgbClr val="ECD3D9"/>
                    </a:solidFill>
                  </a:tcPr>
                </a:tc>
                <a:tc>
                  <a:txBody>
                    <a:bodyPr/>
                    <a:lstStyle/>
                    <a:p>
                      <a:pPr algn="ctr">
                        <a:defRPr sz="1000">
                          <a:latin typeface="Montserrat"/>
                        </a:defRPr>
                      </a:pPr>
                      <a:r>
                        <a:t>36.4%</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25,705</a:t>
                      </a:r>
                    </a:p>
                  </a:txBody>
                  <a:tcPr>
                    <a:solidFill>
                      <a:srgbClr val="D3E9E7"/>
                    </a:solidFill>
                  </a:tcPr>
                </a:tc>
                <a:tc>
                  <a:txBody>
                    <a:bodyPr/>
                    <a:lstStyle/>
                    <a:p>
                      <a:pPr algn="ctr">
                        <a:defRPr sz="1000" b="1">
                          <a:solidFill>
                            <a:srgbClr val="006556"/>
                          </a:solidFill>
                          <a:latin typeface="Montserrat"/>
                        </a:defRPr>
                      </a:pPr>
                      <a:r>
                        <a:t>9,743</a:t>
                      </a:r>
                    </a:p>
                  </a:txBody>
                  <a:tcPr>
                    <a:solidFill>
                      <a:srgbClr val="D3E9E7"/>
                    </a:solidFill>
                  </a:tcPr>
                </a:tc>
                <a:tc>
                  <a:txBody>
                    <a:bodyPr/>
                    <a:lstStyle/>
                    <a:p>
                      <a:pPr algn="ctr">
                        <a:defRPr sz="1000" b="1">
                          <a:solidFill>
                            <a:srgbClr val="FFFFFF"/>
                          </a:solidFill>
                          <a:latin typeface="Montserrat"/>
                        </a:defRPr>
                      </a:pPr>
                      <a:r>
                        <a:t>12,743</a:t>
                      </a:r>
                    </a:p>
                  </a:txBody>
                  <a:tcPr>
                    <a:solidFill>
                      <a:srgbClr val="9F2241"/>
                    </a:solidFill>
                  </a:tcPr>
                </a:tc>
                <a:tc>
                  <a:txBody>
                    <a:bodyPr/>
                    <a:lstStyle/>
                    <a:p>
                      <a:pPr algn="ctr">
                        <a:defRPr sz="1000" b="1">
                          <a:solidFill>
                            <a:srgbClr val="FFFFFF"/>
                          </a:solidFill>
                          <a:latin typeface="Montserrat"/>
                        </a:defRPr>
                      </a:pPr>
                      <a:r>
                        <a:t>30,944</a:t>
                      </a:r>
                    </a:p>
                  </a:txBody>
                  <a:tcPr>
                    <a:solidFill>
                      <a:srgbClr val="9F2241"/>
                    </a:solidFill>
                  </a:tcPr>
                </a:tc>
                <a:tc>
                  <a:txBody>
                    <a:bodyPr/>
                    <a:lstStyle/>
                    <a:p>
                      <a:pPr algn="ctr">
                        <a:defRPr sz="1000" b="1">
                          <a:solidFill>
                            <a:srgbClr val="FFFFFF"/>
                          </a:solidFill>
                          <a:latin typeface="Montserrat"/>
                        </a:defRPr>
                      </a:pPr>
                      <a:r>
                        <a:t>41.2%</a:t>
                      </a:r>
                    </a:p>
                  </a:txBody>
                  <a:tcPr>
                    <a:solidFill>
                      <a:srgbClr val="9F2241"/>
                    </a:solidFill>
                  </a:tcPr>
                </a:tc>
              </a:tr>
            </a:tbl>
          </a:graphicData>
        </a:graphic>
      </p:graphicFrame>
      <p:graphicFrame>
        <p:nvGraphicFramePr>
          <p:cNvPr id="234" name="Chart 233"/>
          <p:cNvGraphicFramePr>
            <a:graphicFrameLocks noGrp="1"/>
          </p:cNvGraphicFramePr>
          <p:nvPr/>
        </p:nvGraphicFramePr>
        <p:xfrm>
          <a:off x="4780800" y="4161600"/>
          <a:ext cx="1800000" cy="1800000"/>
        </p:xfrm>
        <a:graphic>
          <a:graphicData uri="http://schemas.openxmlformats.org/drawingml/2006/chart">
            <c:chart xmlns:c="http://schemas.openxmlformats.org/drawingml/2006/chart" r:id="rId4"/>
          </a:graphicData>
        </a:graphic>
      </p:graphicFrame>
      <p:sp>
        <p:nvSpPr>
          <p:cNvPr id="235" name="TextBox 234"/>
          <p:cNvSpPr txBox="1"/>
          <p:nvPr/>
        </p:nvSpPr>
        <p:spPr>
          <a:xfrm>
            <a:off x="4780800" y="4881600"/>
            <a:ext cx="1800000" cy="360000"/>
          </a:xfrm>
          <a:prstGeom prst="rect">
            <a:avLst/>
          </a:prstGeom>
          <a:noFill/>
        </p:spPr>
        <p:txBody>
          <a:bodyPr wrap="none">
            <a:spAutoFit/>
          </a:bodyPr>
          <a:lstStyle/>
          <a:p>
            <a:pPr algn="ctr"/>
            <a:r>
              <a:rPr sz="2400" b="1">
                <a:solidFill>
                  <a:srgbClr val="9F2241"/>
                </a:solidFill>
                <a:latin typeface="Montserrat"/>
              </a:rPr>
              <a:t>41.2%</a:t>
            </a:r>
          </a:p>
        </p:txBody>
      </p:sp>
      <p:sp>
        <p:nvSpPr>
          <p:cNvPr id="236" name="TextBox 235"/>
          <p:cNvSpPr txBox="1"/>
          <p:nvPr/>
        </p:nvSpPr>
        <p:spPr>
          <a:xfrm>
            <a:off x="4780800" y="5781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7" name="TextBox 236"/>
          <p:cNvSpPr txBox="1"/>
          <p:nvPr/>
        </p:nvSpPr>
        <p:spPr>
          <a:xfrm>
            <a:off x="730799" y="4161600"/>
            <a:ext cx="2854800" cy="1198800"/>
          </a:xfrm>
          <a:prstGeom prst="rect">
            <a:avLst/>
          </a:prstGeom>
          <a:noFill/>
        </p:spPr>
        <p:txBody>
          <a:bodyPr wrap="square">
            <a:spAutoFit/>
          </a:bodyPr>
          <a:lstStyle/>
          <a:p>
            <a:pPr algn="ctr">
              <a:defRPr sz="3600" b="1">
                <a:solidFill>
                  <a:srgbClr val="9F2241"/>
                </a:solidFill>
                <a:latin typeface="Montserrat"/>
              </a:defRPr>
            </a:pPr>
            <a:r>
              <a:t>30,944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123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46 en Hospitales, 2 en sede, 9 en UMF y 66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46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324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4">
                  <a:txBody>
                    <a:bodyPr/>
                    <a:lstStyle/>
                    <a:p>
                      <a:pPr algn="ctr">
                        <a:defRPr sz="800" b="1">
                          <a:solidFill>
                            <a:srgbClr val="000000"/>
                          </a:solidFill>
                          <a:latin typeface="Montserrat"/>
                        </a:defRPr>
                      </a:pPr>
                      <a:r>
                        <a:t>Hospital General Regional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Hemodinamia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19</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General de Subzona C/MF 3</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8320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General de Subzona C/MF 5</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8320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Zona C/MF 4</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72360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General de Zona C/MF 8</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72360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Rural La Unión</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tr>
            </a:tbl>
          </a:graphicData>
        </a:graphic>
      </p:graphicFrame>
    </p:spTree>
    <p:extLst>
      <p:ext uri="{BB962C8B-B14F-4D97-AF65-F5344CB8AC3E}">
        <p14:creationId xmlns:p14="http://schemas.microsoft.com/office/powerpoint/2010/main" val="2220445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8266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82660">
                <a:tc>
                  <a:txBody>
                    <a:bodyPr/>
                    <a:lstStyle/>
                    <a:p>
                      <a:pPr algn="l">
                        <a:defRPr sz="1100" b="0">
                          <a:solidFill>
                            <a:srgbClr val="000000"/>
                          </a:solidFill>
                          <a:latin typeface="Montserrat"/>
                        </a:defRPr>
                      </a:pPr>
                      <a:r>
                        <a:t>Medicina de Urgencias</a:t>
                      </a:r>
                    </a:p>
                  </a:txBody>
                  <a:tcPr anchor="ctr" marL="45720" marR="45720" marT="45720" marB="45720">
                    <a:solidFill>
                      <a:srgbClr val="FFFFFF"/>
                    </a:solidFill>
                  </a:tcPr>
                </a:tc>
                <a:tc>
                  <a:txBody>
                    <a:bodyPr/>
                    <a:lstStyle/>
                    <a:p>
                      <a:pPr algn="ctr">
                        <a:defRPr sz="1100" b="0">
                          <a:solidFill>
                            <a:srgbClr val="000000"/>
                          </a:solidFill>
                          <a:latin typeface="Montserrat"/>
                        </a:defRPr>
                      </a:pPr>
                      <a:r>
                        <a:t>26</a:t>
                      </a:r>
                    </a:p>
                  </a:txBody>
                  <a:tcPr anchor="ctr" marL="45720" marR="45720" marT="45720" marB="45720">
                    <a:solidFill>
                      <a:srgbClr val="FFFFFF"/>
                    </a:solidFill>
                  </a:tcPr>
                </a:tc>
                <a:tc>
                  <a:txBody>
                    <a:bodyPr/>
                    <a:lstStyle/>
                    <a:p>
                      <a:pPr algn="ctr">
                        <a:defRPr sz="1100" b="1">
                          <a:solidFill>
                            <a:srgbClr val="000000"/>
                          </a:solidFill>
                          <a:latin typeface="Montserrat"/>
                        </a:defRPr>
                      </a:pPr>
                      <a:r>
                        <a:t>21.1%</a:t>
                      </a:r>
                    </a:p>
                  </a:txBody>
                  <a:tcPr anchor="ctr" marL="45720" marR="45720" marT="45720" marB="45720">
                    <a:solidFill>
                      <a:srgbClr val="FFFFFF"/>
                    </a:solidFill>
                  </a:tcPr>
                </a:tc>
              </a:tr>
              <a:tr h="182660">
                <a:tc>
                  <a:txBody>
                    <a:bodyPr/>
                    <a:lstStyle/>
                    <a:p>
                      <a:pPr algn="l">
                        <a:defRPr sz="1100" b="0">
                          <a:solidFill>
                            <a:srgbClr val="000000"/>
                          </a:solidFill>
                          <a:latin typeface="Montserrat"/>
                        </a:defRPr>
                      </a:pPr>
                      <a:r>
                        <a:t>Medicina Familiar</a:t>
                      </a:r>
                    </a:p>
                  </a:txBody>
                  <a:tcPr anchor="ctr" marL="45720" marR="45720" marT="45720" marB="45720">
                    <a:solidFill>
                      <a:srgbClr val="D9D9D9"/>
                    </a:solidFill>
                  </a:tcPr>
                </a:tc>
                <a:tc>
                  <a:txBody>
                    <a:bodyPr/>
                    <a:lstStyle/>
                    <a:p>
                      <a:pPr algn="ctr">
                        <a:defRPr sz="1100" b="0">
                          <a:solidFill>
                            <a:srgbClr val="000000"/>
                          </a:solidFill>
                          <a:latin typeface="Montserrat"/>
                        </a:defRPr>
                      </a:pPr>
                      <a:r>
                        <a:t>15</a:t>
                      </a:r>
                    </a:p>
                  </a:txBody>
                  <a:tcPr anchor="ctr" marL="45720" marR="45720" marT="45720" marB="45720">
                    <a:solidFill>
                      <a:srgbClr val="D9D9D9"/>
                    </a:solidFill>
                  </a:tcPr>
                </a:tc>
                <a:tc>
                  <a:txBody>
                    <a:bodyPr/>
                    <a:lstStyle/>
                    <a:p>
                      <a:pPr algn="ctr">
                        <a:defRPr sz="1100" b="1">
                          <a:solidFill>
                            <a:srgbClr val="000000"/>
                          </a:solidFill>
                          <a:latin typeface="Montserrat"/>
                        </a:defRPr>
                      </a:pPr>
                      <a:r>
                        <a:t>33.3%</a:t>
                      </a:r>
                    </a:p>
                  </a:txBody>
                  <a:tcPr anchor="ctr" marL="45720" marR="45720" marT="45720" marB="45720">
                    <a:solidFill>
                      <a:srgbClr val="D9D9D9"/>
                    </a:solidFill>
                  </a:tcPr>
                </a:tc>
              </a:tr>
              <a:tr h="182660">
                <a:tc>
                  <a:txBody>
                    <a:bodyPr/>
                    <a:lstStyle/>
                    <a:p>
                      <a:pPr algn="l">
                        <a:defRPr sz="1100" b="0">
                          <a:solidFill>
                            <a:srgbClr val="000000"/>
                          </a:solidFill>
                          <a:latin typeface="Montserrat"/>
                        </a:defRPr>
                      </a:pPr>
                      <a:r>
                        <a:t>Cirugía General</a:t>
                      </a:r>
                    </a:p>
                  </a:txBody>
                  <a:tcPr anchor="ctr" marL="45720" marR="45720" marT="45720" marB="45720">
                    <a:solidFill>
                      <a:srgbClr val="FFFFFF"/>
                    </a:solidFill>
                  </a:tcPr>
                </a:tc>
                <a:tc>
                  <a:txBody>
                    <a:bodyPr/>
                    <a:lstStyle/>
                    <a:p>
                      <a:pPr algn="ctr">
                        <a:defRPr sz="1100" b="0">
                          <a:solidFill>
                            <a:srgbClr val="000000"/>
                          </a:solidFill>
                          <a:latin typeface="Montserrat"/>
                        </a:defRPr>
                      </a:pPr>
                      <a:r>
                        <a:t>14</a:t>
                      </a:r>
                    </a:p>
                  </a:txBody>
                  <a:tcPr anchor="ctr" marL="45720" marR="45720" marT="45720" marB="45720">
                    <a:solidFill>
                      <a:srgbClr val="FFFFFF"/>
                    </a:solidFill>
                  </a:tcPr>
                </a:tc>
                <a:tc>
                  <a:txBody>
                    <a:bodyPr/>
                    <a:lstStyle/>
                    <a:p>
                      <a:pPr algn="ctr">
                        <a:defRPr sz="1100" b="1">
                          <a:solidFill>
                            <a:srgbClr val="000000"/>
                          </a:solidFill>
                          <a:latin typeface="Montserrat"/>
                        </a:defRPr>
                      </a:pPr>
                      <a:r>
                        <a:t>44.7%</a:t>
                      </a:r>
                    </a:p>
                  </a:txBody>
                  <a:tcPr anchor="ctr" marL="45720" marR="45720" marT="45720" marB="45720">
                    <a:solidFill>
                      <a:srgbClr val="FFFFFF"/>
                    </a:solidFill>
                  </a:tcPr>
                </a:tc>
              </a:tr>
              <a:tr h="182660">
                <a:tc>
                  <a:txBody>
                    <a:bodyPr/>
                    <a:lstStyle/>
                    <a:p>
                      <a:pPr algn="l">
                        <a:defRPr sz="1100" b="0">
                          <a:solidFill>
                            <a:srgbClr val="000000"/>
                          </a:solidFill>
                          <a:latin typeface="Montserrat"/>
                        </a:defRPr>
                      </a:pPr>
                      <a:r>
                        <a:t>Anestesiología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13</a:t>
                      </a:r>
                    </a:p>
                  </a:txBody>
                  <a:tcPr anchor="ctr" marL="45720" marR="45720" marT="45720" marB="45720">
                    <a:solidFill>
                      <a:srgbClr val="D9D9D9"/>
                    </a:solidFill>
                  </a:tcPr>
                </a:tc>
                <a:tc>
                  <a:txBody>
                    <a:bodyPr/>
                    <a:lstStyle/>
                    <a:p>
                      <a:pPr algn="ctr">
                        <a:defRPr sz="1100" b="1">
                          <a:solidFill>
                            <a:srgbClr val="000000"/>
                          </a:solidFill>
                          <a:latin typeface="Montserrat"/>
                        </a:defRPr>
                      </a:pPr>
                      <a:r>
                        <a:t>55.2%</a:t>
                      </a:r>
                    </a:p>
                  </a:txBody>
                  <a:tcPr anchor="ctr" marL="45720" marR="45720" marT="45720" marB="45720">
                    <a:solidFill>
                      <a:srgbClr val="D9D9D9"/>
                    </a:solidFill>
                  </a:tcPr>
                </a:tc>
              </a:tr>
              <a:tr h="182660">
                <a:tc>
                  <a:txBody>
                    <a:bodyPr/>
                    <a:lstStyle/>
                    <a:p>
                      <a:pPr algn="l">
                        <a:defRPr sz="1100" b="0">
                          <a:solidFill>
                            <a:srgbClr val="000000"/>
                          </a:solidFill>
                          <a:latin typeface="Montserrat"/>
                        </a:defRPr>
                      </a:pPr>
                      <a:r>
                        <a:t>Ginecología y Obstetricia</a:t>
                      </a:r>
                    </a:p>
                  </a:txBody>
                  <a:tcPr anchor="ctr" marL="45720" marR="45720" marT="45720" marB="45720">
                    <a:solidFill>
                      <a:srgbClr val="FFFFFF"/>
                    </a:solidFill>
                  </a:tcPr>
                </a:tc>
                <a:tc>
                  <a:txBody>
                    <a:bodyPr/>
                    <a:lstStyle/>
                    <a:p>
                      <a:pPr algn="ctr">
                        <a:defRPr sz="1100" b="0">
                          <a:solidFill>
                            <a:srgbClr val="000000"/>
                          </a:solidFill>
                          <a:latin typeface="Montserrat"/>
                        </a:defRPr>
                      </a:pPr>
                      <a:r>
                        <a:t>11</a:t>
                      </a:r>
                    </a:p>
                  </a:txBody>
                  <a:tcPr anchor="ctr" marL="45720" marR="45720" marT="45720" marB="45720">
                    <a:solidFill>
                      <a:srgbClr val="FFFFFF"/>
                    </a:solidFill>
                  </a:tcPr>
                </a:tc>
                <a:tc>
                  <a:txBody>
                    <a:bodyPr/>
                    <a:lstStyle/>
                    <a:p>
                      <a:pPr algn="ctr">
                        <a:defRPr sz="1100" b="1">
                          <a:solidFill>
                            <a:srgbClr val="000000"/>
                          </a:solidFill>
                          <a:latin typeface="Montserrat"/>
                        </a:defRPr>
                      </a:pPr>
                      <a:r>
                        <a:t>64.2%</a:t>
                      </a:r>
                    </a:p>
                  </a:txBody>
                  <a:tcPr anchor="ctr" marL="45720" marR="45720" marT="45720" marB="45720">
                    <a:solidFill>
                      <a:srgbClr val="FFFFFF"/>
                    </a:solidFill>
                  </a:tcPr>
                </a:tc>
              </a:tr>
              <a:tr h="182660">
                <a:tc>
                  <a:txBody>
                    <a:bodyPr/>
                    <a:lstStyle/>
                    <a:p>
                      <a:pPr algn="l">
                        <a:defRPr sz="1100" b="0">
                          <a:solidFill>
                            <a:srgbClr val="000000"/>
                          </a:solidFill>
                          <a:latin typeface="Montserrat"/>
                        </a:defRPr>
                      </a:pPr>
                      <a:r>
                        <a:t>Epidemiología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69.1%</a:t>
                      </a:r>
                    </a:p>
                  </a:txBody>
                  <a:tcPr anchor="ctr" marL="45720" marR="45720" marT="45720" marB="45720">
                    <a:solidFill>
                      <a:srgbClr val="D9D9D9"/>
                    </a:solidFill>
                  </a:tcPr>
                </a:tc>
              </a:tr>
              <a:tr h="182660">
                <a:tc>
                  <a:txBody>
                    <a:bodyPr/>
                    <a:lstStyle/>
                    <a:p>
                      <a:pPr algn="l">
                        <a:defRPr sz="1100" b="0">
                          <a:solidFill>
                            <a:srgbClr val="000000"/>
                          </a:solidFill>
                          <a:latin typeface="Montserrat"/>
                        </a:defRPr>
                      </a:pPr>
                      <a:r>
                        <a:t>Traumatología y Ortopedia</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73.9%</a:t>
                      </a:r>
                    </a:p>
                  </a:txBody>
                  <a:tcPr anchor="ctr" marL="45720" marR="45720" marT="45720" marB="45720">
                    <a:solidFill>
                      <a:srgbClr val="FFFFFF"/>
                    </a:solidFill>
                  </a:tcPr>
                </a:tc>
              </a:tr>
              <a:tr h="182660">
                <a:tc>
                  <a:txBody>
                    <a:bodyPr/>
                    <a:lstStyle/>
                    <a:p>
                      <a:pPr algn="l">
                        <a:defRPr sz="1100" b="0">
                          <a:solidFill>
                            <a:srgbClr val="000000"/>
                          </a:solidFill>
                          <a:latin typeface="Montserrat"/>
                        </a:defRPr>
                      </a:pPr>
                      <a:r>
                        <a:t>Imagenología Diagnóstico y Terapéutica</a:t>
                      </a:r>
                    </a:p>
                  </a:txBody>
                  <a:tcPr anchor="ctr" marL="45720" marR="45720" marT="45720" marB="45720">
                    <a:solidFill>
                      <a:srgbClr val="D9D9D9"/>
                    </a:solidFill>
                  </a:tcPr>
                </a:tc>
                <a:tc>
                  <a:txBody>
                    <a:bodyPr/>
                    <a:lstStyle/>
                    <a:p>
                      <a:pPr algn="ctr">
                        <a:defRPr sz="1100" b="0">
                          <a:solidFill>
                            <a:srgbClr val="000000"/>
                          </a:solidFill>
                          <a:latin typeface="Montserrat"/>
                        </a:defRPr>
                      </a:pPr>
                      <a:r>
                        <a:t>5</a:t>
                      </a:r>
                    </a:p>
                  </a:txBody>
                  <a:tcPr anchor="ctr" marL="45720" marR="45720" marT="45720" marB="45720">
                    <a:solidFill>
                      <a:srgbClr val="D9D9D9"/>
                    </a:solidFill>
                  </a:tcPr>
                </a:tc>
                <a:tc>
                  <a:txBody>
                    <a:bodyPr/>
                    <a:lstStyle/>
                    <a:p>
                      <a:pPr algn="ctr">
                        <a:defRPr sz="1100" b="1">
                          <a:solidFill>
                            <a:srgbClr val="000000"/>
                          </a:solidFill>
                          <a:latin typeface="Montserrat"/>
                        </a:defRPr>
                      </a:pPr>
                      <a:r>
                        <a:t>78.0%</a:t>
                      </a:r>
                    </a:p>
                  </a:txBody>
                  <a:tcPr anchor="ctr" marL="45720" marR="45720" marT="45720" marB="45720">
                    <a:solidFill>
                      <a:srgbClr val="D9D9D9"/>
                    </a:solidFill>
                  </a:tcPr>
                </a:tc>
              </a:tr>
              <a:tr h="182660">
                <a:tc>
                  <a:txBody>
                    <a:bodyPr/>
                    <a:lstStyle/>
                    <a:p>
                      <a:pPr algn="l">
                        <a:defRPr sz="1100" b="0">
                          <a:solidFill>
                            <a:srgbClr val="000000"/>
                          </a:solidFill>
                          <a:latin typeface="Montserrat"/>
                        </a:defRPr>
                      </a:pPr>
                      <a:r>
                        <a:t>Medicina Interna</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82.1%</a:t>
                      </a:r>
                    </a:p>
                  </a:txBody>
                  <a:tcPr anchor="ctr" marL="45720" marR="45720" marT="45720" marB="45720">
                    <a:solidFill>
                      <a:srgbClr val="FFFFFF"/>
                    </a:solidFill>
                  </a:tcPr>
                </a:tc>
              </a:tr>
              <a:tr h="182660">
                <a:tc>
                  <a:txBody>
                    <a:bodyPr/>
                    <a:lstStyle/>
                    <a:p>
                      <a:pPr algn="l">
                        <a:defRPr sz="1100" b="0">
                          <a:solidFill>
                            <a:srgbClr val="000000"/>
                          </a:solidFill>
                          <a:latin typeface="Montserrat"/>
                        </a:defRPr>
                      </a:pPr>
                      <a:r>
                        <a:t>Geriatría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85.3%</a:t>
                      </a:r>
                    </a:p>
                  </a:txBody>
                  <a:tcPr anchor="ctr" marL="45720" marR="45720" marT="45720" marB="45720">
                    <a:solidFill>
                      <a:srgbClr val="D9D9D9"/>
                    </a:solidFill>
                  </a:tcPr>
                </a:tc>
              </a:tr>
              <a:tr h="182660">
                <a:tc>
                  <a:txBody>
                    <a:bodyPr/>
                    <a:lstStyle/>
                    <a:p>
                      <a:pPr algn="l">
                        <a:defRPr sz="1100" b="0">
                          <a:solidFill>
                            <a:srgbClr val="000000"/>
                          </a:solidFill>
                          <a:latin typeface="Montserrat"/>
                        </a:defRPr>
                      </a:pPr>
                      <a:r>
                        <a:t>Pediatría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88.6%</a:t>
                      </a:r>
                    </a:p>
                  </a:txBody>
                  <a:tcPr anchor="ctr" marL="45720" marR="45720" marT="45720" marB="45720">
                    <a:solidFill>
                      <a:srgbClr val="FFFFFF"/>
                    </a:solidFill>
                  </a:tcPr>
                </a:tc>
              </a:tr>
              <a:tr h="182660">
                <a:tc>
                  <a:txBody>
                    <a:bodyPr/>
                    <a:lstStyle/>
                    <a:p>
                      <a:pPr algn="l">
                        <a:defRPr sz="1100" b="0">
                          <a:solidFill>
                            <a:srgbClr val="000000"/>
                          </a:solidFill>
                          <a:latin typeface="Montserrat"/>
                        </a:defRPr>
                      </a:pPr>
                      <a:r>
                        <a:t>Medicina del Trabajo y Ambiental</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91.0%</a:t>
                      </a:r>
                    </a:p>
                  </a:txBody>
                  <a:tcPr anchor="ctr" marL="45720" marR="45720" marT="45720" marB="45720">
                    <a:solidFill>
                      <a:srgbClr val="D9D9D9"/>
                    </a:solidFill>
                  </a:tcPr>
                </a:tc>
              </a:tr>
              <a:tr h="182660">
                <a:tc>
                  <a:txBody>
                    <a:bodyPr/>
                    <a:lstStyle/>
                    <a:p>
                      <a:pPr algn="l">
                        <a:defRPr sz="1100" b="0">
                          <a:solidFill>
                            <a:srgbClr val="000000"/>
                          </a:solidFill>
                          <a:latin typeface="Montserrat"/>
                        </a:defRPr>
                      </a:pPr>
                      <a:r>
                        <a:t>Urología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92.6%</a:t>
                      </a:r>
                    </a:p>
                  </a:txBody>
                  <a:tcPr anchor="ctr" marL="45720" marR="45720" marT="45720" marB="45720">
                    <a:solidFill>
                      <a:srgbClr val="FFFFFF"/>
                    </a:solidFill>
                  </a:tcPr>
                </a:tc>
              </a:tr>
              <a:tr h="182660">
                <a:tc>
                  <a:txBody>
                    <a:bodyPr/>
                    <a:lstStyle/>
                    <a:p>
                      <a:pPr algn="l">
                        <a:defRPr sz="1100" b="0">
                          <a:solidFill>
                            <a:srgbClr val="000000"/>
                          </a:solidFill>
                          <a:latin typeface="Montserrat"/>
                        </a:defRPr>
                      </a:pPr>
                      <a:r>
                        <a:t>Medicina del Enfermo en Estado Crítico</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94.3%</a:t>
                      </a:r>
                    </a:p>
                  </a:txBody>
                  <a:tcPr anchor="ctr" marL="45720" marR="45720" marT="45720" marB="45720">
                    <a:solidFill>
                      <a:srgbClr val="D9D9D9"/>
                    </a:solidFill>
                  </a:tcPr>
                </a:tc>
              </a:tr>
              <a:tr h="182660">
                <a:tc>
                  <a:txBody>
                    <a:bodyPr/>
                    <a:lstStyle/>
                    <a:p>
                      <a:pPr algn="l">
                        <a:defRPr sz="1100" b="0">
                          <a:solidFill>
                            <a:srgbClr val="000000"/>
                          </a:solidFill>
                          <a:latin typeface="Montserrat"/>
                        </a:defRPr>
                      </a:pPr>
                      <a:r>
                        <a:t>Anatomía Patológica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95.1%</a:t>
                      </a:r>
                    </a:p>
                  </a:txBody>
                  <a:tcPr anchor="ctr" marL="45720" marR="45720" marT="45720" marB="45720">
                    <a:solidFill>
                      <a:srgbClr val="FFFFFF"/>
                    </a:solidFill>
                  </a:tcPr>
                </a:tc>
              </a:tr>
              <a:tr h="182660">
                <a:tc>
                  <a:txBody>
                    <a:bodyPr/>
                    <a:lstStyle/>
                    <a:p>
                      <a:pPr algn="l">
                        <a:defRPr sz="1100" b="0">
                          <a:solidFill>
                            <a:srgbClr val="000000"/>
                          </a:solidFill>
                          <a:latin typeface="Montserrat"/>
                        </a:defRPr>
                      </a:pPr>
                      <a:r>
                        <a:t>Cardiología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95.9%</a:t>
                      </a:r>
                    </a:p>
                  </a:txBody>
                  <a:tcPr anchor="ctr" marL="45720" marR="45720" marT="45720" marB="45720">
                    <a:solidFill>
                      <a:srgbClr val="D9D9D9"/>
                    </a:solidFill>
                  </a:tcPr>
                </a:tc>
              </a:tr>
              <a:tr h="182660">
                <a:tc>
                  <a:txBody>
                    <a:bodyPr/>
                    <a:lstStyle/>
                    <a:p>
                      <a:pPr algn="l">
                        <a:defRPr sz="1100" b="0">
                          <a:solidFill>
                            <a:srgbClr val="000000"/>
                          </a:solidFill>
                          <a:latin typeface="Montserrat"/>
                        </a:defRPr>
                      </a:pPr>
                      <a:r>
                        <a:t>Hematología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96.7%</a:t>
                      </a:r>
                    </a:p>
                  </a:txBody>
                  <a:tcPr anchor="ctr" marL="45720" marR="45720" marT="45720" marB="45720">
                    <a:solidFill>
                      <a:srgbClr val="FFFFFF"/>
                    </a:solidFill>
                  </a:tcPr>
                </a:tc>
              </a:tr>
              <a:tr h="182660">
                <a:tc>
                  <a:txBody>
                    <a:bodyPr/>
                    <a:lstStyle/>
                    <a:p>
                      <a:pPr algn="l">
                        <a:defRPr sz="1100" b="0">
                          <a:solidFill>
                            <a:srgbClr val="000000"/>
                          </a:solidFill>
                          <a:latin typeface="Montserrat"/>
                        </a:defRPr>
                      </a:pPr>
                      <a:r>
                        <a:t>Hemodinamia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97.5%</a:t>
                      </a:r>
                    </a:p>
                  </a:txBody>
                  <a:tcPr anchor="ctr" marL="45720" marR="45720" marT="45720" marB="45720">
                    <a:solidFill>
                      <a:srgbClr val="D9D9D9"/>
                    </a:solidFill>
                  </a:tcPr>
                </a:tc>
              </a:tr>
              <a:tr h="182660">
                <a:tc>
                  <a:txBody>
                    <a:bodyPr/>
                    <a:lstStyle/>
                    <a:p>
                      <a:pPr algn="l">
                        <a:defRPr sz="1100" b="0">
                          <a:solidFill>
                            <a:srgbClr val="000000"/>
                          </a:solidFill>
                          <a:latin typeface="Montserrat"/>
                        </a:defRPr>
                      </a:pPr>
                      <a:r>
                        <a:t>Hematología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98.3%</a:t>
                      </a:r>
                    </a:p>
                  </a:txBody>
                  <a:tcPr anchor="ctr" marL="45720" marR="45720" marT="45720" marB="45720">
                    <a:solidFill>
                      <a:srgbClr val="FFFFFF"/>
                    </a:solidFill>
                  </a:tcPr>
                </a:tc>
              </a:tr>
              <a:tr h="182660">
                <a:tc>
                  <a:txBody>
                    <a:bodyPr/>
                    <a:lstStyle/>
                    <a:p>
                      <a:pPr algn="l">
                        <a:defRPr sz="1100" b="0">
                          <a:solidFill>
                            <a:srgbClr val="000000"/>
                          </a:solidFill>
                          <a:latin typeface="Montserrat"/>
                        </a:defRPr>
                      </a:pPr>
                      <a:r>
                        <a:t>Nefrología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99.1%</a:t>
                      </a:r>
                    </a:p>
                  </a:txBody>
                  <a:tcPr anchor="ctr" marL="45720" marR="45720" marT="45720" marB="45720">
                    <a:solidFill>
                      <a:srgbClr val="D9D9D9"/>
                    </a:solidFill>
                  </a:tcPr>
                </a:tc>
              </a:tr>
              <a:tr h="182660">
                <a:tc>
                  <a:txBody>
                    <a:bodyPr/>
                    <a:lstStyle/>
                    <a:p>
                      <a:pPr algn="l">
                        <a:defRPr sz="1100" b="0">
                          <a:solidFill>
                            <a:srgbClr val="000000"/>
                          </a:solidFill>
                          <a:latin typeface="Montserrat"/>
                        </a:defRPr>
                      </a:pPr>
                      <a:r>
                        <a:t>Psiquiatría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100.0%</a:t>
                      </a:r>
                    </a:p>
                  </a:txBody>
                  <a:tcPr anchor="ctr" marL="45720" marR="45720" marT="45720" marB="45720">
                    <a:solidFill>
                      <a:srgbClr val="FFFFFF"/>
                    </a:solidFill>
                  </a:tcPr>
                </a:tc>
              </a:tr>
              <a:tr h="18268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123</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868C1A8A-235C-173B-7BD7-081EA4CC3B84}"/>
              </a:ext>
            </a:extLst>
          </p:cNvPr>
          <p:cNvGraphicFramePr/>
          <p:nvPr>
            <p:extLst>
              <p:ext uri="{D42A27DB-BD31-4B8C-83A1-F6EECF244321}">
                <p14:modId xmlns:p14="http://schemas.microsoft.com/office/powerpoint/2010/main" val="3138689223"/>
              </p:ext>
            </p:extLst>
          </p:nvPr>
        </p:nvGraphicFramePr>
        <p:xfrm>
          <a:off x="287050" y="989179"/>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GUERRERO</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22, 24 mayo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1,710</a:t>
                      </a:r>
                    </a:p>
                  </a:txBody>
                  <a:tcPr anchor="ctr">
                    <a:solidFill>
                      <a:srgbClr val="FFFFFF"/>
                    </a:solidFill>
                  </a:tcPr>
                </a:tc>
                <a:tc>
                  <a:txBody>
                    <a:bodyPr/>
                    <a:lstStyle/>
                    <a:p>
                      <a:pPr algn="ctr">
                        <a:defRPr sz="1000">
                          <a:latin typeface="Montserrat"/>
                        </a:defRPr>
                      </a:pPr>
                      <a:r>
                        <a:t>29.0%</a:t>
                      </a:r>
                    </a:p>
                  </a:txBody>
                  <a:tcPr anchor="ctr">
                    <a:solidFill>
                      <a:srgbClr val="FFFFFF"/>
                    </a:solidFill>
                  </a:tcPr>
                </a:tc>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t>1,665</a:t>
                      </a:r>
                    </a:p>
                  </a:txBody>
                  <a:tcPr anchor="ctr">
                    <a:solidFill>
                      <a:srgbClr val="D9D9D9"/>
                    </a:solidFill>
                  </a:tcPr>
                </a:tc>
                <a:tc>
                  <a:txBody>
                    <a:bodyPr/>
                    <a:lstStyle/>
                    <a:p>
                      <a:pPr algn="ctr">
                        <a:defRPr sz="1000">
                          <a:latin typeface="Montserrat"/>
                        </a:defRPr>
                      </a:pPr>
                      <a:r>
                        <a:t>57.2%</a:t>
                      </a:r>
                    </a:p>
                  </a:txBody>
                  <a:tcPr anchor="ctr">
                    <a:solidFill>
                      <a:srgbClr val="D9D9D9"/>
                    </a:solidFill>
                  </a:tcPr>
                </a:tc>
              </a:tr>
              <a:tr h="216000">
                <a:tc>
                  <a:txBody>
                    <a:bodyPr/>
                    <a:lstStyle/>
                    <a:p>
                      <a:pPr algn="l">
                        <a:defRPr sz="1000">
                          <a:latin typeface="Montserrat"/>
                        </a:defRPr>
                      </a:pPr>
                      <a:r>
                        <a:t>Traumatología y ortopedia</a:t>
                      </a:r>
                    </a:p>
                  </a:txBody>
                  <a:tcPr anchor="ctr">
                    <a:solidFill>
                      <a:srgbClr val="FFFFFF"/>
                    </a:solidFill>
                  </a:tcPr>
                </a:tc>
                <a:tc>
                  <a:txBody>
                    <a:bodyPr/>
                    <a:lstStyle/>
                    <a:p>
                      <a:pPr algn="ctr">
                        <a:defRPr sz="1000">
                          <a:latin typeface="Montserrat"/>
                        </a:defRPr>
                      </a:pPr>
                      <a:r>
                        <a:t>1,028</a:t>
                      </a:r>
                    </a:p>
                  </a:txBody>
                  <a:tcPr anchor="ctr">
                    <a:solidFill>
                      <a:srgbClr val="FFFFFF"/>
                    </a:solidFill>
                  </a:tcPr>
                </a:tc>
                <a:tc>
                  <a:txBody>
                    <a:bodyPr/>
                    <a:lstStyle/>
                    <a:p>
                      <a:pPr algn="ctr">
                        <a:defRPr sz="1000">
                          <a:latin typeface="Montserrat"/>
                        </a:defRPr>
                      </a:pPr>
                      <a:r>
                        <a:t>74.6%</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478</a:t>
                      </a:r>
                    </a:p>
                  </a:txBody>
                  <a:tcPr anchor="ctr">
                    <a:solidFill>
                      <a:srgbClr val="D9D9D9"/>
                    </a:solidFill>
                  </a:tcPr>
                </a:tc>
                <a:tc>
                  <a:txBody>
                    <a:bodyPr/>
                    <a:lstStyle/>
                    <a:p>
                      <a:pPr algn="ctr">
                        <a:defRPr sz="1000">
                          <a:latin typeface="Montserrat"/>
                        </a:defRPr>
                      </a:pPr>
                      <a:r>
                        <a:t>82.7%</a:t>
                      </a:r>
                    </a:p>
                  </a:txBody>
                  <a:tcPr anchor="ctr">
                    <a:solidFill>
                      <a:srgbClr val="D9D9D9"/>
                    </a:solidFill>
                  </a:tcPr>
                </a:tc>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231</a:t>
                      </a:r>
                    </a:p>
                  </a:txBody>
                  <a:tcPr anchor="ctr">
                    <a:solidFill>
                      <a:srgbClr val="FFFFFF"/>
                    </a:solidFill>
                  </a:tcPr>
                </a:tc>
                <a:tc>
                  <a:txBody>
                    <a:bodyPr/>
                    <a:lstStyle/>
                    <a:p>
                      <a:pPr algn="ctr">
                        <a:defRPr sz="1000">
                          <a:latin typeface="Montserrat"/>
                        </a:defRPr>
                      </a:pPr>
                      <a:r>
                        <a:t>86.7%</a:t>
                      </a:r>
                    </a:p>
                  </a:txBody>
                  <a:tcPr anchor="ctr">
                    <a:solidFill>
                      <a:srgbClr val="FFFFFF"/>
                    </a:solidFill>
                  </a:tcPr>
                </a:tc>
              </a:tr>
              <a:tr h="216000">
                <a:tc>
                  <a:txBody>
                    <a:bodyPr/>
                    <a:lstStyle/>
                    <a:p>
                      <a:pPr algn="l">
                        <a:defRPr sz="1000">
                          <a:latin typeface="Montserrat"/>
                        </a:defRPr>
                      </a:pPr>
                      <a:r>
                        <a:t>Cirugía oncológica</a:t>
                      </a:r>
                    </a:p>
                  </a:txBody>
                  <a:tcPr anchor="ctr">
                    <a:solidFill>
                      <a:srgbClr val="D9D9D9"/>
                    </a:solidFill>
                  </a:tcPr>
                </a:tc>
                <a:tc>
                  <a:txBody>
                    <a:bodyPr/>
                    <a:lstStyle/>
                    <a:p>
                      <a:pPr algn="ctr">
                        <a:defRPr sz="1000">
                          <a:latin typeface="Montserrat"/>
                        </a:defRPr>
                      </a:pPr>
                      <a:r>
                        <a:t>218</a:t>
                      </a:r>
                    </a:p>
                  </a:txBody>
                  <a:tcPr anchor="ctr">
                    <a:solidFill>
                      <a:srgbClr val="D9D9D9"/>
                    </a:solidFill>
                  </a:tcPr>
                </a:tc>
                <a:tc>
                  <a:txBody>
                    <a:bodyPr/>
                    <a:lstStyle/>
                    <a:p>
                      <a:pPr algn="ctr">
                        <a:defRPr sz="1000">
                          <a:latin typeface="Montserrat"/>
                        </a:defRPr>
                      </a:pPr>
                      <a:r>
                        <a:t>90.4%</a:t>
                      </a:r>
                    </a:p>
                  </a:txBody>
                  <a:tcPr anchor="ctr">
                    <a:solidFill>
                      <a:srgbClr val="D9D9D9"/>
                    </a:solidFill>
                  </a:tcPr>
                </a:tc>
              </a:tr>
              <a:tr h="216000">
                <a:tc>
                  <a:txBody>
                    <a:bodyPr/>
                    <a:lstStyle/>
                    <a:p>
                      <a:pPr algn="l">
                        <a:defRPr sz="1000">
                          <a:latin typeface="Montserrat"/>
                        </a:defRPr>
                      </a:pPr>
                      <a:r>
                        <a:t>Obstetricia</a:t>
                      </a:r>
                    </a:p>
                  </a:txBody>
                  <a:tcPr anchor="ctr">
                    <a:solidFill>
                      <a:srgbClr val="FFFFFF"/>
                    </a:solidFill>
                  </a:tcPr>
                </a:tc>
                <a:tc>
                  <a:txBody>
                    <a:bodyPr/>
                    <a:lstStyle/>
                    <a:p>
                      <a:pPr algn="ctr">
                        <a:defRPr sz="1000">
                          <a:latin typeface="Montserrat"/>
                        </a:defRPr>
                      </a:pPr>
                      <a:r>
                        <a:t>195</a:t>
                      </a:r>
                    </a:p>
                  </a:txBody>
                  <a:tcPr anchor="ctr">
                    <a:solidFill>
                      <a:srgbClr val="FFFFFF"/>
                    </a:solidFill>
                  </a:tcPr>
                </a:tc>
                <a:tc>
                  <a:txBody>
                    <a:bodyPr/>
                    <a:lstStyle/>
                    <a:p>
                      <a:pPr algn="ctr">
                        <a:defRPr sz="1000">
                          <a:latin typeface="Montserrat"/>
                        </a:defRPr>
                      </a:pPr>
                      <a:r>
                        <a:t>93.7%</a:t>
                      </a:r>
                    </a:p>
                  </a:txBody>
                  <a:tcPr anchor="ctr">
                    <a:solidFill>
                      <a:srgbClr val="FFFFFF"/>
                    </a:solidFill>
                  </a:tcPr>
                </a:tc>
              </a:tr>
              <a:tr h="216000">
                <a:tc>
                  <a:txBody>
                    <a:bodyPr/>
                    <a:lstStyle/>
                    <a:p>
                      <a:pPr algn="l">
                        <a:defRPr sz="1000">
                          <a:latin typeface="Montserrat"/>
                        </a:defRPr>
                      </a:pPr>
                      <a:r>
                        <a:t>Proctología</a:t>
                      </a:r>
                    </a:p>
                  </a:txBody>
                  <a:tcPr anchor="ctr">
                    <a:solidFill>
                      <a:srgbClr val="D9D9D9"/>
                    </a:solidFill>
                  </a:tcPr>
                </a:tc>
                <a:tc>
                  <a:txBody>
                    <a:bodyPr/>
                    <a:lstStyle/>
                    <a:p>
                      <a:pPr algn="ctr">
                        <a:defRPr sz="1000">
                          <a:latin typeface="Montserrat"/>
                        </a:defRPr>
                      </a:pPr>
                      <a:r>
                        <a:t>126</a:t>
                      </a:r>
                    </a:p>
                  </a:txBody>
                  <a:tcPr anchor="ctr">
                    <a:solidFill>
                      <a:srgbClr val="D9D9D9"/>
                    </a:solidFill>
                  </a:tcPr>
                </a:tc>
                <a:tc>
                  <a:txBody>
                    <a:bodyPr/>
                    <a:lstStyle/>
                    <a:p>
                      <a:pPr algn="ctr">
                        <a:defRPr sz="1000">
                          <a:latin typeface="Montserrat"/>
                        </a:defRPr>
                      </a:pPr>
                      <a:r>
                        <a:t>95.8%</a:t>
                      </a:r>
                    </a:p>
                  </a:txBody>
                  <a:tcPr anchor="ctr">
                    <a:solidFill>
                      <a:srgbClr val="D9D9D9"/>
                    </a:solidFill>
                  </a:tcPr>
                </a:tc>
              </a:tr>
              <a:tr h="216000">
                <a:tc>
                  <a:txBody>
                    <a:bodyPr/>
                    <a:lstStyle/>
                    <a:p>
                      <a:pPr algn="l">
                        <a:defRPr sz="1000">
                          <a:latin typeface="Montserrat"/>
                        </a:defRPr>
                      </a:pPr>
                      <a:r>
                        <a:t>Otorrinolaringología</a:t>
                      </a:r>
                    </a:p>
                  </a:txBody>
                  <a:tcPr anchor="ctr">
                    <a:solidFill>
                      <a:srgbClr val="FFFFFF"/>
                    </a:solidFill>
                  </a:tcPr>
                </a:tc>
                <a:tc>
                  <a:txBody>
                    <a:bodyPr/>
                    <a:lstStyle/>
                    <a:p>
                      <a:pPr algn="ctr">
                        <a:defRPr sz="1000">
                          <a:latin typeface="Montserrat"/>
                        </a:defRPr>
                      </a:pPr>
                      <a:r>
                        <a:t>125</a:t>
                      </a:r>
                    </a:p>
                  </a:txBody>
                  <a:tcPr anchor="ctr">
                    <a:solidFill>
                      <a:srgbClr val="FFFFFF"/>
                    </a:solidFill>
                  </a:tcPr>
                </a:tc>
                <a:tc>
                  <a:txBody>
                    <a:bodyPr/>
                    <a:lstStyle/>
                    <a:p>
                      <a:pPr algn="ctr">
                        <a:defRPr sz="1000">
                          <a:latin typeface="Montserrat"/>
                        </a:defRPr>
                      </a:pPr>
                      <a:r>
                        <a:t>97.9%</a:t>
                      </a:r>
                    </a:p>
                  </a:txBody>
                  <a:tcPr anchor="ctr">
                    <a:solidFill>
                      <a:srgbClr val="FFFFFF"/>
                    </a:solidFill>
                  </a:tcPr>
                </a:tc>
              </a:tr>
              <a:tr h="216000">
                <a:tc>
                  <a:txBody>
                    <a:bodyPr/>
                    <a:lstStyle/>
                    <a:p>
                      <a:pPr algn="l">
                        <a:defRPr sz="1000">
                          <a:latin typeface="Montserrat"/>
                        </a:defRPr>
                      </a:pPr>
                      <a:r>
                        <a:t>Cirugía Plástica y Reconstructiva</a:t>
                      </a:r>
                    </a:p>
                  </a:txBody>
                  <a:tcPr anchor="ctr">
                    <a:solidFill>
                      <a:srgbClr val="D9D9D9"/>
                    </a:solidFill>
                  </a:tcPr>
                </a:tc>
                <a:tc>
                  <a:txBody>
                    <a:bodyPr/>
                    <a:lstStyle/>
                    <a:p>
                      <a:pPr algn="ctr">
                        <a:defRPr sz="1000">
                          <a:latin typeface="Montserrat"/>
                        </a:defRPr>
                      </a:pPr>
                      <a:r>
                        <a:t>123</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5,899</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1,235</a:t>
                      </a:r>
                    </a:p>
                  </a:txBody>
                  <a:tcPr anchor="ctr">
                    <a:solidFill>
                      <a:srgbClr val="FFFFFF"/>
                    </a:solidFill>
                  </a:tcPr>
                </a:tc>
                <a:tc>
                  <a:txBody>
                    <a:bodyPr/>
                    <a:lstStyle/>
                    <a:p>
                      <a:pPr algn="ctr">
                        <a:defRPr sz="1000">
                          <a:latin typeface="Montserrat"/>
                        </a:defRPr>
                      </a:pPr>
                      <a:r>
                        <a:t>53.2%</a:t>
                      </a:r>
                    </a:p>
                  </a:txBody>
                  <a:tcPr anchor="ctr">
                    <a:solidFill>
                      <a:srgbClr val="FFFFFF"/>
                    </a:solidFill>
                  </a:tcPr>
                </a:tc>
              </a:tr>
              <a:tr h="216000">
                <a:tc>
                  <a:txBody>
                    <a:bodyPr/>
                    <a:lstStyle/>
                    <a:p>
                      <a:pPr algn="l">
                        <a:defRPr sz="1000">
                          <a:latin typeface="Montserrat"/>
                        </a:defRPr>
                      </a:pPr>
                      <a:r>
                        <a:t>Colecistectomías</a:t>
                      </a:r>
                    </a:p>
                  </a:txBody>
                  <a:tcPr anchor="ctr">
                    <a:solidFill>
                      <a:srgbClr val="D9D9D9"/>
                    </a:solidFill>
                  </a:tcPr>
                </a:tc>
                <a:tc>
                  <a:txBody>
                    <a:bodyPr/>
                    <a:lstStyle/>
                    <a:p>
                      <a:pPr algn="ctr">
                        <a:defRPr sz="1000">
                          <a:latin typeface="Montserrat"/>
                        </a:defRPr>
                      </a:pPr>
                      <a:r>
                        <a:t>342</a:t>
                      </a:r>
                    </a:p>
                  </a:txBody>
                  <a:tcPr anchor="ctr">
                    <a:solidFill>
                      <a:srgbClr val="D9D9D9"/>
                    </a:solidFill>
                  </a:tcPr>
                </a:tc>
                <a:tc>
                  <a:txBody>
                    <a:bodyPr/>
                    <a:lstStyle/>
                    <a:p>
                      <a:pPr algn="ctr">
                        <a:defRPr sz="1000">
                          <a:latin typeface="Montserrat"/>
                        </a:defRPr>
                      </a:pPr>
                      <a:r>
                        <a:t>67.9%</a:t>
                      </a:r>
                    </a:p>
                  </a:txBody>
                  <a:tcPr anchor="ctr">
                    <a:solidFill>
                      <a:srgbClr val="D9D9D9"/>
                    </a:solidFill>
                  </a:tcPr>
                </a:tc>
              </a:tr>
              <a:tr h="216000">
                <a:tc>
                  <a:txBody>
                    <a:bodyPr/>
                    <a:lstStyle/>
                    <a:p>
                      <a:pPr algn="l">
                        <a:defRPr sz="1000">
                          <a:latin typeface="Montserrat"/>
                        </a:defRPr>
                      </a:pPr>
                      <a:r>
                        <a:t>Sustitución de rodilla</a:t>
                      </a:r>
                    </a:p>
                  </a:txBody>
                  <a:tcPr anchor="ctr">
                    <a:solidFill>
                      <a:srgbClr val="FFFFFF"/>
                    </a:solidFill>
                  </a:tcPr>
                </a:tc>
                <a:tc>
                  <a:txBody>
                    <a:bodyPr/>
                    <a:lstStyle/>
                    <a:p>
                      <a:pPr algn="ctr">
                        <a:defRPr sz="1000">
                          <a:latin typeface="Montserrat"/>
                        </a:defRPr>
                      </a:pPr>
                      <a:r>
                        <a:t>283</a:t>
                      </a:r>
                    </a:p>
                  </a:txBody>
                  <a:tcPr anchor="ctr">
                    <a:solidFill>
                      <a:srgbClr val="FFFFFF"/>
                    </a:solidFill>
                  </a:tcPr>
                </a:tc>
                <a:tc>
                  <a:txBody>
                    <a:bodyPr/>
                    <a:lstStyle/>
                    <a:p>
                      <a:pPr algn="ctr">
                        <a:defRPr sz="1000">
                          <a:latin typeface="Montserrat"/>
                        </a:defRPr>
                      </a:pPr>
                      <a:r>
                        <a:t>80.1%</a:t>
                      </a:r>
                    </a:p>
                  </a:txBody>
                  <a:tcPr anchor="ctr">
                    <a:solidFill>
                      <a:srgbClr val="FFFFFF"/>
                    </a:solidFill>
                  </a:tcPr>
                </a:tc>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261</a:t>
                      </a:r>
                    </a:p>
                  </a:txBody>
                  <a:tcPr anchor="ctr">
                    <a:solidFill>
                      <a:srgbClr val="D9D9D9"/>
                    </a:solidFill>
                  </a:tcPr>
                </a:tc>
                <a:tc>
                  <a:txBody>
                    <a:bodyPr/>
                    <a:lstStyle/>
                    <a:p>
                      <a:pPr algn="ctr">
                        <a:defRPr sz="1000">
                          <a:latin typeface="Montserrat"/>
                        </a:defRPr>
                      </a:pPr>
                      <a:r>
                        <a:t>91.3%</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78</a:t>
                      </a:r>
                    </a:p>
                  </a:txBody>
                  <a:tcPr anchor="ctr">
                    <a:solidFill>
                      <a:srgbClr val="FFFFFF"/>
                    </a:solidFill>
                  </a:tcPr>
                </a:tc>
                <a:tc>
                  <a:txBody>
                    <a:bodyPr/>
                    <a:lstStyle/>
                    <a:p>
                      <a:pPr algn="ctr">
                        <a:defRPr sz="1000">
                          <a:latin typeface="Montserrat"/>
                        </a:defRPr>
                      </a:pPr>
                      <a:r>
                        <a:t>94.7%</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68</a:t>
                      </a:r>
                    </a:p>
                  </a:txBody>
                  <a:tcPr anchor="ctr">
                    <a:solidFill>
                      <a:srgbClr val="D9D9D9"/>
                    </a:solidFill>
                  </a:tcPr>
                </a:tc>
                <a:tc>
                  <a:txBody>
                    <a:bodyPr/>
                    <a:lstStyle/>
                    <a:p>
                      <a:pPr algn="ctr">
                        <a:defRPr sz="1000">
                          <a:latin typeface="Montserrat"/>
                        </a:defRPr>
                      </a:pPr>
                      <a:r>
                        <a:t>97.6%</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56</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2,323</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GUERRERO</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7,279	 Personal de Salud: 4,570</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+47.1%</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51</a:t>
                      </a:r>
                    </a:p>
                  </a:txBody>
                  <a:tcPr marL="0" marR="0" marT="0" marB="0">
                    <a:noFill/>
                  </a:tcPr>
                </a:tc>
                <a:tc>
                  <a:txBody>
                    <a:bodyPr/>
                    <a:lstStyle/>
                    <a:p>
                      <a:pPr algn="ctr">
                        <a:defRPr b="1" sz="1500">
                          <a:solidFill>
                            <a:srgbClr val="B4975A"/>
                          </a:solidFill>
                          <a:latin typeface="Montserrat"/>
                        </a:defRPr>
                      </a:pPr>
                      <a:r>
                        <a:t>75</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+29.7%</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826</a:t>
                      </a:r>
                    </a:p>
                  </a:txBody>
                  <a:tcPr marL="0" marR="0" marT="0" marB="0">
                    <a:noFill/>
                  </a:tcPr>
                </a:tc>
                <a:tc>
                  <a:txBody>
                    <a:bodyPr/>
                    <a:lstStyle/>
                    <a:p>
                      <a:pPr algn="ctr">
                        <a:defRPr b="1" sz="1500">
                          <a:solidFill>
                            <a:srgbClr val="B4975A"/>
                          </a:solidFill>
                          <a:latin typeface="Montserrat"/>
                        </a:defRPr>
                      </a:pPr>
                      <a:r>
                        <a:t>1,071</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+13.5%</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1,440</a:t>
                      </a:r>
                    </a:p>
                  </a:txBody>
                  <a:tcPr marL="0" marR="0" marT="0" marB="0">
                    <a:noFill/>
                  </a:tcPr>
                </a:tc>
                <a:tc>
                  <a:txBody>
                    <a:bodyPr/>
                    <a:lstStyle/>
                    <a:p>
                      <a:pPr algn="ctr">
                        <a:defRPr b="1" sz="1500">
                          <a:solidFill>
                            <a:srgbClr val="B4975A"/>
                          </a:solidFill>
                          <a:latin typeface="Montserrat"/>
                        </a:defRPr>
                      </a:pPr>
                      <a:r>
                        <a:t>1,635</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+9.2%</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1,060</a:t>
                      </a:r>
                    </a:p>
                  </a:txBody>
                  <a:tcPr marL="0" marR="0" marT="0" marB="0">
                    <a:noFill/>
                  </a:tcPr>
                </a:tc>
                <a:tc>
                  <a:txBody>
                    <a:bodyPr/>
                    <a:lstStyle/>
                    <a:p>
                      <a:pPr algn="ctr">
                        <a:defRPr b="1" sz="1500">
                          <a:solidFill>
                            <a:srgbClr val="B4975A"/>
                          </a:solidFill>
                          <a:latin typeface="Montserrat"/>
                        </a:defRPr>
                      </a:pPr>
                      <a:r>
                        <a:t>1,157</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+201.0%</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96</a:t>
                      </a:r>
                    </a:p>
                  </a:txBody>
                  <a:tcPr marL="0" marR="0" marT="0" marB="0">
                    <a:noFill/>
                  </a:tcPr>
                </a:tc>
                <a:tc>
                  <a:txBody>
                    <a:bodyPr/>
                    <a:lstStyle/>
                    <a:p>
                      <a:pPr algn="ctr">
                        <a:defRPr b="1" sz="1500">
                          <a:solidFill>
                            <a:srgbClr val="B4975A"/>
                          </a:solidFill>
                          <a:latin typeface="Montserrat"/>
                        </a:defRPr>
                      </a:pPr>
                      <a:r>
                        <a:t>289</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-11.1%</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386</a:t>
                      </a:r>
                    </a:p>
                  </a:txBody>
                  <a:tcPr marL="0" marR="0" marT="0" marB="0">
                    <a:noFill/>
                  </a:tcPr>
                </a:tc>
                <a:tc>
                  <a:txBody>
                    <a:bodyPr/>
                    <a:lstStyle/>
                    <a:p>
                      <a:pPr algn="ctr">
                        <a:defRPr b="1" sz="1500">
                          <a:solidFill>
                            <a:srgbClr val="B4975A"/>
                          </a:solidFill>
                          <a:latin typeface="Montserrat"/>
                        </a:defRPr>
                      </a:pPr>
                      <a:r>
                        <a:t>343</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29</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17</a:t>
                      </a:r>
                    </a:p>
                  </a:txBody>
                  <a:tcPr marL="45720" marR="45720" marT="45720" marB="45720">
                    <a:solidFill>
                      <a:srgbClr val="EFEFEF"/>
                    </a:solidFill>
                  </a:tcPr>
                </a:tc>
              </a:tr>
              <a:tr h="18288">
                <a:tc>
                  <a:txBody>
                    <a:bodyPr/>
                    <a:lstStyle/>
                    <a:p>
                      <a:pPr algn="l">
                        <a:defRPr sz="800">
                          <a:latin typeface="Montserrat"/>
                        </a:defRPr>
                      </a:pPr>
                      <a:r>
                        <a:t>Pediatría</a:t>
                      </a:r>
                    </a:p>
                  </a:txBody>
                  <a:tcPr marL="45720" marR="45720" marT="45720" marB="45720">
                    <a:solidFill>
                      <a:srgbClr val="FFFFFF"/>
                    </a:solidFill>
                  </a:tcPr>
                </a:tc>
                <a:tc>
                  <a:txBody>
                    <a:bodyPr/>
                    <a:lstStyle/>
                    <a:p>
                      <a:pPr algn="ctr">
                        <a:defRPr sz="800">
                          <a:latin typeface="Montserrat"/>
                        </a:defRPr>
                      </a:pPr>
                      <a:r>
                        <a:t>6</a:t>
                      </a:r>
                    </a:p>
                  </a:txBody>
                  <a:tcPr marL="45720" marR="45720" marT="45720" marB="45720">
                    <a:solidFill>
                      <a:srgbClr val="FFFFFF"/>
                    </a:solidFill>
                  </a:tcPr>
                </a:tc>
              </a:tr>
              <a:tr h="18288">
                <a:tc>
                  <a:txBody>
                    <a:bodyPr/>
                    <a:lstStyle/>
                    <a:p>
                      <a:pPr algn="l">
                        <a:defRPr sz="800">
                          <a:latin typeface="Montserrat"/>
                        </a:defRPr>
                      </a:pPr>
                      <a:r>
                        <a:t>Medicina Interna</a:t>
                      </a:r>
                    </a:p>
                  </a:txBody>
                  <a:tcPr marL="45720" marR="45720" marT="45720" marB="45720">
                    <a:solidFill>
                      <a:srgbClr val="EFEFEF"/>
                    </a:solidFill>
                  </a:tcPr>
                </a:tc>
                <a:tc>
                  <a:txBody>
                    <a:bodyPr/>
                    <a:lstStyle/>
                    <a:p>
                      <a:pPr algn="ctr">
                        <a:defRPr sz="800">
                          <a:latin typeface="Montserrat"/>
                        </a:defRPr>
                      </a:pPr>
                      <a:r>
                        <a:t>6</a:t>
                      </a:r>
                    </a:p>
                  </a:txBody>
                  <a:tcPr marL="45720" marR="45720" marT="45720" marB="45720">
                    <a:solidFill>
                      <a:srgbClr val="EFEFEF"/>
                    </a:solidFill>
                  </a:tcPr>
                </a:tc>
              </a:tr>
              <a:tr h="18288">
                <a:tc>
                  <a:txBody>
                    <a:bodyPr/>
                    <a:lstStyle/>
                    <a:p>
                      <a:pPr algn="l">
                        <a:defRPr sz="800">
                          <a:latin typeface="Montserrat"/>
                        </a:defRPr>
                      </a:pPr>
                      <a:r>
                        <a:t>Cirugía General</a:t>
                      </a:r>
                    </a:p>
                  </a:txBody>
                  <a:tcPr marL="45720" marR="45720" marT="45720" marB="45720">
                    <a:solidFill>
                      <a:srgbClr val="FFFFFF"/>
                    </a:solidFill>
                  </a:tcPr>
                </a:tc>
                <a:tc>
                  <a:txBody>
                    <a:bodyPr/>
                    <a:lstStyle/>
                    <a:p>
                      <a:pPr algn="ctr">
                        <a:defRPr sz="800">
                          <a:latin typeface="Montserrat"/>
                        </a:defRPr>
                      </a:pPr>
                      <a:r>
                        <a:t>6</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30</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19</a:t>
                      </a:r>
                    </a:p>
                  </a:txBody>
                  <a:tcPr marL="45720" marR="45720" marT="45720" marB="45720">
                    <a:solidFill>
                      <a:srgbClr val="EFEFEF"/>
                    </a:solidFill>
                  </a:tcPr>
                </a:tc>
              </a:tr>
              <a:tr h="18288">
                <a:tc>
                  <a:txBody>
                    <a:bodyPr/>
                    <a:lstStyle/>
                    <a:p>
                      <a:pPr algn="l">
                        <a:defRPr sz="800">
                          <a:latin typeface="Montserrat"/>
                        </a:defRPr>
                      </a:pPr>
                      <a:r>
                        <a:t>Cirugía General</a:t>
                      </a:r>
                    </a:p>
                  </a:txBody>
                  <a:tcPr marL="45720" marR="45720" marT="45720" marB="45720">
                    <a:solidFill>
                      <a:srgbClr val="FFFFFF"/>
                    </a:solidFill>
                  </a:tcPr>
                </a:tc>
                <a:tc>
                  <a:txBody>
                    <a:bodyPr/>
                    <a:lstStyle/>
                    <a:p>
                      <a:pPr algn="ctr">
                        <a:defRPr sz="800">
                          <a:latin typeface="Montserrat"/>
                        </a:defRPr>
                      </a:pPr>
                      <a:r>
                        <a:t>7</a:t>
                      </a:r>
                    </a:p>
                  </a:txBody>
                  <a:tcPr marL="45720" marR="45720" marT="45720" marB="45720">
                    <a:solidFill>
                      <a:srgbClr val="FFFFFF"/>
                    </a:solidFill>
                  </a:tcPr>
                </a:tc>
              </a:tr>
              <a:tr h="18288">
                <a:tc>
                  <a:txBody>
                    <a:bodyPr/>
                    <a:lstStyle/>
                    <a:p>
                      <a:pPr algn="l">
                        <a:defRPr sz="800">
                          <a:latin typeface="Montserrat"/>
                        </a:defRPr>
                      </a:pPr>
                      <a:r>
                        <a:t>Pediatría</a:t>
                      </a:r>
                    </a:p>
                  </a:txBody>
                  <a:tcPr marL="45720" marR="45720" marT="45720" marB="45720">
                    <a:solidFill>
                      <a:srgbClr val="EFEFEF"/>
                    </a:solidFill>
                  </a:tcPr>
                </a:tc>
                <a:tc>
                  <a:txBody>
                    <a:bodyPr/>
                    <a:lstStyle/>
                    <a:p>
                      <a:pPr algn="ctr">
                        <a:defRPr sz="800">
                          <a:latin typeface="Montserrat"/>
                        </a:defRPr>
                      </a:pPr>
                      <a:r>
                        <a:t>7</a:t>
                      </a:r>
                    </a:p>
                  </a:txBody>
                  <a:tcPr marL="45720" marR="45720" marT="45720" marB="45720">
                    <a:solidFill>
                      <a:srgbClr val="EFEFEF"/>
                    </a:solidFill>
                  </a:tcPr>
                </a:tc>
              </a:tr>
              <a:tr h="18288">
                <a:tc>
                  <a:txBody>
                    <a:bodyPr/>
                    <a:lstStyle/>
                    <a:p>
                      <a:pPr algn="l">
                        <a:defRPr sz="800">
                          <a:latin typeface="Montserrat"/>
                        </a:defRPr>
                      </a:pPr>
                      <a:r>
                        <a:t>Medicina del Trabajo y Ambiental</a:t>
                      </a:r>
                    </a:p>
                  </a:txBody>
                  <a:tcPr marL="45720" marR="45720" marT="45720" marB="45720">
                    <a:solidFill>
                      <a:srgbClr val="FFFFFF"/>
                    </a:solidFill>
                  </a:tcPr>
                </a:tc>
                <a:tc>
                  <a:txBody>
                    <a:bodyPr/>
                    <a:lstStyle/>
                    <a:p>
                      <a:pPr algn="ctr">
                        <a:defRPr sz="800">
                          <a:latin typeface="Montserrat"/>
                        </a:defRPr>
                      </a:pPr>
                      <a:r>
                        <a:t>6</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57</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17</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142</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100</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316</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6,675</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385</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102</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81</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1,803</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818</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10</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9,681</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Diabetes mellitus
(102,575)</a:t>
                      </a:r>
                    </a:p>
                  </a:txBody>
                  <a:tcPr>
                    <a:solidFill>
                      <a:srgbClr val="FFFFFF"/>
                    </a:solidFill>
                  </a:tcPr>
                </a:tc>
                <a:tc>
                  <a:txBody>
                    <a:bodyPr/>
                    <a:lstStyle/>
                    <a:p>
                      <a:pPr algn="ctr"/>
                      <a:r>
                        <a:rPr sz="900" b="0">
                          <a:latin typeface="Montserrat"/>
                        </a:rPr>
                        <a:t>Traumatismos e intoxicaciones
(9,999)</a:t>
                      </a:r>
                    </a:p>
                  </a:txBody>
                  <a:tcPr>
                    <a:solidFill>
                      <a:srgbClr val="FFFFFF"/>
                    </a:solidFill>
                  </a:tcPr>
                </a:tc>
                <a:tc>
                  <a:txBody>
                    <a:bodyPr/>
                    <a:lstStyle/>
                    <a:p>
                      <a:pPr algn="ctr"/>
                      <a:r>
                        <a:rPr sz="900" b="0">
                          <a:latin typeface="Montserrat"/>
                        </a:rPr>
                        <a:t>Las demás enfermedades víricas
(3,721)</a:t>
                      </a:r>
                    </a:p>
                  </a:txBody>
                  <a:tcPr>
                    <a:solidFill>
                      <a:srgbClr val="FFFFFF"/>
                    </a:solidFill>
                  </a:tcPr>
                </a:tc>
                <a:tc>
                  <a:txBody>
                    <a:bodyPr/>
                    <a:lstStyle/>
                    <a:p>
                      <a:pPr algn="ctr"/>
                      <a:r>
                        <a:rPr sz="900" b="0">
                          <a:latin typeface="Montserrat"/>
                        </a:rPr>
                        <a:t>Otras Enfermedades virales
(4,018)</a:t>
                      </a:r>
                    </a:p>
                  </a:txBody>
                  <a:tcPr>
                    <a:solidFill>
                      <a:srgbClr val="FFFFFF"/>
                    </a:solidFill>
                  </a:tcPr>
                </a:tc>
                <a:tc>
                  <a:txBody>
                    <a:bodyPr/>
                    <a:lstStyle/>
                    <a:p>
                      <a:pPr algn="ctr"/>
                      <a:r>
                        <a:rPr sz="900" b="0">
                          <a:latin typeface="Montserrat"/>
                        </a:rPr>
                        <a:t>Otras enfermedades respiratorias
(68)</a:t>
                      </a:r>
                    </a:p>
                  </a:txBody>
                  <a:tcPr>
                    <a:solidFill>
                      <a:srgbClr val="FFFFFF"/>
                    </a:solidFill>
                  </a:tcPr>
                </a:tc>
              </a:tr>
              <a:tr h="489600">
                <a:tc>
                  <a:txBody>
                    <a:bodyPr/>
                    <a:lstStyle/>
                    <a:p>
                      <a:pPr algn="ctr"/>
                      <a:r>
                        <a:rPr sz="900" b="0">
                          <a:latin typeface="Montserrat"/>
                        </a:rPr>
                        <a:t>Enfermedades del corazón
(74,309)</a:t>
                      </a:r>
                    </a:p>
                  </a:txBody>
                  <a:tcPr>
                    <a:solidFill>
                      <a:srgbClr val="EFEFEF"/>
                    </a:solidFill>
                  </a:tcPr>
                </a:tc>
                <a:tc>
                  <a:txBody>
                    <a:bodyPr/>
                    <a:lstStyle/>
                    <a:p>
                      <a:pPr algn="ctr"/>
                      <a:r>
                        <a:rPr sz="900" b="0">
                          <a:latin typeface="Montserrat"/>
                        </a:rPr>
                        <a:t>Enfermedades y trastornos de las articulaciones
(8,211)</a:t>
                      </a:r>
                    </a:p>
                  </a:txBody>
                  <a:tcPr>
                    <a:solidFill>
                      <a:srgbClr val="EFEFEF"/>
                    </a:solidFill>
                  </a:tcPr>
                </a:tc>
                <a:tc>
                  <a:txBody>
                    <a:bodyPr/>
                    <a:lstStyle/>
                    <a:p>
                      <a:pPr algn="ctr"/>
                      <a:r>
                        <a:rPr sz="900" b="0">
                          <a:latin typeface="Montserrat"/>
                        </a:rPr>
                        <a:t>Traumatismos y envenenamientos
(1,934)</a:t>
                      </a:r>
                    </a:p>
                  </a:txBody>
                  <a:tcPr>
                    <a:solidFill>
                      <a:srgbClr val="EFEFEF"/>
                    </a:solidFill>
                  </a:tcPr>
                </a:tc>
                <a:tc>
                  <a:txBody>
                    <a:bodyPr/>
                    <a:lstStyle/>
                    <a:p>
                      <a:pPr algn="ctr"/>
                      <a:r>
                        <a:rPr sz="900" b="0">
                          <a:latin typeface="Montserrat"/>
                        </a:rPr>
                        <a:t>Traumatismos e intoxicaciones
(2,207)</a:t>
                      </a:r>
                    </a:p>
                  </a:txBody>
                  <a:tcPr>
                    <a:solidFill>
                      <a:srgbClr val="EFEFEF"/>
                    </a:solidFill>
                  </a:tcPr>
                </a:tc>
                <a:tc>
                  <a:txBody>
                    <a:bodyPr/>
                    <a:lstStyle/>
                    <a:p>
                      <a:pPr algn="ctr"/>
                      <a:r>
                        <a:rPr sz="900" b="0">
                          <a:latin typeface="Montserrat"/>
                        </a:rPr>
                        <a:t>Enfermedades del corazón
(64)</a:t>
                      </a:r>
                    </a:p>
                  </a:txBody>
                  <a:tcPr>
                    <a:solidFill>
                      <a:srgbClr val="EFEFEF"/>
                    </a:solidFill>
                  </a:tcPr>
                </a:tc>
              </a:tr>
              <a:tr h="489600">
                <a:tc>
                  <a:txBody>
                    <a:bodyPr/>
                    <a:lstStyle/>
                    <a:p>
                      <a:pPr algn="ctr"/>
                      <a:r>
                        <a:rPr sz="900" b="0">
                          <a:latin typeface="Montserrat"/>
                        </a:rPr>
                        <a:t>Infecciones respiratorias agudas
(29,262)</a:t>
                      </a:r>
                    </a:p>
                  </a:txBody>
                  <a:tcPr>
                    <a:solidFill>
                      <a:srgbClr val="FFFFFF"/>
                    </a:solidFill>
                  </a:tcPr>
                </a:tc>
                <a:tc>
                  <a:txBody>
                    <a:bodyPr/>
                    <a:lstStyle/>
                    <a:p>
                      <a:pPr algn="ctr"/>
                      <a:r>
                        <a:rPr sz="900" b="0">
                          <a:latin typeface="Montserrat"/>
                        </a:rPr>
                        <a:t>Enfermedades del corazón
(6,456)</a:t>
                      </a:r>
                    </a:p>
                  </a:txBody>
                  <a:tcPr>
                    <a:solidFill>
                      <a:srgbClr val="FFFFFF"/>
                    </a:solidFill>
                  </a:tcPr>
                </a:tc>
                <a:tc>
                  <a:txBody>
                    <a:bodyPr/>
                    <a:lstStyle/>
                    <a:p>
                      <a:pPr algn="ctr"/>
                      <a:r>
                        <a:rPr sz="900" b="0">
                          <a:latin typeface="Montserrat"/>
                        </a:rPr>
                        <a:t>Cesárea
(925)</a:t>
                      </a:r>
                    </a:p>
                  </a:txBody>
                  <a:tcPr>
                    <a:solidFill>
                      <a:srgbClr val="FFFFFF"/>
                    </a:solidFill>
                  </a:tcPr>
                </a:tc>
                <a:tc>
                  <a:txBody>
                    <a:bodyPr/>
                    <a:lstStyle/>
                    <a:p>
                      <a:pPr algn="ctr"/>
                      <a:r>
                        <a:rPr sz="900" b="0">
                          <a:latin typeface="Montserrat"/>
                        </a:rPr>
                        <a:t>Embarazo, parto y puerperio
(1,940)</a:t>
                      </a:r>
                    </a:p>
                  </a:txBody>
                  <a:tcPr>
                    <a:solidFill>
                      <a:srgbClr val="FFFFFF"/>
                    </a:solidFill>
                  </a:tcPr>
                </a:tc>
                <a:tc>
                  <a:txBody>
                    <a:bodyPr/>
                    <a:lstStyle/>
                    <a:p>
                      <a:pPr algn="ctr"/>
                      <a:r>
                        <a:rPr sz="900" b="0">
                          <a:latin typeface="Montserrat"/>
                        </a:rPr>
                        <a:t>Neumonía e influenza
(57)</a:t>
                      </a:r>
                    </a:p>
                  </a:txBody>
                  <a:tcPr>
                    <a:solidFill>
                      <a:srgbClr val="FFFFFF"/>
                    </a:solidFill>
                  </a:tcPr>
                </a:tc>
              </a:tr>
              <a:tr h="489600">
                <a:tc>
                  <a:txBody>
                    <a:bodyPr/>
                    <a:lstStyle/>
                    <a:p>
                      <a:pPr algn="ctr"/>
                      <a:r>
                        <a:rPr sz="900" b="0">
                          <a:latin typeface="Montserrat"/>
                        </a:rPr>
                        <a:t>traumatismos e intoxicaciones
(11,707)</a:t>
                      </a:r>
                    </a:p>
                  </a:txBody>
                  <a:tcPr>
                    <a:solidFill>
                      <a:srgbClr val="EFEFEF"/>
                    </a:solidFill>
                  </a:tcPr>
                </a:tc>
                <a:tc>
                  <a:txBody>
                    <a:bodyPr/>
                    <a:lstStyle/>
                    <a:p>
                      <a:pPr algn="ctr"/>
                      <a:r>
                        <a:rPr sz="900" b="0">
                          <a:latin typeface="Montserrat"/>
                        </a:rPr>
                        <a:t>Tumores malignos
(6,371)</a:t>
                      </a:r>
                    </a:p>
                  </a:txBody>
                  <a:tcPr>
                    <a:solidFill>
                      <a:srgbClr val="EFEFEF"/>
                    </a:solidFill>
                  </a:tcPr>
                </a:tc>
                <a:tc>
                  <a:txBody>
                    <a:bodyPr/>
                    <a:lstStyle/>
                    <a:p>
                      <a:pPr algn="ctr"/>
                      <a:r>
                        <a:rPr sz="900" b="0">
                          <a:latin typeface="Montserrat"/>
                        </a:rPr>
                        <a:t>Cirugía de cataratas (Facoemulsificación con implante de lente intraocular)
(625)</a:t>
                      </a:r>
                    </a:p>
                  </a:txBody>
                  <a:tcPr>
                    <a:solidFill>
                      <a:srgbClr val="EFEFEF"/>
                    </a:solidFill>
                  </a:tcPr>
                </a:tc>
                <a:tc>
                  <a:txBody>
                    <a:bodyPr/>
                    <a:lstStyle/>
                    <a:p>
                      <a:pPr algn="ctr"/>
                      <a:r>
                        <a:rPr sz="900" b="0">
                          <a:latin typeface="Montserrat"/>
                        </a:rPr>
                        <a:t>Insuficiencia renal
(835)</a:t>
                      </a:r>
                    </a:p>
                  </a:txBody>
                  <a:tcPr>
                    <a:solidFill>
                      <a:srgbClr val="EFEFEF"/>
                    </a:solidFill>
                  </a:tcPr>
                </a:tc>
                <a:tc>
                  <a:txBody>
                    <a:bodyPr/>
                    <a:lstStyle/>
                    <a:p>
                      <a:pPr algn="ctr"/>
                      <a:r>
                        <a:rPr sz="900" b="0">
                          <a:latin typeface="Montserrat"/>
                        </a:rPr>
                        <a:t>Otras enfermedades del sistema nervioso
(31)</a:t>
                      </a:r>
                    </a:p>
                  </a:txBody>
                  <a:tcPr>
                    <a:solidFill>
                      <a:srgbClr val="EFEFEF"/>
                    </a:solidFill>
                  </a:tcPr>
                </a:tc>
              </a:tr>
              <a:tr h="489600">
                <a:tc>
                  <a:txBody>
                    <a:bodyPr/>
                    <a:lstStyle/>
                    <a:p>
                      <a:pPr algn="ctr"/>
                      <a:r>
                        <a:rPr sz="900" b="0">
                          <a:latin typeface="Montserrat"/>
                        </a:rPr>
                        <a:t>Enfermedades y trastornos de las articulaciones
(11,076)</a:t>
                      </a:r>
                    </a:p>
                  </a:txBody>
                  <a:tcPr>
                    <a:solidFill>
                      <a:srgbClr val="FFFFFF"/>
                    </a:solidFill>
                  </a:tcPr>
                </a:tc>
                <a:tc>
                  <a:txBody>
                    <a:bodyPr/>
                    <a:lstStyle/>
                    <a:p>
                      <a:pPr algn="ctr"/>
                      <a:r>
                        <a:rPr sz="900" b="0">
                          <a:latin typeface="Montserrat"/>
                        </a:rPr>
                        <a:t>Insuficiencia renal
(5,701)</a:t>
                      </a:r>
                    </a:p>
                  </a:txBody>
                  <a:tcPr>
                    <a:solidFill>
                      <a:srgbClr val="FFFFFF"/>
                    </a:solidFill>
                  </a:tcPr>
                </a:tc>
                <a:tc>
                  <a:txBody>
                    <a:bodyPr/>
                    <a:lstStyle/>
                    <a:p>
                      <a:pPr algn="ctr"/>
                      <a:r>
                        <a:rPr sz="900" b="0">
                          <a:latin typeface="Montserrat"/>
                        </a:rPr>
                        <a:t>Artropatias
(472)</a:t>
                      </a:r>
                    </a:p>
                  </a:txBody>
                  <a:tcPr>
                    <a:solidFill>
                      <a:srgbClr val="FFFFFF"/>
                    </a:solidFill>
                  </a:tcPr>
                </a:tc>
                <a:tc>
                  <a:txBody>
                    <a:bodyPr/>
                    <a:lstStyle/>
                    <a:p>
                      <a:pPr algn="ctr"/>
                      <a:r>
                        <a:rPr sz="900" b="0">
                          <a:latin typeface="Montserrat"/>
                        </a:rPr>
                        <a:t>Cataratas
(609)</a:t>
                      </a:r>
                    </a:p>
                  </a:txBody>
                  <a:tcPr>
                    <a:solidFill>
                      <a:srgbClr val="FFFFFF"/>
                    </a:solidFill>
                  </a:tcPr>
                </a:tc>
                <a:tc>
                  <a:txBody>
                    <a:bodyPr/>
                    <a:lstStyle/>
                    <a:p>
                      <a:pPr algn="ctr"/>
                      <a:r>
                        <a:rPr sz="900" b="0">
                          <a:latin typeface="Montserrat"/>
                        </a:rPr>
                        <a:t>Enfermedades cerebrovasculares
(30)</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GUERRERO</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143,748</a:t>
                      </a:r>
                    </a:p>
                  </a:txBody>
                  <a:tcPr>
                    <a:solidFill>
                      <a:srgbClr val="FFFFFF"/>
                    </a:solidFill>
                  </a:tcPr>
                </a:tc>
                <a:tc>
                  <a:txBody>
                    <a:bodyPr/>
                    <a:lstStyle/>
                    <a:p>
                      <a:pPr algn="ctr"/>
                      <a:r>
                        <a:rPr sz="1100" b="0">
                          <a:solidFill>
                            <a:srgbClr val="434343"/>
                          </a:solidFill>
                          <a:latin typeface="Montserrat"/>
                        </a:rPr>
                        <a:t>995,593</a:t>
                      </a:r>
                    </a:p>
                  </a:txBody>
                  <a:tcPr>
                    <a:solidFill>
                      <a:srgbClr val="FFFFFF"/>
                    </a:solidFill>
                  </a:tcPr>
                </a:tc>
                <a:tc>
                  <a:txBody>
                    <a:bodyPr/>
                    <a:lstStyle/>
                    <a:p>
                      <a:pPr algn="ctr"/>
                      <a:r>
                        <a:rPr sz="1100" b="0">
                          <a:solidFill>
                            <a:srgbClr val="434343"/>
                          </a:solidFill>
                          <a:latin typeface="Montserrat"/>
                        </a:rPr>
                        <a:t>87.4%</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105,869</a:t>
                      </a:r>
                    </a:p>
                  </a:txBody>
                  <a:tcPr>
                    <a:solidFill>
                      <a:srgbClr val="D9D9D9"/>
                    </a:solidFill>
                  </a:tcPr>
                </a:tc>
                <a:tc>
                  <a:txBody>
                    <a:bodyPr/>
                    <a:lstStyle/>
                    <a:p>
                      <a:pPr algn="ctr"/>
                      <a:r>
                        <a:rPr sz="1100" b="1">
                          <a:solidFill>
                            <a:srgbClr val="006455"/>
                          </a:solidFill>
                          <a:latin typeface="Montserrat"/>
                        </a:rPr>
                        <a:t>1,017,027</a:t>
                      </a:r>
                    </a:p>
                  </a:txBody>
                  <a:tcPr>
                    <a:solidFill>
                      <a:srgbClr val="D9D9D9"/>
                    </a:solidFill>
                  </a:tcPr>
                </a:tc>
                <a:tc>
                  <a:txBody>
                    <a:bodyPr/>
                    <a:lstStyle/>
                    <a:p>
                      <a:pPr algn="ctr"/>
                      <a:r>
                        <a:rPr sz="1100" b="1">
                          <a:solidFill>
                            <a:srgbClr val="006455"/>
                          </a:solidFill>
                          <a:latin typeface="Montserrat"/>
                        </a:rPr>
                        <a:t>90.6%</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9C8E5-9D65-2B69-91A9-5A97C1446C5F}"/>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GUERRERO</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12.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272,397</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168,178</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Dieta polimérica sin fibra, suspensión (nutrición)</a:t>
                      </a:r>
                    </a:p>
                  </a:txBody>
                  <a:tcPr marL="18000" marR="18000" marT="18000" marB="18000" anchor="ctr">
                    <a:solidFill>
                      <a:srgbClr val="F2F2F2"/>
                    </a:solidFill>
                  </a:tcPr>
                </a:tc>
                <a:tc>
                  <a:txBody>
                    <a:bodyPr/>
                    <a:lstStyle/>
                    <a:p>
                      <a:pPr algn="ctr">
                        <a:defRPr sz="900" b="0">
                          <a:solidFill>
                            <a:srgbClr val="333333"/>
                          </a:solidFill>
                          <a:latin typeface="Montserrat"/>
                        </a:defRPr>
                      </a:pPr>
                      <a:r>
                        <a:t>156,653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FFFFF"/>
                    </a:solidFill>
                  </a:tcPr>
                </a:tc>
                <a:tc>
                  <a:txBody>
                    <a:bodyPr/>
                    <a:lstStyle/>
                    <a:p>
                      <a:pPr algn="ctr">
                        <a:defRPr sz="900" b="0">
                          <a:solidFill>
                            <a:srgbClr val="333333"/>
                          </a:solidFill>
                          <a:latin typeface="Montserrat"/>
                        </a:defRPr>
                      </a:pPr>
                      <a:r>
                        <a:t>123,645</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103,571</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Gabapentina, cápsula (antiepiléptico)                                                                                                                                                                </a:t>
                      </a:r>
                    </a:p>
                  </a:txBody>
                  <a:tcPr marL="18000" marR="18000" marT="18000" marB="18000" anchor="ctr">
                    <a:solidFill>
                      <a:srgbClr val="FFFFFF"/>
                    </a:solidFill>
                  </a:tcPr>
                </a:tc>
                <a:tc>
                  <a:txBody>
                    <a:bodyPr/>
                    <a:lstStyle/>
                    <a:p>
                      <a:pPr algn="ctr">
                        <a:defRPr sz="900" b="0">
                          <a:solidFill>
                            <a:srgbClr val="333333"/>
                          </a:solidFill>
                          <a:latin typeface="Montserrat"/>
                        </a:defRPr>
                      </a:pPr>
                      <a:r>
                        <a:t>103,539</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Celecoxib, cápsula (antiinflamatorio)</a:t>
                      </a:r>
                    </a:p>
                  </a:txBody>
                  <a:tcPr marL="18000" marR="18000" marT="18000" marB="18000" anchor="ctr">
                    <a:solidFill>
                      <a:srgbClr val="F2F2F2"/>
                    </a:solidFill>
                  </a:tcPr>
                </a:tc>
                <a:tc>
                  <a:txBody>
                    <a:bodyPr/>
                    <a:lstStyle/>
                    <a:p>
                      <a:pPr algn="ctr">
                        <a:defRPr sz="900" b="0">
                          <a:solidFill>
                            <a:srgbClr val="333333"/>
                          </a:solidFill>
                          <a:latin typeface="Montserrat"/>
                        </a:defRPr>
                      </a:pPr>
                      <a:r>
                        <a:t>103,025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Electrolitos orales solución (hidratación)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t>95,558</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92,129</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Complejo B, tableta, comprimido o cápsula (vitamínico)</a:t>
                      </a:r>
                    </a:p>
                  </a:txBody>
                  <a:tcPr marL="18000" marR="18000" marT="18000" marB="18000" anchor="ctr">
                    <a:solidFill>
                      <a:srgbClr val="FFFFFF"/>
                    </a:solidFill>
                  </a:tcPr>
                </a:tc>
                <a:tc>
                  <a:txBody>
                    <a:bodyPr/>
                    <a:lstStyle/>
                    <a:p>
                      <a:pPr algn="ctr">
                        <a:defRPr sz="900" b="0">
                          <a:solidFill>
                            <a:srgbClr val="333333"/>
                          </a:solidFill>
                          <a:latin typeface="Montserrat"/>
                        </a:defRPr>
                      </a:pPr>
                      <a:r>
                        <a:t>89,004</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3324551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02366"/>
            <a:ext cx="1599000" cy="770400"/>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12358"/>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a:t>
            </a:r>
            <a:r>
              <a:rPr lang="en-US" sz="700" b="1" dirty="0">
                <a:solidFill>
                  <a:srgbClr val="BC955C"/>
                </a:solidFill>
                <a:latin typeface="Montserrat"/>
              </a:rPr>
              <a:t> de </a:t>
            </a:r>
            <a:endParaRPr lang="en-US" dirty="0"/>
          </a:p>
          <a:p>
            <a:pPr algn="ctr"/>
            <a:r>
              <a:rPr lang="en-US" sz="700" b="1" err="1">
                <a:solidFill>
                  <a:srgbClr val="BC955C"/>
                </a:solidFill>
                <a:latin typeface="Montserrat"/>
              </a:rPr>
              <a:t>Terapia</a:t>
            </a:r>
            <a:r>
              <a:rPr lang="en-US" sz="700" b="1" dirty="0">
                <a:solidFill>
                  <a:srgbClr val="BC955C"/>
                </a:solidFill>
                <a:latin typeface="Montserrat"/>
              </a:rPr>
              <a:t> </a:t>
            </a:r>
            <a:endParaRPr lang="en-US" dirty="0" err="1"/>
          </a:p>
          <a:p>
            <a:pPr algn="ctr"/>
            <a:r>
              <a:rPr lang="en-US" sz="700" b="1" dirty="0" err="1">
                <a:solidFill>
                  <a:srgbClr val="BC955C"/>
                </a:solidFill>
                <a:latin typeface="Montserrat"/>
              </a:rPr>
              <a:t>Intensiva</a:t>
            </a:r>
            <a:endParaRPr lang="en-US" err="1"/>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283341" y="4112967"/>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216694" y="4154892"/>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Hemodiálisis</a:t>
            </a:r>
            <a:endParaRPr lang="en-US" dirty="0" err="1"/>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graphicFrame>
        <p:nvGraphicFramePr>
          <p:cNvPr id="17" name="Table 16"/>
          <p:cNvGraphicFramePr>
            <a:graphicFrameLocks noGrp="1"/>
          </p:cNvGraphicFramePr>
          <p:nvPr/>
        </p:nvGraphicFramePr>
        <p:xfrm>
          <a:off x="1785600" y="1584000"/>
          <a:ext cx="5295600" cy="1440000"/>
        </p:xfrm>
        <a:graphic>
          <a:graphicData uri="http://schemas.openxmlformats.org/drawingml/2006/table">
            <a:tbl>
              <a:tblPr firstRow="1" bandRow="1">
                <a:tableStyleId>{5C22544A-7EE6-4342-B048-85BDC9FD1C3A}</a:tableStyleId>
              </a:tblPr>
              <a:tblGrid>
                <a:gridCol w="4176000"/>
                <a:gridCol w="1119600"/>
              </a:tblGrid>
              <a:tr h="36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60000">
                <a:tc>
                  <a:txBody>
                    <a:bodyPr/>
                    <a:lstStyle/>
                    <a:p>
                      <a:pPr algn="l">
                        <a:lnSpc>
                          <a:spcPct val="100000"/>
                        </a:lnSpc>
                      </a:pPr>
                      <a:r>
                        <a:rPr sz="1000">
                          <a:latin typeface="Montserrat"/>
                        </a:rPr>
                        <a:t>Nueva Sala de Hemodinamia HGR 1 Acapulco de Juárez (Etapa 4)</a:t>
                      </a:r>
                    </a:p>
                  </a:txBody>
                  <a:tcPr marL="3600" marR="3600" marT="3600" marB="3600">
                    <a:solidFill>
                      <a:srgbClr val="FFFFFF"/>
                    </a:solidFill>
                  </a:tcPr>
                </a:tc>
                <a:tc>
                  <a:txBody>
                    <a:bodyPr/>
                    <a:lstStyle/>
                    <a:p>
                      <a:pPr algn="ctr">
                        <a:lnSpc>
                          <a:spcPct val="100000"/>
                        </a:lnSpc>
                      </a:pPr>
                      <a:r>
                        <a:rPr sz="1000">
                          <a:latin typeface="Montserrat"/>
                        </a:rPr>
                        <a:t>$49.3</a:t>
                      </a:r>
                    </a:p>
                  </a:txBody>
                  <a:tcPr marL="3600" marR="3600" marT="3600" marB="3600">
                    <a:solidFill>
                      <a:srgbClr val="FFFFFF"/>
                    </a:solidFill>
                  </a:tcPr>
                </a:tc>
              </a:tr>
              <a:tr h="360000">
                <a:tc>
                  <a:txBody>
                    <a:bodyPr/>
                    <a:lstStyle/>
                    <a:p>
                      <a:pPr algn="l">
                        <a:lnSpc>
                          <a:spcPct val="100000"/>
                        </a:lnSpc>
                      </a:pPr>
                      <a:r>
                        <a:rPr sz="1000">
                          <a:latin typeface="Montserrat"/>
                        </a:rPr>
                        <a:t>Techado de dos canchas de basquetbol del Centro de Seguridad Social de Acapulco</a:t>
                      </a:r>
                    </a:p>
                  </a:txBody>
                  <a:tcPr marL="3600" marR="3600" marT="3600" marB="3600">
                    <a:solidFill>
                      <a:srgbClr val="D9D9D9"/>
                    </a:solidFill>
                  </a:tcPr>
                </a:tc>
                <a:tc>
                  <a:txBody>
                    <a:bodyPr/>
                    <a:lstStyle/>
                    <a:p>
                      <a:pPr algn="ctr">
                        <a:lnSpc>
                          <a:spcPct val="100000"/>
                        </a:lnSpc>
                      </a:pPr>
                      <a:r>
                        <a:rPr sz="1000">
                          <a:latin typeface="Montserrat"/>
                        </a:rPr>
                        <a:t>$10.6</a:t>
                      </a:r>
                    </a:p>
                  </a:txBody>
                  <a:tcPr marL="3600" marR="3600" marT="3600" marB="3600">
                    <a:solidFill>
                      <a:srgbClr val="D9D9D9"/>
                    </a:solidFill>
                  </a:tcPr>
                </a:tc>
              </a:tr>
              <a:tr h="36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$59.9</a:t>
                      </a:r>
                    </a:p>
                  </a:txBody>
                  <a:tcPr marL="3600" marR="3600" marT="3600" marB="3600">
                    <a:solidFill>
                      <a:srgbClr val="ECE1D2"/>
                    </a:solidFill>
                  </a:tcPr>
                </a:tc>
              </a:tr>
            </a:tbl>
          </a:graphicData>
        </a:graphic>
      </p:graphicFrame>
      <p:graphicFrame>
        <p:nvGraphicFramePr>
          <p:cNvPr id="18" name="Table 17"/>
          <p:cNvGraphicFramePr>
            <a:graphicFrameLocks noGrp="1"/>
          </p:cNvGraphicFramePr>
          <p:nvPr/>
        </p:nvGraphicFramePr>
        <p:xfrm>
          <a:off x="1785600" y="3204000"/>
          <a:ext cx="5295600" cy="4320000"/>
        </p:xfrm>
        <a:graphic>
          <a:graphicData uri="http://schemas.openxmlformats.org/drawingml/2006/table">
            <a:tbl>
              <a:tblPr firstRow="1" bandRow="1">
                <a:tableStyleId>{5C22544A-7EE6-4342-B048-85BDC9FD1C3A}</a:tableStyleId>
              </a:tblPr>
              <a:tblGrid>
                <a:gridCol w="4176000"/>
                <a:gridCol w="1119600"/>
              </a:tblGrid>
              <a:tr h="480000">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80000">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$496.3</a:t>
                      </a:r>
                    </a:p>
                  </a:txBody>
                  <a:tcPr marL="3600" marR="3600" marT="3600" marB="3600">
                    <a:solidFill>
                      <a:srgbClr val="FFFFFF"/>
                    </a:solidFill>
                  </a:tcPr>
                </a:tc>
              </a:tr>
              <a:tr h="480000">
                <a:tc>
                  <a:txBody>
                    <a:bodyPr/>
                    <a:lstStyle/>
                    <a:p>
                      <a:pPr algn="l">
                        <a:lnSpc>
                          <a:spcPct val="100000"/>
                        </a:lnSpc>
                      </a:pPr>
                      <a:r>
                        <a:rPr sz="1000">
                          <a:latin typeface="Montserrat"/>
                        </a:rPr>
                        <a:t>Intervención en áreas de mejora en subdelegaciones en 3 unidades (Acapulco, Chilpancingo, Iguala)</a:t>
                      </a:r>
                    </a:p>
                  </a:txBody>
                  <a:tcPr marL="3600" marR="3600" marT="3600" marB="3600">
                    <a:solidFill>
                      <a:srgbClr val="D9D9D9"/>
                    </a:solidFill>
                  </a:tcPr>
                </a:tc>
                <a:tc>
                  <a:txBody>
                    <a:bodyPr/>
                    <a:lstStyle/>
                    <a:p>
                      <a:pPr algn="ctr">
                        <a:lnSpc>
                          <a:spcPct val="100000"/>
                        </a:lnSpc>
                      </a:pPr>
                      <a:r>
                        <a:rPr sz="1000">
                          <a:latin typeface="Montserrat"/>
                        </a:rPr>
                        <a:t>$50.1</a:t>
                      </a:r>
                    </a:p>
                  </a:txBody>
                  <a:tcPr marL="3600" marR="3600" marT="3600" marB="3600">
                    <a:solidFill>
                      <a:srgbClr val="D9D9D9"/>
                    </a:solidFill>
                  </a:tcPr>
                </a:tc>
              </a:tr>
              <a:tr h="480000">
                <a:tc>
                  <a:txBody>
                    <a:bodyPr/>
                    <a:lstStyle/>
                    <a:p>
                      <a:pPr algn="l">
                        <a:lnSpc>
                          <a:spcPct val="100000"/>
                        </a:lnSpc>
                      </a:pPr>
                      <a:r>
                        <a:rPr sz="1000">
                          <a:latin typeface="Montserrat"/>
                        </a:rPr>
                        <a:t>Intervención en áreas de terapia intensiva en HGR No.1 Acapulco</a:t>
                      </a:r>
                    </a:p>
                  </a:txBody>
                  <a:tcPr marL="3600" marR="3600" marT="3600" marB="3600">
                    <a:solidFill>
                      <a:srgbClr val="FFFFFF"/>
                    </a:solidFill>
                  </a:tcPr>
                </a:tc>
                <a:tc>
                  <a:txBody>
                    <a:bodyPr/>
                    <a:lstStyle/>
                    <a:p>
                      <a:pPr algn="ctr">
                        <a:lnSpc>
                          <a:spcPct val="100000"/>
                        </a:lnSpc>
                      </a:pPr>
                      <a:r>
                        <a:rPr sz="1000">
                          <a:latin typeface="Montserrat"/>
                        </a:rPr>
                        <a:t>$23.5</a:t>
                      </a:r>
                    </a:p>
                  </a:txBody>
                  <a:tcPr marL="3600" marR="3600" marT="3600" marB="3600">
                    <a:solidFill>
                      <a:srgbClr val="FFFFFF"/>
                    </a:solidFill>
                  </a:tcPr>
                </a:tc>
              </a:tr>
              <a:tr h="480000">
                <a:tc>
                  <a:txBody>
                    <a:bodyPr/>
                    <a:lstStyle/>
                    <a:p>
                      <a:pPr algn="l">
                        <a:lnSpc>
                          <a:spcPct val="100000"/>
                        </a:lnSpc>
                      </a:pPr>
                      <a:r>
                        <a:rPr sz="1000">
                          <a:latin typeface="Montserrat"/>
                        </a:rPr>
                        <a:t>Intervención en áreas de residencias médicas en 9 unidades (HGR No.1 Acapulco, HGSZMF No.3 Chilpancingo, HGSZMF No.19 Pungarabato, HGSZMF No.5 Taxco de Alarcón, UMF No.20 Coyuca de Catalán, UMF No.21 Cutzamala, UMF No.26, UMF No.29 con UMAA, UMF No.9 en Acapulco)</a:t>
                      </a:r>
                    </a:p>
                  </a:txBody>
                  <a:tcPr marL="3600" marR="3600" marT="3600" marB="3600">
                    <a:solidFill>
                      <a:srgbClr val="D9D9D9"/>
                    </a:solidFill>
                  </a:tcPr>
                </a:tc>
                <a:tc>
                  <a:txBody>
                    <a:bodyPr/>
                    <a:lstStyle/>
                    <a:p>
                      <a:pPr algn="ctr">
                        <a:lnSpc>
                          <a:spcPct val="100000"/>
                        </a:lnSpc>
                      </a:pPr>
                      <a:r>
                        <a:rPr sz="1000">
                          <a:latin typeface="Montserrat"/>
                        </a:rPr>
                        <a:t>$19.3</a:t>
                      </a:r>
                    </a:p>
                  </a:txBody>
                  <a:tcPr marL="3600" marR="3600" marT="3600" marB="3600">
                    <a:solidFill>
                      <a:srgbClr val="D9D9D9"/>
                    </a:solidFill>
                  </a:tcPr>
                </a:tc>
              </a:tr>
              <a:tr h="480000">
                <a:tc>
                  <a:txBody>
                    <a:bodyPr/>
                    <a:lstStyle/>
                    <a:p>
                      <a:pPr algn="l">
                        <a:lnSpc>
                          <a:spcPct val="100000"/>
                        </a:lnSpc>
                      </a:pPr>
                      <a:r>
                        <a:rPr sz="1000">
                          <a:latin typeface="Montserrat"/>
                        </a:rPr>
                        <a:t>Intervención en áreas de hemodiálisis interna en HGR No.1 Acapulco y UMF No. 29 con UMAA Acapulco</a:t>
                      </a:r>
                    </a:p>
                  </a:txBody>
                  <a:tcPr marL="3600" marR="3600" marT="3600" marB="3600">
                    <a:solidFill>
                      <a:srgbClr val="FFFFFF"/>
                    </a:solidFill>
                  </a:tcPr>
                </a:tc>
                <a:tc>
                  <a:txBody>
                    <a:bodyPr/>
                    <a:lstStyle/>
                    <a:p>
                      <a:pPr algn="ctr">
                        <a:lnSpc>
                          <a:spcPct val="100000"/>
                        </a:lnSpc>
                      </a:pPr>
                      <a:r>
                        <a:rPr sz="1000">
                          <a:latin typeface="Montserrat"/>
                        </a:rPr>
                        <a:t>$9.7</a:t>
                      </a:r>
                    </a:p>
                  </a:txBody>
                  <a:tcPr marL="3600" marR="3600" marT="3600" marB="3600">
                    <a:solidFill>
                      <a:srgbClr val="FFFFFF"/>
                    </a:solidFill>
                  </a:tcPr>
                </a:tc>
              </a:tr>
              <a:tr h="480000">
                <a:tc>
                  <a:txBody>
                    <a:bodyPr/>
                    <a:lstStyle/>
                    <a:p>
                      <a:pPr algn="l">
                        <a:lnSpc>
                          <a:spcPct val="100000"/>
                        </a:lnSpc>
                      </a:pPr>
                      <a:r>
                        <a:rPr sz="1000">
                          <a:latin typeface="Montserrat"/>
                        </a:rPr>
                        <a:t>Intervención en áreas de accesibilidad (rampas) en 7 unidades, Guerrero</a:t>
                      </a:r>
                    </a:p>
                  </a:txBody>
                  <a:tcPr marL="3600" marR="3600" marT="3600" marB="3600">
                    <a:solidFill>
                      <a:srgbClr val="D9D9D9"/>
                    </a:solidFill>
                  </a:tcPr>
                </a:tc>
                <a:tc>
                  <a:txBody>
                    <a:bodyPr/>
                    <a:lstStyle/>
                    <a:p>
                      <a:pPr algn="ctr">
                        <a:lnSpc>
                          <a:spcPct val="100000"/>
                        </a:lnSpc>
                      </a:pPr>
                      <a:r>
                        <a:rPr sz="1000">
                          <a:latin typeface="Montserrat"/>
                        </a:rPr>
                        <a:t>$6.5</a:t>
                      </a:r>
                    </a:p>
                  </a:txBody>
                  <a:tcPr marL="3600" marR="3600" marT="3600" marB="3600">
                    <a:solidFill>
                      <a:srgbClr val="D9D9D9"/>
                    </a:solidFill>
                  </a:tcPr>
                </a:tc>
              </a:tr>
              <a:tr h="480000">
                <a:tc>
                  <a:txBody>
                    <a:bodyPr/>
                    <a:lstStyle/>
                    <a:p>
                      <a:pPr algn="l">
                        <a:lnSpc>
                          <a:spcPct val="100000"/>
                        </a:lnSpc>
                      </a:pPr>
                      <a:r>
                        <a:rPr sz="1000">
                          <a:latin typeface="Montserrat"/>
                        </a:rPr>
                        <a:t>Intervención en áreas de salud mental en HGR No.1 Acapulco</a:t>
                      </a:r>
                    </a:p>
                  </a:txBody>
                  <a:tcPr marL="3600" marR="3600" marT="3600" marB="3600">
                    <a:solidFill>
                      <a:srgbClr val="FFFFFF"/>
                    </a:solidFill>
                  </a:tcPr>
                </a:tc>
                <a:tc>
                  <a:txBody>
                    <a:bodyPr/>
                    <a:lstStyle/>
                    <a:p>
                      <a:pPr algn="ctr">
                        <a:lnSpc>
                          <a:spcPct val="100000"/>
                        </a:lnSpc>
                      </a:pPr>
                      <a:r>
                        <a:rPr sz="1000">
                          <a:latin typeface="Montserrat"/>
                        </a:rPr>
                        <a:t>$0.5</a:t>
                      </a:r>
                    </a:p>
                  </a:txBody>
                  <a:tcPr marL="3600" marR="3600" marT="3600" marB="3600">
                    <a:solidFill>
                      <a:srgbClr val="FFFFFF"/>
                    </a:solidFill>
                  </a:tcPr>
                </a:tc>
              </a:tr>
              <a:tr h="48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$605.9</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7704000"/>
          <a:ext cx="5295600" cy="900000"/>
        </p:xfrm>
        <a:graphic>
          <a:graphicData uri="http://schemas.openxmlformats.org/drawingml/2006/table">
            <a:tbl>
              <a:tblPr firstRow="1" bandRow="1">
                <a:tableStyleId>{5C22544A-7EE6-4342-B048-85BDC9FD1C3A}</a:tableStyleId>
              </a:tblPr>
              <a:tblGrid>
                <a:gridCol w="4176000"/>
                <a:gridCol w="1119600"/>
              </a:tblGrid>
              <a:tr h="45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50000">
                <a:tc>
                  <a:txBody>
                    <a:bodyPr/>
                    <a:lstStyle/>
                    <a:p>
                      <a:pPr algn="l">
                        <a:lnSpc>
                          <a:spcPct val="100000"/>
                        </a:lnSpc>
                      </a:pPr>
                      <a:r>
                        <a:rPr sz="1000">
                          <a:latin typeface="Montserrat"/>
                        </a:rPr>
                        <a:t>Adquisición de 3  piezas de equipo médico: 1 refrigerador para vacunas, 1 refrigerador congelador de 5.4 pies cúbicos, 1 tomógrafo axial computarizado de alta resolución</a:t>
                      </a:r>
                    </a:p>
                  </a:txBody>
                  <a:tcPr marL="3600" marR="3600" marT="3600" marB="3600">
                    <a:solidFill>
                      <a:srgbClr val="FFFFFF"/>
                    </a:solidFill>
                  </a:tcPr>
                </a:tc>
                <a:tc>
                  <a:txBody>
                    <a:bodyPr/>
                    <a:lstStyle/>
                    <a:p>
                      <a:pPr algn="ctr">
                        <a:lnSpc>
                          <a:spcPct val="100000"/>
                        </a:lnSpc>
                      </a:pPr>
                      <a:r>
                        <a:rPr sz="1000">
                          <a:latin typeface="Montserrat"/>
                        </a:rPr>
                        <a:t>$29.8</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878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Adquisición de elevadores</a:t>
                      </a:r>
                    </a:p>
                  </a:txBody>
                  <a:tcPr marL="3600" marR="3600" marT="3600" marB="3600">
                    <a:solidFill>
                      <a:srgbClr val="FFFFFF"/>
                    </a:solidFill>
                  </a:tcPr>
                </a:tc>
                <a:tc>
                  <a:txBody>
                    <a:bodyPr/>
                    <a:lstStyle/>
                    <a:p>
                      <a:pPr algn="ctr">
                        <a:lnSpc>
                          <a:spcPct val="100000"/>
                        </a:lnSpc>
                      </a:pPr>
                      <a:r>
                        <a:rPr sz="1000">
                          <a:latin typeface="Montserrat"/>
                        </a:rPr>
                        <a:t>$22.4</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718.0</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extLst>
              <p:ext uri="{D42A27DB-BD31-4B8C-83A1-F6EECF244321}">
                <p14:modId xmlns:p14="http://schemas.microsoft.com/office/powerpoint/2010/main" val="219461739"/>
              </p:ext>
            </p:extLst>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s" sz="1200" b="1" i="0" u="none" strike="noStrike" cap="none" dirty="0">
                <a:solidFill>
                  <a:srgbClr val="9F2241"/>
                </a:solidFill>
                <a:latin typeface="Montserrat"/>
                <a:ea typeface="Montserrat"/>
                <a:cs typeface="Montserrat"/>
                <a:sym typeface="Montserrat"/>
              </a:rPr>
              <a:t> ¿Qué se hará? </a:t>
            </a:r>
            <a:endParaRPr sz="1200" b="1" i="0" u="none" strike="noStrike" cap="none" dirty="0">
              <a:solidFill>
                <a:srgbClr val="9F2241"/>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000"/>
              <a:buFont typeface="Arial"/>
              <a:buNone/>
            </a:pPr>
            <a:r>
              <a:rPr lang="es" sz="1200" b="1" i="0" u="none" strike="noStrike" cap="none" dirty="0">
                <a:solidFill>
                  <a:srgbClr val="9F2241"/>
                </a:solidFill>
                <a:latin typeface="Montserrat"/>
                <a:ea typeface="Montserrat"/>
                <a:cs typeface="Montserrat"/>
                <a:sym typeface="Montserrat"/>
              </a:rPr>
              <a:t>2026</a:t>
            </a:r>
            <a:endParaRPr sz="1200" b="0" i="0" u="none" strike="noStrike" cap="none" dirty="0">
              <a:solidFill>
                <a:srgbClr val="9F2241"/>
              </a:solidFill>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28870"/>
            <a:ext cx="1599000" cy="770400"/>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10" name="Imagen 9" descr="Forma, Círculo&#10;&#10;El contenido generado por IA puede ser incorrecto.">
            <a:extLst>
              <a:ext uri="{FF2B5EF4-FFF2-40B4-BE49-F238E27FC236}">
                <a16:creationId xmlns:a16="http://schemas.microsoft.com/office/drawing/2014/main" id="{CA24C0E7-282C-9B96-A7B5-7554B2C6EF8D}"/>
              </a:ext>
            </a:extLst>
          </p:cNvPr>
          <p:cNvPicPr>
            <a:picLocks noChangeAspect="1"/>
          </p:cNvPicPr>
          <p:nvPr/>
        </p:nvPicPr>
        <p:blipFill>
          <a:blip r:embed="rId5"/>
          <a:stretch>
            <a:fillRect/>
          </a:stretch>
        </p:blipFill>
        <p:spPr>
          <a:xfrm>
            <a:off x="268306" y="2075365"/>
            <a:ext cx="872667" cy="849944"/>
          </a:xfrm>
          <a:prstGeom prst="rect">
            <a:avLst/>
          </a:prstGeom>
        </p:spPr>
      </p:pic>
      <p:sp>
        <p:nvSpPr>
          <p:cNvPr id="11" name="CuadroTexto 11">
            <a:extLst>
              <a:ext uri="{FF2B5EF4-FFF2-40B4-BE49-F238E27FC236}">
                <a16:creationId xmlns:a16="http://schemas.microsoft.com/office/drawing/2014/main" id="{2C157DF6-A7FD-940D-19DA-323ACD68454D}"/>
              </a:ext>
            </a:extLst>
          </p:cNvPr>
          <p:cNvSpPr txBox="1"/>
          <p:nvPr/>
        </p:nvSpPr>
        <p:spPr>
          <a:xfrm>
            <a:off x="-1234814" y="2135640"/>
            <a:ext cx="388620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dirty="0">
              <a:solidFill>
                <a:srgbClr val="A42145"/>
              </a:solidFill>
              <a:latin typeface="Montserrat"/>
              <a:ea typeface="Montserrat"/>
              <a:cs typeface="Montserrat"/>
            </a:endParaRPr>
          </a:p>
          <a:p>
            <a:pPr algn="ctr"/>
            <a:r>
              <a:rPr lang="en-US" sz="800" b="1" dirty="0">
                <a:solidFill>
                  <a:srgbClr val="A42145"/>
                </a:solidFill>
                <a:latin typeface="Montserrat"/>
              </a:rPr>
              <a:t>Centro de </a:t>
            </a:r>
            <a:endParaRPr lang="en-US" dirty="0"/>
          </a:p>
          <a:p>
            <a:pPr algn="ctr"/>
            <a:r>
              <a:rPr lang="en-US" sz="800" b="1" dirty="0" err="1">
                <a:solidFill>
                  <a:srgbClr val="A42145"/>
                </a:solidFill>
                <a:latin typeface="Montserrat"/>
              </a:rPr>
              <a:t>Mezclas</a:t>
            </a:r>
            <a:endParaRPr lang="en-US" dirty="0" err="1"/>
          </a:p>
        </p:txBody>
      </p:sp>
      <p:sp>
        <p:nvSpPr>
          <p:cNvPr id="12" name="TextBox 1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graphicFrame>
        <p:nvGraphicFramePr>
          <p:cNvPr id="13" name="Table 12"/>
          <p:cNvGraphicFramePr>
            <a:graphicFrameLocks noGrp="1"/>
          </p:cNvGraphicFramePr>
          <p:nvPr/>
        </p:nvGraphicFramePr>
        <p:xfrm>
          <a:off x="1785600" y="1584000"/>
          <a:ext cx="5396400" cy="1259995"/>
        </p:xfrm>
        <a:graphic>
          <a:graphicData uri="http://schemas.openxmlformats.org/drawingml/2006/table">
            <a:tbl>
              <a:tblPr firstRow="1" bandRow="1">
                <a:tableStyleId>{5C22544A-7EE6-4342-B048-85BDC9FD1C3A}</a:tableStyleId>
              </a:tblPr>
              <a:tblGrid>
                <a:gridCol w="4255200"/>
                <a:gridCol w="1141200"/>
              </a:tblGrid>
              <a:tr h="314998">
                <a:tc>
                  <a:txBody>
                    <a:bodyPr/>
                    <a:lstStyle/>
                    <a:p>
                      <a:pPr algn="ctr">
                        <a:defRPr b="1" sz="1000">
                          <a:solidFill>
                            <a:srgbClr val="FFFFFF"/>
                          </a:solidFill>
                          <a:latin typeface="Montserrat"/>
                        </a:defRPr>
                      </a:pPr>
                      <a:r>
                        <a:t>Obras de Infraestructura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314998">
                <a:tc>
                  <a:txBody>
                    <a:bodyPr/>
                    <a:lstStyle/>
                    <a:p>
                      <a:pPr algn="l">
                        <a:lnSpc>
                          <a:spcPct val="100000"/>
                        </a:lnSpc>
                      </a:pPr>
                      <a:r>
                        <a:rPr sz="1000">
                          <a:latin typeface="Montserrat"/>
                        </a:rPr>
                        <a:t>UMF Zihuatanejo de Azueta 10 CMF + 5 Enfermería + Urgencias + 4 Especialidades (9 actuales más 1 nuevo) (Desincorporación del HGZMF 8)</a:t>
                      </a:r>
                    </a:p>
                  </a:txBody>
                  <a:tcPr marL="3600" marR="3600" marT="3600" marB="3600">
                    <a:solidFill>
                      <a:srgbClr val="FFFFFF"/>
                    </a:solidFill>
                  </a:tcPr>
                </a:tc>
                <a:tc>
                  <a:txBody>
                    <a:bodyPr/>
                    <a:lstStyle/>
                    <a:p>
                      <a:pPr algn="ctr">
                        <a:lnSpc>
                          <a:spcPct val="100000"/>
                        </a:lnSpc>
                      </a:pPr>
                      <a:r>
                        <a:rPr sz="1000">
                          <a:latin typeface="Montserrat"/>
                        </a:rPr>
                        <a:t>$444.5</a:t>
                      </a:r>
                    </a:p>
                  </a:txBody>
                  <a:tcPr marL="3600" marR="3600" marT="3600" marB="3600">
                    <a:solidFill>
                      <a:srgbClr val="FFFFFF"/>
                    </a:solidFill>
                  </a:tcPr>
                </a:tc>
              </a:tr>
              <a:tr h="314998">
                <a:tc>
                  <a:txBody>
                    <a:bodyPr/>
                    <a:lstStyle/>
                    <a:p>
                      <a:pPr algn="l">
                        <a:lnSpc>
                          <a:spcPct val="100000"/>
                        </a:lnSpc>
                      </a:pPr>
                      <a:r>
                        <a:rPr sz="1000">
                          <a:latin typeface="Montserrat"/>
                        </a:rPr>
                        <a:t>Fortalecimiento HR La Unión</a:t>
                      </a:r>
                    </a:p>
                  </a:txBody>
                  <a:tcPr marL="3600" marR="3600" marT="3600" marB="3600">
                    <a:solidFill>
                      <a:srgbClr val="D9D9D9"/>
                    </a:solidFill>
                  </a:tcPr>
                </a:tc>
                <a:tc>
                  <a:txBody>
                    <a:bodyPr/>
                    <a:lstStyle/>
                    <a:p>
                      <a:pPr algn="ctr">
                        <a:lnSpc>
                          <a:spcPct val="100000"/>
                        </a:lnSpc>
                      </a:pPr>
                      <a:r>
                        <a:rPr sz="1000">
                          <a:latin typeface="Montserrat"/>
                        </a:rPr>
                        <a:t>$32.0</a:t>
                      </a:r>
                    </a:p>
                  </a:txBody>
                  <a:tcPr marL="3600" marR="3600" marT="3600" marB="3600">
                    <a:solidFill>
                      <a:srgbClr val="D9D9D9"/>
                    </a:solidFill>
                  </a:tcPr>
                </a:tc>
              </a:tr>
              <a:tr h="315001">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$476.5</a:t>
                      </a:r>
                    </a:p>
                  </a:txBody>
                  <a:tcPr marL="3600" marR="3600" marT="3600" marB="3600">
                    <a:solidFill>
                      <a:srgbClr val="9F2241"/>
                    </a:solidFill>
                  </a:tcPr>
                </a:tc>
              </a:tr>
            </a:tbl>
          </a:graphicData>
        </a:graphic>
      </p:graphicFrame>
      <p:graphicFrame>
        <p:nvGraphicFramePr>
          <p:cNvPr id="14" name="Table 13"/>
          <p:cNvGraphicFramePr>
            <a:graphicFrameLocks noGrp="1"/>
          </p:cNvGraphicFramePr>
          <p:nvPr/>
        </p:nvGraphicFramePr>
        <p:xfrm>
          <a:off x="1785600" y="3023995"/>
          <a:ext cx="5396400" cy="755997"/>
        </p:xfrm>
        <a:graphic>
          <a:graphicData uri="http://schemas.openxmlformats.org/drawingml/2006/table">
            <a:tbl>
              <a:tblPr firstRow="1" bandRow="1">
                <a:tableStyleId>{5C22544A-7EE6-4342-B048-85BDC9FD1C3A}</a:tableStyleId>
              </a:tblPr>
              <a:tblGrid>
                <a:gridCol w="4255200"/>
                <a:gridCol w="1141200"/>
              </a:tblGrid>
              <a:tr h="188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188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$158.6</a:t>
                      </a:r>
                    </a:p>
                  </a:txBody>
                  <a:tcPr marL="3600" marR="3600" marT="3600" marB="3600">
                    <a:solidFill>
                      <a:srgbClr val="FFFFFF"/>
                    </a:solidFill>
                  </a:tcPr>
                </a:tc>
              </a:tr>
              <a:tr h="188999">
                <a:tc>
                  <a:txBody>
                    <a:bodyPr/>
                    <a:lstStyle/>
                    <a:p>
                      <a:pPr algn="l">
                        <a:lnSpc>
                          <a:spcPct val="100000"/>
                        </a:lnSpc>
                      </a:pPr>
                      <a:r>
                        <a:rPr sz="1000">
                          <a:latin typeface="Montserrat"/>
                        </a:rPr>
                        <a:t>Centro de Mezclas UMF 29 Acapulco</a:t>
                      </a:r>
                    </a:p>
                  </a:txBody>
                  <a:tcPr marL="3600" marR="3600" marT="3600" marB="3600">
                    <a:solidFill>
                      <a:srgbClr val="D9D9D9"/>
                    </a:solidFill>
                  </a:tcPr>
                </a:tc>
                <a:tc>
                  <a:txBody>
                    <a:bodyPr/>
                    <a:lstStyle/>
                    <a:p>
                      <a:pPr algn="ctr">
                        <a:lnSpc>
                          <a:spcPct val="100000"/>
                        </a:lnSpc>
                      </a:pPr>
                      <a:r>
                        <a:rPr sz="1000">
                          <a:latin typeface="Montserrat"/>
                        </a:rPr>
                        <a:t>$10.3</a:t>
                      </a:r>
                    </a:p>
                  </a:txBody>
                  <a:tcPr marL="3600" marR="3600" marT="3600" marB="3600">
                    <a:solidFill>
                      <a:srgbClr val="D9D9D9"/>
                    </a:solidFill>
                  </a:tcPr>
                </a:tc>
              </a:tr>
              <a:tr h="189000">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$168.9</a:t>
                      </a:r>
                    </a:p>
                  </a:txBody>
                  <a:tcPr marL="3600" marR="3600" marT="3600" marB="3600">
                    <a:solidFill>
                      <a:srgbClr val="9F2241"/>
                    </a:solidFill>
                  </a:tcPr>
                </a:tc>
              </a:tr>
            </a:tbl>
          </a:graphicData>
        </a:graphic>
      </p:graphicFrame>
      <p:graphicFrame>
        <p:nvGraphicFramePr>
          <p:cNvPr id="15" name="Table 14"/>
          <p:cNvGraphicFramePr>
            <a:graphicFrameLocks noGrp="1"/>
          </p:cNvGraphicFramePr>
          <p:nvPr/>
        </p:nvGraphicFramePr>
        <p:xfrm>
          <a:off x="1785600" y="3959992"/>
          <a:ext cx="5396400" cy="1007996"/>
        </p:xfrm>
        <a:graphic>
          <a:graphicData uri="http://schemas.openxmlformats.org/drawingml/2006/table">
            <a:tbl>
              <a:tblPr firstRow="1" bandRow="1">
                <a:tableStyleId>{5C22544A-7EE6-4342-B048-85BDC9FD1C3A}</a:tableStyleId>
              </a:tblPr>
              <a:tblGrid>
                <a:gridCol w="4255200"/>
                <a:gridCol w="1141200"/>
              </a:tblGrid>
              <a:tr h="503998">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503998">
                <a:tc>
                  <a:txBody>
                    <a:bodyPr/>
                    <a:lstStyle/>
                    <a:p>
                      <a:pPr algn="l">
                        <a:lnSpc>
                          <a:spcPct val="100000"/>
                        </a:lnSpc>
                      </a:pPr>
                      <a:r>
                        <a:rPr sz="1000">
                          <a:latin typeface="Montserrat"/>
                        </a:rPr>
                        <a:t>23 Equipos electromecánicos para 6 unidades; 15 equipos para casa de máquinas, 4 para aires acondicionados, 2 lavadoras y 2 secadoras.</a:t>
                      </a:r>
                    </a:p>
                  </a:txBody>
                  <a:tcPr marL="3600" marR="3600" marT="3600" marB="3600">
                    <a:solidFill>
                      <a:srgbClr val="FFFFFF"/>
                    </a:solidFill>
                  </a:tcPr>
                </a:tc>
                <a:tc>
                  <a:txBody>
                    <a:bodyPr/>
                    <a:lstStyle/>
                    <a:p>
                      <a:pPr algn="ctr">
                        <a:lnSpc>
                          <a:spcPct val="100000"/>
                        </a:lnSpc>
                      </a:pPr>
                      <a:r>
                        <a:rPr sz="1000">
                          <a:latin typeface="Montserrat"/>
                        </a:rPr>
                        <a:t>$116.6</a:t>
                      </a:r>
                    </a:p>
                  </a:txBody>
                  <a:tcPr marL="3600" marR="3600" marT="3600" marB="3600">
                    <a:solidFill>
                      <a:srgbClr val="FFFFFF"/>
                    </a:solidFill>
                  </a:tcPr>
                </a:tc>
              </a:tr>
            </a:tbl>
          </a:graphicData>
        </a:graphic>
      </p:graphicFrame>
      <p:sp>
        <p:nvSpPr>
          <p:cNvPr id="16" name="TextBox 15"/>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762.0</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4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0 Reserva IMSS</a:t>
                      </a:r>
                    </a:p>
                  </a:txBody>
                  <a:tcPr marL="72000" marR="72000" anchor="ctr">
                    <a:noFill/>
                  </a:tcPr>
                </a:tc>
                <a:tc>
                  <a:txBody>
                    <a:bodyPr/>
                    <a:lstStyle/>
                    <a:p>
                      <a:pPr algn="ctr">
                        <a:defRPr sz="1200" b="0">
                          <a:solidFill>
                            <a:srgbClr val="FFFFFF"/>
                          </a:solidFill>
                          <a:latin typeface="Montserrat"/>
                        </a:defRPr>
                      </a:pPr>
                      <a:r>
                        <a:t>-</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4 Donación</a:t>
                      </a:r>
                    </a:p>
                  </a:txBody>
                  <a:tcPr marL="72000" marR="72000" anchor="ctr">
                    <a:noFill/>
                  </a:tcPr>
                </a:tc>
                <a:tc>
                  <a:txBody>
                    <a:bodyPr/>
                    <a:lstStyle/>
                    <a:p>
                      <a:pPr algn="ctr">
                        <a:defRPr sz="1200" b="0">
                          <a:solidFill>
                            <a:srgbClr val="FFFFFF"/>
                          </a:solidFill>
                          <a:latin typeface="Montserrat"/>
                        </a:defRPr>
                      </a:pPr>
                      <a:r>
                        <a:t>Chilpancingo, Pungarabato, Iguala, Petatlan</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11</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10 CECI IMSS</a:t>
            </a:r>
          </a:p>
          <a:p>
            <a:pPr algn="ctr">
              <a:defRPr sz="1500" b="1">
                <a:solidFill>
                  <a:srgbClr val="FFFFFF"/>
                </a:solidFill>
                <a:latin typeface="Montserrat"/>
              </a:defRPr>
            </a:pPr>
            <a:r>
              <a:t>1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En integración de expediente para donación: 4 en Chilpancingo, Iguala, Petatlán y Pungarabato.</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GUERRERO</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14 </a:t>
                      </a:r>
                      <a:r>
                        <a:rPr b="1" sz="1000">
                          <a:latin typeface="Montserrat"/>
                        </a:rPr>
                        <a:t>unidades</a:t>
                      </a:r>
                    </a:p>
                    <a:p>
                      <a:pPr algn="ctr">
                        <a:defRPr sz="1000">
                          <a:solidFill>
                            <a:srgbClr val="505050"/>
                          </a:solidFill>
                          <a:latin typeface="Montserrat"/>
                        </a:defRPr>
                      </a:pPr>
                      <a:r>
                        <a:t>2 directas</a:t>
                      </a:r>
                    </a:p>
                    <a:p>
                      <a:pPr algn="ctr">
                        <a:defRPr sz="1000">
                          <a:solidFill>
                            <a:srgbClr val="505050"/>
                          </a:solidFill>
                          <a:latin typeface="Montserrat"/>
                        </a:defRPr>
                      </a:pPr>
                      <a:r>
                        <a:t>12 indirectas</a:t>
                      </a:r>
                    </a:p>
                  </a:txBody>
                  <a:tcPr anchor="ctr">
                    <a:solidFill>
                      <a:srgbClr val="FFFFFF"/>
                    </a:solidFill>
                  </a:tcPr>
                </a:tc>
                <a:tc>
                  <a:txBody>
                    <a:bodyPr/>
                    <a:lstStyle/>
                    <a:p>
                      <a:pPr algn="ctr"/>
                      <a:r>
                        <a:rPr b="1" sz="1000">
                          <a:latin typeface="Montserrat"/>
                        </a:rPr>
                        <a:t>2,322 </a:t>
                      </a:r>
                      <a:r>
                        <a:rPr b="1" sz="1000">
                          <a:latin typeface="Montserrat"/>
                        </a:rPr>
                        <a:t>inscritos</a:t>
                      </a:r>
                    </a:p>
                    <a:p>
                      <a:pPr algn="ctr">
                        <a:defRPr sz="1000">
                          <a:solidFill>
                            <a:srgbClr val="505050"/>
                          </a:solidFill>
                          <a:latin typeface="Montserrat"/>
                        </a:defRPr>
                      </a:pPr>
                      <a:r>
                        <a:t>357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69719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697199">
                <a:tc>
                  <a:txBody>
                    <a:bodyPr/>
                    <a:lstStyle/>
                    <a:p>
                      <a:pPr algn="ctr">
                        <a:defRPr sz="800" b="1">
                          <a:latin typeface="Montserrat"/>
                        </a:defRPr>
                      </a:pPr>
                      <a:r>
                        <a:t>1 CEBIS</a:t>
                      </a:r>
                    </a:p>
                  </a:txBody>
                  <a:tcPr anchor="ctr" marL="28800" marR="28800" marT="0" marB="0">
                    <a:solidFill>
                      <a:srgbClr val="FFFFFF"/>
                    </a:solidFill>
                  </a:tcPr>
                </a:tc>
                <a:tc>
                  <a:txBody>
                    <a:bodyPr/>
                    <a:lstStyle/>
                    <a:p>
                      <a:pPr algn="ctr">
                        <a:defRPr sz="800">
                          <a:latin typeface="Montserrat"/>
                        </a:defRPr>
                      </a:pPr>
                      <a:r>
                        <a:t>Acapulco (Polígono D)</a:t>
                      </a:r>
                    </a:p>
                  </a:txBody>
                  <a:tcPr anchor="ctr" marL="28800" marR="28800" marT="0" marB="0">
                    <a:solidFill>
                      <a:srgbClr val="FFFFFF"/>
                    </a:solidFill>
                  </a:tcPr>
                </a:tc>
              </a:tr>
              <a:tr h="697201">
                <a:tc>
                  <a:txBody>
                    <a:bodyPr/>
                    <a:lstStyle/>
                    <a:p>
                      <a:pPr algn="ctr">
                        <a:defRPr sz="800" b="1">
                          <a:latin typeface="Montserrat"/>
                        </a:defRPr>
                      </a:pPr>
                      <a:r>
                        <a:t>5 Centros de Seguridad Social</a:t>
                      </a:r>
                    </a:p>
                  </a:txBody>
                  <a:tcPr anchor="ctr" marL="28800" marR="28800" marT="0" marB="0">
                    <a:solidFill>
                      <a:srgbClr val="EFEFEF"/>
                    </a:solidFill>
                  </a:tcPr>
                </a:tc>
                <a:tc>
                  <a:txBody>
                    <a:bodyPr/>
                    <a:lstStyle/>
                    <a:p>
                      <a:pPr algn="ctr">
                        <a:defRPr sz="800">
                          <a:latin typeface="Montserrat"/>
                        </a:defRPr>
                      </a:pPr>
                      <a:r>
                        <a:t>Chilpancingo, Acapulco, Iguala, Taxco, Zihuatanejo</a:t>
                      </a:r>
                    </a:p>
                  </a:txBody>
                  <a:tcPr anchor="ctr" marL="28800" marR="28800" marT="0" marB="0">
                    <a:solidFill>
                      <a:srgbClr val="EFEFE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4086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408600">
                <a:tc>
                  <a:txBody>
                    <a:bodyPr/>
                    <a:lstStyle/>
                    <a:p>
                      <a:pPr algn="ctr">
                        <a:defRPr sz="800" b="1">
                          <a:latin typeface="Montserrat"/>
                        </a:defRPr>
                      </a:pPr>
                      <a:r>
                        <a:t>2 Tiendas IMSS-SNTSS</a:t>
                      </a:r>
                    </a:p>
                  </a:txBody>
                  <a:tcPr anchor="ctr" marL="28800" marR="28800" marT="0" marB="0">
                    <a:solidFill>
                      <a:srgbClr val="FFFFFF"/>
                    </a:solidFill>
                  </a:tcPr>
                </a:tc>
                <a:tc>
                  <a:txBody>
                    <a:bodyPr/>
                    <a:lstStyle/>
                    <a:p>
                      <a:pPr algn="ctr">
                        <a:defRPr sz="800">
                          <a:latin typeface="Montserrat"/>
                        </a:defRPr>
                      </a:pPr>
                      <a:r>
                        <a:t>No. 18 Acapulco y No. 103 Taxco</a:t>
                      </a:r>
                    </a:p>
                  </a:txBody>
                  <a:tcPr anchor="ctr" marL="28800" marR="28800" marT="0" marB="0">
                    <a:solidFill>
                      <a:srgbClr val="FFFFFF"/>
                    </a:solidFill>
                  </a:tcPr>
                </a:tc>
              </a:tr>
            </a:tbl>
          </a:graphicData>
        </a:graphic>
      </p:graphicFrame>
      <p:pic>
        <p:nvPicPr>
          <p:cNvPr id="470" name="Picture 469" descr="map_tipo2_12_gro.png"/>
          <p:cNvPicPr>
            <a:picLocks noChangeAspect="1"/>
          </p:cNvPicPr>
          <p:nvPr/>
        </p:nvPicPr>
        <p:blipFill>
          <a:blip r:embed="rId6"/>
          <a:stretch>
            <a:fillRect/>
          </a:stretch>
        </p:blipFill>
        <p:spPr>
          <a:xfrm>
            <a:off x="2822400" y="5929200"/>
            <a:ext cx="2656800" cy="1734844"/>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14</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7,277</a:t>
                      </a:r>
                    </a:p>
                  </a:txBody>
                  <a:tcPr anchor="ctr">
                    <a:solidFill>
                      <a:srgbClr val="FFFFFF"/>
                    </a:solidFill>
                  </a:tcPr>
                </a:tc>
                <a:tc>
                  <a:txBody>
                    <a:bodyPr/>
                    <a:lstStyle/>
                    <a:p>
                      <a:pPr algn="ctr">
                        <a:defRPr sz="850">
                          <a:latin typeface="Montserrat"/>
                        </a:defRPr>
                      </a:pPr>
                      <a:r>
                        <a:t>7,279</a:t>
                      </a:r>
                    </a:p>
                  </a:txBody>
                  <a:tcPr anchor="ctr">
                    <a:solidFill>
                      <a:srgbClr val="FFFFFF"/>
                    </a:solidFill>
                  </a:tcPr>
                </a:tc>
                <a:tc>
                  <a:txBody>
                    <a:bodyPr/>
                    <a:lstStyle/>
                    <a:p>
                      <a:pPr algn="ctr">
                        <a:defRPr sz="850">
                          <a:latin typeface="Montserrat"/>
                        </a:defRPr>
                      </a:pPr>
                      <a:r>
                        <a:t>0.0%</a:t>
                      </a:r>
                    </a:p>
                  </a:txBody>
                  <a:tcPr anchor="ctr">
                    <a:solidFill>
                      <a:srgbClr val="FFFFFF"/>
                    </a:solidFill>
                  </a:tcPr>
                </a:tc>
                <a:tc>
                  <a:txBody>
                    <a:bodyPr/>
                    <a:lstStyle/>
                    <a:p>
                      <a:pPr algn="ctr">
                        <a:defRPr sz="850">
                          <a:latin typeface="Montserrat"/>
                        </a:defRPr>
                      </a:pPr>
                      <a:r>
                        <a:t>Cadena Comercial OXXO S.A. de C.V.</a:t>
                      </a:r>
                    </a:p>
                  </a:txBody>
                  <a:tcPr anchor="ctr">
                    <a:solidFill>
                      <a:srgbClr val="FFFFFF"/>
                    </a:solidFill>
                  </a:tcPr>
                </a:tc>
                <a:tc>
                  <a:txBody>
                    <a:bodyPr/>
                    <a:lstStyle/>
                    <a:p>
                      <a:pPr algn="ctr">
                        <a:defRPr sz="850">
                          <a:latin typeface="Montserrat"/>
                        </a:defRPr>
                      </a:pPr>
                      <a:r>
                        <a:t>3,585</a:t>
                      </a:r>
                    </a:p>
                  </a:txBody>
                  <a:tcPr anchor="ctr">
                    <a:solidFill>
                      <a:srgbClr val="FFFFFF"/>
                    </a:solidFill>
                  </a:tcPr>
                </a:tc>
                <a:tc>
                  <a:txBody>
                    <a:bodyPr/>
                    <a:lstStyle/>
                    <a:p>
                      <a:pPr algn="ctr">
                        <a:defRPr sz="850">
                          <a:latin typeface="Montserrat"/>
                        </a:defRPr>
                      </a:pPr>
                      <a:r>
                        <a:t>3,532</a:t>
                      </a:r>
                    </a:p>
                  </a:txBody>
                  <a:tcPr anchor="ctr">
                    <a:solidFill>
                      <a:srgbClr val="FFFFFF"/>
                    </a:solidFill>
                  </a:tcPr>
                </a:tc>
                <a:tc>
                  <a:txBody>
                    <a:bodyPr/>
                    <a:lstStyle/>
                    <a:p>
                      <a:pPr algn="ctr">
                        <a:defRPr sz="850" b="1">
                          <a:solidFill>
                            <a:srgbClr val="691C32"/>
                          </a:solidFill>
                          <a:latin typeface="Montserrat"/>
                        </a:defRPr>
                      </a:pPr>
                      <a:r>
                        <a:t>-1.5%</a:t>
                      </a:r>
                    </a:p>
                  </a:txBody>
                  <a:tcPr anchor="ctr">
                    <a:solidFill>
                      <a:srgbClr val="FFFFFF"/>
                    </a:solidFill>
                  </a:tcPr>
                </a:tc>
              </a:tr>
              <a:tr h="490320">
                <a:tc>
                  <a:txBody>
                    <a:bodyPr/>
                    <a:lstStyle/>
                    <a:p>
                      <a:pPr algn="ctr">
                        <a:defRPr sz="850">
                          <a:latin typeface="Montserrat"/>
                        </a:defRPr>
                      </a:pPr>
                      <a:r>
                        <a:t>Comisión Federal de Electricidad Epe</a:t>
                      </a:r>
                    </a:p>
                  </a:txBody>
                  <a:tcPr anchor="ctr">
                    <a:solidFill>
                      <a:srgbClr val="D9D9D9"/>
                    </a:solidFill>
                  </a:tcPr>
                </a:tc>
                <a:tc>
                  <a:txBody>
                    <a:bodyPr/>
                    <a:lstStyle/>
                    <a:p>
                      <a:pPr algn="ctr">
                        <a:defRPr sz="850">
                          <a:latin typeface="Montserrat"/>
                        </a:defRPr>
                      </a:pPr>
                      <a:r>
                        <a:t>2,750</a:t>
                      </a:r>
                    </a:p>
                  </a:txBody>
                  <a:tcPr anchor="ctr">
                    <a:solidFill>
                      <a:srgbClr val="D9D9D9"/>
                    </a:solidFill>
                  </a:tcPr>
                </a:tc>
                <a:tc>
                  <a:txBody>
                    <a:bodyPr/>
                    <a:lstStyle/>
                    <a:p>
                      <a:pPr algn="ctr">
                        <a:defRPr sz="850">
                          <a:latin typeface="Montserrat"/>
                        </a:defRPr>
                      </a:pPr>
                      <a:r>
                        <a:t>2,653</a:t>
                      </a:r>
                    </a:p>
                  </a:txBody>
                  <a:tcPr anchor="ctr">
                    <a:solidFill>
                      <a:srgbClr val="D9D9D9"/>
                    </a:solidFill>
                  </a:tcPr>
                </a:tc>
                <a:tc>
                  <a:txBody>
                    <a:bodyPr/>
                    <a:lstStyle/>
                    <a:p>
                      <a:pPr algn="ctr">
                        <a:defRPr sz="850" b="1">
                          <a:solidFill>
                            <a:srgbClr val="691C32"/>
                          </a:solidFill>
                          <a:latin typeface="Montserrat"/>
                        </a:defRPr>
                      </a:pPr>
                      <a:r>
                        <a:t>-3.5%</a:t>
                      </a:r>
                    </a:p>
                  </a:txBody>
                  <a:tcPr anchor="ctr">
                    <a:solidFill>
                      <a:srgbClr val="D9D9D9"/>
                    </a:solidFill>
                  </a:tcPr>
                </a:tc>
                <a:tc>
                  <a:txBody>
                    <a:bodyPr/>
                    <a:lstStyle/>
                    <a:p>
                      <a:pPr algn="ctr">
                        <a:defRPr sz="850">
                          <a:latin typeface="Montserrat"/>
                        </a:defRPr>
                      </a:pPr>
                      <a:r>
                        <a:t>Nueva Wal Mart de México S. de R.L. de C.V.</a:t>
                      </a:r>
                    </a:p>
                  </a:txBody>
                  <a:tcPr anchor="ctr">
                    <a:solidFill>
                      <a:srgbClr val="D9D9D9"/>
                    </a:solidFill>
                  </a:tcPr>
                </a:tc>
                <a:tc>
                  <a:txBody>
                    <a:bodyPr/>
                    <a:lstStyle/>
                    <a:p>
                      <a:pPr algn="ctr">
                        <a:defRPr sz="850">
                          <a:latin typeface="Montserrat"/>
                        </a:defRPr>
                      </a:pPr>
                      <a:r>
                        <a:t>3,543</a:t>
                      </a:r>
                    </a:p>
                  </a:txBody>
                  <a:tcPr anchor="ctr">
                    <a:solidFill>
                      <a:srgbClr val="D9D9D9"/>
                    </a:solidFill>
                  </a:tcPr>
                </a:tc>
                <a:tc>
                  <a:txBody>
                    <a:bodyPr/>
                    <a:lstStyle/>
                    <a:p>
                      <a:pPr algn="ctr">
                        <a:defRPr sz="850">
                          <a:latin typeface="Montserrat"/>
                        </a:defRPr>
                      </a:pPr>
                      <a:r>
                        <a:t>3,512</a:t>
                      </a:r>
                    </a:p>
                  </a:txBody>
                  <a:tcPr anchor="ctr">
                    <a:solidFill>
                      <a:srgbClr val="D9D9D9"/>
                    </a:solidFill>
                  </a:tcPr>
                </a:tc>
                <a:tc>
                  <a:txBody>
                    <a:bodyPr/>
                    <a:lstStyle/>
                    <a:p>
                      <a:pPr algn="ctr">
                        <a:defRPr sz="850" b="1">
                          <a:solidFill>
                            <a:srgbClr val="691C32"/>
                          </a:solidFill>
                          <a:latin typeface="Montserrat"/>
                        </a:defRPr>
                      </a:pPr>
                      <a:r>
                        <a:t>-0.9%</a:t>
                      </a:r>
                    </a:p>
                  </a:txBody>
                  <a:tcPr anchor="ctr">
                    <a:solidFill>
                      <a:srgbClr val="D9D9D9"/>
                    </a:solidFill>
                  </a:tcPr>
                </a:tc>
              </a:tr>
              <a:tr h="490320">
                <a:tc>
                  <a:txBody>
                    <a:bodyPr/>
                    <a:lstStyle/>
                    <a:p>
                      <a:pPr algn="ctr">
                        <a:defRPr sz="850">
                          <a:latin typeface="Montserrat"/>
                        </a:defRPr>
                      </a:pPr>
                      <a:r>
                        <a:t>Sistema para el Desarrollo Integral de la Familia</a:t>
                      </a:r>
                    </a:p>
                  </a:txBody>
                  <a:tcPr anchor="ctr">
                    <a:solidFill>
                      <a:srgbClr val="FFFFFF"/>
                    </a:solidFill>
                  </a:tcPr>
                </a:tc>
                <a:tc>
                  <a:txBody>
                    <a:bodyPr/>
                    <a:lstStyle/>
                    <a:p>
                      <a:pPr algn="ctr">
                        <a:defRPr sz="850">
                          <a:latin typeface="Montserrat"/>
                        </a:defRPr>
                      </a:pPr>
                      <a:r>
                        <a:t>686</a:t>
                      </a:r>
                    </a:p>
                  </a:txBody>
                  <a:tcPr anchor="ctr">
                    <a:solidFill>
                      <a:srgbClr val="FFFFFF"/>
                    </a:solidFill>
                  </a:tcPr>
                </a:tc>
                <a:tc>
                  <a:txBody>
                    <a:bodyPr/>
                    <a:lstStyle/>
                    <a:p>
                      <a:pPr algn="ctr">
                        <a:defRPr sz="850">
                          <a:latin typeface="Montserrat"/>
                        </a:defRPr>
                      </a:pPr>
                      <a:r>
                        <a:t>686</a:t>
                      </a:r>
                    </a:p>
                  </a:txBody>
                  <a:tcPr anchor="ctr">
                    <a:solidFill>
                      <a:srgbClr val="FFFFFF"/>
                    </a:solidFill>
                  </a:tcPr>
                </a:tc>
                <a:tc>
                  <a:txBody>
                    <a:bodyPr/>
                    <a:lstStyle/>
                    <a:p>
                      <a:pPr algn="ctr">
                        <a:defRPr sz="850">
                          <a:latin typeface="Montserrat"/>
                        </a:defRPr>
                      </a:pPr>
                      <a:r>
                        <a:t>0.0%</a:t>
                      </a:r>
                    </a:p>
                  </a:txBody>
                  <a:tcPr anchor="ctr">
                    <a:solidFill>
                      <a:srgbClr val="FFFFFF"/>
                    </a:solidFill>
                  </a:tcPr>
                </a:tc>
                <a:tc>
                  <a:txBody>
                    <a:bodyPr/>
                    <a:lstStyle/>
                    <a:p>
                      <a:pPr algn="ctr">
                        <a:defRPr sz="850">
                          <a:latin typeface="Montserrat"/>
                        </a:defRPr>
                      </a:pPr>
                      <a:r>
                        <a:t>Propimex S. de R.L. de C.V.</a:t>
                      </a:r>
                    </a:p>
                  </a:txBody>
                  <a:tcPr anchor="ctr">
                    <a:solidFill>
                      <a:srgbClr val="FFFFFF"/>
                    </a:solidFill>
                  </a:tcPr>
                </a:tc>
                <a:tc>
                  <a:txBody>
                    <a:bodyPr/>
                    <a:lstStyle/>
                    <a:p>
                      <a:pPr algn="ctr">
                        <a:defRPr sz="850">
                          <a:latin typeface="Montserrat"/>
                        </a:defRPr>
                      </a:pPr>
                      <a:r>
                        <a:t>1,934</a:t>
                      </a:r>
                    </a:p>
                  </a:txBody>
                  <a:tcPr anchor="ctr">
                    <a:solidFill>
                      <a:srgbClr val="FFFFFF"/>
                    </a:solidFill>
                  </a:tcPr>
                </a:tc>
                <a:tc>
                  <a:txBody>
                    <a:bodyPr/>
                    <a:lstStyle/>
                    <a:p>
                      <a:pPr algn="ctr">
                        <a:defRPr sz="850">
                          <a:latin typeface="Montserrat"/>
                        </a:defRPr>
                      </a:pPr>
                      <a:r>
                        <a:t>1,931</a:t>
                      </a:r>
                    </a:p>
                  </a:txBody>
                  <a:tcPr anchor="ctr">
                    <a:solidFill>
                      <a:srgbClr val="FFFFFF"/>
                    </a:solidFill>
                  </a:tcPr>
                </a:tc>
                <a:tc>
                  <a:txBody>
                    <a:bodyPr/>
                    <a:lstStyle/>
                    <a:p>
                      <a:pPr algn="ctr">
                        <a:defRPr sz="850" b="1">
                          <a:solidFill>
                            <a:srgbClr val="691C32"/>
                          </a:solidFill>
                          <a:latin typeface="Montserrat"/>
                        </a:defRPr>
                      </a:pPr>
                      <a:r>
                        <a:t>-0.2%</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-12.21%</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-7.30%</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-5.90%</a:t>
            </a:r>
          </a:p>
        </p:txBody>
      </p:sp>
      <p:sp>
        <p:nvSpPr>
          <p:cNvPr id="484" name="Rounded Rectangle 483"/>
          <p:cNvSpPr/>
          <p:nvPr/>
        </p:nvSpPr>
        <p:spPr>
          <a:xfrm>
            <a:off x="7020000" y="4968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-4.02%</a:t>
            </a:r>
          </a:p>
        </p:txBody>
      </p:sp>
      <p:sp>
        <p:nvSpPr>
          <p:cNvPr id="485" name="Rounded Rectangle 484"/>
          <p:cNvSpPr/>
          <p:nvPr/>
        </p:nvSpPr>
        <p:spPr>
          <a:xfrm>
            <a:off x="7020000" y="5364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-1.66%</a:t>
            </a:r>
          </a:p>
        </p:txBody>
      </p:sp>
      <p:sp>
        <p:nvSpPr>
          <p:cNvPr id="486" name="Rounded Rectangle 485"/>
          <p:cNvSpPr/>
          <p:nvPr/>
        </p:nvSpPr>
        <p:spPr>
          <a:xfrm>
            <a:off x="7020000" y="576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-0.22%</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+0.75%</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+1.88%</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+4.72%</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130,683</a:t>
                      </a:r>
                    </a:p>
                  </a:txBody>
                  <a:tcPr>
                    <a:solidFill>
                      <a:srgbClr val="FFFFFF"/>
                    </a:solidFill>
                  </a:tcPr>
                </a:tc>
                <a:tc>
                  <a:txBody>
                    <a:bodyPr/>
                    <a:lstStyle/>
                    <a:p>
                      <a:pPr algn="ctr">
                        <a:defRPr sz="900">
                          <a:latin typeface="Montserrat"/>
                        </a:defRPr>
                      </a:pPr>
                      <a:r>
                        <a:t>281</a:t>
                      </a:r>
                    </a:p>
                  </a:txBody>
                  <a:tcPr>
                    <a:solidFill>
                      <a:srgbClr val="FFFFFF"/>
                    </a:solidFill>
                  </a:tcPr>
                </a:tc>
                <a:tc>
                  <a:txBody>
                    <a:bodyPr/>
                    <a:lstStyle/>
                    <a:p>
                      <a:pPr algn="ctr">
                        <a:defRPr sz="900">
                          <a:latin typeface="Montserrat"/>
                        </a:defRPr>
                      </a:pPr>
                      <a:r>
                        <a:t>28,812</a:t>
                      </a:r>
                    </a:p>
                  </a:txBody>
                  <a:tcPr>
                    <a:solidFill>
                      <a:srgbClr val="FFFFFF"/>
                    </a:solidFill>
                  </a:tcPr>
                </a:tc>
                <a:tc>
                  <a:txBody>
                    <a:bodyPr/>
                    <a:lstStyle/>
                    <a:p>
                      <a:pPr algn="ctr">
                        <a:defRPr sz="900">
                          <a:latin typeface="Montserrat"/>
                        </a:defRPr>
                      </a:pPr>
                      <a:r>
                        <a:t>804</a:t>
                      </a:r>
                    </a:p>
                  </a:txBody>
                  <a:tcPr>
                    <a:solidFill>
                      <a:srgbClr val="FFFFFF"/>
                    </a:solidFill>
                  </a:tcPr>
                </a:tc>
                <a:tc>
                  <a:txBody>
                    <a:bodyPr/>
                    <a:lstStyle/>
                    <a:p>
                      <a:pPr algn="ctr">
                        <a:defRPr sz="900">
                          <a:latin typeface="Montserrat"/>
                        </a:defRPr>
                      </a:pPr>
                      <a:r>
                        <a:t>160,580</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131,930</a:t>
                      </a:r>
                    </a:p>
                  </a:txBody>
                  <a:tcPr>
                    <a:solidFill>
                      <a:srgbClr val="D9D9D9"/>
                    </a:solidFill>
                  </a:tcPr>
                </a:tc>
                <a:tc>
                  <a:txBody>
                    <a:bodyPr/>
                    <a:lstStyle/>
                    <a:p>
                      <a:pPr algn="ctr">
                        <a:defRPr sz="900">
                          <a:latin typeface="Montserrat"/>
                        </a:defRPr>
                      </a:pPr>
                      <a:r>
                        <a:t>267</a:t>
                      </a:r>
                    </a:p>
                  </a:txBody>
                  <a:tcPr>
                    <a:solidFill>
                      <a:srgbClr val="D9D9D9"/>
                    </a:solidFill>
                  </a:tcPr>
                </a:tc>
                <a:tc>
                  <a:txBody>
                    <a:bodyPr/>
                    <a:lstStyle/>
                    <a:p>
                      <a:pPr algn="ctr">
                        <a:defRPr sz="900">
                          <a:latin typeface="Montserrat"/>
                        </a:defRPr>
                      </a:pPr>
                      <a:r>
                        <a:t>26,641</a:t>
                      </a:r>
                    </a:p>
                  </a:txBody>
                  <a:tcPr>
                    <a:solidFill>
                      <a:srgbClr val="D9D9D9"/>
                    </a:solidFill>
                  </a:tcPr>
                </a:tc>
                <a:tc>
                  <a:txBody>
                    <a:bodyPr/>
                    <a:lstStyle/>
                    <a:p>
                      <a:pPr algn="ctr">
                        <a:defRPr sz="900">
                          <a:latin typeface="Montserrat"/>
                        </a:defRPr>
                      </a:pPr>
                      <a:r>
                        <a:t>619</a:t>
                      </a:r>
                    </a:p>
                  </a:txBody>
                  <a:tcPr>
                    <a:solidFill>
                      <a:srgbClr val="D9D9D9"/>
                    </a:solidFill>
                  </a:tcPr>
                </a:tc>
                <a:tc>
                  <a:txBody>
                    <a:bodyPr/>
                    <a:lstStyle/>
                    <a:p>
                      <a:pPr algn="ctr">
                        <a:defRPr sz="900">
                          <a:latin typeface="Montserrat"/>
                        </a:defRPr>
                      </a:pPr>
                      <a:r>
                        <a:t>159,457</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+1.0%</a:t>
                      </a:r>
                    </a:p>
                  </a:txBody>
                  <a:tcPr>
                    <a:solidFill>
                      <a:srgbClr val="FFFFFF"/>
                    </a:solidFill>
                  </a:tcPr>
                </a:tc>
                <a:tc>
                  <a:txBody>
                    <a:bodyPr/>
                    <a:lstStyle/>
                    <a:p>
                      <a:pPr algn="ctr">
                        <a:defRPr sz="900" b="0">
                          <a:solidFill>
                            <a:srgbClr val="691C32"/>
                          </a:solidFill>
                          <a:latin typeface="Montserrat"/>
                        </a:defRPr>
                      </a:pPr>
                      <a:r>
                        <a:t>-5.0%</a:t>
                      </a:r>
                    </a:p>
                  </a:txBody>
                  <a:tcPr>
                    <a:solidFill>
                      <a:srgbClr val="FFFFFF"/>
                    </a:solidFill>
                  </a:tcPr>
                </a:tc>
                <a:tc>
                  <a:txBody>
                    <a:bodyPr/>
                    <a:lstStyle/>
                    <a:p>
                      <a:pPr algn="ctr">
                        <a:defRPr sz="900" b="0">
                          <a:solidFill>
                            <a:srgbClr val="691C32"/>
                          </a:solidFill>
                          <a:latin typeface="Montserrat"/>
                        </a:defRPr>
                      </a:pPr>
                      <a:r>
                        <a:t>-7.5%</a:t>
                      </a:r>
                    </a:p>
                  </a:txBody>
                  <a:tcPr>
                    <a:solidFill>
                      <a:srgbClr val="FFFFFF"/>
                    </a:solidFill>
                  </a:tcPr>
                </a:tc>
                <a:tc>
                  <a:txBody>
                    <a:bodyPr/>
                    <a:lstStyle/>
                    <a:p>
                      <a:pPr algn="ctr">
                        <a:defRPr sz="900" b="0">
                          <a:solidFill>
                            <a:srgbClr val="691C32"/>
                          </a:solidFill>
                          <a:latin typeface="Montserrat"/>
                        </a:defRPr>
                      </a:pPr>
                      <a:r>
                        <a:t>-23.0%</a:t>
                      </a:r>
                    </a:p>
                  </a:txBody>
                  <a:tcPr>
                    <a:solidFill>
                      <a:srgbClr val="FFFFFF"/>
                    </a:solidFill>
                  </a:tcPr>
                </a:tc>
                <a:tc>
                  <a:txBody>
                    <a:bodyPr/>
                    <a:lstStyle/>
                    <a:p>
                      <a:pPr algn="ctr">
                        <a:defRPr sz="900" b="0">
                          <a:solidFill>
                            <a:srgbClr val="691C32"/>
                          </a:solidFill>
                          <a:latin typeface="Montserrat"/>
                        </a:defRPr>
                      </a:pPr>
                      <a:r>
                        <a:t>-0.7%</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6BDB91EE-2477-F5F5-BE73-0369E6C50E2B}"/>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$552.08</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$285.91</a:t>
                      </a:r>
                    </a:p>
                  </a:txBody>
                  <a:tcPr anchor="ctr">
                    <a:solidFill>
                      <a:srgbClr val="EEEEEE"/>
                    </a:solidFill>
                  </a:tcPr>
                </a:tc>
                <a:tc>
                  <a:txBody>
                    <a:bodyPr/>
                    <a:lstStyle/>
                    <a:p>
                      <a:pPr algn="ctr">
                        <a:defRPr sz="1100" b="1">
                          <a:latin typeface="Montserrat"/>
                        </a:defRPr>
                      </a:pPr>
                      <a:r>
                        <a:t>$552.08</a:t>
                      </a:r>
                    </a:p>
                  </a:txBody>
                  <a:tcPr anchor="ctr">
                    <a:solidFill>
                      <a:srgbClr val="EEEEEE"/>
                    </a:solidFill>
                  </a:tcPr>
                </a:tc>
                <a:tc>
                  <a:txBody>
                    <a:bodyPr/>
                    <a:lstStyle/>
                    <a:p>
                      <a:pPr algn="ctr">
                        <a:defRPr sz="1100">
                          <a:latin typeface="Montserrat"/>
                        </a:defRPr>
                      </a:pPr>
                      <a:r>
                        <a:t>36.4%</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$16,562.4</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1763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a:txBody>
                    <a:bodyPr/>
                    <a:lstStyle/>
                    <a:p>
                      <a:pPr algn="ctr">
                        <a:defRPr sz="900">
                          <a:latin typeface="Montserrat"/>
                        </a:defRPr>
                      </a:pPr>
                      <a:r>
                        <a:t>Principal deudor público</a:t>
                      </a:r>
                    </a:p>
                  </a:txBody>
                  <a:tcPr>
                    <a:solidFill>
                      <a:srgbClr val="FFFFFF"/>
                    </a:solidFill>
                  </a:tcPr>
                </a:tc>
                <a:tc>
                  <a:txBody>
                    <a:bodyPr/>
                    <a:lstStyle/>
                    <a:p>
                      <a:pPr algn="ctr">
                        <a:defRPr sz="900">
                          <a:latin typeface="Montserrat"/>
                        </a:defRPr>
                      </a:pPr>
                      <a:r>
                        <a:t>Comisión de Agua Potable y Alcantarillado de Chilpancingo</a:t>
                      </a:r>
                    </a:p>
                  </a:txBody>
                  <a:tcPr>
                    <a:solidFill>
                      <a:srgbClr val="FFFFFF"/>
                    </a:solidFill>
                  </a:tcPr>
                </a:tc>
                <a:tc>
                  <a:txBody>
                    <a:bodyPr/>
                    <a:lstStyle/>
                    <a:p>
                      <a:pPr algn="ctr">
                        <a:defRPr sz="900">
                          <a:latin typeface="Montserrat"/>
                        </a:defRPr>
                      </a:pPr>
                      <a:r>
                        <a:t>$4.91</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Industrias de Hielo de Acapulco SA de CV</a:t>
                      </a:r>
                    </a:p>
                  </a:txBody>
                  <a:tcPr>
                    <a:solidFill>
                      <a:srgbClr val="EEEEEE"/>
                    </a:solidFill>
                  </a:tcPr>
                </a:tc>
                <a:tc>
                  <a:txBody>
                    <a:bodyPr/>
                    <a:lstStyle/>
                    <a:p>
                      <a:pPr algn="ctr">
                        <a:defRPr sz="900">
                          <a:latin typeface="Montserrat"/>
                        </a:defRPr>
                      </a:pPr>
                      <a:r>
                        <a:t>$7.33</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Importaciones del Centro de Campeche SAS de CV</a:t>
                      </a:r>
                    </a:p>
                  </a:txBody>
                  <a:tcPr>
                    <a:solidFill>
                      <a:srgbClr val="FFFFFF"/>
                    </a:solidFill>
                  </a:tcPr>
                </a:tc>
                <a:tc>
                  <a:txBody>
                    <a:bodyPr/>
                    <a:lstStyle/>
                    <a:p>
                      <a:pPr algn="ctr">
                        <a:defRPr sz="900">
                          <a:latin typeface="Montserrat"/>
                        </a:defRPr>
                      </a:pPr>
                      <a:r>
                        <a:t>$3.76</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Grupo Dacanter Soluciones SA de CV</a:t>
                      </a:r>
                    </a:p>
                  </a:txBody>
                  <a:tcPr>
                    <a:solidFill>
                      <a:srgbClr val="EEEEEE"/>
                    </a:solidFill>
                  </a:tcPr>
                </a:tc>
                <a:tc>
                  <a:txBody>
                    <a:bodyPr/>
                    <a:lstStyle/>
                    <a:p>
                      <a:pPr algn="ctr">
                        <a:defRPr sz="900">
                          <a:latin typeface="Montserrat"/>
                        </a:defRPr>
                      </a:pPr>
                      <a:r>
                        <a:t>$3.10</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GUERRERO PROGRAMA IMSS-COPLAMAR</a:t>
            </a:r>
          </a:p>
        </p:txBody>
      </p:sp>
      <p:sp>
        <p:nvSpPr>
          <p:cNvPr id="531" name="TextBox 530"/>
          <p:cNvSpPr txBox="1"/>
          <p:nvPr/>
        </p:nvSpPr>
        <p:spPr>
          <a:xfrm>
            <a:off x="309600" y="51192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sp>
        <p:nvSpPr>
          <p:cNvPr id="532" name="TextBox 531"/>
          <p:cNvSpPr txBox="1"/>
          <p:nvPr/>
        </p:nvSpPr>
        <p:spPr>
          <a:xfrm>
            <a:off x="309600" y="91908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243584"/>
        </p:xfrm>
        <a:graphic>
          <a:graphicData uri="http://schemas.openxmlformats.org/drawingml/2006/table">
            <a:tbl>
              <a:tblPr firstRow="1" bandRow="1">
                <a:tableStyleId>{5C22544A-7EE6-4342-B048-85BDC9FD1C3A}</a:tableStyleId>
              </a:tblPr>
              <a:tblGrid>
                <a:gridCol w="2551176"/>
                <a:gridCol w="1024128"/>
              </a:tblGrid>
              <a:tr h="177654">
                <a:tc>
                  <a:txBody>
                    <a:bodyPr/>
                    <a:lstStyle/>
                    <a:p>
                      <a:pPr algn="ctr">
                        <a:defRPr b="1" sz="1100">
                          <a:solidFill>
                            <a:srgbClr val="FFFFFF"/>
                          </a:solidFill>
                          <a:latin typeface="Montserrat"/>
                        </a:defRPr>
                      </a:pPr>
                      <a:r>
                        <a:t>Unidades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177654">
                <a:tc>
                  <a:txBody>
                    <a:bodyPr/>
                    <a:lstStyle/>
                    <a:p>
                      <a:pPr algn="l">
                        <a:defRPr b="0" sz="1100">
                          <a:solidFill>
                            <a:srgbClr val="000000"/>
                          </a:solidFill>
                          <a:latin typeface="Montserrat"/>
                        </a:defRPr>
                      </a:pPr>
                      <a:r>
                        <a:t>Hospital Rural</a:t>
                      </a:r>
                    </a:p>
                  </a:txBody>
                  <a:tcPr anchor="ctr" marL="73152" marR="73152" marT="0" marB="0">
                    <a:solidFill>
                      <a:srgbClr val="FFFFFF"/>
                    </a:solidFill>
                  </a:tcPr>
                </a:tc>
                <a:tc>
                  <a:txBody>
                    <a:bodyPr/>
                    <a:lstStyle/>
                    <a:p>
                      <a:pPr algn="ctr">
                        <a:defRPr b="1" sz="1000">
                          <a:solidFill>
                            <a:srgbClr val="006455"/>
                          </a:solidFill>
                          <a:latin typeface="Montserrat"/>
                        </a:defRPr>
                      </a:pPr>
                      <a:r>
                        <a:t>1</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Rural</a:t>
                      </a:r>
                    </a:p>
                  </a:txBody>
                  <a:tcPr anchor="ctr" marL="73152" marR="73152" marT="0" marB="0">
                    <a:solidFill>
                      <a:srgbClr val="EFEFEF"/>
                    </a:solidFill>
                  </a:tcPr>
                </a:tc>
                <a:tc>
                  <a:txBody>
                    <a:bodyPr/>
                    <a:lstStyle/>
                    <a:p>
                      <a:pPr algn="ctr">
                        <a:defRPr b="1" sz="1000">
                          <a:solidFill>
                            <a:srgbClr val="006455"/>
                          </a:solidFill>
                          <a:latin typeface="Montserrat"/>
                        </a:defRPr>
                      </a:pPr>
                      <a:r>
                        <a:t>19</a:t>
                      </a:r>
                    </a:p>
                  </a:txBody>
                  <a:tcPr anchor="ctr" marL="73152" marR="73152" marT="0" marB="0">
                    <a:solidFill>
                      <a:srgbClr val="D3E9E7"/>
                    </a:solidFill>
                  </a:tcPr>
                </a:tc>
              </a:tr>
              <a:tr h="177654">
                <a:tc>
                  <a:txBody>
                    <a:bodyPr/>
                    <a:lstStyle/>
                    <a:p>
                      <a:pPr algn="l">
                        <a:defRPr b="0" sz="1100">
                          <a:solidFill>
                            <a:srgbClr val="000000"/>
                          </a:solidFill>
                          <a:latin typeface="Montserrat"/>
                        </a:defRPr>
                      </a:pPr>
                      <a:r>
                        <a:t>Brigada Salud</a:t>
                      </a:r>
                    </a:p>
                  </a:txBody>
                  <a:tcPr anchor="ctr" marL="73152" marR="73152" marT="0" marB="0">
                    <a:solidFill>
                      <a:srgbClr val="FFFFF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Móvil</a:t>
                      </a:r>
                    </a:p>
                  </a:txBody>
                  <a:tcPr anchor="ctr" marL="73152" marR="73152" marT="0" marB="0">
                    <a:solidFill>
                      <a:srgbClr val="EFEFEF"/>
                    </a:solidFill>
                  </a:tcPr>
                </a:tc>
                <a:tc>
                  <a:txBody>
                    <a:bodyPr/>
                    <a:lstStyle/>
                    <a:p>
                      <a:pPr algn="ctr">
                        <a:defRPr b="1" sz="1000">
                          <a:solidFill>
                            <a:srgbClr val="006455"/>
                          </a:solidFill>
                          <a:latin typeface="Montserrat"/>
                        </a:defRPr>
                      </a:pPr>
                      <a:r>
                        <a:t>26</a:t>
                      </a:r>
                    </a:p>
                  </a:txBody>
                  <a:tcPr anchor="ctr" marL="73152" marR="73152" marT="0" marB="0">
                    <a:solidFill>
                      <a:srgbClr val="D3E9E7"/>
                    </a:solidFill>
                  </a:tcPr>
                </a:tc>
              </a:tr>
              <a:tr h="177654">
                <a:tc>
                  <a:txBody>
                    <a:bodyPr/>
                    <a:lstStyle/>
                    <a:p>
                      <a:pPr algn="l">
                        <a:defRPr b="0" sz="1100">
                          <a:solidFill>
                            <a:srgbClr val="000000"/>
                          </a:solidFill>
                          <a:latin typeface="Montserrat"/>
                        </a:defRPr>
                      </a:pPr>
                      <a:r>
                        <a:t>Centros de Atención Rural Obstétrica</a:t>
                      </a:r>
                    </a:p>
                  </a:txBody>
                  <a:tcPr anchor="ctr" marL="73152" marR="73152" marT="0" marB="0">
                    <a:solidFill>
                      <a:srgbClr val="FFFFFF"/>
                    </a:solidFill>
                  </a:tcPr>
                </a:tc>
                <a:tc>
                  <a:txBody>
                    <a:bodyPr/>
                    <a:lstStyle/>
                    <a:p>
                      <a:pPr algn="ctr">
                        <a:defRPr b="1" sz="1000">
                          <a:solidFill>
                            <a:srgbClr val="006455"/>
                          </a:solidFill>
                          <a:latin typeface="Montserrat"/>
                        </a:defRPr>
                      </a:pPr>
                      <a:r>
                        <a:t>3</a:t>
                      </a:r>
                    </a:p>
                  </a:txBody>
                  <a:tcPr anchor="ctr" marL="73152" marR="73152" marT="0" marB="0">
                    <a:solidFill>
                      <a:srgbClr val="D3E9E7"/>
                    </a:solidFill>
                  </a:tcPr>
                </a:tc>
              </a:tr>
              <a:tr h="177660">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49</a:t>
                      </a:r>
                    </a:p>
                  </a:txBody>
                  <a:tcPr anchor="ctr" marL="73152" marR="73152" marT="0" marB="0">
                    <a:solidFill>
                      <a:srgbClr val="D3E9E7"/>
                    </a:solidFill>
                  </a:tcPr>
                </a:tc>
              </a:tr>
            </a:tbl>
          </a:graphicData>
        </a:graphic>
      </p:graphicFrame>
      <p:graphicFrame>
        <p:nvGraphicFramePr>
          <p:cNvPr id="534" name="Table 533"/>
          <p:cNvGraphicFramePr>
            <a:graphicFrameLocks noGrp="1"/>
          </p:cNvGraphicFramePr>
          <p:nvPr/>
        </p:nvGraphicFramePr>
        <p:xfrm>
          <a:off x="310896" y="3209544"/>
          <a:ext cx="4965192" cy="1691640"/>
        </p:xfrm>
        <a:graphic>
          <a:graphicData uri="http://schemas.openxmlformats.org/drawingml/2006/table">
            <a:tbl>
              <a:tblPr firstRow="1" bandRow="1">
                <a:tableStyleId>{5C22544A-7EE6-4342-B048-85BDC9FD1C3A}</a:tableStyleId>
              </a:tblPr>
              <a:tblGrid>
                <a:gridCol w="1655064"/>
                <a:gridCol w="1655064"/>
                <a:gridCol w="1655064"/>
              </a:tblGrid>
              <a:tr h="187960">
                <a:tc>
                  <a:txBody>
                    <a:bodyPr/>
                    <a:lstStyle/>
                    <a:p>
                      <a:pPr algn="ctr">
                        <a:defRPr b="1" sz="1100">
                          <a:solidFill>
                            <a:srgbClr val="FFFFFF"/>
                          </a:solidFill>
                          <a:latin typeface="Montserrat"/>
                        </a:defRPr>
                      </a:pPr>
                      <a:r>
                        <a:t>Concepto</a:t>
                      </a:r>
                    </a:p>
                  </a:txBody>
                  <a:tcPr marL="36576" marR="36576" marT="36576" marB="36576">
                    <a:solidFill>
                      <a:srgbClr val="006455"/>
                    </a:solidFill>
                  </a:tcPr>
                </a:tc>
                <a:tc>
                  <a:txBody>
                    <a:bodyPr/>
                    <a:lstStyle/>
                    <a:p>
                      <a:pPr algn="ctr">
                        <a:defRPr b="1" sz="1100">
                          <a:solidFill>
                            <a:srgbClr val="FFFFFF"/>
                          </a:solidFill>
                          <a:latin typeface="Montserrat"/>
                        </a:defRPr>
                      </a:pPr>
                      <a:r>
                        <a:t>Productividad</a:t>
                      </a:r>
                    </a:p>
                  </a:txBody>
                  <a:tcPr marL="36576" marR="36576" marT="36576" marB="36576">
                    <a:solidFill>
                      <a:srgbClr val="006455"/>
                    </a:solidFill>
                  </a:tcPr>
                </a:tc>
                <a:tc>
                  <a:txBody>
                    <a:bodyPr/>
                    <a:lstStyle/>
                    <a:p>
                      <a:pPr algn="ctr">
                        <a:defRPr b="1" sz="1100">
                          <a:solidFill>
                            <a:srgbClr val="FFFFFF"/>
                          </a:solidFill>
                          <a:latin typeface="Montserrat"/>
                        </a:defRPr>
                      </a:pPr>
                      <a:r>
                        <a:t>Día Típico</a:t>
                      </a:r>
                    </a:p>
                  </a:txBody>
                  <a:tcPr marL="36576" marR="36576" marT="36576" marB="36576">
                    <a:solidFill>
                      <a:srgbClr val="006455"/>
                    </a:solidFill>
                  </a:tcPr>
                </a:tc>
              </a:tr>
              <a:tr h="187960">
                <a:tc>
                  <a:txBody>
                    <a:bodyPr/>
                    <a:lstStyle/>
                    <a:p>
                      <a:pPr algn="l">
                        <a:defRPr b="1" sz="1100">
                          <a:solidFill>
                            <a:srgbClr val="006455"/>
                          </a:solidFill>
                          <a:latin typeface="Montserrat"/>
                        </a:defRPr>
                      </a:pPr>
                      <a:r>
                        <a:t>Total consultas</a:t>
                      </a:r>
                    </a:p>
                  </a:txBody>
                  <a:tcPr anchor="ctr" marL="73152" marR="73152" marT="0" marB="0">
                    <a:solidFill>
                      <a:srgbClr val="D3E9E7"/>
                    </a:solidFill>
                  </a:tcPr>
                </a:tc>
                <a:tc>
                  <a:txBody>
                    <a:bodyPr/>
                    <a:lstStyle/>
                    <a:p>
                      <a:pPr algn="ctr">
                        <a:defRPr b="1" sz="1000">
                          <a:solidFill>
                            <a:srgbClr val="006455"/>
                          </a:solidFill>
                          <a:latin typeface="Montserrat"/>
                        </a:defRPr>
                      </a:pPr>
                      <a:r>
                        <a:t>74,457</a:t>
                      </a:r>
                    </a:p>
                  </a:txBody>
                  <a:tcPr anchor="ctr" marL="73152" marR="73152" marT="0" marB="0">
                    <a:solidFill>
                      <a:srgbClr val="D3E9E7"/>
                    </a:solidFill>
                  </a:tcPr>
                </a:tc>
                <a:tc>
                  <a:txBody>
                    <a:bodyPr/>
                    <a:lstStyle/>
                    <a:p>
                      <a:pPr algn="ctr">
                        <a:defRPr b="1" sz="1000">
                          <a:solidFill>
                            <a:srgbClr val="006455"/>
                          </a:solidFill>
                          <a:latin typeface="Montserrat"/>
                        </a:defRPr>
                      </a:pPr>
                      <a:r>
                        <a:t>281</a:t>
                      </a:r>
                    </a:p>
                  </a:txBody>
                  <a:tcPr anchor="ctr" marL="73152" marR="73152" marT="0" marB="0">
                    <a:solidFill>
                      <a:srgbClr val="D3E9E7"/>
                    </a:solidFill>
                  </a:tcPr>
                </a:tc>
              </a:tr>
              <a:tr h="187960">
                <a:tc>
                  <a:txBody>
                    <a:bodyPr/>
                    <a:lstStyle/>
                    <a:p>
                      <a:pPr algn="ctr">
                        <a:defRPr b="0" sz="1100">
                          <a:solidFill>
                            <a:srgbClr val="000000"/>
                          </a:solidFill>
                          <a:latin typeface="Montserrat"/>
                        </a:defRPr>
                      </a:pPr>
                      <a:r>
                        <a:t>Familiar</a:t>
                      </a:r>
                    </a:p>
                  </a:txBody>
                  <a:tcPr anchor="ctr" marL="73152" marR="73152" marT="0" marB="0">
                    <a:solidFill>
                      <a:srgbClr val="FFFFFF"/>
                    </a:solidFill>
                  </a:tcPr>
                </a:tc>
                <a:tc>
                  <a:txBody>
                    <a:bodyPr/>
                    <a:lstStyle/>
                    <a:p>
                      <a:pPr algn="ctr">
                        <a:defRPr b="0" sz="1000">
                          <a:solidFill>
                            <a:srgbClr val="000000"/>
                          </a:solidFill>
                          <a:latin typeface="Montserrat"/>
                        </a:defRPr>
                      </a:pPr>
                      <a:r>
                        <a:t>65,454</a:t>
                      </a:r>
                    </a:p>
                  </a:txBody>
                  <a:tcPr anchor="ctr" marL="73152" marR="73152" marT="0" marB="0">
                    <a:solidFill>
                      <a:srgbClr val="FFFFFF"/>
                    </a:solidFill>
                  </a:tcPr>
                </a:tc>
                <a:tc>
                  <a:txBody>
                    <a:bodyPr/>
                    <a:lstStyle/>
                    <a:p>
                      <a:pPr algn="ctr">
                        <a:defRPr b="0" sz="1000">
                          <a:solidFill>
                            <a:srgbClr val="000000"/>
                          </a:solidFill>
                          <a:latin typeface="Montserrat"/>
                        </a:defRPr>
                      </a:pPr>
                      <a:r>
                        <a:t>251</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Estomatología</a:t>
                      </a:r>
                    </a:p>
                  </a:txBody>
                  <a:tcPr anchor="ctr" marL="73152" marR="73152" marT="0" marB="0">
                    <a:solidFill>
                      <a:srgbClr val="EFEFEF"/>
                    </a:solidFill>
                  </a:tcPr>
                </a:tc>
                <a:tc>
                  <a:txBody>
                    <a:bodyPr/>
                    <a:lstStyle/>
                    <a:p>
                      <a:pPr algn="ctr">
                        <a:defRPr b="0" sz="1000">
                          <a:solidFill>
                            <a:srgbClr val="000000"/>
                          </a:solidFill>
                          <a:latin typeface="Montserrat"/>
                        </a:defRPr>
                      </a:pPr>
                      <a:r>
                        <a:t>1,116</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r>
              <a:tr h="187960">
                <a:tc>
                  <a:txBody>
                    <a:bodyPr/>
                    <a:lstStyle/>
                    <a:p>
                      <a:pPr algn="ctr">
                        <a:defRPr b="0" sz="1100">
                          <a:solidFill>
                            <a:srgbClr val="000000"/>
                          </a:solidFill>
                          <a:latin typeface="Montserrat"/>
                        </a:defRPr>
                      </a:pPr>
                      <a:r>
                        <a:t>Urgencias</a:t>
                      </a:r>
                    </a:p>
                  </a:txBody>
                  <a:tcPr anchor="ctr" marL="73152" marR="73152" marT="0" marB="0">
                    <a:solidFill>
                      <a:srgbClr val="FFFFFF"/>
                    </a:solidFill>
                  </a:tcPr>
                </a:tc>
                <a:tc>
                  <a:txBody>
                    <a:bodyPr/>
                    <a:lstStyle/>
                    <a:p>
                      <a:pPr algn="ctr">
                        <a:defRPr b="0" sz="1000">
                          <a:solidFill>
                            <a:srgbClr val="000000"/>
                          </a:solidFill>
                          <a:latin typeface="Montserrat"/>
                        </a:defRPr>
                      </a:pPr>
                      <a:r>
                        <a:t>3,748</a:t>
                      </a:r>
                    </a:p>
                  </a:txBody>
                  <a:tcPr anchor="ctr" marL="73152" marR="73152" marT="0" marB="0">
                    <a:solidFill>
                      <a:srgbClr val="FFFFFF"/>
                    </a:solidFill>
                  </a:tcPr>
                </a:tc>
                <a:tc>
                  <a:txBody>
                    <a:bodyPr/>
                    <a:lstStyle/>
                    <a:p>
                      <a:pPr algn="ctr">
                        <a:defRPr b="0" sz="1000">
                          <a:solidFill>
                            <a:srgbClr val="000000"/>
                          </a:solidFill>
                          <a:latin typeface="Montserrat"/>
                        </a:defRPr>
                      </a:pPr>
                      <a:r>
                        <a:t>10</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Especialidades</a:t>
                      </a:r>
                    </a:p>
                  </a:txBody>
                  <a:tcPr anchor="ctr" marL="73152" marR="73152" marT="0" marB="0">
                    <a:solidFill>
                      <a:srgbClr val="EFEFEF"/>
                    </a:solidFill>
                  </a:tcPr>
                </a:tc>
                <a:tc>
                  <a:txBody>
                    <a:bodyPr/>
                    <a:lstStyle/>
                    <a:p>
                      <a:pPr algn="ctr">
                        <a:defRPr b="0" sz="1000">
                          <a:solidFill>
                            <a:srgbClr val="000000"/>
                          </a:solidFill>
                          <a:latin typeface="Montserrat"/>
                        </a:defRPr>
                      </a:pPr>
                      <a:r>
                        <a:t>4,139</a:t>
                      </a:r>
                    </a:p>
                  </a:txBody>
                  <a:tcPr anchor="ctr" marL="73152" marR="73152" marT="0" marB="0">
                    <a:solidFill>
                      <a:srgbClr val="EFEFEF"/>
                    </a:solidFill>
                  </a:tcPr>
                </a:tc>
                <a:tc>
                  <a:txBody>
                    <a:bodyPr/>
                    <a:lstStyle/>
                    <a:p>
                      <a:pPr algn="ctr">
                        <a:defRPr b="0" sz="1000">
                          <a:solidFill>
                            <a:srgbClr val="000000"/>
                          </a:solidFill>
                          <a:latin typeface="Montserrat"/>
                        </a:defRPr>
                      </a:pPr>
                      <a:r>
                        <a:t>16</a:t>
                      </a:r>
                    </a:p>
                  </a:txBody>
                  <a:tcPr anchor="ctr" marL="73152" marR="73152" marT="0" marB="0">
                    <a:solidFill>
                      <a:srgbClr val="EFEFEF"/>
                    </a:solidFill>
                  </a:tcPr>
                </a:tc>
              </a:tr>
              <a:tr h="187960">
                <a:tc>
                  <a:txBody>
                    <a:bodyPr/>
                    <a:lstStyle/>
                    <a:p>
                      <a:pPr algn="l">
                        <a:defRPr b="1" sz="1100">
                          <a:solidFill>
                            <a:srgbClr val="000000"/>
                          </a:solidFill>
                          <a:latin typeface="Montserrat"/>
                        </a:defRPr>
                      </a:pPr>
                      <a:r>
                        <a:t>Cirugías</a:t>
                      </a:r>
                    </a:p>
                  </a:txBody>
                  <a:tcPr anchor="ctr" marL="73152" marR="73152" marT="0" marB="0">
                    <a:solidFill>
                      <a:srgbClr val="FFFFFF"/>
                    </a:solidFill>
                  </a:tcPr>
                </a:tc>
                <a:tc>
                  <a:txBody>
                    <a:bodyPr/>
                    <a:lstStyle/>
                    <a:p>
                      <a:pPr algn="ctr">
                        <a:defRPr b="0" sz="1000">
                          <a:solidFill>
                            <a:srgbClr val="000000"/>
                          </a:solidFill>
                          <a:latin typeface="Montserrat"/>
                        </a:defRPr>
                      </a:pPr>
                      <a:r>
                        <a:t>351</a:t>
                      </a:r>
                    </a:p>
                  </a:txBody>
                  <a:tcPr anchor="ctr" marL="73152" marR="73152" marT="0" marB="0">
                    <a:solidFill>
                      <a:srgbClr val="FFFFFF"/>
                    </a:solidFill>
                  </a:tcPr>
                </a:tc>
                <a:tc>
                  <a:txBody>
                    <a:bodyPr/>
                    <a:lstStyle/>
                    <a:p>
                      <a:pPr algn="ctr">
                        <a:defRPr b="0" sz="1000">
                          <a:solidFill>
                            <a:srgbClr val="000000"/>
                          </a:solidFill>
                          <a:latin typeface="Montserrat"/>
                        </a:defRPr>
                      </a:pPr>
                      <a:r>
                        <a:t>1</a:t>
                      </a:r>
                    </a:p>
                  </a:txBody>
                  <a:tcPr anchor="ctr" marL="73152" marR="73152" marT="0" marB="0">
                    <a:solidFill>
                      <a:srgbClr val="FFFFFF"/>
                    </a:solidFill>
                  </a:tcPr>
                </a:tc>
              </a:tr>
              <a:tr h="187960">
                <a:tc>
                  <a:txBody>
                    <a:bodyPr/>
                    <a:lstStyle/>
                    <a:p>
                      <a:pPr algn="l">
                        <a:defRPr b="1" sz="1100">
                          <a:solidFill>
                            <a:srgbClr val="000000"/>
                          </a:solidFill>
                          <a:latin typeface="Montserrat"/>
                        </a:defRPr>
                      </a:pPr>
                      <a:r>
                        <a:t>Partos</a:t>
                      </a:r>
                    </a:p>
                  </a:txBody>
                  <a:tcPr anchor="ctr" marL="73152" marR="73152" marT="0" marB="0">
                    <a:solidFill>
                      <a:srgbClr val="EFEFEF"/>
                    </a:solidFill>
                  </a:tcPr>
                </a:tc>
                <a:tc>
                  <a:txBody>
                    <a:bodyPr/>
                    <a:lstStyle/>
                    <a:p>
                      <a:pPr algn="ctr">
                        <a:defRPr b="0" sz="1000">
                          <a:solidFill>
                            <a:srgbClr val="000000"/>
                          </a:solidFill>
                          <a:latin typeface="Montserrat"/>
                        </a:defRPr>
                      </a:pPr>
                      <a:r>
                        <a:t>220</a:t>
                      </a:r>
                    </a:p>
                  </a:txBody>
                  <a:tcPr anchor="ctr" marL="73152" marR="73152" marT="0" marB="0">
                    <a:solidFill>
                      <a:srgbClr val="EFEFEF"/>
                    </a:solidFill>
                  </a:tcPr>
                </a:tc>
                <a:tc>
                  <a:txBody>
                    <a:bodyPr/>
                    <a:lstStyle/>
                    <a:p>
                      <a:pPr algn="ctr">
                        <a:defRPr b="0" sz="1000">
                          <a:solidFill>
                            <a:srgbClr val="000000"/>
                          </a:solidFill>
                          <a:latin typeface="Montserrat"/>
                        </a:defRPr>
                      </a:pPr>
                      <a:r>
                        <a:t>1</a:t>
                      </a:r>
                    </a:p>
                  </a:txBody>
                  <a:tcPr anchor="ctr" marL="73152" marR="73152" marT="0" marB="0">
                    <a:solidFill>
                      <a:srgbClr val="EFEFEF"/>
                    </a:solidFill>
                  </a:tcPr>
                </a:tc>
              </a:tr>
              <a:tr h="187960">
                <a:tc>
                  <a:txBody>
                    <a:bodyPr/>
                    <a:lstStyle/>
                    <a:p>
                      <a:pPr algn="l">
                        <a:defRPr b="1" sz="1100">
                          <a:solidFill>
                            <a:srgbClr val="000000"/>
                          </a:solidFill>
                          <a:latin typeface="Montserrat"/>
                        </a:defRPr>
                      </a:pPr>
                      <a:r>
                        <a:t>Egresos Hosp.</a:t>
                      </a:r>
                    </a:p>
                  </a:txBody>
                  <a:tcPr anchor="ctr" marL="73152" marR="73152" marT="0" marB="0">
                    <a:solidFill>
                      <a:srgbClr val="FFFFFF"/>
                    </a:solidFill>
                  </a:tcPr>
                </a:tc>
                <a:tc>
                  <a:txBody>
                    <a:bodyPr/>
                    <a:lstStyle/>
                    <a:p>
                      <a:pPr algn="ctr">
                        <a:defRPr b="0" sz="1000">
                          <a:solidFill>
                            <a:srgbClr val="000000"/>
                          </a:solidFill>
                          <a:latin typeface="Montserrat"/>
                        </a:defRPr>
                      </a:pPr>
                      <a:r>
                        <a:t>547</a:t>
                      </a:r>
                    </a:p>
                  </a:txBody>
                  <a:tcPr anchor="ctr" marL="73152" marR="73152" marT="0" marB="0">
                    <a:solidFill>
                      <a:srgbClr val="FFFFFF"/>
                    </a:solidFill>
                  </a:tcPr>
                </a:tc>
                <a:tc>
                  <a:txBody>
                    <a:bodyPr/>
                    <a:lstStyle/>
                    <a:p>
                      <a:pPr algn="ctr">
                        <a:defRPr b="0" sz="1000">
                          <a:solidFill>
                            <a:srgbClr val="000000"/>
                          </a:solidFill>
                          <a:latin typeface="Montserrat"/>
                        </a:defRPr>
                      </a:pPr>
                      <a:r>
                        <a:t>1</a:t>
                      </a:r>
                    </a:p>
                  </a:txBody>
                  <a:tcPr anchor="ctr" marL="73152" marR="73152" marT="0" marB="0">
                    <a:solidFill>
                      <a:srgbClr val="FFFFFF"/>
                    </a:solidFill>
                  </a:tcPr>
                </a:tc>
              </a:tr>
            </a:tbl>
          </a:graphicData>
        </a:graphic>
      </p:graphicFrame>
      <p:graphicFrame>
        <p:nvGraphicFramePr>
          <p:cNvPr id="535" name="Table 534"/>
          <p:cNvGraphicFramePr>
            <a:graphicFrameLocks noGrp="1"/>
          </p:cNvGraphicFramePr>
          <p:nvPr/>
        </p:nvGraphicFramePr>
        <p:xfrm>
          <a:off x="310896" y="5815584"/>
          <a:ext cx="7022592" cy="1609344"/>
        </p:xfrm>
        <a:graphic>
          <a:graphicData uri="http://schemas.openxmlformats.org/drawingml/2006/table">
            <a:tbl>
              <a:tblPr firstRow="1" bandRow="1">
                <a:tableStyleId>{5C22544A-7EE6-4342-B048-85BDC9FD1C3A}</a:tableStyleId>
              </a:tblPr>
              <a:tblGrid>
                <a:gridCol w="1664208"/>
                <a:gridCol w="923544"/>
                <a:gridCol w="1179576"/>
                <a:gridCol w="1179576"/>
                <a:gridCol w="1179576"/>
                <a:gridCol w="896112"/>
              </a:tblGrid>
              <a:tr h="201168">
                <a:tc>
                  <a:txBody>
                    <a:bodyPr/>
                    <a:lstStyle/>
                    <a:p>
                      <a:pPr algn="ctr">
                        <a:defRPr b="1" sz="1100">
                          <a:solidFill>
                            <a:srgbClr val="FFFFFF"/>
                          </a:solidFill>
                          <a:latin typeface="Montserrat"/>
                        </a:defRPr>
                      </a:pPr>
                      <a:r>
                        <a:t>Disciplina</a:t>
                      </a:r>
                    </a:p>
                  </a:txBody>
                  <a:tcPr marL="36576" marR="36576" marT="36576" marB="36576">
                    <a:solidFill>
                      <a:srgbClr val="006455"/>
                    </a:solidFill>
                  </a:tcPr>
                </a:tc>
                <a:tc>
                  <a:txBody>
                    <a:bodyPr/>
                    <a:lstStyle/>
                    <a:p>
                      <a:pPr algn="ctr">
                        <a:defRPr b="1" sz="1100">
                          <a:solidFill>
                            <a:srgbClr val="FFFFFF"/>
                          </a:solidFill>
                          <a:latin typeface="Montserrat"/>
                        </a:defRPr>
                      </a:pPr>
                      <a:r>
                        <a:t>Base</a:t>
                      </a:r>
                    </a:p>
                  </a:txBody>
                  <a:tcPr marL="36576" marR="36576" marT="36576" marB="36576">
                    <a:solidFill>
                      <a:srgbClr val="006455"/>
                    </a:solidFill>
                  </a:tcPr>
                </a:tc>
                <a:tc>
                  <a:txBody>
                    <a:bodyPr/>
                    <a:lstStyle/>
                    <a:p>
                      <a:pPr algn="ctr">
                        <a:defRPr b="1" sz="1100">
                          <a:solidFill>
                            <a:srgbClr val="FFFFFF"/>
                          </a:solidFill>
                          <a:latin typeface="Montserrat"/>
                        </a:defRPr>
                      </a:pPr>
                      <a:r>
                        <a:t>Confianza</a:t>
                      </a:r>
                    </a:p>
                  </a:txBody>
                  <a:tcPr marL="36576" marR="36576" marT="36576" marB="36576">
                    <a:solidFill>
                      <a:srgbClr val="006455"/>
                    </a:solidFill>
                  </a:tcPr>
                </a:tc>
                <a:tc>
                  <a:txBody>
                    <a:bodyPr/>
                    <a:lstStyle/>
                    <a:p>
                      <a:pPr algn="ctr">
                        <a:defRPr b="1" sz="1100">
                          <a:solidFill>
                            <a:srgbClr val="FFFFFF"/>
                          </a:solidFill>
                          <a:latin typeface="Montserrat"/>
                        </a:defRPr>
                      </a:pPr>
                      <a:r>
                        <a:t>Estatuto A</a:t>
                      </a:r>
                    </a:p>
                  </a:txBody>
                  <a:tcPr marL="36576" marR="36576" marT="36576" marB="36576">
                    <a:solidFill>
                      <a:srgbClr val="006455"/>
                    </a:solidFill>
                  </a:tcPr>
                </a:tc>
                <a:tc>
                  <a:txBody>
                    <a:bodyPr/>
                    <a:lstStyle/>
                    <a:p>
                      <a:pPr algn="ctr">
                        <a:defRPr b="1" sz="1100">
                          <a:solidFill>
                            <a:srgbClr val="FFFFFF"/>
                          </a:solidFill>
                          <a:latin typeface="Montserrat"/>
                        </a:defRPr>
                      </a:pPr>
                      <a:r>
                        <a:t>Sustitutos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1168">
                <a:tc>
                  <a:txBody>
                    <a:bodyPr/>
                    <a:lstStyle/>
                    <a:p>
                      <a:pPr algn="l">
                        <a:defRPr b="0" sz="1100">
                          <a:solidFill>
                            <a:srgbClr val="000000"/>
                          </a:solidFill>
                          <a:latin typeface="Montserrat"/>
                        </a:defRPr>
                      </a:pPr>
                      <a:r>
                        <a:t>Médicos</a:t>
                      </a:r>
                    </a:p>
                  </a:txBody>
                  <a:tcPr anchor="ctr" marL="73152" marR="73152" marT="0" marB="0">
                    <a:solidFill>
                      <a:srgbClr val="FFFFFF"/>
                    </a:solidFill>
                  </a:tcPr>
                </a:tc>
                <a:tc>
                  <a:txBody>
                    <a:bodyPr/>
                    <a:lstStyle/>
                    <a:p>
                      <a:pPr algn="ctr">
                        <a:defRPr b="0" sz="1000">
                          <a:solidFill>
                            <a:srgbClr val="000000"/>
                          </a:solidFill>
                          <a:latin typeface="Montserrat"/>
                        </a:defRPr>
                      </a:pPr>
                      <a:r>
                        <a:t>36</a:t>
                      </a:r>
                    </a:p>
                  </a:txBody>
                  <a:tcPr anchor="ctr" marL="73152" marR="73152" marT="0" marB="0">
                    <a:solidFill>
                      <a:srgbClr val="FFFFFF"/>
                    </a:solidFill>
                  </a:tcPr>
                </a:tc>
                <a:tc>
                  <a:txBody>
                    <a:bodyPr/>
                    <a:lstStyle/>
                    <a:p>
                      <a:pPr algn="ctr">
                        <a:defRPr b="0" sz="1000">
                          <a:solidFill>
                            <a:srgbClr val="000000"/>
                          </a:solidFill>
                          <a:latin typeface="Montserrat"/>
                        </a:defRPr>
                      </a:pPr>
                      <a:r>
                        <a:t>0</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1" sz="1000">
                          <a:solidFill>
                            <a:srgbClr val="006455"/>
                          </a:solidFill>
                          <a:latin typeface="Montserrat"/>
                        </a:defRPr>
                      </a:pPr>
                      <a:r>
                        <a:t>44</a:t>
                      </a:r>
                    </a:p>
                  </a:txBody>
                  <a:tcPr anchor="ctr" marL="73152" marR="73152" marT="0" marB="0">
                    <a:solidFill>
                      <a:srgbClr val="D3E9E7"/>
                    </a:solidFill>
                  </a:tcPr>
                </a:tc>
              </a:tr>
              <a:tr h="201168">
                <a:tc>
                  <a:txBody>
                    <a:bodyPr/>
                    <a:lstStyle/>
                    <a:p>
                      <a:pPr algn="l">
                        <a:defRPr b="0" sz="1100">
                          <a:solidFill>
                            <a:srgbClr val="000000"/>
                          </a:solidFill>
                          <a:latin typeface="Montserrat"/>
                        </a:defRPr>
                      </a:pPr>
                      <a:r>
                        <a:t>Enfermeras</a:t>
                      </a:r>
                    </a:p>
                  </a:txBody>
                  <a:tcPr anchor="ctr" marL="73152" marR="73152" marT="0" marB="0">
                    <a:solidFill>
                      <a:srgbClr val="EFEFEF"/>
                    </a:solidFill>
                  </a:tcPr>
                </a:tc>
                <a:tc>
                  <a:txBody>
                    <a:bodyPr/>
                    <a:lstStyle/>
                    <a:p>
                      <a:pPr algn="ctr">
                        <a:defRPr b="0" sz="1000">
                          <a:solidFill>
                            <a:srgbClr val="000000"/>
                          </a:solidFill>
                          <a:latin typeface="Montserrat"/>
                        </a:defRPr>
                      </a:pPr>
                      <a:r>
                        <a:t>64</a:t>
                      </a:r>
                    </a:p>
                  </a:txBody>
                  <a:tcPr anchor="ctr" marL="73152" marR="73152" marT="0" marB="0">
                    <a:solidFill>
                      <a:srgbClr val="EFEFEF"/>
                    </a:solidFill>
                  </a:tcPr>
                </a:tc>
                <a:tc>
                  <a:txBody>
                    <a:bodyPr/>
                    <a:lstStyle/>
                    <a:p>
                      <a:pPr algn="ctr">
                        <a:defRPr b="0" sz="1000">
                          <a:solidFill>
                            <a:srgbClr val="000000"/>
                          </a:solidFill>
                          <a:latin typeface="Montserrat"/>
                        </a:defRPr>
                      </a:pPr>
                      <a:r>
                        <a:t>1</a:t>
                      </a:r>
                    </a:p>
                  </a:txBody>
                  <a:tcPr anchor="ctr" marL="73152" marR="73152" marT="0" marB="0">
                    <a:solidFill>
                      <a:srgbClr val="EFEFEF"/>
                    </a:solidFill>
                  </a:tcPr>
                </a:tc>
                <a:tc>
                  <a:txBody>
                    <a:bodyPr/>
                    <a:lstStyle/>
                    <a:p>
                      <a:pPr algn="ctr">
                        <a:defRPr b="0" sz="1000">
                          <a:solidFill>
                            <a:srgbClr val="000000"/>
                          </a:solidFill>
                          <a:latin typeface="Montserrat"/>
                        </a:defRPr>
                      </a:pPr>
                      <a:r>
                        <a:t>1</a:t>
                      </a:r>
                    </a:p>
                  </a:txBody>
                  <a:tcPr anchor="ctr" marL="73152" marR="73152" marT="0" marB="0">
                    <a:solidFill>
                      <a:srgbClr val="EFEFEF"/>
                    </a:solidFill>
                  </a:tcPr>
                </a:tc>
                <a:tc>
                  <a:txBody>
                    <a:bodyPr/>
                    <a:lstStyle/>
                    <a:p>
                      <a:pPr algn="ctr">
                        <a:defRPr b="0" sz="1000">
                          <a:solidFill>
                            <a:srgbClr val="000000"/>
                          </a:solidFill>
                          <a:latin typeface="Montserrat"/>
                        </a:defRPr>
                      </a:pPr>
                      <a:r>
                        <a:t>48</a:t>
                      </a:r>
                    </a:p>
                  </a:txBody>
                  <a:tcPr anchor="ctr" marL="73152" marR="73152" marT="0" marB="0">
                    <a:solidFill>
                      <a:srgbClr val="EFEFEF"/>
                    </a:solidFill>
                  </a:tcPr>
                </a:tc>
                <a:tc>
                  <a:txBody>
                    <a:bodyPr/>
                    <a:lstStyle/>
                    <a:p>
                      <a:pPr algn="ctr">
                        <a:defRPr b="1" sz="1000">
                          <a:solidFill>
                            <a:srgbClr val="006455"/>
                          </a:solidFill>
                          <a:latin typeface="Montserrat"/>
                        </a:defRPr>
                      </a:pPr>
                      <a:r>
                        <a:t>114</a:t>
                      </a:r>
                    </a:p>
                  </a:txBody>
                  <a:tcPr anchor="ctr" marL="73152" marR="73152" marT="0" marB="0">
                    <a:solidFill>
                      <a:srgbClr val="D3E9E7"/>
                    </a:solidFill>
                  </a:tcPr>
                </a:tc>
              </a:tr>
              <a:tr h="201168">
                <a:tc>
                  <a:txBody>
                    <a:bodyPr/>
                    <a:lstStyle/>
                    <a:p>
                      <a:pPr algn="l">
                        <a:defRPr b="0" sz="1100">
                          <a:solidFill>
                            <a:srgbClr val="000000"/>
                          </a:solidFill>
                          <a:latin typeface="Montserrat"/>
                        </a:defRPr>
                      </a:pPr>
                      <a:r>
                        <a:t>Paramédicos</a:t>
                      </a:r>
                    </a:p>
                  </a:txBody>
                  <a:tcPr anchor="ctr" marL="73152" marR="73152" marT="0" marB="0">
                    <a:solidFill>
                      <a:srgbClr val="FFFFFF"/>
                    </a:solidFill>
                  </a:tcPr>
                </a:tc>
                <a:tc>
                  <a:txBody>
                    <a:bodyPr/>
                    <a:lstStyle/>
                    <a:p>
                      <a:pPr algn="ctr">
                        <a:defRPr b="0" sz="1000">
                          <a:solidFill>
                            <a:srgbClr val="000000"/>
                          </a:solidFill>
                          <a:latin typeface="Montserrat"/>
                        </a:defRPr>
                      </a:pPr>
                      <a:r>
                        <a:t>24</a:t>
                      </a:r>
                    </a:p>
                  </a:txBody>
                  <a:tcPr anchor="ctr" marL="73152" marR="73152" marT="0" marB="0">
                    <a:solidFill>
                      <a:srgbClr val="FFFFFF"/>
                    </a:solidFill>
                  </a:tcPr>
                </a:tc>
                <a:tc>
                  <a:txBody>
                    <a:bodyPr/>
                    <a:lstStyle/>
                    <a:p>
                      <a:pPr algn="ctr">
                        <a:defRPr b="0" sz="1000">
                          <a:solidFill>
                            <a:srgbClr val="000000"/>
                          </a:solidFill>
                          <a:latin typeface="Montserrat"/>
                        </a:defRPr>
                      </a:pPr>
                      <a:r>
                        <a:t>0</a:t>
                      </a:r>
                    </a:p>
                  </a:txBody>
                  <a:tcPr anchor="ctr" marL="73152" marR="73152" marT="0" marB="0">
                    <a:solidFill>
                      <a:srgbClr val="FFFFFF"/>
                    </a:solidFill>
                  </a:tcPr>
                </a:tc>
                <a:tc>
                  <a:txBody>
                    <a:bodyPr/>
                    <a:lstStyle/>
                    <a:p>
                      <a:pPr algn="ctr">
                        <a:defRPr b="0" sz="1000">
                          <a:solidFill>
                            <a:srgbClr val="000000"/>
                          </a:solidFill>
                          <a:latin typeface="Montserrat"/>
                        </a:defRPr>
                      </a:pPr>
                      <a:r>
                        <a:t>1</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c>
                  <a:txBody>
                    <a:bodyPr/>
                    <a:lstStyle/>
                    <a:p>
                      <a:pPr algn="ctr">
                        <a:defRPr b="1" sz="1000">
                          <a:solidFill>
                            <a:srgbClr val="006455"/>
                          </a:solidFill>
                          <a:latin typeface="Montserrat"/>
                        </a:defRPr>
                      </a:pPr>
                      <a:r>
                        <a:t>31</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Administrativas</a:t>
                      </a:r>
                    </a:p>
                  </a:txBody>
                  <a:tcPr anchor="ctr" marL="73152" marR="73152" marT="0" marB="0">
                    <a:solidFill>
                      <a:srgbClr val="EFEFEF"/>
                    </a:solidFill>
                  </a:tcPr>
                </a:tc>
                <a:tc>
                  <a:txBody>
                    <a:bodyPr/>
                    <a:lstStyle/>
                    <a:p>
                      <a:pPr algn="ctr">
                        <a:defRPr b="0" sz="1000">
                          <a:solidFill>
                            <a:srgbClr val="000000"/>
                          </a:solidFill>
                          <a:latin typeface="Montserrat"/>
                        </a:defRPr>
                      </a:pPr>
                      <a:r>
                        <a:t>9</a:t>
                      </a:r>
                    </a:p>
                  </a:txBody>
                  <a:tcPr anchor="ctr" marL="73152" marR="73152" marT="0" marB="0">
                    <a:solidFill>
                      <a:srgbClr val="EFEFEF"/>
                    </a:solidFill>
                  </a:tcPr>
                </a:tc>
                <a:tc>
                  <a:txBody>
                    <a:bodyPr/>
                    <a:lstStyle/>
                    <a:p>
                      <a:pPr algn="ctr">
                        <a:defRPr b="0" sz="1000">
                          <a:solidFill>
                            <a:srgbClr val="000000"/>
                          </a:solidFill>
                          <a:latin typeface="Montserrat"/>
                        </a:defRPr>
                      </a:pPr>
                      <a:r>
                        <a:t>6</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c>
                  <a:txBody>
                    <a:bodyPr/>
                    <a:lstStyle/>
                    <a:p>
                      <a:pPr algn="ctr">
                        <a:defRPr b="0" sz="1000">
                          <a:solidFill>
                            <a:srgbClr val="000000"/>
                          </a:solidFill>
                          <a:latin typeface="Montserrat"/>
                        </a:defRPr>
                      </a:pPr>
                      <a:r>
                        <a:t>2</a:t>
                      </a:r>
                    </a:p>
                  </a:txBody>
                  <a:tcPr anchor="ctr" marL="73152" marR="73152" marT="0" marB="0">
                    <a:solidFill>
                      <a:srgbClr val="EFEFEF"/>
                    </a:solidFill>
                  </a:tcPr>
                </a:tc>
                <a:tc>
                  <a:txBody>
                    <a:bodyPr/>
                    <a:lstStyle/>
                    <a:p>
                      <a:pPr algn="ctr">
                        <a:defRPr b="1" sz="1000">
                          <a:solidFill>
                            <a:srgbClr val="006455"/>
                          </a:solidFill>
                          <a:latin typeface="Montserrat"/>
                        </a:defRPr>
                      </a:pPr>
                      <a:r>
                        <a:t>21</a:t>
                      </a:r>
                    </a:p>
                  </a:txBody>
                  <a:tcPr anchor="ctr" marL="73152" marR="73152" marT="0" marB="0">
                    <a:solidFill>
                      <a:srgbClr val="D3E9E7"/>
                    </a:solidFill>
                  </a:tcPr>
                </a:tc>
              </a:tr>
              <a:tr h="201168">
                <a:tc>
                  <a:txBody>
                    <a:bodyPr/>
                    <a:lstStyle/>
                    <a:p>
                      <a:pPr algn="l">
                        <a:defRPr b="0" sz="1100">
                          <a:solidFill>
                            <a:srgbClr val="000000"/>
                          </a:solidFill>
                          <a:latin typeface="Montserrat"/>
                        </a:defRPr>
                      </a:pPr>
                      <a:r>
                        <a:t>Servicios Generales</a:t>
                      </a:r>
                    </a:p>
                  </a:txBody>
                  <a:tcPr anchor="ctr" marL="73152" marR="73152" marT="0" marB="0">
                    <a:solidFill>
                      <a:srgbClr val="FFFFFF"/>
                    </a:solidFill>
                  </a:tcPr>
                </a:tc>
                <a:tc>
                  <a:txBody>
                    <a:bodyPr/>
                    <a:lstStyle/>
                    <a:p>
                      <a:pPr algn="ctr">
                        <a:defRPr b="0" sz="1000">
                          <a:solidFill>
                            <a:srgbClr val="000000"/>
                          </a:solidFill>
                          <a:latin typeface="Montserrat"/>
                        </a:defRPr>
                      </a:pPr>
                      <a:r>
                        <a:t>30</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3</a:t>
                      </a:r>
                    </a:p>
                  </a:txBody>
                  <a:tcPr anchor="ctr" marL="73152" marR="73152" marT="0" marB="0">
                    <a:solidFill>
                      <a:srgbClr val="FFFFFF"/>
                    </a:solidFill>
                  </a:tcPr>
                </a:tc>
                <a:tc>
                  <a:txBody>
                    <a:bodyPr/>
                    <a:lstStyle/>
                    <a:p>
                      <a:pPr algn="ctr">
                        <a:defRPr b="0" sz="1000">
                          <a:solidFill>
                            <a:srgbClr val="000000"/>
                          </a:solidFill>
                          <a:latin typeface="Montserrat"/>
                        </a:defRPr>
                      </a:pPr>
                      <a:r>
                        <a:t>12</a:t>
                      </a:r>
                    </a:p>
                  </a:txBody>
                  <a:tcPr anchor="ctr" marL="73152" marR="73152" marT="0" marB="0">
                    <a:solidFill>
                      <a:srgbClr val="FFFFFF"/>
                    </a:solidFill>
                  </a:tcPr>
                </a:tc>
                <a:tc>
                  <a:txBody>
                    <a:bodyPr/>
                    <a:lstStyle/>
                    <a:p>
                      <a:pPr algn="ctr">
                        <a:defRPr b="1" sz="1000">
                          <a:solidFill>
                            <a:srgbClr val="006455"/>
                          </a:solidFill>
                          <a:latin typeface="Montserrat"/>
                        </a:defRPr>
                      </a:pPr>
                      <a:r>
                        <a:t>47</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Acción Comunitaria</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1</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1" sz="1000">
                          <a:solidFill>
                            <a:srgbClr val="006455"/>
                          </a:solidFill>
                          <a:latin typeface="Montserrat"/>
                        </a:defRPr>
                      </a:pPr>
                      <a:r>
                        <a:t>5</a:t>
                      </a:r>
                    </a:p>
                  </a:txBody>
                  <a:tcPr anchor="ctr" marL="73152" marR="73152" marT="0" marB="0">
                    <a:solidFill>
                      <a:srgbClr val="D3E9E7"/>
                    </a:solidFill>
                  </a:tcPr>
                </a:tc>
              </a:tr>
              <a:tr h="201168">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163</a:t>
                      </a:r>
                    </a:p>
                  </a:txBody>
                  <a:tcPr anchor="ctr" marL="73152" marR="73152" marT="0" marB="0">
                    <a:solidFill>
                      <a:srgbClr val="D3E9E7"/>
                    </a:solidFill>
                  </a:tcPr>
                </a:tc>
                <a:tc>
                  <a:txBody>
                    <a:bodyPr/>
                    <a:lstStyle/>
                    <a:p>
                      <a:pPr algn="ctr">
                        <a:defRPr b="1" sz="1000">
                          <a:solidFill>
                            <a:srgbClr val="006455"/>
                          </a:solidFill>
                          <a:latin typeface="Montserrat"/>
                        </a:defRPr>
                      </a:pPr>
                      <a:r>
                        <a:t>10</a:t>
                      </a:r>
                    </a:p>
                  </a:txBody>
                  <a:tcPr anchor="ctr" marL="73152" marR="73152" marT="0" marB="0">
                    <a:solidFill>
                      <a:srgbClr val="D3E9E7"/>
                    </a:solidFill>
                  </a:tcPr>
                </a:tc>
                <a:tc>
                  <a:txBody>
                    <a:bodyPr/>
                    <a:lstStyle/>
                    <a:p>
                      <a:pPr algn="ctr">
                        <a:defRPr b="1" sz="1000">
                          <a:solidFill>
                            <a:srgbClr val="006455"/>
                          </a:solidFill>
                          <a:latin typeface="Montserrat"/>
                        </a:defRPr>
                      </a:pPr>
                      <a:r>
                        <a:t>19</a:t>
                      </a:r>
                    </a:p>
                  </a:txBody>
                  <a:tcPr anchor="ctr" marL="73152" marR="73152" marT="0" marB="0">
                    <a:solidFill>
                      <a:srgbClr val="D3E9E7"/>
                    </a:solidFill>
                  </a:tcPr>
                </a:tc>
                <a:tc>
                  <a:txBody>
                    <a:bodyPr/>
                    <a:lstStyle/>
                    <a:p>
                      <a:pPr algn="ctr">
                        <a:defRPr b="1" sz="1000">
                          <a:solidFill>
                            <a:srgbClr val="006455"/>
                          </a:solidFill>
                          <a:latin typeface="Montserrat"/>
                        </a:defRPr>
                      </a:pPr>
                      <a:r>
                        <a:t>70</a:t>
                      </a:r>
                    </a:p>
                  </a:txBody>
                  <a:tcPr anchor="ctr" marL="73152" marR="73152" marT="0" marB="0">
                    <a:solidFill>
                      <a:srgbClr val="D3E9E7"/>
                    </a:solidFill>
                  </a:tcPr>
                </a:tc>
                <a:tc>
                  <a:txBody>
                    <a:bodyPr/>
                    <a:lstStyle/>
                    <a:p>
                      <a:pPr algn="ctr">
                        <a:defRPr b="1" sz="1000">
                          <a:solidFill>
                            <a:srgbClr val="006455"/>
                          </a:solidFill>
                          <a:latin typeface="Montserrat"/>
                        </a:defRPr>
                      </a:pPr>
                      <a:r>
                        <a:t>262</a:t>
                      </a:r>
                    </a:p>
                  </a:txBody>
                  <a:tcPr anchor="ctr" marL="73152" marR="73152" marT="0" marB="0">
                    <a:solidFill>
                      <a:srgbClr val="D3E9E7"/>
                    </a:solidFill>
                  </a:tcPr>
                </a:tc>
              </a:tr>
            </a:tbl>
          </a:graphicData>
        </a:graphic>
      </p:graphicFrame>
      <p:graphicFrame>
        <p:nvGraphicFramePr>
          <p:cNvPr id="536" name="Table 535"/>
          <p:cNvGraphicFramePr>
            <a:graphicFrameLocks noGrp="1"/>
          </p:cNvGraphicFramePr>
          <p:nvPr/>
        </p:nvGraphicFramePr>
        <p:xfrm>
          <a:off x="310896" y="7991856"/>
          <a:ext cx="7004303" cy="612648"/>
        </p:xfrm>
        <a:graphic>
          <a:graphicData uri="http://schemas.openxmlformats.org/drawingml/2006/table">
            <a:tbl>
              <a:tblPr firstRow="1" bandRow="1">
                <a:tableStyleId>{5C22544A-7EE6-4342-B048-85BDC9FD1C3A}</a:tableStyleId>
              </a:tblPr>
              <a:tblGrid>
                <a:gridCol w="996696"/>
                <a:gridCol w="996696"/>
                <a:gridCol w="832104"/>
                <a:gridCol w="1060704"/>
                <a:gridCol w="969264"/>
                <a:gridCol w="1042415"/>
                <a:gridCol w="1106424"/>
              </a:tblGrid>
              <a:tr h="306324">
                <a:tc>
                  <a:txBody>
                    <a:bodyPr/>
                    <a:lstStyle/>
                    <a:p>
                      <a:pPr algn="ctr">
                        <a:defRPr b="1" sz="1100">
                          <a:solidFill>
                            <a:srgbClr val="FFFFFF"/>
                          </a:solidFill>
                          <a:latin typeface="Montserrat"/>
                        </a:defRPr>
                      </a:pPr>
                      <a:r>
                        <a:t>OOAD</a:t>
                      </a:r>
                    </a:p>
                  </a:txBody>
                  <a:tcPr marL="36576" marR="36576" marT="36576" marB="36576">
                    <a:solidFill>
                      <a:srgbClr val="006455"/>
                    </a:solidFill>
                  </a:tcPr>
                </a:tc>
                <a:tc>
                  <a:txBody>
                    <a:bodyPr/>
                    <a:lstStyle/>
                    <a:p>
                      <a:pPr algn="ctr">
                        <a:defRPr b="1" sz="1100">
                          <a:solidFill>
                            <a:srgbClr val="FFFFFF"/>
                          </a:solidFill>
                          <a:latin typeface="Montserrat"/>
                        </a:defRPr>
                      </a:pPr>
                      <a:r>
                        <a:t>Voluntarios Rurales</a:t>
                      </a:r>
                    </a:p>
                  </a:txBody>
                  <a:tcPr marL="36576" marR="36576" marT="36576" marB="36576">
                    <a:solidFill>
                      <a:srgbClr val="006455"/>
                    </a:solidFill>
                  </a:tcPr>
                </a:tc>
                <a:tc>
                  <a:txBody>
                    <a:bodyPr/>
                    <a:lstStyle/>
                    <a:p>
                      <a:pPr algn="ctr">
                        <a:defRPr b="1" sz="1100">
                          <a:solidFill>
                            <a:srgbClr val="FFFFFF"/>
                          </a:solidFill>
                          <a:latin typeface="Montserrat"/>
                        </a:defRPr>
                      </a:pPr>
                      <a:r>
                        <a:t>Comités de Salud</a:t>
                      </a:r>
                    </a:p>
                  </a:txBody>
                  <a:tcPr marL="36576" marR="36576" marT="36576" marB="36576">
                    <a:solidFill>
                      <a:srgbClr val="006455"/>
                    </a:solidFill>
                  </a:tcPr>
                </a:tc>
                <a:tc>
                  <a:txBody>
                    <a:bodyPr/>
                    <a:lstStyle/>
                    <a:p>
                      <a:pPr algn="ctr">
                        <a:defRPr b="1" sz="1100">
                          <a:solidFill>
                            <a:srgbClr val="FFFFFF"/>
                          </a:solidFill>
                          <a:latin typeface="Montserrat"/>
                        </a:defRPr>
                      </a:pPr>
                      <a:r>
                        <a:t>Integrantes de Comités</a:t>
                      </a:r>
                    </a:p>
                  </a:txBody>
                  <a:tcPr marL="36576" marR="36576" marT="36576" marB="36576">
                    <a:solidFill>
                      <a:srgbClr val="006455"/>
                    </a:solidFill>
                  </a:tcPr>
                </a:tc>
                <a:tc>
                  <a:txBody>
                    <a:bodyPr/>
                    <a:lstStyle/>
                    <a:p>
                      <a:pPr algn="ctr">
                        <a:defRPr b="1" sz="1100">
                          <a:solidFill>
                            <a:srgbClr val="FFFFFF"/>
                          </a:solidFill>
                          <a:latin typeface="Montserrat"/>
                        </a:defRPr>
                      </a:pPr>
                      <a:r>
                        <a:t>Voluntarios</a:t>
                      </a:r>
                    </a:p>
                  </a:txBody>
                  <a:tcPr marL="36576" marR="36576" marT="36576" marB="36576">
                    <a:solidFill>
                      <a:srgbClr val="006455"/>
                    </a:solidFill>
                  </a:tcPr>
                </a:tc>
                <a:tc>
                  <a:txBody>
                    <a:bodyPr/>
                    <a:lstStyle/>
                    <a:p>
                      <a:pPr algn="ctr">
                        <a:defRPr b="1" sz="1100">
                          <a:solidFill>
                            <a:srgbClr val="FFFFFF"/>
                          </a:solidFill>
                          <a:latin typeface="Montserrat"/>
                        </a:defRPr>
                      </a:pPr>
                      <a:r>
                        <a:t>Parteras Voluntarias</a:t>
                      </a:r>
                    </a:p>
                  </a:txBody>
                  <a:tcPr marL="36576" marR="36576" marT="36576" marB="36576">
                    <a:solidFill>
                      <a:srgbClr val="006455"/>
                    </a:solidFill>
                  </a:tcPr>
                </a:tc>
                <a:tc>
                  <a:txBody>
                    <a:bodyPr/>
                    <a:lstStyle/>
                    <a:p>
                      <a:pPr algn="ctr">
                        <a:defRPr b="1" sz="1100">
                          <a:solidFill>
                            <a:srgbClr val="FFFFFF"/>
                          </a:solidFill>
                          <a:latin typeface="Montserrat"/>
                        </a:defRPr>
                      </a:pPr>
                      <a:r>
                        <a:t>Médicos Tradicionales</a:t>
                      </a:r>
                    </a:p>
                  </a:txBody>
                  <a:tcPr marL="36576" marR="36576" marT="36576" marB="36576">
                    <a:solidFill>
                      <a:srgbClr val="006455"/>
                    </a:solidFill>
                  </a:tcPr>
                </a:tc>
              </a:tr>
              <a:tr h="306324">
                <a:tc>
                  <a:txBody>
                    <a:bodyPr/>
                    <a:lstStyle/>
                    <a:p>
                      <a:pPr algn="l">
                        <a:defRPr b="1" sz="1000">
                          <a:solidFill>
                            <a:srgbClr val="006455"/>
                          </a:solidFill>
                          <a:latin typeface="Montserrat"/>
                        </a:defRPr>
                      </a:pPr>
                      <a:r>
                        <a:t>Total Programa</a:t>
                      </a:r>
                    </a:p>
                  </a:txBody>
                  <a:tcPr anchor="ctr" marL="73152" marR="73152" marT="0" marB="0">
                    <a:solidFill>
                      <a:srgbClr val="D3E9E7"/>
                    </a:solidFill>
                  </a:tcPr>
                </a:tc>
                <a:tc>
                  <a:txBody>
                    <a:bodyPr/>
                    <a:lstStyle/>
                    <a:p>
                      <a:pPr algn="ctr">
                        <a:defRPr b="1" sz="1000">
                          <a:solidFill>
                            <a:srgbClr val="006455"/>
                          </a:solidFill>
                          <a:latin typeface="Montserrat"/>
                        </a:defRPr>
                      </a:pPr>
                      <a:r>
                        <a:t>97</a:t>
                      </a:r>
                    </a:p>
                  </a:txBody>
                  <a:tcPr anchor="ctr" marL="73152" marR="73152" marT="0" marB="0">
                    <a:solidFill>
                      <a:srgbClr val="D3E9E7"/>
                    </a:solidFill>
                  </a:tcPr>
                </a:tc>
                <a:tc>
                  <a:txBody>
                    <a:bodyPr/>
                    <a:lstStyle/>
                    <a:p>
                      <a:pPr algn="ctr">
                        <a:defRPr b="1" sz="1000">
                          <a:solidFill>
                            <a:srgbClr val="006455"/>
                          </a:solidFill>
                          <a:latin typeface="Montserrat"/>
                        </a:defRPr>
                      </a:pPr>
                      <a:r>
                        <a:t>331</a:t>
                      </a:r>
                    </a:p>
                  </a:txBody>
                  <a:tcPr anchor="ctr" marL="73152" marR="73152" marT="0" marB="0">
                    <a:solidFill>
                      <a:srgbClr val="D3E9E7"/>
                    </a:solidFill>
                  </a:tcPr>
                </a:tc>
                <a:tc>
                  <a:txBody>
                    <a:bodyPr/>
                    <a:lstStyle/>
                    <a:p>
                      <a:pPr algn="ctr">
                        <a:defRPr b="1" sz="1000">
                          <a:solidFill>
                            <a:srgbClr val="006455"/>
                          </a:solidFill>
                          <a:latin typeface="Montserrat"/>
                        </a:defRPr>
                      </a:pPr>
                      <a:r>
                        <a:t>2,137</a:t>
                      </a:r>
                    </a:p>
                  </a:txBody>
                  <a:tcPr anchor="ctr" marL="73152" marR="73152" marT="0" marB="0">
                    <a:solidFill>
                      <a:srgbClr val="D3E9E7"/>
                    </a:solidFill>
                  </a:tcPr>
                </a:tc>
                <a:tc>
                  <a:txBody>
                    <a:bodyPr/>
                    <a:lstStyle/>
                    <a:p>
                      <a:pPr algn="ctr">
                        <a:defRPr b="1" sz="1000">
                          <a:solidFill>
                            <a:srgbClr val="006455"/>
                          </a:solidFill>
                          <a:latin typeface="Montserrat"/>
                        </a:defRPr>
                      </a:pPr>
                      <a:r>
                        <a:t>1,361</a:t>
                      </a:r>
                    </a:p>
                  </a:txBody>
                  <a:tcPr anchor="ctr" marL="73152" marR="73152" marT="0" marB="0">
                    <a:solidFill>
                      <a:srgbClr val="D3E9E7"/>
                    </a:solidFill>
                  </a:tcPr>
                </a:tc>
                <a:tc>
                  <a:txBody>
                    <a:bodyPr/>
                    <a:lstStyle/>
                    <a:p>
                      <a:pPr algn="ctr">
                        <a:defRPr b="1" sz="1000">
                          <a:solidFill>
                            <a:srgbClr val="006455"/>
                          </a:solidFill>
                          <a:latin typeface="Montserrat"/>
                        </a:defRPr>
                      </a:pPr>
                      <a:r>
                        <a:t>98</a:t>
                      </a:r>
                    </a:p>
                  </a:txBody>
                  <a:tcPr anchor="ctr" marL="73152" marR="73152" marT="0" marB="0">
                    <a:solidFill>
                      <a:srgbClr val="D3E9E7"/>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b="1" sz="2000">
                <a:solidFill>
                  <a:srgbClr val="A08250"/>
                </a:solidFill>
                <a:latin typeface="Montserrat"/>
              </a:defRPr>
            </a:pPr>
            <a:r>
              <a:t>78,827</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b="1" sz="1500">
                <a:solidFill>
                  <a:srgbClr val="A08250"/>
                </a:solidFill>
                <a:latin typeface="Montserrat"/>
              </a:defRPr>
            </a:pPr>
            <a:r>
              <a:t>13,005</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b="1" sz="1500">
                <a:solidFill>
                  <a:srgbClr val="A08250"/>
                </a:solidFill>
                <a:latin typeface="Montserrat"/>
              </a:defRPr>
            </a:pPr>
            <a:r>
              <a:t>65,822</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24,865</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b="1" sz="2600">
                <a:solidFill>
                  <a:srgbClr val="FFFFFF"/>
                </a:solidFill>
                <a:latin typeface="Montserrat"/>
              </a:defRPr>
            </a:pPr>
            <a:r>
              <a:t>74,457</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b="1" sz="2600">
                <a:solidFill>
                  <a:srgbClr val="FFFFFF"/>
                </a:solidFill>
                <a:latin typeface="Montserrat"/>
              </a:defRPr>
            </a:pPr>
            <a:r>
              <a:t>351</a:t>
            </a:r>
          </a:p>
          <a:p>
            <a:pPr algn="ctr">
              <a:defRPr sz="1600">
                <a:solidFill>
                  <a:srgbClr val="CFC48C"/>
                </a:solidFill>
                <a:latin typeface="Montserrat"/>
              </a:defRPr>
            </a:pPr>
            <a:r>
              <a:t>cirugías anuales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921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IMSS-Coplamar</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HR La Union</a:t>
                      </a:r>
                    </a:p>
                  </a:txBody>
                  <a:tcPr anchor="ctr">
                    <a:solidFill>
                      <a:srgbClr val="FFFFFF"/>
                    </a:solidFill>
                  </a:tcPr>
                </a:tc>
                <a:tc>
                  <a:txBody>
                    <a:bodyPr/>
                    <a:lstStyle/>
                    <a:p>
                      <a:pPr algn="ctr">
                        <a:defRPr sz="900">
                          <a:latin typeface="Montserrat"/>
                        </a:defRPr>
                      </a:pPr>
                      <a:r>
                        <a:t>Junio de 2010</a:t>
                      </a:r>
                    </a:p>
                  </a:txBody>
                  <a:tcPr anchor="ctr">
                    <a:solidFill>
                      <a:srgbClr val="FFFFFF"/>
                    </a:solidFill>
                  </a:tcPr>
                </a:tc>
                <a:tc>
                  <a:txBody>
                    <a:bodyPr/>
                    <a:lstStyle/>
                    <a:p>
                      <a:pPr algn="ctr">
                        <a:defRPr sz="900">
                          <a:latin typeface="Montserrat"/>
                        </a:defRPr>
                      </a:pPr>
                      <a:r>
                        <a:t>29</a:t>
                      </a:r>
                    </a:p>
                  </a:txBody>
                  <a:tcPr anchor="ctr">
                    <a:solidFill>
                      <a:srgbClr val="FFFFFF"/>
                    </a:solidFill>
                  </a:tcPr>
                </a:tc>
                <a:tc>
                  <a:txBody>
                    <a:bodyPr/>
                    <a:lstStyle/>
                    <a:p>
                      <a:pPr algn="ctr">
                        <a:defRPr sz="900">
                          <a:latin typeface="Montserrat"/>
                        </a:defRPr>
                      </a:pPr>
                      <a:r>
                        <a:t>13</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7</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29</a:t>
                      </a:r>
                    </a:p>
                  </a:txBody>
                  <a:tcPr anchor="ctr">
                    <a:solidFill>
                      <a:srgbClr val="D3E9E7"/>
                    </a:solidFill>
                  </a:tcPr>
                </a:tc>
                <a:tc>
                  <a:txBody>
                    <a:bodyPr/>
                    <a:lstStyle/>
                    <a:p>
                      <a:pPr algn="ctr">
                        <a:defRPr sz="900" b="1">
                          <a:solidFill>
                            <a:srgbClr val="006556"/>
                          </a:solidFill>
                          <a:latin typeface="Montserrat"/>
                        </a:defRPr>
                      </a:pPr>
                      <a:r>
                        <a:t>13</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1</a:t>
                      </a:r>
                    </a:p>
                  </a:txBody>
                  <a:tcPr anchor="ctr">
                    <a:solidFill>
                      <a:srgbClr val="D3E9E7"/>
                    </a:solidFill>
                  </a:tcPr>
                </a:tc>
                <a:tc>
                  <a:txBody>
                    <a:bodyPr/>
                    <a:lstStyle/>
                    <a:p>
                      <a:pPr algn="ctr">
                        <a:defRPr sz="900" b="1">
                          <a:solidFill>
                            <a:srgbClr val="006556"/>
                          </a:solidFill>
                          <a:latin typeface="Montserrat"/>
                        </a:defRPr>
                      </a:pPr>
                      <a:r>
                        <a:t>7</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548</a:t>
                      </a:r>
                    </a:p>
                  </a:txBody>
                  <a:tcPr anchor="ctr">
                    <a:solidFill>
                      <a:srgbClr val="D3E9E7"/>
                    </a:solidFill>
                  </a:tcPr>
                </a:tc>
                <a:tc>
                  <a:txBody>
                    <a:bodyPr/>
                    <a:lstStyle/>
                    <a:p>
                      <a:pPr algn="ctr">
                        <a:defRPr sz="900" b="1">
                          <a:solidFill>
                            <a:srgbClr val="006556"/>
                          </a:solidFill>
                          <a:latin typeface="Montserrat"/>
                        </a:defRPr>
                      </a:pPr>
                      <a:r>
                        <a:t>236</a:t>
                      </a:r>
                    </a:p>
                  </a:txBody>
                  <a:tcPr anchor="ctr">
                    <a:solidFill>
                      <a:srgbClr val="D3E9E7"/>
                    </a:solidFill>
                  </a:tcPr>
                </a:tc>
                <a:tc>
                  <a:txBody>
                    <a:bodyPr/>
                    <a:lstStyle/>
                    <a:p>
                      <a:pPr algn="ctr">
                        <a:defRPr sz="900" b="1">
                          <a:solidFill>
                            <a:srgbClr val="006556"/>
                          </a:solidFill>
                          <a:latin typeface="Montserrat"/>
                        </a:defRPr>
                      </a:pPr>
                      <a:r>
                        <a:t>20</a:t>
                      </a:r>
                    </a:p>
                  </a:txBody>
                  <a:tcPr anchor="ctr">
                    <a:solidFill>
                      <a:srgbClr val="D3E9E7"/>
                    </a:solidFill>
                  </a:tcPr>
                </a:tc>
                <a:tc>
                  <a:txBody>
                    <a:bodyPr/>
                    <a:lstStyle/>
                    <a:p>
                      <a:pPr algn="ctr">
                        <a:defRPr sz="900" b="1">
                          <a:solidFill>
                            <a:srgbClr val="006556"/>
                          </a:solidFill>
                          <a:latin typeface="Montserrat"/>
                        </a:defRPr>
                      </a:pPr>
                      <a:r>
                        <a:t>18</a:t>
                      </a:r>
                    </a:p>
                  </a:txBody>
                  <a:tcPr anchor="ctr">
                    <a:solidFill>
                      <a:srgbClr val="D3E9E7"/>
                    </a:solidFill>
                  </a:tcPr>
                </a:tc>
                <a:tc>
                  <a:txBody>
                    <a:bodyPr/>
                    <a:lstStyle/>
                    <a:p>
                      <a:pPr algn="ctr">
                        <a:defRPr sz="900" b="1">
                          <a:solidFill>
                            <a:srgbClr val="006556"/>
                          </a:solidFill>
                          <a:latin typeface="Montserrat"/>
                        </a:defRPr>
                      </a:pPr>
                      <a:r>
                        <a:t>101</a:t>
                      </a:r>
                    </a:p>
                  </a:txBody>
                  <a:tcPr anchor="ctr">
                    <a:solidFill>
                      <a:srgbClr val="D3E9E7"/>
                    </a:solidFill>
                  </a:tcPr>
                </a:tc>
              </a:tr>
            </a:tbl>
          </a:graphicData>
        </a:graphic>
      </p:graphicFrame>
      <p:sp>
        <p:nvSpPr>
          <p:cNvPr id="6" name="TextBox 5"/>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123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 Sede delegacional</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
        <p:nvSpPr>
          <p:cNvPr id="7" name="TextBox 6"/>
          <p:cNvSpPr txBox="1"/>
          <p:nvPr/>
        </p:nvSpPr>
        <p:spPr>
          <a:xfrm>
            <a:off x="360000" y="2649599"/>
            <a:ext cx="6840000" cy="360000"/>
          </a:xfrm>
          <a:prstGeom prst="rect">
            <a:avLst/>
          </a:prstGeom>
          <a:noFill/>
        </p:spPr>
        <p:txBody>
          <a:bodyPr wrap="none" anchor="ctr">
            <a:spAutoFit/>
          </a:bodyPr>
          <a:lstStyle/>
          <a:p>
            <a:pPr algn="l">
              <a:defRPr sz="2000" b="1">
                <a:solidFill>
                  <a:srgbClr val="BC955C"/>
                </a:solidFill>
                <a:latin typeface="Montserrat"/>
              </a:defRPr>
            </a:pPr>
            <a:r>
              <a:t>9 en Unidades de Medicina Familiar</a:t>
            </a:r>
          </a:p>
        </p:txBody>
      </p:sp>
      <p:cxnSp>
        <p:nvCxnSpPr>
          <p:cNvPr id="8" name="Connector 7"/>
          <p:cNvCxnSpPr/>
          <p:nvPr/>
        </p:nvCxnSpPr>
        <p:spPr>
          <a:xfrm>
            <a:off x="360000" y="3045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360000" y="311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11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26</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40175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29</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4017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9</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
        <p:nvSpPr>
          <p:cNvPr id="13" name="TextBox 12"/>
          <p:cNvSpPr txBox="1"/>
          <p:nvPr/>
        </p:nvSpPr>
        <p:spPr>
          <a:xfrm>
            <a:off x="360000" y="5601598"/>
            <a:ext cx="6840000" cy="360000"/>
          </a:xfrm>
          <a:prstGeom prst="rect">
            <a:avLst/>
          </a:prstGeom>
          <a:noFill/>
        </p:spPr>
        <p:txBody>
          <a:bodyPr wrap="none" anchor="ctr">
            <a:spAutoFit/>
          </a:bodyPr>
          <a:lstStyle/>
          <a:p>
            <a:pPr algn="l">
              <a:defRPr sz="2000" b="1">
                <a:solidFill>
                  <a:srgbClr val="BC955C"/>
                </a:solidFill>
                <a:latin typeface="Montserrat"/>
              </a:defRPr>
            </a:pPr>
            <a:r>
              <a:t>66 especialistas (sustitutos)</a:t>
            </a:r>
          </a:p>
        </p:txBody>
      </p:sp>
      <p:cxnSp>
        <p:nvCxnSpPr>
          <p:cNvPr id="14" name="Connector 13"/>
          <p:cNvCxnSpPr/>
          <p:nvPr/>
        </p:nvCxnSpPr>
        <p:spPr>
          <a:xfrm>
            <a:off x="360000" y="59975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66 especialistas (sustitutos)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Sustitución 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66</a:t>
                      </a:r>
                    </a:p>
                  </a:txBody>
                  <a:tcPr>
                    <a:solidFill>
                      <a:srgbClr val="D3E9E7"/>
                    </a:solidFill>
                  </a:tcPr>
                </a:tc>
              </a:tr>
            </a:tbl>
          </a:graphicData>
        </a:graphic>
      </p:graphicFrame>
      <p:sp>
        <p:nvSpPr>
          <p:cNvPr id="8" name="TextBox 7"/>
          <p:cNvSpPr txBox="1"/>
          <p:nvPr/>
        </p:nvSpPr>
        <p:spPr>
          <a:xfrm>
            <a:off x="270000" y="5889600"/>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451</TotalTime>
  <Words>349</Words>
  <Application>Microsoft Office PowerPoint</Application>
  <PresentationFormat>Personalizado</PresentationFormat>
  <Paragraphs>86</Paragraphs>
  <Slides>25</Slides>
  <Notes>22</Notes>
  <HiddenSlides>0</HiddenSlides>
  <MMClips>0</MMClips>
  <ScaleCrop>false</ScaleCrop>
  <HeadingPairs>
    <vt:vector size="4" baseType="variant">
      <vt:variant>
        <vt:lpstr>Tema</vt:lpstr>
      </vt:variant>
      <vt:variant>
        <vt:i4>1</vt:i4>
      </vt:variant>
      <vt:variant>
        <vt:lpstr>Títulos de diapositiva</vt:lpstr>
      </vt:variant>
      <vt:variant>
        <vt:i4>25</vt:i4>
      </vt:variant>
    </vt:vector>
  </HeadingPairs>
  <TitlesOfParts>
    <vt:vector size="26"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97</cp:revision>
  <dcterms:modified xsi:type="dcterms:W3CDTF">2026-05-12T22:42:13Z</dcterms:modified>
</cp:coreProperties>
</file>