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3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4"/>
    <p:sldId id="303" r:id="rId45"/>
    <p:sldId id="304" r:id="rId46"/>
    <p:sldId id="305" r:id="rId47"/>
    <p:sldId id="281" r:id="rId14"/>
    <p:sldId id="306" r:id="rId48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5EE4F-A022-F932-7316-5B168D5CC070}" v="94" dt="2026-05-12T23:21:54.89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5:55.408" v="0"/>
      <pc:docMkLst>
        <pc:docMk/>
      </pc:docMkLst>
      <pc:sldChg chg="add">
        <pc:chgData name="Carlos Esponda Rosales" userId="08a2b2cc-6d12-4dea-90fe-c484bece8186" providerId="ADAL" clId="{6846A1DD-3EC1-5A12-B3C5-9C410579EE4F}" dt="2026-05-08T17:35:55.408" v="0"/>
        <pc:sldMkLst>
          <pc:docMk/>
          <pc:sldMk cId="2742649885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08:33.333" v="117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3:25.578" v="108" actId="1037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3:25.578" v="108" actId="1037"/>
          <ac:spMkLst>
            <pc:docMk/>
            <pc:sldMk cId="0" sldId="260"/>
            <ac:spMk id="8" creationId="{FE04771A-B2B5-F291-40E3-7089C0501AA3}"/>
          </ac:spMkLst>
        </pc:spChg>
        <pc:graphicFrameChg chg="add mod">
          <ac:chgData name="Edgar Rosales Ortega" userId="d1d54fc2-1570-4978-babc-e22e1526833f" providerId="ADAL" clId="{66BE7C30-C669-4152-AC74-10076FC0590C}" dt="2026-04-30T23:13:16.645" v="48" actId="1076"/>
          <ac:graphicFrameMkLst>
            <pc:docMk/>
            <pc:sldMk cId="0" sldId="260"/>
            <ac:graphicFrameMk id="7" creationId="{1427E0B8-D5F2-F57D-7170-89C4829CB7F3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3:25.578" v="108" actId="1037"/>
          <ac:picMkLst>
            <pc:docMk/>
            <pc:sldMk cId="0" sldId="260"/>
            <ac:picMk id="6" creationId="{37B4173F-C9B8-CF37-64CC-940BF272637E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07:58.956" v="111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08:04.374" v="113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1:55.268" v="43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8:46.028" v="32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08:13.887" v="114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08:13.887" v="114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0:41.296" v="110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7:40.143" v="44" actId="1076"/>
          <ac:spMkLst>
            <pc:docMk/>
            <pc:sldMk cId="0" sldId="279"/>
            <ac:spMk id="2" creationId="{3C81E528-8864-F248-BEEA-C1D3F7648882}"/>
          </ac:spMkLst>
        </pc:spChg>
        <pc:spChg chg="mod">
          <ac:chgData name="Edgar Rosales Ortega" userId="d1d54fc2-1570-4978-babc-e22e1526833f" providerId="ADAL" clId="{66BE7C30-C669-4152-AC74-10076FC0590C}" dt="2026-05-05T18:00:41.296" v="110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1:51.748" v="41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8:49.991" v="33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8:00:28.011" v="109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08:33.333" v="117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08:33.333" v="117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1:43.643" v="39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8:53.821" v="34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08:28.713" v="116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08:28.713" v="116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EDA5EE4F-A022-F932-7316-5B168D5CC070}"/>
    <pc:docChg chg="modSld">
      <pc:chgData name="Gerardo Jahir Lara Garcia" userId="S::gerardo.larag@imss.gob.mx::84d5cd65-4601-4e92-b448-a9da4809e012" providerId="AD" clId="Web-{EDA5EE4F-A022-F932-7316-5B168D5CC070}" dt="2026-05-12T23:21:53.958" v="49" actId="20577"/>
      <pc:docMkLst>
        <pc:docMk/>
      </pc:docMkLst>
      <pc:sldChg chg="addSp delSp modSp">
        <pc:chgData name="Gerardo Jahir Lara Garcia" userId="S::gerardo.larag@imss.gob.mx::84d5cd65-4601-4e92-b448-a9da4809e012" providerId="AD" clId="Web-{EDA5EE4F-A022-F932-7316-5B168D5CC070}" dt="2026-05-12T23:21:53.958" v="49" actId="20577"/>
        <pc:sldMkLst>
          <pc:docMk/>
          <pc:sldMk cId="364733940" sldId="284"/>
        </pc:sldMkLst>
        <pc:spChg chg="add mod">
          <ac:chgData name="Gerardo Jahir Lara Garcia" userId="S::gerardo.larag@imss.gob.mx::84d5cd65-4601-4e92-b448-a9da4809e012" providerId="AD" clId="Web-{EDA5EE4F-A022-F932-7316-5B168D5CC070}" dt="2026-05-12T23:21:53.958" v="49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EDA5EE4F-A022-F932-7316-5B168D5CC070}" dt="2026-05-12T23:21:40.489" v="39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EDA5EE4F-A022-F932-7316-5B168D5CC070}" dt="2026-05-12T23:20:52.815" v="9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EDA5EE4F-A022-F932-7316-5B168D5CC070}" dt="2026-05-12T23:20:52.815" v="7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EDA5EE4F-A022-F932-7316-5B168D5CC070}" dt="2026-05-12T23:19:44.453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EDA5EE4F-A022-F932-7316-5B168D5CC070}" dt="2026-05-12T23:20:52.815" v="10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EDA5EE4F-A022-F932-7316-5B168D5CC070}" dt="2026-05-12T23:20:52.815" v="8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EDA5EE4F-A022-F932-7316-5B168D5CC070}" dt="2026-05-12T23:20:36.299" v="6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EDA5EE4F-A022-F932-7316-5B168D5CC070}" dt="2026-05-12T23:19:34.437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EDA5EE4F-A022-F932-7316-5B168D5CC070}" dt="2026-05-12T23:19:34.437" v="0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EDA5EE4F-A022-F932-7316-5B168D5CC070}" dt="2026-05-12T23:20:28.361" v="3" actId="20577"/>
          <ac:spMkLst>
            <pc:docMk/>
            <pc:sldMk cId="3240565764" sldId="297"/>
            <ac:spMk id="9" creationId="{50F1217E-09B0-81A3-6E99-CB1DE729ADDF}"/>
          </ac:spMkLst>
        </pc:spChg>
        <pc:spChg chg="add del">
          <ac:chgData name="Gerardo Jahir Lara Garcia" userId="S::gerardo.larag@imss.gob.mx::84d5cd65-4601-4e92-b448-a9da4809e012" providerId="AD" clId="Web-{EDA5EE4F-A022-F932-7316-5B168D5CC070}" dt="2026-05-12T23:20:36.299" v="6"/>
          <ac:spMkLst>
            <pc:docMk/>
            <pc:sldMk cId="3240565764" sldId="297"/>
            <ac:spMk id="10" creationId="{991C7EE4-1170-AC4C-597D-3383D8E8A8F9}"/>
          </ac:spMkLst>
        </pc:spChg>
        <pc:spChg chg="add del">
          <ac:chgData name="Gerardo Jahir Lara Garcia" userId="S::gerardo.larag@imss.gob.mx::84d5cd65-4601-4e92-b448-a9da4809e012" providerId="AD" clId="Web-{EDA5EE4F-A022-F932-7316-5B168D5CC070}" dt="2026-05-12T23:20:36.299" v="4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EDA5EE4F-A022-F932-7316-5B168D5CC070}" dt="2026-05-12T23:19:34.437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EDA5EE4F-A022-F932-7316-5B168D5CC070}" dt="2026-05-12T23:19:34.437" v="0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EDA5EE4F-A022-F932-7316-5B168D5CC070}" dt="2026-05-12T23:19:34.437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EDA5EE4F-A022-F932-7316-5B168D5CC070}" dt="2026-05-12T23:19:34.437" v="0"/>
          <ac:picMkLst>
            <pc:docMk/>
            <pc:sldMk cId="3240565764" sldId="297"/>
            <ac:picMk id="8" creationId="{170CBE01-E044-2F44-556A-69D0B561DC01}"/>
          </ac:picMkLst>
        </pc:picChg>
        <pc:picChg chg="del">
          <ac:chgData name="Gerardo Jahir Lara Garcia" userId="S::gerardo.larag@imss.gob.mx::84d5cd65-4601-4e92-b448-a9da4809e012" providerId="AD" clId="Web-{EDA5EE4F-A022-F932-7316-5B168D5CC070}" dt="2026-05-12T23:20:36.299" v="5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EDA5EE4F-A022-F932-7316-5B168D5CC070}" dt="2026-05-12T23:19:34.437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644981.0</c:v>
                </c:pt>
                <c:pt idx="1">
                  <c:v>147400.0</c:v>
                </c:pt>
                <c:pt idx="2">
                  <c:v>247114.0</c:v>
                </c:pt>
                <c:pt idx="3">
                  <c:v>294248.0</c:v>
                </c:pt>
                <c:pt idx="4">
                  <c:v>4756.0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37.80939459499101</c:v>
                </c:pt>
                <c:pt idx="1">
                  <c:v>62.19060540500899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14.7972460749</c:v>
                </c:pt>
                <c:pt idx="1">
                  <c:v>85.2027539251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36.93473736526574</c:v>
                </c:pt>
                <c:pt idx="1">
                  <c:v>63.06526263473426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32.15476984656437</c:v>
                </c:pt>
                <c:pt idx="1">
                  <c:v>67.84523015343564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66</c:v>
                </c:pt>
                <c:pt idx="2">
                  <c:v>71</c:v>
                </c:pt>
                <c:pt idx="3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 Eléctrica y Captación y Suministro de Agua Potable</c:v>
                </c:pt>
                <c:pt idx="4">
                  <c:v>Servicios para Empresas, Personas y el Hogar</c:v>
                </c:pt>
                <c:pt idx="5">
                  <c:v>Servicios Sociales y Comunales</c:v>
                </c:pt>
                <c:pt idx="6">
                  <c:v>Industria de la Construcción</c:v>
                </c:pt>
                <c:pt idx="7">
                  <c:v>Industrias de la Transformación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585</c:v>
                </c:pt>
                <c:pt idx="1">
                  <c:v>18283</c:v>
                </c:pt>
                <c:pt idx="2">
                  <c:v>6245</c:v>
                </c:pt>
                <c:pt idx="3">
                  <c:v>2086</c:v>
                </c:pt>
                <c:pt idx="4">
                  <c:v>50208</c:v>
                </c:pt>
                <c:pt idx="5">
                  <c:v>26191</c:v>
                </c:pt>
                <c:pt idx="6">
                  <c:v>25731</c:v>
                </c:pt>
                <c:pt idx="7">
                  <c:v>18467</c:v>
                </c:pt>
                <c:pt idx="8">
                  <c:v>35942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 Eléctrica y Captación y Suministro de Agua Potable</c:v>
                </c:pt>
                <c:pt idx="4">
                  <c:v>Servicios para Empresas, Personas y el Hogar</c:v>
                </c:pt>
                <c:pt idx="5">
                  <c:v>Servicios Sociales y Comunales</c:v>
                </c:pt>
                <c:pt idx="6">
                  <c:v>Industria de la Construcción</c:v>
                </c:pt>
                <c:pt idx="7">
                  <c:v>Industrias de la Transformación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450</c:v>
                </c:pt>
                <c:pt idx="1">
                  <c:v>16893</c:v>
                </c:pt>
                <c:pt idx="2">
                  <c:v>6137</c:v>
                </c:pt>
                <c:pt idx="3">
                  <c:v>2054</c:v>
                </c:pt>
                <c:pt idx="4">
                  <c:v>49579</c:v>
                </c:pt>
                <c:pt idx="5">
                  <c:v>26276</c:v>
                </c:pt>
                <c:pt idx="6">
                  <c:v>26660</c:v>
                </c:pt>
                <c:pt idx="7">
                  <c:v>19326</c:v>
                </c:pt>
                <c:pt idx="8">
                  <c:v>37658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140204</c:v>
                </c:pt>
                <c:pt idx="1">
                  <c:v>148901</c:v>
                </c:pt>
                <c:pt idx="2">
                  <c:v>142436</c:v>
                </c:pt>
                <c:pt idx="3">
                  <c:v>155031</c:v>
                </c:pt>
                <c:pt idx="4">
                  <c:v>168519</c:v>
                </c:pt>
                <c:pt idx="5">
                  <c:v>179172</c:v>
                </c:pt>
                <c:pt idx="6">
                  <c:v>187926</c:v>
                </c:pt>
                <c:pt idx="7">
                  <c:v>183738</c:v>
                </c:pt>
                <c:pt idx="8">
                  <c:v>185033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Nayarit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_Nayar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59%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644,981</a:t>
            </a:r>
            <a:br/>
            <a:r>
              <a:t>48%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147,400</a:t>
            </a:r>
            <a:br/>
            <a:r>
              <a:t>11%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247,114</a:t>
            </a:r>
            <a:br/>
            <a:r>
              <a:t>18%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294,248</a:t>
            </a:r>
            <a:br/>
            <a:r>
              <a:t>22%</a:t>
            </a:r>
          </a:p>
        </p:txBody>
      </p:sp>
      <p:pic>
        <p:nvPicPr>
          <p:cNvPr id="128" name="Picture 127" descr="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4,756</a:t>
            </a:r>
            <a:br/>
            <a:r>
              <a:t>0.36%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1,338,499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512,403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644,981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270,990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363,035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138,808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185,033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83,757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88,647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241,413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281,946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734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754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8,041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9,300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3314728123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8_n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433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433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332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21 UMF y no incluye 10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88;g3d0b4d3c5c9_2_7">
            <a:extLst>
              <a:ext uri="{FF2B5EF4-FFF2-40B4-BE49-F238E27FC236}">
                <a16:creationId xmlns:a16="http://schemas.microsoft.com/office/drawing/2014/main" id="{37B4173F-C9B8-CF37-64CC-940BF27263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952" t="8592" r="7630" b="14833"/>
          <a:stretch/>
        </p:blipFill>
        <p:spPr>
          <a:xfrm>
            <a:off x="335225" y="2582397"/>
            <a:ext cx="3268124" cy="19174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Google Shape;191;g3d0b4d3c5c9_2_7">
            <a:extLst>
              <a:ext uri="{FF2B5EF4-FFF2-40B4-BE49-F238E27FC236}">
                <a16:creationId xmlns:a16="http://schemas.microsoft.com/office/drawing/2014/main" id="{1427E0B8-D5F2-F57D-7170-89C4829CB7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2528298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1, Tepic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FE04771A-B2B5-F291-40E3-7089C0501AA3}"/>
              </a:ext>
            </a:extLst>
          </p:cNvPr>
          <p:cNvSpPr txBox="1"/>
          <p:nvPr/>
        </p:nvSpPr>
        <p:spPr>
          <a:xfrm>
            <a:off x="3603349" y="1967172"/>
            <a:ext cx="3889512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La presencia del IMSS inició en 1958, cuando comenzaron a otorgarse servicios médicos mediante subrogación en el ala poniente del Hospital Central de la Secretaría de Salud en Tepic.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1966, el Instituto inauguró su primera clínica-hospital propia en Tepic, la Clínica Hospital T-2 No. 34 ahora HGZ 1 Tepic, con 31 camas, servicios de urgencias, hospitalización, rayos X, laboratorio y medicina preventiva.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1972, el IMSS amplió su cobertura en el estado al incorporar atención para ejidatarios, comuneros y trabajadores tabacaleros, mediante pequeñas unidades médicas con consultorios como parte del Plan Tabacalero del IMSS.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18_NAYAR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5600" y="6476399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365474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F43DBC66-5AB9-A840-39DF-FBB51203B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4CEDAE5C-C28B-5609-EAEA-BDEB136C175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9E5686D-1A66-6239-BAA8-0F71FAC62CB4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FABB657-E38B-6B6C-6273-59DF2840EA49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1EFBA05-223F-C007-EA61-26B339E42511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001DB80-56A2-2DBF-4098-5DEA57DE7C08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5DBA5DB-FB87-A98F-F72D-1290D9364777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+2,221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+83,212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+87,690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1,124,203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83,212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467,245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1,134,800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369,090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87,690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178,356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482,895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21,624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2,221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9,158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28,481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14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4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Cora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 Fco. Madero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25,305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Tecuala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Ruiz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Yago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San Blas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Compostela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Aután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Villa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Ixtlán Río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Ahuacatlán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20,423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Tepic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San Juan Abajo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Pimientillo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198,393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14,281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82,488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218,168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831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5551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451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831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218,168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uadroTexto 214">
            <a:extLst>
              <a:ext uri="{FF2B5EF4-FFF2-40B4-BE49-F238E27FC236}">
                <a16:creationId xmlns:a16="http://schemas.microsoft.com/office/drawing/2014/main" id="{47635204-C45A-64EF-3160-72341B1605BD}"/>
              </a:ext>
            </a:extLst>
          </p:cNvPr>
          <p:cNvSpPr txBox="1"/>
          <p:nvPr/>
        </p:nvSpPr>
        <p:spPr>
          <a:xfrm>
            <a:off x="4080058" y="4803791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4 Nuevas UMTC con   5 consultorios</a:t>
            </a:r>
          </a:p>
        </p:txBody>
      </p:sp>
      <p:graphicFrame>
        <p:nvGraphicFramePr>
          <p:cNvPr id="216" name="Tabla 215">
            <a:extLst>
              <a:ext uri="{FF2B5EF4-FFF2-40B4-BE49-F238E27FC236}">
                <a16:creationId xmlns:a16="http://schemas.microsoft.com/office/drawing/2014/main" id="{F18E1943-C44E-8EEE-78EE-102655454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343886"/>
              </p:ext>
            </p:extLst>
          </p:nvPr>
        </p:nvGraphicFramePr>
        <p:xfrm>
          <a:off x="4563317" y="6015735"/>
          <a:ext cx="2808830" cy="130873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77605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9 Ruiz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13 San Blas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HGSMF 6 Acaponeta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HGSMF 15 Las Varas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217" name="CuadroTexto 216">
            <a:extLst>
              <a:ext uri="{FF2B5EF4-FFF2-40B4-BE49-F238E27FC236}">
                <a16:creationId xmlns:a16="http://schemas.microsoft.com/office/drawing/2014/main" id="{E71563F1-3A22-5A45-91AD-E5C9DF964EAD}"/>
              </a:ext>
            </a:extLst>
          </p:cNvPr>
          <p:cNvSpPr txBox="1"/>
          <p:nvPr/>
        </p:nvSpPr>
        <p:spPr>
          <a:xfrm>
            <a:off x="4124068" y="7166808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Incremento de 15 consultorios en</a:t>
            </a:r>
          </a:p>
        </p:txBody>
      </p:sp>
      <p:graphicFrame>
        <p:nvGraphicFramePr>
          <p:cNvPr id="218" name="Tabla 217">
            <a:extLst>
              <a:ext uri="{FF2B5EF4-FFF2-40B4-BE49-F238E27FC236}">
                <a16:creationId xmlns:a16="http://schemas.microsoft.com/office/drawing/2014/main" id="{66EA8925-71D0-EC02-EEBB-30D3752B9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968965"/>
              </p:ext>
            </p:extLst>
          </p:nvPr>
        </p:nvGraphicFramePr>
        <p:xfrm>
          <a:off x="4471757" y="8071236"/>
          <a:ext cx="2808830" cy="17354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77605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5 Tepic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27 San José del Valle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26 Xalisco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24 Tepic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19 Mezcales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HGZMF 10 S. Ixcuintla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219" name="TextBox 2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 (21 consultorios)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23" name="Connector 22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TextBox 223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(114,577 consultas)</a:t>
            </a:r>
          </a:p>
        </p:txBody>
      </p:sp>
      <p:graphicFrame>
        <p:nvGraphicFramePr>
          <p:cNvPr id="226" name="Table 225"/>
          <p:cNvGraphicFramePr>
            <a:graphicFrameLocks noGrp="1"/>
          </p:cNvGraphicFramePr>
          <p:nvPr/>
        </p:nvGraphicFramePr>
        <p:xfrm>
          <a:off x="151200" y="1695600"/>
          <a:ext cx="7473599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La Peñita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20,822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4,683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10,480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27 San José del Valle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84,885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5,556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 Tepic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112,334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11,347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45,922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24 Tepic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259,599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7,805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25 Tepic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137,205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8,567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56,510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Mezcales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78,358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8,103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33,657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26 Xalisco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55,341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23,531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748,544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55,209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310,977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732,056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7" name="Chart 226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8" name="TextBox 227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14%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91291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77,904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170,820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18,511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120,529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36,410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192,355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369,090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87,690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178,356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482,895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806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52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36.9%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42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80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482,895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48899376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21,624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2,221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9,158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28,481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449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516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32.2%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06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44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28,481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71 en Hospitales, 3 en sede, 33 en UMF y 47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71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385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E311797-87D8-E82B-53FD-656489078C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0088733"/>
              </p:ext>
            </p:extLst>
          </p:nvPr>
        </p:nvGraphicFramePr>
        <p:xfrm>
          <a:off x="287050" y="927188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6,981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7,883	 Personal de Salud: 4,659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+66.7%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+109.5%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1,152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+78.6%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973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1,738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+57.9%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719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1,135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+152.4%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+13.4%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4,666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242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1,825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658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7,391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(72,453)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(8,482)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(840)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(1,733)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Otras enfermedades respiratorias
(76)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(71,164)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(6,668)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(541)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(1,039)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(55)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(12,279)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(5,941)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(453)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(11,084)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(5,386)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piel y del tejido subcutáneo
(449)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(574)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(8,705)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(441)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(543)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71,288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757,268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70,798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890,822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5224D-758F-850C-676F-B5C551481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235,541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161,486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121,098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118,225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111,886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111,526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111,068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81,096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78,737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76,622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649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No.1 en el municipio de Tepic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484000"/>
          <a:ext cx="52956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$135.2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Tepic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18 unidades, Nayarit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4 unidades (HGZ No.1 Tepic, HGZ No.10 Santiago Ixcuintla, UMF No.24, UMF No.5 Tepic)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1 y UMAA No. 28 Tepic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Tepic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1 Tepic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$182.7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6444000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 pieza de equipo médico: 1 refrigerador congelador de 5.4 pies cúbicos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734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255.2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</a:t>
            </a:r>
            <a:r>
              <a:rPr lang="en-US" sz="12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39986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6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cánicos</a:t>
            </a:r>
            <a:endParaRPr lang="en-US" sz="8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Plus Nayarit (10 CMF + 5 EEMF + Urgencias + 4 Especialidades)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519997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320399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6 Equipos electromecánicos para 2 unidades; 2 lavadoras, 2 secadoras, 1 equipo para aire acondicionado y 1 para casa de máquinas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548.4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Tepic, Bahía de Banderas, Santiago Ixcuintla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5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integración de expediente para donación: 3 en Tepic, Bahía de Banderas y Santiago Ixcuintla.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18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3,105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521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Tepic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Tepic y Tuxpan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Tepic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8172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70" name="Picture 469" descr="map_tipo2_18_n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3460928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18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7,871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7,883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Autosistemas de Torreón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 Nayarit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4,391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4,407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Turística Hotelera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4,135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-16.3%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Tepic Nayarit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Draexlmaier Components Automotive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-23.08%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-7.60%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-1.53%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-1.25%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+3.61%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+4.65%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+4.77%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132,487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183,738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137,341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6,214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38,216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3,262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185,033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3C81E528-8864-F248-BEEA-C1D3F7648882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$537.24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$265.29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$537.24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$16,117.2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de Nayarit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$910.06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Tepic Nayarit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$59.88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San Blas del Estado de Nayarit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Casilda Construcciones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$59.58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Movimiento de Lucha Popular Emiliano Zapata 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Autotransportes Ejecutivos del Valle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$3.24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120,174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455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109,297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1,596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3,868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2,709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2,467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147,400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49,918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97,482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32,635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120,174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2,319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Cayetano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71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98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Cayetano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98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33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917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917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069596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069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473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473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625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625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33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290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especialistas (sustitutos)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329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especialistas (sustitutos)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84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361</Words>
  <Application>Microsoft Office PowerPoint</Application>
  <PresentationFormat>Personalizado</PresentationFormat>
  <Paragraphs>90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105</cp:revision>
  <dcterms:modified xsi:type="dcterms:W3CDTF">2026-05-12T23:21:58Z</dcterms:modified>
</cp:coreProperties>
</file>