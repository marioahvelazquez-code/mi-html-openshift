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89" r:id="rId3"/>
    <p:sldId id="258" r:id="rId4"/>
    <p:sldId id="259" r:id="rId5"/>
    <p:sldId id="260" r:id="rId6"/>
    <p:sldId id="300" r:id="rId46"/>
    <p:sldId id="261" r:id="rId7"/>
    <p:sldId id="287" r:id="rId8"/>
    <p:sldId id="262" r:id="rId9"/>
    <p:sldId id="263" r:id="rId10"/>
    <p:sldId id="280" r:id="rId11"/>
    <p:sldId id="267" r:id="rId12"/>
    <p:sldId id="298" r:id="rId13"/>
    <p:sldId id="301" r:id="rId47"/>
    <p:sldId id="302" r:id="rId48"/>
    <p:sldId id="281" r:id="rId14"/>
    <p:sldId id="288" r:id="rId15"/>
    <p:sldId id="270" r:id="rId16"/>
    <p:sldId id="271" r:id="rId17"/>
    <p:sldId id="272" r:id="rId18"/>
    <p:sldId id="299" r:id="rId19"/>
    <p:sldId id="297" r:id="rId20"/>
    <p:sldId id="284" r:id="rId21"/>
    <p:sldId id="290" r:id="rId22"/>
    <p:sldId id="277" r:id="rId23"/>
    <p:sldId id="278" r:id="rId24"/>
    <p:sldId id="279" r:id="rId25"/>
    <p:sldId id="282" r:id="rId26"/>
  </p:sldIdLst>
  <p:sldSz cx="7772400" cy="10058400"/>
  <p:notesSz cx="6858000" cy="9144000"/>
  <p:embeddedFontLst>
    <p:embeddedFont>
      <p:font typeface="Montserrat" panose="00000500000000000000" pitchFamily="2" charset="0"/>
      <p:regular r:id="rId28"/>
      <p:bold r:id="rId29"/>
      <p:italic r:id="rId30"/>
      <p:boldItalic r:id="rId31"/>
    </p:embeddedFont>
    <p:embeddedFont>
      <p:font typeface="Noto Sans" panose="020B0502040504020204" pitchFamily="34" charset="0"/>
      <p:regular r:id="rId32"/>
      <p:bold r:id="rId33"/>
      <p:italic r:id="rId34"/>
      <p:boldItalic r:id="rId35"/>
    </p:embeddedFont>
    <p:embeddedFont>
      <p:font typeface="Noto Sans Black" panose="020B0604020202020204" charset="0"/>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747775"/>
          </p15:clr>
        </p15:guide>
        <p15:guide id="2" pos="2448">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gJIVYfpSqv7bc7uOu75F5IJOjBz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904AC9-6AE3-74DB-3733-BB647421A5EF}" v="105" dt="2026-05-13T00:15:10.114"/>
  </p1510:revLst>
</p1510:revInfo>
</file>

<file path=ppt/tableStyles.xml><?xml version="1.0" encoding="utf-8"?>
<a:tblStyleLst xmlns:a="http://schemas.openxmlformats.org/drawingml/2006/main" def="{4F9E4E24-231D-441B-AD27-9C975659944D}">
  <a:tblStyle styleId="{4F9E4E24-231D-441B-AD27-9C975659944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16991-1C96-4F05-AC00-DA6B9BB01C7E}"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65061A0-15E6-4003-B1DC-5A3A13AD39BA}" styleName="Table_2">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818" autoAdjust="0"/>
    <p:restoredTop sz="94759"/>
  </p:normalViewPr>
  <p:slideViewPr>
    <p:cSldViewPr snapToGrid="0">
      <p:cViewPr varScale="1">
        <p:scale>
          <a:sx n="78" d="100"/>
          <a:sy n="78" d="100"/>
        </p:scale>
        <p:origin x="3272" y="184"/>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font" Target="fonts/font1.fntdata"/><Relationship Id="rId29" Type="http://schemas.openxmlformats.org/officeDocument/2006/relationships/font" Target="fonts/font2.fntdata"/><Relationship Id="rId30" Type="http://schemas.openxmlformats.org/officeDocument/2006/relationships/font" Target="fonts/font3.fntdata"/><Relationship Id="rId31" Type="http://schemas.openxmlformats.org/officeDocument/2006/relationships/font" Target="fonts/font4.fntdata"/><Relationship Id="rId32" Type="http://schemas.openxmlformats.org/officeDocument/2006/relationships/font" Target="fonts/font5.fntdata"/><Relationship Id="rId33" Type="http://schemas.openxmlformats.org/officeDocument/2006/relationships/font" Target="fonts/font6.fntdata"/><Relationship Id="rId34" Type="http://schemas.openxmlformats.org/officeDocument/2006/relationships/font" Target="fonts/font7.fntdata"/><Relationship Id="rId35" Type="http://schemas.openxmlformats.org/officeDocument/2006/relationships/font" Target="fonts/font8.fntdata"/><Relationship Id="rId36" Type="http://schemas.openxmlformats.org/officeDocument/2006/relationships/font" Target="fonts/font9.fntdata"/><Relationship Id="rId37" Type="http://schemas.openxmlformats.org/officeDocument/2006/relationships/font" Target="fonts/font10.fntdata"/><Relationship Id="rId38" Type="http://schemas.openxmlformats.org/officeDocument/2006/relationships/font" Target="fonts/font11.fntdata"/><Relationship Id="rId46" Type="http://schemas.openxmlformats.org/officeDocument/2006/relationships/slide" Target="slides/slide26.xml"/><Relationship Id="rId47" Type="http://schemas.openxmlformats.org/officeDocument/2006/relationships/slide" Target="slides/slide27.xml"/><Relationship Id="rId48" Type="http://schemas.openxmlformats.org/officeDocument/2006/relationships/slide" Target="slides/slide28.xml"/><Relationship Id="rId52" Type="http://customschemas.google.com/relationships/presentationmetadata" Target="metadata"/><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57" Type="http://schemas.microsoft.com/office/2016/11/relationships/changesInfo" Target="changesInfos/changesInfo1.xml"/><Relationship Id="rId5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rardo Jahir Lara Garcia" userId="S::gerardo.larag@imss.gob.mx::84d5cd65-4601-4e92-b448-a9da4809e012" providerId="AD" clId="Web-{40904AC9-6AE3-74DB-3733-BB647421A5EF}"/>
    <pc:docChg chg="modSld">
      <pc:chgData name="Gerardo Jahir Lara Garcia" userId="S::gerardo.larag@imss.gob.mx::84d5cd65-4601-4e92-b448-a9da4809e012" providerId="AD" clId="Web-{40904AC9-6AE3-74DB-3733-BB647421A5EF}" dt="2026-05-13T00:15:10.114" v="67" actId="1076"/>
      <pc:docMkLst>
        <pc:docMk/>
      </pc:docMkLst>
      <pc:sldChg chg="addSp modSp">
        <pc:chgData name="Gerardo Jahir Lara Garcia" userId="S::gerardo.larag@imss.gob.mx::84d5cd65-4601-4e92-b448-a9da4809e012" providerId="AD" clId="Web-{40904AC9-6AE3-74DB-3733-BB647421A5EF}" dt="2026-05-13T00:15:10.114" v="67" actId="1076"/>
        <pc:sldMkLst>
          <pc:docMk/>
          <pc:sldMk cId="364733940" sldId="284"/>
        </pc:sldMkLst>
        <pc:spChg chg="add">
          <ac:chgData name="Gerardo Jahir Lara Garcia" userId="S::gerardo.larag@imss.gob.mx::84d5cd65-4601-4e92-b448-a9da4809e012" providerId="AD" clId="Web-{40904AC9-6AE3-74DB-3733-BB647421A5EF}" dt="2026-05-13T00:09:40.664" v="1"/>
          <ac:spMkLst>
            <pc:docMk/>
            <pc:sldMk cId="364733940" sldId="284"/>
            <ac:spMk id="3" creationId="{ABCC6279-D2EB-1F1F-D811-3FFF80887FF1}"/>
          </ac:spMkLst>
        </pc:spChg>
        <pc:spChg chg="add mod">
          <ac:chgData name="Gerardo Jahir Lara Garcia" userId="S::gerardo.larag@imss.gob.mx::84d5cd65-4601-4e92-b448-a9da4809e012" providerId="AD" clId="Web-{40904AC9-6AE3-74DB-3733-BB647421A5EF}" dt="2026-05-13T00:11:15.418" v="25" actId="20577"/>
          <ac:spMkLst>
            <pc:docMk/>
            <pc:sldMk cId="364733940" sldId="284"/>
            <ac:spMk id="6" creationId="{4578A0AA-9DC1-3453-263A-76BE5A8BE282}"/>
          </ac:spMkLst>
        </pc:spChg>
        <pc:spChg chg="add mod">
          <ac:chgData name="Gerardo Jahir Lara Garcia" userId="S::gerardo.larag@imss.gob.mx::84d5cd65-4601-4e92-b448-a9da4809e012" providerId="AD" clId="Web-{40904AC9-6AE3-74DB-3733-BB647421A5EF}" dt="2026-05-13T00:11:39.466" v="30" actId="20577"/>
          <ac:spMkLst>
            <pc:docMk/>
            <pc:sldMk cId="364733940" sldId="284"/>
            <ac:spMk id="9" creationId="{907F7F6F-8FF8-56A0-795F-B2A127C97D4D}"/>
          </ac:spMkLst>
        </pc:spChg>
        <pc:spChg chg="add mod">
          <ac:chgData name="Gerardo Jahir Lara Garcia" userId="S::gerardo.larag@imss.gob.mx::84d5cd65-4601-4e92-b448-a9da4809e012" providerId="AD" clId="Web-{40904AC9-6AE3-74DB-3733-BB647421A5EF}" dt="2026-05-13T00:15:10.114" v="67" actId="1076"/>
          <ac:spMkLst>
            <pc:docMk/>
            <pc:sldMk cId="364733940" sldId="284"/>
            <ac:spMk id="11" creationId="{2C157DF6-A7FD-940D-19DA-323ACD68454D}"/>
          </ac:spMkLst>
        </pc:spChg>
        <pc:picChg chg="add">
          <ac:chgData name="Gerardo Jahir Lara Garcia" userId="S::gerardo.larag@imss.gob.mx::84d5cd65-4601-4e92-b448-a9da4809e012" providerId="AD" clId="Web-{40904AC9-6AE3-74DB-3733-BB647421A5EF}" dt="2026-05-13T00:09:40.664" v="1"/>
          <ac:picMkLst>
            <pc:docMk/>
            <pc:sldMk cId="364733940" sldId="284"/>
            <ac:picMk id="4" creationId="{488C755F-8E2D-8CE1-6C1B-6DBB55EE2CD3}"/>
          </ac:picMkLst>
        </pc:picChg>
        <pc:picChg chg="add">
          <ac:chgData name="Gerardo Jahir Lara Garcia" userId="S::gerardo.larag@imss.gob.mx::84d5cd65-4601-4e92-b448-a9da4809e012" providerId="AD" clId="Web-{40904AC9-6AE3-74DB-3733-BB647421A5EF}" dt="2026-05-13T00:09:40.664" v="1"/>
          <ac:picMkLst>
            <pc:docMk/>
            <pc:sldMk cId="364733940" sldId="284"/>
            <ac:picMk id="8" creationId="{4F2E1097-3694-6090-CBA5-667DCD67E48E}"/>
          </ac:picMkLst>
        </pc:picChg>
        <pc:picChg chg="add">
          <ac:chgData name="Gerardo Jahir Lara Garcia" userId="S::gerardo.larag@imss.gob.mx::84d5cd65-4601-4e92-b448-a9da4809e012" providerId="AD" clId="Web-{40904AC9-6AE3-74DB-3733-BB647421A5EF}" dt="2026-05-13T00:09:40.664" v="1"/>
          <ac:picMkLst>
            <pc:docMk/>
            <pc:sldMk cId="364733940" sldId="284"/>
            <ac:picMk id="10" creationId="{CA24C0E7-282C-9B96-A7B5-7554B2C6EF8D}"/>
          </ac:picMkLst>
        </pc:picChg>
      </pc:sldChg>
      <pc:sldChg chg="addSp delSp modSp">
        <pc:chgData name="Gerardo Jahir Lara Garcia" userId="S::gerardo.larag@imss.gob.mx::84d5cd65-4601-4e92-b448-a9da4809e012" providerId="AD" clId="Web-{40904AC9-6AE3-74DB-3733-BB647421A5EF}" dt="2026-05-13T00:10:47.792" v="23" actId="1076"/>
        <pc:sldMkLst>
          <pc:docMk/>
          <pc:sldMk cId="3240565764" sldId="297"/>
        </pc:sldMkLst>
        <pc:spChg chg="add">
          <ac:chgData name="Gerardo Jahir Lara Garcia" userId="S::gerardo.larag@imss.gob.mx::84d5cd65-4601-4e92-b448-a9da4809e012" providerId="AD" clId="Web-{40904AC9-6AE3-74DB-3733-BB647421A5EF}" dt="2026-05-13T00:09:33.211" v="0"/>
          <ac:spMkLst>
            <pc:docMk/>
            <pc:sldMk cId="3240565764" sldId="297"/>
            <ac:spMk id="3" creationId="{21AE8FA6-CA77-F761-93C9-BF2570CBBE30}"/>
          </ac:spMkLst>
        </pc:spChg>
        <pc:spChg chg="add mod">
          <ac:chgData name="Gerardo Jahir Lara Garcia" userId="S::gerardo.larag@imss.gob.mx::84d5cd65-4601-4e92-b448-a9da4809e012" providerId="AD" clId="Web-{40904AC9-6AE3-74DB-3733-BB647421A5EF}" dt="2026-05-13T00:10:29.994" v="17" actId="1076"/>
          <ac:spMkLst>
            <pc:docMk/>
            <pc:sldMk cId="3240565764" sldId="297"/>
            <ac:spMk id="7" creationId="{FD4175D4-66CF-7FBC-B843-C149C5339DF1}"/>
          </ac:spMkLst>
        </pc:spChg>
        <pc:spChg chg="add del">
          <ac:chgData name="Gerardo Jahir Lara Garcia" userId="S::gerardo.larag@imss.gob.mx::84d5cd65-4601-4e92-b448-a9da4809e012" providerId="AD" clId="Web-{40904AC9-6AE3-74DB-3733-BB647421A5EF}" dt="2026-05-13T00:10:09.118" v="2"/>
          <ac:spMkLst>
            <pc:docMk/>
            <pc:sldMk cId="3240565764" sldId="297"/>
            <ac:spMk id="9" creationId="{50F1217E-09B0-81A3-6E99-CB1DE729ADDF}"/>
          </ac:spMkLst>
        </pc:spChg>
        <pc:spChg chg="add mod">
          <ac:chgData name="Gerardo Jahir Lara Garcia" userId="S::gerardo.larag@imss.gob.mx::84d5cd65-4601-4e92-b448-a9da4809e012" providerId="AD" clId="Web-{40904AC9-6AE3-74DB-3733-BB647421A5EF}" dt="2026-05-13T00:10:47.792" v="21" actId="1076"/>
          <ac:spMkLst>
            <pc:docMk/>
            <pc:sldMk cId="3240565764" sldId="297"/>
            <ac:spMk id="10" creationId="{991C7EE4-1170-AC4C-597D-3383D8E8A8F9}"/>
          </ac:spMkLst>
        </pc:spChg>
        <pc:spChg chg="add mod">
          <ac:chgData name="Gerardo Jahir Lara Garcia" userId="S::gerardo.larag@imss.gob.mx::84d5cd65-4601-4e92-b448-a9da4809e012" providerId="AD" clId="Web-{40904AC9-6AE3-74DB-3733-BB647421A5EF}" dt="2026-05-13T00:10:47.792" v="23" actId="1076"/>
          <ac:spMkLst>
            <pc:docMk/>
            <pc:sldMk cId="3240565764" sldId="297"/>
            <ac:spMk id="12" creationId="{CA535D92-E281-11D7-D7CB-F8BAB9F176B8}"/>
          </ac:spMkLst>
        </pc:spChg>
        <pc:spChg chg="add">
          <ac:chgData name="Gerardo Jahir Lara Garcia" userId="S::gerardo.larag@imss.gob.mx::84d5cd65-4601-4e92-b448-a9da4809e012" providerId="AD" clId="Web-{40904AC9-6AE3-74DB-3733-BB647421A5EF}" dt="2026-05-13T00:09:33.211" v="0"/>
          <ac:spMkLst>
            <pc:docMk/>
            <pc:sldMk cId="3240565764" sldId="297"/>
            <ac:spMk id="13" creationId="{B9C2E918-974F-A566-8C8B-5DDE4ED4290B}"/>
          </ac:spMkLst>
        </pc:spChg>
        <pc:spChg chg="add">
          <ac:chgData name="Gerardo Jahir Lara Garcia" userId="S::gerardo.larag@imss.gob.mx::84d5cd65-4601-4e92-b448-a9da4809e012" providerId="AD" clId="Web-{40904AC9-6AE3-74DB-3733-BB647421A5EF}" dt="2026-05-13T00:09:33.211" v="0"/>
          <ac:spMkLst>
            <pc:docMk/>
            <pc:sldMk cId="3240565764" sldId="297"/>
            <ac:spMk id="15" creationId="{A0083CC0-370A-999A-F425-0B0E05DEB5CF}"/>
          </ac:spMkLst>
        </pc:spChg>
        <pc:picChg chg="add">
          <ac:chgData name="Gerardo Jahir Lara Garcia" userId="S::gerardo.larag@imss.gob.mx::84d5cd65-4601-4e92-b448-a9da4809e012" providerId="AD" clId="Web-{40904AC9-6AE3-74DB-3733-BB647421A5EF}" dt="2026-05-13T00:09:33.211" v="0"/>
          <ac:picMkLst>
            <pc:docMk/>
            <pc:sldMk cId="3240565764" sldId="297"/>
            <ac:picMk id="4" creationId="{AE9FD96F-084C-5DEE-6966-05F8D1633A42}"/>
          </ac:picMkLst>
        </pc:picChg>
        <pc:picChg chg="add del">
          <ac:chgData name="Gerardo Jahir Lara Garcia" userId="S::gerardo.larag@imss.gob.mx::84d5cd65-4601-4e92-b448-a9da4809e012" providerId="AD" clId="Web-{40904AC9-6AE3-74DB-3733-BB647421A5EF}" dt="2026-05-13T00:10:09.118" v="3"/>
          <ac:picMkLst>
            <pc:docMk/>
            <pc:sldMk cId="3240565764" sldId="297"/>
            <ac:picMk id="8" creationId="{170CBE01-E044-2F44-556A-69D0B561DC01}"/>
          </ac:picMkLst>
        </pc:picChg>
        <pc:picChg chg="add mod">
          <ac:chgData name="Gerardo Jahir Lara Garcia" userId="S::gerardo.larag@imss.gob.mx::84d5cd65-4601-4e92-b448-a9da4809e012" providerId="AD" clId="Web-{40904AC9-6AE3-74DB-3733-BB647421A5EF}" dt="2026-05-13T00:10:47.792" v="22" actId="1076"/>
          <ac:picMkLst>
            <pc:docMk/>
            <pc:sldMk cId="3240565764" sldId="297"/>
            <ac:picMk id="11" creationId="{F7B31A16-FD1A-331A-6F76-259EB810FD76}"/>
          </ac:picMkLst>
        </pc:picChg>
      </pc:sldChg>
    </pc:docChg>
  </pc:docChgLst>
  <pc:docChgLst>
    <pc:chgData name="Carlos Esponda Rosales" userId="08a2b2cc-6d12-4dea-90fe-c484bece8186" providerId="ADAL" clId="{6846A1DD-3EC1-5A12-B3C5-9C410579EE4F}"/>
    <pc:docChg chg="addSld modSld">
      <pc:chgData name="Carlos Esponda Rosales" userId="08a2b2cc-6d12-4dea-90fe-c484bece8186" providerId="ADAL" clId="{6846A1DD-3EC1-5A12-B3C5-9C410579EE4F}" dt="2026-05-08T17:39:25.585" v="0"/>
      <pc:docMkLst>
        <pc:docMk/>
      </pc:docMkLst>
      <pc:sldChg chg="add">
        <pc:chgData name="Carlos Esponda Rosales" userId="08a2b2cc-6d12-4dea-90fe-c484bece8186" providerId="ADAL" clId="{6846A1DD-3EC1-5A12-B3C5-9C410579EE4F}" dt="2026-05-08T17:39:25.585" v="0"/>
        <pc:sldMkLst>
          <pc:docMk/>
          <pc:sldMk cId="2488437317" sldId="299"/>
        </pc:sldMkLst>
      </pc:sldChg>
    </pc:docChg>
  </pc:docChgLst>
  <pc:docChgLst>
    <pc:chgData name="Edgar Rosales Ortega" userId="d1d54fc2-1570-4978-babc-e22e1526833f" providerId="ADAL" clId="{66BE7C30-C669-4152-AC74-10076FC0590C}"/>
    <pc:docChg chg="custSel modSld sldOrd">
      <pc:chgData name="Edgar Rosales Ortega" userId="d1d54fc2-1570-4978-babc-e22e1526833f" providerId="ADAL" clId="{66BE7C30-C669-4152-AC74-10076FC0590C}" dt="2026-05-07T19:30:40.151" v="96" actId="14100"/>
      <pc:docMkLst>
        <pc:docMk/>
      </pc:docMkLst>
      <pc:sldChg chg="addSp delSp modSp mod">
        <pc:chgData name="Edgar Rosales Ortega" userId="d1d54fc2-1570-4978-babc-e22e1526833f" providerId="ADAL" clId="{66BE7C30-C669-4152-AC74-10076FC0590C}" dt="2026-04-30T23:24:09.799" v="85" actId="1035"/>
        <pc:sldMkLst>
          <pc:docMk/>
          <pc:sldMk cId="0" sldId="260"/>
        </pc:sldMkLst>
        <pc:spChg chg="add mod">
          <ac:chgData name="Edgar Rosales Ortega" userId="d1d54fc2-1570-4978-babc-e22e1526833f" providerId="ADAL" clId="{66BE7C30-C669-4152-AC74-10076FC0590C}" dt="2026-04-30T23:24:09.799" v="85" actId="1035"/>
          <ac:spMkLst>
            <pc:docMk/>
            <pc:sldMk cId="0" sldId="260"/>
            <ac:spMk id="7" creationId="{7A122D17-67FA-B978-2456-09D75F9EFF71}"/>
          </ac:spMkLst>
        </pc:spChg>
        <pc:graphicFrameChg chg="add mod">
          <ac:chgData name="Edgar Rosales Ortega" userId="d1d54fc2-1570-4978-babc-e22e1526833f" providerId="ADAL" clId="{66BE7C30-C669-4152-AC74-10076FC0590C}" dt="2026-04-30T23:24:02.928" v="36" actId="1076"/>
          <ac:graphicFrameMkLst>
            <pc:docMk/>
            <pc:sldMk cId="0" sldId="260"/>
            <ac:graphicFrameMk id="5" creationId="{C016641E-9252-F0A7-91A5-859146099534}"/>
          </ac:graphicFrameMkLst>
        </pc:graphicFrameChg>
        <pc:picChg chg="add mod">
          <ac:chgData name="Edgar Rosales Ortega" userId="d1d54fc2-1570-4978-babc-e22e1526833f" providerId="ADAL" clId="{66BE7C30-C669-4152-AC74-10076FC0590C}" dt="2026-04-30T23:24:09.799" v="85" actId="1035"/>
          <ac:picMkLst>
            <pc:docMk/>
            <pc:sldMk cId="0" sldId="260"/>
            <ac:picMk id="6" creationId="{3F5A7FDF-9878-E275-11D4-E921F5F14008}"/>
          </ac:picMkLst>
        </pc:picChg>
      </pc:sldChg>
      <pc:sldChg chg="addSp delSp modSp mod">
        <pc:chgData name="Edgar Rosales Ortega" userId="d1d54fc2-1570-4978-babc-e22e1526833f" providerId="ADAL" clId="{66BE7C30-C669-4152-AC74-10076FC0590C}" dt="2026-05-05T18:09:13.311" v="86" actId="164"/>
        <pc:sldMkLst>
          <pc:docMk/>
          <pc:sldMk cId="0" sldId="261"/>
        </pc:sldMkLst>
        <pc:spChg chg="add mod">
          <ac:chgData name="Edgar Rosales Ortega" userId="d1d54fc2-1570-4978-babc-e22e1526833f" providerId="ADAL" clId="{66BE7C30-C669-4152-AC74-10076FC0590C}" dt="2026-05-05T18:09:13.311" v="86" actId="164"/>
          <ac:spMkLst>
            <pc:docMk/>
            <pc:sldMk cId="0" sldId="261"/>
            <ac:spMk id="14" creationId="{0E35FB57-78A5-3E68-6842-5AF8B0E961DF}"/>
          </ac:spMkLst>
        </pc:spChg>
        <pc:spChg chg="add mod">
          <ac:chgData name="Edgar Rosales Ortega" userId="d1d54fc2-1570-4978-babc-e22e1526833f" providerId="ADAL" clId="{66BE7C30-C669-4152-AC74-10076FC0590C}" dt="2026-05-05T18:09:13.311" v="86" actId="164"/>
          <ac:spMkLst>
            <pc:docMk/>
            <pc:sldMk cId="0" sldId="261"/>
            <ac:spMk id="15" creationId="{77E7161E-54F6-44F5-3372-A8375329FBBC}"/>
          </ac:spMkLst>
        </pc:spChg>
        <pc:spChg chg="mod">
          <ac:chgData name="Edgar Rosales Ortega" userId="d1d54fc2-1570-4978-babc-e22e1526833f" providerId="ADAL" clId="{66BE7C30-C669-4152-AC74-10076FC0590C}" dt="2026-04-23T17:06:51.754" v="13"/>
          <ac:spMkLst>
            <pc:docMk/>
            <pc:sldMk cId="0" sldId="261"/>
            <ac:spMk id="17" creationId="{FD4D91E5-D107-D3B7-E651-96BD25F07EEF}"/>
          </ac:spMkLst>
        </pc:spChg>
        <pc:spChg chg="mod">
          <ac:chgData name="Edgar Rosales Ortega" userId="d1d54fc2-1570-4978-babc-e22e1526833f" providerId="ADAL" clId="{66BE7C30-C669-4152-AC74-10076FC0590C}" dt="2026-04-23T17:06:51.754" v="13"/>
          <ac:spMkLst>
            <pc:docMk/>
            <pc:sldMk cId="0" sldId="261"/>
            <ac:spMk id="18" creationId="{493D5A78-68DF-8CDE-88B9-CC8136F8EBFB}"/>
          </ac:spMkLst>
        </pc:spChg>
        <pc:spChg chg="add mod">
          <ac:chgData name="Edgar Rosales Ortega" userId="d1d54fc2-1570-4978-babc-e22e1526833f" providerId="ADAL" clId="{66BE7C30-C669-4152-AC74-10076FC0590C}" dt="2026-05-05T18:09:13.311" v="86" actId="164"/>
          <ac:spMkLst>
            <pc:docMk/>
            <pc:sldMk cId="0" sldId="261"/>
            <ac:spMk id="19" creationId="{4645C453-D026-38B5-2031-0116FCE04D38}"/>
          </ac:spMkLst>
        </pc:spChg>
        <pc:spChg chg="add mod">
          <ac:chgData name="Edgar Rosales Ortega" userId="d1d54fc2-1570-4978-babc-e22e1526833f" providerId="ADAL" clId="{66BE7C30-C669-4152-AC74-10076FC0590C}" dt="2026-05-05T18:09:13.311" v="86" actId="164"/>
          <ac:spMkLst>
            <pc:docMk/>
            <pc:sldMk cId="0" sldId="261"/>
            <ac:spMk id="20" creationId="{7109BB45-4963-DEBC-0918-D52BB229464E}"/>
          </ac:spMkLst>
        </pc:spChg>
        <pc:spChg chg="add mod">
          <ac:chgData name="Edgar Rosales Ortega" userId="d1d54fc2-1570-4978-babc-e22e1526833f" providerId="ADAL" clId="{66BE7C30-C669-4152-AC74-10076FC0590C}" dt="2026-05-05T18:09:13.311" v="86" actId="164"/>
          <ac:spMkLst>
            <pc:docMk/>
            <pc:sldMk cId="0" sldId="261"/>
            <ac:spMk id="21" creationId="{059D5CCF-4CC7-33A0-29A0-8FD40FAE12EE}"/>
          </ac:spMkLst>
        </pc:spChg>
        <pc:grpChg chg="add mod">
          <ac:chgData name="Edgar Rosales Ortega" userId="d1d54fc2-1570-4978-babc-e22e1526833f" providerId="ADAL" clId="{66BE7C30-C669-4152-AC74-10076FC0590C}" dt="2026-05-05T18:09:13.311" v="86" actId="164"/>
          <ac:grpSpMkLst>
            <pc:docMk/>
            <pc:sldMk cId="0" sldId="261"/>
            <ac:grpSpMk id="2" creationId="{2F165937-EA2B-66C5-8EEB-255D753E6799}"/>
          </ac:grpSpMkLst>
        </pc:grpChg>
        <pc:grpChg chg="add mod">
          <ac:chgData name="Edgar Rosales Ortega" userId="d1d54fc2-1570-4978-babc-e22e1526833f" providerId="ADAL" clId="{66BE7C30-C669-4152-AC74-10076FC0590C}" dt="2026-05-05T18:09:13.311" v="86" actId="164"/>
          <ac:grpSpMkLst>
            <pc:docMk/>
            <pc:sldMk cId="0" sldId="261"/>
            <ac:grpSpMk id="16" creationId="{BADDDAEF-D4B6-0D52-7488-93CE5651C542}"/>
          </ac:grpSpMkLst>
        </pc:grpChg>
        <pc:picChg chg="add mod">
          <ac:chgData name="Edgar Rosales Ortega" userId="d1d54fc2-1570-4978-babc-e22e1526833f" providerId="ADAL" clId="{66BE7C30-C669-4152-AC74-10076FC0590C}" dt="2026-05-05T18:09:13.311" v="86" actId="164"/>
          <ac:picMkLst>
            <pc:docMk/>
            <pc:sldMk cId="0" sldId="261"/>
            <ac:picMk id="12" creationId="{BF61E68E-8796-C189-1D02-521225D43C03}"/>
          </ac:picMkLst>
        </pc:picChg>
        <pc:picChg chg="add mod">
          <ac:chgData name="Edgar Rosales Ortega" userId="d1d54fc2-1570-4978-babc-e22e1526833f" providerId="ADAL" clId="{66BE7C30-C669-4152-AC74-10076FC0590C}" dt="2026-05-05T18:09:13.311" v="86" actId="164"/>
          <ac:picMkLst>
            <pc:docMk/>
            <pc:sldMk cId="0" sldId="261"/>
            <ac:picMk id="13" creationId="{85E0939D-1D45-FA2B-C96C-E4049B8DC898}"/>
          </ac:picMkLst>
        </pc:picChg>
      </pc:sldChg>
      <pc:sldChg chg="delSp mod">
        <pc:chgData name="Edgar Rosales Ortega" userId="d1d54fc2-1570-4978-babc-e22e1526833f" providerId="ADAL" clId="{66BE7C30-C669-4152-AC74-10076FC0590C}" dt="2026-05-07T19:29:59.369" v="89" actId="478"/>
        <pc:sldMkLst>
          <pc:docMk/>
          <pc:sldMk cId="0" sldId="262"/>
        </pc:sldMkLst>
      </pc:sldChg>
      <pc:sldChg chg="addSp delSp modSp mod ord">
        <pc:chgData name="Edgar Rosales Ortega" userId="d1d54fc2-1570-4978-babc-e22e1526833f" providerId="ADAL" clId="{66BE7C30-C669-4152-AC74-10076FC0590C}" dt="2026-05-07T19:30:07.035" v="91" actId="478"/>
        <pc:sldMkLst>
          <pc:docMk/>
          <pc:sldMk cId="0" sldId="263"/>
        </pc:sldMkLst>
      </pc:sldChg>
      <pc:sldChg chg="modSp mod ord">
        <pc:chgData name="Edgar Rosales Ortega" userId="d1d54fc2-1570-4978-babc-e22e1526833f" providerId="ADAL" clId="{66BE7C30-C669-4152-AC74-10076FC0590C}" dt="2026-04-30T15:59:48.931" v="31"/>
        <pc:sldMkLst>
          <pc:docMk/>
          <pc:sldMk cId="0" sldId="267"/>
        </pc:sldMkLst>
        <pc:graphicFrameChg chg="modGraphic">
          <ac:chgData name="Edgar Rosales Ortega" userId="d1d54fc2-1570-4978-babc-e22e1526833f" providerId="ADAL" clId="{66BE7C30-C669-4152-AC74-10076FC0590C}" dt="2026-04-30T00:26:46.135" v="14" actId="20577"/>
          <ac:graphicFrameMkLst>
            <pc:docMk/>
            <pc:sldMk cId="0" sldId="267"/>
            <ac:graphicFrameMk id="230" creationId="{00000000-0000-0000-0000-000000000000}"/>
          </ac:graphicFrameMkLst>
        </pc:graphicFrameChg>
      </pc:sldChg>
      <pc:sldChg chg="modSp">
        <pc:chgData name="Edgar Rosales Ortega" userId="d1d54fc2-1570-4978-babc-e22e1526833f" providerId="ADAL" clId="{66BE7C30-C669-4152-AC74-10076FC0590C}" dt="2026-05-07T19:30:21.730" v="92"/>
        <pc:sldMkLst>
          <pc:docMk/>
          <pc:sldMk cId="0" sldId="272"/>
        </pc:sldMkLst>
        <pc:graphicFrameChg chg="mod">
          <ac:chgData name="Edgar Rosales Ortega" userId="d1d54fc2-1570-4978-babc-e22e1526833f" providerId="ADAL" clId="{66BE7C30-C669-4152-AC74-10076FC0590C}" dt="2026-05-07T19:30:21.730" v="92"/>
          <ac:graphicFrameMkLst>
            <pc:docMk/>
            <pc:sldMk cId="0" sldId="272"/>
            <ac:graphicFrameMk id="347" creationId="{00000000-0000-0000-0000-000000000000}"/>
          </ac:graphicFrameMkLst>
        </pc:graphicFrameChg>
      </pc:sldChg>
      <pc:sldChg chg="addSp delSp modSp mod">
        <pc:chgData name="Edgar Rosales Ortega" userId="d1d54fc2-1570-4978-babc-e22e1526833f" providerId="ADAL" clId="{66BE7C30-C669-4152-AC74-10076FC0590C}" dt="2026-05-05T18:09:32.674" v="88" actId="1076"/>
        <pc:sldMkLst>
          <pc:docMk/>
          <pc:sldMk cId="0" sldId="279"/>
        </pc:sldMkLst>
        <pc:spChg chg="add mod">
          <ac:chgData name="Edgar Rosales Ortega" userId="d1d54fc2-1570-4978-babc-e22e1526833f" providerId="ADAL" clId="{66BE7C30-C669-4152-AC74-10076FC0590C}" dt="2026-04-30T16:32:44.579" v="32" actId="1076"/>
          <ac:spMkLst>
            <pc:docMk/>
            <pc:sldMk cId="0" sldId="279"/>
            <ac:spMk id="2" creationId="{624E426C-214B-9408-8FCC-3D097E7961AD}"/>
          </ac:spMkLst>
        </pc:spChg>
        <pc:spChg chg="mod">
          <ac:chgData name="Edgar Rosales Ortega" userId="d1d54fc2-1570-4978-babc-e22e1526833f" providerId="ADAL" clId="{66BE7C30-C669-4152-AC74-10076FC0590C}" dt="2026-05-05T18:09:32.674" v="88" actId="1076"/>
          <ac:spMkLst>
            <pc:docMk/>
            <pc:sldMk cId="0" sldId="279"/>
            <ac:spMk id="500" creationId="{00000000-0000-0000-0000-000000000000}"/>
          </ac:spMkLst>
        </pc:spChg>
      </pc:sldChg>
      <pc:sldChg chg="modSp mod ord">
        <pc:chgData name="Edgar Rosales Ortega" userId="d1d54fc2-1570-4978-babc-e22e1526833f" providerId="ADAL" clId="{66BE7C30-C669-4152-AC74-10076FC0590C}" dt="2026-04-30T15:59:42.395" v="27"/>
        <pc:sldMkLst>
          <pc:docMk/>
          <pc:sldMk cId="540716406" sldId="280"/>
        </pc:sldMkLst>
        <pc:graphicFrameChg chg="modGraphic">
          <ac:chgData name="Edgar Rosales Ortega" userId="d1d54fc2-1570-4978-babc-e22e1526833f" providerId="ADAL" clId="{66BE7C30-C669-4152-AC74-10076FC0590C}" dt="2026-04-30T00:26:49.014" v="15" actId="20577"/>
          <ac:graphicFrameMkLst>
            <pc:docMk/>
            <pc:sldMk cId="540716406" sldId="280"/>
            <ac:graphicFrameMk id="230" creationId="{64EDC3BC-A199-227A-0CEC-FB808E16739F}"/>
          </ac:graphicFrameMkLst>
        </pc:graphicFrameChg>
      </pc:sldChg>
      <pc:sldChg chg="addSp delSp modSp mod">
        <pc:chgData name="Edgar Rosales Ortega" userId="d1d54fc2-1570-4978-babc-e22e1526833f" providerId="ADAL" clId="{66BE7C30-C669-4152-AC74-10076FC0590C}" dt="2026-05-05T18:09:19.475" v="87" actId="478"/>
        <pc:sldMkLst>
          <pc:docMk/>
          <pc:sldMk cId="3828482411" sldId="281"/>
        </pc:sldMkLst>
      </pc:sldChg>
      <pc:sldChg chg="modSp mod">
        <pc:chgData name="Edgar Rosales Ortega" userId="d1d54fc2-1570-4978-babc-e22e1526833f" providerId="ADAL" clId="{66BE7C30-C669-4152-AC74-10076FC0590C}" dt="2026-05-07T19:30:40.151" v="96" actId="14100"/>
        <pc:sldMkLst>
          <pc:docMk/>
          <pc:sldMk cId="364733940" sldId="284"/>
        </pc:sldMkLst>
        <pc:picChg chg="mod">
          <ac:chgData name="Edgar Rosales Ortega" userId="d1d54fc2-1570-4978-babc-e22e1526833f" providerId="ADAL" clId="{66BE7C30-C669-4152-AC74-10076FC0590C}" dt="2026-05-07T19:30:40.151" v="96" actId="14100"/>
          <ac:picMkLst>
            <pc:docMk/>
            <pc:sldMk cId="364733940" sldId="284"/>
            <ac:picMk id="2" creationId="{1B5687F4-45A0-92B4-9653-1598AF1BC42E}"/>
          </ac:picMkLst>
        </pc:picChg>
      </pc:sldChg>
      <pc:sldChg chg="modSp mod ord">
        <pc:chgData name="Edgar Rosales Ortega" userId="d1d54fc2-1570-4978-babc-e22e1526833f" providerId="ADAL" clId="{66BE7C30-C669-4152-AC74-10076FC0590C}" dt="2026-04-30T15:59:28.256" v="23"/>
        <pc:sldMkLst>
          <pc:docMk/>
          <pc:sldMk cId="748044913" sldId="287"/>
        </pc:sldMkLst>
        <pc:graphicFrameChg chg="modGraphic">
          <ac:chgData name="Edgar Rosales Ortega" userId="d1d54fc2-1570-4978-babc-e22e1526833f" providerId="ADAL" clId="{66BE7C30-C669-4152-AC74-10076FC0590C}" dt="2026-04-30T00:26:52.008" v="16" actId="20577"/>
          <ac:graphicFrameMkLst>
            <pc:docMk/>
            <pc:sldMk cId="748044913" sldId="287"/>
            <ac:graphicFrameMk id="230" creationId="{AC3C5A3E-612D-5067-1D46-BCA5AE81D01D}"/>
          </ac:graphicFrameMkLst>
        </pc:graphicFrameChg>
      </pc:sldChg>
      <pc:sldChg chg="modSp mod">
        <pc:chgData name="Edgar Rosales Ortega" userId="d1d54fc2-1570-4978-babc-e22e1526833f" providerId="ADAL" clId="{66BE7C30-C669-4152-AC74-10076FC0590C}" dt="2026-05-07T19:30:26.039" v="93" actId="14100"/>
        <pc:sldMkLst>
          <pc:docMk/>
          <pc:sldMk cId="3240565764" sldId="297"/>
        </pc:sldMkLst>
        <pc:picChg chg="mod">
          <ac:chgData name="Edgar Rosales Ortega" userId="d1d54fc2-1570-4978-babc-e22e1526833f" providerId="ADAL" clId="{66BE7C30-C669-4152-AC74-10076FC0590C}" dt="2026-05-07T19:30:26.039" v="93" actId="14100"/>
          <ac:picMkLst>
            <pc:docMk/>
            <pc:sldMk cId="3240565764" sldId="297"/>
            <ac:picMk id="5" creationId="{4689FF38-8CFA-FB37-4E7B-B5603B7FC116}"/>
          </ac:picMkLst>
        </pc:picChg>
      </pc:sldChg>
      <pc:sldChg chg="ord">
        <pc:chgData name="Edgar Rosales Ortega" userId="d1d54fc2-1570-4978-babc-e22e1526833f" providerId="ADAL" clId="{66BE7C30-C669-4152-AC74-10076FC0590C}" dt="2026-04-17T20:44:30.811" v="1"/>
        <pc:sldMkLst>
          <pc:docMk/>
          <pc:sldMk cId="1200248770" sldId="298"/>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006455"/>
              </a:solidFill>
            </c:spPr>
          </c:dPt>
          <c:dPt>
            <c:idx val="1"/>
            <c:spPr>
              <a:solidFill>
                <a:srgbClr val="549ECF"/>
              </a:solidFill>
            </c:spPr>
          </c:dPt>
          <c:dPt>
            <c:idx val="2"/>
            <c:spPr>
              <a:solidFill>
                <a:srgbClr val="691C32"/>
              </a:solidFill>
            </c:spPr>
          </c:dPt>
          <c:dPt>
            <c:idx val="3"/>
            <c:spPr>
              <a:solidFill>
                <a:srgbClr val="BC955C"/>
              </a:solidFill>
            </c:spPr>
          </c:dPt>
          <c:dPt>
            <c:idx val="4"/>
            <c:spPr>
              <a:solidFill>
                <a:srgbClr val="9E9E9E"/>
              </a:solidFill>
            </c:spPr>
          </c:dPt>
          <c:cat>
            <c:strRef>
              <c:f>Sheet1!$A$2:$A$6</c:f>
              <c:strCache>
                <c:ptCount val="5"/>
                <c:pt idx="0">
                  <c:v>IMSS</c:v>
                </c:pt>
                <c:pt idx="1">
                  <c:v>IMSS Coplamar</c:v>
                </c:pt>
                <c:pt idx="2">
                  <c:v>ISSSTE</c:v>
                </c:pt>
                <c:pt idx="3">
                  <c:v>IMSS-BIENESTAR</c:v>
                </c:pt>
                <c:pt idx="4">
                  <c:v>Otros</c:v>
                </c:pt>
              </c:strCache>
            </c:strRef>
          </c:cat>
          <c:val>
            <c:numRef>
              <c:f>Sheet1!$B$2:$B$6</c:f>
              <c:numCache>
                <c:formatCode>General</c:formatCode>
                <c:ptCount val="5"/>
                <c:pt idx="0">
                  <c:v>694754.0</c:v>
                </c:pt>
                <c:pt idx="1">
                  <c:v>409391.0</c:v>
                </c:pt>
                <c:pt idx="2">
                  <c:v>229210.0</c:v>
                </c:pt>
                <c:pt idx="3">
                  <c:v>389507.0</c:v>
                </c:pt>
                <c:pt idx="4">
                  <c:v>4036.0</c:v>
                </c:pt>
              </c:numCache>
            </c:numRef>
          </c:val>
        </c:ser>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38.50460000096893</c:v>
                </c:pt>
                <c:pt idx="1">
                  <c:v>61.49539999903107</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title>
      <c:layout/>
      <c:overlay val="0"/>
    </c:title>
    <c:autoTitleDeleted val="0"/>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6.817384386</c:v>
                </c:pt>
                <c:pt idx="1">
                  <c:v>93.182615614</c:v>
                </c:pt>
              </c:numCache>
            </c:numRef>
          </c:val>
        </c:ser>
        <c:dLbls>
          <c:showLegendKey val="0"/>
          <c:showVal val="0"/>
          <c:showCatName val="0"/>
          <c:showSerName val="0"/>
          <c:showPercent val="0"/>
          <c:showBubbleSize val="0"/>
          <c:showLeaderLines val="1"/>
        </c:dLbls>
        <c:firstSliceAng val="0"/>
        <c:holeSize val="70"/>
      </c:doughnutChart>
      <c:autoTitleDeleted val="1"/>
    </c:plotArea>
    <c:plotVisOnly val="1"/>
    <c:dispBlanksAs val="gap"/>
    <c:showDLblsOverMax val="0"/>
  </c:chart>
  <c:txPr>
    <a:bodyPr/>
    <a:lstStyle/>
    <a:p>
      <a:pPr>
        <a:defRPr sz="1800"/>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38.08289698700658</c:v>
                </c:pt>
                <c:pt idx="1">
                  <c:v>61.91710301299342</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33.795401532822396</c:v>
                </c:pt>
                <c:pt idx="1">
                  <c:v>66.2045984671776</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
                </c:pt>
              </c:strCache>
            </c:strRef>
          </c:tx>
          <c:spPr>
            <a:solidFill>
              <a:srgbClr val="006455"/>
            </a:solidFill>
          </c:spPr>
          <c:dPt>
            <c:idx val="3"/>
            <c:spPr>
              <a:solidFill>
                <a:srgbClr val="691C32"/>
              </a:solidFill>
            </c:spPr>
          </c:dPt>
          <c:cat>
            <c:strRef>
              <c:f>Sheet1!$A$2:$A$5</c:f>
              <c:strCache>
                <c:ptCount val="4"/>
                <c:pt idx="0">
                  <c:v>2018</c:v>
                </c:pt>
                <c:pt idx="1">
                  <c:v>2024</c:v>
                </c:pt>
                <c:pt idx="2">
                  <c:v>2025</c:v>
                </c:pt>
                <c:pt idx="3">
                  <c:v>2026</c:v>
                </c:pt>
              </c:strCache>
            </c:strRef>
          </c:cat>
          <c:val>
            <c:numRef>
              <c:f>Sheet1!$B$2:$B$5</c:f>
              <c:numCache>
                <c:formatCode>General</c:formatCode>
                <c:ptCount val="4"/>
                <c:pt idx="0">
                  <c:v>20</c:v>
                </c:pt>
                <c:pt idx="1">
                  <c:v>75</c:v>
                </c:pt>
                <c:pt idx="2">
                  <c:v>56</c:v>
                </c:pt>
                <c:pt idx="3">
                  <c:v>27</c:v>
                </c:pt>
              </c:numCache>
            </c:numRef>
          </c:val>
        </c:ser>
        <c:dLbls>
          <c:numFmt formatCode="#,##0" sourceLinked="0"/>
          <c:txPr>
            <a:bodyPr/>
            <a:lstStyle/>
            <a:p>
              <a:pPr>
                <a:defRPr sz="1000" b="1">
                  <a:solidFill>
                    <a:srgbClr val="FFFFFF"/>
                  </a:solidFill>
                  <a:latin typeface="Montserrat"/>
                </a:defRPr>
              </a:pPr>
            </a:p>
          </c:txPr>
          <c:dLblPos val="in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val="0"/>
        <c:axPos val="b"/>
        <c:majorTickMark val="out"/>
        <c:minorTickMark val="none"/>
        <c:tickLblPos val="nextTo"/>
        <c:spPr>
          <a:ln>
            <a:solidFill>
              <a:srgbClr val="C8C8C8"/>
            </a:solidFill>
          </a:ln>
        </c:spPr>
        <c:txPr>
          <a:bodyPr/>
          <a:lstStyle/>
          <a:p>
            <a:pPr>
              <a:defRPr sz="1000" b="0">
                <a:latin typeface="Montserrat"/>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Mes Anterior</c:v>
                </c:pt>
              </c:strCache>
            </c:strRef>
          </c:tx>
          <c:spPr>
            <a:solidFill>
              <a:srgbClr val="006455"/>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Agricultura, Ganaderia, Silvicultura, Pesca y Caza</c:v>
                </c:pt>
                <c:pt idx="1">
                  <c:v>Servicios para Empresas, Personas y el Hogar</c:v>
                </c:pt>
                <c:pt idx="2">
                  <c:v>Servicios Sociales y Comunales</c:v>
                </c:pt>
                <c:pt idx="3">
                  <c:v>Comercio</c:v>
                </c:pt>
                <c:pt idx="4">
                  <c:v>Industrias Extractivas</c:v>
                </c:pt>
                <c:pt idx="5">
                  <c:v>Industria de la Construcción</c:v>
                </c:pt>
                <c:pt idx="6">
                  <c:v>Ind Eléctrica y Captación y Suministro de Agua Potable</c:v>
                </c:pt>
                <c:pt idx="7">
                  <c:v>Transportes y Comunicaciones</c:v>
                </c:pt>
                <c:pt idx="8">
                  <c:v>Industrias de la Transformación</c:v>
                </c:pt>
              </c:strCache>
            </c:strRef>
          </c:cat>
          <c:val>
            <c:numRef>
              <c:f>Sheet1!$B$2:$B$10</c:f>
              <c:numCache>
                <c:formatCode>General</c:formatCode>
                <c:ptCount val="9"/>
                <c:pt idx="0">
                  <c:v>7234</c:v>
                </c:pt>
                <c:pt idx="1">
                  <c:v>18117</c:v>
                </c:pt>
                <c:pt idx="2">
                  <c:v>50486</c:v>
                </c:pt>
                <c:pt idx="3">
                  <c:v>36221</c:v>
                </c:pt>
                <c:pt idx="4">
                  <c:v>14842</c:v>
                </c:pt>
                <c:pt idx="5">
                  <c:v>16343</c:v>
                </c:pt>
                <c:pt idx="6">
                  <c:v>1968</c:v>
                </c:pt>
                <c:pt idx="7">
                  <c:v>8316</c:v>
                </c:pt>
                <c:pt idx="8">
                  <c:v>36736</c:v>
                </c:pt>
              </c:numCache>
            </c:numRef>
          </c:val>
        </c:ser>
        <c:ser>
          <c:idx val="1"/>
          <c:order val="1"/>
          <c:tx>
            <c:strRef>
              <c:f>Sheet1!$C$1</c:f>
              <c:strCache>
                <c:ptCount val="1"/>
                <c:pt idx="0">
                  <c:v>Mes Actual</c:v>
                </c:pt>
              </c:strCache>
            </c:strRef>
          </c:tx>
          <c:spPr>
            <a:solidFill>
              <a:srgbClr val="9F2241"/>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Agricultura, Ganaderia, Silvicultura, Pesca y Caza</c:v>
                </c:pt>
                <c:pt idx="1">
                  <c:v>Servicios para Empresas, Personas y el Hogar</c:v>
                </c:pt>
                <c:pt idx="2">
                  <c:v>Servicios Sociales y Comunales</c:v>
                </c:pt>
                <c:pt idx="3">
                  <c:v>Comercio</c:v>
                </c:pt>
                <c:pt idx="4">
                  <c:v>Industrias Extractivas</c:v>
                </c:pt>
                <c:pt idx="5">
                  <c:v>Industria de la Construcción</c:v>
                </c:pt>
                <c:pt idx="6">
                  <c:v>Ind Eléctrica y Captación y Suministro de Agua Potable</c:v>
                </c:pt>
                <c:pt idx="7">
                  <c:v>Transportes y Comunicaciones</c:v>
                </c:pt>
                <c:pt idx="8">
                  <c:v>Industrias de la Transformación</c:v>
                </c:pt>
              </c:strCache>
            </c:strRef>
          </c:cat>
          <c:val>
            <c:numRef>
              <c:f>Sheet1!$C$2:$C$10</c:f>
              <c:numCache>
                <c:formatCode>General</c:formatCode>
                <c:ptCount val="9"/>
                <c:pt idx="0">
                  <c:v>3805</c:v>
                </c:pt>
                <c:pt idx="1">
                  <c:v>17911</c:v>
                </c:pt>
                <c:pt idx="2">
                  <c:v>50167</c:v>
                </c:pt>
                <c:pt idx="3">
                  <c:v>36446</c:v>
                </c:pt>
                <c:pt idx="4">
                  <c:v>15184</c:v>
                </c:pt>
                <c:pt idx="5">
                  <c:v>16751</c:v>
                </c:pt>
                <c:pt idx="6">
                  <c:v>2032</c:v>
                </c:pt>
                <c:pt idx="7">
                  <c:v>8656</c:v>
                </c:pt>
                <c:pt idx="8">
                  <c:v>39252</c:v>
                </c:pt>
              </c:numCache>
            </c:numRef>
          </c:val>
        </c:ser>
        <c:gapWidth val="50"/>
        <c:axId val="-2068027336"/>
        <c:axId val="-2113994440"/>
      </c:barChart>
      <c:catAx>
        <c:axId val="-2068027336"/>
        <c:scaling>
          <c:orientation val="maxMin"/>
        </c:scaling>
        <c:delete val="0"/>
        <c:axPos val="l"/>
        <c:majorTickMark val="out"/>
        <c:minorTickMark val="none"/>
        <c:tickLblPos val="nextTo"/>
        <c:txPr>
          <a:bodyPr/>
          <a:lstStyle/>
          <a:p>
            <a:pPr>
              <a:defRPr sz="700" b="1">
                <a:solidFill>
                  <a:srgbClr val="000000"/>
                </a:solidFill>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c:v>
                </c:pt>
              </c:strCache>
            </c:strRef>
          </c:tx>
          <c:spPr>
            <a:solidFill>
              <a:srgbClr val="006455"/>
            </a:solidFill>
          </c:spPr>
          <c:dLbls>
            <c:numFmt formatCode="#,##0" sourceLinked="0"/>
            <c:txPr>
              <a:bodyPr/>
              <a:lstStyle/>
              <a:p>
                <a:pPr>
                  <a:defRPr sz="1000" b="1">
                    <a:solidFill>
                      <a:srgbClr val="006455"/>
                    </a:solidFill>
                    <a:latin typeface="Montserrat"/>
                  </a:defRPr>
                </a:pPr>
              </a:p>
            </c:txPr>
            <c:showLegendKey val="0"/>
            <c:showVal val="1"/>
            <c:showCatName val="0"/>
            <c:showSerName val="0"/>
            <c:showPercent val="0"/>
            <c:showBubbleSize val="0"/>
            <c:showLeaderLines val="1"/>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Sheet1!$B$2:$B$10</c:f>
              <c:numCache>
                <c:formatCode>General</c:formatCode>
                <c:ptCount val="9"/>
                <c:pt idx="0">
                  <c:v>183433</c:v>
                </c:pt>
                <c:pt idx="1">
                  <c:v>186925</c:v>
                </c:pt>
                <c:pt idx="2">
                  <c:v>184170</c:v>
                </c:pt>
                <c:pt idx="3">
                  <c:v>189657</c:v>
                </c:pt>
                <c:pt idx="4">
                  <c:v>196069</c:v>
                </c:pt>
                <c:pt idx="5">
                  <c:v>197853</c:v>
                </c:pt>
                <c:pt idx="6">
                  <c:v>198057</c:v>
                </c:pt>
                <c:pt idx="7">
                  <c:v>190263</c:v>
                </c:pt>
                <c:pt idx="8">
                  <c:v>190204</c:v>
                </c:pt>
              </c:numCache>
            </c:numRef>
          </c:val>
        </c:ser>
        <c:gapWidth val="5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2: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3: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3: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70e475fb19_0_7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70e475fb19_0_7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70e475fb19_0_7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70e475fb19_0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370e475fb19_0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9" name="Google Shape;149;g370e475fb19_0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D8CC2EB2-B4B5-DF9D-D03F-84BA21932642}"/>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D61FD4FA-3960-F948-705D-21ADCFA06B68}"/>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B4D1B589-042A-686D-1FA4-40E5F0171D1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85849D9F-FCA5-3D56-88F1-3CCEF7C7545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06108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0e87ffe7a_2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70e87ffe7a_2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1" name="Google Shape;161;g370e87ffe7a_2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74dacdbb20_1_4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713CA8D3-B9B4-BC1B-ED04-0F0A8FB5DFA6}"/>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0C12CFCD-9EDC-91CC-392B-3071D00822A3}"/>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2AF8A86E-90FD-0940-0A54-4F37F3BBC8BA}"/>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6013F875-DB71-E5E2-F8FA-6CB348085A1B}"/>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5145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70e87ffe7a_2_13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4BBC1820-6F1A-4880-262B-A409E4701C61}"/>
            </a:ext>
          </a:extLst>
        </p:cNvPr>
        <p:cNvGrpSpPr/>
        <p:nvPr/>
      </p:nvGrpSpPr>
      <p:grpSpPr>
        <a:xfrm>
          <a:off x="0" y="0"/>
          <a:ext cx="0" cy="0"/>
          <a:chOff x="0" y="0"/>
          <a:chExt cx="0" cy="0"/>
        </a:xfrm>
      </p:grpSpPr>
      <p:sp>
        <p:nvSpPr>
          <p:cNvPr id="167" name="Google Shape;167;g374dacdbb20_1_49:notes">
            <a:extLst>
              <a:ext uri="{FF2B5EF4-FFF2-40B4-BE49-F238E27FC236}">
                <a16:creationId xmlns:a16="http://schemas.microsoft.com/office/drawing/2014/main" id="{BF2E40AE-DCD2-1429-6B72-57325BC9F194}"/>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a:extLst>
              <a:ext uri="{FF2B5EF4-FFF2-40B4-BE49-F238E27FC236}">
                <a16:creationId xmlns:a16="http://schemas.microsoft.com/office/drawing/2014/main" id="{28567A14-31BD-9E56-867C-B69C8D2DC919}"/>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a:extLst>
              <a:ext uri="{FF2B5EF4-FFF2-40B4-BE49-F238E27FC236}">
                <a16:creationId xmlns:a16="http://schemas.microsoft.com/office/drawing/2014/main" id="{3C8E11FD-DB15-A65D-65ED-FA131BC9849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11561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AFE433D0-89C5-16E2-5C15-2BF5968CA7E3}"/>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4D0685CF-5CBC-59A9-38DF-D0644AA3C035}"/>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420B0C9D-FA1D-88D5-A07F-389E7A7CB18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3CB75F7B-DBC0-B30C-AF51-88EA51AC237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52521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08" name="Google Shape;308;p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70e87ffe7a_2_21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302DA1AD-DC59-3000-7A33-461D8414CF15}"/>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8B2E3E8A-1EC6-D995-AC17-846CE9C51586}"/>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55E2556A-7BF8-3E42-359D-76358D9BCBBF}"/>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09489A0A-9EDD-DF26-612E-143D64D53E0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19</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867157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6748FD04-E291-0974-F4E5-FC419EB554C3}"/>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023253F0-14D4-7F0B-EE6E-A818859FFABB}"/>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471D9D08-AB58-0AA1-FB4E-ED2CE9BA972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9D7235F3-FF7F-6E66-9B6F-24EAFC762A0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20</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6462116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99F6AE50-7516-062A-8150-10B1F45D6F28}"/>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9480E368-56B1-0B8B-C173-5B48C9CF4D30}"/>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1B9C63BB-C6A9-A587-325E-C12C2D94C1F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A359AA88-700C-9A17-FB2E-8A8735D21CF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21</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679420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6: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p16: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54" name="Google Shape;454;p16: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70e87ffe7a_2_29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g370e87ffe7a_2_29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70" name="Google Shape;470;g370e87ffe7a_2_29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70e87ffe7a_2_31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g370e87ffe7a_2_31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89" name="Google Shape;489;g370e87ffe7a_2_31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g370e87ffe7a_0_0: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g370e87ffe7a_0_0: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504" name="Google Shape;504;g370e87ffe7a_0_0: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9"/>
          <p:cNvSpPr txBox="1">
            <a:spLocks noGrp="1"/>
          </p:cNvSpPr>
          <p:nvPr>
            <p:ph type="ctrTitle"/>
          </p:nvPr>
        </p:nvSpPr>
        <p:spPr>
          <a:xfrm>
            <a:off x="264952" y="1456058"/>
            <a:ext cx="7242600" cy="4014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9"/>
          <p:cNvSpPr txBox="1">
            <a:spLocks noGrp="1"/>
          </p:cNvSpPr>
          <p:nvPr>
            <p:ph type="subTitle" idx="1"/>
          </p:nvPr>
        </p:nvSpPr>
        <p:spPr>
          <a:xfrm>
            <a:off x="264945" y="5542289"/>
            <a:ext cx="7242600" cy="1550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3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pic>
        <p:nvPicPr>
          <p:cNvPr id="3" name="Picture 2" descr="A white background with black lines&#10;&#10;AI-generated content may be incorrect.">
            <a:extLst>
              <a:ext uri="{FF2B5EF4-FFF2-40B4-BE49-F238E27FC236}">
                <a16:creationId xmlns:a16="http://schemas.microsoft.com/office/drawing/2014/main" id="{A0ABD2DF-B429-0564-31D9-12741B10B2D0}"/>
              </a:ext>
            </a:extLst>
          </p:cNvPr>
          <p:cNvPicPr>
            <a:picLocks noChangeAspect="1"/>
          </p:cNvPicPr>
          <p:nvPr userDrawn="1"/>
        </p:nvPicPr>
        <p:blipFill>
          <a:blip r:embed="rId2"/>
          <a:stretch>
            <a:fillRect/>
          </a:stretch>
        </p:blipFill>
        <p:spPr>
          <a:xfrm>
            <a:off x="19050" y="19050"/>
            <a:ext cx="7734300" cy="100203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0"/>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18" name="Google Shape;18;p20"/>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19" name="Google Shape;19;p20"/>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0" name="Google Shape;20;p20"/>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264945" y="4206107"/>
            <a:ext cx="7242600" cy="16461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22"/>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23"/>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3" name="Google Shape;33;p2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p24"/>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24"/>
          <p:cNvSpPr txBox="1">
            <a:spLocks noGrp="1"/>
          </p:cNvSpPr>
          <p:nvPr>
            <p:ph type="body" idx="1"/>
          </p:nvPr>
        </p:nvSpPr>
        <p:spPr>
          <a:xfrm>
            <a:off x="264945"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24"/>
          <p:cNvSpPr txBox="1">
            <a:spLocks noGrp="1"/>
          </p:cNvSpPr>
          <p:nvPr>
            <p:ph type="body" idx="2"/>
          </p:nvPr>
        </p:nvSpPr>
        <p:spPr>
          <a:xfrm>
            <a:off x="4107540"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24"/>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 name="Google Shape;41;p25"/>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26"/>
          <p:cNvSpPr txBox="1">
            <a:spLocks noGrp="1"/>
          </p:cNvSpPr>
          <p:nvPr>
            <p:ph type="title"/>
          </p:nvPr>
        </p:nvSpPr>
        <p:spPr>
          <a:xfrm>
            <a:off x="264945" y="1086507"/>
            <a:ext cx="2386800" cy="1477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4" name="Google Shape;44;p26"/>
          <p:cNvSpPr txBox="1">
            <a:spLocks noGrp="1"/>
          </p:cNvSpPr>
          <p:nvPr>
            <p:ph type="body" idx="1"/>
          </p:nvPr>
        </p:nvSpPr>
        <p:spPr>
          <a:xfrm>
            <a:off x="264945" y="2717440"/>
            <a:ext cx="2386800" cy="62175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26"/>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
        <p:cNvGrpSpPr/>
        <p:nvPr/>
      </p:nvGrpSpPr>
      <p:grpSpPr>
        <a:xfrm>
          <a:off x="0" y="0"/>
          <a:ext cx="0" cy="0"/>
          <a:chOff x="0" y="0"/>
          <a:chExt cx="0" cy="0"/>
        </a:xfrm>
      </p:grpSpPr>
      <p:sp>
        <p:nvSpPr>
          <p:cNvPr id="47" name="Google Shape;47;p27"/>
          <p:cNvSpPr txBox="1">
            <a:spLocks noGrp="1"/>
          </p:cNvSpPr>
          <p:nvPr>
            <p:ph type="title"/>
          </p:nvPr>
        </p:nvSpPr>
        <p:spPr>
          <a:xfrm>
            <a:off x="416713" y="880293"/>
            <a:ext cx="5412600" cy="7999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8" name="Google Shape;48;p27"/>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
        <p:cNvGrpSpPr/>
        <p:nvPr/>
      </p:nvGrpSpPr>
      <p:grpSpPr>
        <a:xfrm>
          <a:off x="0" y="0"/>
          <a:ext cx="0" cy="0"/>
          <a:chOff x="0" y="0"/>
          <a:chExt cx="0" cy="0"/>
        </a:xfrm>
      </p:grpSpPr>
      <p:sp>
        <p:nvSpPr>
          <p:cNvPr id="50" name="Google Shape;50;p28"/>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8"/>
          <p:cNvSpPr txBox="1">
            <a:spLocks noGrp="1"/>
          </p:cNvSpPr>
          <p:nvPr>
            <p:ph type="title"/>
          </p:nvPr>
        </p:nvSpPr>
        <p:spPr>
          <a:xfrm>
            <a:off x="225675" y="2411542"/>
            <a:ext cx="3438300" cy="2898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2" name="Google Shape;52;p28"/>
          <p:cNvSpPr txBox="1">
            <a:spLocks noGrp="1"/>
          </p:cNvSpPr>
          <p:nvPr>
            <p:ph type="subTitle" idx="1"/>
          </p:nvPr>
        </p:nvSpPr>
        <p:spPr>
          <a:xfrm>
            <a:off x="225675" y="5481569"/>
            <a:ext cx="3438300" cy="2415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28"/>
          <p:cNvSpPr txBox="1">
            <a:spLocks noGrp="1"/>
          </p:cNvSpPr>
          <p:nvPr>
            <p:ph type="body" idx="2"/>
          </p:nvPr>
        </p:nvSpPr>
        <p:spPr>
          <a:xfrm>
            <a:off x="4198575" y="1415969"/>
            <a:ext cx="3261600" cy="7226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4" name="Google Shape;54;p2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29"/>
          <p:cNvSpPr txBox="1">
            <a:spLocks noGrp="1"/>
          </p:cNvSpPr>
          <p:nvPr>
            <p:ph type="body" idx="1"/>
          </p:nvPr>
        </p:nvSpPr>
        <p:spPr>
          <a:xfrm>
            <a:off x="264945" y="8273124"/>
            <a:ext cx="5099100" cy="11832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7" name="Google Shape;57;p2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8"/>
        <p:cNvGrpSpPr/>
        <p:nvPr/>
      </p:nvGrpSpPr>
      <p:grpSpPr>
        <a:xfrm>
          <a:off x="0" y="0"/>
          <a:ext cx="0" cy="0"/>
          <a:chOff x="0" y="0"/>
          <a:chExt cx="0" cy="0"/>
        </a:xfrm>
      </p:grpSpPr>
      <p:sp>
        <p:nvSpPr>
          <p:cNvPr id="59" name="Google Shape;59;p30"/>
          <p:cNvSpPr txBox="1">
            <a:spLocks noGrp="1"/>
          </p:cNvSpPr>
          <p:nvPr>
            <p:ph type="title" hasCustomPrompt="1"/>
          </p:nvPr>
        </p:nvSpPr>
        <p:spPr>
          <a:xfrm>
            <a:off x="264945" y="2163089"/>
            <a:ext cx="7242600" cy="3839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0" name="Google Shape;60;p30"/>
          <p:cNvSpPr txBox="1">
            <a:spLocks noGrp="1"/>
          </p:cNvSpPr>
          <p:nvPr>
            <p:ph type="body" idx="1"/>
          </p:nvPr>
        </p:nvSpPr>
        <p:spPr>
          <a:xfrm>
            <a:off x="264945" y="6164351"/>
            <a:ext cx="7242600" cy="25437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1" name="Google Shape;61;p30"/>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1">
  <p:cSld name="Título y objetos 1">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1"/>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24" name="Google Shape;24;p21"/>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5" name="Google Shape;25;p21"/>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6" name="Google Shape;26;p21"/>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extLst>
      <p:ext uri="{BB962C8B-B14F-4D97-AF65-F5344CB8AC3E}">
        <p14:creationId xmlns:p14="http://schemas.microsoft.com/office/powerpoint/2010/main" val="225914906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chart" Target="../charts/chart1.xml"/><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7.png"/><Relationship Id="rId10" Type="http://schemas.openxmlformats.org/officeDocument/2006/relationships/image" Target="../media/image2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3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chart" Target="../charts/char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chart" Target="../charts/char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3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chart" Target="../charts/char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22.png"/><Relationship Id="rId5" Type="http://schemas.openxmlformats.org/officeDocument/2006/relationships/chart" Target="../charts/char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cxnSp>
        <p:nvCxnSpPr>
          <p:cNvPr id="68" name="Google Shape;68;p1"/>
          <p:cNvCxnSpPr/>
          <p:nvPr/>
        </p:nvCxnSpPr>
        <p:spPr>
          <a:xfrm>
            <a:off x="-9525" y="5307000"/>
            <a:ext cx="7818000" cy="0"/>
          </a:xfrm>
          <a:prstGeom prst="straightConnector1">
            <a:avLst/>
          </a:prstGeom>
          <a:noFill/>
          <a:ln w="9525" cap="flat" cmpd="sng">
            <a:solidFill>
              <a:srgbClr val="006455"/>
            </a:solidFill>
            <a:prstDash val="solid"/>
            <a:round/>
            <a:headEnd type="none" w="sm" len="sm"/>
            <a:tailEnd type="none" w="sm" len="sm"/>
          </a:ln>
        </p:spPr>
      </p:cxnSp>
      <p:sp>
        <p:nvSpPr>
          <p:cNvPr id="69" name="TextBox 68"/>
          <p:cNvSpPr txBox="1"/>
          <p:nvPr/>
        </p:nvSpPr>
        <p:spPr>
          <a:xfrm>
            <a:off x="0" y="4323600"/>
            <a:ext cx="7772400" cy="1000799"/>
          </a:xfrm>
          <a:prstGeom prst="rect">
            <a:avLst/>
          </a:prstGeom>
          <a:noFill/>
        </p:spPr>
        <p:txBody>
          <a:bodyPr wrap="none">
            <a:spAutoFit/>
          </a:bodyPr>
          <a:lstStyle/>
          <a:p>
            <a:pPr algn="ctr">
              <a:defRPr sz="5200" b="0">
                <a:solidFill>
                  <a:srgbClr val="9F2241"/>
                </a:solidFill>
                <a:latin typeface="Montserrat Medium"/>
              </a:defRPr>
            </a:pPr>
            <a:r>
              <a:t>Zacatecas</a:t>
            </a:r>
          </a:p>
        </p:txBody>
      </p:sp>
      <p:sp>
        <p:nvSpPr>
          <p:cNvPr id="70" name="TextBox 69"/>
          <p:cNvSpPr txBox="1"/>
          <p:nvPr/>
        </p:nvSpPr>
        <p:spPr>
          <a:xfrm>
            <a:off x="0" y="5472000"/>
            <a:ext cx="7772400" cy="554400"/>
          </a:xfrm>
          <a:prstGeom prst="rect">
            <a:avLst/>
          </a:prstGeom>
          <a:noFill/>
        </p:spPr>
        <p:txBody>
          <a:bodyPr wrap="none">
            <a:spAutoFit/>
          </a:bodyPr>
          <a:lstStyle/>
          <a:p>
            <a:pPr algn="ctr">
              <a:defRPr sz="1500" b="0">
                <a:solidFill>
                  <a:srgbClr val="7F7F7F"/>
                </a:solidFill>
                <a:latin typeface="Montserrat"/>
              </a:defRPr>
            </a:pPr>
            <a:r>
              <a:t>Ficha Estatal</a:t>
            </a:r>
          </a:p>
          <a:p>
            <a:pPr algn="ctr">
              <a:defRPr sz="1500" b="1">
                <a:solidFill>
                  <a:srgbClr val="7F7F7F"/>
                </a:solidFill>
                <a:latin typeface="Montserrat"/>
              </a:defRPr>
            </a:pPr>
            <a:r>
              <a:t>Mayo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32_Zacatecas.png"/>
          <p:cNvPicPr>
            <a:picLocks noChangeAspect="1"/>
          </p:cNvPicPr>
          <p:nvPr/>
        </p:nvPicPr>
        <p:blipFill>
          <a:blip r:embed="rId2"/>
          <a:stretch>
            <a:fillRect/>
          </a:stretch>
        </p:blipFill>
        <p:spPr>
          <a:xfrm>
            <a:off x="0" y="799200"/>
            <a:ext cx="7793999" cy="8067600"/>
          </a:xfrm>
          <a:prstGeom prst="rect">
            <a:avLst/>
          </a:prstGeom>
        </p:spPr>
      </p:pic>
      <p:sp>
        <p:nvSpPr>
          <p:cNvPr id="3" name="TextBox 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Tree>
    <p:extLst>
      <p:ext uri="{BB962C8B-B14F-4D97-AF65-F5344CB8AC3E}">
        <p14:creationId xmlns:p14="http://schemas.microsoft.com/office/powerpoint/2010/main" val="3763779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1"/>
        <p:cNvGrpSpPr/>
        <p:nvPr/>
      </p:nvGrpSpPr>
      <p:grpSpPr>
        <a:xfrm>
          <a:off x="0" y="0"/>
          <a:ext cx="0" cy="0"/>
          <a:chOff x="0" y="0"/>
          <a:chExt cx="0" cy="0"/>
        </a:xfrm>
      </p:grpSpPr>
      <p:grpSp>
        <p:nvGrpSpPr>
          <p:cNvPr id="102" name="Google Shape;102;p2"/>
          <p:cNvGrpSpPr/>
          <p:nvPr/>
        </p:nvGrpSpPr>
        <p:grpSpPr>
          <a:xfrm>
            <a:off x="5948585" y="6692612"/>
            <a:ext cx="642477" cy="533794"/>
            <a:chOff x="3121178" y="4414994"/>
            <a:chExt cx="1106956" cy="919701"/>
          </a:xfrm>
        </p:grpSpPr>
        <p:sp>
          <p:nvSpPr>
            <p:cNvPr id="103" name="Google Shape;103;p2"/>
            <p:cNvSpPr/>
            <p:nvPr/>
          </p:nvSpPr>
          <p:spPr>
            <a:xfrm>
              <a:off x="3204464" y="4533424"/>
              <a:ext cx="101815" cy="33643"/>
            </a:xfrm>
            <a:custGeom>
              <a:avLst/>
              <a:gdLst/>
              <a:ahLst/>
              <a:cxnLst/>
              <a:rect l="l" t="t" r="r" b="b"/>
              <a:pathLst>
                <a:path w="101815" h="33643" extrusionOk="0">
                  <a:moveTo>
                    <a:pt x="18288" y="33546"/>
                  </a:moveTo>
                  <a:cubicBezTo>
                    <a:pt x="29304" y="33766"/>
                    <a:pt x="40542" y="33546"/>
                    <a:pt x="51558" y="33546"/>
                  </a:cubicBezTo>
                  <a:cubicBezTo>
                    <a:pt x="62355" y="33546"/>
                    <a:pt x="73151" y="33766"/>
                    <a:pt x="83947" y="33546"/>
                  </a:cubicBezTo>
                  <a:cubicBezTo>
                    <a:pt x="93862" y="33325"/>
                    <a:pt x="101354" y="26936"/>
                    <a:pt x="101794" y="18343"/>
                  </a:cubicBezTo>
                  <a:cubicBezTo>
                    <a:pt x="102015" y="13716"/>
                    <a:pt x="100472" y="9309"/>
                    <a:pt x="97608" y="6004"/>
                  </a:cubicBezTo>
                  <a:cubicBezTo>
                    <a:pt x="94744" y="2699"/>
                    <a:pt x="90557" y="496"/>
                    <a:pt x="85490" y="496"/>
                  </a:cubicBezTo>
                  <a:cubicBezTo>
                    <a:pt x="85490" y="496"/>
                    <a:pt x="85490" y="496"/>
                    <a:pt x="85490" y="496"/>
                  </a:cubicBezTo>
                  <a:cubicBezTo>
                    <a:pt x="62575" y="-165"/>
                    <a:pt x="39660" y="-165"/>
                    <a:pt x="16746" y="496"/>
                  </a:cubicBezTo>
                  <a:cubicBezTo>
                    <a:pt x="14322" y="496"/>
                    <a:pt x="12118" y="1157"/>
                    <a:pt x="10136" y="2038"/>
                  </a:cubicBezTo>
                  <a:cubicBezTo>
                    <a:pt x="6169" y="4021"/>
                    <a:pt x="2864" y="7326"/>
                    <a:pt x="1322" y="11292"/>
                  </a:cubicBezTo>
                  <a:cubicBezTo>
                    <a:pt x="441" y="13275"/>
                    <a:pt x="0" y="15258"/>
                    <a:pt x="0" y="17241"/>
                  </a:cubicBezTo>
                  <a:cubicBezTo>
                    <a:pt x="221" y="25834"/>
                    <a:pt x="8373" y="33325"/>
                    <a:pt x="18288" y="33546"/>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 name="Google Shape;104;p2"/>
            <p:cNvSpPr/>
            <p:nvPr/>
          </p:nvSpPr>
          <p:spPr>
            <a:xfrm>
              <a:off x="3136160" y="4414994"/>
              <a:ext cx="238180" cy="272002"/>
            </a:xfrm>
            <a:custGeom>
              <a:avLst/>
              <a:gdLst/>
              <a:ahLst/>
              <a:cxnLst/>
              <a:rect l="l" t="t" r="r" b="b"/>
              <a:pathLst>
                <a:path w="238180" h="272002" extrusionOk="0">
                  <a:moveTo>
                    <a:pt x="21813" y="271837"/>
                  </a:moveTo>
                  <a:cubicBezTo>
                    <a:pt x="87032" y="272057"/>
                    <a:pt x="152471" y="272057"/>
                    <a:pt x="217690" y="271837"/>
                  </a:cubicBezTo>
                  <a:cubicBezTo>
                    <a:pt x="224961" y="271837"/>
                    <a:pt x="230029" y="270074"/>
                    <a:pt x="233333" y="266769"/>
                  </a:cubicBezTo>
                  <a:cubicBezTo>
                    <a:pt x="236638" y="263244"/>
                    <a:pt x="238181" y="257956"/>
                    <a:pt x="238181" y="250685"/>
                  </a:cubicBezTo>
                  <a:cubicBezTo>
                    <a:pt x="238181" y="174009"/>
                    <a:pt x="238181" y="97112"/>
                    <a:pt x="238181" y="20436"/>
                  </a:cubicBezTo>
                  <a:cubicBezTo>
                    <a:pt x="238181" y="4792"/>
                    <a:pt x="233994" y="165"/>
                    <a:pt x="218571" y="165"/>
                  </a:cubicBezTo>
                  <a:cubicBezTo>
                    <a:pt x="152471" y="-55"/>
                    <a:pt x="86591" y="-55"/>
                    <a:pt x="20491" y="165"/>
                  </a:cubicBezTo>
                  <a:cubicBezTo>
                    <a:pt x="5068" y="165"/>
                    <a:pt x="220" y="5453"/>
                    <a:pt x="0" y="21097"/>
                  </a:cubicBezTo>
                  <a:cubicBezTo>
                    <a:pt x="0" y="59215"/>
                    <a:pt x="0" y="97553"/>
                    <a:pt x="0" y="135671"/>
                  </a:cubicBezTo>
                  <a:cubicBezTo>
                    <a:pt x="0" y="173788"/>
                    <a:pt x="0" y="212126"/>
                    <a:pt x="0" y="250244"/>
                  </a:cubicBezTo>
                  <a:cubicBezTo>
                    <a:pt x="220" y="265227"/>
                    <a:pt x="6830" y="271837"/>
                    <a:pt x="21813" y="271837"/>
                  </a:cubicBezTo>
                  <a:close/>
                  <a:moveTo>
                    <a:pt x="98489" y="32775"/>
                  </a:moveTo>
                  <a:cubicBezTo>
                    <a:pt x="105099" y="32555"/>
                    <a:pt x="111709" y="32555"/>
                    <a:pt x="118319" y="32555"/>
                  </a:cubicBezTo>
                  <a:cubicBezTo>
                    <a:pt x="125810" y="32555"/>
                    <a:pt x="133522" y="32555"/>
                    <a:pt x="141014" y="32775"/>
                  </a:cubicBezTo>
                  <a:cubicBezTo>
                    <a:pt x="144539" y="32775"/>
                    <a:pt x="148285" y="33436"/>
                    <a:pt x="153132" y="33876"/>
                  </a:cubicBezTo>
                  <a:cubicBezTo>
                    <a:pt x="152250" y="36741"/>
                    <a:pt x="151369" y="39164"/>
                    <a:pt x="150268" y="41148"/>
                  </a:cubicBezTo>
                  <a:cubicBezTo>
                    <a:pt x="149827" y="41808"/>
                    <a:pt x="149386" y="42249"/>
                    <a:pt x="148946" y="42910"/>
                  </a:cubicBezTo>
                  <a:cubicBezTo>
                    <a:pt x="148064" y="44232"/>
                    <a:pt x="147183" y="45554"/>
                    <a:pt x="146302" y="46435"/>
                  </a:cubicBezTo>
                  <a:cubicBezTo>
                    <a:pt x="145641" y="46876"/>
                    <a:pt x="144980" y="47317"/>
                    <a:pt x="144319" y="47757"/>
                  </a:cubicBezTo>
                  <a:cubicBezTo>
                    <a:pt x="143217" y="48419"/>
                    <a:pt x="142335" y="49080"/>
                    <a:pt x="141014" y="49520"/>
                  </a:cubicBezTo>
                  <a:cubicBezTo>
                    <a:pt x="140132" y="49741"/>
                    <a:pt x="139251" y="49741"/>
                    <a:pt x="138149" y="49961"/>
                  </a:cubicBezTo>
                  <a:cubicBezTo>
                    <a:pt x="137268" y="50181"/>
                    <a:pt x="136387" y="50402"/>
                    <a:pt x="135285" y="50402"/>
                  </a:cubicBezTo>
                  <a:cubicBezTo>
                    <a:pt x="134624" y="50402"/>
                    <a:pt x="133742" y="50402"/>
                    <a:pt x="132861" y="50402"/>
                  </a:cubicBezTo>
                  <a:cubicBezTo>
                    <a:pt x="127794" y="49961"/>
                    <a:pt x="122726" y="49961"/>
                    <a:pt x="117658" y="49961"/>
                  </a:cubicBezTo>
                  <a:cubicBezTo>
                    <a:pt x="113472" y="49961"/>
                    <a:pt x="109065" y="50181"/>
                    <a:pt x="104879" y="50181"/>
                  </a:cubicBezTo>
                  <a:cubicBezTo>
                    <a:pt x="103777" y="50181"/>
                    <a:pt x="102675" y="50181"/>
                    <a:pt x="101574" y="50181"/>
                  </a:cubicBezTo>
                  <a:cubicBezTo>
                    <a:pt x="98930" y="50181"/>
                    <a:pt x="95184" y="50181"/>
                    <a:pt x="93642" y="48639"/>
                  </a:cubicBezTo>
                  <a:cubicBezTo>
                    <a:pt x="90557" y="45113"/>
                    <a:pt x="88574" y="40707"/>
                    <a:pt x="86150" y="36741"/>
                  </a:cubicBezTo>
                  <a:cubicBezTo>
                    <a:pt x="90777" y="34978"/>
                    <a:pt x="94523" y="32775"/>
                    <a:pt x="98489" y="32775"/>
                  </a:cubicBezTo>
                  <a:close/>
                  <a:moveTo>
                    <a:pt x="34152" y="135891"/>
                  </a:moveTo>
                  <a:cubicBezTo>
                    <a:pt x="34152" y="105264"/>
                    <a:pt x="33931" y="74638"/>
                    <a:pt x="34372" y="44012"/>
                  </a:cubicBezTo>
                  <a:cubicBezTo>
                    <a:pt x="34372" y="40487"/>
                    <a:pt x="36796" y="36961"/>
                    <a:pt x="38118" y="33215"/>
                  </a:cubicBezTo>
                  <a:cubicBezTo>
                    <a:pt x="40982" y="35419"/>
                    <a:pt x="44728" y="36961"/>
                    <a:pt x="46711" y="39825"/>
                  </a:cubicBezTo>
                  <a:cubicBezTo>
                    <a:pt x="54202" y="50181"/>
                    <a:pt x="61032" y="60977"/>
                    <a:pt x="68083" y="71774"/>
                  </a:cubicBezTo>
                  <a:cubicBezTo>
                    <a:pt x="69405" y="73757"/>
                    <a:pt x="70727" y="75520"/>
                    <a:pt x="72269" y="77062"/>
                  </a:cubicBezTo>
                  <a:cubicBezTo>
                    <a:pt x="72710" y="77502"/>
                    <a:pt x="73371" y="77943"/>
                    <a:pt x="73812" y="78384"/>
                  </a:cubicBezTo>
                  <a:cubicBezTo>
                    <a:pt x="74913" y="79265"/>
                    <a:pt x="75795" y="80367"/>
                    <a:pt x="77117" y="81028"/>
                  </a:cubicBezTo>
                  <a:cubicBezTo>
                    <a:pt x="77778" y="81469"/>
                    <a:pt x="78659" y="81689"/>
                    <a:pt x="79320" y="81909"/>
                  </a:cubicBezTo>
                  <a:cubicBezTo>
                    <a:pt x="80422" y="82350"/>
                    <a:pt x="81523" y="83011"/>
                    <a:pt x="82845" y="83231"/>
                  </a:cubicBezTo>
                  <a:cubicBezTo>
                    <a:pt x="83727" y="83452"/>
                    <a:pt x="84828" y="83452"/>
                    <a:pt x="85710" y="83672"/>
                  </a:cubicBezTo>
                  <a:cubicBezTo>
                    <a:pt x="87252" y="83892"/>
                    <a:pt x="88795" y="84113"/>
                    <a:pt x="90337" y="84113"/>
                  </a:cubicBezTo>
                  <a:cubicBezTo>
                    <a:pt x="99811" y="83672"/>
                    <a:pt x="109285" y="83452"/>
                    <a:pt x="118760" y="83452"/>
                  </a:cubicBezTo>
                  <a:cubicBezTo>
                    <a:pt x="118980" y="83452"/>
                    <a:pt x="119200" y="83452"/>
                    <a:pt x="119421" y="83452"/>
                  </a:cubicBezTo>
                  <a:cubicBezTo>
                    <a:pt x="129556" y="83452"/>
                    <a:pt x="139692" y="83672"/>
                    <a:pt x="149827" y="83892"/>
                  </a:cubicBezTo>
                  <a:cubicBezTo>
                    <a:pt x="151369" y="83892"/>
                    <a:pt x="152471" y="83672"/>
                    <a:pt x="153793" y="83672"/>
                  </a:cubicBezTo>
                  <a:cubicBezTo>
                    <a:pt x="154674" y="83672"/>
                    <a:pt x="155556" y="83672"/>
                    <a:pt x="156437" y="83452"/>
                  </a:cubicBezTo>
                  <a:cubicBezTo>
                    <a:pt x="157539" y="83231"/>
                    <a:pt x="158640" y="82791"/>
                    <a:pt x="159742" y="82350"/>
                  </a:cubicBezTo>
                  <a:cubicBezTo>
                    <a:pt x="160403" y="82130"/>
                    <a:pt x="161064" y="81909"/>
                    <a:pt x="161725" y="81689"/>
                  </a:cubicBezTo>
                  <a:cubicBezTo>
                    <a:pt x="162827" y="81028"/>
                    <a:pt x="163708" y="80367"/>
                    <a:pt x="164810" y="79485"/>
                  </a:cubicBezTo>
                  <a:cubicBezTo>
                    <a:pt x="165250" y="79045"/>
                    <a:pt x="165691" y="78824"/>
                    <a:pt x="166132" y="78384"/>
                  </a:cubicBezTo>
                  <a:cubicBezTo>
                    <a:pt x="167454" y="77062"/>
                    <a:pt x="168775" y="75520"/>
                    <a:pt x="169877" y="73757"/>
                  </a:cubicBezTo>
                  <a:cubicBezTo>
                    <a:pt x="177809" y="61859"/>
                    <a:pt x="185741" y="50181"/>
                    <a:pt x="193894" y="38503"/>
                  </a:cubicBezTo>
                  <a:cubicBezTo>
                    <a:pt x="195656" y="36080"/>
                    <a:pt x="199182" y="34978"/>
                    <a:pt x="201826" y="33215"/>
                  </a:cubicBezTo>
                  <a:cubicBezTo>
                    <a:pt x="202927" y="36080"/>
                    <a:pt x="204690" y="38724"/>
                    <a:pt x="204911" y="41588"/>
                  </a:cubicBezTo>
                  <a:cubicBezTo>
                    <a:pt x="205131" y="104163"/>
                    <a:pt x="204911" y="166738"/>
                    <a:pt x="205131" y="229312"/>
                  </a:cubicBezTo>
                  <a:cubicBezTo>
                    <a:pt x="205131" y="230855"/>
                    <a:pt x="204911" y="232397"/>
                    <a:pt x="204690" y="233499"/>
                  </a:cubicBezTo>
                  <a:cubicBezTo>
                    <a:pt x="204690" y="233940"/>
                    <a:pt x="204249" y="234160"/>
                    <a:pt x="204249" y="234601"/>
                  </a:cubicBezTo>
                  <a:cubicBezTo>
                    <a:pt x="204029" y="235262"/>
                    <a:pt x="203809" y="235923"/>
                    <a:pt x="203368" y="236363"/>
                  </a:cubicBezTo>
                  <a:cubicBezTo>
                    <a:pt x="203148" y="236584"/>
                    <a:pt x="202707" y="236804"/>
                    <a:pt x="202266" y="237024"/>
                  </a:cubicBezTo>
                  <a:cubicBezTo>
                    <a:pt x="201826" y="237465"/>
                    <a:pt x="201165" y="237905"/>
                    <a:pt x="200504" y="237905"/>
                  </a:cubicBezTo>
                  <a:cubicBezTo>
                    <a:pt x="200063" y="238126"/>
                    <a:pt x="199402" y="238126"/>
                    <a:pt x="198741" y="238126"/>
                  </a:cubicBezTo>
                  <a:cubicBezTo>
                    <a:pt x="197860" y="238346"/>
                    <a:pt x="197199" y="238346"/>
                    <a:pt x="196317" y="238346"/>
                  </a:cubicBezTo>
                  <a:cubicBezTo>
                    <a:pt x="196317" y="238346"/>
                    <a:pt x="196317" y="238346"/>
                    <a:pt x="196317" y="238346"/>
                  </a:cubicBezTo>
                  <a:cubicBezTo>
                    <a:pt x="145641" y="238126"/>
                    <a:pt x="94744" y="238126"/>
                    <a:pt x="44067" y="238346"/>
                  </a:cubicBezTo>
                  <a:cubicBezTo>
                    <a:pt x="44067" y="238346"/>
                    <a:pt x="44067" y="238346"/>
                    <a:pt x="43846" y="238346"/>
                  </a:cubicBezTo>
                  <a:cubicBezTo>
                    <a:pt x="42745" y="238346"/>
                    <a:pt x="42304" y="238126"/>
                    <a:pt x="41423" y="238126"/>
                  </a:cubicBezTo>
                  <a:cubicBezTo>
                    <a:pt x="40762" y="238126"/>
                    <a:pt x="39880" y="238126"/>
                    <a:pt x="39219" y="237905"/>
                  </a:cubicBezTo>
                  <a:cubicBezTo>
                    <a:pt x="38558" y="237685"/>
                    <a:pt x="38118" y="237245"/>
                    <a:pt x="37677" y="236804"/>
                  </a:cubicBezTo>
                  <a:cubicBezTo>
                    <a:pt x="37236" y="236584"/>
                    <a:pt x="36796" y="236363"/>
                    <a:pt x="36355" y="235923"/>
                  </a:cubicBezTo>
                  <a:cubicBezTo>
                    <a:pt x="35914" y="235482"/>
                    <a:pt x="35694" y="234601"/>
                    <a:pt x="35474" y="233940"/>
                  </a:cubicBezTo>
                  <a:cubicBezTo>
                    <a:pt x="35253" y="233499"/>
                    <a:pt x="35033" y="233279"/>
                    <a:pt x="35033" y="232838"/>
                  </a:cubicBezTo>
                  <a:cubicBezTo>
                    <a:pt x="34813" y="231516"/>
                    <a:pt x="34592" y="230194"/>
                    <a:pt x="34592" y="228431"/>
                  </a:cubicBezTo>
                  <a:cubicBezTo>
                    <a:pt x="34372" y="197805"/>
                    <a:pt x="34152" y="166738"/>
                    <a:pt x="34152" y="13589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 name="Google Shape;105;p2"/>
            <p:cNvSpPr/>
            <p:nvPr/>
          </p:nvSpPr>
          <p:spPr>
            <a:xfrm>
              <a:off x="3204459" y="4585380"/>
              <a:ext cx="101578" cy="33564"/>
            </a:xfrm>
            <a:custGeom>
              <a:avLst/>
              <a:gdLst/>
              <a:ahLst/>
              <a:cxnLst/>
              <a:rect l="l" t="t" r="r" b="b"/>
              <a:pathLst>
                <a:path w="101578" h="33564" extrusionOk="0">
                  <a:moveTo>
                    <a:pt x="83070" y="98"/>
                  </a:moveTo>
                  <a:cubicBezTo>
                    <a:pt x="62139" y="-122"/>
                    <a:pt x="41427" y="98"/>
                    <a:pt x="20496" y="98"/>
                  </a:cubicBezTo>
                  <a:cubicBezTo>
                    <a:pt x="8818" y="98"/>
                    <a:pt x="225" y="6928"/>
                    <a:pt x="4" y="16182"/>
                  </a:cubicBezTo>
                  <a:cubicBezTo>
                    <a:pt x="-216" y="25657"/>
                    <a:pt x="7936" y="32928"/>
                    <a:pt x="19614" y="33368"/>
                  </a:cubicBezTo>
                  <a:cubicBezTo>
                    <a:pt x="29970" y="33809"/>
                    <a:pt x="40546" y="33368"/>
                    <a:pt x="50901" y="33368"/>
                  </a:cubicBezTo>
                  <a:cubicBezTo>
                    <a:pt x="61037" y="33368"/>
                    <a:pt x="70952" y="33368"/>
                    <a:pt x="81087" y="33368"/>
                  </a:cubicBezTo>
                  <a:cubicBezTo>
                    <a:pt x="81748" y="33368"/>
                    <a:pt x="82409" y="33368"/>
                    <a:pt x="83070" y="33368"/>
                  </a:cubicBezTo>
                  <a:cubicBezTo>
                    <a:pt x="94528" y="32487"/>
                    <a:pt x="101578" y="26097"/>
                    <a:pt x="101578" y="16403"/>
                  </a:cubicBezTo>
                  <a:cubicBezTo>
                    <a:pt x="101578" y="13979"/>
                    <a:pt x="101138" y="11776"/>
                    <a:pt x="100256" y="9793"/>
                  </a:cubicBezTo>
                  <a:cubicBezTo>
                    <a:pt x="98053" y="3623"/>
                    <a:pt x="91884" y="98"/>
                    <a:pt x="83070" y="9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 name="Google Shape;106;p2"/>
            <p:cNvSpPr/>
            <p:nvPr/>
          </p:nvSpPr>
          <p:spPr>
            <a:xfrm>
              <a:off x="3956022" y="4464955"/>
              <a:ext cx="272112" cy="187944"/>
            </a:xfrm>
            <a:custGeom>
              <a:avLst/>
              <a:gdLst/>
              <a:ahLst/>
              <a:cxnLst/>
              <a:rect l="l" t="t" r="r" b="b"/>
              <a:pathLst>
                <a:path w="272112" h="187944" extrusionOk="0">
                  <a:moveTo>
                    <a:pt x="267045" y="5288"/>
                  </a:moveTo>
                  <a:cubicBezTo>
                    <a:pt x="263519" y="1763"/>
                    <a:pt x="257791" y="220"/>
                    <a:pt x="249859" y="0"/>
                  </a:cubicBezTo>
                  <a:cubicBezTo>
                    <a:pt x="248757" y="0"/>
                    <a:pt x="247876" y="0"/>
                    <a:pt x="246774" y="0"/>
                  </a:cubicBezTo>
                  <a:cubicBezTo>
                    <a:pt x="209978" y="0"/>
                    <a:pt x="172962" y="0"/>
                    <a:pt x="136166" y="0"/>
                  </a:cubicBezTo>
                  <a:cubicBezTo>
                    <a:pt x="97608" y="0"/>
                    <a:pt x="59050" y="0"/>
                    <a:pt x="20491" y="0"/>
                  </a:cubicBezTo>
                  <a:cubicBezTo>
                    <a:pt x="6169" y="0"/>
                    <a:pt x="0" y="5949"/>
                    <a:pt x="0" y="20050"/>
                  </a:cubicBezTo>
                  <a:cubicBezTo>
                    <a:pt x="0" y="69405"/>
                    <a:pt x="0" y="118760"/>
                    <a:pt x="0" y="168115"/>
                  </a:cubicBezTo>
                  <a:cubicBezTo>
                    <a:pt x="0" y="181775"/>
                    <a:pt x="5949" y="187945"/>
                    <a:pt x="19389" y="187945"/>
                  </a:cubicBezTo>
                  <a:cubicBezTo>
                    <a:pt x="96947" y="187945"/>
                    <a:pt x="174284" y="187945"/>
                    <a:pt x="251842" y="187945"/>
                  </a:cubicBezTo>
                  <a:cubicBezTo>
                    <a:pt x="255367" y="187945"/>
                    <a:pt x="258231" y="187504"/>
                    <a:pt x="260655" y="186623"/>
                  </a:cubicBezTo>
                  <a:cubicBezTo>
                    <a:pt x="265723" y="184860"/>
                    <a:pt x="269028" y="181555"/>
                    <a:pt x="270790" y="176487"/>
                  </a:cubicBezTo>
                  <a:cubicBezTo>
                    <a:pt x="271672" y="173843"/>
                    <a:pt x="272112" y="170979"/>
                    <a:pt x="272112" y="167674"/>
                  </a:cubicBezTo>
                  <a:cubicBezTo>
                    <a:pt x="272112" y="119421"/>
                    <a:pt x="272112" y="71168"/>
                    <a:pt x="272112" y="22915"/>
                  </a:cubicBezTo>
                  <a:cubicBezTo>
                    <a:pt x="272112" y="14542"/>
                    <a:pt x="270570" y="8813"/>
                    <a:pt x="267045" y="5288"/>
                  </a:cubicBezTo>
                  <a:close/>
                  <a:moveTo>
                    <a:pt x="66982" y="34813"/>
                  </a:moveTo>
                  <a:cubicBezTo>
                    <a:pt x="112811" y="34813"/>
                    <a:pt x="158640" y="34813"/>
                    <a:pt x="207775" y="34813"/>
                  </a:cubicBezTo>
                  <a:cubicBezTo>
                    <a:pt x="200945" y="40982"/>
                    <a:pt x="196538" y="45169"/>
                    <a:pt x="191911" y="49134"/>
                  </a:cubicBezTo>
                  <a:cubicBezTo>
                    <a:pt x="176267" y="62795"/>
                    <a:pt x="160183" y="75795"/>
                    <a:pt x="144759" y="89896"/>
                  </a:cubicBezTo>
                  <a:cubicBezTo>
                    <a:pt x="142997" y="91438"/>
                    <a:pt x="141454" y="92540"/>
                    <a:pt x="140132" y="93422"/>
                  </a:cubicBezTo>
                  <a:cubicBezTo>
                    <a:pt x="139471" y="93642"/>
                    <a:pt x="139031" y="93642"/>
                    <a:pt x="138590" y="93862"/>
                  </a:cubicBezTo>
                  <a:cubicBezTo>
                    <a:pt x="137709" y="94083"/>
                    <a:pt x="136827" y="94523"/>
                    <a:pt x="135946" y="94523"/>
                  </a:cubicBezTo>
                  <a:cubicBezTo>
                    <a:pt x="135946" y="94523"/>
                    <a:pt x="135946" y="94523"/>
                    <a:pt x="135946" y="94523"/>
                  </a:cubicBezTo>
                  <a:cubicBezTo>
                    <a:pt x="135065" y="94523"/>
                    <a:pt x="133963" y="94083"/>
                    <a:pt x="133082" y="93642"/>
                  </a:cubicBezTo>
                  <a:cubicBezTo>
                    <a:pt x="132641" y="93422"/>
                    <a:pt x="132200" y="93422"/>
                    <a:pt x="131760" y="93201"/>
                  </a:cubicBezTo>
                  <a:cubicBezTo>
                    <a:pt x="130217" y="92320"/>
                    <a:pt x="128675" y="91218"/>
                    <a:pt x="126913" y="89676"/>
                  </a:cubicBezTo>
                  <a:cubicBezTo>
                    <a:pt x="109506" y="73812"/>
                    <a:pt x="91218" y="58829"/>
                    <a:pt x="73371" y="43626"/>
                  </a:cubicBezTo>
                  <a:cubicBezTo>
                    <a:pt x="70727" y="41423"/>
                    <a:pt x="67863" y="39660"/>
                    <a:pt x="64998" y="37677"/>
                  </a:cubicBezTo>
                  <a:cubicBezTo>
                    <a:pt x="65439" y="36796"/>
                    <a:pt x="66321" y="35915"/>
                    <a:pt x="66982" y="34813"/>
                  </a:cubicBezTo>
                  <a:close/>
                  <a:moveTo>
                    <a:pt x="34813" y="55524"/>
                  </a:moveTo>
                  <a:cubicBezTo>
                    <a:pt x="50897" y="69405"/>
                    <a:pt x="64558" y="81303"/>
                    <a:pt x="79320" y="94303"/>
                  </a:cubicBezTo>
                  <a:cubicBezTo>
                    <a:pt x="64337" y="107302"/>
                    <a:pt x="50677" y="119201"/>
                    <a:pt x="34813" y="132861"/>
                  </a:cubicBezTo>
                  <a:cubicBezTo>
                    <a:pt x="34813" y="106421"/>
                    <a:pt x="34813" y="82405"/>
                    <a:pt x="34813" y="55524"/>
                  </a:cubicBezTo>
                  <a:close/>
                  <a:moveTo>
                    <a:pt x="66761" y="153353"/>
                  </a:moveTo>
                  <a:cubicBezTo>
                    <a:pt x="66321" y="152471"/>
                    <a:pt x="65880" y="151810"/>
                    <a:pt x="65439" y="150929"/>
                  </a:cubicBezTo>
                  <a:cubicBezTo>
                    <a:pt x="77998" y="140353"/>
                    <a:pt x="90557" y="129556"/>
                    <a:pt x="103337" y="119201"/>
                  </a:cubicBezTo>
                  <a:cubicBezTo>
                    <a:pt x="103557" y="118980"/>
                    <a:pt x="104218" y="118760"/>
                    <a:pt x="104659" y="118760"/>
                  </a:cubicBezTo>
                  <a:cubicBezTo>
                    <a:pt x="105099" y="118760"/>
                    <a:pt x="105540" y="118980"/>
                    <a:pt x="106201" y="118980"/>
                  </a:cubicBezTo>
                  <a:cubicBezTo>
                    <a:pt x="106642" y="118980"/>
                    <a:pt x="106862" y="118980"/>
                    <a:pt x="107082" y="119201"/>
                  </a:cubicBezTo>
                  <a:cubicBezTo>
                    <a:pt x="108404" y="119641"/>
                    <a:pt x="109506" y="120082"/>
                    <a:pt x="110387" y="120743"/>
                  </a:cubicBezTo>
                  <a:cubicBezTo>
                    <a:pt x="114353" y="123387"/>
                    <a:pt x="117879" y="126912"/>
                    <a:pt x="121624" y="129997"/>
                  </a:cubicBezTo>
                  <a:cubicBezTo>
                    <a:pt x="124048" y="131980"/>
                    <a:pt x="126472" y="133743"/>
                    <a:pt x="128895" y="134624"/>
                  </a:cubicBezTo>
                  <a:cubicBezTo>
                    <a:pt x="129777" y="135065"/>
                    <a:pt x="130438" y="134844"/>
                    <a:pt x="131319" y="135065"/>
                  </a:cubicBezTo>
                  <a:cubicBezTo>
                    <a:pt x="132861" y="135505"/>
                    <a:pt x="134404" y="136166"/>
                    <a:pt x="135946" y="136166"/>
                  </a:cubicBezTo>
                  <a:cubicBezTo>
                    <a:pt x="137488" y="136166"/>
                    <a:pt x="139031" y="135505"/>
                    <a:pt x="140793" y="135065"/>
                  </a:cubicBezTo>
                  <a:cubicBezTo>
                    <a:pt x="141454" y="134844"/>
                    <a:pt x="142336" y="134844"/>
                    <a:pt x="142997" y="134624"/>
                  </a:cubicBezTo>
                  <a:cubicBezTo>
                    <a:pt x="145420" y="133522"/>
                    <a:pt x="147844" y="131980"/>
                    <a:pt x="150268" y="129777"/>
                  </a:cubicBezTo>
                  <a:cubicBezTo>
                    <a:pt x="152912" y="127573"/>
                    <a:pt x="154895" y="125811"/>
                    <a:pt x="156878" y="124268"/>
                  </a:cubicBezTo>
                  <a:cubicBezTo>
                    <a:pt x="157759" y="123607"/>
                    <a:pt x="158640" y="122946"/>
                    <a:pt x="159302" y="122285"/>
                  </a:cubicBezTo>
                  <a:cubicBezTo>
                    <a:pt x="159742" y="122065"/>
                    <a:pt x="160183" y="121845"/>
                    <a:pt x="160624" y="121624"/>
                  </a:cubicBezTo>
                  <a:cubicBezTo>
                    <a:pt x="161285" y="121184"/>
                    <a:pt x="161946" y="120743"/>
                    <a:pt x="162606" y="120523"/>
                  </a:cubicBezTo>
                  <a:cubicBezTo>
                    <a:pt x="163047" y="120302"/>
                    <a:pt x="163488" y="120302"/>
                    <a:pt x="163928" y="120302"/>
                  </a:cubicBezTo>
                  <a:cubicBezTo>
                    <a:pt x="164369" y="120082"/>
                    <a:pt x="165030" y="120082"/>
                    <a:pt x="165471" y="120082"/>
                  </a:cubicBezTo>
                  <a:cubicBezTo>
                    <a:pt x="165471" y="120082"/>
                    <a:pt x="165471" y="120082"/>
                    <a:pt x="165471" y="120082"/>
                  </a:cubicBezTo>
                  <a:cubicBezTo>
                    <a:pt x="166132" y="120082"/>
                    <a:pt x="166572" y="120302"/>
                    <a:pt x="167234" y="120523"/>
                  </a:cubicBezTo>
                  <a:cubicBezTo>
                    <a:pt x="167674" y="120523"/>
                    <a:pt x="168115" y="120523"/>
                    <a:pt x="168556" y="120743"/>
                  </a:cubicBezTo>
                  <a:cubicBezTo>
                    <a:pt x="169217" y="120963"/>
                    <a:pt x="169878" y="121404"/>
                    <a:pt x="170539" y="121845"/>
                  </a:cubicBezTo>
                  <a:cubicBezTo>
                    <a:pt x="170979" y="122065"/>
                    <a:pt x="171420" y="122285"/>
                    <a:pt x="171860" y="122506"/>
                  </a:cubicBezTo>
                  <a:cubicBezTo>
                    <a:pt x="172742" y="123167"/>
                    <a:pt x="173623" y="123828"/>
                    <a:pt x="174725" y="124709"/>
                  </a:cubicBezTo>
                  <a:cubicBezTo>
                    <a:pt x="175165" y="125150"/>
                    <a:pt x="175606" y="125370"/>
                    <a:pt x="176047" y="125811"/>
                  </a:cubicBezTo>
                  <a:cubicBezTo>
                    <a:pt x="177589" y="127133"/>
                    <a:pt x="179352" y="128675"/>
                    <a:pt x="181335" y="130217"/>
                  </a:cubicBezTo>
                  <a:cubicBezTo>
                    <a:pt x="188606" y="136607"/>
                    <a:pt x="196097" y="142776"/>
                    <a:pt x="203148" y="149386"/>
                  </a:cubicBezTo>
                  <a:cubicBezTo>
                    <a:pt x="203809" y="150047"/>
                    <a:pt x="204029" y="151149"/>
                    <a:pt x="204690" y="153353"/>
                  </a:cubicBezTo>
                  <a:cubicBezTo>
                    <a:pt x="158420" y="153353"/>
                    <a:pt x="112591" y="153353"/>
                    <a:pt x="66761" y="153353"/>
                  </a:cubicBezTo>
                  <a:close/>
                  <a:moveTo>
                    <a:pt x="237079" y="133081"/>
                  </a:moveTo>
                  <a:cubicBezTo>
                    <a:pt x="222317" y="120302"/>
                    <a:pt x="209317" y="109506"/>
                    <a:pt x="196758" y="98269"/>
                  </a:cubicBezTo>
                  <a:cubicBezTo>
                    <a:pt x="195436" y="96947"/>
                    <a:pt x="194996" y="91659"/>
                    <a:pt x="196318" y="90557"/>
                  </a:cubicBezTo>
                  <a:cubicBezTo>
                    <a:pt x="209097" y="79100"/>
                    <a:pt x="222097" y="68083"/>
                    <a:pt x="237079" y="55083"/>
                  </a:cubicBezTo>
                  <a:cubicBezTo>
                    <a:pt x="237079" y="81964"/>
                    <a:pt x="237079" y="105981"/>
                    <a:pt x="237079" y="13308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 name="Google Shape;107;p2"/>
            <p:cNvSpPr/>
            <p:nvPr/>
          </p:nvSpPr>
          <p:spPr>
            <a:xfrm>
              <a:off x="4024106" y="4993811"/>
              <a:ext cx="136551" cy="187834"/>
            </a:xfrm>
            <a:custGeom>
              <a:avLst/>
              <a:gdLst/>
              <a:ahLst/>
              <a:cxnLst/>
              <a:rect l="l" t="t" r="r" b="b"/>
              <a:pathLst>
                <a:path w="136551" h="187834" extrusionOk="0">
                  <a:moveTo>
                    <a:pt x="115235" y="165"/>
                  </a:moveTo>
                  <a:cubicBezTo>
                    <a:pt x="83727" y="-55"/>
                    <a:pt x="52219" y="-55"/>
                    <a:pt x="20711" y="165"/>
                  </a:cubicBezTo>
                  <a:cubicBezTo>
                    <a:pt x="20491" y="165"/>
                    <a:pt x="20491" y="165"/>
                    <a:pt x="20271" y="165"/>
                  </a:cubicBezTo>
                  <a:cubicBezTo>
                    <a:pt x="16965" y="165"/>
                    <a:pt x="13881" y="606"/>
                    <a:pt x="11457" y="1487"/>
                  </a:cubicBezTo>
                  <a:cubicBezTo>
                    <a:pt x="3966" y="4131"/>
                    <a:pt x="0" y="10741"/>
                    <a:pt x="0" y="20877"/>
                  </a:cubicBezTo>
                  <a:cubicBezTo>
                    <a:pt x="0" y="45113"/>
                    <a:pt x="0" y="69571"/>
                    <a:pt x="0" y="93807"/>
                  </a:cubicBezTo>
                  <a:cubicBezTo>
                    <a:pt x="0" y="117824"/>
                    <a:pt x="0" y="141840"/>
                    <a:pt x="0" y="165856"/>
                  </a:cubicBezTo>
                  <a:cubicBezTo>
                    <a:pt x="0" y="181500"/>
                    <a:pt x="5949" y="187669"/>
                    <a:pt x="22033" y="187669"/>
                  </a:cubicBezTo>
                  <a:cubicBezTo>
                    <a:pt x="52660" y="187890"/>
                    <a:pt x="83286" y="187890"/>
                    <a:pt x="113913" y="187669"/>
                  </a:cubicBezTo>
                  <a:cubicBezTo>
                    <a:pt x="117878" y="187669"/>
                    <a:pt x="121184" y="187229"/>
                    <a:pt x="124048" y="186348"/>
                  </a:cubicBezTo>
                  <a:cubicBezTo>
                    <a:pt x="129777" y="184585"/>
                    <a:pt x="133302" y="181059"/>
                    <a:pt x="135064" y="175551"/>
                  </a:cubicBezTo>
                  <a:cubicBezTo>
                    <a:pt x="135946" y="172687"/>
                    <a:pt x="136386" y="169382"/>
                    <a:pt x="136386" y="165636"/>
                  </a:cubicBezTo>
                  <a:cubicBezTo>
                    <a:pt x="136607" y="117603"/>
                    <a:pt x="136607" y="69791"/>
                    <a:pt x="136386" y="21758"/>
                  </a:cubicBezTo>
                  <a:cubicBezTo>
                    <a:pt x="136166" y="7877"/>
                    <a:pt x="128675" y="165"/>
                    <a:pt x="115235" y="165"/>
                  </a:cubicBezTo>
                  <a:close/>
                  <a:moveTo>
                    <a:pt x="96947" y="153958"/>
                  </a:moveTo>
                  <a:cubicBezTo>
                    <a:pt x="94082" y="154399"/>
                    <a:pt x="91218" y="154399"/>
                    <a:pt x="88134" y="154399"/>
                  </a:cubicBezTo>
                  <a:cubicBezTo>
                    <a:pt x="87913" y="154399"/>
                    <a:pt x="87472" y="154399"/>
                    <a:pt x="87252" y="154399"/>
                  </a:cubicBezTo>
                  <a:cubicBezTo>
                    <a:pt x="83727" y="154399"/>
                    <a:pt x="79981" y="154179"/>
                    <a:pt x="75574" y="154179"/>
                  </a:cubicBezTo>
                  <a:cubicBezTo>
                    <a:pt x="85489" y="141179"/>
                    <a:pt x="86150" y="131044"/>
                    <a:pt x="79540" y="124874"/>
                  </a:cubicBezTo>
                  <a:cubicBezTo>
                    <a:pt x="77998" y="123332"/>
                    <a:pt x="76015" y="122230"/>
                    <a:pt x="74252" y="121569"/>
                  </a:cubicBezTo>
                  <a:cubicBezTo>
                    <a:pt x="73591" y="121349"/>
                    <a:pt x="72930" y="121349"/>
                    <a:pt x="72269" y="121129"/>
                  </a:cubicBezTo>
                  <a:cubicBezTo>
                    <a:pt x="70947" y="120908"/>
                    <a:pt x="69625" y="120468"/>
                    <a:pt x="68303" y="120468"/>
                  </a:cubicBezTo>
                  <a:cubicBezTo>
                    <a:pt x="66981" y="120468"/>
                    <a:pt x="65659" y="120908"/>
                    <a:pt x="64337" y="121129"/>
                  </a:cubicBezTo>
                  <a:cubicBezTo>
                    <a:pt x="63676" y="121349"/>
                    <a:pt x="63015" y="121349"/>
                    <a:pt x="62354" y="121569"/>
                  </a:cubicBezTo>
                  <a:cubicBezTo>
                    <a:pt x="60371" y="122230"/>
                    <a:pt x="58609" y="123332"/>
                    <a:pt x="57066" y="124654"/>
                  </a:cubicBezTo>
                  <a:cubicBezTo>
                    <a:pt x="49795" y="131264"/>
                    <a:pt x="50456" y="140077"/>
                    <a:pt x="60592" y="154399"/>
                  </a:cubicBezTo>
                  <a:cubicBezTo>
                    <a:pt x="56405" y="154399"/>
                    <a:pt x="52439" y="154619"/>
                    <a:pt x="48914" y="154619"/>
                  </a:cubicBezTo>
                  <a:cubicBezTo>
                    <a:pt x="48694" y="154619"/>
                    <a:pt x="48473" y="154619"/>
                    <a:pt x="48253" y="154619"/>
                  </a:cubicBezTo>
                  <a:cubicBezTo>
                    <a:pt x="44948" y="154619"/>
                    <a:pt x="41643" y="154619"/>
                    <a:pt x="38558" y="154179"/>
                  </a:cubicBezTo>
                  <a:cubicBezTo>
                    <a:pt x="36796" y="153958"/>
                    <a:pt x="34151" y="149772"/>
                    <a:pt x="34151" y="147348"/>
                  </a:cubicBezTo>
                  <a:cubicBezTo>
                    <a:pt x="33931" y="111875"/>
                    <a:pt x="33711" y="76401"/>
                    <a:pt x="34151" y="41147"/>
                  </a:cubicBezTo>
                  <a:cubicBezTo>
                    <a:pt x="34151" y="39385"/>
                    <a:pt x="36575" y="36520"/>
                    <a:pt x="38779" y="35198"/>
                  </a:cubicBezTo>
                  <a:cubicBezTo>
                    <a:pt x="39440" y="34758"/>
                    <a:pt x="40321" y="34538"/>
                    <a:pt x="40762" y="34538"/>
                  </a:cubicBezTo>
                  <a:cubicBezTo>
                    <a:pt x="40762" y="34538"/>
                    <a:pt x="40762" y="34538"/>
                    <a:pt x="40762" y="34538"/>
                  </a:cubicBezTo>
                  <a:cubicBezTo>
                    <a:pt x="49795" y="34317"/>
                    <a:pt x="58609" y="34097"/>
                    <a:pt x="67642" y="34097"/>
                  </a:cubicBezTo>
                  <a:cubicBezTo>
                    <a:pt x="76676" y="34097"/>
                    <a:pt x="85930" y="34317"/>
                    <a:pt x="94964" y="34538"/>
                  </a:cubicBezTo>
                  <a:cubicBezTo>
                    <a:pt x="97388" y="34538"/>
                    <a:pt x="101794" y="38503"/>
                    <a:pt x="101794" y="40707"/>
                  </a:cubicBezTo>
                  <a:cubicBezTo>
                    <a:pt x="102235" y="76401"/>
                    <a:pt x="102235" y="112315"/>
                    <a:pt x="102014" y="148009"/>
                  </a:cubicBezTo>
                  <a:cubicBezTo>
                    <a:pt x="101794" y="149992"/>
                    <a:pt x="98930" y="153738"/>
                    <a:pt x="96947" y="15395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 name="Google Shape;108;p2"/>
            <p:cNvSpPr/>
            <p:nvPr/>
          </p:nvSpPr>
          <p:spPr>
            <a:xfrm>
              <a:off x="3204188" y="4492717"/>
              <a:ext cx="956157" cy="841978"/>
            </a:xfrm>
            <a:custGeom>
              <a:avLst/>
              <a:gdLst/>
              <a:ahLst/>
              <a:cxnLst/>
              <a:rect l="l" t="t" r="r" b="b"/>
              <a:pathLst>
                <a:path w="956157" h="841978" extrusionOk="0">
                  <a:moveTo>
                    <a:pt x="898797" y="718949"/>
                  </a:moveTo>
                  <a:cubicBezTo>
                    <a:pt x="888441" y="710797"/>
                    <a:pt x="875001" y="706831"/>
                    <a:pt x="858255" y="706391"/>
                  </a:cubicBezTo>
                  <a:cubicBezTo>
                    <a:pt x="836883" y="705950"/>
                    <a:pt x="816171" y="702424"/>
                    <a:pt x="797223" y="691628"/>
                  </a:cubicBezTo>
                  <a:cubicBezTo>
                    <a:pt x="791935" y="688543"/>
                    <a:pt x="787088" y="685459"/>
                    <a:pt x="782460" y="681934"/>
                  </a:cubicBezTo>
                  <a:cubicBezTo>
                    <a:pt x="764173" y="668273"/>
                    <a:pt x="751173" y="651527"/>
                    <a:pt x="743241" y="631697"/>
                  </a:cubicBezTo>
                  <a:cubicBezTo>
                    <a:pt x="737292" y="616935"/>
                    <a:pt x="733987" y="600410"/>
                    <a:pt x="733546" y="582343"/>
                  </a:cubicBezTo>
                  <a:cubicBezTo>
                    <a:pt x="732665" y="558106"/>
                    <a:pt x="730241" y="534089"/>
                    <a:pt x="728699" y="509852"/>
                  </a:cubicBezTo>
                  <a:cubicBezTo>
                    <a:pt x="728479" y="507209"/>
                    <a:pt x="728699" y="504565"/>
                    <a:pt x="728699" y="501700"/>
                  </a:cubicBezTo>
                  <a:cubicBezTo>
                    <a:pt x="732004" y="501480"/>
                    <a:pt x="734207" y="501039"/>
                    <a:pt x="736631" y="501039"/>
                  </a:cubicBezTo>
                  <a:cubicBezTo>
                    <a:pt x="744343" y="501039"/>
                    <a:pt x="752055" y="500599"/>
                    <a:pt x="759546" y="499717"/>
                  </a:cubicBezTo>
                  <a:cubicBezTo>
                    <a:pt x="782240" y="497294"/>
                    <a:pt x="804274" y="491124"/>
                    <a:pt x="825205" y="481430"/>
                  </a:cubicBezTo>
                  <a:cubicBezTo>
                    <a:pt x="868611" y="461600"/>
                    <a:pt x="901881" y="430753"/>
                    <a:pt x="923915" y="393957"/>
                  </a:cubicBezTo>
                  <a:cubicBezTo>
                    <a:pt x="945948" y="357161"/>
                    <a:pt x="957185" y="313976"/>
                    <a:pt x="956084" y="269469"/>
                  </a:cubicBezTo>
                  <a:cubicBezTo>
                    <a:pt x="955643" y="243249"/>
                    <a:pt x="934931" y="219012"/>
                    <a:pt x="910474" y="213944"/>
                  </a:cubicBezTo>
                  <a:cubicBezTo>
                    <a:pt x="905407" y="212843"/>
                    <a:pt x="900559" y="212402"/>
                    <a:pt x="895712" y="212402"/>
                  </a:cubicBezTo>
                  <a:cubicBezTo>
                    <a:pt x="891305" y="212402"/>
                    <a:pt x="886899" y="212843"/>
                    <a:pt x="882712" y="213724"/>
                  </a:cubicBezTo>
                  <a:cubicBezTo>
                    <a:pt x="881390" y="213944"/>
                    <a:pt x="880068" y="214385"/>
                    <a:pt x="878967" y="214825"/>
                  </a:cubicBezTo>
                  <a:cubicBezTo>
                    <a:pt x="876323" y="215486"/>
                    <a:pt x="873679" y="216368"/>
                    <a:pt x="871035" y="217470"/>
                  </a:cubicBezTo>
                  <a:cubicBezTo>
                    <a:pt x="869713" y="218131"/>
                    <a:pt x="868391" y="218792"/>
                    <a:pt x="866848" y="219673"/>
                  </a:cubicBezTo>
                  <a:cubicBezTo>
                    <a:pt x="864645" y="220775"/>
                    <a:pt x="862442" y="222097"/>
                    <a:pt x="860459" y="223639"/>
                  </a:cubicBezTo>
                  <a:cubicBezTo>
                    <a:pt x="859137" y="224520"/>
                    <a:pt x="858035" y="225622"/>
                    <a:pt x="856713" y="226724"/>
                  </a:cubicBezTo>
                  <a:cubicBezTo>
                    <a:pt x="854950" y="228266"/>
                    <a:pt x="853188" y="230029"/>
                    <a:pt x="851645" y="231791"/>
                  </a:cubicBezTo>
                  <a:cubicBezTo>
                    <a:pt x="850544" y="233113"/>
                    <a:pt x="849442" y="234215"/>
                    <a:pt x="848561" y="235537"/>
                  </a:cubicBezTo>
                  <a:cubicBezTo>
                    <a:pt x="847018" y="237520"/>
                    <a:pt x="845696" y="239723"/>
                    <a:pt x="844595" y="241927"/>
                  </a:cubicBezTo>
                  <a:cubicBezTo>
                    <a:pt x="843934" y="243249"/>
                    <a:pt x="843052" y="244791"/>
                    <a:pt x="842391" y="246333"/>
                  </a:cubicBezTo>
                  <a:cubicBezTo>
                    <a:pt x="841289" y="248977"/>
                    <a:pt x="840408" y="251842"/>
                    <a:pt x="839527" y="254706"/>
                  </a:cubicBezTo>
                  <a:cubicBezTo>
                    <a:pt x="839086" y="256028"/>
                    <a:pt x="838646" y="257350"/>
                    <a:pt x="838205" y="258892"/>
                  </a:cubicBezTo>
                  <a:cubicBezTo>
                    <a:pt x="837324" y="263299"/>
                    <a:pt x="836663" y="267926"/>
                    <a:pt x="836442" y="272773"/>
                  </a:cubicBezTo>
                  <a:cubicBezTo>
                    <a:pt x="836002" y="289739"/>
                    <a:pt x="834239" y="306705"/>
                    <a:pt x="826527" y="322349"/>
                  </a:cubicBezTo>
                  <a:cubicBezTo>
                    <a:pt x="824103" y="327416"/>
                    <a:pt x="821460" y="332043"/>
                    <a:pt x="818595" y="336450"/>
                  </a:cubicBezTo>
                  <a:cubicBezTo>
                    <a:pt x="804274" y="358263"/>
                    <a:pt x="784664" y="371924"/>
                    <a:pt x="760868" y="378313"/>
                  </a:cubicBezTo>
                  <a:cubicBezTo>
                    <a:pt x="751394" y="380957"/>
                    <a:pt x="741258" y="382279"/>
                    <a:pt x="730462" y="382500"/>
                  </a:cubicBezTo>
                  <a:cubicBezTo>
                    <a:pt x="709310" y="383161"/>
                    <a:pt x="688158" y="383381"/>
                    <a:pt x="667006" y="383381"/>
                  </a:cubicBezTo>
                  <a:cubicBezTo>
                    <a:pt x="662819" y="383381"/>
                    <a:pt x="658633" y="383381"/>
                    <a:pt x="654667" y="383381"/>
                  </a:cubicBezTo>
                  <a:cubicBezTo>
                    <a:pt x="627125" y="383381"/>
                    <a:pt x="599584" y="382940"/>
                    <a:pt x="572042" y="382940"/>
                  </a:cubicBezTo>
                  <a:cubicBezTo>
                    <a:pt x="569398" y="382940"/>
                    <a:pt x="566093" y="382279"/>
                    <a:pt x="564550" y="380737"/>
                  </a:cubicBezTo>
                  <a:cubicBezTo>
                    <a:pt x="561466" y="377432"/>
                    <a:pt x="562347" y="369280"/>
                    <a:pt x="564771" y="362890"/>
                  </a:cubicBezTo>
                  <a:cubicBezTo>
                    <a:pt x="626685" y="330942"/>
                    <a:pt x="669209" y="266604"/>
                    <a:pt x="669209" y="192131"/>
                  </a:cubicBezTo>
                  <a:cubicBezTo>
                    <a:pt x="669209" y="86151"/>
                    <a:pt x="583059" y="0"/>
                    <a:pt x="477078" y="0"/>
                  </a:cubicBezTo>
                  <a:cubicBezTo>
                    <a:pt x="371097" y="0"/>
                    <a:pt x="284947" y="86151"/>
                    <a:pt x="284947" y="192131"/>
                  </a:cubicBezTo>
                  <a:cubicBezTo>
                    <a:pt x="284947" y="267706"/>
                    <a:pt x="329013" y="333145"/>
                    <a:pt x="392690" y="364432"/>
                  </a:cubicBezTo>
                  <a:cubicBezTo>
                    <a:pt x="393351" y="368839"/>
                    <a:pt x="392249" y="373466"/>
                    <a:pt x="391809" y="378093"/>
                  </a:cubicBezTo>
                  <a:cubicBezTo>
                    <a:pt x="391809" y="378534"/>
                    <a:pt x="391148" y="379195"/>
                    <a:pt x="390487" y="379635"/>
                  </a:cubicBezTo>
                  <a:cubicBezTo>
                    <a:pt x="388724" y="380737"/>
                    <a:pt x="385859" y="381839"/>
                    <a:pt x="383216" y="382279"/>
                  </a:cubicBezTo>
                  <a:cubicBezTo>
                    <a:pt x="381894" y="382500"/>
                    <a:pt x="380572" y="382720"/>
                    <a:pt x="379470" y="382720"/>
                  </a:cubicBezTo>
                  <a:cubicBezTo>
                    <a:pt x="356335" y="382940"/>
                    <a:pt x="333200" y="383161"/>
                    <a:pt x="310285" y="383161"/>
                  </a:cubicBezTo>
                  <a:cubicBezTo>
                    <a:pt x="292658" y="383161"/>
                    <a:pt x="275032" y="383161"/>
                    <a:pt x="257405" y="382940"/>
                  </a:cubicBezTo>
                  <a:cubicBezTo>
                    <a:pt x="240439" y="382720"/>
                    <a:pt x="223474" y="381398"/>
                    <a:pt x="206508" y="380076"/>
                  </a:cubicBezTo>
                  <a:cubicBezTo>
                    <a:pt x="182051" y="378093"/>
                    <a:pt x="162662" y="365754"/>
                    <a:pt x="146136" y="348348"/>
                  </a:cubicBezTo>
                  <a:cubicBezTo>
                    <a:pt x="136001" y="337552"/>
                    <a:pt x="129391" y="325653"/>
                    <a:pt x="125205" y="312874"/>
                  </a:cubicBezTo>
                  <a:cubicBezTo>
                    <a:pt x="123222" y="306484"/>
                    <a:pt x="121679" y="299874"/>
                    <a:pt x="120578" y="293044"/>
                  </a:cubicBezTo>
                  <a:cubicBezTo>
                    <a:pt x="119476" y="286214"/>
                    <a:pt x="119035" y="279163"/>
                    <a:pt x="118815" y="272112"/>
                  </a:cubicBezTo>
                  <a:cubicBezTo>
                    <a:pt x="118595" y="266824"/>
                    <a:pt x="117713" y="261977"/>
                    <a:pt x="116612" y="257130"/>
                  </a:cubicBezTo>
                  <a:cubicBezTo>
                    <a:pt x="116171" y="255808"/>
                    <a:pt x="115730" y="254265"/>
                    <a:pt x="115290" y="252943"/>
                  </a:cubicBezTo>
                  <a:cubicBezTo>
                    <a:pt x="114188" y="249638"/>
                    <a:pt x="112866" y="246554"/>
                    <a:pt x="111324" y="243469"/>
                  </a:cubicBezTo>
                  <a:cubicBezTo>
                    <a:pt x="110663" y="242147"/>
                    <a:pt x="110002" y="241045"/>
                    <a:pt x="109341" y="239723"/>
                  </a:cubicBezTo>
                  <a:cubicBezTo>
                    <a:pt x="107137" y="236198"/>
                    <a:pt x="104714" y="233113"/>
                    <a:pt x="102070" y="230249"/>
                  </a:cubicBezTo>
                  <a:cubicBezTo>
                    <a:pt x="101629" y="229808"/>
                    <a:pt x="101409" y="229368"/>
                    <a:pt x="101188" y="229147"/>
                  </a:cubicBezTo>
                  <a:cubicBezTo>
                    <a:pt x="98104" y="226063"/>
                    <a:pt x="94358" y="223418"/>
                    <a:pt x="90612" y="220995"/>
                  </a:cubicBezTo>
                  <a:cubicBezTo>
                    <a:pt x="89511" y="220334"/>
                    <a:pt x="88409" y="219893"/>
                    <a:pt x="87307" y="219232"/>
                  </a:cubicBezTo>
                  <a:cubicBezTo>
                    <a:pt x="84443" y="217690"/>
                    <a:pt x="81358" y="216368"/>
                    <a:pt x="78274" y="215266"/>
                  </a:cubicBezTo>
                  <a:cubicBezTo>
                    <a:pt x="76952" y="214825"/>
                    <a:pt x="75629" y="214385"/>
                    <a:pt x="74307" y="213944"/>
                  </a:cubicBezTo>
                  <a:cubicBezTo>
                    <a:pt x="70782" y="213063"/>
                    <a:pt x="67257" y="212402"/>
                    <a:pt x="63511" y="212402"/>
                  </a:cubicBezTo>
                  <a:cubicBezTo>
                    <a:pt x="62630" y="212402"/>
                    <a:pt x="61749" y="212182"/>
                    <a:pt x="60867" y="212182"/>
                  </a:cubicBezTo>
                  <a:cubicBezTo>
                    <a:pt x="57562" y="212182"/>
                    <a:pt x="54257" y="212843"/>
                    <a:pt x="50952" y="213283"/>
                  </a:cubicBezTo>
                  <a:cubicBezTo>
                    <a:pt x="49189" y="213504"/>
                    <a:pt x="47647" y="213504"/>
                    <a:pt x="45885" y="213944"/>
                  </a:cubicBezTo>
                  <a:cubicBezTo>
                    <a:pt x="40817" y="215266"/>
                    <a:pt x="35749" y="217029"/>
                    <a:pt x="30902" y="219893"/>
                  </a:cubicBezTo>
                  <a:cubicBezTo>
                    <a:pt x="10631" y="230910"/>
                    <a:pt x="496" y="249418"/>
                    <a:pt x="55" y="272112"/>
                  </a:cubicBezTo>
                  <a:cubicBezTo>
                    <a:pt x="-165" y="282468"/>
                    <a:pt x="275" y="292824"/>
                    <a:pt x="1377" y="302959"/>
                  </a:cubicBezTo>
                  <a:cubicBezTo>
                    <a:pt x="3580" y="323230"/>
                    <a:pt x="8428" y="343060"/>
                    <a:pt x="15919" y="361788"/>
                  </a:cubicBezTo>
                  <a:cubicBezTo>
                    <a:pt x="19665" y="371263"/>
                    <a:pt x="24292" y="380517"/>
                    <a:pt x="29580" y="389550"/>
                  </a:cubicBezTo>
                  <a:cubicBezTo>
                    <a:pt x="64392" y="448600"/>
                    <a:pt x="115510" y="485616"/>
                    <a:pt x="183593" y="497514"/>
                  </a:cubicBezTo>
                  <a:cubicBezTo>
                    <a:pt x="198135" y="500158"/>
                    <a:pt x="212898" y="501259"/>
                    <a:pt x="225897" y="502802"/>
                  </a:cubicBezTo>
                  <a:cubicBezTo>
                    <a:pt x="224795" y="531005"/>
                    <a:pt x="223694" y="558546"/>
                    <a:pt x="222592" y="586088"/>
                  </a:cubicBezTo>
                  <a:cubicBezTo>
                    <a:pt x="221050" y="624647"/>
                    <a:pt x="206508" y="656595"/>
                    <a:pt x="176102" y="680832"/>
                  </a:cubicBezTo>
                  <a:cubicBezTo>
                    <a:pt x="164204" y="690306"/>
                    <a:pt x="151424" y="696916"/>
                    <a:pt x="137764" y="701102"/>
                  </a:cubicBezTo>
                  <a:cubicBezTo>
                    <a:pt x="124103" y="705289"/>
                    <a:pt x="109781" y="707052"/>
                    <a:pt x="94578" y="707052"/>
                  </a:cubicBezTo>
                  <a:cubicBezTo>
                    <a:pt x="70562" y="707272"/>
                    <a:pt x="52935" y="719170"/>
                    <a:pt x="43020" y="735474"/>
                  </a:cubicBezTo>
                  <a:cubicBezTo>
                    <a:pt x="37071" y="745389"/>
                    <a:pt x="34207" y="756627"/>
                    <a:pt x="34207" y="768084"/>
                  </a:cubicBezTo>
                  <a:cubicBezTo>
                    <a:pt x="34647" y="798931"/>
                    <a:pt x="61528" y="825591"/>
                    <a:pt x="92816" y="825811"/>
                  </a:cubicBezTo>
                  <a:cubicBezTo>
                    <a:pt x="98324" y="825811"/>
                    <a:pt x="103832" y="825371"/>
                    <a:pt x="109561" y="824930"/>
                  </a:cubicBezTo>
                  <a:cubicBezTo>
                    <a:pt x="111544" y="824710"/>
                    <a:pt x="113747" y="824710"/>
                    <a:pt x="115730" y="824710"/>
                  </a:cubicBezTo>
                  <a:cubicBezTo>
                    <a:pt x="123001" y="824049"/>
                    <a:pt x="130272" y="823167"/>
                    <a:pt x="137543" y="822286"/>
                  </a:cubicBezTo>
                  <a:cubicBezTo>
                    <a:pt x="147899" y="821184"/>
                    <a:pt x="157814" y="819201"/>
                    <a:pt x="167729" y="816557"/>
                  </a:cubicBezTo>
                  <a:cubicBezTo>
                    <a:pt x="197034" y="808625"/>
                    <a:pt x="223694" y="794524"/>
                    <a:pt x="248151" y="775796"/>
                  </a:cubicBezTo>
                  <a:cubicBezTo>
                    <a:pt x="270184" y="759050"/>
                    <a:pt x="288252" y="738779"/>
                    <a:pt x="303455" y="715645"/>
                  </a:cubicBezTo>
                  <a:cubicBezTo>
                    <a:pt x="304556" y="715865"/>
                    <a:pt x="305658" y="715865"/>
                    <a:pt x="306540" y="716085"/>
                  </a:cubicBezTo>
                  <a:cubicBezTo>
                    <a:pt x="306980" y="720051"/>
                    <a:pt x="307641" y="723797"/>
                    <a:pt x="307641" y="727763"/>
                  </a:cubicBezTo>
                  <a:cubicBezTo>
                    <a:pt x="307641" y="759050"/>
                    <a:pt x="307641" y="790338"/>
                    <a:pt x="307861" y="821625"/>
                  </a:cubicBezTo>
                  <a:cubicBezTo>
                    <a:pt x="307861" y="825150"/>
                    <a:pt x="308302" y="828235"/>
                    <a:pt x="308963" y="830659"/>
                  </a:cubicBezTo>
                  <a:cubicBezTo>
                    <a:pt x="309183" y="831320"/>
                    <a:pt x="309624" y="831760"/>
                    <a:pt x="309844" y="832201"/>
                  </a:cubicBezTo>
                  <a:cubicBezTo>
                    <a:pt x="310505" y="833964"/>
                    <a:pt x="311166" y="835726"/>
                    <a:pt x="312268" y="836828"/>
                  </a:cubicBezTo>
                  <a:cubicBezTo>
                    <a:pt x="312929" y="837489"/>
                    <a:pt x="313811" y="837709"/>
                    <a:pt x="314472" y="838370"/>
                  </a:cubicBezTo>
                  <a:cubicBezTo>
                    <a:pt x="315573" y="839031"/>
                    <a:pt x="316234" y="840133"/>
                    <a:pt x="317556" y="840574"/>
                  </a:cubicBezTo>
                  <a:cubicBezTo>
                    <a:pt x="318437" y="841015"/>
                    <a:pt x="319759" y="841015"/>
                    <a:pt x="320861" y="841015"/>
                  </a:cubicBezTo>
                  <a:cubicBezTo>
                    <a:pt x="322183" y="841235"/>
                    <a:pt x="323285" y="841676"/>
                    <a:pt x="325047" y="841676"/>
                  </a:cubicBezTo>
                  <a:cubicBezTo>
                    <a:pt x="336505" y="841676"/>
                    <a:pt x="340691" y="836608"/>
                    <a:pt x="340691" y="822066"/>
                  </a:cubicBezTo>
                  <a:cubicBezTo>
                    <a:pt x="340691" y="744508"/>
                    <a:pt x="340691" y="666951"/>
                    <a:pt x="340691" y="589393"/>
                  </a:cubicBezTo>
                  <a:cubicBezTo>
                    <a:pt x="340691" y="577495"/>
                    <a:pt x="334522" y="570224"/>
                    <a:pt x="325268" y="569783"/>
                  </a:cubicBezTo>
                  <a:cubicBezTo>
                    <a:pt x="323946" y="569783"/>
                    <a:pt x="322624" y="570224"/>
                    <a:pt x="321302" y="570444"/>
                  </a:cubicBezTo>
                  <a:cubicBezTo>
                    <a:pt x="320420" y="570665"/>
                    <a:pt x="319539" y="570665"/>
                    <a:pt x="318658" y="570885"/>
                  </a:cubicBezTo>
                  <a:cubicBezTo>
                    <a:pt x="317556" y="571326"/>
                    <a:pt x="316675" y="572207"/>
                    <a:pt x="315573" y="573089"/>
                  </a:cubicBezTo>
                  <a:cubicBezTo>
                    <a:pt x="314912" y="573529"/>
                    <a:pt x="314251" y="573970"/>
                    <a:pt x="313590" y="574631"/>
                  </a:cubicBezTo>
                  <a:cubicBezTo>
                    <a:pt x="312709" y="575732"/>
                    <a:pt x="311827" y="577054"/>
                    <a:pt x="311166" y="578376"/>
                  </a:cubicBezTo>
                  <a:cubicBezTo>
                    <a:pt x="310726" y="579037"/>
                    <a:pt x="310285" y="579478"/>
                    <a:pt x="309844" y="580360"/>
                  </a:cubicBezTo>
                  <a:cubicBezTo>
                    <a:pt x="308963" y="582563"/>
                    <a:pt x="308082" y="585207"/>
                    <a:pt x="307861" y="588071"/>
                  </a:cubicBezTo>
                  <a:cubicBezTo>
                    <a:pt x="305658" y="603935"/>
                    <a:pt x="303895" y="619579"/>
                    <a:pt x="301031" y="635223"/>
                  </a:cubicBezTo>
                  <a:cubicBezTo>
                    <a:pt x="295082" y="666951"/>
                    <a:pt x="279659" y="694272"/>
                    <a:pt x="258947" y="718729"/>
                  </a:cubicBezTo>
                  <a:cubicBezTo>
                    <a:pt x="230524" y="752440"/>
                    <a:pt x="194830" y="774914"/>
                    <a:pt x="152306" y="785270"/>
                  </a:cubicBezTo>
                  <a:cubicBezTo>
                    <a:pt x="133577" y="789897"/>
                    <a:pt x="113968" y="790558"/>
                    <a:pt x="94578" y="791439"/>
                  </a:cubicBezTo>
                  <a:cubicBezTo>
                    <a:pt x="94138" y="791439"/>
                    <a:pt x="93917" y="791439"/>
                    <a:pt x="93477" y="791439"/>
                  </a:cubicBezTo>
                  <a:cubicBezTo>
                    <a:pt x="91934" y="791439"/>
                    <a:pt x="90612" y="790999"/>
                    <a:pt x="89070" y="790558"/>
                  </a:cubicBezTo>
                  <a:cubicBezTo>
                    <a:pt x="87968" y="790338"/>
                    <a:pt x="86646" y="790338"/>
                    <a:pt x="85545" y="789897"/>
                  </a:cubicBezTo>
                  <a:cubicBezTo>
                    <a:pt x="84002" y="789236"/>
                    <a:pt x="82460" y="788354"/>
                    <a:pt x="81138" y="787253"/>
                  </a:cubicBezTo>
                  <a:cubicBezTo>
                    <a:pt x="80257" y="786592"/>
                    <a:pt x="79155" y="786372"/>
                    <a:pt x="78274" y="785490"/>
                  </a:cubicBezTo>
                  <a:cubicBezTo>
                    <a:pt x="76731" y="784168"/>
                    <a:pt x="75629" y="782846"/>
                    <a:pt x="74528" y="781304"/>
                  </a:cubicBezTo>
                  <a:cubicBezTo>
                    <a:pt x="73867" y="780643"/>
                    <a:pt x="73206" y="779982"/>
                    <a:pt x="72765" y="779100"/>
                  </a:cubicBezTo>
                  <a:cubicBezTo>
                    <a:pt x="71223" y="776677"/>
                    <a:pt x="70121" y="774033"/>
                    <a:pt x="69240" y="771389"/>
                  </a:cubicBezTo>
                  <a:cubicBezTo>
                    <a:pt x="68579" y="769186"/>
                    <a:pt x="68359" y="766542"/>
                    <a:pt x="68579" y="764118"/>
                  </a:cubicBezTo>
                  <a:cubicBezTo>
                    <a:pt x="68799" y="761694"/>
                    <a:pt x="69240" y="759050"/>
                    <a:pt x="70121" y="756627"/>
                  </a:cubicBezTo>
                  <a:cubicBezTo>
                    <a:pt x="71884" y="751779"/>
                    <a:pt x="75189" y="747593"/>
                    <a:pt x="79816" y="745169"/>
                  </a:cubicBezTo>
                  <a:cubicBezTo>
                    <a:pt x="82900" y="743406"/>
                    <a:pt x="86206" y="742085"/>
                    <a:pt x="89731" y="741203"/>
                  </a:cubicBezTo>
                  <a:cubicBezTo>
                    <a:pt x="90832" y="740983"/>
                    <a:pt x="91934" y="740983"/>
                    <a:pt x="93256" y="740763"/>
                  </a:cubicBezTo>
                  <a:cubicBezTo>
                    <a:pt x="95460" y="740322"/>
                    <a:pt x="97883" y="739661"/>
                    <a:pt x="100086" y="739661"/>
                  </a:cubicBezTo>
                  <a:cubicBezTo>
                    <a:pt x="100307" y="739661"/>
                    <a:pt x="100307" y="739661"/>
                    <a:pt x="100527" y="739661"/>
                  </a:cubicBezTo>
                  <a:cubicBezTo>
                    <a:pt x="100527" y="739661"/>
                    <a:pt x="100527" y="739661"/>
                    <a:pt x="100527" y="739661"/>
                  </a:cubicBezTo>
                  <a:cubicBezTo>
                    <a:pt x="104493" y="739661"/>
                    <a:pt x="108239" y="739441"/>
                    <a:pt x="111985" y="739220"/>
                  </a:cubicBezTo>
                  <a:cubicBezTo>
                    <a:pt x="114408" y="739000"/>
                    <a:pt x="117052" y="739000"/>
                    <a:pt x="119476" y="738779"/>
                  </a:cubicBezTo>
                  <a:cubicBezTo>
                    <a:pt x="123001" y="738339"/>
                    <a:pt x="126306" y="737678"/>
                    <a:pt x="129832" y="737237"/>
                  </a:cubicBezTo>
                  <a:cubicBezTo>
                    <a:pt x="132035" y="736796"/>
                    <a:pt x="134459" y="736576"/>
                    <a:pt x="136662" y="736135"/>
                  </a:cubicBezTo>
                  <a:cubicBezTo>
                    <a:pt x="140408" y="735254"/>
                    <a:pt x="144153" y="734153"/>
                    <a:pt x="147679" y="733051"/>
                  </a:cubicBezTo>
                  <a:cubicBezTo>
                    <a:pt x="149662" y="732390"/>
                    <a:pt x="151424" y="731949"/>
                    <a:pt x="153408" y="731288"/>
                  </a:cubicBezTo>
                  <a:cubicBezTo>
                    <a:pt x="158916" y="729305"/>
                    <a:pt x="164424" y="726881"/>
                    <a:pt x="169712" y="724238"/>
                  </a:cubicBezTo>
                  <a:cubicBezTo>
                    <a:pt x="215982" y="700662"/>
                    <a:pt x="245066" y="663866"/>
                    <a:pt x="252998" y="612087"/>
                  </a:cubicBezTo>
                  <a:cubicBezTo>
                    <a:pt x="255863" y="593359"/>
                    <a:pt x="256083" y="573970"/>
                    <a:pt x="256083" y="555021"/>
                  </a:cubicBezTo>
                  <a:cubicBezTo>
                    <a:pt x="256303" y="515141"/>
                    <a:pt x="270184" y="480989"/>
                    <a:pt x="298828" y="453447"/>
                  </a:cubicBezTo>
                  <a:cubicBezTo>
                    <a:pt x="323285" y="429872"/>
                    <a:pt x="353470" y="418855"/>
                    <a:pt x="386961" y="415770"/>
                  </a:cubicBezTo>
                  <a:cubicBezTo>
                    <a:pt x="388504" y="415550"/>
                    <a:pt x="390266" y="415550"/>
                    <a:pt x="391809" y="415550"/>
                  </a:cubicBezTo>
                  <a:cubicBezTo>
                    <a:pt x="392249" y="415550"/>
                    <a:pt x="392470" y="415550"/>
                    <a:pt x="392910" y="415550"/>
                  </a:cubicBezTo>
                  <a:cubicBezTo>
                    <a:pt x="393571" y="415550"/>
                    <a:pt x="394232" y="415550"/>
                    <a:pt x="394893" y="415770"/>
                  </a:cubicBezTo>
                  <a:cubicBezTo>
                    <a:pt x="396215" y="415990"/>
                    <a:pt x="397317" y="415990"/>
                    <a:pt x="398639" y="416431"/>
                  </a:cubicBezTo>
                  <a:cubicBezTo>
                    <a:pt x="399300" y="416651"/>
                    <a:pt x="399961" y="416872"/>
                    <a:pt x="400622" y="417092"/>
                  </a:cubicBezTo>
                  <a:cubicBezTo>
                    <a:pt x="401724" y="417533"/>
                    <a:pt x="403045" y="418194"/>
                    <a:pt x="404147" y="418634"/>
                  </a:cubicBezTo>
                  <a:cubicBezTo>
                    <a:pt x="404588" y="418855"/>
                    <a:pt x="405249" y="419075"/>
                    <a:pt x="405690" y="419516"/>
                  </a:cubicBezTo>
                  <a:cubicBezTo>
                    <a:pt x="407232" y="420618"/>
                    <a:pt x="408774" y="421940"/>
                    <a:pt x="410317" y="423702"/>
                  </a:cubicBezTo>
                  <a:cubicBezTo>
                    <a:pt x="415605" y="430092"/>
                    <a:pt x="421774" y="435600"/>
                    <a:pt x="427723" y="441549"/>
                  </a:cubicBezTo>
                  <a:cubicBezTo>
                    <a:pt x="430147" y="443973"/>
                    <a:pt x="432791" y="445956"/>
                    <a:pt x="435435" y="447278"/>
                  </a:cubicBezTo>
                  <a:cubicBezTo>
                    <a:pt x="436316" y="447719"/>
                    <a:pt x="437197" y="447939"/>
                    <a:pt x="437858" y="448159"/>
                  </a:cubicBezTo>
                  <a:cubicBezTo>
                    <a:pt x="439621" y="448820"/>
                    <a:pt x="441384" y="449481"/>
                    <a:pt x="443367" y="449481"/>
                  </a:cubicBezTo>
                  <a:cubicBezTo>
                    <a:pt x="444689" y="449481"/>
                    <a:pt x="446231" y="449481"/>
                    <a:pt x="447553" y="449261"/>
                  </a:cubicBezTo>
                  <a:cubicBezTo>
                    <a:pt x="448214" y="449040"/>
                    <a:pt x="449096" y="449040"/>
                    <a:pt x="449756" y="448820"/>
                  </a:cubicBezTo>
                  <a:cubicBezTo>
                    <a:pt x="451960" y="448159"/>
                    <a:pt x="454383" y="447058"/>
                    <a:pt x="456807" y="445515"/>
                  </a:cubicBezTo>
                  <a:cubicBezTo>
                    <a:pt x="457248" y="445295"/>
                    <a:pt x="457468" y="445295"/>
                    <a:pt x="457909" y="445075"/>
                  </a:cubicBezTo>
                  <a:cubicBezTo>
                    <a:pt x="461214" y="442871"/>
                    <a:pt x="464519" y="441108"/>
                    <a:pt x="467603" y="440007"/>
                  </a:cubicBezTo>
                  <a:cubicBezTo>
                    <a:pt x="468705" y="439566"/>
                    <a:pt x="470027" y="439566"/>
                    <a:pt x="471129" y="439346"/>
                  </a:cubicBezTo>
                  <a:cubicBezTo>
                    <a:pt x="473332" y="438905"/>
                    <a:pt x="475756" y="438024"/>
                    <a:pt x="477959" y="438024"/>
                  </a:cubicBezTo>
                  <a:cubicBezTo>
                    <a:pt x="477959" y="438024"/>
                    <a:pt x="477959" y="438024"/>
                    <a:pt x="477959" y="438024"/>
                  </a:cubicBezTo>
                  <a:cubicBezTo>
                    <a:pt x="480383" y="438024"/>
                    <a:pt x="482807" y="438685"/>
                    <a:pt x="485010" y="439346"/>
                  </a:cubicBezTo>
                  <a:cubicBezTo>
                    <a:pt x="486111" y="439566"/>
                    <a:pt x="487213" y="439566"/>
                    <a:pt x="488535" y="440007"/>
                  </a:cubicBezTo>
                  <a:cubicBezTo>
                    <a:pt x="492061" y="441329"/>
                    <a:pt x="495806" y="443091"/>
                    <a:pt x="499332" y="445736"/>
                  </a:cubicBezTo>
                  <a:cubicBezTo>
                    <a:pt x="501755" y="447278"/>
                    <a:pt x="503958" y="448379"/>
                    <a:pt x="506162" y="449040"/>
                  </a:cubicBezTo>
                  <a:cubicBezTo>
                    <a:pt x="506823" y="449261"/>
                    <a:pt x="507484" y="449261"/>
                    <a:pt x="508365" y="449481"/>
                  </a:cubicBezTo>
                  <a:cubicBezTo>
                    <a:pt x="509687" y="449701"/>
                    <a:pt x="511229" y="449701"/>
                    <a:pt x="512551" y="449701"/>
                  </a:cubicBezTo>
                  <a:cubicBezTo>
                    <a:pt x="514314" y="449481"/>
                    <a:pt x="516297" y="449040"/>
                    <a:pt x="518060" y="448379"/>
                  </a:cubicBezTo>
                  <a:cubicBezTo>
                    <a:pt x="518941" y="447939"/>
                    <a:pt x="519822" y="447939"/>
                    <a:pt x="520483" y="447498"/>
                  </a:cubicBezTo>
                  <a:cubicBezTo>
                    <a:pt x="523128" y="446176"/>
                    <a:pt x="525772" y="444193"/>
                    <a:pt x="528195" y="441769"/>
                  </a:cubicBezTo>
                  <a:cubicBezTo>
                    <a:pt x="534805" y="435159"/>
                    <a:pt x="540975" y="427889"/>
                    <a:pt x="548246" y="422160"/>
                  </a:cubicBezTo>
                  <a:cubicBezTo>
                    <a:pt x="550008" y="420838"/>
                    <a:pt x="552212" y="419516"/>
                    <a:pt x="554415" y="418414"/>
                  </a:cubicBezTo>
                  <a:cubicBezTo>
                    <a:pt x="554635" y="418194"/>
                    <a:pt x="554856" y="418194"/>
                    <a:pt x="555296" y="417973"/>
                  </a:cubicBezTo>
                  <a:cubicBezTo>
                    <a:pt x="557500" y="417092"/>
                    <a:pt x="559483" y="416431"/>
                    <a:pt x="561686" y="416431"/>
                  </a:cubicBezTo>
                  <a:cubicBezTo>
                    <a:pt x="561906" y="416431"/>
                    <a:pt x="562127" y="416211"/>
                    <a:pt x="562347" y="416211"/>
                  </a:cubicBezTo>
                  <a:cubicBezTo>
                    <a:pt x="562788" y="416211"/>
                    <a:pt x="563449" y="416211"/>
                    <a:pt x="563889" y="416431"/>
                  </a:cubicBezTo>
                  <a:cubicBezTo>
                    <a:pt x="582618" y="419736"/>
                    <a:pt x="602227" y="421940"/>
                    <a:pt x="619193" y="429431"/>
                  </a:cubicBezTo>
                  <a:cubicBezTo>
                    <a:pt x="666124" y="450362"/>
                    <a:pt x="693225" y="487819"/>
                    <a:pt x="698734" y="539157"/>
                  </a:cubicBezTo>
                  <a:cubicBezTo>
                    <a:pt x="701378" y="563614"/>
                    <a:pt x="700276" y="588512"/>
                    <a:pt x="703140" y="612969"/>
                  </a:cubicBezTo>
                  <a:cubicBezTo>
                    <a:pt x="706886" y="647782"/>
                    <a:pt x="724072" y="676645"/>
                    <a:pt x="749631" y="700001"/>
                  </a:cubicBezTo>
                  <a:cubicBezTo>
                    <a:pt x="753377" y="703306"/>
                    <a:pt x="757122" y="706391"/>
                    <a:pt x="760868" y="709475"/>
                  </a:cubicBezTo>
                  <a:cubicBezTo>
                    <a:pt x="761970" y="710356"/>
                    <a:pt x="763291" y="711017"/>
                    <a:pt x="764393" y="711899"/>
                  </a:cubicBezTo>
                  <a:cubicBezTo>
                    <a:pt x="767037" y="713882"/>
                    <a:pt x="769902" y="715865"/>
                    <a:pt x="772545" y="717627"/>
                  </a:cubicBezTo>
                  <a:cubicBezTo>
                    <a:pt x="774088" y="718729"/>
                    <a:pt x="775851" y="719390"/>
                    <a:pt x="777393" y="720492"/>
                  </a:cubicBezTo>
                  <a:cubicBezTo>
                    <a:pt x="779816" y="721814"/>
                    <a:pt x="782240" y="723356"/>
                    <a:pt x="784884" y="724678"/>
                  </a:cubicBezTo>
                  <a:cubicBezTo>
                    <a:pt x="786647" y="725560"/>
                    <a:pt x="788410" y="726220"/>
                    <a:pt x="790172" y="727102"/>
                  </a:cubicBezTo>
                  <a:cubicBezTo>
                    <a:pt x="792596" y="728203"/>
                    <a:pt x="795240" y="729525"/>
                    <a:pt x="797663" y="730407"/>
                  </a:cubicBezTo>
                  <a:cubicBezTo>
                    <a:pt x="799426" y="731068"/>
                    <a:pt x="801409" y="731729"/>
                    <a:pt x="803392" y="732390"/>
                  </a:cubicBezTo>
                  <a:cubicBezTo>
                    <a:pt x="806036" y="733271"/>
                    <a:pt x="808460" y="734153"/>
                    <a:pt x="811104" y="735034"/>
                  </a:cubicBezTo>
                  <a:cubicBezTo>
                    <a:pt x="813087" y="735695"/>
                    <a:pt x="815290" y="735915"/>
                    <a:pt x="817273" y="736356"/>
                  </a:cubicBezTo>
                  <a:cubicBezTo>
                    <a:pt x="819917" y="737017"/>
                    <a:pt x="822341" y="737678"/>
                    <a:pt x="824985" y="738118"/>
                  </a:cubicBezTo>
                  <a:cubicBezTo>
                    <a:pt x="827188" y="738559"/>
                    <a:pt x="829392" y="738779"/>
                    <a:pt x="831595" y="739000"/>
                  </a:cubicBezTo>
                  <a:cubicBezTo>
                    <a:pt x="834239" y="739441"/>
                    <a:pt x="836663" y="739881"/>
                    <a:pt x="839307" y="740102"/>
                  </a:cubicBezTo>
                  <a:cubicBezTo>
                    <a:pt x="841510" y="740322"/>
                    <a:pt x="843934" y="740322"/>
                    <a:pt x="846137" y="740322"/>
                  </a:cubicBezTo>
                  <a:cubicBezTo>
                    <a:pt x="849001" y="740542"/>
                    <a:pt x="851866" y="740763"/>
                    <a:pt x="854730" y="740542"/>
                  </a:cubicBezTo>
                  <a:cubicBezTo>
                    <a:pt x="854730" y="740542"/>
                    <a:pt x="854730" y="740542"/>
                    <a:pt x="854950" y="740542"/>
                  </a:cubicBezTo>
                  <a:cubicBezTo>
                    <a:pt x="856052" y="740542"/>
                    <a:pt x="857374" y="740763"/>
                    <a:pt x="858476" y="740983"/>
                  </a:cubicBezTo>
                  <a:cubicBezTo>
                    <a:pt x="859357" y="741203"/>
                    <a:pt x="860459" y="741203"/>
                    <a:pt x="861340" y="741203"/>
                  </a:cubicBezTo>
                  <a:cubicBezTo>
                    <a:pt x="862662" y="741424"/>
                    <a:pt x="863764" y="741864"/>
                    <a:pt x="865086" y="742305"/>
                  </a:cubicBezTo>
                  <a:cubicBezTo>
                    <a:pt x="865967" y="742525"/>
                    <a:pt x="867069" y="742746"/>
                    <a:pt x="867950" y="743186"/>
                  </a:cubicBezTo>
                  <a:cubicBezTo>
                    <a:pt x="869272" y="743627"/>
                    <a:pt x="870374" y="744288"/>
                    <a:pt x="871696" y="744949"/>
                  </a:cubicBezTo>
                  <a:cubicBezTo>
                    <a:pt x="872577" y="745389"/>
                    <a:pt x="873458" y="745610"/>
                    <a:pt x="874340" y="746271"/>
                  </a:cubicBezTo>
                  <a:cubicBezTo>
                    <a:pt x="875441" y="746932"/>
                    <a:pt x="876543" y="747593"/>
                    <a:pt x="877645" y="748474"/>
                  </a:cubicBezTo>
                  <a:cubicBezTo>
                    <a:pt x="878526" y="748915"/>
                    <a:pt x="879187" y="749356"/>
                    <a:pt x="880068" y="750017"/>
                  </a:cubicBezTo>
                  <a:cubicBezTo>
                    <a:pt x="882051" y="751339"/>
                    <a:pt x="883594" y="753101"/>
                    <a:pt x="884695" y="754864"/>
                  </a:cubicBezTo>
                  <a:cubicBezTo>
                    <a:pt x="888441" y="760372"/>
                    <a:pt x="888882" y="767643"/>
                    <a:pt x="886018" y="774694"/>
                  </a:cubicBezTo>
                  <a:cubicBezTo>
                    <a:pt x="884916" y="777558"/>
                    <a:pt x="883373" y="779982"/>
                    <a:pt x="881831" y="782185"/>
                  </a:cubicBezTo>
                  <a:cubicBezTo>
                    <a:pt x="876763" y="788795"/>
                    <a:pt x="869713" y="792321"/>
                    <a:pt x="860459" y="792541"/>
                  </a:cubicBezTo>
                  <a:cubicBezTo>
                    <a:pt x="858696" y="792541"/>
                    <a:pt x="857154" y="792541"/>
                    <a:pt x="855391" y="792541"/>
                  </a:cubicBezTo>
                  <a:cubicBezTo>
                    <a:pt x="852527" y="792541"/>
                    <a:pt x="849662" y="792321"/>
                    <a:pt x="846578" y="792100"/>
                  </a:cubicBezTo>
                  <a:cubicBezTo>
                    <a:pt x="843713" y="791880"/>
                    <a:pt x="841069" y="791880"/>
                    <a:pt x="838205" y="791660"/>
                  </a:cubicBezTo>
                  <a:cubicBezTo>
                    <a:pt x="834239" y="791439"/>
                    <a:pt x="830273" y="790778"/>
                    <a:pt x="826527" y="790117"/>
                  </a:cubicBezTo>
                  <a:cubicBezTo>
                    <a:pt x="823883" y="789677"/>
                    <a:pt x="821460" y="789456"/>
                    <a:pt x="818816" y="789016"/>
                  </a:cubicBezTo>
                  <a:cubicBezTo>
                    <a:pt x="814629" y="788134"/>
                    <a:pt x="810223" y="787253"/>
                    <a:pt x="806036" y="786151"/>
                  </a:cubicBezTo>
                  <a:cubicBezTo>
                    <a:pt x="803833" y="785711"/>
                    <a:pt x="801850" y="785270"/>
                    <a:pt x="799646" y="784609"/>
                  </a:cubicBezTo>
                  <a:cubicBezTo>
                    <a:pt x="793257" y="782846"/>
                    <a:pt x="787088" y="780863"/>
                    <a:pt x="780918" y="778439"/>
                  </a:cubicBezTo>
                  <a:cubicBezTo>
                    <a:pt x="726055" y="757067"/>
                    <a:pt x="687497" y="718949"/>
                    <a:pt x="664141" y="665188"/>
                  </a:cubicBezTo>
                  <a:cubicBezTo>
                    <a:pt x="661497" y="658798"/>
                    <a:pt x="659074" y="652409"/>
                    <a:pt x="657311" y="646019"/>
                  </a:cubicBezTo>
                  <a:cubicBezTo>
                    <a:pt x="651803" y="626630"/>
                    <a:pt x="649599" y="606579"/>
                    <a:pt x="648057" y="586088"/>
                  </a:cubicBezTo>
                  <a:cubicBezTo>
                    <a:pt x="648057" y="586088"/>
                    <a:pt x="648057" y="586088"/>
                    <a:pt x="648057" y="586088"/>
                  </a:cubicBezTo>
                  <a:cubicBezTo>
                    <a:pt x="647836" y="583664"/>
                    <a:pt x="647175" y="581241"/>
                    <a:pt x="646294" y="579258"/>
                  </a:cubicBezTo>
                  <a:cubicBezTo>
                    <a:pt x="646074" y="578597"/>
                    <a:pt x="645413" y="578156"/>
                    <a:pt x="645193" y="577495"/>
                  </a:cubicBezTo>
                  <a:cubicBezTo>
                    <a:pt x="644532" y="576393"/>
                    <a:pt x="643871" y="575071"/>
                    <a:pt x="642769" y="574190"/>
                  </a:cubicBezTo>
                  <a:cubicBezTo>
                    <a:pt x="642108" y="573750"/>
                    <a:pt x="641447" y="573309"/>
                    <a:pt x="640786" y="572868"/>
                  </a:cubicBezTo>
                  <a:cubicBezTo>
                    <a:pt x="639684" y="572207"/>
                    <a:pt x="638803" y="571546"/>
                    <a:pt x="637701" y="571106"/>
                  </a:cubicBezTo>
                  <a:cubicBezTo>
                    <a:pt x="636820" y="570885"/>
                    <a:pt x="635939" y="570885"/>
                    <a:pt x="635057" y="570665"/>
                  </a:cubicBezTo>
                  <a:cubicBezTo>
                    <a:pt x="633735" y="570444"/>
                    <a:pt x="632413" y="570004"/>
                    <a:pt x="631091" y="570004"/>
                  </a:cubicBezTo>
                  <a:cubicBezTo>
                    <a:pt x="621837" y="570444"/>
                    <a:pt x="615668" y="577054"/>
                    <a:pt x="615668" y="587190"/>
                  </a:cubicBezTo>
                  <a:cubicBezTo>
                    <a:pt x="615668" y="666510"/>
                    <a:pt x="615447" y="745830"/>
                    <a:pt x="615668" y="824930"/>
                  </a:cubicBezTo>
                  <a:cubicBezTo>
                    <a:pt x="615668" y="828015"/>
                    <a:pt x="616329" y="830659"/>
                    <a:pt x="616990" y="832862"/>
                  </a:cubicBezTo>
                  <a:cubicBezTo>
                    <a:pt x="617210" y="833523"/>
                    <a:pt x="617651" y="834184"/>
                    <a:pt x="618092" y="834845"/>
                  </a:cubicBezTo>
                  <a:cubicBezTo>
                    <a:pt x="618753" y="836167"/>
                    <a:pt x="619634" y="837489"/>
                    <a:pt x="620735" y="838591"/>
                  </a:cubicBezTo>
                  <a:cubicBezTo>
                    <a:pt x="621396" y="839031"/>
                    <a:pt x="622057" y="839472"/>
                    <a:pt x="622718" y="839913"/>
                  </a:cubicBezTo>
                  <a:cubicBezTo>
                    <a:pt x="624040" y="840574"/>
                    <a:pt x="625363" y="841235"/>
                    <a:pt x="626685" y="841455"/>
                  </a:cubicBezTo>
                  <a:cubicBezTo>
                    <a:pt x="627566" y="841676"/>
                    <a:pt x="628227" y="841896"/>
                    <a:pt x="629108" y="841896"/>
                  </a:cubicBezTo>
                  <a:cubicBezTo>
                    <a:pt x="631532" y="842116"/>
                    <a:pt x="633956" y="841896"/>
                    <a:pt x="636600" y="841235"/>
                  </a:cubicBezTo>
                  <a:cubicBezTo>
                    <a:pt x="643871" y="839252"/>
                    <a:pt x="646514" y="834625"/>
                    <a:pt x="647616" y="828676"/>
                  </a:cubicBezTo>
                  <a:cubicBezTo>
                    <a:pt x="647836" y="826693"/>
                    <a:pt x="648057" y="824710"/>
                    <a:pt x="648057" y="822506"/>
                  </a:cubicBezTo>
                  <a:cubicBezTo>
                    <a:pt x="648057" y="790778"/>
                    <a:pt x="648057" y="759271"/>
                    <a:pt x="648057" y="727542"/>
                  </a:cubicBezTo>
                  <a:cubicBezTo>
                    <a:pt x="648057" y="723797"/>
                    <a:pt x="648718" y="719831"/>
                    <a:pt x="649379" y="713221"/>
                  </a:cubicBezTo>
                  <a:cubicBezTo>
                    <a:pt x="652904" y="717407"/>
                    <a:pt x="654226" y="718949"/>
                    <a:pt x="655768" y="720712"/>
                  </a:cubicBezTo>
                  <a:cubicBezTo>
                    <a:pt x="671633" y="738118"/>
                    <a:pt x="686175" y="757067"/>
                    <a:pt x="704022" y="772270"/>
                  </a:cubicBezTo>
                  <a:cubicBezTo>
                    <a:pt x="741919" y="804879"/>
                    <a:pt x="787528" y="821184"/>
                    <a:pt x="837103" y="824930"/>
                  </a:cubicBezTo>
                  <a:cubicBezTo>
                    <a:pt x="843273" y="825371"/>
                    <a:pt x="849662" y="825150"/>
                    <a:pt x="855832" y="824710"/>
                  </a:cubicBezTo>
                  <a:cubicBezTo>
                    <a:pt x="857815" y="824490"/>
                    <a:pt x="860018" y="824490"/>
                    <a:pt x="862001" y="824269"/>
                  </a:cubicBezTo>
                  <a:cubicBezTo>
                    <a:pt x="868831" y="823608"/>
                    <a:pt x="875662" y="822506"/>
                    <a:pt x="882272" y="821184"/>
                  </a:cubicBezTo>
                  <a:cubicBezTo>
                    <a:pt x="904305" y="816117"/>
                    <a:pt x="922373" y="788354"/>
                    <a:pt x="921932" y="764999"/>
                  </a:cubicBezTo>
                  <a:cubicBezTo>
                    <a:pt x="921932" y="761694"/>
                    <a:pt x="921491" y="758389"/>
                    <a:pt x="920610" y="755304"/>
                  </a:cubicBezTo>
                  <a:cubicBezTo>
                    <a:pt x="916423" y="739000"/>
                    <a:pt x="909152" y="727102"/>
                    <a:pt x="898797" y="718949"/>
                  </a:cubicBezTo>
                  <a:close/>
                  <a:moveTo>
                    <a:pt x="286269" y="417533"/>
                  </a:moveTo>
                  <a:cubicBezTo>
                    <a:pt x="284065" y="420177"/>
                    <a:pt x="281862" y="423041"/>
                    <a:pt x="279438" y="425685"/>
                  </a:cubicBezTo>
                  <a:cubicBezTo>
                    <a:pt x="269744" y="436922"/>
                    <a:pt x="260049" y="448379"/>
                    <a:pt x="250134" y="459176"/>
                  </a:cubicBezTo>
                  <a:cubicBezTo>
                    <a:pt x="247270" y="462481"/>
                    <a:pt x="242863" y="466226"/>
                    <a:pt x="238897" y="466447"/>
                  </a:cubicBezTo>
                  <a:cubicBezTo>
                    <a:pt x="233829" y="466667"/>
                    <a:pt x="228982" y="466887"/>
                    <a:pt x="224135" y="466887"/>
                  </a:cubicBezTo>
                  <a:cubicBezTo>
                    <a:pt x="222592" y="466887"/>
                    <a:pt x="221270" y="466667"/>
                    <a:pt x="219728" y="466667"/>
                  </a:cubicBezTo>
                  <a:cubicBezTo>
                    <a:pt x="216423" y="466667"/>
                    <a:pt x="213338" y="466447"/>
                    <a:pt x="210253" y="466226"/>
                  </a:cubicBezTo>
                  <a:cubicBezTo>
                    <a:pt x="206067" y="466006"/>
                    <a:pt x="202101" y="465566"/>
                    <a:pt x="198135" y="465125"/>
                  </a:cubicBezTo>
                  <a:cubicBezTo>
                    <a:pt x="195051" y="464684"/>
                    <a:pt x="191966" y="464244"/>
                    <a:pt x="188881" y="463803"/>
                  </a:cubicBezTo>
                  <a:cubicBezTo>
                    <a:pt x="184915" y="463142"/>
                    <a:pt x="181169" y="462261"/>
                    <a:pt x="177203" y="461379"/>
                  </a:cubicBezTo>
                  <a:cubicBezTo>
                    <a:pt x="174119" y="460718"/>
                    <a:pt x="171255" y="459837"/>
                    <a:pt x="168390" y="459176"/>
                  </a:cubicBezTo>
                  <a:cubicBezTo>
                    <a:pt x="164644" y="458074"/>
                    <a:pt x="160899" y="456752"/>
                    <a:pt x="157153" y="455430"/>
                  </a:cubicBezTo>
                  <a:cubicBezTo>
                    <a:pt x="154289" y="454329"/>
                    <a:pt x="151645" y="453447"/>
                    <a:pt x="148780" y="452345"/>
                  </a:cubicBezTo>
                  <a:cubicBezTo>
                    <a:pt x="145035" y="450803"/>
                    <a:pt x="141509" y="449040"/>
                    <a:pt x="137984" y="447278"/>
                  </a:cubicBezTo>
                  <a:cubicBezTo>
                    <a:pt x="135340" y="445956"/>
                    <a:pt x="132696" y="444634"/>
                    <a:pt x="130272" y="443312"/>
                  </a:cubicBezTo>
                  <a:cubicBezTo>
                    <a:pt x="126527" y="441329"/>
                    <a:pt x="123001" y="438905"/>
                    <a:pt x="119476" y="436482"/>
                  </a:cubicBezTo>
                  <a:cubicBezTo>
                    <a:pt x="117052" y="434939"/>
                    <a:pt x="114849" y="433617"/>
                    <a:pt x="112425" y="431854"/>
                  </a:cubicBezTo>
                  <a:cubicBezTo>
                    <a:pt x="108679" y="428990"/>
                    <a:pt x="104934" y="425905"/>
                    <a:pt x="101409" y="422821"/>
                  </a:cubicBezTo>
                  <a:cubicBezTo>
                    <a:pt x="99646" y="421279"/>
                    <a:pt x="97663" y="419736"/>
                    <a:pt x="95900" y="418194"/>
                  </a:cubicBezTo>
                  <a:cubicBezTo>
                    <a:pt x="90612" y="413126"/>
                    <a:pt x="85324" y="407838"/>
                    <a:pt x="80257" y="402109"/>
                  </a:cubicBezTo>
                  <a:cubicBezTo>
                    <a:pt x="58443" y="377212"/>
                    <a:pt x="43241" y="348568"/>
                    <a:pt x="38613" y="315298"/>
                  </a:cubicBezTo>
                  <a:cubicBezTo>
                    <a:pt x="36631" y="301858"/>
                    <a:pt x="34868" y="288417"/>
                    <a:pt x="34427" y="274977"/>
                  </a:cubicBezTo>
                  <a:cubicBezTo>
                    <a:pt x="33986" y="258011"/>
                    <a:pt x="45664" y="245452"/>
                    <a:pt x="59986" y="245452"/>
                  </a:cubicBezTo>
                  <a:cubicBezTo>
                    <a:pt x="59986" y="245452"/>
                    <a:pt x="59986" y="245452"/>
                    <a:pt x="59986" y="245452"/>
                  </a:cubicBezTo>
                  <a:cubicBezTo>
                    <a:pt x="61969" y="245452"/>
                    <a:pt x="63511" y="246113"/>
                    <a:pt x="65274" y="246554"/>
                  </a:cubicBezTo>
                  <a:cubicBezTo>
                    <a:pt x="66816" y="246994"/>
                    <a:pt x="68359" y="246994"/>
                    <a:pt x="69681" y="247435"/>
                  </a:cubicBezTo>
                  <a:cubicBezTo>
                    <a:pt x="71443" y="248316"/>
                    <a:pt x="72765" y="249638"/>
                    <a:pt x="74307" y="250740"/>
                  </a:cubicBezTo>
                  <a:cubicBezTo>
                    <a:pt x="75409" y="251622"/>
                    <a:pt x="76731" y="252283"/>
                    <a:pt x="77833" y="253384"/>
                  </a:cubicBezTo>
                  <a:cubicBezTo>
                    <a:pt x="79596" y="255147"/>
                    <a:pt x="80697" y="257570"/>
                    <a:pt x="82019" y="259994"/>
                  </a:cubicBezTo>
                  <a:cubicBezTo>
                    <a:pt x="82460" y="260876"/>
                    <a:pt x="83121" y="261536"/>
                    <a:pt x="83561" y="262418"/>
                  </a:cubicBezTo>
                  <a:cubicBezTo>
                    <a:pt x="85104" y="265943"/>
                    <a:pt x="85985" y="269689"/>
                    <a:pt x="86426" y="273655"/>
                  </a:cubicBezTo>
                  <a:cubicBezTo>
                    <a:pt x="86646" y="277180"/>
                    <a:pt x="87087" y="280926"/>
                    <a:pt x="87307" y="284451"/>
                  </a:cubicBezTo>
                  <a:cubicBezTo>
                    <a:pt x="88189" y="295248"/>
                    <a:pt x="88850" y="306264"/>
                    <a:pt x="91714" y="316620"/>
                  </a:cubicBezTo>
                  <a:cubicBezTo>
                    <a:pt x="104493" y="362670"/>
                    <a:pt x="134899" y="392855"/>
                    <a:pt x="179848" y="408719"/>
                  </a:cubicBezTo>
                  <a:cubicBezTo>
                    <a:pt x="185576" y="410702"/>
                    <a:pt x="191305" y="412025"/>
                    <a:pt x="197034" y="412906"/>
                  </a:cubicBezTo>
                  <a:cubicBezTo>
                    <a:pt x="198135" y="413126"/>
                    <a:pt x="199237" y="413346"/>
                    <a:pt x="200338" y="413346"/>
                  </a:cubicBezTo>
                  <a:cubicBezTo>
                    <a:pt x="205847" y="414007"/>
                    <a:pt x="211355" y="414448"/>
                    <a:pt x="217084" y="414668"/>
                  </a:cubicBezTo>
                  <a:cubicBezTo>
                    <a:pt x="218406" y="414668"/>
                    <a:pt x="219728" y="414668"/>
                    <a:pt x="220830" y="414668"/>
                  </a:cubicBezTo>
                  <a:cubicBezTo>
                    <a:pt x="226338" y="414668"/>
                    <a:pt x="231846" y="414668"/>
                    <a:pt x="237134" y="414668"/>
                  </a:cubicBezTo>
                  <a:cubicBezTo>
                    <a:pt x="240660" y="414668"/>
                    <a:pt x="244405" y="414668"/>
                    <a:pt x="247931" y="414668"/>
                  </a:cubicBezTo>
                  <a:cubicBezTo>
                    <a:pt x="250795" y="414668"/>
                    <a:pt x="253439" y="414668"/>
                    <a:pt x="256303" y="414668"/>
                  </a:cubicBezTo>
                  <a:cubicBezTo>
                    <a:pt x="265557" y="414889"/>
                    <a:pt x="275032" y="414668"/>
                    <a:pt x="284286" y="414668"/>
                  </a:cubicBezTo>
                  <a:cubicBezTo>
                    <a:pt x="285167" y="415990"/>
                    <a:pt x="285608" y="416872"/>
                    <a:pt x="286269" y="417533"/>
                  </a:cubicBezTo>
                  <a:lnTo>
                    <a:pt x="286269" y="417533"/>
                  </a:lnTo>
                  <a:close/>
                  <a:moveTo>
                    <a:pt x="509026" y="410482"/>
                  </a:moveTo>
                  <a:cubicBezTo>
                    <a:pt x="508586" y="410482"/>
                    <a:pt x="508145" y="410482"/>
                    <a:pt x="507704" y="410482"/>
                  </a:cubicBezTo>
                  <a:cubicBezTo>
                    <a:pt x="507484" y="410482"/>
                    <a:pt x="507264" y="410262"/>
                    <a:pt x="507043" y="410262"/>
                  </a:cubicBezTo>
                  <a:cubicBezTo>
                    <a:pt x="505280" y="410041"/>
                    <a:pt x="503297" y="409601"/>
                    <a:pt x="501535" y="408719"/>
                  </a:cubicBezTo>
                  <a:cubicBezTo>
                    <a:pt x="501315" y="408499"/>
                    <a:pt x="500874" y="408499"/>
                    <a:pt x="500654" y="408279"/>
                  </a:cubicBezTo>
                  <a:cubicBezTo>
                    <a:pt x="498671" y="407397"/>
                    <a:pt x="496908" y="406296"/>
                    <a:pt x="495145" y="405194"/>
                  </a:cubicBezTo>
                  <a:cubicBezTo>
                    <a:pt x="492281" y="403432"/>
                    <a:pt x="489637" y="401889"/>
                    <a:pt x="486772" y="401008"/>
                  </a:cubicBezTo>
                  <a:cubicBezTo>
                    <a:pt x="485891" y="400787"/>
                    <a:pt x="485010" y="400567"/>
                    <a:pt x="484129" y="400347"/>
                  </a:cubicBezTo>
                  <a:cubicBezTo>
                    <a:pt x="482366" y="399906"/>
                    <a:pt x="480383" y="399465"/>
                    <a:pt x="478620" y="399465"/>
                  </a:cubicBezTo>
                  <a:cubicBezTo>
                    <a:pt x="476857" y="399465"/>
                    <a:pt x="475095" y="399686"/>
                    <a:pt x="473332" y="400126"/>
                  </a:cubicBezTo>
                  <a:cubicBezTo>
                    <a:pt x="472451" y="400347"/>
                    <a:pt x="471569" y="400347"/>
                    <a:pt x="470688" y="400567"/>
                  </a:cubicBezTo>
                  <a:cubicBezTo>
                    <a:pt x="468044" y="401448"/>
                    <a:pt x="465400" y="402550"/>
                    <a:pt x="462536" y="404313"/>
                  </a:cubicBezTo>
                  <a:cubicBezTo>
                    <a:pt x="460773" y="405414"/>
                    <a:pt x="458570" y="406516"/>
                    <a:pt x="456146" y="407397"/>
                  </a:cubicBezTo>
                  <a:cubicBezTo>
                    <a:pt x="455705" y="407618"/>
                    <a:pt x="455265" y="407838"/>
                    <a:pt x="454604" y="408058"/>
                  </a:cubicBezTo>
                  <a:cubicBezTo>
                    <a:pt x="452180" y="408940"/>
                    <a:pt x="449977" y="409601"/>
                    <a:pt x="448214" y="409601"/>
                  </a:cubicBezTo>
                  <a:cubicBezTo>
                    <a:pt x="448214" y="409601"/>
                    <a:pt x="447994" y="409601"/>
                    <a:pt x="447773" y="409601"/>
                  </a:cubicBezTo>
                  <a:cubicBezTo>
                    <a:pt x="446672" y="409601"/>
                    <a:pt x="446011" y="409380"/>
                    <a:pt x="445350" y="408940"/>
                  </a:cubicBezTo>
                  <a:cubicBezTo>
                    <a:pt x="436316" y="401889"/>
                    <a:pt x="424198" y="395500"/>
                    <a:pt x="427062" y="380296"/>
                  </a:cubicBezTo>
                  <a:cubicBezTo>
                    <a:pt x="427282" y="379415"/>
                    <a:pt x="427503" y="378313"/>
                    <a:pt x="427723" y="377212"/>
                  </a:cubicBezTo>
                  <a:cubicBezTo>
                    <a:pt x="443587" y="381398"/>
                    <a:pt x="459892" y="383822"/>
                    <a:pt x="477078" y="383822"/>
                  </a:cubicBezTo>
                  <a:cubicBezTo>
                    <a:pt x="494484" y="383822"/>
                    <a:pt x="511229" y="381398"/>
                    <a:pt x="527094" y="376991"/>
                  </a:cubicBezTo>
                  <a:cubicBezTo>
                    <a:pt x="529517" y="390652"/>
                    <a:pt x="520263" y="408499"/>
                    <a:pt x="509026" y="410482"/>
                  </a:cubicBezTo>
                  <a:close/>
                  <a:moveTo>
                    <a:pt x="477298" y="350992"/>
                  </a:moveTo>
                  <a:cubicBezTo>
                    <a:pt x="389605" y="350992"/>
                    <a:pt x="318217" y="279604"/>
                    <a:pt x="318217" y="191911"/>
                  </a:cubicBezTo>
                  <a:cubicBezTo>
                    <a:pt x="318217" y="104218"/>
                    <a:pt x="389605" y="32830"/>
                    <a:pt x="477298" y="32830"/>
                  </a:cubicBezTo>
                  <a:cubicBezTo>
                    <a:pt x="564991" y="32830"/>
                    <a:pt x="636379" y="104218"/>
                    <a:pt x="636379" y="191911"/>
                  </a:cubicBezTo>
                  <a:cubicBezTo>
                    <a:pt x="636379" y="279604"/>
                    <a:pt x="564991" y="350992"/>
                    <a:pt x="477298" y="350992"/>
                  </a:cubicBezTo>
                  <a:close/>
                  <a:moveTo>
                    <a:pt x="708428" y="462922"/>
                  </a:moveTo>
                  <a:cubicBezTo>
                    <a:pt x="696530" y="449481"/>
                    <a:pt x="684632" y="436041"/>
                    <a:pt x="672954" y="422380"/>
                  </a:cubicBezTo>
                  <a:cubicBezTo>
                    <a:pt x="671633" y="421058"/>
                    <a:pt x="671192" y="418855"/>
                    <a:pt x="669429" y="415109"/>
                  </a:cubicBezTo>
                  <a:cubicBezTo>
                    <a:pt x="680666" y="415109"/>
                    <a:pt x="691242" y="414889"/>
                    <a:pt x="701598" y="414889"/>
                  </a:cubicBezTo>
                  <a:cubicBezTo>
                    <a:pt x="703581" y="414889"/>
                    <a:pt x="706005" y="414889"/>
                    <a:pt x="707988" y="414889"/>
                  </a:cubicBezTo>
                  <a:cubicBezTo>
                    <a:pt x="715259" y="414889"/>
                    <a:pt x="722530" y="414889"/>
                    <a:pt x="729801" y="415329"/>
                  </a:cubicBezTo>
                  <a:cubicBezTo>
                    <a:pt x="734869" y="415550"/>
                    <a:pt x="739716" y="415109"/>
                    <a:pt x="744563" y="414668"/>
                  </a:cubicBezTo>
                  <a:cubicBezTo>
                    <a:pt x="747868" y="414448"/>
                    <a:pt x="751394" y="414228"/>
                    <a:pt x="754698" y="413787"/>
                  </a:cubicBezTo>
                  <a:cubicBezTo>
                    <a:pt x="758664" y="413126"/>
                    <a:pt x="762410" y="412245"/>
                    <a:pt x="766156" y="411364"/>
                  </a:cubicBezTo>
                  <a:cubicBezTo>
                    <a:pt x="769241" y="410702"/>
                    <a:pt x="772545" y="410041"/>
                    <a:pt x="775630" y="409160"/>
                  </a:cubicBezTo>
                  <a:cubicBezTo>
                    <a:pt x="779376" y="408058"/>
                    <a:pt x="782901" y="406516"/>
                    <a:pt x="786427" y="404974"/>
                  </a:cubicBezTo>
                  <a:cubicBezTo>
                    <a:pt x="789291" y="403872"/>
                    <a:pt x="792376" y="402770"/>
                    <a:pt x="795240" y="401448"/>
                  </a:cubicBezTo>
                  <a:cubicBezTo>
                    <a:pt x="798765" y="399686"/>
                    <a:pt x="801850" y="397703"/>
                    <a:pt x="805155" y="395720"/>
                  </a:cubicBezTo>
                  <a:cubicBezTo>
                    <a:pt x="807799" y="394177"/>
                    <a:pt x="810443" y="392635"/>
                    <a:pt x="812867" y="390872"/>
                  </a:cubicBezTo>
                  <a:cubicBezTo>
                    <a:pt x="816171" y="388669"/>
                    <a:pt x="819036" y="386025"/>
                    <a:pt x="822121" y="383381"/>
                  </a:cubicBezTo>
                  <a:cubicBezTo>
                    <a:pt x="824324" y="381398"/>
                    <a:pt x="826748" y="379856"/>
                    <a:pt x="828731" y="377652"/>
                  </a:cubicBezTo>
                  <a:cubicBezTo>
                    <a:pt x="831595" y="374788"/>
                    <a:pt x="834239" y="371483"/>
                    <a:pt x="836883" y="368398"/>
                  </a:cubicBezTo>
                  <a:cubicBezTo>
                    <a:pt x="838646" y="366415"/>
                    <a:pt x="840629" y="364432"/>
                    <a:pt x="842171" y="362229"/>
                  </a:cubicBezTo>
                  <a:cubicBezTo>
                    <a:pt x="845035" y="358703"/>
                    <a:pt x="847239" y="354738"/>
                    <a:pt x="849662" y="350772"/>
                  </a:cubicBezTo>
                  <a:cubicBezTo>
                    <a:pt x="850764" y="348789"/>
                    <a:pt x="852306" y="347026"/>
                    <a:pt x="853408" y="345043"/>
                  </a:cubicBezTo>
                  <a:cubicBezTo>
                    <a:pt x="856713" y="338874"/>
                    <a:pt x="859577" y="332704"/>
                    <a:pt x="861781" y="326094"/>
                  </a:cubicBezTo>
                  <a:cubicBezTo>
                    <a:pt x="867289" y="310451"/>
                    <a:pt x="867730" y="292824"/>
                    <a:pt x="869713" y="276078"/>
                  </a:cubicBezTo>
                  <a:cubicBezTo>
                    <a:pt x="870374" y="269909"/>
                    <a:pt x="871475" y="263960"/>
                    <a:pt x="873899" y="259113"/>
                  </a:cubicBezTo>
                  <a:cubicBezTo>
                    <a:pt x="876323" y="254265"/>
                    <a:pt x="880289" y="250079"/>
                    <a:pt x="886899" y="247655"/>
                  </a:cubicBezTo>
                  <a:cubicBezTo>
                    <a:pt x="889763" y="246554"/>
                    <a:pt x="892627" y="246113"/>
                    <a:pt x="895492" y="246113"/>
                  </a:cubicBezTo>
                  <a:cubicBezTo>
                    <a:pt x="895933" y="246113"/>
                    <a:pt x="896153" y="245893"/>
                    <a:pt x="896593" y="245893"/>
                  </a:cubicBezTo>
                  <a:cubicBezTo>
                    <a:pt x="896814" y="245893"/>
                    <a:pt x="897254" y="246113"/>
                    <a:pt x="897475" y="246113"/>
                  </a:cubicBezTo>
                  <a:cubicBezTo>
                    <a:pt x="900339" y="246113"/>
                    <a:pt x="902983" y="246774"/>
                    <a:pt x="905627" y="247655"/>
                  </a:cubicBezTo>
                  <a:cubicBezTo>
                    <a:pt x="906068" y="247876"/>
                    <a:pt x="906288" y="248096"/>
                    <a:pt x="906729" y="248096"/>
                  </a:cubicBezTo>
                  <a:cubicBezTo>
                    <a:pt x="909152" y="249198"/>
                    <a:pt x="911136" y="250520"/>
                    <a:pt x="913119" y="252062"/>
                  </a:cubicBezTo>
                  <a:cubicBezTo>
                    <a:pt x="913559" y="252283"/>
                    <a:pt x="913780" y="252723"/>
                    <a:pt x="914220" y="252943"/>
                  </a:cubicBezTo>
                  <a:cubicBezTo>
                    <a:pt x="916203" y="254926"/>
                    <a:pt x="917745" y="257130"/>
                    <a:pt x="919068" y="259774"/>
                  </a:cubicBezTo>
                  <a:cubicBezTo>
                    <a:pt x="919288" y="260215"/>
                    <a:pt x="919508" y="260876"/>
                    <a:pt x="919729" y="261536"/>
                  </a:cubicBezTo>
                  <a:cubicBezTo>
                    <a:pt x="920830" y="264180"/>
                    <a:pt x="921712" y="267265"/>
                    <a:pt x="921932" y="270570"/>
                  </a:cubicBezTo>
                  <a:cubicBezTo>
                    <a:pt x="923694" y="311552"/>
                    <a:pt x="913119" y="349449"/>
                    <a:pt x="890204" y="383822"/>
                  </a:cubicBezTo>
                  <a:cubicBezTo>
                    <a:pt x="864865" y="421719"/>
                    <a:pt x="829832" y="446397"/>
                    <a:pt x="786867" y="460057"/>
                  </a:cubicBezTo>
                  <a:cubicBezTo>
                    <a:pt x="781579" y="461820"/>
                    <a:pt x="776291" y="462922"/>
                    <a:pt x="771003" y="464023"/>
                  </a:cubicBezTo>
                  <a:cubicBezTo>
                    <a:pt x="769461" y="464244"/>
                    <a:pt x="767698" y="464464"/>
                    <a:pt x="766156" y="464905"/>
                  </a:cubicBezTo>
                  <a:cubicBezTo>
                    <a:pt x="762190" y="465566"/>
                    <a:pt x="758224" y="466006"/>
                    <a:pt x="754478" y="466226"/>
                  </a:cubicBezTo>
                  <a:cubicBezTo>
                    <a:pt x="752936" y="466447"/>
                    <a:pt x="751173" y="466447"/>
                    <a:pt x="749631" y="466667"/>
                  </a:cubicBezTo>
                  <a:cubicBezTo>
                    <a:pt x="744784" y="466887"/>
                    <a:pt x="739716" y="467108"/>
                    <a:pt x="734869" y="467108"/>
                  </a:cubicBezTo>
                  <a:cubicBezTo>
                    <a:pt x="734428" y="467108"/>
                    <a:pt x="733987" y="467108"/>
                    <a:pt x="733546" y="467108"/>
                  </a:cubicBezTo>
                  <a:cubicBezTo>
                    <a:pt x="733546" y="467108"/>
                    <a:pt x="733326" y="467108"/>
                    <a:pt x="733326" y="467108"/>
                  </a:cubicBezTo>
                  <a:cubicBezTo>
                    <a:pt x="727377" y="467108"/>
                    <a:pt x="721648" y="466887"/>
                    <a:pt x="715699" y="466667"/>
                  </a:cubicBezTo>
                  <a:cubicBezTo>
                    <a:pt x="713055" y="466447"/>
                    <a:pt x="710191" y="464905"/>
                    <a:pt x="708428" y="4629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9" name="Google Shape;109;p2"/>
            <p:cNvSpPr/>
            <p:nvPr/>
          </p:nvSpPr>
          <p:spPr>
            <a:xfrm>
              <a:off x="3121178" y="4996180"/>
              <a:ext cx="137929" cy="223418"/>
            </a:xfrm>
            <a:custGeom>
              <a:avLst/>
              <a:gdLst/>
              <a:ahLst/>
              <a:cxnLst/>
              <a:rect l="l" t="t" r="r" b="b"/>
              <a:pathLst>
                <a:path w="137929" h="223418" extrusionOk="0">
                  <a:moveTo>
                    <a:pt x="137929" y="146522"/>
                  </a:moveTo>
                  <a:cubicBezTo>
                    <a:pt x="137929" y="135946"/>
                    <a:pt x="135285" y="127573"/>
                    <a:pt x="129997" y="121184"/>
                  </a:cubicBezTo>
                  <a:cubicBezTo>
                    <a:pt x="124709" y="114794"/>
                    <a:pt x="118320" y="109947"/>
                    <a:pt x="110608" y="106641"/>
                  </a:cubicBezTo>
                  <a:cubicBezTo>
                    <a:pt x="102896" y="103337"/>
                    <a:pt x="93422" y="100472"/>
                    <a:pt x="82405" y="98048"/>
                  </a:cubicBezTo>
                  <a:lnTo>
                    <a:pt x="82405" y="57507"/>
                  </a:lnTo>
                  <a:cubicBezTo>
                    <a:pt x="94744" y="58829"/>
                    <a:pt x="106862" y="63015"/>
                    <a:pt x="118760" y="69846"/>
                  </a:cubicBezTo>
                  <a:lnTo>
                    <a:pt x="130658" y="40541"/>
                  </a:lnTo>
                  <a:cubicBezTo>
                    <a:pt x="117879" y="32389"/>
                    <a:pt x="101794" y="27542"/>
                    <a:pt x="82405" y="25999"/>
                  </a:cubicBezTo>
                  <a:lnTo>
                    <a:pt x="82405" y="0"/>
                  </a:lnTo>
                  <a:lnTo>
                    <a:pt x="58609" y="0"/>
                  </a:lnTo>
                  <a:lnTo>
                    <a:pt x="58609" y="26440"/>
                  </a:lnTo>
                  <a:cubicBezTo>
                    <a:pt x="40541" y="28423"/>
                    <a:pt x="26661" y="34152"/>
                    <a:pt x="17186" y="43626"/>
                  </a:cubicBezTo>
                  <a:cubicBezTo>
                    <a:pt x="7712" y="53101"/>
                    <a:pt x="2864" y="64337"/>
                    <a:pt x="2864" y="77558"/>
                  </a:cubicBezTo>
                  <a:cubicBezTo>
                    <a:pt x="2864" y="88134"/>
                    <a:pt x="5508" y="96727"/>
                    <a:pt x="10796" y="103116"/>
                  </a:cubicBezTo>
                  <a:cubicBezTo>
                    <a:pt x="16085" y="109506"/>
                    <a:pt x="22474" y="114353"/>
                    <a:pt x="30406" y="117658"/>
                  </a:cubicBezTo>
                  <a:cubicBezTo>
                    <a:pt x="38118" y="120963"/>
                    <a:pt x="47592" y="124048"/>
                    <a:pt x="59050" y="126692"/>
                  </a:cubicBezTo>
                  <a:lnTo>
                    <a:pt x="59050" y="166352"/>
                  </a:lnTo>
                  <a:cubicBezTo>
                    <a:pt x="50457" y="165471"/>
                    <a:pt x="42084" y="163708"/>
                    <a:pt x="34152" y="160623"/>
                  </a:cubicBezTo>
                  <a:cubicBezTo>
                    <a:pt x="26000" y="157539"/>
                    <a:pt x="18949" y="153793"/>
                    <a:pt x="13000" y="149386"/>
                  </a:cubicBezTo>
                  <a:lnTo>
                    <a:pt x="0" y="178471"/>
                  </a:lnTo>
                  <a:cubicBezTo>
                    <a:pt x="6610" y="183538"/>
                    <a:pt x="14983" y="187725"/>
                    <a:pt x="25779" y="191250"/>
                  </a:cubicBezTo>
                  <a:cubicBezTo>
                    <a:pt x="36575" y="194775"/>
                    <a:pt x="47592" y="196758"/>
                    <a:pt x="59270" y="197419"/>
                  </a:cubicBezTo>
                  <a:lnTo>
                    <a:pt x="59270" y="223418"/>
                  </a:lnTo>
                  <a:lnTo>
                    <a:pt x="83066" y="223418"/>
                  </a:lnTo>
                  <a:lnTo>
                    <a:pt x="83066" y="196758"/>
                  </a:lnTo>
                  <a:cubicBezTo>
                    <a:pt x="100913" y="194555"/>
                    <a:pt x="114794" y="188826"/>
                    <a:pt x="124268" y="179572"/>
                  </a:cubicBezTo>
                  <a:cubicBezTo>
                    <a:pt x="133082" y="170539"/>
                    <a:pt x="137929" y="159522"/>
                    <a:pt x="137929" y="146522"/>
                  </a:cubicBezTo>
                  <a:close/>
                  <a:moveTo>
                    <a:pt x="58609" y="91879"/>
                  </a:moveTo>
                  <a:cubicBezTo>
                    <a:pt x="52880" y="90116"/>
                    <a:pt x="48473" y="87913"/>
                    <a:pt x="45609" y="85490"/>
                  </a:cubicBezTo>
                  <a:cubicBezTo>
                    <a:pt x="42745" y="83066"/>
                    <a:pt x="40982" y="79761"/>
                    <a:pt x="40982" y="75795"/>
                  </a:cubicBezTo>
                  <a:cubicBezTo>
                    <a:pt x="40982" y="71608"/>
                    <a:pt x="42304" y="68083"/>
                    <a:pt x="45169" y="64998"/>
                  </a:cubicBezTo>
                  <a:cubicBezTo>
                    <a:pt x="48033" y="61914"/>
                    <a:pt x="52440" y="59711"/>
                    <a:pt x="58389" y="58168"/>
                  </a:cubicBezTo>
                  <a:lnTo>
                    <a:pt x="58389" y="91879"/>
                  </a:lnTo>
                  <a:close/>
                  <a:moveTo>
                    <a:pt x="95405" y="159522"/>
                  </a:moveTo>
                  <a:cubicBezTo>
                    <a:pt x="92540" y="162386"/>
                    <a:pt x="88354" y="164369"/>
                    <a:pt x="82625" y="165691"/>
                  </a:cubicBezTo>
                  <a:lnTo>
                    <a:pt x="82625" y="132861"/>
                  </a:lnTo>
                  <a:cubicBezTo>
                    <a:pt x="88134" y="134844"/>
                    <a:pt x="92320" y="137048"/>
                    <a:pt x="95405" y="139471"/>
                  </a:cubicBezTo>
                  <a:cubicBezTo>
                    <a:pt x="98489" y="141895"/>
                    <a:pt x="99811" y="145200"/>
                    <a:pt x="99811" y="149166"/>
                  </a:cubicBezTo>
                  <a:cubicBezTo>
                    <a:pt x="99591" y="153353"/>
                    <a:pt x="98269" y="156657"/>
                    <a:pt x="95405" y="1595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pic>
        <p:nvPicPr>
          <p:cNvPr id="110" name="Google Shape;110;p2"/>
          <p:cNvPicPr preferRelativeResize="0"/>
          <p:nvPr/>
        </p:nvPicPr>
        <p:blipFill rotWithShape="1">
          <a:blip r:embed="rId4">
            <a:alphaModFix/>
          </a:blip>
          <a:srcRect/>
          <a:stretch/>
        </p:blipFill>
        <p:spPr>
          <a:xfrm>
            <a:off x="6192436" y="5025201"/>
            <a:ext cx="1153699" cy="684220"/>
          </a:xfrm>
          <a:prstGeom prst="rect">
            <a:avLst/>
          </a:prstGeom>
          <a:noFill/>
          <a:ln>
            <a:noFill/>
          </a:ln>
        </p:spPr>
      </p:pic>
      <p:sp>
        <p:nvSpPr>
          <p:cNvPr id="113" name="Google Shape;113;p2"/>
          <p:cNvSpPr txBox="1"/>
          <p:nvPr/>
        </p:nvSpPr>
        <p:spPr>
          <a:xfrm>
            <a:off x="6810875" y="6697663"/>
            <a:ext cx="936900" cy="45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 sz="700" b="1" i="0" u="none" strike="noStrike" cap="none" dirty="0">
                <a:solidFill>
                  <a:srgbClr val="006455"/>
                </a:solidFill>
                <a:latin typeface="Noto Sans"/>
                <a:ea typeface="Noto Sans"/>
                <a:cs typeface="Noto Sans"/>
                <a:sym typeface="Noto Sans"/>
              </a:rPr>
              <a:t>Personas Trabajadoras Independientes</a:t>
            </a:r>
            <a:endParaRPr sz="700" b="1" i="0" u="none" strike="noStrike" cap="none" dirty="0">
              <a:solidFill>
                <a:srgbClr val="006455"/>
              </a:solidFill>
              <a:latin typeface="Noto Sans"/>
              <a:ea typeface="Noto Sans"/>
              <a:cs typeface="Noto Sans"/>
              <a:sym typeface="Noto Sans"/>
            </a:endParaRPr>
          </a:p>
        </p:txBody>
      </p:sp>
      <p:sp>
        <p:nvSpPr>
          <p:cNvPr id="114" name="TextBox 113"/>
          <p:cNvSpPr txBox="1"/>
          <p:nvPr/>
        </p:nvSpPr>
        <p:spPr>
          <a:xfrm>
            <a:off x="0" y="583200"/>
            <a:ext cx="7473600" cy="385200"/>
          </a:xfrm>
          <a:prstGeom prst="rect">
            <a:avLst/>
          </a:prstGeom>
          <a:noFill/>
        </p:spPr>
        <p:txBody>
          <a:bodyPr wrap="none">
            <a:spAutoFit/>
          </a:bodyPr>
          <a:lstStyle/>
          <a:p>
            <a:pPr algn="l">
              <a:defRPr sz="2000" b="1">
                <a:solidFill>
                  <a:srgbClr val="BC955C"/>
                </a:solidFill>
                <a:latin typeface="Montserrat"/>
              </a:defRPr>
            </a:pPr>
            <a:r>
              <a:t>IMSS atiende 64% de la población (incluye COPLAMAR)</a:t>
            </a:r>
          </a:p>
        </p:txBody>
      </p:sp>
      <p:cxnSp>
        <p:nvCxnSpPr>
          <p:cNvPr id="115" name="Connector 114"/>
          <p:cNvCxnSpPr/>
          <p:nvPr/>
        </p:nvCxnSpPr>
        <p:spPr>
          <a:xfrm>
            <a:off x="0" y="9684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82800" y="4622400"/>
            <a:ext cx="5864400" cy="360000"/>
          </a:xfrm>
          <a:prstGeom prst="rect">
            <a:avLst/>
          </a:prstGeom>
          <a:noFill/>
        </p:spPr>
        <p:txBody>
          <a:bodyPr wrap="square">
            <a:spAutoFit/>
          </a:bodyPr>
          <a:lstStyle/>
          <a:p>
            <a:pPr algn="l">
              <a:defRPr sz="800">
                <a:solidFill>
                  <a:srgbClr val="000000"/>
                </a:solidFill>
                <a:latin typeface="Montserrat"/>
              </a:defRPr>
            </a:pPr>
            <a:r>
              <a:t>Fuente: CONAPO, proyección a enero de 2026.</a:t>
            </a:r>
          </a:p>
        </p:txBody>
      </p:sp>
      <p:graphicFrame>
        <p:nvGraphicFramePr>
          <p:cNvPr id="117" name="Chart 116"/>
          <p:cNvGraphicFramePr>
            <a:graphicFrameLocks noGrp="1"/>
          </p:cNvGraphicFramePr>
          <p:nvPr/>
        </p:nvGraphicFramePr>
        <p:xfrm>
          <a:off x="2268000" y="1116000"/>
          <a:ext cx="3240000" cy="3240000"/>
        </p:xfrm>
        <a:graphic>
          <a:graphicData uri="http://schemas.openxmlformats.org/drawingml/2006/chart">
            <c:chart xmlns:c="http://schemas.openxmlformats.org/drawingml/2006/chart" r:id="rId5"/>
          </a:graphicData>
        </a:graphic>
      </p:graphicFrame>
      <p:sp>
        <p:nvSpPr>
          <p:cNvPr id="118" name="TextBox 117"/>
          <p:cNvSpPr txBox="1"/>
          <p:nvPr/>
        </p:nvSpPr>
        <p:spPr>
          <a:xfrm>
            <a:off x="6552000" y="1465200"/>
            <a:ext cx="1188000" cy="503999"/>
          </a:xfrm>
          <a:prstGeom prst="rect">
            <a:avLst/>
          </a:prstGeom>
          <a:noFill/>
        </p:spPr>
        <p:txBody>
          <a:bodyPr wrap="none"/>
          <a:lstStyle/>
          <a:p>
            <a:pPr algn="l">
              <a:defRPr sz="1400" b="1">
                <a:solidFill>
                  <a:srgbClr val="595959"/>
                </a:solidFill>
                <a:latin typeface="Montserrat"/>
              </a:defRPr>
            </a:pPr>
            <a:r>
              <a:t>694,754</a:t>
            </a:r>
            <a:br/>
            <a:r>
              <a:t>40%</a:t>
            </a:r>
          </a:p>
        </p:txBody>
      </p:sp>
      <p:pic>
        <p:nvPicPr>
          <p:cNvPr id="119" name="Picture 118" descr="imss.png"/>
          <p:cNvPicPr>
            <a:picLocks noChangeAspect="1"/>
          </p:cNvPicPr>
          <p:nvPr/>
        </p:nvPicPr>
        <p:blipFill>
          <a:blip r:embed="rId6"/>
          <a:stretch>
            <a:fillRect/>
          </a:stretch>
        </p:blipFill>
        <p:spPr>
          <a:xfrm>
            <a:off x="6213600" y="1461599"/>
            <a:ext cx="377265" cy="468000"/>
          </a:xfrm>
          <a:prstGeom prst="rect">
            <a:avLst/>
          </a:prstGeom>
        </p:spPr>
      </p:pic>
      <p:sp>
        <p:nvSpPr>
          <p:cNvPr id="120" name="Rectangle 119"/>
          <p:cNvSpPr/>
          <p:nvPr/>
        </p:nvSpPr>
        <p:spPr>
          <a:xfrm>
            <a:off x="5868000" y="1634400"/>
            <a:ext cx="122400" cy="122400"/>
          </a:xfrm>
          <a:prstGeom prst="rect">
            <a:avLst/>
          </a:prstGeom>
          <a:solidFill>
            <a:srgbClr val="006354"/>
          </a:solidFill>
          <a:ln>
            <a:solidFill>
              <a:srgbClr val="006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555600" y="2487600"/>
            <a:ext cx="1188000" cy="503999"/>
          </a:xfrm>
          <a:prstGeom prst="rect">
            <a:avLst/>
          </a:prstGeom>
          <a:noFill/>
        </p:spPr>
        <p:txBody>
          <a:bodyPr wrap="none"/>
          <a:lstStyle/>
          <a:p>
            <a:pPr algn="l">
              <a:defRPr sz="1400" b="1">
                <a:solidFill>
                  <a:srgbClr val="595959"/>
                </a:solidFill>
                <a:latin typeface="Montserrat"/>
              </a:defRPr>
            </a:pPr>
            <a:r>
              <a:t>409,391</a:t>
            </a:r>
            <a:br/>
            <a:r>
              <a:t>24%</a:t>
            </a:r>
          </a:p>
        </p:txBody>
      </p:sp>
      <p:pic>
        <p:nvPicPr>
          <p:cNvPr id="122" name="Picture 121" descr="imss_coplamar.png"/>
          <p:cNvPicPr>
            <a:picLocks noChangeAspect="1"/>
          </p:cNvPicPr>
          <p:nvPr/>
        </p:nvPicPr>
        <p:blipFill>
          <a:blip r:embed="rId7"/>
          <a:stretch>
            <a:fillRect/>
          </a:stretch>
        </p:blipFill>
        <p:spPr>
          <a:xfrm>
            <a:off x="6004800" y="2523600"/>
            <a:ext cx="586036" cy="468000"/>
          </a:xfrm>
          <a:prstGeom prst="rect">
            <a:avLst/>
          </a:prstGeom>
        </p:spPr>
      </p:pic>
      <p:sp>
        <p:nvSpPr>
          <p:cNvPr id="123" name="Rectangle 122"/>
          <p:cNvSpPr/>
          <p:nvPr/>
        </p:nvSpPr>
        <p:spPr>
          <a:xfrm>
            <a:off x="5796000" y="2696400"/>
            <a:ext cx="122400" cy="122400"/>
          </a:xfrm>
          <a:prstGeom prst="rect">
            <a:avLst/>
          </a:prstGeom>
          <a:solidFill>
            <a:srgbClr val="539ED0"/>
          </a:solidFill>
          <a:ln>
            <a:solidFill>
              <a:srgbClr val="539E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6552000" y="3754800"/>
            <a:ext cx="1188000" cy="503999"/>
          </a:xfrm>
          <a:prstGeom prst="rect">
            <a:avLst/>
          </a:prstGeom>
          <a:noFill/>
        </p:spPr>
        <p:txBody>
          <a:bodyPr wrap="none"/>
          <a:lstStyle/>
          <a:p>
            <a:pPr algn="l">
              <a:defRPr sz="1400" b="1">
                <a:solidFill>
                  <a:srgbClr val="595959"/>
                </a:solidFill>
                <a:latin typeface="Montserrat"/>
              </a:defRPr>
            </a:pPr>
            <a:r>
              <a:t>229,210</a:t>
            </a:r>
            <a:br/>
            <a:r>
              <a:t>13%</a:t>
            </a:r>
          </a:p>
        </p:txBody>
      </p:sp>
      <p:pic>
        <p:nvPicPr>
          <p:cNvPr id="125" name="Picture 124" descr="issste.png"/>
          <p:cNvPicPr>
            <a:picLocks noChangeAspect="1"/>
          </p:cNvPicPr>
          <p:nvPr/>
        </p:nvPicPr>
        <p:blipFill>
          <a:blip r:embed="rId8"/>
          <a:stretch>
            <a:fillRect/>
          </a:stretch>
        </p:blipFill>
        <p:spPr>
          <a:xfrm>
            <a:off x="5151600" y="3798000"/>
            <a:ext cx="1437091" cy="468000"/>
          </a:xfrm>
          <a:prstGeom prst="rect">
            <a:avLst/>
          </a:prstGeom>
        </p:spPr>
      </p:pic>
      <p:sp>
        <p:nvSpPr>
          <p:cNvPr id="126" name="Rectangle 125"/>
          <p:cNvSpPr/>
          <p:nvPr/>
        </p:nvSpPr>
        <p:spPr>
          <a:xfrm>
            <a:off x="4942800" y="3978000"/>
            <a:ext cx="122400" cy="122400"/>
          </a:xfrm>
          <a:prstGeom prst="rect">
            <a:avLst/>
          </a:prstGeom>
          <a:solidFill>
            <a:srgbClr val="681C31"/>
          </a:solidFill>
          <a:ln>
            <a:solidFill>
              <a:srgbClr val="681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200" y="3254399"/>
            <a:ext cx="1188000" cy="503999"/>
          </a:xfrm>
          <a:prstGeom prst="rect">
            <a:avLst/>
          </a:prstGeom>
          <a:noFill/>
        </p:spPr>
        <p:txBody>
          <a:bodyPr wrap="none"/>
          <a:lstStyle/>
          <a:p>
            <a:pPr algn="r">
              <a:defRPr sz="1400" b="1">
                <a:solidFill>
                  <a:srgbClr val="595959"/>
                </a:solidFill>
                <a:latin typeface="Montserrat"/>
              </a:defRPr>
            </a:pPr>
            <a:r>
              <a:t>389,507</a:t>
            </a:r>
            <a:br/>
            <a:r>
              <a:t>23%</a:t>
            </a:r>
          </a:p>
        </p:txBody>
      </p:sp>
      <p:pic>
        <p:nvPicPr>
          <p:cNvPr id="128" name="Picture 127" descr="32.png"/>
          <p:cNvPicPr>
            <a:picLocks noChangeAspect="1"/>
          </p:cNvPicPr>
          <p:nvPr/>
        </p:nvPicPr>
        <p:blipFill>
          <a:blip r:embed="rId9"/>
          <a:stretch>
            <a:fillRect/>
          </a:stretch>
        </p:blipFill>
        <p:spPr>
          <a:xfrm>
            <a:off x="1220400" y="3290400"/>
            <a:ext cx="1904118" cy="468000"/>
          </a:xfrm>
          <a:prstGeom prst="rect">
            <a:avLst/>
          </a:prstGeom>
        </p:spPr>
      </p:pic>
      <p:sp>
        <p:nvSpPr>
          <p:cNvPr id="129" name="Rectangle 128"/>
          <p:cNvSpPr/>
          <p:nvPr/>
        </p:nvSpPr>
        <p:spPr>
          <a:xfrm>
            <a:off x="75600" y="3463199"/>
            <a:ext cx="122400" cy="122400"/>
          </a:xfrm>
          <a:prstGeom prst="rect">
            <a:avLst/>
          </a:prstGeom>
          <a:solidFill>
            <a:srgbClr val="B79259"/>
          </a:solidFill>
          <a:ln>
            <a:solidFill>
              <a:srgbClr val="B79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7200" y="1782000"/>
            <a:ext cx="1188000" cy="503999"/>
          </a:xfrm>
          <a:prstGeom prst="rect">
            <a:avLst/>
          </a:prstGeom>
          <a:noFill/>
        </p:spPr>
        <p:txBody>
          <a:bodyPr wrap="none"/>
          <a:lstStyle/>
          <a:p>
            <a:pPr algn="r">
              <a:defRPr sz="1400" b="1">
                <a:solidFill>
                  <a:srgbClr val="595959"/>
                </a:solidFill>
                <a:latin typeface="Montserrat"/>
              </a:defRPr>
            </a:pPr>
            <a:r>
              <a:t>Otros</a:t>
            </a:r>
            <a:br/>
            <a:r>
              <a:t>4,036</a:t>
            </a:r>
            <a:br/>
            <a:r>
              <a:t>0.23%</a:t>
            </a:r>
          </a:p>
        </p:txBody>
      </p:sp>
      <p:pic>
        <p:nvPicPr>
          <p:cNvPr id="131" name="Picture 130" descr="otros.png"/>
          <p:cNvPicPr>
            <a:picLocks noChangeAspect="1"/>
          </p:cNvPicPr>
          <p:nvPr/>
        </p:nvPicPr>
        <p:blipFill>
          <a:blip r:embed="rId10"/>
          <a:stretch>
            <a:fillRect/>
          </a:stretch>
        </p:blipFill>
        <p:spPr>
          <a:xfrm>
            <a:off x="1220400" y="1800000"/>
            <a:ext cx="468000" cy="468000"/>
          </a:xfrm>
          <a:prstGeom prst="rect">
            <a:avLst/>
          </a:prstGeom>
        </p:spPr>
      </p:pic>
      <p:sp>
        <p:nvSpPr>
          <p:cNvPr id="132" name="Rectangle 131"/>
          <p:cNvSpPr/>
          <p:nvPr/>
        </p:nvSpPr>
        <p:spPr>
          <a:xfrm>
            <a:off x="75600" y="1868400"/>
            <a:ext cx="122400" cy="122400"/>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2988000" y="2296800"/>
            <a:ext cx="1800000" cy="900000"/>
          </a:xfrm>
          <a:prstGeom prst="rect">
            <a:avLst/>
          </a:prstGeom>
          <a:noFill/>
        </p:spPr>
        <p:txBody>
          <a:bodyPr wrap="none">
            <a:spAutoFit/>
          </a:bodyPr>
          <a:lstStyle/>
          <a:p>
            <a:pPr algn="ctr">
              <a:defRPr sz="1400" b="1">
                <a:solidFill>
                  <a:srgbClr val="9F2241"/>
                </a:solidFill>
                <a:latin typeface="Montserrat"/>
              </a:defRPr>
            </a:pPr>
            <a:r>
              <a:t>Población </a:t>
            </a:r>
            <a:br/>
            <a:r>
              <a:t>estatal</a:t>
            </a:r>
            <a:br/>
            <a:r>
              <a:t>1,726,898</a:t>
            </a:r>
          </a:p>
        </p:txBody>
      </p:sp>
      <p:sp>
        <p:nvSpPr>
          <p:cNvPr id="134" name="TextBox 133"/>
          <p:cNvSpPr txBox="1"/>
          <p:nvPr/>
        </p:nvSpPr>
        <p:spPr>
          <a:xfrm>
            <a:off x="82800" y="8910000"/>
            <a:ext cx="5864400" cy="360000"/>
          </a:xfrm>
          <a:prstGeom prst="rect">
            <a:avLst/>
          </a:prstGeom>
          <a:noFill/>
        </p:spPr>
        <p:txBody>
          <a:bodyPr wrap="square">
            <a:spAutoFit/>
          </a:bodyPr>
          <a:lstStyle/>
          <a:p>
            <a:pPr algn="l">
              <a:defRPr sz="800">
                <a:solidFill>
                  <a:srgbClr val="000000"/>
                </a:solidFill>
                <a:latin typeface="Montserrat"/>
              </a:defRPr>
            </a:pPr>
            <a:r>
              <a:t>Fuente: Dirección de Incorporación y Recaudación. Corte abril de 2026.</a:t>
            </a:r>
          </a:p>
        </p:txBody>
      </p:sp>
      <p:sp>
        <p:nvSpPr>
          <p:cNvPr id="135" name="TextBox 134"/>
          <p:cNvSpPr txBox="1"/>
          <p:nvPr/>
        </p:nvSpPr>
        <p:spPr>
          <a:xfrm>
            <a:off x="82800" y="9090000"/>
            <a:ext cx="5864400" cy="360000"/>
          </a:xfrm>
          <a:prstGeom prst="rect">
            <a:avLst/>
          </a:prstGeom>
          <a:noFill/>
        </p:spPr>
        <p:txBody>
          <a:bodyPr wrap="square">
            <a:spAutoFit/>
          </a:bodyPr>
          <a:lstStyle/>
          <a:p>
            <a:pPr algn="l">
              <a:defRPr sz="800">
                <a:solidFill>
                  <a:srgbClr val="000000"/>
                </a:solidFill>
                <a:latin typeface="Montserrat"/>
              </a:defRPr>
            </a:pPr>
            <a:r>
              <a:t>¹ Se refiere a personas derechohabientes (titulares y familiares) adscritas a UMF.</a:t>
            </a:r>
          </a:p>
        </p:txBody>
      </p:sp>
      <p:sp>
        <p:nvSpPr>
          <p:cNvPr id="136" name="TextBox 135"/>
          <p:cNvSpPr txBox="1"/>
          <p:nvPr/>
        </p:nvSpPr>
        <p:spPr>
          <a:xfrm>
            <a:off x="82800" y="9270000"/>
            <a:ext cx="7653600" cy="360000"/>
          </a:xfrm>
          <a:prstGeom prst="rect">
            <a:avLst/>
          </a:prstGeom>
          <a:noFill/>
        </p:spPr>
        <p:txBody>
          <a:bodyPr wrap="square">
            <a:spAutoFit/>
          </a:bodyPr>
          <a:lstStyle/>
          <a:p>
            <a:pPr algn="l">
              <a:defRPr sz="800">
                <a:solidFill>
                  <a:srgbClr val="000000"/>
                </a:solidFill>
                <a:latin typeface="Montserrat"/>
              </a:defRPr>
            </a:pPr>
            <a:r>
              <a:t>² La afiliación al Seguro de Salud de Familia disminuye en virtud del incremento en los nuevos esquemas de aseguramiento.</a:t>
            </a:r>
          </a:p>
        </p:txBody>
      </p:sp>
      <p:graphicFrame>
        <p:nvGraphicFramePr>
          <p:cNvPr id="137" name="Table 136"/>
          <p:cNvGraphicFramePr>
            <a:graphicFrameLocks noGrp="1"/>
          </p:cNvGraphicFramePr>
          <p:nvPr/>
        </p:nvGraphicFramePr>
        <p:xfrm>
          <a:off x="313200" y="5270400"/>
          <a:ext cx="5364000" cy="3527986"/>
        </p:xfrm>
        <a:graphic>
          <a:graphicData uri="http://schemas.openxmlformats.org/drawingml/2006/table">
            <a:tbl>
              <a:tblPr firstRow="1" bandRow="1">
                <a:tableStyleId>{5C22544A-7EE6-4342-B048-85BDC9FD1C3A}</a:tableStyleId>
              </a:tblPr>
              <a:tblGrid>
                <a:gridCol w="1792800"/>
                <a:gridCol w="1206000"/>
                <a:gridCol w="1206000"/>
                <a:gridCol w="1159200"/>
              </a:tblGrid>
              <a:tr h="251999">
                <a:tc>
                  <a:txBody>
                    <a:bodyPr/>
                    <a:lstStyle/>
                    <a:p>
                      <a:pPr algn="ctr">
                        <a:defRPr b="1" sz="900">
                          <a:solidFill>
                            <a:srgbClr val="FFFFFF"/>
                          </a:solidFill>
                          <a:latin typeface="Montserrat"/>
                        </a:defRPr>
                      </a:pPr>
                      <a:r>
                        <a:t>Categoría</a:t>
                      </a:r>
                    </a:p>
                  </a:txBody>
                  <a:tcPr>
                    <a:solidFill>
                      <a:srgbClr val="006455"/>
                    </a:solidFill>
                  </a:tcPr>
                </a:tc>
                <a:tc>
                  <a:txBody>
                    <a:bodyPr/>
                    <a:lstStyle/>
                    <a:p>
                      <a:pPr algn="ctr">
                        <a:defRPr b="1" sz="900">
                          <a:solidFill>
                            <a:srgbClr val="FFFFFF"/>
                          </a:solidFill>
                          <a:latin typeface="Montserrat"/>
                        </a:defRPr>
                      </a:pPr>
                      <a:r>
                        <a:t>2018</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a:txBody>
                    <a:bodyPr/>
                    <a:lstStyle/>
                    <a:p>
                      <a:pPr algn="ctr">
                        <a:defRPr b="1" sz="900">
                          <a:solidFill>
                            <a:srgbClr val="FFFFFF"/>
                          </a:solidFill>
                          <a:latin typeface="Montserrat"/>
                        </a:defRPr>
                      </a:pPr>
                      <a:r>
                        <a:t>Variación</a:t>
                      </a:r>
                    </a:p>
                  </a:txBody>
                  <a:tcPr>
                    <a:solidFill>
                      <a:srgbClr val="006455"/>
                    </a:solidFill>
                  </a:tcPr>
                </a:tc>
              </a:tr>
              <a:tr h="251999">
                <a:tc>
                  <a:txBody>
                    <a:bodyPr/>
                    <a:lstStyle/>
                    <a:p>
                      <a:pPr algn="l">
                        <a:defRPr sz="900" b="1">
                          <a:solidFill>
                            <a:srgbClr val="FFFFFF"/>
                          </a:solidFill>
                          <a:latin typeface="Montserrat"/>
                        </a:defRPr>
                      </a:pPr>
                      <a:r>
                        <a:t>PDA¹</a:t>
                      </a:r>
                    </a:p>
                  </a:txBody>
                  <a:tcPr>
                    <a:solidFill>
                      <a:srgbClr val="9F2241"/>
                    </a:solidFill>
                  </a:tcPr>
                </a:tc>
                <a:tc>
                  <a:txBody>
                    <a:bodyPr/>
                    <a:lstStyle/>
                    <a:p>
                      <a:pPr algn="ctr">
                        <a:defRPr sz="900" b="1">
                          <a:solidFill>
                            <a:srgbClr val="000000"/>
                          </a:solidFill>
                          <a:latin typeface="Montserrat"/>
                        </a:defRPr>
                      </a:pPr>
                      <a:r>
                        <a:t>606,471</a:t>
                      </a:r>
                    </a:p>
                  </a:txBody>
                  <a:tcPr>
                    <a:solidFill>
                      <a:srgbClr val="EBD2D9"/>
                    </a:solidFill>
                  </a:tcPr>
                </a:tc>
                <a:tc>
                  <a:txBody>
                    <a:bodyPr/>
                    <a:lstStyle/>
                    <a:p>
                      <a:pPr algn="ctr">
                        <a:defRPr sz="900" b="1">
                          <a:solidFill>
                            <a:srgbClr val="000000"/>
                          </a:solidFill>
                          <a:latin typeface="Montserrat"/>
                        </a:defRPr>
                      </a:pPr>
                      <a:r>
                        <a:t>694,754</a:t>
                      </a:r>
                    </a:p>
                  </a:txBody>
                  <a:tcPr>
                    <a:solidFill>
                      <a:srgbClr val="EBD2D9"/>
                    </a:solidFill>
                  </a:tcPr>
                </a:tc>
                <a:tc>
                  <a:txBody>
                    <a:bodyPr/>
                    <a:lstStyle/>
                    <a:p>
                      <a:pPr algn="ctr">
                        <a:defRPr sz="900" b="1">
                          <a:solidFill>
                            <a:srgbClr val="000000"/>
                          </a:solidFill>
                          <a:latin typeface="Montserrat"/>
                        </a:defRPr>
                      </a:pPr>
                      <a:r>
                        <a:t>15%</a:t>
                      </a:r>
                    </a:p>
                  </a:txBody>
                  <a:tcPr>
                    <a:solidFill>
                      <a:srgbClr val="EBD2D9"/>
                    </a:solidFill>
                  </a:tcPr>
                </a:tc>
              </a:tr>
              <a:tr h="251999">
                <a:tc>
                  <a:txBody>
                    <a:bodyPr/>
                    <a:lstStyle/>
                    <a:p>
                      <a:pPr algn="l">
                        <a:defRPr sz="900" b="1">
                          <a:solidFill>
                            <a:srgbClr val="FFFFFF"/>
                          </a:solidFill>
                          <a:latin typeface="Montserrat"/>
                        </a:defRPr>
                      </a:pPr>
                      <a:r>
                        <a:t>Titulares</a:t>
                      </a:r>
                    </a:p>
                  </a:txBody>
                  <a:tcPr>
                    <a:solidFill>
                      <a:srgbClr val="9F2241"/>
                    </a:solidFill>
                  </a:tcPr>
                </a:tc>
                <a:tc>
                  <a:txBody>
                    <a:bodyPr/>
                    <a:lstStyle/>
                    <a:p>
                      <a:pPr algn="ctr">
                        <a:defRPr sz="900" b="1">
                          <a:solidFill>
                            <a:srgbClr val="000000"/>
                          </a:solidFill>
                          <a:latin typeface="Montserrat"/>
                        </a:defRPr>
                      </a:pPr>
                      <a:r>
                        <a:t>315,444</a:t>
                      </a:r>
                    </a:p>
                  </a:txBody>
                  <a:tcPr>
                    <a:solidFill>
                      <a:srgbClr val="EBD2D9"/>
                    </a:solidFill>
                  </a:tcPr>
                </a:tc>
                <a:tc>
                  <a:txBody>
                    <a:bodyPr/>
                    <a:lstStyle/>
                    <a:p>
                      <a:pPr algn="ctr">
                        <a:defRPr sz="900" b="1">
                          <a:solidFill>
                            <a:srgbClr val="000000"/>
                          </a:solidFill>
                          <a:latin typeface="Montserrat"/>
                        </a:defRPr>
                      </a:pPr>
                      <a:r>
                        <a:t>393,767</a:t>
                      </a:r>
                    </a:p>
                  </a:txBody>
                  <a:tcPr>
                    <a:solidFill>
                      <a:srgbClr val="EBD2D9"/>
                    </a:solidFill>
                  </a:tcPr>
                </a:tc>
                <a:tc>
                  <a:txBody>
                    <a:bodyPr/>
                    <a:lstStyle/>
                    <a:p>
                      <a:pPr algn="ctr">
                        <a:defRPr sz="900" b="1">
                          <a:solidFill>
                            <a:srgbClr val="000000"/>
                          </a:solidFill>
                          <a:latin typeface="Montserrat"/>
                        </a:defRPr>
                      </a:pPr>
                      <a:r>
                        <a:t>25%</a:t>
                      </a:r>
                    </a:p>
                  </a:txBody>
                  <a:tcPr>
                    <a:solidFill>
                      <a:srgbClr val="EBD2D9"/>
                    </a:solidFill>
                  </a:tcPr>
                </a:tc>
              </a:tr>
              <a:tr h="251999">
                <a:tc>
                  <a:txBody>
                    <a:bodyPr/>
                    <a:lstStyle/>
                    <a:p>
                      <a:pPr algn="l">
                        <a:defRPr sz="900" b="1">
                          <a:solidFill>
                            <a:srgbClr val="000000"/>
                          </a:solidFill>
                          <a:latin typeface="Montserrat"/>
                        </a:defRPr>
                      </a:pPr>
                      <a:r>
                        <a:t>Puestos de trabajo</a:t>
                      </a:r>
                    </a:p>
                  </a:txBody>
                  <a:tcPr>
                    <a:solidFill>
                      <a:srgbClr val="DDC9A3"/>
                    </a:solidFill>
                  </a:tcPr>
                </a:tc>
                <a:tc>
                  <a:txBody>
                    <a:bodyPr/>
                    <a:lstStyle/>
                    <a:p>
                      <a:pPr algn="ctr">
                        <a:defRPr sz="900" b="1">
                          <a:solidFill>
                            <a:srgbClr val="000000"/>
                          </a:solidFill>
                          <a:latin typeface="Montserrat"/>
                        </a:defRPr>
                      </a:pPr>
                      <a:r>
                        <a:t>185,244</a:t>
                      </a:r>
                    </a:p>
                  </a:txBody>
                  <a:tcPr>
                    <a:solidFill>
                      <a:srgbClr val="F8F4EC"/>
                    </a:solidFill>
                  </a:tcPr>
                </a:tc>
                <a:tc>
                  <a:txBody>
                    <a:bodyPr/>
                    <a:lstStyle/>
                    <a:p>
                      <a:pPr algn="ctr">
                        <a:defRPr sz="900" b="1">
                          <a:solidFill>
                            <a:srgbClr val="000000"/>
                          </a:solidFill>
                          <a:latin typeface="Montserrat"/>
                        </a:defRPr>
                      </a:pPr>
                      <a:r>
                        <a:t>190,204</a:t>
                      </a:r>
                    </a:p>
                  </a:txBody>
                  <a:tcPr>
                    <a:solidFill>
                      <a:srgbClr val="F8F4EC"/>
                    </a:solidFill>
                  </a:tcPr>
                </a:tc>
                <a:tc>
                  <a:txBody>
                    <a:bodyPr/>
                    <a:lstStyle/>
                    <a:p>
                      <a:pPr algn="ctr">
                        <a:defRPr sz="900" b="1">
                          <a:solidFill>
                            <a:srgbClr val="000000"/>
                          </a:solidFill>
                          <a:latin typeface="Montserrat"/>
                        </a:defRPr>
                      </a:pPr>
                      <a:r>
                        <a:t>3%</a:t>
                      </a:r>
                    </a:p>
                  </a:txBody>
                  <a:tcPr>
                    <a:solidFill>
                      <a:srgbClr val="F8F4EC"/>
                    </a:solidFill>
                  </a:tcPr>
                </a:tc>
              </a:tr>
              <a:tr h="251999">
                <a:tc>
                  <a:txBody>
                    <a:bodyPr/>
                    <a:lstStyle/>
                    <a:p>
                      <a:pPr algn="l" lvl="1">
                        <a:defRPr sz="900">
                          <a:solidFill>
                            <a:srgbClr val="000000"/>
                          </a:solidFill>
                          <a:latin typeface="Montserrat"/>
                        </a:defRPr>
                      </a:pPr>
                      <a:r>
                        <a:t>Pensionados</a:t>
                      </a:r>
                    </a:p>
                  </a:txBody>
                  <a:tcPr>
                    <a:solidFill>
                      <a:srgbClr val="FFFFFF"/>
                    </a:solidFill>
                  </a:tcPr>
                </a:tc>
                <a:tc>
                  <a:txBody>
                    <a:bodyPr/>
                    <a:lstStyle/>
                    <a:p>
                      <a:pPr algn="ctr">
                        <a:defRPr sz="900">
                          <a:solidFill>
                            <a:srgbClr val="000000"/>
                          </a:solidFill>
                          <a:latin typeface="Montserrat"/>
                        </a:defRPr>
                      </a:pPr>
                      <a:r>
                        <a:t>39,233</a:t>
                      </a:r>
                    </a:p>
                  </a:txBody>
                  <a:tcPr>
                    <a:solidFill>
                      <a:srgbClr val="FFFFFF"/>
                    </a:solidFill>
                  </a:tcPr>
                </a:tc>
                <a:tc>
                  <a:txBody>
                    <a:bodyPr/>
                    <a:lstStyle/>
                    <a:p>
                      <a:pPr algn="ctr">
                        <a:defRPr sz="900">
                          <a:solidFill>
                            <a:srgbClr val="000000"/>
                          </a:solidFill>
                          <a:latin typeface="Montserrat"/>
                        </a:defRPr>
                      </a:pPr>
                      <a:r>
                        <a:t>59,305</a:t>
                      </a:r>
                    </a:p>
                  </a:txBody>
                  <a:tcPr>
                    <a:solidFill>
                      <a:srgbClr val="FFFFFF"/>
                    </a:solidFill>
                  </a:tcPr>
                </a:tc>
                <a:tc>
                  <a:txBody>
                    <a:bodyPr/>
                    <a:lstStyle/>
                    <a:p>
                      <a:pPr algn="ctr">
                        <a:defRPr sz="900">
                          <a:solidFill>
                            <a:srgbClr val="000000"/>
                          </a:solidFill>
                          <a:latin typeface="Montserrat"/>
                        </a:defRPr>
                      </a:pPr>
                      <a:r>
                        <a:t>51%</a:t>
                      </a:r>
                    </a:p>
                  </a:txBody>
                  <a:tcPr>
                    <a:solidFill>
                      <a:srgbClr val="FFFFFF"/>
                    </a:solidFill>
                  </a:tcPr>
                </a:tc>
              </a:tr>
              <a:tr h="251999">
                <a:tc>
                  <a:txBody>
                    <a:bodyPr/>
                    <a:lstStyle/>
                    <a:p>
                      <a:pPr algn="l" lvl="1">
                        <a:defRPr sz="900">
                          <a:solidFill>
                            <a:srgbClr val="000000"/>
                          </a:solidFill>
                          <a:latin typeface="Montserrat"/>
                        </a:defRPr>
                      </a:pPr>
                      <a:r>
                        <a:t>Conservación de derechos</a:t>
                      </a:r>
                    </a:p>
                  </a:txBody>
                  <a:tcPr>
                    <a:solidFill>
                      <a:srgbClr val="FFFFFF"/>
                    </a:solidFill>
                  </a:tcPr>
                </a:tc>
                <a:tc>
                  <a:txBody>
                    <a:bodyPr/>
                    <a:lstStyle/>
                    <a:p>
                      <a:pPr algn="ctr">
                        <a:defRPr sz="900">
                          <a:solidFill>
                            <a:srgbClr val="000000"/>
                          </a:solidFill>
                          <a:latin typeface="Montserrat"/>
                        </a:defRPr>
                      </a:pPr>
                      <a:r>
                        <a:t>5,426</a:t>
                      </a:r>
                    </a:p>
                  </a:txBody>
                  <a:tcPr>
                    <a:solidFill>
                      <a:srgbClr val="FFFFFF"/>
                    </a:solidFill>
                  </a:tcPr>
                </a:tc>
                <a:tc>
                  <a:txBody>
                    <a:bodyPr/>
                    <a:lstStyle/>
                    <a:p>
                      <a:pPr algn="ctr">
                        <a:defRPr sz="900">
                          <a:solidFill>
                            <a:srgbClr val="000000"/>
                          </a:solidFill>
                          <a:latin typeface="Montserrat"/>
                        </a:defRPr>
                      </a:pPr>
                      <a:r>
                        <a:t>5,878</a:t>
                      </a:r>
                    </a:p>
                  </a:txBody>
                  <a:tcPr>
                    <a:solidFill>
                      <a:srgbClr val="FFFFFF"/>
                    </a:solidFill>
                  </a:tcPr>
                </a:tc>
                <a:tc>
                  <a:txBody>
                    <a:bodyPr/>
                    <a:lstStyle/>
                    <a:p>
                      <a:pPr algn="ctr">
                        <a:defRPr sz="900">
                          <a:solidFill>
                            <a:srgbClr val="000000"/>
                          </a:solidFill>
                          <a:latin typeface="Montserrat"/>
                        </a:defRPr>
                      </a:pPr>
                      <a:r>
                        <a:t>8%</a:t>
                      </a:r>
                    </a:p>
                  </a:txBody>
                  <a:tcPr>
                    <a:solidFill>
                      <a:srgbClr val="FFFFFF"/>
                    </a:solidFill>
                  </a:tcPr>
                </a:tc>
              </a:tr>
              <a:tr h="251999">
                <a:tc>
                  <a:txBody>
                    <a:bodyPr/>
                    <a:lstStyle/>
                    <a:p>
                      <a:pPr algn="l">
                        <a:defRPr sz="900" b="1">
                          <a:solidFill>
                            <a:srgbClr val="FFFFFF"/>
                          </a:solidFill>
                          <a:latin typeface="Montserrat"/>
                        </a:defRPr>
                      </a:pPr>
                      <a:r>
                        <a:t>Sin empleo asociado</a:t>
                      </a:r>
                    </a:p>
                  </a:txBody>
                  <a:tcPr>
                    <a:solidFill>
                      <a:srgbClr val="006455"/>
                    </a:solidFill>
                  </a:tcPr>
                </a:tc>
                <a:tc>
                  <a:txBody>
                    <a:bodyPr/>
                    <a:lstStyle/>
                    <a:p>
                      <a:pPr algn="ctr">
                        <a:defRPr sz="900" b="1">
                          <a:solidFill>
                            <a:srgbClr val="000000"/>
                          </a:solidFill>
                          <a:latin typeface="Montserrat"/>
                        </a:defRPr>
                      </a:pPr>
                      <a:r>
                        <a:t>85,541</a:t>
                      </a:r>
                    </a:p>
                  </a:txBody>
                  <a:tcPr>
                    <a:solidFill>
                      <a:srgbClr val="CCE0DD"/>
                    </a:solidFill>
                  </a:tcPr>
                </a:tc>
                <a:tc>
                  <a:txBody>
                    <a:bodyPr/>
                    <a:lstStyle/>
                    <a:p>
                      <a:pPr algn="ctr">
                        <a:defRPr sz="900" b="1">
                          <a:solidFill>
                            <a:srgbClr val="000000"/>
                          </a:solidFill>
                          <a:latin typeface="Montserrat"/>
                        </a:defRPr>
                      </a:pPr>
                      <a:r>
                        <a:t>116,381</a:t>
                      </a:r>
                    </a:p>
                  </a:txBody>
                  <a:tcPr>
                    <a:solidFill>
                      <a:srgbClr val="CCE0DD"/>
                    </a:solidFill>
                  </a:tcPr>
                </a:tc>
                <a:tc>
                  <a:txBody>
                    <a:bodyPr/>
                    <a:lstStyle/>
                    <a:p>
                      <a:pPr algn="ctr">
                        <a:defRPr sz="900" b="1">
                          <a:solidFill>
                            <a:srgbClr val="000000"/>
                          </a:solidFill>
                          <a:latin typeface="Montserrat"/>
                        </a:defRPr>
                      </a:pPr>
                      <a:r>
                        <a:t>36%</a:t>
                      </a:r>
                    </a:p>
                  </a:txBody>
                  <a:tcPr>
                    <a:solidFill>
                      <a:srgbClr val="CCE0DD"/>
                    </a:solidFill>
                  </a:tcPr>
                </a:tc>
              </a:tr>
              <a:tr h="251999">
                <a:tc>
                  <a:txBody>
                    <a:bodyPr/>
                    <a:lstStyle/>
                    <a:p>
                      <a:pPr algn="l" lvl="1">
                        <a:defRPr sz="900">
                          <a:solidFill>
                            <a:srgbClr val="000000"/>
                          </a:solidFill>
                          <a:latin typeface="Montserrat"/>
                        </a:defRPr>
                      </a:pPr>
                      <a:r>
                        <a:t>Estudiantes</a:t>
                      </a:r>
                    </a:p>
                  </a:txBody>
                  <a:tcPr>
                    <a:solidFill>
                      <a:srgbClr val="FFFFFF"/>
                    </a:solidFill>
                  </a:tcPr>
                </a:tc>
                <a:tc>
                  <a:txBody>
                    <a:bodyPr/>
                    <a:lstStyle/>
                    <a:p>
                      <a:pPr algn="ctr">
                        <a:defRPr sz="900">
                          <a:solidFill>
                            <a:srgbClr val="000000"/>
                          </a:solidFill>
                          <a:latin typeface="Montserrat"/>
                        </a:defRPr>
                      </a:pPr>
                      <a:r>
                        <a:t>81,708</a:t>
                      </a:r>
                    </a:p>
                  </a:txBody>
                  <a:tcPr>
                    <a:solidFill>
                      <a:srgbClr val="FFFFFF"/>
                    </a:solidFill>
                  </a:tcPr>
                </a:tc>
                <a:tc>
                  <a:txBody>
                    <a:bodyPr/>
                    <a:lstStyle/>
                    <a:p>
                      <a:pPr algn="ctr">
                        <a:defRPr sz="900">
                          <a:solidFill>
                            <a:srgbClr val="000000"/>
                          </a:solidFill>
                          <a:latin typeface="Montserrat"/>
                        </a:defRPr>
                      </a:pPr>
                      <a:r>
                        <a:t>113,459</a:t>
                      </a:r>
                    </a:p>
                  </a:txBody>
                  <a:tcPr>
                    <a:solidFill>
                      <a:srgbClr val="FFFFFF"/>
                    </a:solidFill>
                  </a:tcPr>
                </a:tc>
                <a:tc>
                  <a:txBody>
                    <a:bodyPr/>
                    <a:lstStyle/>
                    <a:p>
                      <a:pPr algn="ctr">
                        <a:defRPr sz="900">
                          <a:solidFill>
                            <a:srgbClr val="000000"/>
                          </a:solidFill>
                          <a:latin typeface="Montserrat"/>
                        </a:defRPr>
                      </a:pPr>
                      <a:r>
                        <a:t>39%</a:t>
                      </a:r>
                    </a:p>
                  </a:txBody>
                  <a:tcPr>
                    <a:solidFill>
                      <a:srgbClr val="FFFFFF"/>
                    </a:solidFill>
                  </a:tcPr>
                </a:tc>
              </a:tr>
              <a:tr h="251999">
                <a:tc>
                  <a:txBody>
                    <a:bodyPr/>
                    <a:lstStyle/>
                    <a:p>
                      <a:pPr algn="l" lvl="1">
                        <a:defRPr sz="900">
                          <a:solidFill>
                            <a:srgbClr val="000000"/>
                          </a:solidFill>
                          <a:latin typeface="Montserrat"/>
                        </a:defRPr>
                      </a:pPr>
                      <a:r>
                        <a:t>Seguro de Salud de Familia²</a:t>
                      </a:r>
                    </a:p>
                  </a:txBody>
                  <a:tcPr>
                    <a:solidFill>
                      <a:srgbClr val="FFFFFF"/>
                    </a:solidFill>
                  </a:tcPr>
                </a:tc>
                <a:tc>
                  <a:txBody>
                    <a:bodyPr/>
                    <a:lstStyle/>
                    <a:p>
                      <a:pPr algn="ctr">
                        <a:defRPr sz="900">
                          <a:solidFill>
                            <a:srgbClr val="000000"/>
                          </a:solidFill>
                          <a:latin typeface="Montserrat"/>
                        </a:defRPr>
                      </a:pPr>
                      <a:r>
                        <a:t>2,435</a:t>
                      </a:r>
                    </a:p>
                  </a:txBody>
                  <a:tcPr>
                    <a:solidFill>
                      <a:srgbClr val="FFFFFF"/>
                    </a:solidFill>
                  </a:tcPr>
                </a:tc>
                <a:tc>
                  <a:txBody>
                    <a:bodyPr/>
                    <a:lstStyle/>
                    <a:p>
                      <a:pPr algn="ctr">
                        <a:defRPr sz="900">
                          <a:solidFill>
                            <a:srgbClr val="000000"/>
                          </a:solidFill>
                          <a:latin typeface="Montserrat"/>
                        </a:defRPr>
                      </a:pPr>
                      <a:r>
                        <a:t>456</a:t>
                      </a:r>
                    </a:p>
                  </a:txBody>
                  <a:tcPr>
                    <a:solidFill>
                      <a:srgbClr val="FFFFFF"/>
                    </a:solidFill>
                  </a:tcPr>
                </a:tc>
                <a:tc>
                  <a:txBody>
                    <a:bodyPr/>
                    <a:lstStyle/>
                    <a:p>
                      <a:pPr algn="ctr">
                        <a:defRPr sz="900">
                          <a:solidFill>
                            <a:srgbClr val="000000"/>
                          </a:solidFill>
                          <a:latin typeface="Montserrat"/>
                        </a:defRPr>
                      </a:pPr>
                      <a:r>
                        <a:t>-81%</a:t>
                      </a:r>
                    </a:p>
                  </a:txBody>
                  <a:tcPr>
                    <a:solidFill>
                      <a:srgbClr val="FFFFFF"/>
                    </a:solidFill>
                  </a:tcPr>
                </a:tc>
              </a:tr>
              <a:tr h="251999">
                <a:tc>
                  <a:txBody>
                    <a:bodyPr/>
                    <a:lstStyle/>
                    <a:p>
                      <a:pPr algn="l" lvl="1">
                        <a:defRPr sz="900">
                          <a:solidFill>
                            <a:srgbClr val="000000"/>
                          </a:solidFill>
                          <a:latin typeface="Montserrat"/>
                        </a:defRPr>
                      </a:pPr>
                      <a:r>
                        <a:t>Continuación voluntaria</a:t>
                      </a:r>
                    </a:p>
                  </a:txBody>
                  <a:tcPr>
                    <a:solidFill>
                      <a:srgbClr val="FFFFFF"/>
                    </a:solidFill>
                  </a:tcPr>
                </a:tc>
                <a:tc>
                  <a:txBody>
                    <a:bodyPr/>
                    <a:lstStyle/>
                    <a:p>
                      <a:pPr algn="ctr">
                        <a:defRPr sz="900">
                          <a:solidFill>
                            <a:srgbClr val="000000"/>
                          </a:solidFill>
                          <a:latin typeface="Montserrat"/>
                        </a:defRPr>
                      </a:pPr>
                      <a:r>
                        <a:t>1,398</a:t>
                      </a:r>
                    </a:p>
                  </a:txBody>
                  <a:tcPr>
                    <a:solidFill>
                      <a:srgbClr val="FFFFFF"/>
                    </a:solidFill>
                  </a:tcPr>
                </a:tc>
                <a:tc>
                  <a:txBody>
                    <a:bodyPr/>
                    <a:lstStyle/>
                    <a:p>
                      <a:pPr algn="ctr">
                        <a:defRPr sz="900">
                          <a:solidFill>
                            <a:srgbClr val="000000"/>
                          </a:solidFill>
                          <a:latin typeface="Montserrat"/>
                        </a:defRPr>
                      </a:pPr>
                      <a:r>
                        <a:t>2,466</a:t>
                      </a:r>
                    </a:p>
                  </a:txBody>
                  <a:tcPr>
                    <a:solidFill>
                      <a:srgbClr val="FFFFFF"/>
                    </a:solidFill>
                  </a:tcPr>
                </a:tc>
                <a:tc>
                  <a:txBody>
                    <a:bodyPr/>
                    <a:lstStyle/>
                    <a:p>
                      <a:pPr algn="ctr">
                        <a:defRPr sz="900">
                          <a:solidFill>
                            <a:srgbClr val="000000"/>
                          </a:solidFill>
                          <a:latin typeface="Montserrat"/>
                        </a:defRPr>
                      </a:pPr>
                      <a:r>
                        <a:t>76%</a:t>
                      </a:r>
                    </a:p>
                  </a:txBody>
                  <a:tcPr>
                    <a:solidFill>
                      <a:srgbClr val="FFFFFF"/>
                    </a:solidFill>
                  </a:tcPr>
                </a:tc>
              </a:tr>
              <a:tr h="251999">
                <a:tc>
                  <a:txBody>
                    <a:bodyPr/>
                    <a:lstStyle/>
                    <a:p>
                      <a:pPr algn="l">
                        <a:defRPr sz="900" b="1">
                          <a:solidFill>
                            <a:srgbClr val="FFFFFF"/>
                          </a:solidFill>
                          <a:latin typeface="Montserrat"/>
                        </a:defRPr>
                      </a:pPr>
                      <a:r>
                        <a:t>Familiares</a:t>
                      </a:r>
                    </a:p>
                  </a:txBody>
                  <a:tcPr>
                    <a:solidFill>
                      <a:srgbClr val="9F2241"/>
                    </a:solidFill>
                  </a:tcPr>
                </a:tc>
                <a:tc>
                  <a:txBody>
                    <a:bodyPr/>
                    <a:lstStyle/>
                    <a:p>
                      <a:pPr algn="ctr">
                        <a:defRPr sz="900" b="1">
                          <a:solidFill>
                            <a:srgbClr val="000000"/>
                          </a:solidFill>
                          <a:latin typeface="Montserrat"/>
                        </a:defRPr>
                      </a:pPr>
                      <a:r>
                        <a:t>291,027</a:t>
                      </a:r>
                    </a:p>
                  </a:txBody>
                  <a:tcPr>
                    <a:solidFill>
                      <a:srgbClr val="EBD2D9"/>
                    </a:solidFill>
                  </a:tcPr>
                </a:tc>
                <a:tc>
                  <a:txBody>
                    <a:bodyPr/>
                    <a:lstStyle/>
                    <a:p>
                      <a:pPr algn="ctr">
                        <a:defRPr sz="900" b="1">
                          <a:solidFill>
                            <a:srgbClr val="000000"/>
                          </a:solidFill>
                          <a:latin typeface="Montserrat"/>
                        </a:defRPr>
                      </a:pPr>
                      <a:r>
                        <a:t>300,987</a:t>
                      </a:r>
                    </a:p>
                  </a:txBody>
                  <a:tcPr>
                    <a:solidFill>
                      <a:srgbClr val="EBD2D9"/>
                    </a:solidFill>
                  </a:tcPr>
                </a:tc>
                <a:tc>
                  <a:txBody>
                    <a:bodyPr/>
                    <a:lstStyle/>
                    <a:p>
                      <a:pPr algn="ctr">
                        <a:defRPr sz="900" b="1">
                          <a:solidFill>
                            <a:srgbClr val="000000"/>
                          </a:solidFill>
                          <a:latin typeface="Montserrat"/>
                        </a:defRPr>
                      </a:pPr>
                      <a:r>
                        <a:t>3%</a:t>
                      </a:r>
                    </a:p>
                  </a:txBody>
                  <a:tcPr>
                    <a:solidFill>
                      <a:srgbClr val="EBD2D9"/>
                    </a:solidFill>
                  </a:tcPr>
                </a:tc>
              </a:tr>
              <a:tr h="251999">
                <a:tc>
                  <a:txBody>
                    <a:bodyPr/>
                    <a:lstStyle/>
                    <a:p>
                      <a:pPr algn="l" lvl="1">
                        <a:defRPr sz="900">
                          <a:solidFill>
                            <a:srgbClr val="000000"/>
                          </a:solidFill>
                          <a:latin typeface="Montserrat"/>
                        </a:defRPr>
                      </a:pPr>
                      <a:r>
                        <a:t>Esposa(o)/concubina(rio)</a:t>
                      </a:r>
                    </a:p>
                  </a:txBody>
                  <a:tcPr>
                    <a:solidFill>
                      <a:srgbClr val="FFFFFF"/>
                    </a:solidFill>
                  </a:tcPr>
                </a:tc>
                <a:tc>
                  <a:txBody>
                    <a:bodyPr/>
                    <a:lstStyle/>
                    <a:p>
                      <a:pPr algn="ctr">
                        <a:defRPr sz="900">
                          <a:solidFill>
                            <a:srgbClr val="000000"/>
                          </a:solidFill>
                          <a:latin typeface="Montserrat"/>
                        </a:defRPr>
                      </a:pPr>
                      <a:r>
                        <a:t>95,583</a:t>
                      </a:r>
                    </a:p>
                  </a:txBody>
                  <a:tcPr>
                    <a:solidFill>
                      <a:srgbClr val="FFFFFF"/>
                    </a:solidFill>
                  </a:tcPr>
                </a:tc>
                <a:tc>
                  <a:txBody>
                    <a:bodyPr/>
                    <a:lstStyle/>
                    <a:p>
                      <a:pPr algn="ctr">
                        <a:defRPr sz="900">
                          <a:solidFill>
                            <a:srgbClr val="000000"/>
                          </a:solidFill>
                          <a:latin typeface="Montserrat"/>
                        </a:defRPr>
                      </a:pPr>
                      <a:r>
                        <a:t>104,705</a:t>
                      </a:r>
                    </a:p>
                  </a:txBody>
                  <a:tcPr>
                    <a:solidFill>
                      <a:srgbClr val="FFFFFF"/>
                    </a:solidFill>
                  </a:tcPr>
                </a:tc>
                <a:tc>
                  <a:txBody>
                    <a:bodyPr/>
                    <a:lstStyle/>
                    <a:p>
                      <a:pPr algn="ctr">
                        <a:defRPr sz="900">
                          <a:solidFill>
                            <a:srgbClr val="000000"/>
                          </a:solidFill>
                          <a:latin typeface="Montserrat"/>
                        </a:defRPr>
                      </a:pPr>
                      <a:r>
                        <a:t>10%</a:t>
                      </a:r>
                    </a:p>
                  </a:txBody>
                  <a:tcPr>
                    <a:solidFill>
                      <a:srgbClr val="FFFFFF"/>
                    </a:solidFill>
                  </a:tcPr>
                </a:tc>
              </a:tr>
              <a:tr h="251999">
                <a:tc>
                  <a:txBody>
                    <a:bodyPr/>
                    <a:lstStyle/>
                    <a:p>
                      <a:pPr algn="l" lvl="1">
                        <a:defRPr sz="900">
                          <a:solidFill>
                            <a:srgbClr val="000000"/>
                          </a:solidFill>
                          <a:latin typeface="Montserrat"/>
                        </a:defRPr>
                      </a:pPr>
                      <a:r>
                        <a:t>Hijas e hijos</a:t>
                      </a:r>
                    </a:p>
                  </a:txBody>
                  <a:tcPr>
                    <a:solidFill>
                      <a:srgbClr val="FFFFFF"/>
                    </a:solidFill>
                  </a:tcPr>
                </a:tc>
                <a:tc>
                  <a:txBody>
                    <a:bodyPr/>
                    <a:lstStyle/>
                    <a:p>
                      <a:pPr algn="ctr">
                        <a:defRPr sz="900">
                          <a:solidFill>
                            <a:srgbClr val="000000"/>
                          </a:solidFill>
                          <a:latin typeface="Montserrat"/>
                        </a:defRPr>
                      </a:pPr>
                      <a:r>
                        <a:t>149,682</a:t>
                      </a:r>
                    </a:p>
                  </a:txBody>
                  <a:tcPr>
                    <a:solidFill>
                      <a:srgbClr val="FFFFFF"/>
                    </a:solidFill>
                  </a:tcPr>
                </a:tc>
                <a:tc>
                  <a:txBody>
                    <a:bodyPr/>
                    <a:lstStyle/>
                    <a:p>
                      <a:pPr algn="ctr">
                        <a:defRPr sz="900">
                          <a:solidFill>
                            <a:srgbClr val="000000"/>
                          </a:solidFill>
                          <a:latin typeface="Montserrat"/>
                        </a:defRPr>
                      </a:pPr>
                      <a:r>
                        <a:t>133,555</a:t>
                      </a:r>
                    </a:p>
                  </a:txBody>
                  <a:tcPr>
                    <a:solidFill>
                      <a:srgbClr val="FFFFFF"/>
                    </a:solidFill>
                  </a:tcPr>
                </a:tc>
                <a:tc>
                  <a:txBody>
                    <a:bodyPr/>
                    <a:lstStyle/>
                    <a:p>
                      <a:pPr algn="ctr">
                        <a:defRPr sz="900">
                          <a:solidFill>
                            <a:srgbClr val="000000"/>
                          </a:solidFill>
                          <a:latin typeface="Montserrat"/>
                        </a:defRPr>
                      </a:pPr>
                      <a:r>
                        <a:t>-11%</a:t>
                      </a:r>
                    </a:p>
                  </a:txBody>
                  <a:tcPr>
                    <a:solidFill>
                      <a:srgbClr val="FFFFFF"/>
                    </a:solidFill>
                  </a:tcPr>
                </a:tc>
              </a:tr>
              <a:tr h="251999">
                <a:tc>
                  <a:txBody>
                    <a:bodyPr/>
                    <a:lstStyle/>
                    <a:p>
                      <a:pPr algn="l" lvl="1">
                        <a:defRPr sz="900">
                          <a:solidFill>
                            <a:srgbClr val="000000"/>
                          </a:solidFill>
                          <a:latin typeface="Montserrat"/>
                        </a:defRPr>
                      </a:pPr>
                      <a:r>
                        <a:t>Madres y padres</a:t>
                      </a:r>
                    </a:p>
                  </a:txBody>
                  <a:tcPr>
                    <a:solidFill>
                      <a:srgbClr val="FFFFFF"/>
                    </a:solidFill>
                  </a:tcPr>
                </a:tc>
                <a:tc>
                  <a:txBody>
                    <a:bodyPr/>
                    <a:lstStyle/>
                    <a:p>
                      <a:pPr algn="ctr">
                        <a:defRPr sz="900">
                          <a:solidFill>
                            <a:srgbClr val="000000"/>
                          </a:solidFill>
                          <a:latin typeface="Montserrat"/>
                        </a:defRPr>
                      </a:pPr>
                      <a:r>
                        <a:t>45,762</a:t>
                      </a:r>
                    </a:p>
                  </a:txBody>
                  <a:tcPr>
                    <a:solidFill>
                      <a:srgbClr val="FFFFFF"/>
                    </a:solidFill>
                  </a:tcPr>
                </a:tc>
                <a:tc>
                  <a:txBody>
                    <a:bodyPr/>
                    <a:lstStyle/>
                    <a:p>
                      <a:pPr algn="ctr">
                        <a:defRPr sz="900">
                          <a:solidFill>
                            <a:srgbClr val="000000"/>
                          </a:solidFill>
                          <a:latin typeface="Montserrat"/>
                        </a:defRPr>
                      </a:pPr>
                      <a:r>
                        <a:t>62,727</a:t>
                      </a:r>
                    </a:p>
                  </a:txBody>
                  <a:tcPr>
                    <a:solidFill>
                      <a:srgbClr val="FFFFFF"/>
                    </a:solidFill>
                  </a:tcPr>
                </a:tc>
                <a:tc>
                  <a:txBody>
                    <a:bodyPr/>
                    <a:lstStyle/>
                    <a:p>
                      <a:pPr algn="ctr">
                        <a:defRPr sz="900">
                          <a:solidFill>
                            <a:srgbClr val="000000"/>
                          </a:solidFill>
                          <a:latin typeface="Montserrat"/>
                        </a:defRPr>
                      </a:pPr>
                      <a:r>
                        <a:t>37%</a:t>
                      </a:r>
                    </a:p>
                  </a:txBody>
                  <a:tcPr>
                    <a:solidFill>
                      <a:srgbClr val="FFFFFF"/>
                    </a:solidFill>
                  </a:tcPr>
                </a:tc>
              </a:tr>
            </a:tbl>
          </a:graphicData>
        </a:graphic>
      </p:graphicFrame>
      <p:graphicFrame>
        <p:nvGraphicFramePr>
          <p:cNvPr id="138" name="Table 137"/>
          <p:cNvGraphicFramePr>
            <a:graphicFrameLocks noGrp="1"/>
          </p:cNvGraphicFramePr>
          <p:nvPr/>
        </p:nvGraphicFramePr>
        <p:xfrm>
          <a:off x="5792400" y="56880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261</a:t>
                      </a:r>
                    </a:p>
                  </a:txBody>
                  <a:tcPr>
                    <a:solidFill>
                      <a:srgbClr val="F8F4EC"/>
                    </a:solidFill>
                  </a:tcPr>
                </a:tc>
                <a:tc>
                  <a:txBody>
                    <a:bodyPr/>
                    <a:lstStyle/>
                    <a:p>
                      <a:pPr algn="ctr">
                        <a:defRPr b="1" sz="900">
                          <a:latin typeface="Montserrat"/>
                        </a:defRPr>
                      </a:pPr>
                      <a:r>
                        <a:t>245</a:t>
                      </a:r>
                    </a:p>
                  </a:txBody>
                  <a:tcPr>
                    <a:solidFill>
                      <a:srgbClr val="F8F4EC"/>
                    </a:solidFill>
                  </a:tcPr>
                </a:tc>
                <a:tc>
                  <a:txBody>
                    <a:bodyPr/>
                    <a:lstStyle/>
                    <a:p>
                      <a:pPr algn="ctr">
                        <a:defRPr b="1" sz="900">
                          <a:solidFill>
                            <a:srgbClr val="A61C00"/>
                          </a:solidFill>
                          <a:latin typeface="Montserrat"/>
                        </a:defRPr>
                      </a:pPr>
                      <a:r>
                        <a:t>-6%</a:t>
                      </a:r>
                    </a:p>
                  </a:txBody>
                  <a:tcPr>
                    <a:solidFill>
                      <a:srgbClr val="F8F4EC"/>
                    </a:solidFill>
                  </a:tcPr>
                </a:tc>
              </a:tr>
            </a:tbl>
          </a:graphicData>
        </a:graphic>
      </p:graphicFrame>
      <p:graphicFrame>
        <p:nvGraphicFramePr>
          <p:cNvPr id="139" name="Table 138"/>
          <p:cNvGraphicFramePr>
            <a:graphicFrameLocks noGrp="1"/>
          </p:cNvGraphicFramePr>
          <p:nvPr/>
        </p:nvGraphicFramePr>
        <p:xfrm>
          <a:off x="5792400" y="72684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2,534</a:t>
                      </a:r>
                    </a:p>
                  </a:txBody>
                  <a:tcPr>
                    <a:solidFill>
                      <a:srgbClr val="F8F4EC"/>
                    </a:solidFill>
                  </a:tcPr>
                </a:tc>
                <a:tc>
                  <a:txBody>
                    <a:bodyPr/>
                    <a:lstStyle/>
                    <a:p>
                      <a:pPr algn="ctr">
                        <a:defRPr b="1" sz="900">
                          <a:latin typeface="Montserrat"/>
                        </a:defRPr>
                      </a:pPr>
                      <a:r>
                        <a:t>3,473</a:t>
                      </a:r>
                    </a:p>
                  </a:txBody>
                  <a:tcPr>
                    <a:solidFill>
                      <a:srgbClr val="F8F4EC"/>
                    </a:solidFill>
                  </a:tcPr>
                </a:tc>
                <a:tc>
                  <a:txBody>
                    <a:bodyPr/>
                    <a:lstStyle/>
                    <a:p>
                      <a:pPr algn="ctr">
                        <a:defRPr b="1" sz="900">
                          <a:latin typeface="Montserrat"/>
                        </a:defRPr>
                      </a:pPr>
                      <a:r>
                        <a:t>37%</a:t>
                      </a:r>
                    </a:p>
                  </a:txBody>
                  <a:tcPr>
                    <a:solidFill>
                      <a:srgbClr val="F8F4EC"/>
                    </a:solidFill>
                  </a:tcPr>
                </a:tc>
              </a:tr>
            </a:tbl>
          </a:graphicData>
        </a:graphic>
      </p:graphicFrame>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8"/>
        <p:cNvGrpSpPr/>
        <p:nvPr/>
      </p:nvGrpSpPr>
      <p:grpSpPr>
        <a:xfrm>
          <a:off x="0" y="0"/>
          <a:ext cx="0" cy="0"/>
          <a:chOff x="0" y="0"/>
          <a:chExt cx="0" cy="0"/>
        </a:xfrm>
      </p:grpSpPr>
      <p:graphicFrame>
        <p:nvGraphicFramePr>
          <p:cNvPr id="133" name="Google Shape;133;p3"/>
          <p:cNvGraphicFramePr/>
          <p:nvPr/>
        </p:nvGraphicFramePr>
        <p:xfrm>
          <a:off x="211500" y="72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Infraestructura médica IMSS e IMSS Coplamar</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34" name="Picture 133" descr="map_tipo1_32_zac.png"/>
          <p:cNvPicPr>
            <a:picLocks noChangeAspect="1"/>
          </p:cNvPicPr>
          <p:nvPr/>
        </p:nvPicPr>
        <p:blipFill>
          <a:blip r:embed="rId4"/>
          <a:stretch>
            <a:fillRect/>
          </a:stretch>
        </p:blipFill>
        <p:spPr>
          <a:xfrm>
            <a:off x="198000" y="1475999"/>
            <a:ext cx="5461200" cy="5011200"/>
          </a:xfrm>
          <a:prstGeom prst="rect">
            <a:avLst/>
          </a:prstGeom>
        </p:spPr>
      </p:pic>
      <p:graphicFrame>
        <p:nvGraphicFramePr>
          <p:cNvPr id="135" name="Table 134"/>
          <p:cNvGraphicFramePr>
            <a:graphicFrameLocks noGrp="1"/>
          </p:cNvGraphicFramePr>
          <p:nvPr/>
        </p:nvGraphicFramePr>
        <p:xfrm>
          <a:off x="97200" y="6854400"/>
          <a:ext cx="4359600" cy="1170000"/>
        </p:xfrm>
        <a:graphic>
          <a:graphicData uri="http://schemas.openxmlformats.org/drawingml/2006/table">
            <a:tbl>
              <a:tblPr firstRow="1" bandRow="1">
                <a:tableStyleId>{5C22544A-7EE6-4342-B048-85BDC9FD1C3A}</a:tableStyleId>
              </a:tblPr>
              <a:tblGrid>
                <a:gridCol w="871920"/>
                <a:gridCol w="871920"/>
                <a:gridCol w="871920"/>
                <a:gridCol w="871920"/>
                <a:gridCol w="871920"/>
              </a:tblGrid>
              <a:tr h="234000">
                <a:tc rowSpan="2">
                  <a:txBody>
                    <a:bodyPr/>
                    <a:lstStyle/>
                    <a:p>
                      <a:pPr algn="ctr">
                        <a:defRPr b="1" sz="1000">
                          <a:solidFill>
                            <a:srgbClr val="FFFFFF"/>
                          </a:solidFill>
                          <a:latin typeface="Montserrat"/>
                        </a:defRPr>
                      </a:pPr>
                      <a:r>
                        <a:t>Nivel</a:t>
                      </a:r>
                    </a:p>
                  </a:txBody>
                  <a:tcPr marL="10800" marR="10800" marT="10800" marB="10800" anchor="ctr">
                    <a:solidFill>
                      <a:srgbClr val="660000"/>
                    </a:solidFill>
                  </a:tcPr>
                </a:tc>
                <a:tc gridSpan="4">
                  <a:txBody>
                    <a:bodyPr/>
                    <a:lstStyle/>
                    <a:p>
                      <a:pPr algn="ctr">
                        <a:defRPr b="1" sz="1000">
                          <a:solidFill>
                            <a:srgbClr val="FFFFFF"/>
                          </a:solidFill>
                          <a:latin typeface="Montserrat"/>
                        </a:defRPr>
                      </a:pPr>
                      <a:r>
                        <a:t>IMSS Ordinario</a:t>
                      </a:r>
                    </a:p>
                  </a:txBody>
                  <a:tcPr marL="10800" marR="10800" marT="10800" marB="10800">
                    <a:solidFill>
                      <a:srgbClr val="006455"/>
                    </a:solidFill>
                  </a:tcPr>
                </a:tc>
                <a:tc hMerge="1">
                  <a:txBody>
                    <a:bodyPr/>
                    <a:lstStyle/>
                    <a:p/>
                  </a:txBody>
                  <a:tcPr marL="10800" marR="10800" marT="10800" marB="10800"/>
                </a:tc>
                <a:tc hMerge="1">
                  <a:txBody>
                    <a:bodyPr/>
                    <a:lstStyle/>
                    <a:p/>
                  </a:txBody>
                  <a:tcPr marL="10800" marR="10800" marT="10800" marB="10800"/>
                </a:tc>
                <a:tc hMerge="1">
                  <a:txBody>
                    <a:bodyPr/>
                    <a:lstStyle/>
                    <a:p/>
                  </a:txBody>
                  <a:tcPr marL="10800" marR="10800" marT="10800" marB="10800"/>
                </a:tc>
              </a:tr>
              <a:tr h="234000">
                <a:tc vMerge="1">
                  <a:txBody>
                    <a:bodyPr/>
                    <a:lstStyle/>
                    <a:p/>
                  </a:txBody>
                  <a:tcPr marL="10800" marR="10800" marT="10800" marB="10800" anchor="ctr">
                    <a:solidFill>
                      <a:srgbClr val="006455"/>
                    </a:solidFill>
                  </a:tcPr>
                </a:tc>
                <a:tc>
                  <a:txBody>
                    <a:bodyPr/>
                    <a:lstStyle/>
                    <a:p>
                      <a:pPr algn="ctr">
                        <a:defRPr b="1" sz="1000">
                          <a:solidFill>
                            <a:srgbClr val="FFFFFF"/>
                          </a:solidFill>
                          <a:latin typeface="Montserrat"/>
                        </a:defRPr>
                      </a:pPr>
                      <a:r>
                        <a:t>Unidades</a:t>
                      </a:r>
                    </a:p>
                  </a:txBody>
                  <a:tcPr marL="10800" marR="10800" marT="10800" marB="10800" anchor="ctr">
                    <a:solidFill>
                      <a:srgbClr val="006455"/>
                    </a:solidFill>
                  </a:tcPr>
                </a:tc>
                <a:tc>
                  <a:txBody>
                    <a:bodyPr/>
                    <a:lstStyle/>
                    <a:p>
                      <a:pPr algn="ctr">
                        <a:defRPr b="1" sz="1000">
                          <a:solidFill>
                            <a:srgbClr val="FFFFFF"/>
                          </a:solidFill>
                          <a:latin typeface="Montserrat"/>
                        </a:defRPr>
                      </a:pPr>
                      <a:r>
                        <a:t>Consultorios de MF</a:t>
                      </a:r>
                    </a:p>
                  </a:txBody>
                  <a:tcPr marL="10800" marR="10800" marT="10800" marB="10800" anchor="ctr">
                    <a:solidFill>
                      <a:srgbClr val="006455"/>
                    </a:solidFill>
                  </a:tcPr>
                </a:tc>
                <a:tc>
                  <a:txBody>
                    <a:bodyPr/>
                    <a:lstStyle/>
                    <a:p>
                      <a:pPr algn="ctr">
                        <a:defRPr b="1" sz="1000">
                          <a:solidFill>
                            <a:srgbClr val="FFFFFF"/>
                          </a:solidFill>
                          <a:latin typeface="Montserrat"/>
                        </a:defRPr>
                      </a:pPr>
                      <a:r>
                        <a:t>Camas</a:t>
                      </a:r>
                    </a:p>
                  </a:txBody>
                  <a:tcPr marL="10800" marR="10800" marT="10800" marB="10800" anchor="ctr">
                    <a:solidFill>
                      <a:srgbClr val="006455"/>
                    </a:solidFill>
                  </a:tcPr>
                </a:tc>
                <a:tc>
                  <a:txBody>
                    <a:bodyPr/>
                    <a:lstStyle/>
                    <a:p>
                      <a:pPr algn="ctr">
                        <a:defRPr b="1" sz="1000">
                          <a:solidFill>
                            <a:srgbClr val="FFFFFF"/>
                          </a:solidFill>
                          <a:latin typeface="Montserrat"/>
                        </a:defRPr>
                      </a:pPr>
                      <a:r>
                        <a:t>Camas no censables</a:t>
                      </a:r>
                    </a:p>
                  </a:txBody>
                  <a:tcPr marL="10800" marR="10800" marT="10800" marB="10800" anchor="ctr">
                    <a:solidFill>
                      <a:srgbClr val="006455"/>
                    </a:solidFill>
                  </a:tcPr>
                </a:tc>
              </a:tr>
              <a:tr h="234000">
                <a:tc>
                  <a:txBody>
                    <a:bodyPr/>
                    <a:lstStyle/>
                    <a:p>
                      <a:pPr algn="l">
                        <a:defRPr sz="1000">
                          <a:solidFill>
                            <a:srgbClr val="000000"/>
                          </a:solidFill>
                          <a:latin typeface="Montserrat"/>
                        </a:defRPr>
                      </a:pPr>
                      <a:r>
                        <a:rPr sz="1000">
                          <a:latin typeface="Montserrat"/>
                        </a:rPr>
                        <a:t>Primer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35</a:t>
                      </a:r>
                      <a:r>
                        <a:rPr sz="700">
                          <a:latin typeface="Montserrat"/>
                        </a:rPr>
                        <a:t> 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107</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16</a:t>
                      </a:r>
                    </a:p>
                  </a:txBody>
                  <a:tcPr marL="10800" marR="10800" marT="10800" marB="10800" anchor="ctr">
                    <a:solidFill>
                      <a:srgbClr val="FFFFFF"/>
                    </a:solidFill>
                  </a:tcPr>
                </a:tc>
              </a:tr>
              <a:tr h="234000">
                <a:tc>
                  <a:txBody>
                    <a:bodyPr/>
                    <a:lstStyle/>
                    <a:p>
                      <a:pPr algn="l">
                        <a:defRPr sz="1000">
                          <a:solidFill>
                            <a:srgbClr val="000000"/>
                          </a:solidFill>
                          <a:latin typeface="Montserrat"/>
                        </a:defRPr>
                      </a:pPr>
                      <a:r>
                        <a:rPr sz="1000">
                          <a:latin typeface="Montserrat"/>
                        </a:rP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2</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305</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176</a:t>
                      </a:r>
                    </a:p>
                  </a:txBody>
                  <a:tcPr marL="10800" marR="10800" marT="10800" marB="10800" anchor="ctr">
                    <a:solidFill>
                      <a:srgbClr val="EFEFEF"/>
                    </a:solidFill>
                  </a:tcPr>
                </a:tc>
              </a:tr>
              <a:tr h="234000">
                <a:tc>
                  <a:txBody>
                    <a:bodyPr/>
                    <a:lstStyle/>
                    <a:p>
                      <a:pPr algn="l">
                        <a:defRPr sz="1000" b="1">
                          <a:solidFill>
                            <a:srgbClr val="006556"/>
                          </a:solidFill>
                          <a:latin typeface="Montserrat"/>
                        </a:defRPr>
                      </a:pPr>
                      <a:r>
                        <a:rPr sz="1000">
                          <a:latin typeface="Montserrat"/>
                        </a:rP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37</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107</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305</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192</a:t>
                      </a:r>
                    </a:p>
                  </a:txBody>
                  <a:tcPr marL="10800" marR="10800" marT="10800" marB="10800" anchor="ctr">
                    <a:solidFill>
                      <a:srgbClr val="D3E9E7"/>
                    </a:solidFill>
                  </a:tcPr>
                </a:tc>
              </a:tr>
            </a:tbl>
          </a:graphicData>
        </a:graphic>
      </p:graphicFrame>
      <p:graphicFrame>
        <p:nvGraphicFramePr>
          <p:cNvPr id="136" name="Table 135"/>
          <p:cNvGraphicFramePr>
            <a:graphicFrameLocks noGrp="1"/>
          </p:cNvGraphicFramePr>
          <p:nvPr/>
        </p:nvGraphicFramePr>
        <p:xfrm>
          <a:off x="4536000" y="6854400"/>
          <a:ext cx="3096000" cy="1242000"/>
        </p:xfrm>
        <a:graphic>
          <a:graphicData uri="http://schemas.openxmlformats.org/drawingml/2006/table">
            <a:tbl>
              <a:tblPr firstRow="1" bandRow="1">
                <a:tableStyleId>{5C22544A-7EE6-4342-B048-85BDC9FD1C3A}</a:tableStyleId>
              </a:tblPr>
              <a:tblGrid>
                <a:gridCol w="846000"/>
                <a:gridCol w="846000"/>
                <a:gridCol w="846000"/>
                <a:gridCol w="558000"/>
              </a:tblGrid>
              <a:tr h="248400">
                <a:tc gridSpan="4">
                  <a:txBody>
                    <a:bodyPr/>
                    <a:lstStyle/>
                    <a:p>
                      <a:pPr algn="ctr">
                        <a:defRPr b="1" sz="1000">
                          <a:solidFill>
                            <a:srgbClr val="FFFFFF"/>
                          </a:solidFill>
                          <a:latin typeface="Montserrat"/>
                        </a:defRPr>
                      </a:pPr>
                      <a:r>
                        <a:t>IMSS-COPLAMAR</a:t>
                      </a:r>
                    </a:p>
                  </a:txBody>
                  <a:tcPr marL="10800" marR="10800" marT="10800" marB="10800" anchor="ctr">
                    <a:solidFill>
                      <a:srgbClr val="BC955C"/>
                    </a:solidFill>
                  </a:tcPr>
                </a:tc>
                <a:tc hMerge="1">
                  <a:txBody>
                    <a:bodyPr/>
                    <a:lstStyle/>
                    <a:p/>
                  </a:txBody>
                  <a:tcPr marL="10800" marR="10800" marT="10800" marB="10800" anchor="ctr"/>
                </a:tc>
                <a:tc hMerge="1">
                  <a:txBody>
                    <a:bodyPr/>
                    <a:lstStyle/>
                    <a:p/>
                  </a:txBody>
                  <a:tcPr marL="10800" marR="10800" marT="10800" marB="10800" anchor="ctr"/>
                </a:tc>
                <a:tc hMerge="1">
                  <a:txBody>
                    <a:bodyPr/>
                    <a:lstStyle/>
                    <a:p/>
                  </a:txBody>
                  <a:tcPr marL="10800" marR="10800" marT="10800" marB="10800" anchor="ctr"/>
                </a:tc>
              </a:tr>
              <a:tr h="248400">
                <a:tc>
                  <a:txBody>
                    <a:bodyPr/>
                    <a:lstStyle/>
                    <a:p>
                      <a:pPr algn="ctr">
                        <a:defRPr b="1" sz="1000">
                          <a:solidFill>
                            <a:srgbClr val="FFFFFF"/>
                          </a:solidFill>
                          <a:latin typeface="Montserrat"/>
                        </a:defRPr>
                      </a:pPr>
                      <a:r>
                        <a:t>Nivel</a:t>
                      </a:r>
                    </a:p>
                  </a:txBody>
                  <a:tcPr marL="10800" marR="10800" marT="10800" marB="10800" anchor="ctr">
                    <a:solidFill>
                      <a:srgbClr val="BC955C"/>
                    </a:solidFill>
                  </a:tcPr>
                </a:tc>
                <a:tc>
                  <a:txBody>
                    <a:bodyPr/>
                    <a:lstStyle/>
                    <a:p>
                      <a:pPr algn="ctr">
                        <a:defRPr b="1" sz="1000">
                          <a:solidFill>
                            <a:srgbClr val="FFFFFF"/>
                          </a:solidFill>
                          <a:latin typeface="Montserrat"/>
                        </a:defRPr>
                      </a:pPr>
                      <a:r>
                        <a:t>Unidades</a:t>
                      </a:r>
                    </a:p>
                  </a:txBody>
                  <a:tcPr marL="0" marR="0" marT="10800" marB="10800" anchor="ctr">
                    <a:solidFill>
                      <a:srgbClr val="BC955C"/>
                    </a:solidFill>
                  </a:tcPr>
                </a:tc>
                <a:tc>
                  <a:txBody>
                    <a:bodyPr/>
                    <a:lstStyle/>
                    <a:p>
                      <a:pPr algn="ctr">
                        <a:defRPr b="1" sz="1000">
                          <a:solidFill>
                            <a:srgbClr val="FFFFFF"/>
                          </a:solidFill>
                          <a:latin typeface="Montserrat"/>
                        </a:defRPr>
                      </a:pPr>
                      <a:r>
                        <a:t>Consultorios de MF</a:t>
                      </a:r>
                    </a:p>
                  </a:txBody>
                  <a:tcPr marL="0" marR="0" marT="10800" marB="10800" anchor="ctr">
                    <a:solidFill>
                      <a:srgbClr val="BC955C"/>
                    </a:solidFill>
                  </a:tcPr>
                </a:tc>
                <a:tc>
                  <a:txBody>
                    <a:bodyPr/>
                    <a:lstStyle/>
                    <a:p>
                      <a:pPr algn="ctr">
                        <a:defRPr b="1" sz="1000">
                          <a:solidFill>
                            <a:srgbClr val="FFFFFF"/>
                          </a:solidFill>
                          <a:latin typeface="Montserrat"/>
                        </a:defRPr>
                      </a:pPr>
                      <a:r>
                        <a:t>Camas</a:t>
                      </a:r>
                    </a:p>
                  </a:txBody>
                  <a:tcPr marL="0" marR="0" marT="10800" marB="10800" anchor="ctr">
                    <a:solidFill>
                      <a:srgbClr val="BC955C"/>
                    </a:solidFill>
                  </a:tcPr>
                </a:tc>
              </a:tr>
              <a:tr h="248400">
                <a:tc>
                  <a:txBody>
                    <a:bodyPr/>
                    <a:lstStyle/>
                    <a:p>
                      <a:pPr algn="l">
                        <a:defRPr sz="1000">
                          <a:solidFill>
                            <a:srgbClr val="000000"/>
                          </a:solidFill>
                          <a:latin typeface="Montserrat"/>
                        </a:defRPr>
                      </a:pPr>
                      <a:r>
                        <a:t>Primer</a:t>
                      </a:r>
                    </a:p>
                  </a:txBody>
                  <a:tcPr marL="10800" marR="10800" marT="10800" marB="10800" anchor="ctr">
                    <a:solidFill>
                      <a:srgbClr val="FFFFFF"/>
                    </a:solidFill>
                  </a:tcPr>
                </a:tc>
                <a:tc>
                  <a:txBody>
                    <a:bodyPr/>
                    <a:lstStyle/>
                    <a:p>
                      <a:pPr algn="ctr">
                        <a:defRPr sz="1000">
                          <a:solidFill>
                            <a:srgbClr val="000000"/>
                          </a:solidFill>
                          <a:latin typeface="Montserrat"/>
                        </a:defRPr>
                      </a:pPr>
                      <a:r>
                        <a:t>141</a:t>
                      </a:r>
                    </a:p>
                  </a:txBody>
                  <a:tcPr marL="10800" marR="10800" marT="10800" marB="10800" anchor="ctr">
                    <a:solidFill>
                      <a:srgbClr val="FFFFFF"/>
                    </a:solidFill>
                  </a:tcPr>
                </a:tc>
                <a:tc>
                  <a:txBody>
                    <a:bodyPr/>
                    <a:lstStyle/>
                    <a:p>
                      <a:pPr algn="ctr">
                        <a:defRPr sz="1000">
                          <a:solidFill>
                            <a:srgbClr val="000000"/>
                          </a:solidFill>
                          <a:latin typeface="Montserrat"/>
                        </a:defRPr>
                      </a:pPr>
                      <a:r>
                        <a:t>160</a:t>
                      </a:r>
                    </a:p>
                  </a:txBody>
                  <a:tcPr marL="10800" marR="10800" marT="10800" marB="10800" anchor="ctr">
                    <a:solidFill>
                      <a:srgbClr val="FFFFFF"/>
                    </a:solidFill>
                  </a:tcPr>
                </a:tc>
                <a:tc>
                  <a:txBody>
                    <a:bodyPr/>
                    <a:lstStyle/>
                    <a:p>
                      <a:pPr algn="ctr">
                        <a:defRPr sz="1000">
                          <a:solidFill>
                            <a:srgbClr val="000000"/>
                          </a:solidFill>
                          <a:latin typeface="Montserrat"/>
                        </a:defRPr>
                      </a:pPr>
                      <a:r>
                        <a:t>0</a:t>
                      </a:r>
                    </a:p>
                  </a:txBody>
                  <a:tcPr marL="10800" marR="10800" marT="10800" marB="10800" anchor="ctr">
                    <a:solidFill>
                      <a:srgbClr val="FFFFFF"/>
                    </a:solidFill>
                  </a:tcPr>
                </a:tc>
              </a:tr>
              <a:tr h="248400">
                <a:tc>
                  <a:txBody>
                    <a:bodyPr/>
                    <a:lstStyle/>
                    <a:p>
                      <a:pPr algn="l">
                        <a:defRPr sz="1000">
                          <a:solidFill>
                            <a:srgbClr val="000000"/>
                          </a:solidFill>
                          <a:latin typeface="Montserrat"/>
                        </a:defRPr>
                      </a:pPr>
                      <a: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t>6</a:t>
                      </a:r>
                    </a:p>
                  </a:txBody>
                  <a:tcPr marL="10800" marR="10800" marT="10800" marB="10800" anchor="ctr">
                    <a:solidFill>
                      <a:srgbClr val="EFEFEF"/>
                    </a:solidFill>
                  </a:tcPr>
                </a:tc>
                <a:tc>
                  <a:txBody>
                    <a:bodyPr/>
                    <a:lstStyle/>
                    <a:p>
                      <a:pPr algn="ctr">
                        <a:defRPr sz="1000">
                          <a:solidFill>
                            <a:srgbClr val="000000"/>
                          </a:solidFill>
                          <a:latin typeface="Montserrat"/>
                        </a:defRPr>
                      </a:pPr>
                      <a:r>
                        <a:t>21</a:t>
                      </a:r>
                    </a:p>
                  </a:txBody>
                  <a:tcPr marL="10800" marR="10800" marT="10800" marB="10800" anchor="ctr">
                    <a:solidFill>
                      <a:srgbClr val="EFEFEF"/>
                    </a:solidFill>
                  </a:tcPr>
                </a:tc>
                <a:tc>
                  <a:txBody>
                    <a:bodyPr/>
                    <a:lstStyle/>
                    <a:p>
                      <a:pPr algn="ctr">
                        <a:defRPr sz="1000">
                          <a:solidFill>
                            <a:srgbClr val="000000"/>
                          </a:solidFill>
                          <a:latin typeface="Montserrat"/>
                        </a:defRPr>
                      </a:pPr>
                      <a:r>
                        <a:t>221</a:t>
                      </a:r>
                    </a:p>
                  </a:txBody>
                  <a:tcPr marL="10800" marR="10800" marT="10800" marB="10800" anchor="ctr">
                    <a:solidFill>
                      <a:srgbClr val="EFEFEF"/>
                    </a:solidFill>
                  </a:tcPr>
                </a:tc>
              </a:tr>
              <a:tr h="248400">
                <a:tc>
                  <a:txBody>
                    <a:bodyPr/>
                    <a:lstStyle/>
                    <a:p>
                      <a:pPr algn="l">
                        <a:defRPr sz="1000" b="1">
                          <a:solidFill>
                            <a:srgbClr val="006556"/>
                          </a:solidFill>
                          <a:latin typeface="Montserrat"/>
                        </a:defRPr>
                      </a:pPr>
                      <a: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t>147</a:t>
                      </a:r>
                    </a:p>
                  </a:txBody>
                  <a:tcPr marL="10800" marR="10800" marT="10800" marB="10800" anchor="ctr">
                    <a:solidFill>
                      <a:srgbClr val="D3E9E7"/>
                    </a:solidFill>
                  </a:tcPr>
                </a:tc>
                <a:tc>
                  <a:txBody>
                    <a:bodyPr/>
                    <a:lstStyle/>
                    <a:p>
                      <a:pPr algn="ctr">
                        <a:defRPr sz="1000" b="1">
                          <a:solidFill>
                            <a:srgbClr val="006556"/>
                          </a:solidFill>
                          <a:latin typeface="Montserrat"/>
                        </a:defRPr>
                      </a:pPr>
                      <a:r>
                        <a:t>181</a:t>
                      </a:r>
                    </a:p>
                  </a:txBody>
                  <a:tcPr marL="10800" marR="10800" marT="10800" marB="10800" anchor="ctr">
                    <a:solidFill>
                      <a:srgbClr val="D3E9E7"/>
                    </a:solidFill>
                  </a:tcPr>
                </a:tc>
                <a:tc>
                  <a:txBody>
                    <a:bodyPr/>
                    <a:lstStyle/>
                    <a:p>
                      <a:pPr algn="ctr">
                        <a:defRPr sz="1000" b="1">
                          <a:solidFill>
                            <a:srgbClr val="006556"/>
                          </a:solidFill>
                          <a:latin typeface="Montserrat"/>
                        </a:defRPr>
                      </a:pPr>
                      <a:r>
                        <a:t>221</a:t>
                      </a:r>
                    </a:p>
                  </a:txBody>
                  <a:tcPr marL="10800" marR="10800" marT="10800" marB="10800" anchor="ctr">
                    <a:solidFill>
                      <a:srgbClr val="D3E9E7"/>
                    </a:solidFill>
                  </a:tcPr>
                </a:tc>
              </a:tr>
            </a:tbl>
          </a:graphicData>
        </a:graphic>
      </p:graphicFrame>
      <p:graphicFrame>
        <p:nvGraphicFramePr>
          <p:cNvPr id="137" name="Table 136"/>
          <p:cNvGraphicFramePr>
            <a:graphicFrameLocks noGrp="1"/>
          </p:cNvGraphicFramePr>
          <p:nvPr/>
        </p:nvGraphicFramePr>
        <p:xfrm>
          <a:off x="5659200" y="1155600"/>
          <a:ext cx="2026800" cy="1173600"/>
        </p:xfrm>
        <a:graphic>
          <a:graphicData uri="http://schemas.openxmlformats.org/drawingml/2006/table">
            <a:tbl>
              <a:tblPr firstRow="1" bandRow="1">
                <a:tableStyleId>{5C22544A-7EE6-4342-B048-85BDC9FD1C3A}</a:tableStyleId>
              </a:tblPr>
              <a:tblGrid>
                <a:gridCol w="1013400"/>
                <a:gridCol w="1013400"/>
              </a:tblGrid>
              <a:tr h="293400">
                <a:tc>
                  <a:txBody>
                    <a:bodyPr/>
                    <a:lstStyle/>
                    <a:p>
                      <a:pPr algn="ctr">
                        <a:defRPr b="1" sz="1000">
                          <a:solidFill>
                            <a:srgbClr val="FFFFFF"/>
                          </a:solidFill>
                          <a:latin typeface="Montserrat"/>
                        </a:defRPr>
                      </a:pPr>
                      <a:r>
                        <a:t>2o Nivel</a:t>
                      </a:r>
                    </a:p>
                  </a:txBody>
                  <a:tcPr>
                    <a:solidFill>
                      <a:srgbClr val="006455"/>
                    </a:solidFill>
                  </a:tcPr>
                </a:tc>
                <a:tc>
                  <a:txBody>
                    <a:bodyPr/>
                    <a:lstStyle/>
                    <a:p>
                      <a:pPr algn="ctr">
                        <a:defRPr b="1" sz="1000">
                          <a:solidFill>
                            <a:srgbClr val="FFFFFF"/>
                          </a:solidFill>
                          <a:latin typeface="Montserrat"/>
                        </a:defRPr>
                      </a:pPr>
                      <a:r>
                        <a:t>Unidades</a:t>
                      </a:r>
                    </a:p>
                  </a:txBody>
                  <a:tcPr>
                    <a:solidFill>
                      <a:srgbClr val="006455"/>
                    </a:solidFill>
                  </a:tcPr>
                </a:tc>
              </a:tr>
              <a:tr h="293400">
                <a:tc>
                  <a:txBody>
                    <a:bodyPr/>
                    <a:lstStyle/>
                    <a:p>
                      <a:pPr algn="ctr">
                        <a:defRPr sz="1000">
                          <a:solidFill>
                            <a:srgbClr val="000000"/>
                          </a:solidFill>
                          <a:latin typeface="Montserrat"/>
                        </a:defRPr>
                      </a:pPr>
                      <a:r>
                        <a:t>HR</a:t>
                      </a:r>
                    </a:p>
                  </a:txBody>
                  <a:tcPr>
                    <a:solidFill>
                      <a:srgbClr val="EFEFEF"/>
                    </a:solidFill>
                  </a:tcPr>
                </a:tc>
                <a:tc>
                  <a:txBody>
                    <a:bodyPr/>
                    <a:lstStyle/>
                    <a:p>
                      <a:pPr algn="ctr">
                        <a:defRPr sz="1000">
                          <a:solidFill>
                            <a:srgbClr val="000000"/>
                          </a:solidFill>
                          <a:latin typeface="Montserrat"/>
                        </a:defRPr>
                      </a:pPr>
                      <a:r>
                        <a:t>6</a:t>
                      </a:r>
                    </a:p>
                  </a:txBody>
                  <a:tcPr>
                    <a:solidFill>
                      <a:srgbClr val="EFEFEF"/>
                    </a:solidFill>
                  </a:tcPr>
                </a:tc>
              </a:tr>
              <a:tr h="293400">
                <a:tc>
                  <a:txBody>
                    <a:bodyPr/>
                    <a:lstStyle/>
                    <a:p>
                      <a:pPr algn="ctr">
                        <a:defRPr sz="1000">
                          <a:solidFill>
                            <a:srgbClr val="000000"/>
                          </a:solidFill>
                          <a:latin typeface="Montserrat"/>
                        </a:defRPr>
                      </a:pPr>
                      <a:r>
                        <a:t>HGZ</a:t>
                      </a:r>
                    </a:p>
                  </a:txBody>
                  <a:tcPr>
                    <a:solidFill>
                      <a:srgbClr val="FFFFFF"/>
                    </a:solidFill>
                  </a:tcPr>
                </a:tc>
                <a:tc>
                  <a:txBody>
                    <a:bodyPr/>
                    <a:lstStyle/>
                    <a:p>
                      <a:pPr algn="ctr">
                        <a:defRPr sz="1000">
                          <a:solidFill>
                            <a:srgbClr val="000000"/>
                          </a:solidFill>
                          <a:latin typeface="Montserrat"/>
                        </a:defRPr>
                      </a:pPr>
                      <a:r>
                        <a:t>2</a:t>
                      </a:r>
                    </a:p>
                  </a:txBody>
                  <a:tcPr>
                    <a:solidFill>
                      <a:srgbClr val="FFFFFF"/>
                    </a:solidFill>
                  </a:tcPr>
                </a:tc>
              </a:tr>
              <a:tr h="293400">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8</a:t>
                      </a:r>
                    </a:p>
                  </a:txBody>
                  <a:tcPr>
                    <a:solidFill>
                      <a:srgbClr val="D3E9E7"/>
                    </a:solidFill>
                  </a:tcPr>
                </a:tc>
              </a:tr>
            </a:tbl>
          </a:graphicData>
        </a:graphic>
      </p:graphicFrame>
      <p:sp>
        <p:nvSpPr>
          <p:cNvPr id="138" name="TextBox 137"/>
          <p:cNvSpPr txBox="1"/>
          <p:nvPr/>
        </p:nvSpPr>
        <p:spPr>
          <a:xfrm>
            <a:off x="212400" y="8877600"/>
            <a:ext cx="7200000" cy="360000"/>
          </a:xfrm>
          <a:prstGeom prst="rect">
            <a:avLst/>
          </a:prstGeom>
          <a:noFill/>
        </p:spPr>
        <p:txBody>
          <a:bodyPr wrap="square" tIns="0" bIns="0" lIns="0" rIns="0">
            <a:spAutoFit/>
          </a:bodyPr>
          <a:lstStyle/>
          <a:p>
            <a:pPr algn="l">
              <a:defRPr sz="700">
                <a:solidFill>
                  <a:srgbClr val="000000"/>
                </a:solidFill>
                <a:latin typeface="Montserrat"/>
              </a:defRPr>
            </a:pPr>
            <a:r>
              <a:t>¹ Incluye 35 UMF y no incluye 1 Unidades Auxiliares de Medicina Familiar.</a:t>
            </a:r>
            <a:br/>
            <a:r>
              <a:t>² No incluye Unidades médicas móviles (UMM) ni Brigadas de salud (BS).</a:t>
            </a:r>
          </a:p>
        </p:txBody>
      </p:sp>
      <p:sp>
        <p:nvSpPr>
          <p:cNvPr id="139" name="TextBox 138"/>
          <p:cNvSpPr txBox="1"/>
          <p:nvPr/>
        </p:nvSpPr>
        <p:spPr>
          <a:xfrm>
            <a:off x="212400" y="9057600"/>
            <a:ext cx="1713600" cy="1224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de 2026</a:t>
            </a:r>
          </a:p>
        </p:txBody>
      </p:sp>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41"/>
        <p:cNvGrpSpPr/>
        <p:nvPr/>
      </p:nvGrpSpPr>
      <p:grpSpPr>
        <a:xfrm>
          <a:off x="0" y="0"/>
          <a:ext cx="0" cy="0"/>
          <a:chOff x="0" y="0"/>
          <a:chExt cx="0" cy="0"/>
        </a:xfrm>
      </p:grpSpPr>
      <p:graphicFrame>
        <p:nvGraphicFramePr>
          <p:cNvPr id="5" name="Google Shape;280;g3d0b4d3c5c9_2_20">
            <a:extLst>
              <a:ext uri="{FF2B5EF4-FFF2-40B4-BE49-F238E27FC236}">
                <a16:creationId xmlns:a16="http://schemas.microsoft.com/office/drawing/2014/main" id="{C016641E-9252-F0A7-91A5-859146099534}"/>
              </a:ext>
            </a:extLst>
          </p:cNvPr>
          <p:cNvGraphicFramePr/>
          <p:nvPr>
            <p:extLst>
              <p:ext uri="{D42A27DB-BD31-4B8C-83A1-F6EECF244321}">
                <p14:modId xmlns:p14="http://schemas.microsoft.com/office/powerpoint/2010/main" val="2910665919"/>
              </p:ext>
            </p:extLst>
          </p:nvPr>
        </p:nvGraphicFramePr>
        <p:xfrm>
          <a:off x="288000" y="1191600"/>
          <a:ext cx="7198700" cy="548640"/>
        </p:xfrm>
        <a:graphic>
          <a:graphicData uri="http://schemas.openxmlformats.org/drawingml/2006/table">
            <a:tbl>
              <a:tblPr>
                <a:noFill/>
              </a:tblPr>
              <a:tblGrid>
                <a:gridCol w="7198700">
                  <a:extLst>
                    <a:ext uri="{9D8B030D-6E8A-4147-A177-3AD203B41FA5}">
                      <a16:colId xmlns:a16="http://schemas.microsoft.com/office/drawing/2014/main" val="20000"/>
                    </a:ext>
                  </a:extLst>
                </a:gridCol>
              </a:tblGrid>
              <a:tr h="381000">
                <a:tc>
                  <a:txBody>
                    <a:bodyPr/>
                    <a:lstStyle/>
                    <a:p>
                      <a:pPr marL="0" lvl="0" indent="0" algn="l" rtl="0">
                        <a:lnSpc>
                          <a:spcPct val="100000"/>
                        </a:lnSpc>
                        <a:spcBef>
                          <a:spcPts val="0"/>
                        </a:spcBef>
                        <a:spcAft>
                          <a:spcPts val="0"/>
                        </a:spcAft>
                        <a:buClr>
                          <a:schemeClr val="dk1"/>
                        </a:buClr>
                        <a:buSzPts val="1100"/>
                        <a:buFont typeface="Arial"/>
                        <a:buNone/>
                      </a:pPr>
                      <a:r>
                        <a:rPr lang="es" sz="1800" b="1" dirty="0">
                          <a:solidFill>
                            <a:srgbClr val="A42145"/>
                          </a:solidFill>
                          <a:latin typeface="Montserrat"/>
                          <a:ea typeface="Montserrat"/>
                          <a:cs typeface="Montserrat"/>
                          <a:sym typeface="Montserrat"/>
                        </a:rPr>
                        <a:t>Primer hospital en la entidad:</a:t>
                      </a:r>
                      <a:endParaRPr sz="1800" b="1" dirty="0">
                        <a:solidFill>
                          <a:srgbClr val="A42145"/>
                        </a:solidFill>
                        <a:latin typeface="Montserrat"/>
                        <a:ea typeface="Montserrat"/>
                        <a:cs typeface="Montserrat"/>
                        <a:sym typeface="Montserrat"/>
                      </a:endParaRPr>
                    </a:p>
                    <a:p>
                      <a:pPr marL="0" lvl="0" indent="0" algn="l" rtl="0">
                        <a:lnSpc>
                          <a:spcPct val="100000"/>
                        </a:lnSpc>
                        <a:spcBef>
                          <a:spcPts val="0"/>
                        </a:spcBef>
                        <a:spcAft>
                          <a:spcPts val="0"/>
                        </a:spcAft>
                        <a:buClr>
                          <a:schemeClr val="dk1"/>
                        </a:buClr>
                        <a:buSzPts val="1100"/>
                        <a:buFont typeface="Arial"/>
                        <a:buNone/>
                      </a:pPr>
                      <a:r>
                        <a:rPr lang="es" sz="1800" b="1" dirty="0">
                          <a:solidFill>
                            <a:srgbClr val="BC955C"/>
                          </a:solidFill>
                          <a:latin typeface="Montserrat"/>
                          <a:ea typeface="Montserrat"/>
                          <a:cs typeface="Montserrat"/>
                          <a:sym typeface="Montserrat"/>
                        </a:rPr>
                        <a:t>Clínica Hospital, Ciudad de Zacatecas</a:t>
                      </a:r>
                      <a:endParaRPr sz="1800" b="1"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6" name="Google Shape;281;g3d0b4d3c5c9_2_20">
            <a:extLst>
              <a:ext uri="{FF2B5EF4-FFF2-40B4-BE49-F238E27FC236}">
                <a16:creationId xmlns:a16="http://schemas.microsoft.com/office/drawing/2014/main" id="{3F5A7FDF-9878-E275-11D4-E921F5F14008}"/>
              </a:ext>
            </a:extLst>
          </p:cNvPr>
          <p:cNvPicPr preferRelativeResize="0"/>
          <p:nvPr/>
        </p:nvPicPr>
        <p:blipFill>
          <a:blip r:embed="rId4">
            <a:alphaModFix/>
          </a:blip>
          <a:stretch>
            <a:fillRect/>
          </a:stretch>
        </p:blipFill>
        <p:spPr>
          <a:xfrm flipH="1">
            <a:off x="286850" y="2612027"/>
            <a:ext cx="2680925" cy="1474505"/>
          </a:xfrm>
          <a:prstGeom prst="rect">
            <a:avLst/>
          </a:prstGeom>
          <a:noFill/>
          <a:ln>
            <a:noFill/>
          </a:ln>
        </p:spPr>
      </p:pic>
      <p:sp>
        <p:nvSpPr>
          <p:cNvPr id="7" name="CuadroTexto 6">
            <a:extLst>
              <a:ext uri="{FF2B5EF4-FFF2-40B4-BE49-F238E27FC236}">
                <a16:creationId xmlns:a16="http://schemas.microsoft.com/office/drawing/2014/main" id="{7A122D17-67FA-B978-2456-09D75F9EFF71}"/>
              </a:ext>
            </a:extLst>
          </p:cNvPr>
          <p:cNvSpPr txBox="1"/>
          <p:nvPr/>
        </p:nvSpPr>
        <p:spPr>
          <a:xfrm>
            <a:off x="3260035" y="2061748"/>
            <a:ext cx="4356917" cy="2575064"/>
          </a:xfrm>
          <a:prstGeom prst="rect">
            <a:avLst/>
          </a:prstGeom>
          <a:noFill/>
        </p:spPr>
        <p:txBody>
          <a:bodyPr wrap="square">
            <a:spAutoFit/>
          </a:bodyPr>
          <a:lstStyle/>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IMSS comenzó a operar en la entidad en 1959. Inicialmente las consultas se otorgaban mediante consulta externa, enfocadas en medicina general y atención básica, a través de unidades médicas pequeñas.</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primer hospital del IMSS en Zacatecas fue la Clínica Hospital del IMSS en la ciudad de Zacatecas, antecesora del actual Hospital General de Zona (HGZ) No. 1, cuya entrada en operaciones ocurrió a inicios de la década de 1960. </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En su etapa inicial, la clínica‑hospital contó con capacidad instalada limitada, acorde al perfil de un hospital general básico de la época, y brindó consulta externa, hospitalización general, atención de urgencias, cirugía básica, medicina interna, gineco‑obstetricia y pediatría. </a:t>
            </a:r>
          </a:p>
        </p:txBody>
      </p:sp>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9" name="TextBox 8"/>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10" name="Connector 9"/>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11" name="Picture 10" descr="32_ZACATECAS.png"/>
          <p:cNvPicPr>
            <a:picLocks noChangeAspect="1"/>
          </p:cNvPicPr>
          <p:nvPr/>
        </p:nvPicPr>
        <p:blipFill>
          <a:blip r:embed="rId5"/>
          <a:stretch>
            <a:fillRect/>
          </a:stretch>
        </p:blipFill>
        <p:spPr>
          <a:xfrm>
            <a:off x="122400" y="5666400"/>
            <a:ext cx="7488000" cy="727200"/>
          </a:xfrm>
          <a:prstGeom prst="rect">
            <a:avLst/>
          </a:prstGeom>
        </p:spPr>
      </p:pic>
      <p:graphicFrame>
        <p:nvGraphicFramePr>
          <p:cNvPr id="12" name="Table 11"/>
          <p:cNvGraphicFramePr>
            <a:graphicFrameLocks noGrp="1"/>
          </p:cNvGraphicFramePr>
          <p:nvPr/>
        </p:nvGraphicFramePr>
        <p:xfrm>
          <a:off x="75600" y="6476399"/>
          <a:ext cx="7650000" cy="9216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HGZ 1 Zacatecas</a:t>
                      </a:r>
                    </a:p>
                  </a:txBody>
                  <a:tcPr anchor="ctr">
                    <a:solidFill>
                      <a:srgbClr val="FFFFFF"/>
                    </a:solidFill>
                  </a:tcPr>
                </a:tc>
                <a:tc>
                  <a:txBody>
                    <a:bodyPr/>
                    <a:lstStyle/>
                    <a:p>
                      <a:pPr algn="ctr">
                        <a:defRPr sz="900">
                          <a:latin typeface="Montserrat"/>
                        </a:defRPr>
                      </a:pPr>
                      <a:r>
                        <a:t>Abril de 1966</a:t>
                      </a:r>
                    </a:p>
                  </a:txBody>
                  <a:tcPr anchor="ctr">
                    <a:solidFill>
                      <a:srgbClr val="FFFFFF"/>
                    </a:solidFill>
                  </a:tcPr>
                </a:tc>
                <a:tc>
                  <a:txBody>
                    <a:bodyPr/>
                    <a:lstStyle/>
                    <a:p>
                      <a:pPr algn="ctr">
                        <a:defRPr sz="900">
                          <a:latin typeface="Montserrat"/>
                        </a:defRPr>
                      </a:pPr>
                      <a:r>
                        <a:t>179</a:t>
                      </a:r>
                    </a:p>
                  </a:txBody>
                  <a:tcPr anchor="ctr">
                    <a:solidFill>
                      <a:srgbClr val="FFFFFF"/>
                    </a:solidFill>
                  </a:tcPr>
                </a:tc>
                <a:tc>
                  <a:txBody>
                    <a:bodyPr/>
                    <a:lstStyle/>
                    <a:p>
                      <a:pPr algn="ctr">
                        <a:defRPr sz="900">
                          <a:latin typeface="Montserrat"/>
                        </a:defRPr>
                      </a:pPr>
                      <a:r>
                        <a:t>119</a:t>
                      </a:r>
                    </a:p>
                  </a:txBody>
                  <a:tcPr anchor="ctr">
                    <a:solidFill>
                      <a:srgbClr val="FFFFFF"/>
                    </a:solidFill>
                  </a:tcPr>
                </a:tc>
                <a:tc>
                  <a:txBody>
                    <a:bodyPr/>
                    <a:lstStyle/>
                    <a:p>
                      <a:pPr algn="ctr">
                        <a:defRPr sz="900">
                          <a:latin typeface="Montserrat"/>
                        </a:defRPr>
                      </a:pPr>
                      <a:r>
                        <a:t>17</a:t>
                      </a:r>
                    </a:p>
                  </a:txBody>
                  <a:tcPr anchor="ctr">
                    <a:solidFill>
                      <a:srgbClr val="FFFFFF"/>
                    </a:solidFill>
                  </a:tcPr>
                </a:tc>
                <a:tc>
                  <a:txBody>
                    <a:bodyPr/>
                    <a:lstStyle/>
                    <a:p>
                      <a:pPr algn="ctr">
                        <a:defRPr sz="900">
                          <a:latin typeface="Montserrat"/>
                        </a:defRPr>
                      </a:pPr>
                      <a:r>
                        <a:t>6</a:t>
                      </a:r>
                    </a:p>
                  </a:txBody>
                  <a:tcPr anchor="ctr">
                    <a:solidFill>
                      <a:srgbClr val="FFFFFF"/>
                    </a:solidFill>
                  </a:tcPr>
                </a:tc>
                <a:tc>
                  <a:txBody>
                    <a:bodyPr/>
                    <a:lstStyle/>
                    <a:p>
                      <a:pPr algn="ctr">
                        <a:defRPr sz="900">
                          <a:latin typeface="Montserrat"/>
                        </a:defRPr>
                      </a:pPr>
                      <a:r>
                        <a:t>42</a:t>
                      </a:r>
                    </a:p>
                  </a:txBody>
                  <a:tcPr anchor="ctr">
                    <a:solidFill>
                      <a:srgbClr val="FFFFFF"/>
                    </a:solidFill>
                  </a:tcPr>
                </a:tc>
              </a:tr>
              <a:tr h="230400">
                <a:tc>
                  <a:txBody>
                    <a:bodyPr/>
                    <a:lstStyle/>
                    <a:p>
                      <a:pPr algn="l">
                        <a:defRPr sz="900">
                          <a:latin typeface="Montserrat"/>
                        </a:defRPr>
                      </a:pPr>
                      <a:r>
                        <a:t>HGZ 2 Fresnillo</a:t>
                      </a:r>
                    </a:p>
                  </a:txBody>
                  <a:tcPr anchor="ctr">
                    <a:solidFill>
                      <a:srgbClr val="EFEFEF"/>
                    </a:solidFill>
                  </a:tcPr>
                </a:tc>
                <a:tc>
                  <a:txBody>
                    <a:bodyPr/>
                    <a:lstStyle/>
                    <a:p>
                      <a:pPr algn="ctr">
                        <a:defRPr sz="900">
                          <a:latin typeface="Montserrat"/>
                        </a:defRPr>
                      </a:pPr>
                      <a:r>
                        <a:t>Abril de 1976</a:t>
                      </a:r>
                    </a:p>
                  </a:txBody>
                  <a:tcPr anchor="ctr">
                    <a:solidFill>
                      <a:srgbClr val="EFEFEF"/>
                    </a:solidFill>
                  </a:tcPr>
                </a:tc>
                <a:tc>
                  <a:txBody>
                    <a:bodyPr/>
                    <a:lstStyle/>
                    <a:p>
                      <a:pPr algn="ctr">
                        <a:defRPr sz="900">
                          <a:latin typeface="Montserrat"/>
                        </a:defRPr>
                      </a:pPr>
                      <a:r>
                        <a:t>126</a:t>
                      </a:r>
                    </a:p>
                  </a:txBody>
                  <a:tcPr anchor="ctr">
                    <a:solidFill>
                      <a:srgbClr val="EFEFEF"/>
                    </a:solidFill>
                  </a:tcPr>
                </a:tc>
                <a:tc>
                  <a:txBody>
                    <a:bodyPr/>
                    <a:lstStyle/>
                    <a:p>
                      <a:pPr algn="ctr">
                        <a:defRPr sz="900">
                          <a:latin typeface="Montserrat"/>
                        </a:defRPr>
                      </a:pPr>
                      <a:r>
                        <a:t>57</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3</a:t>
                      </a:r>
                    </a:p>
                  </a:txBody>
                  <a:tcPr anchor="ctr">
                    <a:solidFill>
                      <a:srgbClr val="EFEFEF"/>
                    </a:solidFill>
                  </a:tcPr>
                </a:tc>
                <a:tc>
                  <a:txBody>
                    <a:bodyPr/>
                    <a:lstStyle/>
                    <a:p>
                      <a:pPr algn="ctr">
                        <a:defRPr sz="900">
                          <a:latin typeface="Montserrat"/>
                        </a:defRPr>
                      </a:pPr>
                      <a:r>
                        <a:t>18</a:t>
                      </a:r>
                    </a:p>
                  </a:txBody>
                  <a:tcPr anchor="ctr">
                    <a:solidFill>
                      <a:srgbClr val="EFEFE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305</a:t>
                      </a:r>
                    </a:p>
                  </a:txBody>
                  <a:tcPr anchor="ctr">
                    <a:solidFill>
                      <a:srgbClr val="D3E9E7"/>
                    </a:solidFill>
                  </a:tcPr>
                </a:tc>
                <a:tc>
                  <a:txBody>
                    <a:bodyPr/>
                    <a:lstStyle/>
                    <a:p>
                      <a:pPr algn="ctr">
                        <a:defRPr sz="900" b="1">
                          <a:solidFill>
                            <a:srgbClr val="006556"/>
                          </a:solidFill>
                          <a:latin typeface="Montserrat"/>
                        </a:defRPr>
                      </a:pPr>
                      <a:r>
                        <a:t>176</a:t>
                      </a:r>
                    </a:p>
                  </a:txBody>
                  <a:tcPr anchor="ctr">
                    <a:solidFill>
                      <a:srgbClr val="D3E9E7"/>
                    </a:solidFill>
                  </a:tcPr>
                </a:tc>
                <a:tc>
                  <a:txBody>
                    <a:bodyPr/>
                    <a:lstStyle/>
                    <a:p>
                      <a:pPr algn="ctr">
                        <a:defRPr sz="900" b="1">
                          <a:solidFill>
                            <a:srgbClr val="006556"/>
                          </a:solidFill>
                          <a:latin typeface="Montserrat"/>
                        </a:defRPr>
                      </a:pPr>
                      <a:r>
                        <a:t>17</a:t>
                      </a:r>
                    </a:p>
                  </a:txBody>
                  <a:tcPr anchor="ctr">
                    <a:solidFill>
                      <a:srgbClr val="D3E9E7"/>
                    </a:solidFill>
                  </a:tcPr>
                </a:tc>
                <a:tc>
                  <a:txBody>
                    <a:bodyPr/>
                    <a:lstStyle/>
                    <a:p>
                      <a:pPr algn="ctr">
                        <a:defRPr sz="900" b="1">
                          <a:solidFill>
                            <a:srgbClr val="006556"/>
                          </a:solidFill>
                          <a:latin typeface="Montserrat"/>
                        </a:defRPr>
                      </a:pPr>
                      <a:r>
                        <a:t>9</a:t>
                      </a:r>
                    </a:p>
                  </a:txBody>
                  <a:tcPr anchor="ctr">
                    <a:solidFill>
                      <a:srgbClr val="D3E9E7"/>
                    </a:solidFill>
                  </a:tcPr>
                </a:tc>
                <a:tc>
                  <a:txBody>
                    <a:bodyPr/>
                    <a:lstStyle/>
                    <a:p>
                      <a:pPr algn="ctr">
                        <a:defRPr sz="900" b="1">
                          <a:solidFill>
                            <a:srgbClr val="006556"/>
                          </a:solidFill>
                          <a:latin typeface="Montserrat"/>
                        </a:defRPr>
                      </a:pPr>
                      <a:r>
                        <a:t>60</a:t>
                      </a:r>
                    </a:p>
                  </a:txBody>
                  <a:tcPr anchor="ctr">
                    <a:solidFill>
                      <a:srgbClr val="D3E9E7"/>
                    </a:solidFill>
                  </a:tcPr>
                </a:tc>
              </a:tr>
            </a:tbl>
          </a:graphicData>
        </a:graphic>
      </p:graphicFrame>
      <p:sp>
        <p:nvSpPr>
          <p:cNvPr id="13" name="TextBox 12"/>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Corte de Información: marzo de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0"/>
        <p:cNvGrpSpPr/>
        <p:nvPr/>
      </p:nvGrpSpPr>
      <p:grpSpPr>
        <a:xfrm>
          <a:off x="0" y="0"/>
          <a:ext cx="0" cy="0"/>
          <a:chOff x="0" y="0"/>
          <a:chExt cx="0" cy="0"/>
        </a:xfrm>
      </p:grpSpPr>
      <p:graphicFrame>
        <p:nvGraphicFramePr>
          <p:cNvPr id="152" name="Google Shape;152;g370e475fb19_0_8"/>
          <p:cNvGraphicFramePr/>
          <p:nvPr/>
        </p:nvGraphicFramePr>
        <p:xfrm>
          <a:off x="149075" y="72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Equipo relevante</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2" name="Grupo 1">
            <a:extLst>
              <a:ext uri="{FF2B5EF4-FFF2-40B4-BE49-F238E27FC236}">
                <a16:creationId xmlns:a16="http://schemas.microsoft.com/office/drawing/2014/main" id="{2F165937-EA2B-66C5-8EEB-255D753E6799}"/>
              </a:ext>
            </a:extLst>
          </p:cNvPr>
          <p:cNvGrpSpPr/>
          <p:nvPr/>
        </p:nvGrpSpPr>
        <p:grpSpPr>
          <a:xfrm>
            <a:off x="0" y="4839085"/>
            <a:ext cx="7772400" cy="4020461"/>
            <a:chOff x="0" y="4839085"/>
            <a:chExt cx="7772400" cy="4020461"/>
          </a:xfrm>
        </p:grpSpPr>
        <p:pic>
          <p:nvPicPr>
            <p:cNvPr id="12" name="Google Shape;387;g3d635d120e2_1_75">
              <a:extLst>
                <a:ext uri="{FF2B5EF4-FFF2-40B4-BE49-F238E27FC236}">
                  <a16:creationId xmlns:a16="http://schemas.microsoft.com/office/drawing/2014/main" id="{BF61E68E-8796-C189-1D02-521225D43C03}"/>
                </a:ext>
              </a:extLst>
            </p:cNvPr>
            <p:cNvPicPr preferRelativeResize="0"/>
            <p:nvPr/>
          </p:nvPicPr>
          <p:blipFill rotWithShape="1">
            <a:blip r:embed="rId4">
              <a:alphaModFix/>
            </a:blip>
            <a:srcRect/>
            <a:stretch/>
          </p:blipFill>
          <p:spPr>
            <a:xfrm>
              <a:off x="845476" y="5574446"/>
              <a:ext cx="2651303" cy="2056648"/>
            </a:xfrm>
            <a:prstGeom prst="rect">
              <a:avLst/>
            </a:prstGeom>
            <a:noFill/>
            <a:ln>
              <a:noFill/>
            </a:ln>
          </p:spPr>
        </p:pic>
        <p:pic>
          <p:nvPicPr>
            <p:cNvPr id="13" name="Google Shape;388;g3d635d120e2_1_75">
              <a:extLst>
                <a:ext uri="{FF2B5EF4-FFF2-40B4-BE49-F238E27FC236}">
                  <a16:creationId xmlns:a16="http://schemas.microsoft.com/office/drawing/2014/main" id="{85E0939D-1D45-FA2B-C96C-E4049B8DC898}"/>
                </a:ext>
              </a:extLst>
            </p:cNvPr>
            <p:cNvPicPr preferRelativeResize="0"/>
            <p:nvPr/>
          </p:nvPicPr>
          <p:blipFill rotWithShape="1">
            <a:blip r:embed="rId5">
              <a:alphaModFix/>
            </a:blip>
            <a:srcRect/>
            <a:stretch/>
          </p:blipFill>
          <p:spPr>
            <a:xfrm>
              <a:off x="3810904" y="5653296"/>
              <a:ext cx="3099000" cy="1985044"/>
            </a:xfrm>
            <a:prstGeom prst="rect">
              <a:avLst/>
            </a:prstGeom>
            <a:noFill/>
            <a:ln>
              <a:noFill/>
            </a:ln>
          </p:spPr>
        </p:pic>
        <p:sp>
          <p:nvSpPr>
            <p:cNvPr id="14" name="Google Shape;389;g3d635d120e2_1_75">
              <a:extLst>
                <a:ext uri="{FF2B5EF4-FFF2-40B4-BE49-F238E27FC236}">
                  <a16:creationId xmlns:a16="http://schemas.microsoft.com/office/drawing/2014/main" id="{0E35FB57-78A5-3E68-6842-5AF8B0E961DF}"/>
                </a:ext>
              </a:extLst>
            </p:cNvPr>
            <p:cNvSpPr/>
            <p:nvPr/>
          </p:nvSpPr>
          <p:spPr>
            <a:xfrm>
              <a:off x="998904" y="7513796"/>
              <a:ext cx="540600" cy="489600"/>
            </a:xfrm>
            <a:prstGeom prst="rect">
              <a:avLst/>
            </a:prstGeom>
            <a:gradFill>
              <a:gsLst>
                <a:gs pos="0">
                  <a:srgbClr val="691932"/>
                </a:gs>
                <a:gs pos="100000">
                  <a:srgbClr val="A42145"/>
                </a:gs>
              </a:gsLst>
              <a:lin ang="8099331" scaled="0"/>
            </a:gradFill>
            <a:ln>
              <a:noFill/>
            </a:ln>
          </p:spPr>
          <p:txBody>
            <a:bodyPr spcFirstLastPara="1" wrap="square" lIns="115575" tIns="115575" rIns="115575" bIns="115575" anchor="ctr" anchorCtr="0">
              <a:noAutofit/>
            </a:bodyPr>
            <a:lstStyle/>
            <a:p>
              <a:pPr marL="0" marR="0" lvl="0" indent="0" algn="ctr" rtl="0">
                <a:lnSpc>
                  <a:spcPct val="100000"/>
                </a:lnSpc>
                <a:spcBef>
                  <a:spcPts val="0"/>
                </a:spcBef>
                <a:spcAft>
                  <a:spcPts val="0"/>
                </a:spcAft>
                <a:buClr>
                  <a:srgbClr val="000000"/>
                </a:buClr>
                <a:buSzPts val="1770"/>
                <a:buFont typeface="Arial"/>
                <a:buNone/>
              </a:pPr>
              <a:r>
                <a:rPr lang="es" sz="1770">
                  <a:solidFill>
                    <a:srgbClr val="FFFFFF"/>
                  </a:solidFill>
                  <a:latin typeface="Noto Sans Black"/>
                  <a:ea typeface="Noto Sans Black"/>
                  <a:cs typeface="Noto Sans Black"/>
                  <a:sym typeface="Noto Sans Black"/>
                </a:rPr>
                <a:t>2</a:t>
              </a:r>
              <a:endParaRPr sz="1770" b="0" i="0" u="none" strike="noStrike" cap="none">
                <a:solidFill>
                  <a:srgbClr val="FFFFFF"/>
                </a:solidFill>
                <a:latin typeface="Noto Sans Black"/>
                <a:ea typeface="Noto Sans Black"/>
                <a:cs typeface="Noto Sans Black"/>
                <a:sym typeface="Noto Sans Black"/>
              </a:endParaRPr>
            </a:p>
          </p:txBody>
        </p:sp>
        <p:sp>
          <p:nvSpPr>
            <p:cNvPr id="15" name="Google Shape;390;g3d635d120e2_1_75">
              <a:extLst>
                <a:ext uri="{FF2B5EF4-FFF2-40B4-BE49-F238E27FC236}">
                  <a16:creationId xmlns:a16="http://schemas.microsoft.com/office/drawing/2014/main" id="{77E7161E-54F6-44F5-3372-A8375329FBBC}"/>
                </a:ext>
              </a:extLst>
            </p:cNvPr>
            <p:cNvSpPr/>
            <p:nvPr/>
          </p:nvSpPr>
          <p:spPr>
            <a:xfrm>
              <a:off x="1539269" y="7517874"/>
              <a:ext cx="1917000" cy="481500"/>
            </a:xfrm>
            <a:prstGeom prst="rect">
              <a:avLst/>
            </a:prstGeom>
            <a:gradFill>
              <a:gsLst>
                <a:gs pos="0">
                  <a:srgbClr val="006455"/>
                </a:gs>
                <a:gs pos="100000">
                  <a:srgbClr val="1C342D"/>
                </a:gs>
              </a:gsLst>
              <a:lin ang="8099331" scaled="0"/>
            </a:gradFill>
            <a:ln>
              <a:noFill/>
            </a:ln>
          </p:spPr>
          <p:txBody>
            <a:bodyPr spcFirstLastPara="1" wrap="square" lIns="115575" tIns="115575" rIns="115575" bIns="115575" anchor="ctr" anchorCtr="0">
              <a:noAutofit/>
            </a:bodyPr>
            <a:lstStyle/>
            <a:p>
              <a:pPr marL="0" marR="0" lvl="0" indent="0" algn="ctr" rtl="0">
                <a:lnSpc>
                  <a:spcPct val="100000"/>
                </a:lnSpc>
                <a:spcBef>
                  <a:spcPts val="0"/>
                </a:spcBef>
                <a:spcAft>
                  <a:spcPts val="0"/>
                </a:spcAft>
                <a:buClr>
                  <a:srgbClr val="000000"/>
                </a:buClr>
                <a:buSzPts val="1643"/>
                <a:buFont typeface="Arial"/>
                <a:buNone/>
              </a:pPr>
              <a:r>
                <a:rPr lang="es" sz="1643" b="1" i="0" u="none" strike="noStrike" cap="none">
                  <a:solidFill>
                    <a:srgbClr val="FFFFFF"/>
                  </a:solidFill>
                  <a:latin typeface="Montserrat"/>
                  <a:ea typeface="Montserrat"/>
                  <a:cs typeface="Montserrat"/>
                  <a:sym typeface="Montserrat"/>
                </a:rPr>
                <a:t>Tomógrafos</a:t>
              </a:r>
              <a:endParaRPr sz="1390" b="0" i="0" u="none" strike="noStrike" cap="none">
                <a:solidFill>
                  <a:srgbClr val="FFFFFF"/>
                </a:solidFill>
                <a:latin typeface="Arial"/>
                <a:ea typeface="Arial"/>
                <a:cs typeface="Arial"/>
                <a:sym typeface="Arial"/>
              </a:endParaRPr>
            </a:p>
          </p:txBody>
        </p:sp>
        <p:grpSp>
          <p:nvGrpSpPr>
            <p:cNvPr id="16" name="Google Shape;392;g3d635d120e2_1_75">
              <a:extLst>
                <a:ext uri="{FF2B5EF4-FFF2-40B4-BE49-F238E27FC236}">
                  <a16:creationId xmlns:a16="http://schemas.microsoft.com/office/drawing/2014/main" id="{BADDDAEF-D4B6-0D52-7488-93CE5651C542}"/>
                </a:ext>
              </a:extLst>
            </p:cNvPr>
            <p:cNvGrpSpPr/>
            <p:nvPr/>
          </p:nvGrpSpPr>
          <p:grpSpPr>
            <a:xfrm>
              <a:off x="4017761" y="7491211"/>
              <a:ext cx="2828512" cy="464820"/>
              <a:chOff x="4538448" y="7426607"/>
              <a:chExt cx="2097525" cy="381000"/>
            </a:xfrm>
          </p:grpSpPr>
          <p:sp>
            <p:nvSpPr>
              <p:cNvPr id="17" name="Google Shape;393;g3d635d120e2_1_75">
                <a:extLst>
                  <a:ext uri="{FF2B5EF4-FFF2-40B4-BE49-F238E27FC236}">
                    <a16:creationId xmlns:a16="http://schemas.microsoft.com/office/drawing/2014/main" id="{FD4D91E5-D107-D3B7-E651-96BD25F07EEF}"/>
                  </a:ext>
                </a:extLst>
              </p:cNvPr>
              <p:cNvSpPr/>
              <p:nvPr/>
            </p:nvSpPr>
            <p:spPr>
              <a:xfrm>
                <a:off x="4538448" y="7426607"/>
                <a:ext cx="454200" cy="381000"/>
              </a:xfrm>
              <a:prstGeom prst="rect">
                <a:avLst/>
              </a:prstGeom>
              <a:gradFill>
                <a:gsLst>
                  <a:gs pos="0">
                    <a:srgbClr val="691932"/>
                  </a:gs>
                  <a:gs pos="100000">
                    <a:srgbClr val="A42145"/>
                  </a:gs>
                </a:gsLst>
                <a:lin ang="8099331" scaled="0"/>
              </a:gradFill>
              <a:ln>
                <a:noFill/>
              </a:ln>
            </p:spPr>
            <p:txBody>
              <a:bodyPr spcFirstLastPara="1" wrap="square" lIns="111550" tIns="111550" rIns="111550" bIns="111550" anchor="ctr" anchorCtr="0">
                <a:noAutofit/>
              </a:bodyPr>
              <a:lstStyle/>
              <a:p>
                <a:pPr marL="0" marR="0" lvl="0" indent="0" algn="ctr" rtl="0">
                  <a:lnSpc>
                    <a:spcPct val="100000"/>
                  </a:lnSpc>
                  <a:spcBef>
                    <a:spcPts val="0"/>
                  </a:spcBef>
                  <a:spcAft>
                    <a:spcPts val="0"/>
                  </a:spcAft>
                  <a:buClr>
                    <a:srgbClr val="000000"/>
                  </a:buClr>
                  <a:buSzPts val="1708"/>
                  <a:buFont typeface="Arial"/>
                  <a:buNone/>
                </a:pPr>
                <a:r>
                  <a:rPr lang="es" sz="1708">
                    <a:solidFill>
                      <a:srgbClr val="FFFFFF"/>
                    </a:solidFill>
                    <a:latin typeface="Noto Sans Black"/>
                    <a:ea typeface="Noto Sans Black"/>
                    <a:cs typeface="Noto Sans Black"/>
                    <a:sym typeface="Noto Sans Black"/>
                  </a:rPr>
                  <a:t>2</a:t>
                </a:r>
                <a:endParaRPr sz="1708" b="0" i="0" u="none" strike="noStrike" cap="none">
                  <a:solidFill>
                    <a:srgbClr val="FFFFFF"/>
                  </a:solidFill>
                  <a:latin typeface="Noto Sans Black"/>
                  <a:ea typeface="Noto Sans Black"/>
                  <a:cs typeface="Noto Sans Black"/>
                  <a:sym typeface="Noto Sans Black"/>
                </a:endParaRPr>
              </a:p>
            </p:txBody>
          </p:sp>
          <p:sp>
            <p:nvSpPr>
              <p:cNvPr id="18" name="Google Shape;394;g3d635d120e2_1_75">
                <a:extLst>
                  <a:ext uri="{FF2B5EF4-FFF2-40B4-BE49-F238E27FC236}">
                    <a16:creationId xmlns:a16="http://schemas.microsoft.com/office/drawing/2014/main" id="{493D5A78-68DF-8CDE-88B9-CC8136F8EBFB}"/>
                  </a:ext>
                </a:extLst>
              </p:cNvPr>
              <p:cNvSpPr/>
              <p:nvPr/>
            </p:nvSpPr>
            <p:spPr>
              <a:xfrm>
                <a:off x="5002173" y="7426607"/>
                <a:ext cx="1633800" cy="381000"/>
              </a:xfrm>
              <a:prstGeom prst="rect">
                <a:avLst/>
              </a:prstGeom>
              <a:gradFill>
                <a:gsLst>
                  <a:gs pos="0">
                    <a:srgbClr val="006455"/>
                  </a:gs>
                  <a:gs pos="100000">
                    <a:srgbClr val="1C342D"/>
                  </a:gs>
                </a:gsLst>
                <a:lin ang="8099331" scaled="0"/>
              </a:gradFill>
              <a:ln>
                <a:noFill/>
              </a:ln>
            </p:spPr>
            <p:txBody>
              <a:bodyPr spcFirstLastPara="1" wrap="square" lIns="111550" tIns="111550" rIns="111550" bIns="111550" anchor="ctr" anchorCtr="0">
                <a:noAutofit/>
              </a:bodyPr>
              <a:lstStyle/>
              <a:p>
                <a:pPr marL="0" marR="0" lvl="0" indent="0" algn="ctr" rtl="0">
                  <a:lnSpc>
                    <a:spcPct val="100000"/>
                  </a:lnSpc>
                  <a:spcBef>
                    <a:spcPts val="0"/>
                  </a:spcBef>
                  <a:spcAft>
                    <a:spcPts val="0"/>
                  </a:spcAft>
                  <a:buClr>
                    <a:srgbClr val="000000"/>
                  </a:buClr>
                  <a:buSzPts val="1586"/>
                  <a:buFont typeface="Arial"/>
                  <a:buNone/>
                </a:pPr>
                <a:r>
                  <a:rPr lang="es" sz="1586" b="1" i="0" u="none" strike="noStrike" cap="none">
                    <a:solidFill>
                      <a:srgbClr val="FFFFFF"/>
                    </a:solidFill>
                    <a:latin typeface="Montserrat"/>
                    <a:ea typeface="Montserrat"/>
                    <a:cs typeface="Montserrat"/>
                    <a:sym typeface="Montserrat"/>
                  </a:rPr>
                  <a:t>Mastógrafos</a:t>
                </a:r>
                <a:endParaRPr sz="1342" b="0" i="0" u="none" strike="noStrike" cap="none">
                  <a:solidFill>
                    <a:srgbClr val="FFFFFF"/>
                  </a:solidFill>
                  <a:latin typeface="Arial"/>
                  <a:ea typeface="Arial"/>
                  <a:cs typeface="Arial"/>
                  <a:sym typeface="Arial"/>
                </a:endParaRPr>
              </a:p>
            </p:txBody>
          </p:sp>
        </p:grpSp>
        <p:sp>
          <p:nvSpPr>
            <p:cNvPr id="19" name="Google Shape;395;g3d635d120e2_1_75">
              <a:extLst>
                <a:ext uri="{FF2B5EF4-FFF2-40B4-BE49-F238E27FC236}">
                  <a16:creationId xmlns:a16="http://schemas.microsoft.com/office/drawing/2014/main" id="{4645C453-D026-38B5-2031-0116FCE04D38}"/>
                </a:ext>
              </a:extLst>
            </p:cNvPr>
            <p:cNvSpPr txBox="1"/>
            <p:nvPr/>
          </p:nvSpPr>
          <p:spPr>
            <a:xfrm>
              <a:off x="0" y="4839085"/>
              <a:ext cx="7772400" cy="343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s" sz="1600" b="1" dirty="0">
                  <a:solidFill>
                    <a:srgbClr val="006858"/>
                  </a:solidFill>
                  <a:latin typeface="Montserrat"/>
                  <a:ea typeface="Montserrat"/>
                  <a:cs typeface="Montserrat"/>
                  <a:sym typeface="Montserrat"/>
                </a:rPr>
                <a:t>Fortalecimiento de equipo médico</a:t>
              </a:r>
              <a:endParaRPr sz="1600" b="1" dirty="0">
                <a:solidFill>
                  <a:srgbClr val="006858"/>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1600" b="1" i="0" u="none" strike="noStrike" cap="none" dirty="0">
                  <a:solidFill>
                    <a:srgbClr val="006858"/>
                  </a:solidFill>
                  <a:latin typeface="Montserrat"/>
                  <a:ea typeface="Montserrat"/>
                  <a:cs typeface="Montserrat"/>
                  <a:sym typeface="Montserrat"/>
                </a:rPr>
                <a:t>Compra 2025-2026 equipo mayor  (</a:t>
              </a:r>
              <a:r>
                <a:rPr lang="es" sz="1600" b="1" dirty="0">
                  <a:solidFill>
                    <a:srgbClr val="006858"/>
                  </a:solidFill>
                  <a:latin typeface="Montserrat"/>
                  <a:ea typeface="Montserrat"/>
                  <a:cs typeface="Montserrat"/>
                  <a:sym typeface="Montserrat"/>
                </a:rPr>
                <a:t>Instalación</a:t>
              </a:r>
              <a:r>
                <a:rPr lang="es" sz="1600" b="1" i="0" u="none" strike="noStrike" cap="none" dirty="0">
                  <a:solidFill>
                    <a:srgbClr val="006858"/>
                  </a:solidFill>
                  <a:latin typeface="Montserrat"/>
                  <a:ea typeface="Montserrat"/>
                  <a:cs typeface="Montserrat"/>
                  <a:sym typeface="Montserrat"/>
                </a:rPr>
                <a:t> abr</a:t>
              </a:r>
              <a:r>
                <a:rPr lang="es" sz="1600" b="1" dirty="0">
                  <a:solidFill>
                    <a:srgbClr val="006858"/>
                  </a:solidFill>
                  <a:latin typeface="Montserrat"/>
                  <a:ea typeface="Montserrat"/>
                  <a:cs typeface="Montserrat"/>
                  <a:sym typeface="Montserrat"/>
                </a:rPr>
                <a:t>il-</a:t>
              </a:r>
              <a:r>
                <a:rPr lang="es" sz="1600" b="1" i="0" u="none" strike="noStrike" cap="none" dirty="0">
                  <a:solidFill>
                    <a:srgbClr val="006858"/>
                  </a:solidFill>
                  <a:latin typeface="Montserrat"/>
                  <a:ea typeface="Montserrat"/>
                  <a:cs typeface="Montserrat"/>
                  <a:sym typeface="Montserrat"/>
                </a:rPr>
                <a:t>mayo)</a:t>
              </a:r>
              <a:endParaRPr sz="2300" b="1" i="0" u="none" strike="noStrike" cap="none" dirty="0">
                <a:solidFill>
                  <a:srgbClr val="006858"/>
                </a:solidFill>
                <a:latin typeface="Montserrat"/>
                <a:ea typeface="Montserrat"/>
                <a:cs typeface="Montserrat"/>
                <a:sym typeface="Montserrat"/>
              </a:endParaRPr>
            </a:p>
          </p:txBody>
        </p:sp>
        <p:sp>
          <p:nvSpPr>
            <p:cNvPr id="20" name="Google Shape;396;g3d635d120e2_1_75">
              <a:extLst>
                <a:ext uri="{FF2B5EF4-FFF2-40B4-BE49-F238E27FC236}">
                  <a16:creationId xmlns:a16="http://schemas.microsoft.com/office/drawing/2014/main" id="{7109BB45-4963-DEBC-0918-D52BB229464E}"/>
                </a:ext>
              </a:extLst>
            </p:cNvPr>
            <p:cNvSpPr txBox="1"/>
            <p:nvPr/>
          </p:nvSpPr>
          <p:spPr>
            <a:xfrm>
              <a:off x="4017761" y="8214784"/>
              <a:ext cx="3000000" cy="644762"/>
            </a:xfrm>
            <a:prstGeom prst="rect">
              <a:avLst/>
            </a:prstGeom>
            <a:noFill/>
            <a:ln>
              <a:noFill/>
            </a:ln>
          </p:spPr>
          <p:txBody>
            <a:bodyPr spcFirstLastPara="1" wrap="square" lIns="91425" tIns="91425" rIns="91425" bIns="91425" anchor="t" anchorCtr="0">
              <a:spAutoFit/>
            </a:bodyPr>
            <a:lstStyle/>
            <a:p>
              <a:pPr marL="0" marR="50800" lvl="0" indent="0" algn="ctr" rtl="0">
                <a:lnSpc>
                  <a:spcPct val="115000"/>
                </a:lnSpc>
                <a:spcBef>
                  <a:spcPts val="0"/>
                </a:spcBef>
                <a:spcAft>
                  <a:spcPts val="0"/>
                </a:spcAft>
                <a:buNone/>
              </a:pPr>
              <a:r>
                <a:rPr lang="es" sz="1300" dirty="0">
                  <a:solidFill>
                    <a:srgbClr val="434343"/>
                  </a:solidFill>
                  <a:latin typeface="Montserrat"/>
                  <a:ea typeface="Montserrat"/>
                  <a:cs typeface="Montserrat"/>
                  <a:sym typeface="Montserrat"/>
                </a:rPr>
                <a:t>HGZ 2 Fresnillo, HGZ 1 Zacatecas</a:t>
              </a:r>
            </a:p>
            <a:p>
              <a:pPr marL="0" marR="50800" lvl="0" indent="0" algn="ctr" rtl="0">
                <a:lnSpc>
                  <a:spcPct val="115000"/>
                </a:lnSpc>
                <a:spcBef>
                  <a:spcPts val="0"/>
                </a:spcBef>
                <a:spcAft>
                  <a:spcPts val="0"/>
                </a:spcAft>
                <a:buNone/>
              </a:pPr>
              <a:r>
                <a:rPr lang="es" sz="1300" b="1" dirty="0">
                  <a:solidFill>
                    <a:srgbClr val="434343"/>
                  </a:solidFill>
                  <a:latin typeface="Montserrat"/>
                  <a:ea typeface="Montserrat"/>
                  <a:cs typeface="Montserrat"/>
                  <a:sym typeface="Montserrat"/>
                </a:rPr>
                <a:t>$8.6 mdp</a:t>
              </a:r>
              <a:endParaRPr sz="1300" b="1" dirty="0">
                <a:solidFill>
                  <a:srgbClr val="434343"/>
                </a:solidFill>
                <a:latin typeface="Montserrat"/>
                <a:ea typeface="Montserrat"/>
                <a:cs typeface="Montserrat"/>
                <a:sym typeface="Montserrat"/>
              </a:endParaRPr>
            </a:p>
          </p:txBody>
        </p:sp>
        <p:sp>
          <p:nvSpPr>
            <p:cNvPr id="21" name="Google Shape;397;g3d635d120e2_1_75">
              <a:extLst>
                <a:ext uri="{FF2B5EF4-FFF2-40B4-BE49-F238E27FC236}">
                  <a16:creationId xmlns:a16="http://schemas.microsoft.com/office/drawing/2014/main" id="{059D5CCF-4CC7-33A0-29A0-8FD40FAE12EE}"/>
                </a:ext>
              </a:extLst>
            </p:cNvPr>
            <p:cNvSpPr txBox="1"/>
            <p:nvPr/>
          </p:nvSpPr>
          <p:spPr>
            <a:xfrm>
              <a:off x="811136" y="8213409"/>
              <a:ext cx="3000000" cy="644762"/>
            </a:xfrm>
            <a:prstGeom prst="rect">
              <a:avLst/>
            </a:prstGeom>
            <a:noFill/>
            <a:ln>
              <a:noFill/>
            </a:ln>
          </p:spPr>
          <p:txBody>
            <a:bodyPr spcFirstLastPara="1" wrap="square" lIns="91425" tIns="91425" rIns="91425" bIns="91425" anchor="t" anchorCtr="0">
              <a:spAutoFit/>
            </a:bodyPr>
            <a:lstStyle/>
            <a:p>
              <a:pPr marL="0" marR="50800" lvl="0" indent="0" algn="ctr" rtl="0">
                <a:lnSpc>
                  <a:spcPct val="115000"/>
                </a:lnSpc>
                <a:spcBef>
                  <a:spcPts val="0"/>
                </a:spcBef>
                <a:spcAft>
                  <a:spcPts val="0"/>
                </a:spcAft>
                <a:buNone/>
              </a:pPr>
              <a:r>
                <a:rPr lang="es" sz="1300" dirty="0">
                  <a:solidFill>
                    <a:srgbClr val="434343"/>
                  </a:solidFill>
                  <a:latin typeface="Montserrat"/>
                  <a:ea typeface="Montserrat"/>
                  <a:cs typeface="Montserrat"/>
                  <a:sym typeface="Montserrat"/>
                </a:rPr>
                <a:t>HGZ 2 Fresnillo, HGZ 1 Zacatecas</a:t>
              </a:r>
            </a:p>
            <a:p>
              <a:pPr marL="0" marR="50800" lvl="0" indent="0" algn="ctr" rtl="0">
                <a:lnSpc>
                  <a:spcPct val="115000"/>
                </a:lnSpc>
                <a:spcBef>
                  <a:spcPts val="0"/>
                </a:spcBef>
                <a:spcAft>
                  <a:spcPts val="0"/>
                </a:spcAft>
                <a:buNone/>
              </a:pPr>
              <a:r>
                <a:rPr lang="es" sz="1300" b="1" dirty="0">
                  <a:solidFill>
                    <a:srgbClr val="434343"/>
                  </a:solidFill>
                  <a:latin typeface="Montserrat"/>
                  <a:ea typeface="Montserrat"/>
                  <a:cs typeface="Montserrat"/>
                  <a:sym typeface="Montserrat"/>
                </a:rPr>
                <a:t>$59.3 mdp</a:t>
              </a:r>
              <a:endParaRPr sz="1300" b="1" dirty="0">
                <a:solidFill>
                  <a:srgbClr val="434343"/>
                </a:solidFill>
                <a:latin typeface="Montserrat"/>
                <a:ea typeface="Montserrat"/>
                <a:cs typeface="Montserrat"/>
                <a:sym typeface="Montserrat"/>
              </a:endParaRPr>
            </a:p>
          </p:txBody>
        </p:sp>
      </p:grpSp>
      <p:sp>
        <p:nvSpPr>
          <p:cNvPr id="153" name="TextBox 15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graphicFrame>
        <p:nvGraphicFramePr>
          <p:cNvPr id="154" name="Table 153"/>
          <p:cNvGraphicFramePr>
            <a:graphicFrameLocks noGrp="1"/>
          </p:cNvGraphicFramePr>
          <p:nvPr/>
        </p:nvGraphicFramePr>
        <p:xfrm>
          <a:off x="93600" y="1180800"/>
          <a:ext cx="7534799" cy="864000"/>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60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6000">
                <a:tc>
                  <a:txBody>
                    <a:bodyPr/>
                    <a:lstStyle/>
                    <a:p>
                      <a:pPr algn="l">
                        <a:defRPr sz="1000">
                          <a:latin typeface="Montserrat"/>
                        </a:defRPr>
                      </a:pPr>
                      <a:r>
                        <a:t>HGZ 2 Fresnillo</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18</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 1 Zacatecas</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2</a:t>
                      </a:r>
                    </a:p>
                  </a:txBody>
                  <a:tcPr>
                    <a:solidFill>
                      <a:srgbClr val="EFEFEF"/>
                    </a:solidFill>
                  </a:tcPr>
                </a:tc>
                <a:tc>
                  <a:txBody>
                    <a:bodyPr/>
                    <a:lstStyle/>
                    <a:p>
                      <a:pPr algn="ctr">
                        <a:defRPr sz="1000">
                          <a:latin typeface="Montserrat"/>
                        </a:defRPr>
                      </a:pPr>
                      <a:r>
                        <a:t>9</a:t>
                      </a:r>
                    </a:p>
                  </a:txBody>
                  <a:tcPr>
                    <a:solidFill>
                      <a:srgbClr val="E6D194"/>
                    </a:solidFill>
                  </a:tcPr>
                </a:tc>
                <a:tc>
                  <a:txBody>
                    <a:bodyPr/>
                    <a:lstStyle/>
                    <a:p>
                      <a:pPr algn="ctr">
                        <a:defRPr sz="1000">
                          <a:latin typeface="Montserrat"/>
                        </a:defRPr>
                      </a:pPr>
                      <a:r>
                        <a:t>1</a:t>
                      </a:r>
                    </a:p>
                  </a:txBody>
                  <a:tcPr>
                    <a:solidFill>
                      <a:srgbClr val="E6D194"/>
                    </a:solidFill>
                  </a:tcPr>
                </a:tc>
              </a:tr>
              <a:tr h="2160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27</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r>
            </a:tbl>
          </a:graphicData>
        </a:graphic>
      </p:graphicFrame>
      <p:sp>
        <p:nvSpPr>
          <p:cNvPr id="155" name="Rectangle 154"/>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No incluye equipo relevante no instalado.</a:t>
            </a:r>
            <a:br/>
            <a:r>
              <a:t>Fuente: Cédula de actualización de variables seleccionadas del IFU, enviadas por el OOAD.</a:t>
            </a:r>
            <a:br/>
            <a:r>
              <a:t>Corte de información: marzo de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8FB27329-326A-81A1-AB7A-32DE7C6EEAF8}"/>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AC3C5A3E-612D-5067-1D46-BCA5AE81D01D}"/>
              </a:ext>
            </a:extLst>
          </p:cNvPr>
          <p:cNvGraphicFramePr/>
          <p:nvPr>
            <p:extLst>
              <p:ext uri="{D42A27DB-BD31-4B8C-83A1-F6EECF244321}">
                <p14:modId xmlns:p14="http://schemas.microsoft.com/office/powerpoint/2010/main" val="247052577"/>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Resumen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 name="Google Shape;230;g370e87ffe7a_2_137">
            <a:extLst>
              <a:ext uri="{FF2B5EF4-FFF2-40B4-BE49-F238E27FC236}">
                <a16:creationId xmlns:a16="http://schemas.microsoft.com/office/drawing/2014/main" id="{52D85E12-2F55-73C2-40D0-C09B8EDC2A10}"/>
              </a:ext>
            </a:extLst>
          </p:cNvPr>
          <p:cNvGraphicFramePr/>
          <p:nvPr>
            <p:extLst>
              <p:ext uri="{D42A27DB-BD31-4B8C-83A1-F6EECF244321}">
                <p14:modId xmlns:p14="http://schemas.microsoft.com/office/powerpoint/2010/main" val="2058233477"/>
              </p:ext>
            </p:extLst>
          </p:nvPr>
        </p:nvGraphicFramePr>
        <p:xfrm>
          <a:off x="143502" y="4166360"/>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Resultados 2025</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pic>
        <p:nvPicPr>
          <p:cNvPr id="3" name="Imagen 2">
            <a:extLst>
              <a:ext uri="{FF2B5EF4-FFF2-40B4-BE49-F238E27FC236}">
                <a16:creationId xmlns:a16="http://schemas.microsoft.com/office/drawing/2014/main" id="{7CABC0D7-9FFD-109F-4280-B32D38B4E70C}"/>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910705" y="5114007"/>
            <a:ext cx="2975495" cy="3699793"/>
          </a:xfrm>
          <a:prstGeom prst="rect">
            <a:avLst/>
          </a:prstGeom>
        </p:spPr>
      </p:pic>
      <p:cxnSp>
        <p:nvCxnSpPr>
          <p:cNvPr id="4" name="Conector recto 3">
            <a:extLst>
              <a:ext uri="{FF2B5EF4-FFF2-40B4-BE49-F238E27FC236}">
                <a16:creationId xmlns:a16="http://schemas.microsoft.com/office/drawing/2014/main" id="{428089C5-233F-CF95-6723-572CDD5E4EA3}"/>
              </a:ext>
            </a:extLst>
          </p:cNvPr>
          <p:cNvCxnSpPr>
            <a:cxnSpLocks/>
          </p:cNvCxnSpPr>
          <p:nvPr/>
        </p:nvCxnSpPr>
        <p:spPr>
          <a:xfrm>
            <a:off x="5210629" y="5586778"/>
            <a:ext cx="1637335" cy="0"/>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 name="Conector recto 4">
            <a:extLst>
              <a:ext uri="{FF2B5EF4-FFF2-40B4-BE49-F238E27FC236}">
                <a16:creationId xmlns:a16="http://schemas.microsoft.com/office/drawing/2014/main" id="{C5C952E5-8641-497F-3335-B8DE4C7679FB}"/>
              </a:ext>
            </a:extLst>
          </p:cNvPr>
          <p:cNvCxnSpPr>
            <a:cxnSpLocks/>
          </p:cNvCxnSpPr>
          <p:nvPr/>
        </p:nvCxnSpPr>
        <p:spPr>
          <a:xfrm>
            <a:off x="5210629" y="7248664"/>
            <a:ext cx="1637335" cy="0"/>
          </a:xfrm>
          <a:prstGeom prst="line">
            <a:avLst/>
          </a:prstGeom>
          <a:ln/>
        </p:spPr>
        <p:style>
          <a:lnRef idx="3">
            <a:schemeClr val="accent3"/>
          </a:lnRef>
          <a:fillRef idx="0">
            <a:schemeClr val="accent3"/>
          </a:fillRef>
          <a:effectRef idx="2">
            <a:schemeClr val="accent3"/>
          </a:effectRef>
          <a:fontRef idx="minor">
            <a:schemeClr val="tx1"/>
          </a:fontRef>
        </p:style>
      </p:cxnSp>
      <p:sp>
        <p:nvSpPr>
          <p:cNvPr id="6" name="CuadroTexto 5">
            <a:extLst>
              <a:ext uri="{FF2B5EF4-FFF2-40B4-BE49-F238E27FC236}">
                <a16:creationId xmlns:a16="http://schemas.microsoft.com/office/drawing/2014/main" id="{A5C7801B-D5D6-9087-F305-1384EB865FC7}"/>
              </a:ext>
            </a:extLst>
          </p:cNvPr>
          <p:cNvSpPr txBox="1"/>
          <p:nvPr/>
        </p:nvSpPr>
        <p:spPr>
          <a:xfrm>
            <a:off x="5064096" y="5124571"/>
            <a:ext cx="1930400" cy="415498"/>
          </a:xfrm>
          <a:prstGeom prst="rect">
            <a:avLst/>
          </a:prstGeom>
          <a:noFill/>
        </p:spPr>
        <p:txBody>
          <a:bodyPr wrap="square" rtlCol="0">
            <a:spAutoFit/>
          </a:bodyPr>
          <a:lstStyle/>
          <a:p>
            <a:pPr algn="ctr"/>
            <a:r>
              <a:rPr lang="es-ES" sz="2100" b="1" dirty="0">
                <a:solidFill>
                  <a:schemeClr val="tx1">
                    <a:lumMod val="75000"/>
                    <a:lumOff val="25000"/>
                  </a:schemeClr>
                </a:solidFill>
              </a:rPr>
              <a:t>Cirugías</a:t>
            </a:r>
            <a:endParaRPr lang="es-MX" sz="2100" b="1" dirty="0">
              <a:solidFill>
                <a:schemeClr val="tx1">
                  <a:lumMod val="75000"/>
                  <a:lumOff val="25000"/>
                </a:schemeClr>
              </a:solidFill>
            </a:endParaRPr>
          </a:p>
        </p:txBody>
      </p:sp>
      <p:sp>
        <p:nvSpPr>
          <p:cNvPr id="7" name="CuadroTexto 6">
            <a:extLst>
              <a:ext uri="{FF2B5EF4-FFF2-40B4-BE49-F238E27FC236}">
                <a16:creationId xmlns:a16="http://schemas.microsoft.com/office/drawing/2014/main" id="{21BC1AC6-1D65-1362-00D6-53E06C1A4FD1}"/>
              </a:ext>
            </a:extLst>
          </p:cNvPr>
          <p:cNvSpPr txBox="1"/>
          <p:nvPr/>
        </p:nvSpPr>
        <p:spPr>
          <a:xfrm>
            <a:off x="5064096" y="6510000"/>
            <a:ext cx="1930400"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Especialidad</a:t>
            </a:r>
            <a:endParaRPr lang="es-MX" sz="2100" b="1" dirty="0">
              <a:solidFill>
                <a:schemeClr val="tx1">
                  <a:lumMod val="75000"/>
                  <a:lumOff val="25000"/>
                </a:schemeClr>
              </a:solidFill>
            </a:endParaRPr>
          </a:p>
        </p:txBody>
      </p:sp>
      <p:sp>
        <p:nvSpPr>
          <p:cNvPr id="8" name="CuadroTexto 7">
            <a:extLst>
              <a:ext uri="{FF2B5EF4-FFF2-40B4-BE49-F238E27FC236}">
                <a16:creationId xmlns:a16="http://schemas.microsoft.com/office/drawing/2014/main" id="{C305389A-E248-5D36-3CF1-0E0A39DEF751}"/>
              </a:ext>
            </a:extLst>
          </p:cNvPr>
          <p:cNvSpPr txBox="1"/>
          <p:nvPr/>
        </p:nvSpPr>
        <p:spPr>
          <a:xfrm>
            <a:off x="4701239" y="8131971"/>
            <a:ext cx="2656114"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Medicina Familiar</a:t>
            </a:r>
            <a:endParaRPr lang="es-MX" sz="2100" b="1" dirty="0">
              <a:solidFill>
                <a:schemeClr val="tx1">
                  <a:lumMod val="75000"/>
                  <a:lumOff val="25000"/>
                </a:schemeClr>
              </a:solidFill>
            </a:endParaRPr>
          </a:p>
        </p:txBody>
      </p:sp>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232" name="TextBox 231"/>
          <p:cNvSpPr txBox="1"/>
          <p:nvPr/>
        </p:nvSpPr>
        <p:spPr>
          <a:xfrm>
            <a:off x="176400" y="8982000"/>
            <a:ext cx="2977200" cy="3996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21, 17 mayo 2026</a:t>
            </a:r>
            <a:br/>
            <a:r>
              <a:t>¹Las consultas de medicina familiar incluyen los hospitales con UMF.</a:t>
            </a:r>
          </a:p>
        </p:txBody>
      </p:sp>
      <p:sp>
        <p:nvSpPr>
          <p:cNvPr id="233" name="TextBox 232"/>
          <p:cNvSpPr txBox="1"/>
          <p:nvPr/>
        </p:nvSpPr>
        <p:spPr>
          <a:xfrm>
            <a:off x="5270400" y="4662000"/>
            <a:ext cx="1515600" cy="540000"/>
          </a:xfrm>
          <a:prstGeom prst="rect">
            <a:avLst/>
          </a:prstGeom>
          <a:noFill/>
        </p:spPr>
        <p:txBody>
          <a:bodyPr wrap="none">
            <a:spAutoFit/>
          </a:bodyPr>
          <a:lstStyle/>
          <a:p>
            <a:pPr algn="ctr">
              <a:defRPr sz="2500" b="1">
                <a:solidFill>
                  <a:srgbClr val="9F2241"/>
                </a:solidFill>
                <a:latin typeface="Montserrat"/>
              </a:defRPr>
            </a:pPr>
            <a:r>
              <a:t>+337</a:t>
            </a:r>
          </a:p>
        </p:txBody>
      </p:sp>
      <p:sp>
        <p:nvSpPr>
          <p:cNvPr id="234" name="TextBox 233"/>
          <p:cNvSpPr txBox="1"/>
          <p:nvPr/>
        </p:nvSpPr>
        <p:spPr>
          <a:xfrm>
            <a:off x="5270400" y="7513200"/>
            <a:ext cx="1515600" cy="540000"/>
          </a:xfrm>
          <a:prstGeom prst="rect">
            <a:avLst/>
          </a:prstGeom>
          <a:noFill/>
        </p:spPr>
        <p:txBody>
          <a:bodyPr wrap="none">
            <a:spAutoFit/>
          </a:bodyPr>
          <a:lstStyle/>
          <a:p>
            <a:pPr algn="ctr">
              <a:defRPr sz="2500" b="1">
                <a:solidFill>
                  <a:srgbClr val="9F2241"/>
                </a:solidFill>
                <a:latin typeface="Montserrat"/>
              </a:defRPr>
            </a:pPr>
            <a:r>
              <a:t>+183,729</a:t>
            </a:r>
          </a:p>
        </p:txBody>
      </p:sp>
      <p:sp>
        <p:nvSpPr>
          <p:cNvPr id="235" name="TextBox 234"/>
          <p:cNvSpPr txBox="1"/>
          <p:nvPr/>
        </p:nvSpPr>
        <p:spPr>
          <a:xfrm>
            <a:off x="5270400" y="5911200"/>
            <a:ext cx="1515600" cy="540000"/>
          </a:xfrm>
          <a:prstGeom prst="rect">
            <a:avLst/>
          </a:prstGeom>
          <a:noFill/>
        </p:spPr>
        <p:txBody>
          <a:bodyPr wrap="none">
            <a:spAutoFit/>
          </a:bodyPr>
          <a:lstStyle/>
          <a:p>
            <a:pPr algn="ctr">
              <a:defRPr sz="2500" b="1">
                <a:solidFill>
                  <a:srgbClr val="9F2241"/>
                </a:solidFill>
                <a:latin typeface="Montserrat"/>
              </a:defRPr>
            </a:pPr>
            <a:r>
              <a:t>+31,654</a:t>
            </a:r>
          </a:p>
        </p:txBody>
      </p:sp>
      <p:graphicFrame>
        <p:nvGraphicFramePr>
          <p:cNvPr id="236" name="Table 235"/>
          <p:cNvGraphicFramePr>
            <a:graphicFrameLocks noGrp="1"/>
          </p:cNvGraphicFramePr>
          <p:nvPr/>
        </p:nvGraphicFramePr>
        <p:xfrm>
          <a:off x="144000" y="1620000"/>
          <a:ext cx="7469999" cy="1584000"/>
        </p:xfrm>
        <a:graphic>
          <a:graphicData uri="http://schemas.openxmlformats.org/drawingml/2006/table">
            <a:tbl>
              <a:tblPr firstRow="1" bandRow="1">
                <a:tableStyleId>{5C22544A-7EE6-4342-B048-85BDC9FD1C3A}</a:tableStyleId>
              </a:tblPr>
              <a:tblGrid>
                <a:gridCol w="2134800"/>
                <a:gridCol w="1007999"/>
                <a:gridCol w="1188000"/>
                <a:gridCol w="1098000"/>
                <a:gridCol w="1098000"/>
                <a:gridCol w="943200"/>
              </a:tblGrid>
              <a:tr h="396000">
                <a:tc>
                  <a:txBody>
                    <a:bodyPr/>
                    <a:lstStyle/>
                    <a:p>
                      <a:pPr algn="ctr">
                        <a:defRPr b="1" sz="1200">
                          <a:solidFill>
                            <a:srgbClr val="FFFFFF"/>
                          </a:solidFill>
                          <a:latin typeface="Montserrat"/>
                        </a:defRPr>
                      </a:pPr>
                      <a:r>
                        <a:t>Indicador</a:t>
                      </a:r>
                    </a:p>
                  </a:txBody>
                  <a:tcPr anchor="ctr">
                    <a:solidFill>
                      <a:srgbClr val="006455"/>
                    </a:solidFill>
                  </a:tcPr>
                </a:tc>
                <a:tc>
                  <a:txBody>
                    <a:bodyPr/>
                    <a:lstStyle/>
                    <a:p>
                      <a:pPr algn="ctr">
                        <a:defRPr b="1" sz="1200">
                          <a:solidFill>
                            <a:srgbClr val="FFFFFF"/>
                          </a:solidFill>
                          <a:latin typeface="Montserrat"/>
                        </a:defRPr>
                      </a:pPr>
                      <a:r>
                        <a:t>2025</a:t>
                      </a:r>
                    </a:p>
                  </a:txBody>
                  <a:tcPr anchor="ctr">
                    <a:solidFill>
                      <a:srgbClr val="006455"/>
                    </a:solidFill>
                  </a:tcPr>
                </a:tc>
                <a:tc>
                  <a:txBody>
                    <a:bodyPr/>
                    <a:lstStyle/>
                    <a:p>
                      <a:pPr algn="ctr">
                        <a:defRPr b="1" sz="1200">
                          <a:solidFill>
                            <a:srgbClr val="FFFFFF"/>
                          </a:solidFill>
                          <a:latin typeface="Montserrat"/>
                        </a:defRPr>
                      </a:pPr>
                      <a:r>
                        <a:t>Incremento 2024 vs 2025</a:t>
                      </a:r>
                    </a:p>
                  </a:txBody>
                  <a:tcPr anchor="ctr">
                    <a:solidFill>
                      <a:srgbClr val="006455"/>
                    </a:solidFill>
                  </a:tcPr>
                </a:tc>
                <a:tc>
                  <a:txBody>
                    <a:bodyPr/>
                    <a:lstStyle/>
                    <a:p>
                      <a:pPr algn="ctr">
                        <a:defRPr b="1" sz="1200">
                          <a:solidFill>
                            <a:srgbClr val="FFFFFF"/>
                          </a:solidFill>
                          <a:latin typeface="Montserrat"/>
                        </a:defRPr>
                      </a:pPr>
                      <a:r>
                        <a:t>Avance 2026</a:t>
                      </a:r>
                    </a:p>
                  </a:txBody>
                  <a:tcPr anchor="ctr">
                    <a:solidFill>
                      <a:srgbClr val="980000"/>
                    </a:solidFill>
                  </a:tcPr>
                </a:tc>
                <a:tc>
                  <a:txBody>
                    <a:bodyPr/>
                    <a:lstStyle/>
                    <a:p>
                      <a:pPr algn="ctr">
                        <a:defRPr b="1" sz="1200">
                          <a:solidFill>
                            <a:srgbClr val="FFFFFF"/>
                          </a:solidFill>
                          <a:latin typeface="Montserrat"/>
                        </a:defRPr>
                      </a:pPr>
                      <a:r>
                        <a:t>Meta 2026</a:t>
                      </a:r>
                    </a:p>
                  </a:txBody>
                  <a:tcPr anchor="ctr">
                    <a:solidFill>
                      <a:srgbClr val="980000"/>
                    </a:solidFill>
                  </a:tcPr>
                </a:tc>
                <a:tc>
                  <a:txBody>
                    <a:bodyPr/>
                    <a:lstStyle/>
                    <a:p>
                      <a:pPr algn="ctr">
                        <a:defRPr b="1" sz="1200">
                          <a:solidFill>
                            <a:srgbClr val="FFFFFF"/>
                          </a:solidFill>
                          <a:latin typeface="Montserrat"/>
                        </a:defRPr>
                      </a:pPr>
                      <a:r>
                        <a:t>% avance anual</a:t>
                      </a:r>
                    </a:p>
                  </a:txBody>
                  <a:tcPr anchor="ctr">
                    <a:solidFill>
                      <a:srgbClr val="980000"/>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Medicina Familiar¹</a:t>
                      </a:r>
                    </a:p>
                  </a:txBody>
                  <a:tcPr marL="0" marR="0" marT="0" marB="0" anchor="ctr">
                    <a:solidFill>
                      <a:srgbClr val="006455"/>
                    </a:solidFill>
                  </a:tcPr>
                </a:tc>
                <a:tc>
                  <a:txBody>
                    <a:bodyPr/>
                    <a:lstStyle/>
                    <a:p>
                      <a:pPr algn="ctr">
                        <a:defRPr sz="1000">
                          <a:solidFill>
                            <a:srgbClr val="404040"/>
                          </a:solidFill>
                          <a:latin typeface="Montserrat"/>
                        </a:defRPr>
                      </a:pPr>
                      <a:r>
                        <a:t>1,233,742</a:t>
                      </a:r>
                    </a:p>
                  </a:txBody>
                  <a:tcPr marL="0" marR="0" marT="0" marB="0" anchor="ctr">
                    <a:solidFill>
                      <a:srgbClr val="FFFFFF"/>
                    </a:solidFill>
                  </a:tcPr>
                </a:tc>
                <a:tc>
                  <a:txBody>
                    <a:bodyPr/>
                    <a:lstStyle/>
                    <a:p>
                      <a:pPr algn="ctr">
                        <a:defRPr sz="1000">
                          <a:solidFill>
                            <a:srgbClr val="404040"/>
                          </a:solidFill>
                          <a:latin typeface="Montserrat"/>
                        </a:defRPr>
                      </a:pPr>
                      <a:r>
                        <a:t>183,729</a:t>
                      </a:r>
                    </a:p>
                  </a:txBody>
                  <a:tcPr marL="0" marR="0" marT="0" marB="0" anchor="ctr">
                    <a:solidFill>
                      <a:srgbClr val="FFFFFF"/>
                    </a:solidFill>
                  </a:tcPr>
                </a:tc>
                <a:tc>
                  <a:txBody>
                    <a:bodyPr/>
                    <a:lstStyle/>
                    <a:p>
                      <a:pPr algn="ctr">
                        <a:defRPr sz="1000" b="1">
                          <a:solidFill>
                            <a:srgbClr val="980000"/>
                          </a:solidFill>
                          <a:latin typeface="Montserrat"/>
                        </a:defRPr>
                      </a:pPr>
                      <a:r>
                        <a:t>497,426</a:t>
                      </a:r>
                    </a:p>
                  </a:txBody>
                  <a:tcPr marL="0" marR="0" marT="0" marB="0" anchor="ctr">
                    <a:solidFill>
                      <a:srgbClr val="ECD3D9"/>
                    </a:solidFill>
                  </a:tcPr>
                </a:tc>
                <a:tc>
                  <a:txBody>
                    <a:bodyPr/>
                    <a:lstStyle/>
                    <a:p>
                      <a:pPr algn="ctr">
                        <a:defRPr sz="1000" b="1">
                          <a:solidFill>
                            <a:srgbClr val="980000"/>
                          </a:solidFill>
                          <a:latin typeface="Montserrat"/>
                        </a:defRPr>
                      </a:pPr>
                      <a:r>
                        <a:t>1,282,620</a:t>
                      </a:r>
                    </a:p>
                  </a:txBody>
                  <a:tcPr marL="0" marR="0" marT="0" marB="0" anchor="ctr">
                    <a:solidFill>
                      <a:srgbClr val="ECD3D9"/>
                    </a:solidFill>
                  </a:tcPr>
                </a:tc>
                <a:tc>
                  <a:txBody>
                    <a:bodyPr/>
                    <a:lstStyle/>
                    <a:p>
                      <a:pPr algn="ctr">
                        <a:defRPr sz="1000" b="1">
                          <a:solidFill>
                            <a:srgbClr val="980000"/>
                          </a:solidFill>
                          <a:latin typeface="Montserrat"/>
                        </a:defRPr>
                      </a:pPr>
                      <a:r>
                        <a:t>38.8%</a:t>
                      </a:r>
                    </a:p>
                  </a:txBody>
                  <a:tcPr marL="0" marR="0" marT="0" marB="0" anchor="ctr">
                    <a:solidFill>
                      <a:srgbClr val="ECD3D9"/>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Especialidad</a:t>
                      </a:r>
                    </a:p>
                  </a:txBody>
                  <a:tcPr marL="0" marR="0" marT="0" marB="0" anchor="ctr">
                    <a:solidFill>
                      <a:srgbClr val="006455"/>
                    </a:solidFill>
                  </a:tcPr>
                </a:tc>
                <a:tc>
                  <a:txBody>
                    <a:bodyPr/>
                    <a:lstStyle/>
                    <a:p>
                      <a:pPr algn="ctr">
                        <a:defRPr sz="1000">
                          <a:solidFill>
                            <a:srgbClr val="404040"/>
                          </a:solidFill>
                          <a:latin typeface="Montserrat"/>
                        </a:defRPr>
                      </a:pPr>
                      <a:r>
                        <a:t>256,073</a:t>
                      </a:r>
                    </a:p>
                  </a:txBody>
                  <a:tcPr marL="0" marR="0" marT="0" marB="0" anchor="ctr">
                    <a:solidFill>
                      <a:srgbClr val="EFEFEF"/>
                    </a:solidFill>
                  </a:tcPr>
                </a:tc>
                <a:tc>
                  <a:txBody>
                    <a:bodyPr/>
                    <a:lstStyle/>
                    <a:p>
                      <a:pPr algn="ctr">
                        <a:defRPr sz="1000">
                          <a:solidFill>
                            <a:srgbClr val="404040"/>
                          </a:solidFill>
                          <a:latin typeface="Montserrat"/>
                        </a:defRPr>
                      </a:pPr>
                      <a:r>
                        <a:t>31,654</a:t>
                      </a:r>
                    </a:p>
                  </a:txBody>
                  <a:tcPr marL="0" marR="0" marT="0" marB="0" anchor="ctr">
                    <a:solidFill>
                      <a:srgbClr val="EFEFEF"/>
                    </a:solidFill>
                  </a:tcPr>
                </a:tc>
                <a:tc>
                  <a:txBody>
                    <a:bodyPr/>
                    <a:lstStyle/>
                    <a:p>
                      <a:pPr algn="ctr">
                        <a:defRPr sz="1000" b="1">
                          <a:solidFill>
                            <a:srgbClr val="980000"/>
                          </a:solidFill>
                          <a:latin typeface="Montserrat"/>
                        </a:defRPr>
                      </a:pPr>
                      <a:r>
                        <a:t>108,005</a:t>
                      </a:r>
                    </a:p>
                  </a:txBody>
                  <a:tcPr marL="0" marR="0" marT="0" marB="0" anchor="ctr">
                    <a:solidFill>
                      <a:srgbClr val="F4E3E7"/>
                    </a:solidFill>
                  </a:tcPr>
                </a:tc>
                <a:tc>
                  <a:txBody>
                    <a:bodyPr/>
                    <a:lstStyle/>
                    <a:p>
                      <a:pPr algn="ctr">
                        <a:defRPr sz="1000" b="1">
                          <a:solidFill>
                            <a:srgbClr val="980000"/>
                          </a:solidFill>
                          <a:latin typeface="Montserrat"/>
                        </a:defRPr>
                      </a:pPr>
                      <a:r>
                        <a:t>283,605</a:t>
                      </a:r>
                    </a:p>
                  </a:txBody>
                  <a:tcPr marL="0" marR="0" marT="0" marB="0" anchor="ctr">
                    <a:solidFill>
                      <a:srgbClr val="F4E3E7"/>
                    </a:solidFill>
                  </a:tcPr>
                </a:tc>
                <a:tc>
                  <a:txBody>
                    <a:bodyPr/>
                    <a:lstStyle/>
                    <a:p>
                      <a:pPr algn="ctr">
                        <a:defRPr sz="1000" b="1">
                          <a:solidFill>
                            <a:srgbClr val="980000"/>
                          </a:solidFill>
                          <a:latin typeface="Montserrat"/>
                        </a:defRPr>
                      </a:pPr>
                      <a:r>
                        <a:t>38.1%</a:t>
                      </a:r>
                    </a:p>
                  </a:txBody>
                  <a:tcPr marL="0" marR="0" marT="0" marB="0" anchor="ctr">
                    <a:solidFill>
                      <a:srgbClr val="F4E3E7"/>
                    </a:solidFill>
                  </a:tcPr>
                </a:tc>
              </a:tr>
              <a:tr h="396000">
                <a:tc>
                  <a:txBody>
                    <a:bodyPr/>
                    <a:lstStyle/>
                    <a:p>
                      <a:pPr algn="l">
                        <a:defRPr sz="1000" b="1">
                          <a:solidFill>
                            <a:srgbClr val="FFFFFF"/>
                          </a:solidFill>
                          <a:latin typeface="Montserrat"/>
                        </a:defRPr>
                      </a:pPr>
                      <a:r>
                        <a:t>Cirugías</a:t>
                      </a:r>
                    </a:p>
                  </a:txBody>
                  <a:tcPr marL="0" marR="0" marT="0" marB="0" anchor="ctr">
                    <a:solidFill>
                      <a:srgbClr val="006455"/>
                    </a:solidFill>
                  </a:tcPr>
                </a:tc>
                <a:tc>
                  <a:txBody>
                    <a:bodyPr/>
                    <a:lstStyle/>
                    <a:p>
                      <a:pPr algn="ctr">
                        <a:defRPr sz="1000">
                          <a:solidFill>
                            <a:srgbClr val="404040"/>
                          </a:solidFill>
                          <a:latin typeface="Montserrat"/>
                        </a:defRPr>
                      </a:pPr>
                      <a:r>
                        <a:t>13,010</a:t>
                      </a:r>
                    </a:p>
                  </a:txBody>
                  <a:tcPr marL="0" marR="0" marT="0" marB="0" anchor="ctr">
                    <a:solidFill>
                      <a:srgbClr val="FFFFFF"/>
                    </a:solidFill>
                  </a:tcPr>
                </a:tc>
                <a:tc>
                  <a:txBody>
                    <a:bodyPr/>
                    <a:lstStyle/>
                    <a:p>
                      <a:pPr algn="ctr">
                        <a:defRPr sz="1000">
                          <a:solidFill>
                            <a:srgbClr val="404040"/>
                          </a:solidFill>
                          <a:latin typeface="Montserrat"/>
                        </a:defRPr>
                      </a:pPr>
                      <a:r>
                        <a:t>337</a:t>
                      </a:r>
                    </a:p>
                  </a:txBody>
                  <a:tcPr marL="0" marR="0" marT="0" marB="0" anchor="ctr">
                    <a:solidFill>
                      <a:srgbClr val="FFFFFF"/>
                    </a:solidFill>
                  </a:tcPr>
                </a:tc>
                <a:tc>
                  <a:txBody>
                    <a:bodyPr/>
                    <a:lstStyle/>
                    <a:p>
                      <a:pPr algn="ctr">
                        <a:defRPr sz="1000" b="1">
                          <a:solidFill>
                            <a:srgbClr val="980000"/>
                          </a:solidFill>
                          <a:latin typeface="Montserrat"/>
                        </a:defRPr>
                      </a:pPr>
                      <a:r>
                        <a:t>5,071</a:t>
                      </a:r>
                    </a:p>
                  </a:txBody>
                  <a:tcPr marL="0" marR="0" marT="0" marB="0" anchor="ctr">
                    <a:solidFill>
                      <a:srgbClr val="ECD3D9"/>
                    </a:solidFill>
                  </a:tcPr>
                </a:tc>
                <a:tc>
                  <a:txBody>
                    <a:bodyPr/>
                    <a:lstStyle/>
                    <a:p>
                      <a:pPr algn="ctr">
                        <a:defRPr sz="1000" b="1">
                          <a:solidFill>
                            <a:srgbClr val="980000"/>
                          </a:solidFill>
                          <a:latin typeface="Montserrat"/>
                        </a:defRPr>
                      </a:pPr>
                      <a:r>
                        <a:t>15,005</a:t>
                      </a:r>
                    </a:p>
                  </a:txBody>
                  <a:tcPr marL="0" marR="0" marT="0" marB="0" anchor="ctr">
                    <a:solidFill>
                      <a:srgbClr val="ECD3D9"/>
                    </a:solidFill>
                  </a:tcPr>
                </a:tc>
                <a:tc>
                  <a:txBody>
                    <a:bodyPr/>
                    <a:lstStyle/>
                    <a:p>
                      <a:pPr algn="ctr">
                        <a:defRPr sz="1000" b="1">
                          <a:solidFill>
                            <a:srgbClr val="980000"/>
                          </a:solidFill>
                          <a:latin typeface="Montserrat"/>
                        </a:defRPr>
                      </a:pPr>
                      <a:r>
                        <a:t>33.8%</a:t>
                      </a:r>
                    </a:p>
                  </a:txBody>
                  <a:tcPr marL="0" marR="0" marT="0" marB="0" anchor="ctr">
                    <a:solidFill>
                      <a:srgbClr val="ECD3D9"/>
                    </a:solidFill>
                  </a:tcPr>
                </a:tc>
              </a:tr>
            </a:tbl>
          </a:graphicData>
        </a:graphic>
      </p:graphicFrame>
    </p:spTree>
    <p:extLst>
      <p:ext uri="{BB962C8B-B14F-4D97-AF65-F5344CB8AC3E}">
        <p14:creationId xmlns:p14="http://schemas.microsoft.com/office/powerpoint/2010/main" val="748044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62"/>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35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32 UMF de lunes a viernes</a:t>
            </a: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sp>
        <p:nvSpPr>
          <p:cNvPr id="6" name="TextBox 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(del 26 de Dic de 2024 al 25 de Dic de 2025).</a:t>
            </a:r>
            <a:br/>
            <a:r>
              <a:t>Corte de información: Semana 21, 17 mayo 2026</a:t>
            </a:r>
          </a:p>
        </p:txBody>
      </p:sp>
      <p:cxnSp>
        <p:nvCxnSpPr>
          <p:cNvPr id="7" name="Connector 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151200" y="1692000"/>
          <a:ext cx="7473599" cy="51408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Consultas 2025</a:t>
                      </a:r>
                    </a:p>
                  </a:txBody>
                  <a:tcPr anchor="ctr">
                    <a:solidFill>
                      <a:srgbClr val="006455"/>
                    </a:solidFill>
                  </a:tcPr>
                </a:tc>
                <a:tc>
                  <a:txBody>
                    <a:bodyPr/>
                    <a:lstStyle/>
                    <a:p>
                      <a:pPr algn="ctr">
                        <a:defRPr b="1" sz="1000">
                          <a:solidFill>
                            <a:srgbClr val="FFFFFF"/>
                          </a:solidFill>
                          <a:latin typeface="Montserrat"/>
                        </a:defRPr>
                      </a:pPr>
                      <a:r>
                        <a:t>Incremento 2025 vs 2024</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latin typeface="Montserrat"/>
                        </a:defRPr>
                      </a:pPr>
                      <a:r>
                        <a:t>UMF 1 Zacatecas</a:t>
                      </a:r>
                    </a:p>
                  </a:txBody>
                  <a:tcPr marL="0" marR="0" marT="0" marB="0">
                    <a:solidFill>
                      <a:srgbClr val="FFFFFF"/>
                    </a:solidFill>
                  </a:tcPr>
                </a:tc>
                <a:tc>
                  <a:txBody>
                    <a:bodyPr/>
                    <a:lstStyle/>
                    <a:p>
                      <a:pPr algn="ctr">
                        <a:defRPr sz="1000">
                          <a:latin typeface="Montserrat"/>
                        </a:defRPr>
                      </a:pPr>
                      <a:r>
                        <a:t>131,371</a:t>
                      </a:r>
                    </a:p>
                  </a:txBody>
                  <a:tcPr marL="0" marR="0" marT="0" marB="0">
                    <a:solidFill>
                      <a:srgbClr val="FFFFFF"/>
                    </a:solidFill>
                  </a:tcPr>
                </a:tc>
                <a:tc>
                  <a:txBody>
                    <a:bodyPr/>
                    <a:lstStyle/>
                    <a:p>
                      <a:pPr algn="ctr">
                        <a:defRPr sz="1000">
                          <a:latin typeface="Montserrat"/>
                        </a:defRPr>
                      </a:pPr>
                      <a:r>
                        <a:t>10,371</a:t>
                      </a:r>
                    </a:p>
                  </a:txBody>
                  <a:tcPr marL="0" marR="0" marT="0" marB="0">
                    <a:solidFill>
                      <a:srgbClr val="FFFFFF"/>
                    </a:solidFill>
                  </a:tcPr>
                </a:tc>
                <a:tc>
                  <a:txBody>
                    <a:bodyPr/>
                    <a:lstStyle/>
                    <a:p>
                      <a:pPr algn="ctr">
                        <a:defRPr sz="1000">
                          <a:latin typeface="Montserrat"/>
                        </a:defRPr>
                      </a:pPr>
                      <a:r>
                        <a:t>49,933</a:t>
                      </a:r>
                    </a:p>
                  </a:txBody>
                  <a:tcPr marL="0" marR="0" marT="0" marB="0">
                    <a:solidFill>
                      <a:srgbClr val="ECD3D9"/>
                    </a:solidFill>
                  </a:tcPr>
                </a:tc>
                <a:tc>
                  <a:txBody>
                    <a:bodyPr/>
                    <a:lstStyle/>
                    <a:p>
                      <a:pPr algn="ctr">
                        <a:defRPr sz="1000">
                          <a:latin typeface="Montserrat"/>
                        </a:defRPr>
                      </a:pPr>
                      <a:r>
                        <a:t>126,000</a:t>
                      </a:r>
                    </a:p>
                  </a:txBody>
                  <a:tcPr marL="0" marR="0" marT="0" marB="0">
                    <a:solidFill>
                      <a:srgbClr val="ECD3D9"/>
                    </a:solidFill>
                  </a:tcPr>
                </a:tc>
                <a:tc>
                  <a:txBody>
                    <a:bodyPr/>
                    <a:lstStyle/>
                    <a:p>
                      <a:pPr algn="ctr">
                        <a:defRPr sz="1000">
                          <a:latin typeface="Montserrat"/>
                        </a:defRPr>
                      </a:pPr>
                      <a:r>
                        <a:t>39.6%</a:t>
                      </a:r>
                    </a:p>
                  </a:txBody>
                  <a:tcPr marL="0" marR="0" marT="0" marB="0">
                    <a:solidFill>
                      <a:srgbClr val="ECD3D9"/>
                    </a:solidFill>
                  </a:tcPr>
                </a:tc>
              </a:tr>
              <a:tr h="151200">
                <a:tc>
                  <a:txBody>
                    <a:bodyPr/>
                    <a:lstStyle/>
                    <a:p>
                      <a:pPr algn="l">
                        <a:defRPr sz="1000">
                          <a:latin typeface="Montserrat"/>
                        </a:defRPr>
                      </a:pPr>
                      <a:r>
                        <a:t>UMF 7 Sombrerete</a:t>
                      </a:r>
                    </a:p>
                  </a:txBody>
                  <a:tcPr marL="0" marR="0" marT="0" marB="0">
                    <a:solidFill>
                      <a:srgbClr val="EFEFEF"/>
                    </a:solidFill>
                  </a:tcPr>
                </a:tc>
                <a:tc>
                  <a:txBody>
                    <a:bodyPr/>
                    <a:lstStyle/>
                    <a:p>
                      <a:pPr algn="ctr">
                        <a:defRPr sz="1000">
                          <a:latin typeface="Montserrat"/>
                        </a:defRPr>
                      </a:pPr>
                      <a:r>
                        <a:t>45,018</a:t>
                      </a:r>
                    </a:p>
                  </a:txBody>
                  <a:tcPr marL="0" marR="0" marT="0" marB="0">
                    <a:solidFill>
                      <a:srgbClr val="EFEFEF"/>
                    </a:solidFill>
                  </a:tcPr>
                </a:tc>
                <a:tc>
                  <a:txBody>
                    <a:bodyPr/>
                    <a:lstStyle/>
                    <a:p>
                      <a:pPr algn="ctr">
                        <a:defRPr sz="1000">
                          <a:latin typeface="Montserrat"/>
                        </a:defRPr>
                      </a:pPr>
                      <a:r>
                        <a:t>5,032</a:t>
                      </a:r>
                    </a:p>
                  </a:txBody>
                  <a:tcPr marL="0" marR="0" marT="0" marB="0">
                    <a:solidFill>
                      <a:srgbClr val="EFEFEF"/>
                    </a:solidFill>
                  </a:tcPr>
                </a:tc>
                <a:tc>
                  <a:txBody>
                    <a:bodyPr/>
                    <a:lstStyle/>
                    <a:p>
                      <a:pPr algn="ctr">
                        <a:defRPr sz="1000">
                          <a:latin typeface="Montserrat"/>
                        </a:defRPr>
                      </a:pPr>
                      <a:r>
                        <a:t>17,105</a:t>
                      </a:r>
                    </a:p>
                  </a:txBody>
                  <a:tcPr marL="0" marR="0" marT="0" marB="0">
                    <a:solidFill>
                      <a:srgbClr val="ECD3D9"/>
                    </a:solidFill>
                  </a:tcPr>
                </a:tc>
                <a:tc>
                  <a:txBody>
                    <a:bodyPr/>
                    <a:lstStyle/>
                    <a:p>
                      <a:pPr algn="ctr">
                        <a:defRPr sz="1000">
                          <a:latin typeface="Montserrat"/>
                        </a:defRPr>
                      </a:pPr>
                      <a:r>
                        <a:t>44,000</a:t>
                      </a:r>
                    </a:p>
                  </a:txBody>
                  <a:tcPr marL="0" marR="0" marT="0" marB="0">
                    <a:solidFill>
                      <a:srgbClr val="ECD3D9"/>
                    </a:solidFill>
                  </a:tcPr>
                </a:tc>
                <a:tc>
                  <a:txBody>
                    <a:bodyPr/>
                    <a:lstStyle/>
                    <a:p>
                      <a:pPr algn="ctr">
                        <a:defRPr sz="1000">
                          <a:latin typeface="Montserrat"/>
                        </a:defRPr>
                      </a:pPr>
                      <a:r>
                        <a:t>38.9%</a:t>
                      </a:r>
                    </a:p>
                  </a:txBody>
                  <a:tcPr marL="0" marR="0" marT="0" marB="0">
                    <a:solidFill>
                      <a:srgbClr val="ECD3D9"/>
                    </a:solidFill>
                  </a:tcPr>
                </a:tc>
              </a:tr>
              <a:tr h="151200">
                <a:tc>
                  <a:txBody>
                    <a:bodyPr/>
                    <a:lstStyle/>
                    <a:p>
                      <a:pPr algn="l">
                        <a:defRPr sz="1000">
                          <a:latin typeface="Montserrat"/>
                        </a:defRPr>
                      </a:pPr>
                      <a:r>
                        <a:t>UMF 3 Guadalupe</a:t>
                      </a:r>
                    </a:p>
                  </a:txBody>
                  <a:tcPr marL="0" marR="0" marT="0" marB="0">
                    <a:solidFill>
                      <a:srgbClr val="FFFFFF"/>
                    </a:solidFill>
                  </a:tcPr>
                </a:tc>
                <a:tc>
                  <a:txBody>
                    <a:bodyPr/>
                    <a:lstStyle/>
                    <a:p>
                      <a:pPr algn="ctr">
                        <a:defRPr sz="1000">
                          <a:latin typeface="Montserrat"/>
                        </a:defRPr>
                      </a:pPr>
                      <a:r>
                        <a:t>67,838</a:t>
                      </a:r>
                    </a:p>
                  </a:txBody>
                  <a:tcPr marL="0" marR="0" marT="0" marB="0">
                    <a:solidFill>
                      <a:srgbClr val="FFFFFF"/>
                    </a:solidFill>
                  </a:tcPr>
                </a:tc>
                <a:tc>
                  <a:txBody>
                    <a:bodyPr/>
                    <a:lstStyle/>
                    <a:p>
                      <a:pPr algn="ctr">
                        <a:defRPr sz="1000">
                          <a:latin typeface="Montserrat"/>
                        </a:defRPr>
                      </a:pPr>
                      <a:r>
                        <a:t>8,135</a:t>
                      </a:r>
                    </a:p>
                  </a:txBody>
                  <a:tcPr marL="0" marR="0" marT="0" marB="0">
                    <a:solidFill>
                      <a:srgbClr val="FFFFFF"/>
                    </a:solidFill>
                  </a:tcPr>
                </a:tc>
                <a:tc>
                  <a:txBody>
                    <a:bodyPr/>
                    <a:lstStyle/>
                    <a:p>
                      <a:pPr algn="ctr">
                        <a:defRPr sz="1000">
                          <a:latin typeface="Montserrat"/>
                        </a:defRPr>
                      </a:pPr>
                      <a:r>
                        <a:t>27,045</a:t>
                      </a:r>
                    </a:p>
                  </a:txBody>
                  <a:tcPr marL="0" marR="0" marT="0" marB="0">
                    <a:solidFill>
                      <a:srgbClr val="ECD3D9"/>
                    </a:solidFill>
                  </a:tcPr>
                </a:tc>
                <a:tc>
                  <a:txBody>
                    <a:bodyPr/>
                    <a:lstStyle/>
                    <a:p>
                      <a:pPr algn="ctr">
                        <a:defRPr sz="1000">
                          <a:latin typeface="Montserrat"/>
                        </a:defRPr>
                      </a:pPr>
                      <a:r>
                        <a:t>66,000</a:t>
                      </a:r>
                    </a:p>
                  </a:txBody>
                  <a:tcPr marL="0" marR="0" marT="0" marB="0">
                    <a:solidFill>
                      <a:srgbClr val="ECD3D9"/>
                    </a:solidFill>
                  </a:tcPr>
                </a:tc>
                <a:tc>
                  <a:txBody>
                    <a:bodyPr/>
                    <a:lstStyle/>
                    <a:p>
                      <a:pPr algn="ctr">
                        <a:defRPr sz="1000">
                          <a:latin typeface="Montserrat"/>
                        </a:defRPr>
                      </a:pPr>
                      <a:r>
                        <a:t>41.0%</a:t>
                      </a:r>
                    </a:p>
                  </a:txBody>
                  <a:tcPr marL="0" marR="0" marT="0" marB="0">
                    <a:solidFill>
                      <a:srgbClr val="ECD3D9"/>
                    </a:solidFill>
                  </a:tcPr>
                </a:tc>
              </a:tr>
              <a:tr h="151200">
                <a:tc>
                  <a:txBody>
                    <a:bodyPr/>
                    <a:lstStyle/>
                    <a:p>
                      <a:pPr algn="l">
                        <a:defRPr sz="1000">
                          <a:latin typeface="Montserrat"/>
                        </a:defRPr>
                      </a:pPr>
                      <a:r>
                        <a:t>UMF 5 Jerez</a:t>
                      </a:r>
                    </a:p>
                  </a:txBody>
                  <a:tcPr marL="0" marR="0" marT="0" marB="0">
                    <a:solidFill>
                      <a:srgbClr val="EFEFEF"/>
                    </a:solidFill>
                  </a:tcPr>
                </a:tc>
                <a:tc>
                  <a:txBody>
                    <a:bodyPr/>
                    <a:lstStyle/>
                    <a:p>
                      <a:pPr algn="ctr">
                        <a:defRPr sz="1000">
                          <a:latin typeface="Montserrat"/>
                        </a:defRPr>
                      </a:pPr>
                      <a:r>
                        <a:t>32,053</a:t>
                      </a:r>
                    </a:p>
                  </a:txBody>
                  <a:tcPr marL="0" marR="0" marT="0" marB="0">
                    <a:solidFill>
                      <a:srgbClr val="EFEFEF"/>
                    </a:solidFill>
                  </a:tcPr>
                </a:tc>
                <a:tc>
                  <a:txBody>
                    <a:bodyPr/>
                    <a:lstStyle/>
                    <a:p>
                      <a:pPr algn="ctr">
                        <a:defRPr sz="1000">
                          <a:latin typeface="Montserrat"/>
                        </a:defRPr>
                      </a:pPr>
                      <a:r>
                        <a:t>1,199</a:t>
                      </a:r>
                    </a:p>
                  </a:txBody>
                  <a:tcPr marL="0" marR="0" marT="0" marB="0">
                    <a:solidFill>
                      <a:srgbClr val="EFEFEF"/>
                    </a:solidFill>
                  </a:tcPr>
                </a:tc>
                <a:tc>
                  <a:txBody>
                    <a:bodyPr/>
                    <a:lstStyle/>
                    <a:p>
                      <a:pPr algn="ctr">
                        <a:defRPr sz="1000">
                          <a:latin typeface="Montserrat"/>
                        </a:defRPr>
                      </a:pPr>
                      <a:r>
                        <a:t>14,233</a:t>
                      </a:r>
                    </a:p>
                  </a:txBody>
                  <a:tcPr marL="0" marR="0" marT="0" marB="0">
                    <a:solidFill>
                      <a:srgbClr val="ECD3D9"/>
                    </a:solidFill>
                  </a:tcPr>
                </a:tc>
                <a:tc>
                  <a:txBody>
                    <a:bodyPr/>
                    <a:lstStyle/>
                    <a:p>
                      <a:pPr algn="ctr">
                        <a:defRPr sz="1000">
                          <a:latin typeface="Montserrat"/>
                        </a:defRPr>
                      </a:pPr>
                      <a:r>
                        <a:t>43,848</a:t>
                      </a:r>
                    </a:p>
                  </a:txBody>
                  <a:tcPr marL="0" marR="0" marT="0" marB="0">
                    <a:solidFill>
                      <a:srgbClr val="ECD3D9"/>
                    </a:solidFill>
                  </a:tcPr>
                </a:tc>
                <a:tc>
                  <a:txBody>
                    <a:bodyPr/>
                    <a:lstStyle/>
                    <a:p>
                      <a:pPr algn="ctr">
                        <a:defRPr sz="1000">
                          <a:latin typeface="Montserrat"/>
                        </a:defRPr>
                      </a:pPr>
                      <a:r>
                        <a:t>32.5%</a:t>
                      </a:r>
                    </a:p>
                  </a:txBody>
                  <a:tcPr marL="0" marR="0" marT="0" marB="0">
                    <a:solidFill>
                      <a:srgbClr val="ECD3D9"/>
                    </a:solidFill>
                  </a:tcPr>
                </a:tc>
              </a:tr>
              <a:tr h="151200">
                <a:tc>
                  <a:txBody>
                    <a:bodyPr/>
                    <a:lstStyle/>
                    <a:p>
                      <a:pPr algn="l">
                        <a:defRPr sz="1000">
                          <a:latin typeface="Montserrat"/>
                        </a:defRPr>
                      </a:pPr>
                      <a:r>
                        <a:t>UMF 6 Río grande</a:t>
                      </a:r>
                    </a:p>
                  </a:txBody>
                  <a:tcPr marL="0" marR="0" marT="0" marB="0">
                    <a:solidFill>
                      <a:srgbClr val="FFFFFF"/>
                    </a:solidFill>
                  </a:tcPr>
                </a:tc>
                <a:tc>
                  <a:txBody>
                    <a:bodyPr/>
                    <a:lstStyle/>
                    <a:p>
                      <a:pPr algn="ctr">
                        <a:defRPr sz="1000">
                          <a:latin typeface="Montserrat"/>
                        </a:defRPr>
                      </a:pPr>
                      <a:r>
                        <a:t>29,411</a:t>
                      </a:r>
                    </a:p>
                  </a:txBody>
                  <a:tcPr marL="0" marR="0" marT="0" marB="0">
                    <a:solidFill>
                      <a:srgbClr val="FFFFFF"/>
                    </a:solidFill>
                  </a:tcPr>
                </a:tc>
                <a:tc>
                  <a:txBody>
                    <a:bodyPr/>
                    <a:lstStyle/>
                    <a:p>
                      <a:pPr algn="ctr">
                        <a:defRPr sz="1000">
                          <a:latin typeface="Montserrat"/>
                        </a:defRPr>
                      </a:pPr>
                      <a:r>
                        <a:t>3,007</a:t>
                      </a:r>
                    </a:p>
                  </a:txBody>
                  <a:tcPr marL="0" marR="0" marT="0" marB="0">
                    <a:solidFill>
                      <a:srgbClr val="FFFFFF"/>
                    </a:solidFill>
                  </a:tcPr>
                </a:tc>
                <a:tc>
                  <a:txBody>
                    <a:bodyPr/>
                    <a:lstStyle/>
                    <a:p>
                      <a:pPr algn="ctr">
                        <a:defRPr sz="1000">
                          <a:latin typeface="Montserrat"/>
                        </a:defRPr>
                      </a:pPr>
                      <a:r>
                        <a:t>12,884</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34.3%</a:t>
                      </a:r>
                    </a:p>
                  </a:txBody>
                  <a:tcPr marL="0" marR="0" marT="0" marB="0">
                    <a:solidFill>
                      <a:srgbClr val="ECD3D9"/>
                    </a:solidFill>
                  </a:tcPr>
                </a:tc>
              </a:tr>
              <a:tr h="151200">
                <a:tc>
                  <a:txBody>
                    <a:bodyPr/>
                    <a:lstStyle/>
                    <a:p>
                      <a:pPr algn="l">
                        <a:defRPr sz="1000">
                          <a:latin typeface="Montserrat"/>
                        </a:defRPr>
                      </a:pPr>
                      <a:r>
                        <a:t>UMF 15 Terminal</a:t>
                      </a:r>
                    </a:p>
                  </a:txBody>
                  <a:tcPr marL="0" marR="0" marT="0" marB="0">
                    <a:solidFill>
                      <a:srgbClr val="EFEFEF"/>
                    </a:solidFill>
                  </a:tcPr>
                </a:tc>
                <a:tc>
                  <a:txBody>
                    <a:bodyPr/>
                    <a:lstStyle/>
                    <a:p>
                      <a:pPr algn="ctr">
                        <a:defRPr sz="1000">
                          <a:latin typeface="Montserrat"/>
                        </a:defRPr>
                      </a:pPr>
                      <a:r>
                        <a:t>6,749</a:t>
                      </a:r>
                    </a:p>
                  </a:txBody>
                  <a:tcPr marL="0" marR="0" marT="0" marB="0">
                    <a:solidFill>
                      <a:srgbClr val="EFEFEF"/>
                    </a:solidFill>
                  </a:tcPr>
                </a:tc>
                <a:tc>
                  <a:txBody>
                    <a:bodyPr/>
                    <a:lstStyle/>
                    <a:p>
                      <a:pPr algn="ctr">
                        <a:defRPr sz="1000">
                          <a:latin typeface="Montserrat"/>
                        </a:defRPr>
                      </a:pPr>
                      <a:r>
                        <a:t>2,000</a:t>
                      </a:r>
                    </a:p>
                  </a:txBody>
                  <a:tcPr marL="0" marR="0" marT="0" marB="0">
                    <a:solidFill>
                      <a:srgbClr val="EFEFEF"/>
                    </a:solidFill>
                  </a:tcPr>
                </a:tc>
                <a:tc>
                  <a:txBody>
                    <a:bodyPr/>
                    <a:lstStyle/>
                    <a:p>
                      <a:pPr algn="ctr">
                        <a:defRPr sz="1000">
                          <a:latin typeface="Montserrat"/>
                        </a:defRPr>
                      </a:pPr>
                      <a:r>
                        <a:t>2,935</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36.7%</a:t>
                      </a:r>
                    </a:p>
                  </a:txBody>
                  <a:tcPr marL="0" marR="0" marT="0" marB="0">
                    <a:solidFill>
                      <a:srgbClr val="ECD3D9"/>
                    </a:solidFill>
                  </a:tcPr>
                </a:tc>
              </a:tr>
              <a:tr h="151200">
                <a:tc>
                  <a:txBody>
                    <a:bodyPr/>
                    <a:lstStyle/>
                    <a:p>
                      <a:pPr algn="l">
                        <a:defRPr sz="1000">
                          <a:latin typeface="Montserrat"/>
                        </a:defRPr>
                      </a:pPr>
                      <a:r>
                        <a:t>UMF 18 S. Martín</a:t>
                      </a:r>
                    </a:p>
                  </a:txBody>
                  <a:tcPr marL="0" marR="0" marT="0" marB="0">
                    <a:solidFill>
                      <a:srgbClr val="FFFFFF"/>
                    </a:solidFill>
                  </a:tcPr>
                </a:tc>
                <a:tc>
                  <a:txBody>
                    <a:bodyPr/>
                    <a:lstStyle/>
                    <a:p>
                      <a:pPr algn="ctr">
                        <a:defRPr sz="1000">
                          <a:latin typeface="Montserrat"/>
                        </a:defRPr>
                      </a:pPr>
                      <a:r>
                        <a:t>5,824</a:t>
                      </a:r>
                    </a:p>
                  </a:txBody>
                  <a:tcPr marL="0" marR="0" marT="0" marB="0">
                    <a:solidFill>
                      <a:srgbClr val="FFFFFF"/>
                    </a:solidFill>
                  </a:tcPr>
                </a:tc>
                <a:tc>
                  <a:txBody>
                    <a:bodyPr/>
                    <a:lstStyle/>
                    <a:p>
                      <a:pPr algn="ctr">
                        <a:defRPr sz="1000">
                          <a:latin typeface="Montserrat"/>
                        </a:defRPr>
                      </a:pPr>
                      <a:r>
                        <a:t>304</a:t>
                      </a:r>
                    </a:p>
                  </a:txBody>
                  <a:tcPr marL="0" marR="0" marT="0" marB="0">
                    <a:solidFill>
                      <a:srgbClr val="FFFFFF"/>
                    </a:solidFill>
                  </a:tcPr>
                </a:tc>
                <a:tc>
                  <a:txBody>
                    <a:bodyPr/>
                    <a:lstStyle/>
                    <a:p>
                      <a:pPr algn="ctr">
                        <a:defRPr sz="1000">
                          <a:latin typeface="Montserrat"/>
                        </a:defRPr>
                      </a:pPr>
                      <a:r>
                        <a:t>2,535</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36.2%</a:t>
                      </a:r>
                    </a:p>
                  </a:txBody>
                  <a:tcPr marL="0" marR="0" marT="0" marB="0">
                    <a:solidFill>
                      <a:srgbClr val="ECD3D9"/>
                    </a:solidFill>
                  </a:tcPr>
                </a:tc>
              </a:tr>
              <a:tr h="151200">
                <a:tc>
                  <a:txBody>
                    <a:bodyPr/>
                    <a:lstStyle/>
                    <a:p>
                      <a:pPr algn="l">
                        <a:defRPr sz="1000">
                          <a:latin typeface="Montserrat"/>
                        </a:defRPr>
                      </a:pPr>
                      <a:r>
                        <a:t>UMF 17 Colorada</a:t>
                      </a:r>
                    </a:p>
                  </a:txBody>
                  <a:tcPr marL="0" marR="0" marT="0" marB="0">
                    <a:solidFill>
                      <a:srgbClr val="EFEFEF"/>
                    </a:solidFill>
                  </a:tcPr>
                </a:tc>
                <a:tc>
                  <a:txBody>
                    <a:bodyPr/>
                    <a:lstStyle/>
                    <a:p>
                      <a:pPr algn="ctr">
                        <a:defRPr sz="1000">
                          <a:latin typeface="Montserrat"/>
                        </a:defRPr>
                      </a:pPr>
                      <a:r>
                        <a:t>381</a:t>
                      </a:r>
                    </a:p>
                  </a:txBody>
                  <a:tcPr marL="0" marR="0" marT="0" marB="0">
                    <a:solidFill>
                      <a:srgbClr val="EFEFEF"/>
                    </a:solidFill>
                  </a:tcPr>
                </a:tc>
                <a:tc>
                  <a:txBody>
                    <a:bodyPr/>
                    <a:lstStyle/>
                    <a:p>
                      <a:pPr algn="ctr">
                        <a:defRPr sz="1000">
                          <a:latin typeface="Montserrat"/>
                        </a:defRPr>
                      </a:pPr>
                      <a:r>
                        <a:t>-208</a:t>
                      </a:r>
                    </a:p>
                  </a:txBody>
                  <a:tcPr marL="0" marR="0" marT="0" marB="0">
                    <a:solidFill>
                      <a:srgbClr val="EFEFEF"/>
                    </a:solidFill>
                  </a:tcPr>
                </a:tc>
                <a:tc>
                  <a:txBody>
                    <a:bodyPr/>
                    <a:lstStyle/>
                    <a:p>
                      <a:pPr algn="ctr">
                        <a:defRPr sz="1000">
                          <a:latin typeface="Montserrat"/>
                        </a:defRPr>
                      </a:pPr>
                      <a:r>
                        <a:t>143</a:t>
                      </a:r>
                    </a:p>
                  </a:txBody>
                  <a:tcPr marL="0" marR="0" marT="0" marB="0">
                    <a:solidFill>
                      <a:srgbClr val="ECD3D9"/>
                    </a:solidFill>
                  </a:tcPr>
                </a:tc>
                <a:tc>
                  <a:txBody>
                    <a:bodyPr/>
                    <a:lstStyle/>
                    <a:p>
                      <a:pPr algn="ctr">
                        <a:defRPr sz="1000">
                          <a:latin typeface="Montserrat"/>
                        </a:defRPr>
                      </a:pPr>
                      <a:r>
                        <a:t>2,000</a:t>
                      </a:r>
                    </a:p>
                  </a:txBody>
                  <a:tcPr marL="0" marR="0" marT="0" marB="0">
                    <a:solidFill>
                      <a:srgbClr val="ECD3D9"/>
                    </a:solidFill>
                  </a:tcPr>
                </a:tc>
                <a:tc>
                  <a:txBody>
                    <a:bodyPr/>
                    <a:lstStyle/>
                    <a:p>
                      <a:pPr algn="ctr">
                        <a:defRPr sz="1000">
                          <a:latin typeface="Montserrat"/>
                        </a:defRPr>
                      </a:pPr>
                      <a:r>
                        <a:t>7.2%</a:t>
                      </a:r>
                    </a:p>
                  </a:txBody>
                  <a:tcPr marL="0" marR="0" marT="0" marB="0">
                    <a:solidFill>
                      <a:srgbClr val="ECD3D9"/>
                    </a:solidFill>
                  </a:tcPr>
                </a:tc>
              </a:tr>
              <a:tr h="151200">
                <a:tc>
                  <a:txBody>
                    <a:bodyPr/>
                    <a:lstStyle/>
                    <a:p>
                      <a:pPr algn="l">
                        <a:defRPr sz="1000">
                          <a:latin typeface="Montserrat"/>
                        </a:defRPr>
                      </a:pPr>
                      <a:r>
                        <a:t>UMF 9 Concepción</a:t>
                      </a:r>
                    </a:p>
                  </a:txBody>
                  <a:tcPr marL="0" marR="0" marT="0" marB="0">
                    <a:solidFill>
                      <a:srgbClr val="FFFFFF"/>
                    </a:solidFill>
                  </a:tcPr>
                </a:tc>
                <a:tc>
                  <a:txBody>
                    <a:bodyPr/>
                    <a:lstStyle/>
                    <a:p>
                      <a:pPr algn="ctr">
                        <a:defRPr sz="1000">
                          <a:latin typeface="Montserrat"/>
                        </a:defRPr>
                      </a:pPr>
                      <a:r>
                        <a:t>29,110</a:t>
                      </a:r>
                    </a:p>
                  </a:txBody>
                  <a:tcPr marL="0" marR="0" marT="0" marB="0">
                    <a:solidFill>
                      <a:srgbClr val="FFFFFF"/>
                    </a:solidFill>
                  </a:tcPr>
                </a:tc>
                <a:tc>
                  <a:txBody>
                    <a:bodyPr/>
                    <a:lstStyle/>
                    <a:p>
                      <a:pPr algn="ctr">
                        <a:defRPr sz="1000">
                          <a:latin typeface="Montserrat"/>
                        </a:defRPr>
                      </a:pPr>
                      <a:r>
                        <a:t>3,368</a:t>
                      </a:r>
                    </a:p>
                  </a:txBody>
                  <a:tcPr marL="0" marR="0" marT="0" marB="0">
                    <a:solidFill>
                      <a:srgbClr val="FFFFFF"/>
                    </a:solidFill>
                  </a:tcPr>
                </a:tc>
                <a:tc>
                  <a:txBody>
                    <a:bodyPr/>
                    <a:lstStyle/>
                    <a:p>
                      <a:pPr algn="ctr">
                        <a:defRPr sz="1000">
                          <a:latin typeface="Montserrat"/>
                        </a:defRPr>
                      </a:pPr>
                      <a:r>
                        <a:t>12,906</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34.3%</a:t>
                      </a:r>
                    </a:p>
                  </a:txBody>
                  <a:tcPr marL="0" marR="0" marT="0" marB="0">
                    <a:solidFill>
                      <a:srgbClr val="ECD3D9"/>
                    </a:solidFill>
                  </a:tcPr>
                </a:tc>
              </a:tr>
              <a:tr h="151200">
                <a:tc>
                  <a:txBody>
                    <a:bodyPr/>
                    <a:lstStyle/>
                    <a:p>
                      <a:pPr algn="l">
                        <a:defRPr sz="1000">
                          <a:latin typeface="Montserrat"/>
                        </a:defRPr>
                      </a:pPr>
                      <a:r>
                        <a:t>UMF 10 Jalpa</a:t>
                      </a:r>
                    </a:p>
                  </a:txBody>
                  <a:tcPr marL="0" marR="0" marT="0" marB="0">
                    <a:solidFill>
                      <a:srgbClr val="EFEFEF"/>
                    </a:solidFill>
                  </a:tcPr>
                </a:tc>
                <a:tc>
                  <a:txBody>
                    <a:bodyPr/>
                    <a:lstStyle/>
                    <a:p>
                      <a:pPr algn="ctr">
                        <a:defRPr sz="1000">
                          <a:latin typeface="Montserrat"/>
                        </a:defRPr>
                      </a:pPr>
                      <a:r>
                        <a:t>10,264</a:t>
                      </a:r>
                    </a:p>
                  </a:txBody>
                  <a:tcPr marL="0" marR="0" marT="0" marB="0">
                    <a:solidFill>
                      <a:srgbClr val="EFEFEF"/>
                    </a:solidFill>
                  </a:tcPr>
                </a:tc>
                <a:tc>
                  <a:txBody>
                    <a:bodyPr/>
                    <a:lstStyle/>
                    <a:p>
                      <a:pPr algn="ctr">
                        <a:defRPr sz="1000">
                          <a:latin typeface="Montserrat"/>
                        </a:defRPr>
                      </a:pPr>
                      <a:r>
                        <a:t>500</a:t>
                      </a:r>
                    </a:p>
                  </a:txBody>
                  <a:tcPr marL="0" marR="0" marT="0" marB="0">
                    <a:solidFill>
                      <a:srgbClr val="EFEFEF"/>
                    </a:solidFill>
                  </a:tcPr>
                </a:tc>
                <a:tc>
                  <a:txBody>
                    <a:bodyPr/>
                    <a:lstStyle/>
                    <a:p>
                      <a:pPr algn="ctr">
                        <a:defRPr sz="1000">
                          <a:latin typeface="Montserrat"/>
                        </a:defRPr>
                      </a:pPr>
                      <a:r>
                        <a:t>4,522</a:t>
                      </a:r>
                    </a:p>
                  </a:txBody>
                  <a:tcPr marL="0" marR="0" marT="0" marB="0">
                    <a:solidFill>
                      <a:srgbClr val="ECD3D9"/>
                    </a:solidFill>
                  </a:tcPr>
                </a:tc>
                <a:tc>
                  <a:txBody>
                    <a:bodyPr/>
                    <a:lstStyle/>
                    <a:p>
                      <a:pPr algn="ctr">
                        <a:defRPr sz="1000">
                          <a:latin typeface="Montserrat"/>
                        </a:defRPr>
                      </a:pPr>
                      <a:r>
                        <a:t>11,000</a:t>
                      </a:r>
                    </a:p>
                  </a:txBody>
                  <a:tcPr marL="0" marR="0" marT="0" marB="0">
                    <a:solidFill>
                      <a:srgbClr val="ECD3D9"/>
                    </a:solidFill>
                  </a:tcPr>
                </a:tc>
                <a:tc>
                  <a:txBody>
                    <a:bodyPr/>
                    <a:lstStyle/>
                    <a:p>
                      <a:pPr algn="ctr">
                        <a:defRPr sz="1000">
                          <a:latin typeface="Montserrat"/>
                        </a:defRPr>
                      </a:pPr>
                      <a:r>
                        <a:t>41.1%</a:t>
                      </a:r>
                    </a:p>
                  </a:txBody>
                  <a:tcPr marL="0" marR="0" marT="0" marB="0">
                    <a:solidFill>
                      <a:srgbClr val="ECD3D9"/>
                    </a:solidFill>
                  </a:tcPr>
                </a:tc>
              </a:tr>
              <a:tr h="151200">
                <a:tc>
                  <a:txBody>
                    <a:bodyPr/>
                    <a:lstStyle/>
                    <a:p>
                      <a:pPr algn="l">
                        <a:defRPr sz="1000">
                          <a:latin typeface="Montserrat"/>
                        </a:defRPr>
                      </a:pPr>
                      <a:r>
                        <a:t>UMF 13 Noche Buena</a:t>
                      </a:r>
                    </a:p>
                  </a:txBody>
                  <a:tcPr marL="0" marR="0" marT="0" marB="0">
                    <a:solidFill>
                      <a:srgbClr val="FFFFFF"/>
                    </a:solidFill>
                  </a:tcPr>
                </a:tc>
                <a:tc>
                  <a:txBody>
                    <a:bodyPr/>
                    <a:lstStyle/>
                    <a:p>
                      <a:pPr algn="ctr">
                        <a:defRPr sz="1000">
                          <a:latin typeface="Montserrat"/>
                        </a:defRPr>
                      </a:pPr>
                      <a:r>
                        <a:t>2,343</a:t>
                      </a:r>
                    </a:p>
                  </a:txBody>
                  <a:tcPr marL="0" marR="0" marT="0" marB="0">
                    <a:solidFill>
                      <a:srgbClr val="FFFFFF"/>
                    </a:solidFill>
                  </a:tcPr>
                </a:tc>
                <a:tc>
                  <a:txBody>
                    <a:bodyPr/>
                    <a:lstStyle/>
                    <a:p>
                      <a:pPr algn="ctr">
                        <a:defRPr sz="1000">
                          <a:latin typeface="Montserrat"/>
                        </a:defRPr>
                      </a:pPr>
                      <a:r>
                        <a:t>1,778</a:t>
                      </a:r>
                    </a:p>
                  </a:txBody>
                  <a:tcPr marL="0" marR="0" marT="0" marB="0">
                    <a:solidFill>
                      <a:srgbClr val="FFFFFF"/>
                    </a:solidFill>
                  </a:tcPr>
                </a:tc>
                <a:tc>
                  <a:txBody>
                    <a:bodyPr/>
                    <a:lstStyle/>
                    <a:p>
                      <a:pPr algn="ctr">
                        <a:defRPr sz="1000">
                          <a:latin typeface="Montserrat"/>
                        </a:defRPr>
                      </a:pPr>
                      <a:r>
                        <a:t>1,466</a:t>
                      </a:r>
                    </a:p>
                  </a:txBody>
                  <a:tcPr marL="0" marR="0" marT="0" marB="0">
                    <a:solidFill>
                      <a:srgbClr val="ECD3D9"/>
                    </a:solidFill>
                  </a:tcPr>
                </a:tc>
                <a:tc>
                  <a:txBody>
                    <a:bodyPr/>
                    <a:lstStyle/>
                    <a:p>
                      <a:pPr algn="ctr">
                        <a:defRPr sz="1000">
                          <a:latin typeface="Montserrat"/>
                        </a:defRPr>
                      </a:pPr>
                      <a:r>
                        <a:t>4,000</a:t>
                      </a:r>
                    </a:p>
                  </a:txBody>
                  <a:tcPr marL="0" marR="0" marT="0" marB="0">
                    <a:solidFill>
                      <a:srgbClr val="ECD3D9"/>
                    </a:solidFill>
                  </a:tcPr>
                </a:tc>
                <a:tc>
                  <a:txBody>
                    <a:bodyPr/>
                    <a:lstStyle/>
                    <a:p>
                      <a:pPr algn="ctr">
                        <a:defRPr sz="1000">
                          <a:latin typeface="Montserrat"/>
                        </a:defRPr>
                      </a:pPr>
                      <a:r>
                        <a:t>36.7%</a:t>
                      </a:r>
                    </a:p>
                  </a:txBody>
                  <a:tcPr marL="0" marR="0" marT="0" marB="0">
                    <a:solidFill>
                      <a:srgbClr val="ECD3D9"/>
                    </a:solidFill>
                  </a:tcPr>
                </a:tc>
              </a:tr>
              <a:tr h="151200">
                <a:tc>
                  <a:txBody>
                    <a:bodyPr/>
                    <a:lstStyle/>
                    <a:p>
                      <a:pPr algn="l">
                        <a:defRPr sz="1000">
                          <a:latin typeface="Montserrat"/>
                        </a:defRPr>
                      </a:pPr>
                      <a:r>
                        <a:t>UMF 16 Chalchihuetes</a:t>
                      </a:r>
                    </a:p>
                  </a:txBody>
                  <a:tcPr marL="0" marR="0" marT="0" marB="0">
                    <a:solidFill>
                      <a:srgbClr val="EFEFEF"/>
                    </a:solidFill>
                  </a:tcPr>
                </a:tc>
                <a:tc>
                  <a:txBody>
                    <a:bodyPr/>
                    <a:lstStyle/>
                    <a:p>
                      <a:pPr algn="ctr">
                        <a:defRPr sz="1000">
                          <a:latin typeface="Montserrat"/>
                        </a:defRPr>
                      </a:pPr>
                      <a:r>
                        <a:t>6,085</a:t>
                      </a:r>
                    </a:p>
                  </a:txBody>
                  <a:tcPr marL="0" marR="0" marT="0" marB="0">
                    <a:solidFill>
                      <a:srgbClr val="EFEFEF"/>
                    </a:solidFill>
                  </a:tcPr>
                </a:tc>
                <a:tc>
                  <a:txBody>
                    <a:bodyPr/>
                    <a:lstStyle/>
                    <a:p>
                      <a:pPr algn="ctr">
                        <a:defRPr sz="1000">
                          <a:latin typeface="Montserrat"/>
                        </a:defRPr>
                      </a:pPr>
                      <a:r>
                        <a:t>-396</a:t>
                      </a:r>
                    </a:p>
                  </a:txBody>
                  <a:tcPr marL="0" marR="0" marT="0" marB="0">
                    <a:solidFill>
                      <a:srgbClr val="EFEFEF"/>
                    </a:solidFill>
                  </a:tcPr>
                </a:tc>
                <a:tc>
                  <a:txBody>
                    <a:bodyPr/>
                    <a:lstStyle/>
                    <a:p>
                      <a:pPr algn="ctr">
                        <a:defRPr sz="1000">
                          <a:latin typeface="Montserrat"/>
                        </a:defRPr>
                      </a:pPr>
                      <a:r>
                        <a:t>2,459</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35.1%</a:t>
                      </a:r>
                    </a:p>
                  </a:txBody>
                  <a:tcPr marL="0" marR="0" marT="0" marB="0">
                    <a:solidFill>
                      <a:srgbClr val="ECD3D9"/>
                    </a:solidFill>
                  </a:tcPr>
                </a:tc>
              </a:tr>
              <a:tr h="151200">
                <a:tc>
                  <a:txBody>
                    <a:bodyPr/>
                    <a:lstStyle/>
                    <a:p>
                      <a:pPr algn="l">
                        <a:defRPr sz="1000">
                          <a:latin typeface="Montserrat"/>
                        </a:defRPr>
                      </a:pPr>
                      <a:r>
                        <a:t>UMF 14 Salaverna</a:t>
                      </a:r>
                    </a:p>
                  </a:txBody>
                  <a:tcPr marL="0" marR="0" marT="0" marB="0">
                    <a:solidFill>
                      <a:srgbClr val="FFFFFF"/>
                    </a:solidFill>
                  </a:tcPr>
                </a:tc>
                <a:tc>
                  <a:txBody>
                    <a:bodyPr/>
                    <a:lstStyle/>
                    <a:p>
                      <a:pPr algn="ctr">
                        <a:defRPr sz="1000">
                          <a:latin typeface="Montserrat"/>
                        </a:defRPr>
                      </a:pPr>
                      <a:r>
                        <a:t>6,143</a:t>
                      </a:r>
                    </a:p>
                  </a:txBody>
                  <a:tcPr marL="0" marR="0" marT="0" marB="0">
                    <a:solidFill>
                      <a:srgbClr val="FFFFFF"/>
                    </a:solidFill>
                  </a:tcPr>
                </a:tc>
                <a:tc>
                  <a:txBody>
                    <a:bodyPr/>
                    <a:lstStyle/>
                    <a:p>
                      <a:pPr algn="ctr">
                        <a:defRPr sz="1000">
                          <a:latin typeface="Montserrat"/>
                        </a:defRPr>
                      </a:pPr>
                      <a:r>
                        <a:t>2,150</a:t>
                      </a:r>
                    </a:p>
                  </a:txBody>
                  <a:tcPr marL="0" marR="0" marT="0" marB="0">
                    <a:solidFill>
                      <a:srgbClr val="FFFFFF"/>
                    </a:solidFill>
                  </a:tcPr>
                </a:tc>
                <a:tc>
                  <a:txBody>
                    <a:bodyPr/>
                    <a:lstStyle/>
                    <a:p>
                      <a:pPr algn="ctr">
                        <a:defRPr sz="1000">
                          <a:latin typeface="Montserrat"/>
                        </a:defRPr>
                      </a:pPr>
                      <a:r>
                        <a:t>4,257</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60.8%</a:t>
                      </a:r>
                    </a:p>
                  </a:txBody>
                  <a:tcPr marL="0" marR="0" marT="0" marB="0">
                    <a:solidFill>
                      <a:srgbClr val="ECD3D9"/>
                    </a:solidFill>
                  </a:tcPr>
                </a:tc>
              </a:tr>
              <a:tr h="151200">
                <a:tc>
                  <a:txBody>
                    <a:bodyPr/>
                    <a:lstStyle/>
                    <a:p>
                      <a:pPr algn="l">
                        <a:defRPr sz="1000">
                          <a:latin typeface="Montserrat"/>
                        </a:defRPr>
                      </a:pPr>
                      <a:r>
                        <a:t>UMF 11 Nochistan</a:t>
                      </a:r>
                    </a:p>
                  </a:txBody>
                  <a:tcPr marL="0" marR="0" marT="0" marB="0">
                    <a:solidFill>
                      <a:srgbClr val="EFEFEF"/>
                    </a:solidFill>
                  </a:tcPr>
                </a:tc>
                <a:tc>
                  <a:txBody>
                    <a:bodyPr/>
                    <a:lstStyle/>
                    <a:p>
                      <a:pPr algn="ctr">
                        <a:defRPr sz="1000">
                          <a:latin typeface="Montserrat"/>
                        </a:defRPr>
                      </a:pPr>
                      <a:r>
                        <a:t>13,501</a:t>
                      </a:r>
                    </a:p>
                  </a:txBody>
                  <a:tcPr marL="0" marR="0" marT="0" marB="0">
                    <a:solidFill>
                      <a:srgbClr val="EFEFEF"/>
                    </a:solidFill>
                  </a:tcPr>
                </a:tc>
                <a:tc>
                  <a:txBody>
                    <a:bodyPr/>
                    <a:lstStyle/>
                    <a:p>
                      <a:pPr algn="ctr">
                        <a:defRPr sz="1000">
                          <a:latin typeface="Montserrat"/>
                        </a:defRPr>
                      </a:pPr>
                      <a:r>
                        <a:t>-965</a:t>
                      </a:r>
                    </a:p>
                  </a:txBody>
                  <a:tcPr marL="0" marR="0" marT="0" marB="0">
                    <a:solidFill>
                      <a:srgbClr val="EFEFEF"/>
                    </a:solidFill>
                  </a:tcPr>
                </a:tc>
                <a:tc>
                  <a:txBody>
                    <a:bodyPr/>
                    <a:lstStyle/>
                    <a:p>
                      <a:pPr algn="ctr">
                        <a:defRPr sz="1000">
                          <a:latin typeface="Montserrat"/>
                        </a:defRPr>
                      </a:pPr>
                      <a:r>
                        <a:t>4,486</a:t>
                      </a:r>
                    </a:p>
                  </a:txBody>
                  <a:tcPr marL="0" marR="0" marT="0" marB="0">
                    <a:solidFill>
                      <a:srgbClr val="ECD3D9"/>
                    </a:solidFill>
                  </a:tcPr>
                </a:tc>
                <a:tc>
                  <a:txBody>
                    <a:bodyPr/>
                    <a:lstStyle/>
                    <a:p>
                      <a:pPr algn="ctr">
                        <a:defRPr sz="1000">
                          <a:latin typeface="Montserrat"/>
                        </a:defRPr>
                      </a:pPr>
                      <a:r>
                        <a:t>15,000</a:t>
                      </a:r>
                    </a:p>
                  </a:txBody>
                  <a:tcPr marL="0" marR="0" marT="0" marB="0">
                    <a:solidFill>
                      <a:srgbClr val="ECD3D9"/>
                    </a:solidFill>
                  </a:tcPr>
                </a:tc>
                <a:tc>
                  <a:txBody>
                    <a:bodyPr/>
                    <a:lstStyle/>
                    <a:p>
                      <a:pPr algn="ctr">
                        <a:defRPr sz="1000">
                          <a:latin typeface="Montserrat"/>
                        </a:defRPr>
                      </a:pPr>
                      <a:r>
                        <a:t>29.9%</a:t>
                      </a:r>
                    </a:p>
                  </a:txBody>
                  <a:tcPr marL="0" marR="0" marT="0" marB="0">
                    <a:solidFill>
                      <a:srgbClr val="ECD3D9"/>
                    </a:solidFill>
                  </a:tcPr>
                </a:tc>
              </a:tr>
              <a:tr h="151200">
                <a:tc>
                  <a:txBody>
                    <a:bodyPr/>
                    <a:lstStyle/>
                    <a:p>
                      <a:pPr algn="l">
                        <a:defRPr sz="1000">
                          <a:latin typeface="Montserrat"/>
                        </a:defRPr>
                      </a:pPr>
                      <a:r>
                        <a:t>UMF 28 Loreto</a:t>
                      </a:r>
                    </a:p>
                  </a:txBody>
                  <a:tcPr marL="0" marR="0" marT="0" marB="0">
                    <a:solidFill>
                      <a:srgbClr val="FFFFFF"/>
                    </a:solidFill>
                  </a:tcPr>
                </a:tc>
                <a:tc>
                  <a:txBody>
                    <a:bodyPr/>
                    <a:lstStyle/>
                    <a:p>
                      <a:pPr algn="ctr">
                        <a:defRPr sz="1000">
                          <a:latin typeface="Montserrat"/>
                        </a:defRPr>
                      </a:pPr>
                      <a:r>
                        <a:t>22,833</a:t>
                      </a:r>
                    </a:p>
                  </a:txBody>
                  <a:tcPr marL="0" marR="0" marT="0" marB="0">
                    <a:solidFill>
                      <a:srgbClr val="FFFFFF"/>
                    </a:solidFill>
                  </a:tcPr>
                </a:tc>
                <a:tc>
                  <a:txBody>
                    <a:bodyPr/>
                    <a:lstStyle/>
                    <a:p>
                      <a:pPr algn="ctr">
                        <a:defRPr sz="1000">
                          <a:latin typeface="Montserrat"/>
                        </a:defRPr>
                      </a:pPr>
                      <a:r>
                        <a:t>5,502</a:t>
                      </a:r>
                    </a:p>
                  </a:txBody>
                  <a:tcPr marL="0" marR="0" marT="0" marB="0">
                    <a:solidFill>
                      <a:srgbClr val="FFFFFF"/>
                    </a:solidFill>
                  </a:tcPr>
                </a:tc>
                <a:tc>
                  <a:txBody>
                    <a:bodyPr/>
                    <a:lstStyle/>
                    <a:p>
                      <a:pPr algn="ctr">
                        <a:defRPr sz="1000">
                          <a:latin typeface="Montserrat"/>
                        </a:defRPr>
                      </a:pPr>
                      <a:r>
                        <a:t>10,701</a:t>
                      </a:r>
                    </a:p>
                  </a:txBody>
                  <a:tcPr marL="0" marR="0" marT="0" marB="0">
                    <a:solidFill>
                      <a:srgbClr val="ECD3D9"/>
                    </a:solidFill>
                  </a:tcPr>
                </a:tc>
                <a:tc>
                  <a:txBody>
                    <a:bodyPr/>
                    <a:lstStyle/>
                    <a:p>
                      <a:pPr algn="ctr">
                        <a:defRPr sz="1000">
                          <a:latin typeface="Montserrat"/>
                        </a:defRPr>
                      </a:pPr>
                      <a:r>
                        <a:t>28,188</a:t>
                      </a:r>
                    </a:p>
                  </a:txBody>
                  <a:tcPr marL="0" marR="0" marT="0" marB="0">
                    <a:solidFill>
                      <a:srgbClr val="ECD3D9"/>
                    </a:solidFill>
                  </a:tcPr>
                </a:tc>
                <a:tc>
                  <a:txBody>
                    <a:bodyPr/>
                    <a:lstStyle/>
                    <a:p>
                      <a:pPr algn="ctr">
                        <a:defRPr sz="1000">
                          <a:latin typeface="Montserrat"/>
                        </a:defRPr>
                      </a:pPr>
                      <a:r>
                        <a:t>38.0%</a:t>
                      </a:r>
                    </a:p>
                  </a:txBody>
                  <a:tcPr marL="0" marR="0" marT="0" marB="0">
                    <a:solidFill>
                      <a:srgbClr val="ECD3D9"/>
                    </a:solidFill>
                  </a:tcPr>
                </a:tc>
              </a:tr>
              <a:tr h="151200">
                <a:tc>
                  <a:txBody>
                    <a:bodyPr/>
                    <a:lstStyle/>
                    <a:p>
                      <a:pPr algn="l">
                        <a:defRPr sz="1000">
                          <a:latin typeface="Montserrat"/>
                        </a:defRPr>
                      </a:pPr>
                      <a:r>
                        <a:t>UMF 29 Luis Moya</a:t>
                      </a:r>
                    </a:p>
                  </a:txBody>
                  <a:tcPr marL="0" marR="0" marT="0" marB="0">
                    <a:solidFill>
                      <a:srgbClr val="EFEFEF"/>
                    </a:solidFill>
                  </a:tcPr>
                </a:tc>
                <a:tc>
                  <a:txBody>
                    <a:bodyPr/>
                    <a:lstStyle/>
                    <a:p>
                      <a:pPr algn="ctr">
                        <a:defRPr sz="1000">
                          <a:latin typeface="Montserrat"/>
                        </a:defRPr>
                      </a:pPr>
                      <a:r>
                        <a:t>9,725</a:t>
                      </a:r>
                    </a:p>
                  </a:txBody>
                  <a:tcPr marL="0" marR="0" marT="0" marB="0">
                    <a:solidFill>
                      <a:srgbClr val="EFEFEF"/>
                    </a:solidFill>
                  </a:tcPr>
                </a:tc>
                <a:tc>
                  <a:txBody>
                    <a:bodyPr/>
                    <a:lstStyle/>
                    <a:p>
                      <a:pPr algn="ctr">
                        <a:defRPr sz="1000">
                          <a:latin typeface="Montserrat"/>
                        </a:defRPr>
                      </a:pPr>
                      <a:r>
                        <a:t>1,499</a:t>
                      </a:r>
                    </a:p>
                  </a:txBody>
                  <a:tcPr marL="0" marR="0" marT="0" marB="0">
                    <a:solidFill>
                      <a:srgbClr val="EFEFEF"/>
                    </a:solidFill>
                  </a:tcPr>
                </a:tc>
                <a:tc>
                  <a:txBody>
                    <a:bodyPr/>
                    <a:lstStyle/>
                    <a:p>
                      <a:pPr algn="ctr">
                        <a:defRPr sz="1000">
                          <a:latin typeface="Montserrat"/>
                        </a:defRPr>
                      </a:pPr>
                      <a:r>
                        <a:t>4,512</a:t>
                      </a:r>
                    </a:p>
                  </a:txBody>
                  <a:tcPr marL="0" marR="0" marT="0" marB="0">
                    <a:solidFill>
                      <a:srgbClr val="ECD3D9"/>
                    </a:solidFill>
                  </a:tcPr>
                </a:tc>
                <a:tc>
                  <a:txBody>
                    <a:bodyPr/>
                    <a:lstStyle/>
                    <a:p>
                      <a:pPr algn="ctr">
                        <a:defRPr sz="1000">
                          <a:latin typeface="Montserrat"/>
                        </a:defRPr>
                      </a:pPr>
                      <a:r>
                        <a:t>11,000</a:t>
                      </a:r>
                    </a:p>
                  </a:txBody>
                  <a:tcPr marL="0" marR="0" marT="0" marB="0">
                    <a:solidFill>
                      <a:srgbClr val="ECD3D9"/>
                    </a:solidFill>
                  </a:tcPr>
                </a:tc>
                <a:tc>
                  <a:txBody>
                    <a:bodyPr/>
                    <a:lstStyle/>
                    <a:p>
                      <a:pPr algn="ctr">
                        <a:defRPr sz="1000">
                          <a:latin typeface="Montserrat"/>
                        </a:defRPr>
                      </a:pPr>
                      <a:r>
                        <a:t>41.0%</a:t>
                      </a:r>
                    </a:p>
                  </a:txBody>
                  <a:tcPr marL="0" marR="0" marT="0" marB="0">
                    <a:solidFill>
                      <a:srgbClr val="ECD3D9"/>
                    </a:solidFill>
                  </a:tcPr>
                </a:tc>
              </a:tr>
              <a:tr h="151200">
                <a:tc>
                  <a:txBody>
                    <a:bodyPr/>
                    <a:lstStyle/>
                    <a:p>
                      <a:pPr algn="l">
                        <a:defRPr sz="1000">
                          <a:latin typeface="Montserrat"/>
                        </a:defRPr>
                      </a:pPr>
                      <a:r>
                        <a:t>UMF 44 Valparaiso</a:t>
                      </a:r>
                    </a:p>
                  </a:txBody>
                  <a:tcPr marL="0" marR="0" marT="0" marB="0">
                    <a:solidFill>
                      <a:srgbClr val="FFFFFF"/>
                    </a:solidFill>
                  </a:tcPr>
                </a:tc>
                <a:tc>
                  <a:txBody>
                    <a:bodyPr/>
                    <a:lstStyle/>
                    <a:p>
                      <a:pPr algn="ctr">
                        <a:defRPr sz="1000">
                          <a:latin typeface="Montserrat"/>
                        </a:defRPr>
                      </a:pPr>
                      <a:r>
                        <a:t>13,208</a:t>
                      </a:r>
                    </a:p>
                  </a:txBody>
                  <a:tcPr marL="0" marR="0" marT="0" marB="0">
                    <a:solidFill>
                      <a:srgbClr val="FFFFFF"/>
                    </a:solidFill>
                  </a:tcPr>
                </a:tc>
                <a:tc>
                  <a:txBody>
                    <a:bodyPr/>
                    <a:lstStyle/>
                    <a:p>
                      <a:pPr algn="ctr">
                        <a:defRPr sz="1000">
                          <a:latin typeface="Montserrat"/>
                        </a:defRPr>
                      </a:pPr>
                      <a:r>
                        <a:t>613</a:t>
                      </a:r>
                    </a:p>
                  </a:txBody>
                  <a:tcPr marL="0" marR="0" marT="0" marB="0">
                    <a:solidFill>
                      <a:srgbClr val="FFFFFF"/>
                    </a:solidFill>
                  </a:tcPr>
                </a:tc>
                <a:tc>
                  <a:txBody>
                    <a:bodyPr/>
                    <a:lstStyle/>
                    <a:p>
                      <a:pPr algn="ctr">
                        <a:defRPr sz="1000">
                          <a:latin typeface="Montserrat"/>
                        </a:defRPr>
                      </a:pPr>
                      <a:r>
                        <a:t>5,166</a:t>
                      </a:r>
                    </a:p>
                  </a:txBody>
                  <a:tcPr marL="0" marR="0" marT="0" marB="0">
                    <a:solidFill>
                      <a:srgbClr val="ECD3D9"/>
                    </a:solidFill>
                  </a:tcPr>
                </a:tc>
                <a:tc>
                  <a:txBody>
                    <a:bodyPr/>
                    <a:lstStyle/>
                    <a:p>
                      <a:pPr algn="ctr">
                        <a:defRPr sz="1000">
                          <a:latin typeface="Montserrat"/>
                        </a:defRPr>
                      </a:pPr>
                      <a:r>
                        <a:t>14,000</a:t>
                      </a:r>
                    </a:p>
                  </a:txBody>
                  <a:tcPr marL="0" marR="0" marT="0" marB="0">
                    <a:solidFill>
                      <a:srgbClr val="ECD3D9"/>
                    </a:solidFill>
                  </a:tcPr>
                </a:tc>
                <a:tc>
                  <a:txBody>
                    <a:bodyPr/>
                    <a:lstStyle/>
                    <a:p>
                      <a:pPr algn="ctr">
                        <a:defRPr sz="1000">
                          <a:latin typeface="Montserrat"/>
                        </a:defRPr>
                      </a:pPr>
                      <a:r>
                        <a:t>36.9%</a:t>
                      </a:r>
                    </a:p>
                  </a:txBody>
                  <a:tcPr marL="0" marR="0" marT="0" marB="0">
                    <a:solidFill>
                      <a:srgbClr val="ECD3D9"/>
                    </a:solidFill>
                  </a:tcPr>
                </a:tc>
              </a:tr>
              <a:tr h="151200">
                <a:tc>
                  <a:txBody>
                    <a:bodyPr/>
                    <a:lstStyle/>
                    <a:p>
                      <a:pPr algn="l">
                        <a:defRPr sz="1000">
                          <a:latin typeface="Montserrat"/>
                        </a:defRPr>
                      </a:pPr>
                      <a:r>
                        <a:t>UMF 36 Ojocaliente</a:t>
                      </a:r>
                    </a:p>
                  </a:txBody>
                  <a:tcPr marL="0" marR="0" marT="0" marB="0">
                    <a:solidFill>
                      <a:srgbClr val="EFEFEF"/>
                    </a:solidFill>
                  </a:tcPr>
                </a:tc>
                <a:tc>
                  <a:txBody>
                    <a:bodyPr/>
                    <a:lstStyle/>
                    <a:p>
                      <a:pPr algn="ctr">
                        <a:defRPr sz="1000">
                          <a:latin typeface="Montserrat"/>
                        </a:defRPr>
                      </a:pPr>
                      <a:r>
                        <a:t>26,719</a:t>
                      </a:r>
                    </a:p>
                  </a:txBody>
                  <a:tcPr marL="0" marR="0" marT="0" marB="0">
                    <a:solidFill>
                      <a:srgbClr val="EFEFEF"/>
                    </a:solidFill>
                  </a:tcPr>
                </a:tc>
                <a:tc>
                  <a:txBody>
                    <a:bodyPr/>
                    <a:lstStyle/>
                    <a:p>
                      <a:pPr algn="ctr">
                        <a:defRPr sz="1000">
                          <a:latin typeface="Montserrat"/>
                        </a:defRPr>
                      </a:pPr>
                      <a:r>
                        <a:t>2,955</a:t>
                      </a:r>
                    </a:p>
                  </a:txBody>
                  <a:tcPr marL="0" marR="0" marT="0" marB="0">
                    <a:solidFill>
                      <a:srgbClr val="EFEFEF"/>
                    </a:solidFill>
                  </a:tcPr>
                </a:tc>
                <a:tc>
                  <a:txBody>
                    <a:bodyPr/>
                    <a:lstStyle/>
                    <a:p>
                      <a:pPr algn="ctr">
                        <a:defRPr sz="1000">
                          <a:latin typeface="Montserrat"/>
                        </a:defRPr>
                      </a:pPr>
                      <a:r>
                        <a:t>11,876</a:t>
                      </a:r>
                    </a:p>
                  </a:txBody>
                  <a:tcPr marL="0" marR="0" marT="0" marB="0">
                    <a:solidFill>
                      <a:srgbClr val="ECD3D9"/>
                    </a:solidFill>
                  </a:tcPr>
                </a:tc>
                <a:tc>
                  <a:txBody>
                    <a:bodyPr/>
                    <a:lstStyle/>
                    <a:p>
                      <a:pPr algn="ctr">
                        <a:defRPr sz="1000">
                          <a:latin typeface="Montserrat"/>
                        </a:defRPr>
                      </a:pPr>
                      <a:r>
                        <a:t>27,000</a:t>
                      </a:r>
                    </a:p>
                  </a:txBody>
                  <a:tcPr marL="0" marR="0" marT="0" marB="0">
                    <a:solidFill>
                      <a:srgbClr val="ECD3D9"/>
                    </a:solidFill>
                  </a:tcPr>
                </a:tc>
                <a:tc>
                  <a:txBody>
                    <a:bodyPr/>
                    <a:lstStyle/>
                    <a:p>
                      <a:pPr algn="ctr">
                        <a:defRPr sz="1000">
                          <a:latin typeface="Montserrat"/>
                        </a:defRPr>
                      </a:pPr>
                      <a:r>
                        <a:t>44.0%</a:t>
                      </a:r>
                    </a:p>
                  </a:txBody>
                  <a:tcPr marL="0" marR="0" marT="0" marB="0">
                    <a:solidFill>
                      <a:srgbClr val="ECD3D9"/>
                    </a:solidFill>
                  </a:tcPr>
                </a:tc>
              </a:tr>
              <a:tr h="151200">
                <a:tc>
                  <a:txBody>
                    <a:bodyPr/>
                    <a:lstStyle/>
                    <a:p>
                      <a:pPr algn="l">
                        <a:defRPr sz="1000">
                          <a:latin typeface="Montserrat"/>
                        </a:defRPr>
                      </a:pPr>
                      <a:r>
                        <a:t>UMF 35 Noria Ángeles</a:t>
                      </a:r>
                    </a:p>
                  </a:txBody>
                  <a:tcPr marL="0" marR="0" marT="0" marB="0">
                    <a:solidFill>
                      <a:srgbClr val="FFFFFF"/>
                    </a:solidFill>
                  </a:tcPr>
                </a:tc>
                <a:tc>
                  <a:txBody>
                    <a:bodyPr/>
                    <a:lstStyle/>
                    <a:p>
                      <a:pPr algn="ctr">
                        <a:defRPr sz="1000">
                          <a:latin typeface="Montserrat"/>
                        </a:defRPr>
                      </a:pPr>
                      <a:r>
                        <a:t>9,657</a:t>
                      </a:r>
                    </a:p>
                  </a:txBody>
                  <a:tcPr marL="0" marR="0" marT="0" marB="0">
                    <a:solidFill>
                      <a:srgbClr val="FFFFFF"/>
                    </a:solidFill>
                  </a:tcPr>
                </a:tc>
                <a:tc>
                  <a:txBody>
                    <a:bodyPr/>
                    <a:lstStyle/>
                    <a:p>
                      <a:pPr algn="ctr">
                        <a:defRPr sz="1000">
                          <a:latin typeface="Montserrat"/>
                        </a:defRPr>
                      </a:pPr>
                      <a:r>
                        <a:t>4,866</a:t>
                      </a:r>
                    </a:p>
                  </a:txBody>
                  <a:tcPr marL="0" marR="0" marT="0" marB="0">
                    <a:solidFill>
                      <a:srgbClr val="FFFFFF"/>
                    </a:solidFill>
                  </a:tcPr>
                </a:tc>
                <a:tc>
                  <a:txBody>
                    <a:bodyPr/>
                    <a:lstStyle/>
                    <a:p>
                      <a:pPr algn="ctr">
                        <a:defRPr sz="1000">
                          <a:latin typeface="Montserrat"/>
                        </a:defRPr>
                      </a:pPr>
                      <a:r>
                        <a:t>4,073</a:t>
                      </a:r>
                    </a:p>
                  </a:txBody>
                  <a:tcPr marL="0" marR="0" marT="0" marB="0">
                    <a:solidFill>
                      <a:srgbClr val="ECD3D9"/>
                    </a:solidFill>
                  </a:tcPr>
                </a:tc>
                <a:tc>
                  <a:txBody>
                    <a:bodyPr/>
                    <a:lstStyle/>
                    <a:p>
                      <a:pPr algn="ctr">
                        <a:defRPr sz="1000">
                          <a:latin typeface="Montserrat"/>
                        </a:defRPr>
                      </a:pPr>
                      <a:r>
                        <a:t>11,000</a:t>
                      </a:r>
                    </a:p>
                  </a:txBody>
                  <a:tcPr marL="0" marR="0" marT="0" marB="0">
                    <a:solidFill>
                      <a:srgbClr val="ECD3D9"/>
                    </a:solidFill>
                  </a:tcPr>
                </a:tc>
                <a:tc>
                  <a:txBody>
                    <a:bodyPr/>
                    <a:lstStyle/>
                    <a:p>
                      <a:pPr algn="ctr">
                        <a:defRPr sz="1000">
                          <a:latin typeface="Montserrat"/>
                        </a:defRPr>
                      </a:pPr>
                      <a:r>
                        <a:t>37.0%</a:t>
                      </a:r>
                    </a:p>
                  </a:txBody>
                  <a:tcPr marL="0" marR="0" marT="0" marB="0">
                    <a:solidFill>
                      <a:srgbClr val="ECD3D9"/>
                    </a:solidFill>
                  </a:tcPr>
                </a:tc>
              </a:tr>
              <a:tr h="151200">
                <a:tc>
                  <a:txBody>
                    <a:bodyPr/>
                    <a:lstStyle/>
                    <a:p>
                      <a:pPr algn="l">
                        <a:defRPr sz="1000">
                          <a:latin typeface="Montserrat"/>
                        </a:defRPr>
                      </a:pPr>
                      <a:r>
                        <a:t>UMF 33 Morelos</a:t>
                      </a:r>
                    </a:p>
                  </a:txBody>
                  <a:tcPr marL="0" marR="0" marT="0" marB="0">
                    <a:solidFill>
                      <a:srgbClr val="EFEFEF"/>
                    </a:solidFill>
                  </a:tcPr>
                </a:tc>
                <a:tc>
                  <a:txBody>
                    <a:bodyPr/>
                    <a:lstStyle/>
                    <a:p>
                      <a:pPr algn="ctr">
                        <a:defRPr sz="1000">
                          <a:latin typeface="Montserrat"/>
                        </a:defRPr>
                      </a:pPr>
                      <a:r>
                        <a:t>30,981</a:t>
                      </a:r>
                    </a:p>
                  </a:txBody>
                  <a:tcPr marL="0" marR="0" marT="0" marB="0">
                    <a:solidFill>
                      <a:srgbClr val="EFEFEF"/>
                    </a:solidFill>
                  </a:tcPr>
                </a:tc>
                <a:tc>
                  <a:txBody>
                    <a:bodyPr/>
                    <a:lstStyle/>
                    <a:p>
                      <a:pPr algn="ctr">
                        <a:defRPr sz="1000">
                          <a:latin typeface="Montserrat"/>
                        </a:defRPr>
                      </a:pPr>
                      <a:r>
                        <a:t>7,220</a:t>
                      </a:r>
                    </a:p>
                  </a:txBody>
                  <a:tcPr marL="0" marR="0" marT="0" marB="0">
                    <a:solidFill>
                      <a:srgbClr val="EFEFEF"/>
                    </a:solidFill>
                  </a:tcPr>
                </a:tc>
                <a:tc>
                  <a:txBody>
                    <a:bodyPr/>
                    <a:lstStyle/>
                    <a:p>
                      <a:pPr algn="ctr">
                        <a:defRPr sz="1000">
                          <a:latin typeface="Montserrat"/>
                        </a:defRPr>
                      </a:pPr>
                      <a:r>
                        <a:t>12,395</a:t>
                      </a:r>
                    </a:p>
                  </a:txBody>
                  <a:tcPr marL="0" marR="0" marT="0" marB="0">
                    <a:solidFill>
                      <a:srgbClr val="ECD3D9"/>
                    </a:solidFill>
                  </a:tcPr>
                </a:tc>
                <a:tc>
                  <a:txBody>
                    <a:bodyPr/>
                    <a:lstStyle/>
                    <a:p>
                      <a:pPr algn="ctr">
                        <a:defRPr sz="1000">
                          <a:latin typeface="Montserrat"/>
                        </a:defRPr>
                      </a:pPr>
                      <a:r>
                        <a:t>30,000</a:t>
                      </a:r>
                    </a:p>
                  </a:txBody>
                  <a:tcPr marL="0" marR="0" marT="0" marB="0">
                    <a:solidFill>
                      <a:srgbClr val="ECD3D9"/>
                    </a:solidFill>
                  </a:tcPr>
                </a:tc>
                <a:tc>
                  <a:txBody>
                    <a:bodyPr/>
                    <a:lstStyle/>
                    <a:p>
                      <a:pPr algn="ctr">
                        <a:defRPr sz="1000">
                          <a:latin typeface="Montserrat"/>
                        </a:defRPr>
                      </a:pPr>
                      <a:r>
                        <a:t>41.3%</a:t>
                      </a:r>
                    </a:p>
                  </a:txBody>
                  <a:tcPr marL="0" marR="0" marT="0" marB="0">
                    <a:solidFill>
                      <a:srgbClr val="ECD3D9"/>
                    </a:solidFill>
                  </a:tcPr>
                </a:tc>
              </a:tr>
              <a:tr h="151200">
                <a:tc>
                  <a:txBody>
                    <a:bodyPr/>
                    <a:lstStyle/>
                    <a:p>
                      <a:pPr algn="l">
                        <a:defRPr sz="1000">
                          <a:latin typeface="Montserrat"/>
                        </a:defRPr>
                      </a:pPr>
                      <a:r>
                        <a:t>UMF 27 Juchipila</a:t>
                      </a:r>
                    </a:p>
                  </a:txBody>
                  <a:tcPr marL="0" marR="0" marT="0" marB="0">
                    <a:solidFill>
                      <a:srgbClr val="FFFFFF"/>
                    </a:solidFill>
                  </a:tcPr>
                </a:tc>
                <a:tc>
                  <a:txBody>
                    <a:bodyPr/>
                    <a:lstStyle/>
                    <a:p>
                      <a:pPr algn="ctr">
                        <a:defRPr sz="1000">
                          <a:latin typeface="Montserrat"/>
                        </a:defRPr>
                      </a:pPr>
                      <a:r>
                        <a:t>7,055</a:t>
                      </a:r>
                    </a:p>
                  </a:txBody>
                  <a:tcPr marL="0" marR="0" marT="0" marB="0">
                    <a:solidFill>
                      <a:srgbClr val="FFFFFF"/>
                    </a:solidFill>
                  </a:tcPr>
                </a:tc>
                <a:tc>
                  <a:txBody>
                    <a:bodyPr/>
                    <a:lstStyle/>
                    <a:p>
                      <a:pPr algn="ctr">
                        <a:defRPr sz="1000">
                          <a:latin typeface="Montserrat"/>
                        </a:defRPr>
                      </a:pPr>
                      <a:r>
                        <a:t>-1,444</a:t>
                      </a:r>
                    </a:p>
                  </a:txBody>
                  <a:tcPr marL="0" marR="0" marT="0" marB="0">
                    <a:solidFill>
                      <a:srgbClr val="FFFFFF"/>
                    </a:solidFill>
                  </a:tcPr>
                </a:tc>
                <a:tc>
                  <a:txBody>
                    <a:bodyPr/>
                    <a:lstStyle/>
                    <a:p>
                      <a:pPr algn="ctr">
                        <a:defRPr sz="1000">
                          <a:latin typeface="Montserrat"/>
                        </a:defRPr>
                      </a:pPr>
                      <a:r>
                        <a:t>3,825</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47.8%</a:t>
                      </a:r>
                    </a:p>
                  </a:txBody>
                  <a:tcPr marL="0" marR="0" marT="0" marB="0">
                    <a:solidFill>
                      <a:srgbClr val="ECD3D9"/>
                    </a:solidFill>
                  </a:tcPr>
                </a:tc>
              </a:tr>
              <a:tr h="151200">
                <a:tc>
                  <a:txBody>
                    <a:bodyPr/>
                    <a:lstStyle/>
                    <a:p>
                      <a:pPr algn="l">
                        <a:defRPr sz="1000">
                          <a:latin typeface="Montserrat"/>
                        </a:defRPr>
                      </a:pPr>
                      <a:r>
                        <a:t>UMF 39 Tabasco</a:t>
                      </a:r>
                    </a:p>
                  </a:txBody>
                  <a:tcPr marL="0" marR="0" marT="0" marB="0">
                    <a:solidFill>
                      <a:srgbClr val="EFEFEF"/>
                    </a:solidFill>
                  </a:tcPr>
                </a:tc>
                <a:tc>
                  <a:txBody>
                    <a:bodyPr/>
                    <a:lstStyle/>
                    <a:p>
                      <a:pPr algn="ctr">
                        <a:defRPr sz="1000">
                          <a:latin typeface="Montserrat"/>
                        </a:defRPr>
                      </a:pPr>
                      <a:r>
                        <a:t>12,253</a:t>
                      </a:r>
                    </a:p>
                  </a:txBody>
                  <a:tcPr marL="0" marR="0" marT="0" marB="0">
                    <a:solidFill>
                      <a:srgbClr val="EFEFEF"/>
                    </a:solidFill>
                  </a:tcPr>
                </a:tc>
                <a:tc>
                  <a:txBody>
                    <a:bodyPr/>
                    <a:lstStyle/>
                    <a:p>
                      <a:pPr algn="ctr">
                        <a:defRPr sz="1000">
                          <a:latin typeface="Montserrat"/>
                        </a:defRPr>
                      </a:pPr>
                      <a:r>
                        <a:t>3,058</a:t>
                      </a:r>
                    </a:p>
                  </a:txBody>
                  <a:tcPr marL="0" marR="0" marT="0" marB="0">
                    <a:solidFill>
                      <a:srgbClr val="EFEFEF"/>
                    </a:solidFill>
                  </a:tcPr>
                </a:tc>
                <a:tc>
                  <a:txBody>
                    <a:bodyPr/>
                    <a:lstStyle/>
                    <a:p>
                      <a:pPr algn="ctr">
                        <a:defRPr sz="1000">
                          <a:latin typeface="Montserrat"/>
                        </a:defRPr>
                      </a:pPr>
                      <a:r>
                        <a:t>4,278</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32.9%</a:t>
                      </a:r>
                    </a:p>
                  </a:txBody>
                  <a:tcPr marL="0" marR="0" marT="0" marB="0">
                    <a:solidFill>
                      <a:srgbClr val="ECD3D9"/>
                    </a:solidFill>
                  </a:tcPr>
                </a:tc>
              </a:tr>
              <a:tr h="151200">
                <a:tc>
                  <a:txBody>
                    <a:bodyPr/>
                    <a:lstStyle/>
                    <a:p>
                      <a:pPr algn="l">
                        <a:defRPr sz="1000">
                          <a:latin typeface="Montserrat"/>
                        </a:defRPr>
                      </a:pPr>
                      <a:r>
                        <a:t>UMF 25 Huanusco</a:t>
                      </a:r>
                    </a:p>
                  </a:txBody>
                  <a:tcPr marL="0" marR="0" marT="0" marB="0">
                    <a:solidFill>
                      <a:srgbClr val="FFFFFF"/>
                    </a:solidFill>
                  </a:tcPr>
                </a:tc>
                <a:tc>
                  <a:txBody>
                    <a:bodyPr/>
                    <a:lstStyle/>
                    <a:p>
                      <a:pPr algn="ctr">
                        <a:defRPr sz="1000">
                          <a:latin typeface="Montserrat"/>
                        </a:defRPr>
                      </a:pPr>
                      <a:r>
                        <a:t>1,417</a:t>
                      </a:r>
                    </a:p>
                  </a:txBody>
                  <a:tcPr marL="0" marR="0" marT="0" marB="0">
                    <a:solidFill>
                      <a:srgbClr val="FFFFFF"/>
                    </a:solidFill>
                  </a:tcPr>
                </a:tc>
                <a:tc>
                  <a:txBody>
                    <a:bodyPr/>
                    <a:lstStyle/>
                    <a:p>
                      <a:pPr algn="ctr">
                        <a:defRPr sz="1000">
                          <a:latin typeface="Montserrat"/>
                        </a:defRPr>
                      </a:pPr>
                      <a:r>
                        <a:t>-309</a:t>
                      </a:r>
                    </a:p>
                  </a:txBody>
                  <a:tcPr marL="0" marR="0" marT="0" marB="0">
                    <a:solidFill>
                      <a:srgbClr val="FFFFFF"/>
                    </a:solidFill>
                  </a:tcPr>
                </a:tc>
                <a:tc>
                  <a:txBody>
                    <a:bodyPr/>
                    <a:lstStyle/>
                    <a:p>
                      <a:pPr algn="ctr">
                        <a:defRPr sz="1000">
                          <a:latin typeface="Montserrat"/>
                        </a:defRPr>
                      </a:pPr>
                      <a:r>
                        <a:t>465</a:t>
                      </a:r>
                    </a:p>
                  </a:txBody>
                  <a:tcPr marL="0" marR="0" marT="0" marB="0">
                    <a:solidFill>
                      <a:srgbClr val="ECD3D9"/>
                    </a:solidFill>
                  </a:tcPr>
                </a:tc>
                <a:tc>
                  <a:txBody>
                    <a:bodyPr/>
                    <a:lstStyle/>
                    <a:p>
                      <a:pPr algn="ctr">
                        <a:defRPr sz="1000">
                          <a:latin typeface="Montserrat"/>
                        </a:defRPr>
                      </a:pPr>
                      <a:r>
                        <a:t>3,000</a:t>
                      </a:r>
                    </a:p>
                  </a:txBody>
                  <a:tcPr marL="0" marR="0" marT="0" marB="0">
                    <a:solidFill>
                      <a:srgbClr val="ECD3D9"/>
                    </a:solidFill>
                  </a:tcPr>
                </a:tc>
                <a:tc>
                  <a:txBody>
                    <a:bodyPr/>
                    <a:lstStyle/>
                    <a:p>
                      <a:pPr algn="ctr">
                        <a:defRPr sz="1000">
                          <a:latin typeface="Montserrat"/>
                        </a:defRPr>
                      </a:pPr>
                      <a:r>
                        <a:t>15.5%</a:t>
                      </a:r>
                    </a:p>
                  </a:txBody>
                  <a:tcPr marL="0" marR="0" marT="0" marB="0">
                    <a:solidFill>
                      <a:srgbClr val="ECD3D9"/>
                    </a:solidFill>
                  </a:tcPr>
                </a:tc>
              </a:tr>
              <a:tr h="151200">
                <a:tc>
                  <a:txBody>
                    <a:bodyPr/>
                    <a:lstStyle/>
                    <a:p>
                      <a:pPr algn="l">
                        <a:defRPr sz="1000">
                          <a:latin typeface="Montserrat"/>
                        </a:defRPr>
                      </a:pPr>
                      <a:r>
                        <a:t>UMF 26 Juan Aldama</a:t>
                      </a:r>
                    </a:p>
                  </a:txBody>
                  <a:tcPr marL="0" marR="0" marT="0" marB="0">
                    <a:solidFill>
                      <a:srgbClr val="EFEFEF"/>
                    </a:solidFill>
                  </a:tcPr>
                </a:tc>
                <a:tc>
                  <a:txBody>
                    <a:bodyPr/>
                    <a:lstStyle/>
                    <a:p>
                      <a:pPr algn="ctr">
                        <a:defRPr sz="1000">
                          <a:latin typeface="Montserrat"/>
                        </a:defRPr>
                      </a:pPr>
                      <a:r>
                        <a:t>12,131</a:t>
                      </a:r>
                    </a:p>
                  </a:txBody>
                  <a:tcPr marL="0" marR="0" marT="0" marB="0">
                    <a:solidFill>
                      <a:srgbClr val="EFEFEF"/>
                    </a:solidFill>
                  </a:tcPr>
                </a:tc>
                <a:tc>
                  <a:txBody>
                    <a:bodyPr/>
                    <a:lstStyle/>
                    <a:p>
                      <a:pPr algn="ctr">
                        <a:defRPr sz="1000">
                          <a:latin typeface="Montserrat"/>
                        </a:defRPr>
                      </a:pPr>
                      <a:r>
                        <a:t>1,087</a:t>
                      </a:r>
                    </a:p>
                  </a:txBody>
                  <a:tcPr marL="0" marR="0" marT="0" marB="0">
                    <a:solidFill>
                      <a:srgbClr val="EFEFEF"/>
                    </a:solidFill>
                  </a:tcPr>
                </a:tc>
                <a:tc>
                  <a:txBody>
                    <a:bodyPr/>
                    <a:lstStyle/>
                    <a:p>
                      <a:pPr algn="ctr">
                        <a:defRPr sz="1000">
                          <a:latin typeface="Montserrat"/>
                        </a:defRPr>
                      </a:pPr>
                      <a:r>
                        <a:t>5,225</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40.2%</a:t>
                      </a:r>
                    </a:p>
                  </a:txBody>
                  <a:tcPr marL="0" marR="0" marT="0" marB="0">
                    <a:solidFill>
                      <a:srgbClr val="ECD3D9"/>
                    </a:solidFill>
                  </a:tcPr>
                </a:tc>
              </a:tr>
              <a:tr h="151200">
                <a:tc>
                  <a:txBody>
                    <a:bodyPr/>
                    <a:lstStyle/>
                    <a:p>
                      <a:pPr algn="l">
                        <a:defRPr sz="1000">
                          <a:latin typeface="Montserrat"/>
                        </a:defRPr>
                      </a:pPr>
                      <a:r>
                        <a:t>UMF 42 Teul González</a:t>
                      </a:r>
                    </a:p>
                  </a:txBody>
                  <a:tcPr marL="0" marR="0" marT="0" marB="0">
                    <a:solidFill>
                      <a:srgbClr val="FFFFFF"/>
                    </a:solidFill>
                  </a:tcPr>
                </a:tc>
                <a:tc>
                  <a:txBody>
                    <a:bodyPr/>
                    <a:lstStyle/>
                    <a:p>
                      <a:pPr algn="ctr">
                        <a:defRPr sz="1000">
                          <a:latin typeface="Montserrat"/>
                        </a:defRPr>
                      </a:pPr>
                      <a:r>
                        <a:t>6,575</a:t>
                      </a:r>
                    </a:p>
                  </a:txBody>
                  <a:tcPr marL="0" marR="0" marT="0" marB="0">
                    <a:solidFill>
                      <a:srgbClr val="FFFFFF"/>
                    </a:solidFill>
                  </a:tcPr>
                </a:tc>
                <a:tc>
                  <a:txBody>
                    <a:bodyPr/>
                    <a:lstStyle/>
                    <a:p>
                      <a:pPr algn="ctr">
                        <a:defRPr sz="1000">
                          <a:latin typeface="Montserrat"/>
                        </a:defRPr>
                      </a:pPr>
                      <a:r>
                        <a:t>688</a:t>
                      </a:r>
                    </a:p>
                  </a:txBody>
                  <a:tcPr marL="0" marR="0" marT="0" marB="0">
                    <a:solidFill>
                      <a:srgbClr val="FFFFFF"/>
                    </a:solidFill>
                  </a:tcPr>
                </a:tc>
                <a:tc>
                  <a:txBody>
                    <a:bodyPr/>
                    <a:lstStyle/>
                    <a:p>
                      <a:pPr algn="ctr">
                        <a:defRPr sz="1000">
                          <a:latin typeface="Montserrat"/>
                        </a:defRPr>
                      </a:pPr>
                      <a:r>
                        <a:t>2,450</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30.6%</a:t>
                      </a:r>
                    </a:p>
                  </a:txBody>
                  <a:tcPr marL="0" marR="0" marT="0" marB="0">
                    <a:solidFill>
                      <a:srgbClr val="ECD3D9"/>
                    </a:solidFill>
                  </a:tcPr>
                </a:tc>
              </a:tr>
              <a:tr h="151200">
                <a:tc>
                  <a:txBody>
                    <a:bodyPr/>
                    <a:lstStyle/>
                    <a:p>
                      <a:pPr algn="l">
                        <a:defRPr sz="1000">
                          <a:latin typeface="Montserrat"/>
                        </a:defRPr>
                      </a:pPr>
                      <a:r>
                        <a:t>UMF 22 Florencia</a:t>
                      </a:r>
                    </a:p>
                  </a:txBody>
                  <a:tcPr marL="0" marR="0" marT="0" marB="0">
                    <a:solidFill>
                      <a:srgbClr val="EFEFEF"/>
                    </a:solidFill>
                  </a:tcPr>
                </a:tc>
                <a:tc>
                  <a:txBody>
                    <a:bodyPr/>
                    <a:lstStyle/>
                    <a:p>
                      <a:pPr algn="ctr">
                        <a:defRPr sz="1000">
                          <a:latin typeface="Montserrat"/>
                        </a:defRPr>
                      </a:pPr>
                      <a:r>
                        <a:t>1,466</a:t>
                      </a:r>
                    </a:p>
                  </a:txBody>
                  <a:tcPr marL="0" marR="0" marT="0" marB="0">
                    <a:solidFill>
                      <a:srgbClr val="EFEFEF"/>
                    </a:solidFill>
                  </a:tcPr>
                </a:tc>
                <a:tc>
                  <a:txBody>
                    <a:bodyPr/>
                    <a:lstStyle/>
                    <a:p>
                      <a:pPr algn="ctr">
                        <a:defRPr sz="1000">
                          <a:latin typeface="Montserrat"/>
                        </a:defRPr>
                      </a:pPr>
                      <a:r>
                        <a:t>-106</a:t>
                      </a:r>
                    </a:p>
                  </a:txBody>
                  <a:tcPr marL="0" marR="0" marT="0" marB="0">
                    <a:solidFill>
                      <a:srgbClr val="EFEFEF"/>
                    </a:solidFill>
                  </a:tcPr>
                </a:tc>
                <a:tc>
                  <a:txBody>
                    <a:bodyPr/>
                    <a:lstStyle/>
                    <a:p>
                      <a:pPr algn="ctr">
                        <a:defRPr sz="1000">
                          <a:latin typeface="Montserrat"/>
                        </a:defRPr>
                      </a:pPr>
                      <a:r>
                        <a:t>624</a:t>
                      </a:r>
                    </a:p>
                  </a:txBody>
                  <a:tcPr marL="0" marR="0" marT="0" marB="0">
                    <a:solidFill>
                      <a:srgbClr val="ECD3D9"/>
                    </a:solidFill>
                  </a:tcPr>
                </a:tc>
                <a:tc>
                  <a:txBody>
                    <a:bodyPr/>
                    <a:lstStyle/>
                    <a:p>
                      <a:pPr algn="ctr">
                        <a:defRPr sz="1000">
                          <a:latin typeface="Montserrat"/>
                        </a:defRPr>
                      </a:pPr>
                      <a:r>
                        <a:t>3,000</a:t>
                      </a:r>
                    </a:p>
                  </a:txBody>
                  <a:tcPr marL="0" marR="0" marT="0" marB="0">
                    <a:solidFill>
                      <a:srgbClr val="ECD3D9"/>
                    </a:solidFill>
                  </a:tcPr>
                </a:tc>
                <a:tc>
                  <a:txBody>
                    <a:bodyPr/>
                    <a:lstStyle/>
                    <a:p>
                      <a:pPr algn="ctr">
                        <a:defRPr sz="1000">
                          <a:latin typeface="Montserrat"/>
                        </a:defRPr>
                      </a:pPr>
                      <a:r>
                        <a:t>20.8%</a:t>
                      </a:r>
                    </a:p>
                  </a:txBody>
                  <a:tcPr marL="0" marR="0" marT="0" marB="0">
                    <a:solidFill>
                      <a:srgbClr val="ECD3D9"/>
                    </a:solidFill>
                  </a:tcPr>
                </a:tc>
              </a:tr>
              <a:tr h="151200">
                <a:tc>
                  <a:txBody>
                    <a:bodyPr/>
                    <a:lstStyle/>
                    <a:p>
                      <a:pPr algn="l">
                        <a:defRPr sz="1000">
                          <a:latin typeface="Montserrat"/>
                        </a:defRPr>
                      </a:pPr>
                      <a:r>
                        <a:t>UMF 43 Tlaltenango</a:t>
                      </a:r>
                    </a:p>
                  </a:txBody>
                  <a:tcPr marL="0" marR="0" marT="0" marB="0">
                    <a:solidFill>
                      <a:srgbClr val="FFFFFF"/>
                    </a:solidFill>
                  </a:tcPr>
                </a:tc>
                <a:tc>
                  <a:txBody>
                    <a:bodyPr/>
                    <a:lstStyle/>
                    <a:p>
                      <a:pPr algn="ctr">
                        <a:defRPr sz="1000">
                          <a:latin typeface="Montserrat"/>
                        </a:defRPr>
                      </a:pPr>
                      <a:r>
                        <a:t>11,050</a:t>
                      </a:r>
                    </a:p>
                  </a:txBody>
                  <a:tcPr marL="0" marR="0" marT="0" marB="0">
                    <a:solidFill>
                      <a:srgbClr val="FFFFFF"/>
                    </a:solidFill>
                  </a:tcPr>
                </a:tc>
                <a:tc>
                  <a:txBody>
                    <a:bodyPr/>
                    <a:lstStyle/>
                    <a:p>
                      <a:pPr algn="ctr">
                        <a:defRPr sz="1000">
                          <a:latin typeface="Montserrat"/>
                        </a:defRPr>
                      </a:pPr>
                      <a:r>
                        <a:t>2,055</a:t>
                      </a:r>
                    </a:p>
                  </a:txBody>
                  <a:tcPr marL="0" marR="0" marT="0" marB="0">
                    <a:solidFill>
                      <a:srgbClr val="FFFFFF"/>
                    </a:solidFill>
                  </a:tcPr>
                </a:tc>
                <a:tc>
                  <a:txBody>
                    <a:bodyPr/>
                    <a:lstStyle/>
                    <a:p>
                      <a:pPr algn="ctr">
                        <a:defRPr sz="1000">
                          <a:latin typeface="Montserrat"/>
                        </a:defRPr>
                      </a:pPr>
                      <a:r>
                        <a:t>4,856</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40.5%</a:t>
                      </a:r>
                    </a:p>
                  </a:txBody>
                  <a:tcPr marL="0" marR="0" marT="0" marB="0">
                    <a:solidFill>
                      <a:srgbClr val="ECD3D9"/>
                    </a:solidFill>
                  </a:tcPr>
                </a:tc>
              </a:tr>
              <a:tr h="151200">
                <a:tc>
                  <a:txBody>
                    <a:bodyPr/>
                    <a:lstStyle/>
                    <a:p>
                      <a:pPr algn="l">
                        <a:defRPr sz="1000">
                          <a:latin typeface="Montserrat"/>
                        </a:defRPr>
                      </a:pPr>
                      <a:r>
                        <a:t>UMF 31 Momax</a:t>
                      </a:r>
                    </a:p>
                  </a:txBody>
                  <a:tcPr marL="0" marR="0" marT="0" marB="0">
                    <a:solidFill>
                      <a:srgbClr val="EFEFEF"/>
                    </a:solidFill>
                  </a:tcPr>
                </a:tc>
                <a:tc>
                  <a:txBody>
                    <a:bodyPr/>
                    <a:lstStyle/>
                    <a:p>
                      <a:pPr algn="ctr">
                        <a:defRPr sz="1000">
                          <a:latin typeface="Montserrat"/>
                        </a:defRPr>
                      </a:pPr>
                      <a:r>
                        <a:t>2,391</a:t>
                      </a:r>
                    </a:p>
                  </a:txBody>
                  <a:tcPr marL="0" marR="0" marT="0" marB="0">
                    <a:solidFill>
                      <a:srgbClr val="EFEFEF"/>
                    </a:solidFill>
                  </a:tcPr>
                </a:tc>
                <a:tc>
                  <a:txBody>
                    <a:bodyPr/>
                    <a:lstStyle/>
                    <a:p>
                      <a:pPr algn="ctr">
                        <a:defRPr sz="1000">
                          <a:latin typeface="Montserrat"/>
                        </a:defRPr>
                      </a:pPr>
                      <a:r>
                        <a:t>622</a:t>
                      </a:r>
                    </a:p>
                  </a:txBody>
                  <a:tcPr marL="0" marR="0" marT="0" marB="0">
                    <a:solidFill>
                      <a:srgbClr val="EFEFEF"/>
                    </a:solidFill>
                  </a:tcPr>
                </a:tc>
                <a:tc>
                  <a:txBody>
                    <a:bodyPr/>
                    <a:lstStyle/>
                    <a:p>
                      <a:pPr algn="ctr">
                        <a:defRPr sz="1000">
                          <a:latin typeface="Montserrat"/>
                        </a:defRPr>
                      </a:pPr>
                      <a:r>
                        <a:t>1,420</a:t>
                      </a:r>
                    </a:p>
                  </a:txBody>
                  <a:tcPr marL="0" marR="0" marT="0" marB="0">
                    <a:solidFill>
                      <a:srgbClr val="ECD3D9"/>
                    </a:solidFill>
                  </a:tcPr>
                </a:tc>
                <a:tc>
                  <a:txBody>
                    <a:bodyPr/>
                    <a:lstStyle/>
                    <a:p>
                      <a:pPr algn="ctr">
                        <a:defRPr sz="1000">
                          <a:latin typeface="Montserrat"/>
                        </a:defRPr>
                      </a:pPr>
                      <a:r>
                        <a:t>4,000</a:t>
                      </a:r>
                    </a:p>
                  </a:txBody>
                  <a:tcPr marL="0" marR="0" marT="0" marB="0">
                    <a:solidFill>
                      <a:srgbClr val="ECD3D9"/>
                    </a:solidFill>
                  </a:tcPr>
                </a:tc>
                <a:tc>
                  <a:txBody>
                    <a:bodyPr/>
                    <a:lstStyle/>
                    <a:p>
                      <a:pPr algn="ctr">
                        <a:defRPr sz="1000">
                          <a:latin typeface="Montserrat"/>
                        </a:defRPr>
                      </a:pPr>
                      <a:r>
                        <a:t>35.5%</a:t>
                      </a:r>
                    </a:p>
                  </a:txBody>
                  <a:tcPr marL="0" marR="0" marT="0" marB="0">
                    <a:solidFill>
                      <a:srgbClr val="ECD3D9"/>
                    </a:solidFill>
                  </a:tcPr>
                </a:tc>
              </a:tr>
              <a:tr h="151200">
                <a:tc>
                  <a:txBody>
                    <a:bodyPr/>
                    <a:lstStyle/>
                    <a:p>
                      <a:pPr algn="l">
                        <a:defRPr sz="1000">
                          <a:latin typeface="Montserrat"/>
                        </a:defRPr>
                      </a:pPr>
                      <a:r>
                        <a:t>UMF 49 Sain Alto</a:t>
                      </a:r>
                    </a:p>
                  </a:txBody>
                  <a:tcPr marL="0" marR="0" marT="0" marB="0">
                    <a:solidFill>
                      <a:srgbClr val="FFFFFF"/>
                    </a:solidFill>
                  </a:tcPr>
                </a:tc>
                <a:tc>
                  <a:txBody>
                    <a:bodyPr/>
                    <a:lstStyle/>
                    <a:p>
                      <a:pPr algn="ctr">
                        <a:defRPr sz="1000">
                          <a:latin typeface="Montserrat"/>
                        </a:defRPr>
                      </a:pPr>
                      <a:r>
                        <a:t>12,019</a:t>
                      </a:r>
                    </a:p>
                  </a:txBody>
                  <a:tcPr marL="0" marR="0" marT="0" marB="0">
                    <a:solidFill>
                      <a:srgbClr val="FFFFFF"/>
                    </a:solidFill>
                  </a:tcPr>
                </a:tc>
                <a:tc>
                  <a:txBody>
                    <a:bodyPr/>
                    <a:lstStyle/>
                    <a:p>
                      <a:pPr algn="ctr">
                        <a:defRPr sz="1000">
                          <a:latin typeface="Montserrat"/>
                        </a:defRPr>
                      </a:pPr>
                      <a:r>
                        <a:t>121</a:t>
                      </a:r>
                    </a:p>
                  </a:txBody>
                  <a:tcPr marL="0" marR="0" marT="0" marB="0">
                    <a:solidFill>
                      <a:srgbClr val="FFFFFF"/>
                    </a:solidFill>
                  </a:tcPr>
                </a:tc>
                <a:tc>
                  <a:txBody>
                    <a:bodyPr/>
                    <a:lstStyle/>
                    <a:p>
                      <a:pPr algn="ctr">
                        <a:defRPr sz="1000">
                          <a:latin typeface="Montserrat"/>
                        </a:defRPr>
                      </a:pPr>
                      <a:r>
                        <a:t>4,907</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37.7%</a:t>
                      </a:r>
                    </a:p>
                  </a:txBody>
                  <a:tcPr marL="0" marR="0" marT="0" marB="0">
                    <a:solidFill>
                      <a:srgbClr val="ECD3D9"/>
                    </a:solidFill>
                  </a:tcPr>
                </a:tc>
              </a:tr>
              <a:tr h="151200">
                <a:tc>
                  <a:txBody>
                    <a:bodyPr/>
                    <a:lstStyle/>
                    <a:p>
                      <a:pPr algn="l">
                        <a:defRPr sz="1000">
                          <a:latin typeface="Montserrat"/>
                        </a:defRPr>
                      </a:pPr>
                      <a:r>
                        <a:t>UMF 52 Cañitas de F. Pescador</a:t>
                      </a:r>
                    </a:p>
                  </a:txBody>
                  <a:tcPr marL="0" marR="0" marT="0" marB="0">
                    <a:solidFill>
                      <a:srgbClr val="EFEFEF"/>
                    </a:solidFill>
                  </a:tcPr>
                </a:tc>
                <a:tc>
                  <a:txBody>
                    <a:bodyPr/>
                    <a:lstStyle/>
                    <a:p>
                      <a:pPr algn="ctr">
                        <a:defRPr sz="1000">
                          <a:latin typeface="Montserrat"/>
                        </a:defRPr>
                      </a:pPr>
                      <a:r>
                        <a:t>12,676</a:t>
                      </a:r>
                    </a:p>
                  </a:txBody>
                  <a:tcPr marL="0" marR="0" marT="0" marB="0">
                    <a:solidFill>
                      <a:srgbClr val="EFEFEF"/>
                    </a:solidFill>
                  </a:tcPr>
                </a:tc>
                <a:tc>
                  <a:txBody>
                    <a:bodyPr/>
                    <a:lstStyle/>
                    <a:p>
                      <a:pPr algn="ctr">
                        <a:defRPr sz="1000">
                          <a:latin typeface="Montserrat"/>
                        </a:defRPr>
                      </a:pPr>
                      <a:r>
                        <a:t>2,993</a:t>
                      </a:r>
                    </a:p>
                  </a:txBody>
                  <a:tcPr marL="0" marR="0" marT="0" marB="0">
                    <a:solidFill>
                      <a:srgbClr val="EFEFEF"/>
                    </a:solidFill>
                  </a:tcPr>
                </a:tc>
                <a:tc>
                  <a:txBody>
                    <a:bodyPr/>
                    <a:lstStyle/>
                    <a:p>
                      <a:pPr algn="ctr">
                        <a:defRPr sz="1000">
                          <a:latin typeface="Montserrat"/>
                        </a:defRPr>
                      </a:pPr>
                      <a:r>
                        <a:t>5,117</a:t>
                      </a:r>
                    </a:p>
                  </a:txBody>
                  <a:tcPr marL="0" marR="0" marT="0" marB="0">
                    <a:solidFill>
                      <a:srgbClr val="ECD3D9"/>
                    </a:solidFill>
                  </a:tcPr>
                </a:tc>
                <a:tc>
                  <a:txBody>
                    <a:bodyPr/>
                    <a:lstStyle/>
                    <a:p>
                      <a:pPr algn="ctr">
                        <a:defRPr sz="1000">
                          <a:latin typeface="Montserrat"/>
                        </a:defRPr>
                      </a:pPr>
                      <a:r>
                        <a:t>11,000</a:t>
                      </a:r>
                    </a:p>
                  </a:txBody>
                  <a:tcPr marL="0" marR="0" marT="0" marB="0">
                    <a:solidFill>
                      <a:srgbClr val="ECD3D9"/>
                    </a:solidFill>
                  </a:tcPr>
                </a:tc>
                <a:tc>
                  <a:txBody>
                    <a:bodyPr/>
                    <a:lstStyle/>
                    <a:p>
                      <a:pPr algn="ctr">
                        <a:defRPr sz="1000">
                          <a:latin typeface="Montserrat"/>
                        </a:defRPr>
                      </a:pPr>
                      <a:r>
                        <a:t>46.5%</a:t>
                      </a:r>
                    </a:p>
                  </a:txBody>
                  <a:tcPr marL="0" marR="0" marT="0" marB="0">
                    <a:solidFill>
                      <a:srgbClr val="ECD3D9"/>
                    </a:solidFill>
                  </a:tcPr>
                </a:tc>
              </a:tr>
              <a:tr h="151200">
                <a:tc>
                  <a:txBody>
                    <a:bodyPr/>
                    <a:lstStyle/>
                    <a:p>
                      <a:pPr algn="l">
                        <a:defRPr sz="1000">
                          <a:latin typeface="Montserrat"/>
                        </a:defRPr>
                      </a:pPr>
                      <a:r>
                        <a:t>UMF 57 Zacatecas</a:t>
                      </a:r>
                    </a:p>
                  </a:txBody>
                  <a:tcPr marL="0" marR="0" marT="0" marB="0">
                    <a:solidFill>
                      <a:srgbClr val="FFFFFF"/>
                    </a:solidFill>
                  </a:tcPr>
                </a:tc>
                <a:tc>
                  <a:txBody>
                    <a:bodyPr/>
                    <a:lstStyle/>
                    <a:p>
                      <a:pPr algn="ctr">
                        <a:defRPr sz="1000">
                          <a:latin typeface="Montserrat"/>
                        </a:defRPr>
                      </a:pPr>
                      <a:r>
                        <a:t>129,125</a:t>
                      </a:r>
                    </a:p>
                  </a:txBody>
                  <a:tcPr marL="0" marR="0" marT="0" marB="0">
                    <a:solidFill>
                      <a:srgbClr val="FFFFFF"/>
                    </a:solidFill>
                  </a:tcPr>
                </a:tc>
                <a:tc>
                  <a:txBody>
                    <a:bodyPr/>
                    <a:lstStyle/>
                    <a:p>
                      <a:pPr algn="ctr">
                        <a:defRPr sz="1000">
                          <a:latin typeface="Montserrat"/>
                        </a:defRPr>
                      </a:pPr>
                      <a:r>
                        <a:t>8,555</a:t>
                      </a:r>
                    </a:p>
                  </a:txBody>
                  <a:tcPr marL="0" marR="0" marT="0" marB="0">
                    <a:solidFill>
                      <a:srgbClr val="FFFFFF"/>
                    </a:solidFill>
                  </a:tcPr>
                </a:tc>
                <a:tc>
                  <a:txBody>
                    <a:bodyPr/>
                    <a:lstStyle/>
                    <a:p>
                      <a:pPr algn="ctr">
                        <a:defRPr sz="1000">
                          <a:latin typeface="Montserrat"/>
                        </a:defRPr>
                      </a:pPr>
                      <a:r>
                        <a:t>48,753</a:t>
                      </a:r>
                    </a:p>
                  </a:txBody>
                  <a:tcPr marL="0" marR="0" marT="0" marB="0">
                    <a:solidFill>
                      <a:srgbClr val="ECD3D9"/>
                    </a:solidFill>
                  </a:tcPr>
                </a:tc>
                <a:tc>
                  <a:txBody>
                    <a:bodyPr/>
                    <a:lstStyle/>
                    <a:p>
                      <a:pPr algn="ctr">
                        <a:defRPr sz="1000">
                          <a:latin typeface="Montserrat"/>
                        </a:defRPr>
                      </a:pPr>
                      <a:r>
                        <a:t>125,280</a:t>
                      </a:r>
                    </a:p>
                  </a:txBody>
                  <a:tcPr marL="0" marR="0" marT="0" marB="0">
                    <a:solidFill>
                      <a:srgbClr val="ECD3D9"/>
                    </a:solidFill>
                  </a:tcPr>
                </a:tc>
                <a:tc>
                  <a:txBody>
                    <a:bodyPr/>
                    <a:lstStyle/>
                    <a:p>
                      <a:pPr algn="ctr">
                        <a:defRPr sz="1000">
                          <a:latin typeface="Montserrat"/>
                        </a:defRPr>
                      </a:pPr>
                      <a:r>
                        <a:t>38.9%</a:t>
                      </a:r>
                    </a:p>
                  </a:txBody>
                  <a:tcPr marL="0" marR="0" marT="0" marB="0">
                    <a:solidFill>
                      <a:srgbClr val="ECD3D9"/>
                    </a:solidFill>
                  </a:tcPr>
                </a:tc>
              </a:tr>
              <a:tr h="151200">
                <a:tc>
                  <a:txBody>
                    <a:bodyPr/>
                    <a:lstStyle/>
                    <a:p>
                      <a:pPr algn="l">
                        <a:defRPr sz="1000">
                          <a:latin typeface="Montserrat"/>
                        </a:defRPr>
                      </a:pPr>
                      <a:r>
                        <a:t>UMF 58 Villa Fontana </a:t>
                      </a:r>
                    </a:p>
                  </a:txBody>
                  <a:tcPr marL="0" marR="0" marT="0" marB="0">
                    <a:solidFill>
                      <a:srgbClr val="EFEFEF"/>
                    </a:solidFill>
                  </a:tcPr>
                </a:tc>
                <a:tc>
                  <a:txBody>
                    <a:bodyPr/>
                    <a:lstStyle/>
                    <a:p>
                      <a:pPr algn="ctr">
                        <a:defRPr sz="1000">
                          <a:latin typeface="Montserrat"/>
                        </a:defRPr>
                      </a:pPr>
                      <a:r>
                        <a:t>73,427</a:t>
                      </a:r>
                    </a:p>
                  </a:txBody>
                  <a:tcPr marL="0" marR="0" marT="0" marB="0">
                    <a:solidFill>
                      <a:srgbClr val="EFEFEF"/>
                    </a:solidFill>
                  </a:tcPr>
                </a:tc>
                <a:tc>
                  <a:txBody>
                    <a:bodyPr/>
                    <a:lstStyle/>
                    <a:p>
                      <a:pPr algn="ctr">
                        <a:defRPr sz="1000">
                          <a:latin typeface="Montserrat"/>
                        </a:defRPr>
                      </a:pPr>
                      <a:r>
                        <a:t>73,427</a:t>
                      </a:r>
                    </a:p>
                  </a:txBody>
                  <a:tcPr marL="0" marR="0" marT="0" marB="0">
                    <a:solidFill>
                      <a:srgbClr val="EFEFEF"/>
                    </a:solidFill>
                  </a:tcPr>
                </a:tc>
                <a:tc>
                  <a:txBody>
                    <a:bodyPr/>
                    <a:lstStyle/>
                    <a:p>
                      <a:pPr algn="ctr">
                        <a:defRPr sz="1000">
                          <a:latin typeface="Montserrat"/>
                        </a:defRPr>
                      </a:pPr>
                      <a:r>
                        <a:t>30,362</a:t>
                      </a:r>
                    </a:p>
                  </a:txBody>
                  <a:tcPr marL="0" marR="0" marT="0" marB="0">
                    <a:solidFill>
                      <a:srgbClr val="ECD3D9"/>
                    </a:solidFill>
                  </a:tcPr>
                </a:tc>
                <a:tc>
                  <a:txBody>
                    <a:bodyPr/>
                    <a:lstStyle/>
                    <a:p>
                      <a:pPr algn="ctr">
                        <a:defRPr sz="1000">
                          <a:latin typeface="Montserrat"/>
                        </a:defRPr>
                      </a:pPr>
                      <a:r>
                        <a:t>75,168</a:t>
                      </a:r>
                    </a:p>
                  </a:txBody>
                  <a:tcPr marL="0" marR="0" marT="0" marB="0">
                    <a:solidFill>
                      <a:srgbClr val="ECD3D9"/>
                    </a:solidFill>
                  </a:tcPr>
                </a:tc>
                <a:tc>
                  <a:txBody>
                    <a:bodyPr/>
                    <a:lstStyle/>
                    <a:p>
                      <a:pPr algn="ctr">
                        <a:defRPr sz="1000">
                          <a:latin typeface="Montserrat"/>
                        </a:defRPr>
                      </a:pPr>
                      <a:r>
                        <a:t>40.4%</a:t>
                      </a:r>
                    </a:p>
                  </a:txBody>
                  <a:tcPr marL="0" marR="0" marT="0" marB="0">
                    <a:solidFill>
                      <a:srgbClr val="ECD3D9"/>
                    </a:solidFill>
                  </a:tcPr>
                </a:tc>
              </a:tr>
              <a:tr h="151200">
                <a:tc>
                  <a:txBody>
                    <a:bodyPr/>
                    <a:lstStyle/>
                    <a:p>
                      <a:pPr algn="ctr">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780,799</a:t>
                      </a:r>
                    </a:p>
                  </a:txBody>
                  <a:tcPr marL="0" marR="0" marT="0" marB="0">
                    <a:solidFill>
                      <a:srgbClr val="D3E9E7"/>
                    </a:solidFill>
                  </a:tcPr>
                </a:tc>
                <a:tc>
                  <a:txBody>
                    <a:bodyPr/>
                    <a:lstStyle/>
                    <a:p>
                      <a:pPr algn="ctr">
                        <a:defRPr sz="1000" b="1">
                          <a:solidFill>
                            <a:srgbClr val="006556"/>
                          </a:solidFill>
                          <a:latin typeface="Montserrat"/>
                        </a:defRPr>
                      </a:pPr>
                      <a:r>
                        <a:t>149,677</a:t>
                      </a:r>
                    </a:p>
                  </a:txBody>
                  <a:tcPr marL="0" marR="0" marT="0" marB="0">
                    <a:solidFill>
                      <a:srgbClr val="D3E9E7"/>
                    </a:solidFill>
                  </a:tcPr>
                </a:tc>
                <a:tc>
                  <a:txBody>
                    <a:bodyPr/>
                    <a:lstStyle/>
                    <a:p>
                      <a:pPr algn="ctr">
                        <a:defRPr sz="1000" b="1">
                          <a:solidFill>
                            <a:srgbClr val="FFFFFF"/>
                          </a:solidFill>
                          <a:latin typeface="Montserrat"/>
                        </a:defRPr>
                      </a:pPr>
                      <a:r>
                        <a:t>317,914</a:t>
                      </a:r>
                    </a:p>
                  </a:txBody>
                  <a:tcPr marL="0" marR="0" marT="0" marB="0">
                    <a:solidFill>
                      <a:srgbClr val="9F2241"/>
                    </a:solidFill>
                  </a:tcPr>
                </a:tc>
                <a:tc>
                  <a:txBody>
                    <a:bodyPr/>
                    <a:lstStyle/>
                    <a:p>
                      <a:pPr algn="ctr">
                        <a:defRPr sz="1000" b="1">
                          <a:solidFill>
                            <a:srgbClr val="FFFFFF"/>
                          </a:solidFill>
                          <a:latin typeface="Montserrat"/>
                        </a:defRPr>
                      </a:pPr>
                      <a:r>
                        <a:t>825,652</a:t>
                      </a:r>
                    </a:p>
                  </a:txBody>
                  <a:tcPr marL="0" marR="0" marT="0" marB="0">
                    <a:solidFill>
                      <a:srgbClr val="9F2241"/>
                    </a:solidFill>
                  </a:tcPr>
                </a:tc>
                <a:tc>
                  <a:txBody>
                    <a:bodyPr/>
                    <a:lstStyle/>
                    <a:p>
                      <a:pPr algn="ctr">
                        <a:defRPr sz="1000" b="1">
                          <a:solidFill>
                            <a:srgbClr val="FFFFFF"/>
                          </a:solidFill>
                          <a:latin typeface="Montserrat"/>
                        </a:defRPr>
                      </a:pPr>
                      <a:r>
                        <a:t>38.5%</a:t>
                      </a:r>
                    </a:p>
                  </a:txBody>
                  <a:tcPr marL="0" marR="0" marT="0" marB="0">
                    <a:solidFill>
                      <a:srgbClr val="9F2241"/>
                    </a:solidFill>
                  </a:tcPr>
                </a:tc>
              </a:tr>
            </a:tbl>
          </a:graphicData>
        </a:graphic>
      </p:graphicFrame>
      <p:graphicFrame>
        <p:nvGraphicFramePr>
          <p:cNvPr id="9" name="Chart 8"/>
          <p:cNvGraphicFramePr>
            <a:graphicFrameLocks noGrp="1"/>
          </p:cNvGraphicFramePr>
          <p:nvPr/>
        </p:nvGraphicFramePr>
        <p:xfrm>
          <a:off x="4780800" y="7552800"/>
          <a:ext cx="1800000" cy="1800000"/>
        </p:xfrm>
        <a:graphic>
          <a:graphicData uri="http://schemas.openxmlformats.org/drawingml/2006/chart">
            <c:chart xmlns:c="http://schemas.openxmlformats.org/drawingml/2006/chart" r:id="rId4"/>
          </a:graphicData>
        </a:graphic>
      </p:graphicFrame>
      <p:sp>
        <p:nvSpPr>
          <p:cNvPr id="10" name="TextBox 9"/>
          <p:cNvSpPr txBox="1"/>
          <p:nvPr/>
        </p:nvSpPr>
        <p:spPr>
          <a:xfrm>
            <a:off x="4780800" y="8272800"/>
            <a:ext cx="1800000" cy="360000"/>
          </a:xfrm>
          <a:prstGeom prst="rect">
            <a:avLst/>
          </a:prstGeom>
          <a:noFill/>
        </p:spPr>
        <p:txBody>
          <a:bodyPr wrap="none">
            <a:spAutoFit/>
          </a:bodyPr>
          <a:lstStyle/>
          <a:p>
            <a:pPr algn="ctr"/>
            <a:r>
              <a:rPr sz="2400" b="1">
                <a:solidFill>
                  <a:srgbClr val="9F2241"/>
                </a:solidFill>
                <a:latin typeface="Montserrat"/>
              </a:rPr>
              <a:t>38.5%</a:t>
            </a:r>
          </a:p>
        </p:txBody>
      </p:sp>
      <p:sp>
        <p:nvSpPr>
          <p:cNvPr id="11" name="TextBox 10"/>
          <p:cNvSpPr txBox="1"/>
          <p:nvPr/>
        </p:nvSpPr>
        <p:spPr>
          <a:xfrm>
            <a:off x="4780800" y="91728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2" name="TextBox 11"/>
          <p:cNvSpPr txBox="1"/>
          <p:nvPr/>
        </p:nvSpPr>
        <p:spPr>
          <a:xfrm>
            <a:off x="730799" y="7552800"/>
            <a:ext cx="2854800" cy="1198800"/>
          </a:xfrm>
          <a:prstGeom prst="rect">
            <a:avLst/>
          </a:prstGeom>
          <a:noFill/>
        </p:spPr>
        <p:txBody>
          <a:bodyPr wrap="square">
            <a:spAutoFit/>
          </a:bodyPr>
          <a:lstStyle/>
          <a:p>
            <a:pPr algn="ctr">
              <a:defRPr sz="3600" b="1">
                <a:solidFill>
                  <a:srgbClr val="9F2241"/>
                </a:solidFill>
                <a:latin typeface="Montserrat"/>
              </a:defRPr>
            </a:pPr>
            <a:r>
              <a:t>825,652 </a:t>
            </a:r>
            <a:br/>
            <a:r>
              <a:t>Meta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p:cNvGrpSpPr/>
        <p:nvPr/>
      </p:nvGrpSpPr>
      <p:grpSpPr>
        <a:xfrm>
          <a:off x="0" y="0"/>
          <a:ext cx="0" cy="0"/>
          <a:chOff x="0" y="0"/>
          <a:chExt cx="0" cy="0"/>
        </a:xfrm>
      </p:grpSpPr>
      <p:sp>
        <p:nvSpPr>
          <p:cNvPr id="16" name="CuadroTexto 15">
            <a:extLst>
              <a:ext uri="{FF2B5EF4-FFF2-40B4-BE49-F238E27FC236}">
                <a16:creationId xmlns:a16="http://schemas.microsoft.com/office/drawing/2014/main" id="{D8E6FE26-E3D6-2FE1-3614-28AED108C910}"/>
              </a:ext>
            </a:extLst>
          </p:cNvPr>
          <p:cNvSpPr txBox="1"/>
          <p:nvPr/>
        </p:nvSpPr>
        <p:spPr>
          <a:xfrm>
            <a:off x="4251107" y="5086446"/>
            <a:ext cx="3006672" cy="1015663"/>
          </a:xfrm>
          <a:prstGeom prst="rect">
            <a:avLst/>
          </a:prstGeom>
          <a:noFill/>
        </p:spPr>
        <p:txBody>
          <a:bodyPr wrap="square">
            <a:spAutoFit/>
          </a:bodyPr>
          <a:lstStyle/>
          <a:p>
            <a:pPr algn="ctr">
              <a:defRPr sz="2000" b="1">
                <a:solidFill>
                  <a:srgbClr val="5B0F00"/>
                </a:solidFill>
                <a:latin typeface="Montserrat"/>
              </a:defRPr>
            </a:pPr>
            <a:r>
              <a:rPr lang="es-MX" dirty="0"/>
              <a:t>Proyectos 2026</a:t>
            </a:r>
          </a:p>
          <a:p>
            <a:pPr algn="ctr">
              <a:defRPr sz="2000" b="1">
                <a:solidFill>
                  <a:srgbClr val="5B0F00"/>
                </a:solidFill>
                <a:latin typeface="Montserrat"/>
              </a:defRPr>
            </a:pPr>
            <a:r>
              <a:rPr lang="es-MX" dirty="0"/>
              <a:t>6 Nuevas UMTC con   14 consultorios</a:t>
            </a:r>
          </a:p>
        </p:txBody>
      </p:sp>
      <p:sp>
        <p:nvSpPr>
          <p:cNvPr id="17" name="CuadroTexto 16">
            <a:extLst>
              <a:ext uri="{FF2B5EF4-FFF2-40B4-BE49-F238E27FC236}">
                <a16:creationId xmlns:a16="http://schemas.microsoft.com/office/drawing/2014/main" id="{165E3FD0-F29E-073F-F5F4-0BC9710BF7A9}"/>
              </a:ext>
            </a:extLst>
          </p:cNvPr>
          <p:cNvSpPr txBox="1"/>
          <p:nvPr/>
        </p:nvSpPr>
        <p:spPr>
          <a:xfrm>
            <a:off x="4675225" y="6132637"/>
            <a:ext cx="2634711" cy="1384995"/>
          </a:xfrm>
          <a:prstGeom prst="rect">
            <a:avLst/>
          </a:prstGeom>
          <a:noFill/>
        </p:spPr>
        <p:txBody>
          <a:bodyPr wrap="square">
            <a:spAutoFit/>
          </a:bodyPr>
          <a:lstStyle/>
          <a:p>
            <a:pPr marL="342900" indent="-342900">
              <a:buFont typeface="+mj-lt"/>
              <a:buAutoNum type="arabicParenR"/>
            </a:pPr>
            <a:r>
              <a:rPr lang="es-MX" dirty="0">
                <a:latin typeface="Montserrat" panose="00000500000000000000" pitchFamily="2" charset="0"/>
              </a:rPr>
              <a:t>UMF 5 Jerez</a:t>
            </a:r>
          </a:p>
          <a:p>
            <a:pPr marL="342900" indent="-342900">
              <a:buFont typeface="+mj-lt"/>
              <a:buAutoNum type="arabicParenR"/>
            </a:pPr>
            <a:r>
              <a:rPr lang="es-MX" dirty="0">
                <a:latin typeface="Montserrat" panose="00000500000000000000" pitchFamily="2" charset="0"/>
              </a:rPr>
              <a:t>UMF 58 Villa Fontana </a:t>
            </a:r>
          </a:p>
          <a:p>
            <a:pPr marL="342900" indent="-342900">
              <a:buFont typeface="+mj-lt"/>
              <a:buAutoNum type="arabicParenR"/>
            </a:pPr>
            <a:r>
              <a:rPr lang="es-MX" dirty="0">
                <a:latin typeface="Montserrat" panose="00000500000000000000" pitchFamily="2" charset="0"/>
              </a:rPr>
              <a:t>UMF 7 Sombrerete</a:t>
            </a:r>
          </a:p>
          <a:p>
            <a:pPr marL="342900" indent="-342900">
              <a:buFont typeface="+mj-lt"/>
              <a:buAutoNum type="arabicParenR"/>
            </a:pPr>
            <a:r>
              <a:rPr lang="es-MX" dirty="0">
                <a:latin typeface="Montserrat" panose="00000500000000000000" pitchFamily="2" charset="0"/>
              </a:rPr>
              <a:t>UMF 33 Morelos</a:t>
            </a:r>
          </a:p>
          <a:p>
            <a:pPr marL="342900" indent="-342900">
              <a:buFont typeface="+mj-lt"/>
              <a:buAutoNum type="arabicParenR"/>
            </a:pPr>
            <a:r>
              <a:rPr lang="es-MX" dirty="0">
                <a:latin typeface="Montserrat" panose="00000500000000000000" pitchFamily="2" charset="0"/>
              </a:rPr>
              <a:t>UMF 1 Zacatecas</a:t>
            </a:r>
          </a:p>
          <a:p>
            <a:pPr marL="342900" indent="-342900">
              <a:buFont typeface="+mj-lt"/>
              <a:buAutoNum type="arabicParenR"/>
            </a:pPr>
            <a:r>
              <a:rPr lang="es-MX" dirty="0">
                <a:latin typeface="Montserrat" panose="00000500000000000000" pitchFamily="2" charset="0"/>
              </a:rPr>
              <a:t>UMF 57 Zacatecas</a:t>
            </a:r>
          </a:p>
        </p:txBody>
      </p:sp>
      <p:sp>
        <p:nvSpPr>
          <p:cNvPr id="18" name="TextBox 1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19" name="TextBox 18"/>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35 Unidades de Medicina Familiar</a:t>
            </a:r>
          </a:p>
        </p:txBody>
      </p:sp>
      <p:sp>
        <p:nvSpPr>
          <p:cNvPr id="20" name="TextBox 19"/>
          <p:cNvSpPr txBox="1"/>
          <p:nvPr/>
        </p:nvSpPr>
        <p:spPr>
          <a:xfrm>
            <a:off x="147600" y="917999"/>
            <a:ext cx="7473600" cy="381600"/>
          </a:xfrm>
          <a:prstGeom prst="rect">
            <a:avLst/>
          </a:prstGeom>
          <a:noFill/>
        </p:spPr>
        <p:txBody>
          <a:bodyPr wrap="none">
            <a:spAutoFit/>
          </a:bodyPr>
          <a:lstStyle/>
          <a:p>
            <a:pPr algn="l">
              <a:defRPr sz="1600" b="1">
                <a:solidFill>
                  <a:srgbClr val="5B0F00"/>
                </a:solidFill>
                <a:latin typeface="Montserrat"/>
              </a:defRPr>
            </a:pPr>
            <a:r>
              <a:t>3 Unidades Médicas de tiempo completo (10 consultorios)</a:t>
            </a:r>
          </a:p>
        </p:txBody>
      </p:sp>
      <p:sp>
        <p:nvSpPr>
          <p:cNvPr id="21" name="TextBox 20"/>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22" name="Connector 21"/>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 del 26 de Dic de 2024 al 25 de Dic de 2025).</a:t>
            </a:r>
            <a:br/>
            <a:r>
              <a:t>Corte de información: Semana 21, 17 mayo 2026</a:t>
            </a:r>
          </a:p>
        </p:txBody>
      </p:sp>
      <p:sp>
        <p:nvSpPr>
          <p:cNvPr id="24" name="TextBox 23"/>
          <p:cNvSpPr txBox="1"/>
          <p:nvPr/>
        </p:nvSpPr>
        <p:spPr>
          <a:xfrm>
            <a:off x="1940400" y="5432400"/>
            <a:ext cx="1810800" cy="1569600"/>
          </a:xfrm>
          <a:prstGeom prst="rect">
            <a:avLst/>
          </a:prstGeom>
          <a:noFill/>
        </p:spPr>
        <p:txBody>
          <a:bodyPr wrap="square">
            <a:spAutoFit/>
          </a:bodyPr>
          <a:lstStyle/>
          <a:p>
            <a:pPr algn="l">
              <a:defRPr sz="1600" b="1">
                <a:solidFill>
                  <a:srgbClr val="000000"/>
                </a:solidFill>
                <a:latin typeface="Montserrat"/>
              </a:defRPr>
            </a:pPr>
            <a:r>
              <a:t>de las consultas en 2025 fueron en fin de semana (61,010 consultas)</a:t>
            </a:r>
          </a:p>
        </p:txBody>
      </p:sp>
      <p:graphicFrame>
        <p:nvGraphicFramePr>
          <p:cNvPr id="25" name="Table 24"/>
          <p:cNvGraphicFramePr>
            <a:graphicFrameLocks noGrp="1"/>
          </p:cNvGraphicFramePr>
          <p:nvPr/>
        </p:nvGraphicFramePr>
        <p:xfrm>
          <a:off x="151200" y="1695600"/>
          <a:ext cx="7473599" cy="7560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2025</a:t>
                      </a:r>
                    </a:p>
                  </a:txBody>
                  <a:tcPr anchor="ctr">
                    <a:solidFill>
                      <a:srgbClr val="006455"/>
                    </a:solidFill>
                  </a:tcPr>
                </a:tc>
                <a:tc>
                  <a:txBody>
                    <a:bodyPr/>
                    <a:lstStyle/>
                    <a:p>
                      <a:pPr algn="ctr">
                        <a:defRPr b="1" sz="1000">
                          <a:solidFill>
                            <a:srgbClr val="FFFFFF"/>
                          </a:solidFill>
                          <a:latin typeface="Montserrat"/>
                        </a:defRPr>
                      </a:pPr>
                      <a:r>
                        <a:t>Incremento 2024 vs 2025</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solidFill>
                            <a:srgbClr val="000000"/>
                          </a:solidFill>
                          <a:latin typeface="Montserrat"/>
                        </a:defRPr>
                      </a:pPr>
                      <a:r>
                        <a:t>UMF 21 Víctor Rosales</a:t>
                      </a:r>
                    </a:p>
                  </a:txBody>
                  <a:tcPr marL="0" marR="0" marT="0" marB="0">
                    <a:solidFill>
                      <a:srgbClr val="FFFFFF"/>
                    </a:solidFill>
                  </a:tcPr>
                </a:tc>
                <a:tc>
                  <a:txBody>
                    <a:bodyPr/>
                    <a:lstStyle/>
                    <a:p>
                      <a:pPr algn="ctr">
                        <a:defRPr sz="1000">
                          <a:solidFill>
                            <a:srgbClr val="000000"/>
                          </a:solidFill>
                          <a:latin typeface="Montserrat"/>
                        </a:defRPr>
                      </a:pPr>
                      <a:r>
                        <a:t>49,683</a:t>
                      </a:r>
                    </a:p>
                  </a:txBody>
                  <a:tcPr marL="0" marR="0" marT="0" marB="0">
                    <a:solidFill>
                      <a:srgbClr val="FFFFFF"/>
                    </a:solidFill>
                  </a:tcPr>
                </a:tc>
                <a:tc>
                  <a:txBody>
                    <a:bodyPr/>
                    <a:lstStyle/>
                    <a:p>
                      <a:pPr algn="ctr">
                        <a:defRPr sz="1000">
                          <a:solidFill>
                            <a:srgbClr val="000000"/>
                          </a:solidFill>
                          <a:latin typeface="Montserrat"/>
                        </a:defRPr>
                      </a:pPr>
                      <a:r>
                        <a:t>12,620</a:t>
                      </a:r>
                    </a:p>
                  </a:txBody>
                  <a:tcPr marL="0" marR="0" marT="0" marB="0">
                    <a:solidFill>
                      <a:srgbClr val="FFFFFF"/>
                    </a:solidFill>
                  </a:tcPr>
                </a:tc>
                <a:tc>
                  <a:txBody>
                    <a:bodyPr/>
                    <a:lstStyle/>
                    <a:p>
                      <a:pPr algn="ctr">
                        <a:defRPr sz="1000">
                          <a:solidFill>
                            <a:srgbClr val="000000"/>
                          </a:solidFill>
                          <a:latin typeface="Montserrat"/>
                        </a:defRPr>
                      </a:pPr>
                      <a:r>
                        <a:t>21,579</a:t>
                      </a:r>
                    </a:p>
                  </a:txBody>
                  <a:tcPr marL="0" marR="0" marT="0" marB="0">
                    <a:solidFill>
                      <a:srgbClr val="ECD3D9"/>
                    </a:solidFill>
                  </a:tcPr>
                </a:tc>
                <a:tc>
                  <a:txBody>
                    <a:bodyPr/>
                    <a:lstStyle/>
                    <a:p>
                      <a:pPr algn="ctr">
                        <a:defRPr sz="1000">
                          <a:solidFill>
                            <a:srgbClr val="000000"/>
                          </a:solidFill>
                          <a:latin typeface="Montserrat"/>
                        </a:defRPr>
                      </a:pPr>
                      <a:r>
                        <a:t>49,000</a:t>
                      </a:r>
                    </a:p>
                  </a:txBody>
                  <a:tcPr marL="0" marR="0" marT="0" marB="0">
                    <a:solidFill>
                      <a:srgbClr val="ECD3D9"/>
                    </a:solidFill>
                  </a:tcPr>
                </a:tc>
                <a:tc>
                  <a:txBody>
                    <a:bodyPr/>
                    <a:lstStyle/>
                    <a:p>
                      <a:pPr algn="ctr">
                        <a:defRPr sz="1000">
                          <a:solidFill>
                            <a:srgbClr val="000000"/>
                          </a:solidFill>
                          <a:latin typeface="Montserrat"/>
                        </a:defRPr>
                      </a:pPr>
                      <a:r>
                        <a:t>44.0%</a:t>
                      </a:r>
                    </a:p>
                  </a:txBody>
                  <a:tcPr marL="0" marR="0" marT="0" marB="0">
                    <a:solidFill>
                      <a:srgbClr val="ECD3D9"/>
                    </a:solidFill>
                  </a:tcPr>
                </a:tc>
              </a:tr>
              <a:tr h="151200">
                <a:tc>
                  <a:txBody>
                    <a:bodyPr/>
                    <a:lstStyle/>
                    <a:p>
                      <a:pPr algn="l">
                        <a:defRPr sz="1000">
                          <a:solidFill>
                            <a:srgbClr val="000000"/>
                          </a:solidFill>
                          <a:latin typeface="Montserrat"/>
                        </a:defRPr>
                      </a:pPr>
                      <a:r>
                        <a:t>UMF 4 Guadalupe</a:t>
                      </a:r>
                    </a:p>
                  </a:txBody>
                  <a:tcPr marL="0" marR="0" marT="0" marB="0">
                    <a:solidFill>
                      <a:srgbClr val="EFEFEF"/>
                    </a:solidFill>
                  </a:tcPr>
                </a:tc>
                <a:tc>
                  <a:txBody>
                    <a:bodyPr/>
                    <a:lstStyle/>
                    <a:p>
                      <a:pPr algn="ctr">
                        <a:defRPr sz="1000">
                          <a:solidFill>
                            <a:srgbClr val="000000"/>
                          </a:solidFill>
                          <a:latin typeface="Montserrat"/>
                        </a:defRPr>
                      </a:pPr>
                      <a:r>
                        <a:t>164,846</a:t>
                      </a:r>
                    </a:p>
                  </a:txBody>
                  <a:tcPr marL="0" marR="0" marT="0" marB="0">
                    <a:solidFill>
                      <a:srgbClr val="EFEFEF"/>
                    </a:solidFill>
                  </a:tcPr>
                </a:tc>
                <a:tc>
                  <a:txBody>
                    <a:bodyPr/>
                    <a:lstStyle/>
                    <a:p>
                      <a:pPr algn="ctr">
                        <a:defRPr sz="1000">
                          <a:solidFill>
                            <a:srgbClr val="000000"/>
                          </a:solidFill>
                          <a:latin typeface="Montserrat"/>
                        </a:defRPr>
                      </a:pPr>
                      <a:r>
                        <a:t>1,635</a:t>
                      </a:r>
                    </a:p>
                  </a:txBody>
                  <a:tcPr marL="0" marR="0" marT="0" marB="0">
                    <a:solidFill>
                      <a:srgbClr val="EFEFEF"/>
                    </a:solidFill>
                  </a:tcPr>
                </a:tc>
                <a:tc>
                  <a:txBody>
                    <a:bodyPr/>
                    <a:lstStyle/>
                    <a:p>
                      <a:pPr algn="ctr">
                        <a:defRPr sz="1000">
                          <a:solidFill>
                            <a:srgbClr val="000000"/>
                          </a:solidFill>
                          <a:latin typeface="Montserrat"/>
                        </a:defRPr>
                      </a:pPr>
                      <a:r>
                        <a:t>65,522</a:t>
                      </a:r>
                    </a:p>
                  </a:txBody>
                  <a:tcPr marL="0" marR="0" marT="0" marB="0">
                    <a:solidFill>
                      <a:srgbClr val="ECD3D9"/>
                    </a:solidFill>
                  </a:tcPr>
                </a:tc>
                <a:tc>
                  <a:txBody>
                    <a:bodyPr/>
                    <a:lstStyle/>
                    <a:p>
                      <a:pPr algn="ctr">
                        <a:defRPr sz="1000">
                          <a:solidFill>
                            <a:srgbClr val="000000"/>
                          </a:solidFill>
                          <a:latin typeface="Montserrat"/>
                        </a:defRPr>
                      </a:pPr>
                      <a:r>
                        <a:t>160,000</a:t>
                      </a:r>
                    </a:p>
                  </a:txBody>
                  <a:tcPr marL="0" marR="0" marT="0" marB="0">
                    <a:solidFill>
                      <a:srgbClr val="ECD3D9"/>
                    </a:solidFill>
                  </a:tcPr>
                </a:tc>
                <a:tc>
                  <a:txBody>
                    <a:bodyPr/>
                    <a:lstStyle/>
                    <a:p>
                      <a:pPr algn="ctr">
                        <a:defRPr sz="1000">
                          <a:solidFill>
                            <a:srgbClr val="000000"/>
                          </a:solidFill>
                          <a:latin typeface="Montserrat"/>
                        </a:defRPr>
                      </a:pPr>
                      <a:r>
                        <a:t>41.0%</a:t>
                      </a:r>
                    </a:p>
                  </a:txBody>
                  <a:tcPr marL="0" marR="0" marT="0" marB="0">
                    <a:solidFill>
                      <a:srgbClr val="ECD3D9"/>
                    </a:solidFill>
                  </a:tcPr>
                </a:tc>
              </a:tr>
              <a:tr h="151200">
                <a:tc>
                  <a:txBody>
                    <a:bodyPr/>
                    <a:lstStyle/>
                    <a:p>
                      <a:pPr algn="l">
                        <a:defRPr sz="1000">
                          <a:solidFill>
                            <a:srgbClr val="000000"/>
                          </a:solidFill>
                          <a:latin typeface="Montserrat"/>
                        </a:defRPr>
                      </a:pPr>
                      <a:r>
                        <a:t>UMF 55 Fresnillo</a:t>
                      </a:r>
                    </a:p>
                  </a:txBody>
                  <a:tcPr marL="0" marR="0" marT="0" marB="0">
                    <a:solidFill>
                      <a:srgbClr val="FFFFFF"/>
                    </a:solidFill>
                  </a:tcPr>
                </a:tc>
                <a:tc>
                  <a:txBody>
                    <a:bodyPr/>
                    <a:lstStyle/>
                    <a:p>
                      <a:pPr algn="ctr">
                        <a:defRPr sz="1000">
                          <a:solidFill>
                            <a:srgbClr val="000000"/>
                          </a:solidFill>
                          <a:latin typeface="Montserrat"/>
                        </a:defRPr>
                      </a:pPr>
                      <a:r>
                        <a:t>238,414</a:t>
                      </a:r>
                    </a:p>
                  </a:txBody>
                  <a:tcPr marL="0" marR="0" marT="0" marB="0">
                    <a:solidFill>
                      <a:srgbClr val="FFFFFF"/>
                    </a:solidFill>
                  </a:tcPr>
                </a:tc>
                <a:tc>
                  <a:txBody>
                    <a:bodyPr/>
                    <a:lstStyle/>
                    <a:p>
                      <a:pPr algn="ctr">
                        <a:defRPr sz="1000">
                          <a:solidFill>
                            <a:srgbClr val="000000"/>
                          </a:solidFill>
                          <a:latin typeface="Montserrat"/>
                        </a:defRPr>
                      </a:pPr>
                      <a:r>
                        <a:t>19,797</a:t>
                      </a:r>
                    </a:p>
                  </a:txBody>
                  <a:tcPr marL="0" marR="0" marT="0" marB="0">
                    <a:solidFill>
                      <a:srgbClr val="FFFFFF"/>
                    </a:solidFill>
                  </a:tcPr>
                </a:tc>
                <a:tc>
                  <a:txBody>
                    <a:bodyPr/>
                    <a:lstStyle/>
                    <a:p>
                      <a:pPr algn="ctr">
                        <a:defRPr sz="1000">
                          <a:solidFill>
                            <a:srgbClr val="000000"/>
                          </a:solidFill>
                          <a:latin typeface="Montserrat"/>
                        </a:defRPr>
                      </a:pPr>
                      <a:r>
                        <a:t>92,411</a:t>
                      </a:r>
                    </a:p>
                  </a:txBody>
                  <a:tcPr marL="0" marR="0" marT="0" marB="0">
                    <a:solidFill>
                      <a:srgbClr val="ECD3D9"/>
                    </a:solidFill>
                  </a:tcPr>
                </a:tc>
                <a:tc>
                  <a:txBody>
                    <a:bodyPr/>
                    <a:lstStyle/>
                    <a:p>
                      <a:pPr algn="ctr">
                        <a:defRPr sz="1000">
                          <a:solidFill>
                            <a:srgbClr val="000000"/>
                          </a:solidFill>
                          <a:latin typeface="Montserrat"/>
                        </a:defRPr>
                      </a:pPr>
                      <a:r>
                        <a:t>247,968</a:t>
                      </a:r>
                    </a:p>
                  </a:txBody>
                  <a:tcPr marL="0" marR="0" marT="0" marB="0">
                    <a:solidFill>
                      <a:srgbClr val="ECD3D9"/>
                    </a:solidFill>
                  </a:tcPr>
                </a:tc>
                <a:tc>
                  <a:txBody>
                    <a:bodyPr/>
                    <a:lstStyle/>
                    <a:p>
                      <a:pPr algn="ctr">
                        <a:defRPr sz="1000">
                          <a:solidFill>
                            <a:srgbClr val="000000"/>
                          </a:solidFill>
                          <a:latin typeface="Montserrat"/>
                        </a:defRPr>
                      </a:pPr>
                      <a:r>
                        <a:t>37.3%</a:t>
                      </a:r>
                    </a:p>
                  </a:txBody>
                  <a:tcPr marL="0" marR="0" marT="0" marB="0">
                    <a:solidFill>
                      <a:srgbClr val="ECD3D9"/>
                    </a:solidFill>
                  </a:tcPr>
                </a:tc>
              </a:tr>
              <a:tr h="151200">
                <a:tc>
                  <a:txBody>
                    <a:bodyPr/>
                    <a:lstStyle/>
                    <a:p>
                      <a:pPr algn="l">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452,943</a:t>
                      </a:r>
                    </a:p>
                  </a:txBody>
                  <a:tcPr marL="0" marR="0" marT="0" marB="0">
                    <a:solidFill>
                      <a:srgbClr val="D3E9E7"/>
                    </a:solidFill>
                  </a:tcPr>
                </a:tc>
                <a:tc>
                  <a:txBody>
                    <a:bodyPr/>
                    <a:lstStyle/>
                    <a:p>
                      <a:pPr algn="ctr">
                        <a:defRPr sz="1000" b="1">
                          <a:solidFill>
                            <a:srgbClr val="006556"/>
                          </a:solidFill>
                          <a:latin typeface="Montserrat"/>
                        </a:defRPr>
                      </a:pPr>
                      <a:r>
                        <a:t>34,052</a:t>
                      </a:r>
                    </a:p>
                  </a:txBody>
                  <a:tcPr marL="0" marR="0" marT="0" marB="0">
                    <a:solidFill>
                      <a:srgbClr val="D3E9E7"/>
                    </a:solidFill>
                  </a:tcPr>
                </a:tc>
                <a:tc>
                  <a:txBody>
                    <a:bodyPr/>
                    <a:lstStyle/>
                    <a:p>
                      <a:pPr algn="ctr">
                        <a:defRPr sz="1000" b="1">
                          <a:solidFill>
                            <a:srgbClr val="FFFFFF"/>
                          </a:solidFill>
                          <a:latin typeface="Montserrat"/>
                        </a:defRPr>
                      </a:pPr>
                      <a:r>
                        <a:t>179,512</a:t>
                      </a:r>
                    </a:p>
                  </a:txBody>
                  <a:tcPr marL="0" marR="0" marT="0" marB="0">
                    <a:solidFill>
                      <a:srgbClr val="9F2241"/>
                    </a:solidFill>
                  </a:tcPr>
                </a:tc>
                <a:tc>
                  <a:txBody>
                    <a:bodyPr/>
                    <a:lstStyle/>
                    <a:p>
                      <a:pPr algn="ctr">
                        <a:defRPr sz="1000" b="1">
                          <a:solidFill>
                            <a:srgbClr val="FFFFFF"/>
                          </a:solidFill>
                          <a:latin typeface="Montserrat"/>
                        </a:defRPr>
                      </a:pPr>
                      <a:r>
                        <a:t>456,968</a:t>
                      </a:r>
                    </a:p>
                  </a:txBody>
                  <a:tcPr marL="0" marR="0" marT="0" marB="0">
                    <a:solidFill>
                      <a:srgbClr val="9F2241"/>
                    </a:solidFill>
                  </a:tcPr>
                </a:tc>
                <a:tc>
                  <a:txBody>
                    <a:bodyPr/>
                    <a:lstStyle/>
                    <a:p>
                      <a:pPr algn="ctr">
                        <a:defRPr sz="1000" b="1">
                          <a:solidFill>
                            <a:srgbClr val="FFFFFF"/>
                          </a:solidFill>
                          <a:latin typeface="Montserrat"/>
                        </a:defRPr>
                      </a:pPr>
                      <a:r>
                        <a:t>39.3%</a:t>
                      </a:r>
                    </a:p>
                  </a:txBody>
                  <a:tcPr marL="0" marR="0" marT="0" marB="0">
                    <a:solidFill>
                      <a:srgbClr val="9F2241"/>
                    </a:solidFill>
                  </a:tcPr>
                </a:tc>
              </a:tr>
            </a:tbl>
          </a:graphicData>
        </a:graphic>
      </p:graphicFrame>
      <p:graphicFrame>
        <p:nvGraphicFramePr>
          <p:cNvPr id="26" name="Chart 25"/>
          <p:cNvGraphicFramePr>
            <a:graphicFrameLocks noGrp="1"/>
          </p:cNvGraphicFramePr>
          <p:nvPr/>
        </p:nvGraphicFramePr>
        <p:xfrm>
          <a:off x="385200" y="5400000"/>
          <a:ext cx="1555200" cy="1533600"/>
        </p:xfrm>
        <a:graphic>
          <a:graphicData uri="http://schemas.openxmlformats.org/drawingml/2006/chart">
            <c:chart xmlns:c="http://schemas.openxmlformats.org/drawingml/2006/chart" r:id="rId4"/>
          </a:graphicData>
        </a:graphic>
      </p:graphicFrame>
      <p:sp>
        <p:nvSpPr>
          <p:cNvPr id="27" name="TextBox 26"/>
          <p:cNvSpPr txBox="1"/>
          <p:nvPr/>
        </p:nvSpPr>
        <p:spPr>
          <a:xfrm>
            <a:off x="385200" y="5986800"/>
            <a:ext cx="1555200" cy="360000"/>
          </a:xfrm>
          <a:prstGeom prst="rect">
            <a:avLst/>
          </a:prstGeom>
          <a:noFill/>
        </p:spPr>
        <p:txBody>
          <a:bodyPr wrap="none">
            <a:spAutoFit/>
          </a:bodyPr>
          <a:lstStyle/>
          <a:p>
            <a:pPr algn="ctr"/>
            <a:r>
              <a:rPr sz="2200" b="1">
                <a:solidFill>
                  <a:srgbClr val="9F2241"/>
                </a:solidFill>
                <a:latin typeface="Montserrat"/>
              </a:rPr>
              <a:t>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7C68A8BE-FBC4-281A-A695-2B426A1D5BD0}"/>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64EDC3BC-A199-227A-0CEC-FB808E16739F}"/>
              </a:ext>
            </a:extLst>
          </p:cNvPr>
          <p:cNvGraphicFramePr/>
          <p:nvPr>
            <p:extLst>
              <p:ext uri="{D42A27DB-BD31-4B8C-83A1-F6EECF244321}">
                <p14:modId xmlns:p14="http://schemas.microsoft.com/office/powerpoint/2010/main" val="3137969462"/>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Consultas de especialidad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232" name="TextBox 231"/>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 </a:t>
            </a:r>
          </a:p>
        </p:txBody>
      </p:sp>
      <p:cxnSp>
        <p:nvCxnSpPr>
          <p:cNvPr id="233" name="Connector 232"/>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34" name="TextBox 233"/>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235" name="TextBox 23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 productividad de especialidad generada en UMF ni en HR</a:t>
            </a:r>
            <a:br/>
            <a:r>
              <a:t>En el año 2025 no incluye información de HR y UMU.</a:t>
            </a:r>
            <a:br/>
            <a:r>
              <a:t>El año de proceso inicia del 26 de diciembre del año anterior al 25 de diciembre del año en curso:</a:t>
            </a:r>
            <a:br/>
            <a:r>
              <a:t>2025 ( del 26 de Dic de 2024 al 25 de Dic de 2025)</a:t>
            </a:r>
            <a:br/>
            <a:r>
              <a:t>Corte de información: Semana: 21, 17 mayo 2026</a:t>
            </a:r>
          </a:p>
        </p:txBody>
      </p:sp>
      <p:graphicFrame>
        <p:nvGraphicFramePr>
          <p:cNvPr id="236" name="Table 235"/>
          <p:cNvGraphicFramePr>
            <a:graphicFrameLocks noGrp="1"/>
          </p:cNvGraphicFramePr>
          <p:nvPr/>
        </p:nvGraphicFramePr>
        <p:xfrm>
          <a:off x="144000" y="1494000"/>
          <a:ext cx="7340399" cy="11376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HGZ 1 Zacatecas</a:t>
                      </a:r>
                    </a:p>
                  </a:txBody>
                  <a:tcPr>
                    <a:solidFill>
                      <a:srgbClr val="FFFFFF"/>
                    </a:solidFill>
                  </a:tcPr>
                </a:tc>
                <a:tc>
                  <a:txBody>
                    <a:bodyPr/>
                    <a:lstStyle/>
                    <a:p>
                      <a:pPr algn="ctr">
                        <a:defRPr sz="1000">
                          <a:latin typeface="Montserrat"/>
                        </a:defRPr>
                      </a:pPr>
                      <a:r>
                        <a:t>181,048</a:t>
                      </a:r>
                    </a:p>
                  </a:txBody>
                  <a:tcPr>
                    <a:solidFill>
                      <a:srgbClr val="FFFFFF"/>
                    </a:solidFill>
                  </a:tcPr>
                </a:tc>
                <a:tc>
                  <a:txBody>
                    <a:bodyPr/>
                    <a:lstStyle/>
                    <a:p>
                      <a:pPr algn="ctr">
                        <a:defRPr sz="1000">
                          <a:latin typeface="Montserrat"/>
                        </a:defRPr>
                      </a:pPr>
                      <a:r>
                        <a:t>19,319</a:t>
                      </a:r>
                    </a:p>
                  </a:txBody>
                  <a:tcPr>
                    <a:solidFill>
                      <a:srgbClr val="FFFFFF"/>
                    </a:solidFill>
                  </a:tcPr>
                </a:tc>
                <a:tc>
                  <a:txBody>
                    <a:bodyPr/>
                    <a:lstStyle/>
                    <a:p>
                      <a:pPr algn="ctr">
                        <a:defRPr sz="1000">
                          <a:latin typeface="Montserrat"/>
                        </a:defRPr>
                      </a:pPr>
                      <a:r>
                        <a:t>73,059</a:t>
                      </a:r>
                    </a:p>
                  </a:txBody>
                  <a:tcPr>
                    <a:solidFill>
                      <a:srgbClr val="ECD3D9"/>
                    </a:solidFill>
                  </a:tcPr>
                </a:tc>
                <a:tc>
                  <a:txBody>
                    <a:bodyPr/>
                    <a:lstStyle/>
                    <a:p>
                      <a:pPr algn="ctr">
                        <a:defRPr sz="1000">
                          <a:latin typeface="Montserrat"/>
                        </a:defRPr>
                      </a:pPr>
                      <a:r>
                        <a:t>190,530</a:t>
                      </a:r>
                    </a:p>
                  </a:txBody>
                  <a:tcPr>
                    <a:solidFill>
                      <a:srgbClr val="ECD3D9"/>
                    </a:solidFill>
                  </a:tcPr>
                </a:tc>
                <a:tc>
                  <a:txBody>
                    <a:bodyPr/>
                    <a:lstStyle/>
                    <a:p>
                      <a:pPr algn="ctr">
                        <a:defRPr sz="1000">
                          <a:latin typeface="Montserrat"/>
                        </a:defRPr>
                      </a:pPr>
                      <a:r>
                        <a:t>38.4%</a:t>
                      </a:r>
                    </a:p>
                  </a:txBody>
                  <a:tcPr>
                    <a:solidFill>
                      <a:srgbClr val="ECD3D9"/>
                    </a:solidFill>
                  </a:tcPr>
                </a:tc>
              </a:tr>
              <a:tr h="284400">
                <a:tc>
                  <a:txBody>
                    <a:bodyPr/>
                    <a:lstStyle/>
                    <a:p>
                      <a:pPr algn="l">
                        <a:defRPr sz="1000">
                          <a:latin typeface="Montserrat"/>
                        </a:defRPr>
                      </a:pPr>
                      <a:r>
                        <a:t>HGZ 2 Fresnillo</a:t>
                      </a:r>
                    </a:p>
                  </a:txBody>
                  <a:tcPr>
                    <a:solidFill>
                      <a:srgbClr val="EFEFEF"/>
                    </a:solidFill>
                  </a:tcPr>
                </a:tc>
                <a:tc>
                  <a:txBody>
                    <a:bodyPr/>
                    <a:lstStyle/>
                    <a:p>
                      <a:pPr algn="ctr">
                        <a:defRPr sz="1000">
                          <a:latin typeface="Montserrat"/>
                        </a:defRPr>
                      </a:pPr>
                      <a:r>
                        <a:t>75,025</a:t>
                      </a:r>
                    </a:p>
                  </a:txBody>
                  <a:tcPr>
                    <a:solidFill>
                      <a:srgbClr val="EFEFEF"/>
                    </a:solidFill>
                  </a:tcPr>
                </a:tc>
                <a:tc>
                  <a:txBody>
                    <a:bodyPr/>
                    <a:lstStyle/>
                    <a:p>
                      <a:pPr algn="ctr">
                        <a:defRPr sz="1000">
                          <a:latin typeface="Montserrat"/>
                        </a:defRPr>
                      </a:pPr>
                      <a:r>
                        <a:t>12,335</a:t>
                      </a:r>
                    </a:p>
                  </a:txBody>
                  <a:tcPr>
                    <a:solidFill>
                      <a:srgbClr val="EFEFEF"/>
                    </a:solidFill>
                  </a:tcPr>
                </a:tc>
                <a:tc>
                  <a:txBody>
                    <a:bodyPr/>
                    <a:lstStyle/>
                    <a:p>
                      <a:pPr algn="ctr">
                        <a:defRPr sz="1000">
                          <a:latin typeface="Montserrat"/>
                        </a:defRPr>
                      </a:pPr>
                      <a:r>
                        <a:t>34,946</a:t>
                      </a:r>
                    </a:p>
                  </a:txBody>
                  <a:tcPr>
                    <a:solidFill>
                      <a:srgbClr val="ECD3D9"/>
                    </a:solidFill>
                  </a:tcPr>
                </a:tc>
                <a:tc>
                  <a:txBody>
                    <a:bodyPr/>
                    <a:lstStyle/>
                    <a:p>
                      <a:pPr algn="ctr">
                        <a:defRPr sz="1000">
                          <a:latin typeface="Montserrat"/>
                        </a:defRPr>
                      </a:pPr>
                      <a:r>
                        <a:t>93,075</a:t>
                      </a:r>
                    </a:p>
                  </a:txBody>
                  <a:tcPr>
                    <a:solidFill>
                      <a:srgbClr val="ECD3D9"/>
                    </a:solidFill>
                  </a:tcPr>
                </a:tc>
                <a:tc>
                  <a:txBody>
                    <a:bodyPr/>
                    <a:lstStyle/>
                    <a:p>
                      <a:pPr algn="ctr">
                        <a:defRPr sz="1000">
                          <a:latin typeface="Montserrat"/>
                        </a:defRPr>
                      </a:pPr>
                      <a:r>
                        <a:t>37.5%</a:t>
                      </a:r>
                    </a:p>
                  </a:txBody>
                  <a:tcPr>
                    <a:solidFill>
                      <a:srgbClr val="ECD3D9"/>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256,073</a:t>
                      </a:r>
                    </a:p>
                  </a:txBody>
                  <a:tcPr>
                    <a:solidFill>
                      <a:srgbClr val="D3E9E7"/>
                    </a:solidFill>
                  </a:tcPr>
                </a:tc>
                <a:tc>
                  <a:txBody>
                    <a:bodyPr/>
                    <a:lstStyle/>
                    <a:p>
                      <a:pPr algn="ctr">
                        <a:defRPr sz="1000" b="1">
                          <a:solidFill>
                            <a:srgbClr val="006556"/>
                          </a:solidFill>
                          <a:latin typeface="Montserrat"/>
                        </a:defRPr>
                      </a:pPr>
                      <a:r>
                        <a:t>31,654</a:t>
                      </a:r>
                    </a:p>
                  </a:txBody>
                  <a:tcPr>
                    <a:solidFill>
                      <a:srgbClr val="D3E9E7"/>
                    </a:solidFill>
                  </a:tcPr>
                </a:tc>
                <a:tc>
                  <a:txBody>
                    <a:bodyPr/>
                    <a:lstStyle/>
                    <a:p>
                      <a:pPr algn="ctr">
                        <a:defRPr sz="1000" b="1">
                          <a:solidFill>
                            <a:srgbClr val="FFFFFF"/>
                          </a:solidFill>
                          <a:latin typeface="Montserrat"/>
                        </a:defRPr>
                      </a:pPr>
                      <a:r>
                        <a:t>108,005</a:t>
                      </a:r>
                    </a:p>
                  </a:txBody>
                  <a:tcPr>
                    <a:solidFill>
                      <a:srgbClr val="9F2241"/>
                    </a:solidFill>
                  </a:tcPr>
                </a:tc>
                <a:tc>
                  <a:txBody>
                    <a:bodyPr/>
                    <a:lstStyle/>
                    <a:p>
                      <a:pPr algn="ctr">
                        <a:defRPr sz="1000" b="1">
                          <a:solidFill>
                            <a:srgbClr val="FFFFFF"/>
                          </a:solidFill>
                          <a:latin typeface="Montserrat"/>
                        </a:defRPr>
                      </a:pPr>
                      <a:r>
                        <a:t>283,605</a:t>
                      </a:r>
                    </a:p>
                  </a:txBody>
                  <a:tcPr>
                    <a:solidFill>
                      <a:srgbClr val="9F2241"/>
                    </a:solidFill>
                  </a:tcPr>
                </a:tc>
                <a:tc>
                  <a:txBody>
                    <a:bodyPr/>
                    <a:lstStyle/>
                    <a:p>
                      <a:pPr algn="ctr">
                        <a:defRPr sz="1000" b="1">
                          <a:solidFill>
                            <a:srgbClr val="FFFFFF"/>
                          </a:solidFill>
                          <a:latin typeface="Montserrat"/>
                        </a:defRPr>
                      </a:pPr>
                      <a:r>
                        <a:t>38.1%</a:t>
                      </a:r>
                    </a:p>
                  </a:txBody>
                  <a:tcPr>
                    <a:solidFill>
                      <a:srgbClr val="9F2241"/>
                    </a:solidFill>
                  </a:tcPr>
                </a:tc>
              </a:tr>
            </a:tbl>
          </a:graphicData>
        </a:graphic>
      </p:graphicFrame>
      <p:graphicFrame>
        <p:nvGraphicFramePr>
          <p:cNvPr id="237" name="Chart 236"/>
          <p:cNvGraphicFramePr>
            <a:graphicFrameLocks noGrp="1"/>
          </p:cNvGraphicFramePr>
          <p:nvPr/>
        </p:nvGraphicFramePr>
        <p:xfrm>
          <a:off x="4780800" y="3366000"/>
          <a:ext cx="1800000" cy="1800000"/>
        </p:xfrm>
        <a:graphic>
          <a:graphicData uri="http://schemas.openxmlformats.org/drawingml/2006/chart">
            <c:chart xmlns:c="http://schemas.openxmlformats.org/drawingml/2006/chart" r:id="rId4"/>
          </a:graphicData>
        </a:graphic>
      </p:graphicFrame>
      <p:sp>
        <p:nvSpPr>
          <p:cNvPr id="238" name="TextBox 237"/>
          <p:cNvSpPr txBox="1"/>
          <p:nvPr/>
        </p:nvSpPr>
        <p:spPr>
          <a:xfrm>
            <a:off x="4780800" y="4086000"/>
            <a:ext cx="1800000" cy="360000"/>
          </a:xfrm>
          <a:prstGeom prst="rect">
            <a:avLst/>
          </a:prstGeom>
          <a:noFill/>
        </p:spPr>
        <p:txBody>
          <a:bodyPr wrap="none">
            <a:spAutoFit/>
          </a:bodyPr>
          <a:lstStyle/>
          <a:p>
            <a:pPr algn="ctr"/>
            <a:r>
              <a:rPr sz="2400" b="1">
                <a:solidFill>
                  <a:srgbClr val="9F2241"/>
                </a:solidFill>
                <a:latin typeface="Montserrat"/>
              </a:rPr>
              <a:t>38.1%</a:t>
            </a:r>
          </a:p>
        </p:txBody>
      </p:sp>
      <p:sp>
        <p:nvSpPr>
          <p:cNvPr id="239" name="TextBox 238"/>
          <p:cNvSpPr txBox="1"/>
          <p:nvPr/>
        </p:nvSpPr>
        <p:spPr>
          <a:xfrm>
            <a:off x="4780800" y="49860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40" name="TextBox 239"/>
          <p:cNvSpPr txBox="1"/>
          <p:nvPr/>
        </p:nvSpPr>
        <p:spPr>
          <a:xfrm>
            <a:off x="730799" y="3366000"/>
            <a:ext cx="2854800" cy="1198800"/>
          </a:xfrm>
          <a:prstGeom prst="rect">
            <a:avLst/>
          </a:prstGeom>
          <a:noFill/>
        </p:spPr>
        <p:txBody>
          <a:bodyPr wrap="square">
            <a:spAutoFit/>
          </a:bodyPr>
          <a:lstStyle/>
          <a:p>
            <a:pPr algn="ctr">
              <a:defRPr sz="3600" b="1">
                <a:solidFill>
                  <a:srgbClr val="9F2241"/>
                </a:solidFill>
                <a:latin typeface="Montserrat"/>
              </a:defRPr>
            </a:pPr>
            <a:r>
              <a:t>283,605 </a:t>
            </a:r>
            <a:br/>
            <a:r>
              <a:t>Meta 2026</a:t>
            </a:r>
          </a:p>
        </p:txBody>
      </p:sp>
    </p:spTree>
    <p:extLst>
      <p:ext uri="{BB962C8B-B14F-4D97-AF65-F5344CB8AC3E}">
        <p14:creationId xmlns:p14="http://schemas.microsoft.com/office/powerpoint/2010/main" val="540716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p:cNvGrpSpPr/>
        <p:nvPr/>
      </p:nvGrpSpPr>
      <p:grpSpPr>
        <a:xfrm>
          <a:off x="0" y="0"/>
          <a:ext cx="0" cy="0"/>
          <a:chOff x="0" y="0"/>
          <a:chExt cx="0" cy="0"/>
        </a:xfrm>
      </p:grpSpPr>
      <p:graphicFrame>
        <p:nvGraphicFramePr>
          <p:cNvPr id="230" name="Google Shape;230;g370e87ffe7a_2_137"/>
          <p:cNvGraphicFramePr/>
          <p:nvPr>
            <p:extLst>
              <p:ext uri="{D42A27DB-BD31-4B8C-83A1-F6EECF244321}">
                <p14:modId xmlns:p14="http://schemas.microsoft.com/office/powerpoint/2010/main" val="1286173591"/>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Cirugías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232" name="TextBox 231"/>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las cirugías realizadas en HR.</a:t>
            </a:r>
            <a:br/>
            <a:r>
              <a:t>Sólo se consideran cirugías principales.</a:t>
            </a:r>
            <a:br/>
            <a:r>
              <a:t>Corte de información: Semana: 21, 17 mayo 2026</a:t>
            </a:r>
          </a:p>
        </p:txBody>
      </p:sp>
      <p:graphicFrame>
        <p:nvGraphicFramePr>
          <p:cNvPr id="233" name="Table 232"/>
          <p:cNvGraphicFramePr>
            <a:graphicFrameLocks noGrp="1"/>
          </p:cNvGraphicFramePr>
          <p:nvPr/>
        </p:nvGraphicFramePr>
        <p:xfrm>
          <a:off x="144000" y="1137600"/>
          <a:ext cx="7340399" cy="11376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HGZ 1 Zacatecas</a:t>
                      </a:r>
                    </a:p>
                  </a:txBody>
                  <a:tcPr>
                    <a:solidFill>
                      <a:srgbClr val="FFFFFF"/>
                    </a:solidFill>
                  </a:tcPr>
                </a:tc>
                <a:tc>
                  <a:txBody>
                    <a:bodyPr/>
                    <a:lstStyle/>
                    <a:p>
                      <a:pPr algn="ctr">
                        <a:defRPr sz="1000">
                          <a:latin typeface="Montserrat"/>
                        </a:defRPr>
                      </a:pPr>
                      <a:r>
                        <a:t>8,320</a:t>
                      </a:r>
                    </a:p>
                  </a:txBody>
                  <a:tcPr>
                    <a:solidFill>
                      <a:srgbClr val="FFFFFF"/>
                    </a:solidFill>
                  </a:tcPr>
                </a:tc>
                <a:tc>
                  <a:txBody>
                    <a:bodyPr/>
                    <a:lstStyle/>
                    <a:p>
                      <a:pPr algn="ctr">
                        <a:defRPr sz="1000">
                          <a:latin typeface="Montserrat"/>
                        </a:defRPr>
                      </a:pPr>
                      <a:r>
                        <a:t>368</a:t>
                      </a:r>
                    </a:p>
                  </a:txBody>
                  <a:tcPr>
                    <a:solidFill>
                      <a:srgbClr val="FFFFFF"/>
                    </a:solidFill>
                  </a:tcPr>
                </a:tc>
                <a:tc>
                  <a:txBody>
                    <a:bodyPr/>
                    <a:lstStyle/>
                    <a:p>
                      <a:pPr algn="ctr">
                        <a:defRPr sz="1000">
                          <a:latin typeface="Montserrat"/>
                        </a:defRPr>
                      </a:pPr>
                      <a:r>
                        <a:t>3,193</a:t>
                      </a:r>
                    </a:p>
                  </a:txBody>
                  <a:tcPr>
                    <a:solidFill>
                      <a:srgbClr val="ECD3D9"/>
                    </a:solidFill>
                  </a:tcPr>
                </a:tc>
                <a:tc>
                  <a:txBody>
                    <a:bodyPr/>
                    <a:lstStyle/>
                    <a:p>
                      <a:pPr algn="ctr">
                        <a:defRPr sz="1000">
                          <a:latin typeface="Montserrat"/>
                        </a:defRPr>
                      </a:pPr>
                      <a:r>
                        <a:t>9,149</a:t>
                      </a:r>
                    </a:p>
                  </a:txBody>
                  <a:tcPr>
                    <a:solidFill>
                      <a:srgbClr val="ECD3D9"/>
                    </a:solidFill>
                  </a:tcPr>
                </a:tc>
                <a:tc>
                  <a:txBody>
                    <a:bodyPr/>
                    <a:lstStyle/>
                    <a:p>
                      <a:pPr algn="ctr">
                        <a:defRPr sz="1000">
                          <a:latin typeface="Montserrat"/>
                        </a:defRPr>
                      </a:pPr>
                      <a:r>
                        <a:t>34.9%</a:t>
                      </a:r>
                    </a:p>
                  </a:txBody>
                  <a:tcPr>
                    <a:solidFill>
                      <a:srgbClr val="ECD3D9"/>
                    </a:solidFill>
                  </a:tcPr>
                </a:tc>
              </a:tr>
              <a:tr h="284400">
                <a:tc>
                  <a:txBody>
                    <a:bodyPr/>
                    <a:lstStyle/>
                    <a:p>
                      <a:pPr algn="l">
                        <a:defRPr sz="1000">
                          <a:latin typeface="Montserrat"/>
                        </a:defRPr>
                      </a:pPr>
                      <a:r>
                        <a:t>HGZ 2 Fresnillo</a:t>
                      </a:r>
                    </a:p>
                  </a:txBody>
                  <a:tcPr>
                    <a:solidFill>
                      <a:srgbClr val="EFEFEF"/>
                    </a:solidFill>
                  </a:tcPr>
                </a:tc>
                <a:tc>
                  <a:txBody>
                    <a:bodyPr/>
                    <a:lstStyle/>
                    <a:p>
                      <a:pPr algn="ctr">
                        <a:defRPr sz="1000">
                          <a:latin typeface="Montserrat"/>
                        </a:defRPr>
                      </a:pPr>
                      <a:r>
                        <a:t>4,690</a:t>
                      </a:r>
                    </a:p>
                  </a:txBody>
                  <a:tcPr>
                    <a:solidFill>
                      <a:srgbClr val="EFEFEF"/>
                    </a:solidFill>
                  </a:tcPr>
                </a:tc>
                <a:tc>
                  <a:txBody>
                    <a:bodyPr/>
                    <a:lstStyle/>
                    <a:p>
                      <a:pPr algn="ctr">
                        <a:defRPr sz="1000">
                          <a:latin typeface="Montserrat"/>
                        </a:defRPr>
                      </a:pPr>
                      <a:r>
                        <a:t>-31</a:t>
                      </a:r>
                    </a:p>
                  </a:txBody>
                  <a:tcPr>
                    <a:solidFill>
                      <a:srgbClr val="EFEFEF"/>
                    </a:solidFill>
                  </a:tcPr>
                </a:tc>
                <a:tc>
                  <a:txBody>
                    <a:bodyPr/>
                    <a:lstStyle/>
                    <a:p>
                      <a:pPr algn="ctr">
                        <a:defRPr sz="1000">
                          <a:latin typeface="Montserrat"/>
                        </a:defRPr>
                      </a:pPr>
                      <a:r>
                        <a:t>1,878</a:t>
                      </a:r>
                    </a:p>
                  </a:txBody>
                  <a:tcPr>
                    <a:solidFill>
                      <a:srgbClr val="ECD3D9"/>
                    </a:solidFill>
                  </a:tcPr>
                </a:tc>
                <a:tc>
                  <a:txBody>
                    <a:bodyPr/>
                    <a:lstStyle/>
                    <a:p>
                      <a:pPr algn="ctr">
                        <a:defRPr sz="1000">
                          <a:latin typeface="Montserrat"/>
                        </a:defRPr>
                      </a:pPr>
                      <a:r>
                        <a:t>5,856</a:t>
                      </a:r>
                    </a:p>
                  </a:txBody>
                  <a:tcPr>
                    <a:solidFill>
                      <a:srgbClr val="ECD3D9"/>
                    </a:solidFill>
                  </a:tcPr>
                </a:tc>
                <a:tc>
                  <a:txBody>
                    <a:bodyPr/>
                    <a:lstStyle/>
                    <a:p>
                      <a:pPr algn="ctr">
                        <a:defRPr sz="1000">
                          <a:latin typeface="Montserrat"/>
                        </a:defRPr>
                      </a:pPr>
                      <a:r>
                        <a:t>32.1%</a:t>
                      </a:r>
                    </a:p>
                  </a:txBody>
                  <a:tcPr>
                    <a:solidFill>
                      <a:srgbClr val="ECD3D9"/>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13,010</a:t>
                      </a:r>
                    </a:p>
                  </a:txBody>
                  <a:tcPr>
                    <a:solidFill>
                      <a:srgbClr val="D3E9E7"/>
                    </a:solidFill>
                  </a:tcPr>
                </a:tc>
                <a:tc>
                  <a:txBody>
                    <a:bodyPr/>
                    <a:lstStyle/>
                    <a:p>
                      <a:pPr algn="ctr">
                        <a:defRPr sz="1000" b="1">
                          <a:solidFill>
                            <a:srgbClr val="006556"/>
                          </a:solidFill>
                          <a:latin typeface="Montserrat"/>
                        </a:defRPr>
                      </a:pPr>
                      <a:r>
                        <a:t>337</a:t>
                      </a:r>
                    </a:p>
                  </a:txBody>
                  <a:tcPr>
                    <a:solidFill>
                      <a:srgbClr val="D3E9E7"/>
                    </a:solidFill>
                  </a:tcPr>
                </a:tc>
                <a:tc>
                  <a:txBody>
                    <a:bodyPr/>
                    <a:lstStyle/>
                    <a:p>
                      <a:pPr algn="ctr">
                        <a:defRPr sz="1000" b="1">
                          <a:solidFill>
                            <a:srgbClr val="FFFFFF"/>
                          </a:solidFill>
                          <a:latin typeface="Montserrat"/>
                        </a:defRPr>
                      </a:pPr>
                      <a:r>
                        <a:t>5,071</a:t>
                      </a:r>
                    </a:p>
                  </a:txBody>
                  <a:tcPr>
                    <a:solidFill>
                      <a:srgbClr val="9F2241"/>
                    </a:solidFill>
                  </a:tcPr>
                </a:tc>
                <a:tc>
                  <a:txBody>
                    <a:bodyPr/>
                    <a:lstStyle/>
                    <a:p>
                      <a:pPr algn="ctr">
                        <a:defRPr sz="1000" b="1">
                          <a:solidFill>
                            <a:srgbClr val="FFFFFF"/>
                          </a:solidFill>
                          <a:latin typeface="Montserrat"/>
                        </a:defRPr>
                      </a:pPr>
                      <a:r>
                        <a:t>15,005</a:t>
                      </a:r>
                    </a:p>
                  </a:txBody>
                  <a:tcPr>
                    <a:solidFill>
                      <a:srgbClr val="9F2241"/>
                    </a:solidFill>
                  </a:tcPr>
                </a:tc>
                <a:tc>
                  <a:txBody>
                    <a:bodyPr/>
                    <a:lstStyle/>
                    <a:p>
                      <a:pPr algn="ctr">
                        <a:defRPr sz="1000" b="1">
                          <a:solidFill>
                            <a:srgbClr val="FFFFFF"/>
                          </a:solidFill>
                          <a:latin typeface="Montserrat"/>
                        </a:defRPr>
                      </a:pPr>
                      <a:r>
                        <a:t>33.8%</a:t>
                      </a:r>
                    </a:p>
                  </a:txBody>
                  <a:tcPr>
                    <a:solidFill>
                      <a:srgbClr val="9F2241"/>
                    </a:solidFill>
                  </a:tcPr>
                </a:tc>
              </a:tr>
            </a:tbl>
          </a:graphicData>
        </a:graphic>
      </p:graphicFrame>
      <p:graphicFrame>
        <p:nvGraphicFramePr>
          <p:cNvPr id="234" name="Chart 233"/>
          <p:cNvGraphicFramePr>
            <a:graphicFrameLocks noGrp="1"/>
          </p:cNvGraphicFramePr>
          <p:nvPr/>
        </p:nvGraphicFramePr>
        <p:xfrm>
          <a:off x="4780800" y="3009600"/>
          <a:ext cx="1800000" cy="1800000"/>
        </p:xfrm>
        <a:graphic>
          <a:graphicData uri="http://schemas.openxmlformats.org/drawingml/2006/chart">
            <c:chart xmlns:c="http://schemas.openxmlformats.org/drawingml/2006/chart" r:id="rId4"/>
          </a:graphicData>
        </a:graphic>
      </p:graphicFrame>
      <p:sp>
        <p:nvSpPr>
          <p:cNvPr id="235" name="TextBox 234"/>
          <p:cNvSpPr txBox="1"/>
          <p:nvPr/>
        </p:nvSpPr>
        <p:spPr>
          <a:xfrm>
            <a:off x="4780800" y="3729600"/>
            <a:ext cx="1800000" cy="360000"/>
          </a:xfrm>
          <a:prstGeom prst="rect">
            <a:avLst/>
          </a:prstGeom>
          <a:noFill/>
        </p:spPr>
        <p:txBody>
          <a:bodyPr wrap="none">
            <a:spAutoFit/>
          </a:bodyPr>
          <a:lstStyle/>
          <a:p>
            <a:pPr algn="ctr"/>
            <a:r>
              <a:rPr sz="2400" b="1">
                <a:solidFill>
                  <a:srgbClr val="9F2241"/>
                </a:solidFill>
                <a:latin typeface="Montserrat"/>
              </a:rPr>
              <a:t>33.8%</a:t>
            </a:r>
          </a:p>
        </p:txBody>
      </p:sp>
      <p:sp>
        <p:nvSpPr>
          <p:cNvPr id="236" name="TextBox 235"/>
          <p:cNvSpPr txBox="1"/>
          <p:nvPr/>
        </p:nvSpPr>
        <p:spPr>
          <a:xfrm>
            <a:off x="4780800" y="46296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37" name="TextBox 236"/>
          <p:cNvSpPr txBox="1"/>
          <p:nvPr/>
        </p:nvSpPr>
        <p:spPr>
          <a:xfrm>
            <a:off x="730799" y="3009600"/>
            <a:ext cx="2854800" cy="1198800"/>
          </a:xfrm>
          <a:prstGeom prst="rect">
            <a:avLst/>
          </a:prstGeom>
          <a:noFill/>
        </p:spPr>
        <p:txBody>
          <a:bodyPr wrap="square">
            <a:spAutoFit/>
          </a:bodyPr>
          <a:lstStyle/>
          <a:p>
            <a:pPr algn="ctr">
              <a:defRPr sz="3600" b="1">
                <a:solidFill>
                  <a:srgbClr val="9F2241"/>
                </a:solidFill>
                <a:latin typeface="Montserrat"/>
              </a:defRPr>
            </a:pPr>
            <a:r>
              <a:t>15,005 </a:t>
            </a:r>
            <a:br/>
            <a:r>
              <a:t>Meta 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129 total especialistas contratados en el draft 2026</a:t>
            </a:r>
          </a:p>
        </p:txBody>
      </p:sp>
      <p:sp>
        <p:nvSpPr>
          <p:cNvPr id="4" name="TextBox 3"/>
          <p:cNvSpPr txBox="1"/>
          <p:nvPr/>
        </p:nvSpPr>
        <p:spPr>
          <a:xfrm>
            <a:off x="0" y="1007999"/>
            <a:ext cx="7772400" cy="360000"/>
          </a:xfrm>
          <a:prstGeom prst="rect">
            <a:avLst/>
          </a:prstGeom>
          <a:noFill/>
        </p:spPr>
        <p:txBody>
          <a:bodyPr wrap="none">
            <a:spAutoFit/>
          </a:bodyPr>
          <a:lstStyle/>
          <a:p>
            <a:pPr algn="ctr">
              <a:defRPr sz="1400" b="0">
                <a:solidFill>
                  <a:srgbClr val="BC955C"/>
                </a:solidFill>
                <a:latin typeface="Montserrat"/>
              </a:defRPr>
            </a:pPr>
            <a:r>
              <a:t>79 en Hospitales, 1 en sede, 10 en UMF y 39 sustitutos</a:t>
            </a:r>
          </a:p>
        </p:txBody>
      </p:sp>
      <p:sp>
        <p:nvSpPr>
          <p:cNvPr id="5" name="TextBox 4"/>
          <p:cNvSpPr txBox="1"/>
          <p:nvPr/>
        </p:nvSpPr>
        <p:spPr>
          <a:xfrm>
            <a:off x="360000" y="1440000"/>
            <a:ext cx="6840000" cy="360000"/>
          </a:xfrm>
          <a:prstGeom prst="rect">
            <a:avLst/>
          </a:prstGeom>
          <a:noFill/>
        </p:spPr>
        <p:txBody>
          <a:bodyPr wrap="none" anchor="ctr">
            <a:spAutoFit/>
          </a:bodyPr>
          <a:lstStyle/>
          <a:p>
            <a:pPr algn="l">
              <a:defRPr sz="2000" b="1">
                <a:solidFill>
                  <a:srgbClr val="BC955C"/>
                </a:solidFill>
                <a:latin typeface="Montserrat"/>
              </a:defRPr>
            </a:pPr>
            <a:r>
              <a:t>79 en Hospitales</a:t>
            </a:r>
          </a:p>
        </p:txBody>
      </p:sp>
      <p:cxnSp>
        <p:nvCxnSpPr>
          <p:cNvPr id="6" name="Connector 5"/>
          <p:cNvCxnSpPr/>
          <p:nvPr/>
        </p:nvCxnSpPr>
        <p:spPr>
          <a:xfrm>
            <a:off x="360000" y="18360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908000"/>
          <a:ext cx="3456000" cy="302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3">
                  <a:txBody>
                    <a:bodyPr/>
                    <a:lstStyle/>
                    <a:p>
                      <a:pPr algn="ctr">
                        <a:defRPr sz="800" b="1">
                          <a:solidFill>
                            <a:srgbClr val="000000"/>
                          </a:solidFill>
                          <a:latin typeface="Montserrat"/>
                        </a:defRPr>
                      </a:pPr>
                      <a:r>
                        <a:t>Hospital General de Zona 2</a:t>
                      </a:r>
                    </a:p>
                  </a:txBody>
                  <a:tcPr anchor="ctr">
                    <a:no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Endocrinología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Epidemiología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Geriatría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Neurocirugía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Psiquiatría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14</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908000"/>
          <a:ext cx="3456000" cy="172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7">
                  <a:txBody>
                    <a:bodyPr/>
                    <a:lstStyle/>
                    <a:p>
                      <a:pPr algn="ctr">
                        <a:defRPr sz="800" b="1">
                          <a:solidFill>
                            <a:srgbClr val="000000"/>
                          </a:solidFill>
                          <a:latin typeface="Montserrat"/>
                        </a:defRPr>
                      </a:pPr>
                      <a:r>
                        <a:t>Hospital General de Zona C/MF 1</a:t>
                      </a:r>
                    </a:p>
                  </a:txBody>
                  <a:tcPr anchor="ctr">
                    <a:noFill/>
                  </a:tcPr>
                </a:tc>
                <a:tc>
                  <a:txBody>
                    <a:bodyPr/>
                    <a:lstStyle/>
                    <a:p>
                      <a:pPr algn="ctr">
                        <a:defRPr sz="800" b="0">
                          <a:solidFill>
                            <a:srgbClr val="000000"/>
                          </a:solidFill>
                          <a:latin typeface="Montserrat"/>
                        </a:defRPr>
                      </a:pPr>
                      <a:r>
                        <a:t>Anatomía Patológica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Rehabilitación</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Oncología Médica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7</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55799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Rural Concepción del Oro</a:t>
                      </a:r>
                    </a:p>
                  </a:txBody>
                  <a:tcPr anchor="ctr">
                    <a:no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5579999"/>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Hospital Rural Fresnillo</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6983999"/>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Hospital Rural Pinos</a:t>
                      </a:r>
                    </a:p>
                  </a:txBody>
                  <a:tcPr anchor="ctr">
                    <a:noFill/>
                  </a:tcPr>
                </a:tc>
                <a:tc>
                  <a:txBody>
                    <a:bodyPr/>
                    <a:lstStyle/>
                    <a:p>
                      <a:pPr algn="ctr">
                        <a:defRPr sz="800" b="0">
                          <a:solidFill>
                            <a:srgbClr val="000000"/>
                          </a:solidFill>
                          <a:latin typeface="Montserrat"/>
                        </a:defRPr>
                      </a:pPr>
                      <a:r>
                        <a:t>Anestesiología para los Servicios Rurales de Salud</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6983999"/>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Hospital Rural Río Grande</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10</a:t>
                      </a:r>
                    </a:p>
                  </a:txBody>
                  <a:tcPr>
                    <a:solidFill>
                      <a:srgbClr val="D3E9E7"/>
                    </a:solidFill>
                  </a:tcPr>
                </a:tc>
              </a:tr>
            </a:tbl>
          </a:graphicData>
        </a:graphic>
      </p:graphicFrame>
    </p:spTree>
    <p:extLst>
      <p:ext uri="{BB962C8B-B14F-4D97-AF65-F5344CB8AC3E}">
        <p14:creationId xmlns:p14="http://schemas.microsoft.com/office/powerpoint/2010/main" val="1200248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a:extLst>
            <a:ext uri="{FF2B5EF4-FFF2-40B4-BE49-F238E27FC236}">
              <a16:creationId xmlns:a16="http://schemas.microsoft.com/office/drawing/2014/main" id="{8A5078DC-1E12-A75D-DCD2-2904311EEEFA}"/>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161584">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161584">
                <a:tc>
                  <a:txBody>
                    <a:bodyPr/>
                    <a:lstStyle/>
                    <a:p>
                      <a:pPr algn="l">
                        <a:defRPr sz="1100" b="0">
                          <a:solidFill>
                            <a:srgbClr val="000000"/>
                          </a:solidFill>
                          <a:latin typeface="Montserrat"/>
                        </a:defRPr>
                      </a:pPr>
                      <a:r>
                        <a:t>Medicina de Urgencias</a:t>
                      </a:r>
                    </a:p>
                  </a:txBody>
                  <a:tcPr anchor="ctr" marL="45720" marR="45720" marT="45720" marB="45720">
                    <a:solidFill>
                      <a:srgbClr val="FFFFFF"/>
                    </a:solidFill>
                  </a:tcPr>
                </a:tc>
                <a:tc>
                  <a:txBody>
                    <a:bodyPr/>
                    <a:lstStyle/>
                    <a:p>
                      <a:pPr algn="ctr">
                        <a:defRPr sz="1100" b="0">
                          <a:solidFill>
                            <a:srgbClr val="000000"/>
                          </a:solidFill>
                          <a:latin typeface="Montserrat"/>
                        </a:defRPr>
                      </a:pPr>
                      <a:r>
                        <a:t>20</a:t>
                      </a:r>
                    </a:p>
                  </a:txBody>
                  <a:tcPr anchor="ctr" marL="45720" marR="45720" marT="45720" marB="45720">
                    <a:solidFill>
                      <a:srgbClr val="FFFFFF"/>
                    </a:solidFill>
                  </a:tcPr>
                </a:tc>
                <a:tc>
                  <a:txBody>
                    <a:bodyPr/>
                    <a:lstStyle/>
                    <a:p>
                      <a:pPr algn="ctr">
                        <a:defRPr sz="1100" b="1">
                          <a:solidFill>
                            <a:srgbClr val="000000"/>
                          </a:solidFill>
                          <a:latin typeface="Montserrat"/>
                        </a:defRPr>
                      </a:pPr>
                      <a:r>
                        <a:t>15.5%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Ginecología y Obstetricia</a:t>
                      </a:r>
                    </a:p>
                  </a:txBody>
                  <a:tcPr anchor="ctr" marL="45720" marR="45720" marT="45720" marB="45720">
                    <a:solidFill>
                      <a:srgbClr val="D9D9D9"/>
                    </a:solidFill>
                  </a:tcPr>
                </a:tc>
                <a:tc>
                  <a:txBody>
                    <a:bodyPr/>
                    <a:lstStyle/>
                    <a:p>
                      <a:pPr algn="ctr">
                        <a:defRPr sz="1100" b="0">
                          <a:solidFill>
                            <a:srgbClr val="000000"/>
                          </a:solidFill>
                          <a:latin typeface="Montserrat"/>
                        </a:defRPr>
                      </a:pPr>
                      <a:r>
                        <a:t>20</a:t>
                      </a:r>
                    </a:p>
                  </a:txBody>
                  <a:tcPr anchor="ctr" marL="45720" marR="45720" marT="45720" marB="45720">
                    <a:solidFill>
                      <a:srgbClr val="D9D9D9"/>
                    </a:solidFill>
                  </a:tcPr>
                </a:tc>
                <a:tc>
                  <a:txBody>
                    <a:bodyPr/>
                    <a:lstStyle/>
                    <a:p>
                      <a:pPr algn="ctr">
                        <a:defRPr sz="1100" b="1">
                          <a:solidFill>
                            <a:srgbClr val="000000"/>
                          </a:solidFill>
                          <a:latin typeface="Montserrat"/>
                        </a:defRPr>
                      </a:pPr>
                      <a:r>
                        <a:t>31.0%</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Anestesiología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15</a:t>
                      </a:r>
                    </a:p>
                  </a:txBody>
                  <a:tcPr anchor="ctr" marL="45720" marR="45720" marT="45720" marB="45720">
                    <a:solidFill>
                      <a:srgbClr val="FFFFFF"/>
                    </a:solidFill>
                  </a:tcPr>
                </a:tc>
                <a:tc>
                  <a:txBody>
                    <a:bodyPr/>
                    <a:lstStyle/>
                    <a:p>
                      <a:pPr algn="ctr">
                        <a:defRPr sz="1100" b="1">
                          <a:solidFill>
                            <a:srgbClr val="000000"/>
                          </a:solidFill>
                          <a:latin typeface="Montserrat"/>
                        </a:defRPr>
                      </a:pPr>
                      <a:r>
                        <a:t>42.6%</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Cirugía General</a:t>
                      </a:r>
                    </a:p>
                  </a:txBody>
                  <a:tcPr anchor="ctr" marL="45720" marR="45720" marT="45720" marB="45720">
                    <a:solidFill>
                      <a:srgbClr val="D9D9D9"/>
                    </a:solidFill>
                  </a:tcPr>
                </a:tc>
                <a:tc>
                  <a:txBody>
                    <a:bodyPr/>
                    <a:lstStyle/>
                    <a:p>
                      <a:pPr algn="ctr">
                        <a:defRPr sz="1100" b="0">
                          <a:solidFill>
                            <a:srgbClr val="000000"/>
                          </a:solidFill>
                          <a:latin typeface="Montserrat"/>
                        </a:defRPr>
                      </a:pPr>
                      <a:r>
                        <a:t>15</a:t>
                      </a:r>
                    </a:p>
                  </a:txBody>
                  <a:tcPr anchor="ctr" marL="45720" marR="45720" marT="45720" marB="45720">
                    <a:solidFill>
                      <a:srgbClr val="D9D9D9"/>
                    </a:solidFill>
                  </a:tcPr>
                </a:tc>
                <a:tc>
                  <a:txBody>
                    <a:bodyPr/>
                    <a:lstStyle/>
                    <a:p>
                      <a:pPr algn="ctr">
                        <a:defRPr sz="1100" b="1">
                          <a:solidFill>
                            <a:srgbClr val="000000"/>
                          </a:solidFill>
                          <a:latin typeface="Montserrat"/>
                        </a:defRPr>
                      </a:pPr>
                      <a:r>
                        <a:t>54.2%</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Pediatría</a:t>
                      </a:r>
                    </a:p>
                  </a:txBody>
                  <a:tcPr anchor="ctr" marL="45720" marR="45720" marT="45720" marB="45720">
                    <a:solidFill>
                      <a:srgbClr val="FFFFFF"/>
                    </a:solidFill>
                  </a:tcPr>
                </a:tc>
                <a:tc>
                  <a:txBody>
                    <a:bodyPr/>
                    <a:lstStyle/>
                    <a:p>
                      <a:pPr algn="ctr">
                        <a:defRPr sz="1100" b="0">
                          <a:solidFill>
                            <a:srgbClr val="000000"/>
                          </a:solidFill>
                          <a:latin typeface="Montserrat"/>
                        </a:defRPr>
                      </a:pPr>
                      <a:r>
                        <a:t>13</a:t>
                      </a:r>
                    </a:p>
                  </a:txBody>
                  <a:tcPr anchor="ctr" marL="45720" marR="45720" marT="45720" marB="45720">
                    <a:solidFill>
                      <a:srgbClr val="FFFFFF"/>
                    </a:solidFill>
                  </a:tcPr>
                </a:tc>
                <a:tc>
                  <a:txBody>
                    <a:bodyPr/>
                    <a:lstStyle/>
                    <a:p>
                      <a:pPr algn="ctr">
                        <a:defRPr sz="1100" b="1">
                          <a:solidFill>
                            <a:srgbClr val="000000"/>
                          </a:solidFill>
                          <a:latin typeface="Montserrat"/>
                        </a:defRPr>
                      </a:pPr>
                      <a:r>
                        <a:t>64.3%</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Familiar</a:t>
                      </a:r>
                    </a:p>
                  </a:txBody>
                  <a:tcPr anchor="ctr" marL="45720" marR="45720" marT="45720" marB="45720">
                    <a:solidFill>
                      <a:srgbClr val="D9D9D9"/>
                    </a:solidFill>
                  </a:tcPr>
                </a:tc>
                <a:tc>
                  <a:txBody>
                    <a:bodyPr/>
                    <a:lstStyle/>
                    <a:p>
                      <a:pPr algn="ctr">
                        <a:defRPr sz="1100" b="0">
                          <a:solidFill>
                            <a:srgbClr val="000000"/>
                          </a:solidFill>
                          <a:latin typeface="Montserrat"/>
                        </a:defRPr>
                      </a:pPr>
                      <a:r>
                        <a:t>9</a:t>
                      </a:r>
                    </a:p>
                  </a:txBody>
                  <a:tcPr anchor="ctr" marL="45720" marR="45720" marT="45720" marB="45720">
                    <a:solidFill>
                      <a:srgbClr val="D9D9D9"/>
                    </a:solidFill>
                  </a:tcPr>
                </a:tc>
                <a:tc>
                  <a:txBody>
                    <a:bodyPr/>
                    <a:lstStyle/>
                    <a:p>
                      <a:pPr algn="ctr">
                        <a:defRPr sz="1100" b="1">
                          <a:solidFill>
                            <a:srgbClr val="000000"/>
                          </a:solidFill>
                          <a:latin typeface="Montserrat"/>
                        </a:defRPr>
                      </a:pPr>
                      <a:r>
                        <a:t>71.3%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Medicina Interna</a:t>
                      </a:r>
                    </a:p>
                  </a:txBody>
                  <a:tcPr anchor="ctr" marL="45720" marR="45720" marT="45720" marB="45720">
                    <a:solidFill>
                      <a:srgbClr val="FFFFFF"/>
                    </a:solidFill>
                  </a:tcPr>
                </a:tc>
                <a:tc>
                  <a:txBody>
                    <a:bodyPr/>
                    <a:lstStyle/>
                    <a:p>
                      <a:pPr algn="ctr">
                        <a:defRPr sz="1100" b="0">
                          <a:solidFill>
                            <a:srgbClr val="000000"/>
                          </a:solidFill>
                          <a:latin typeface="Montserrat"/>
                        </a:defRPr>
                      </a:pPr>
                      <a:r>
                        <a:t>8</a:t>
                      </a:r>
                    </a:p>
                  </a:txBody>
                  <a:tcPr anchor="ctr" marL="45720" marR="45720" marT="45720" marB="45720">
                    <a:solidFill>
                      <a:srgbClr val="FFFFFF"/>
                    </a:solidFill>
                  </a:tcPr>
                </a:tc>
                <a:tc>
                  <a:txBody>
                    <a:bodyPr/>
                    <a:lstStyle/>
                    <a:p>
                      <a:pPr algn="ctr">
                        <a:defRPr sz="1100" b="1">
                          <a:solidFill>
                            <a:srgbClr val="000000"/>
                          </a:solidFill>
                          <a:latin typeface="Montserrat"/>
                        </a:defRPr>
                      </a:pPr>
                      <a:r>
                        <a:t>77.5%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Imagenología Diagnóstico y Terapéutica</a:t>
                      </a:r>
                    </a:p>
                  </a:txBody>
                  <a:tcPr anchor="ctr" marL="45720" marR="45720" marT="45720" marB="45720">
                    <a:solidFill>
                      <a:srgbClr val="D9D9D9"/>
                    </a:solidFill>
                  </a:tcPr>
                </a:tc>
                <a:tc>
                  <a:txBody>
                    <a:bodyPr/>
                    <a:lstStyle/>
                    <a:p>
                      <a:pPr algn="ctr">
                        <a:defRPr sz="1100" b="0">
                          <a:solidFill>
                            <a:srgbClr val="000000"/>
                          </a:solidFill>
                          <a:latin typeface="Montserrat"/>
                        </a:defRPr>
                      </a:pPr>
                      <a:r>
                        <a:t>4</a:t>
                      </a:r>
                    </a:p>
                  </a:txBody>
                  <a:tcPr anchor="ctr" marL="45720" marR="45720" marT="45720" marB="45720">
                    <a:solidFill>
                      <a:srgbClr val="D9D9D9"/>
                    </a:solidFill>
                  </a:tcPr>
                </a:tc>
                <a:tc>
                  <a:txBody>
                    <a:bodyPr/>
                    <a:lstStyle/>
                    <a:p>
                      <a:pPr algn="ctr">
                        <a:defRPr sz="1100" b="1">
                          <a:solidFill>
                            <a:srgbClr val="000000"/>
                          </a:solidFill>
                          <a:latin typeface="Montserrat"/>
                        </a:defRPr>
                      </a:pPr>
                      <a:r>
                        <a:t>80.6%</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Traumatología y Ortopedia</a:t>
                      </a:r>
                    </a:p>
                  </a:txBody>
                  <a:tcPr anchor="ctr" marL="45720" marR="45720" marT="45720" marB="45720">
                    <a:solidFill>
                      <a:srgbClr val="FFFFFF"/>
                    </a:solidFill>
                  </a:tcPr>
                </a:tc>
                <a:tc>
                  <a:txBody>
                    <a:bodyPr/>
                    <a:lstStyle/>
                    <a:p>
                      <a:pPr algn="ctr">
                        <a:defRPr sz="1100" b="0">
                          <a:solidFill>
                            <a:srgbClr val="000000"/>
                          </a:solidFill>
                          <a:latin typeface="Montserrat"/>
                        </a:defRPr>
                      </a:pPr>
                      <a:r>
                        <a:t>4</a:t>
                      </a:r>
                    </a:p>
                  </a:txBody>
                  <a:tcPr anchor="ctr" marL="45720" marR="45720" marT="45720" marB="45720">
                    <a:solidFill>
                      <a:srgbClr val="FFFFFF"/>
                    </a:solidFill>
                  </a:tcPr>
                </a:tc>
                <a:tc>
                  <a:txBody>
                    <a:bodyPr/>
                    <a:lstStyle/>
                    <a:p>
                      <a:pPr algn="ctr">
                        <a:defRPr sz="1100" b="1">
                          <a:solidFill>
                            <a:srgbClr val="000000"/>
                          </a:solidFill>
                          <a:latin typeface="Montserrat"/>
                        </a:defRPr>
                      </a:pPr>
                      <a:r>
                        <a:t>83.7%</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de Rehabilitación</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85.2%</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Medicina del Trabajo y Ambiental</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86.8%</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Epidemiología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88.3%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Anatomía Patológica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89.9%</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Cardiología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91.4%</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Geriatría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93.0%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Anestesiología para los Servicios Rurales de Salud</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93.7%</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Genética Médica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94.5%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Endocrinología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95.3%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Hematología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96.1%</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Nefrología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96.8%</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Oncología Médica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97.6%</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Neurocirugía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98.4%</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Psiquiatría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99.2%</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Urología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100.0%</a:t>
                      </a:r>
                    </a:p>
                  </a:txBody>
                  <a:tcPr anchor="ctr" marL="45720" marR="45720" marT="45720" marB="45720">
                    <a:solidFill>
                      <a:srgbClr val="D9D9D9"/>
                    </a:solidFill>
                  </a:tcPr>
                </a:tc>
              </a:tr>
              <a:tr h="161600">
                <a:tc>
                  <a:txBody>
                    <a:bodyPr/>
                    <a:lstStyle/>
                    <a:p>
                      <a:pPr algn="l">
                        <a:defRPr sz="1100" b="1">
                          <a:solidFill>
                            <a:srgbClr val="006455"/>
                          </a:solidFill>
                          <a:latin typeface="Montserrat"/>
                        </a:defRPr>
                      </a:pPr>
                      <a:r>
                        <a:t>Total</a:t>
                      </a:r>
                    </a:p>
                  </a:txBody>
                  <a:tcPr anchor="ctr" marL="45720" marR="45720" marT="45720" marB="45720">
                    <a:solidFill>
                      <a:srgbClr val="CBE6E1"/>
                    </a:solidFill>
                  </a:tcPr>
                </a:tc>
                <a:tc>
                  <a:txBody>
                    <a:bodyPr/>
                    <a:lstStyle/>
                    <a:p>
                      <a:pPr algn="ctr">
                        <a:defRPr sz="1100" b="1">
                          <a:solidFill>
                            <a:srgbClr val="006455"/>
                          </a:solidFill>
                          <a:latin typeface="Montserrat"/>
                        </a:defRPr>
                      </a:pPr>
                      <a:r>
                        <a:t>129</a:t>
                      </a:r>
                    </a:p>
                  </a:txBody>
                  <a:tcPr anchor="ctr" marL="45720" marR="45720" marT="45720" marB="45720">
                    <a:solidFill>
                      <a:srgbClr val="CBE6E1"/>
                    </a:solidFill>
                  </a:tcPr>
                </a:tc>
                <a:tc>
                  <a:txBody>
                    <a:bodyPr/>
                    <a:lstStyle/>
                    <a:p>
                      <a:pPr algn="ctr">
                        <a:defRPr sz="1100" b="1">
                          <a:solidFill>
                            <a:srgbClr val="006455"/>
                          </a:solidFill>
                          <a:latin typeface="Montserrat"/>
                        </a:defRPr>
                      </a:pPr>
                      <a:r>
                        <a:t>100.0%</a:t>
                      </a:r>
                    </a:p>
                  </a:txBody>
                  <a:tcPr anchor="ctr" marL="45720" marR="45720" marT="45720" marB="45720">
                    <a:solidFill>
                      <a:srgbClr val="CBE6E1"/>
                    </a:solidFill>
                  </a:tcPr>
                </a:tc>
              </a:tr>
            </a:tbl>
          </a:graphicData>
        </a:graphic>
      </p:graphicFrame>
    </p:spTree>
    <p:extLst>
      <p:ext uri="{BB962C8B-B14F-4D97-AF65-F5344CB8AC3E}">
        <p14:creationId xmlns:p14="http://schemas.microsoft.com/office/powerpoint/2010/main" val="3828482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16BF8589-348A-1D14-4A2E-7CF6A1956EF4}"/>
            </a:ext>
          </a:extLst>
        </p:cNvPr>
        <p:cNvGrpSpPr/>
        <p:nvPr/>
      </p:nvGrpSpPr>
      <p:grpSpPr>
        <a:xfrm>
          <a:off x="0" y="0"/>
          <a:ext cx="0" cy="0"/>
          <a:chOff x="0" y="0"/>
          <a:chExt cx="0" cy="0"/>
        </a:xfrm>
      </p:grpSpPr>
      <p:graphicFrame>
        <p:nvGraphicFramePr>
          <p:cNvPr id="2" name="Google Shape;230;g370e87ffe7a_2_137">
            <a:extLst>
              <a:ext uri="{FF2B5EF4-FFF2-40B4-BE49-F238E27FC236}">
                <a16:creationId xmlns:a16="http://schemas.microsoft.com/office/drawing/2014/main" id="{919DA8F5-1DF4-C33B-DE0D-E96B0269B28E}"/>
              </a:ext>
            </a:extLst>
          </p:cNvPr>
          <p:cNvGraphicFramePr/>
          <p:nvPr>
            <p:extLst>
              <p:ext uri="{D42A27DB-BD31-4B8C-83A1-F6EECF244321}">
                <p14:modId xmlns:p14="http://schemas.microsoft.com/office/powerpoint/2010/main" val="338699229"/>
              </p:ext>
            </p:extLst>
          </p:nvPr>
        </p:nvGraphicFramePr>
        <p:xfrm>
          <a:off x="287050" y="878445"/>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Lista de espera por especialidad y por cirugía prioritaria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 name="TextBox 2"/>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ZACATECAS</a:t>
            </a:r>
          </a:p>
        </p:txBody>
      </p:sp>
      <p:sp>
        <p:nvSpPr>
          <p:cNvPr id="4" name="TextBox 3"/>
          <p:cNvSpPr txBox="1"/>
          <p:nvPr/>
        </p:nvSpPr>
        <p:spPr>
          <a:xfrm>
            <a:off x="176400" y="8982000"/>
            <a:ext cx="5324400" cy="4284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21, 17 mayo 2026</a:t>
            </a:r>
          </a:p>
        </p:txBody>
      </p:sp>
      <p:graphicFrame>
        <p:nvGraphicFramePr>
          <p:cNvPr id="5" name="Table 4"/>
          <p:cNvGraphicFramePr>
            <a:graphicFrameLocks noGrp="1"/>
          </p:cNvGraphicFramePr>
          <p:nvPr/>
        </p:nvGraphicFramePr>
        <p:xfrm>
          <a:off x="32400" y="3474000"/>
          <a:ext cx="3639599" cy="2592000"/>
        </p:xfrm>
        <a:graphic>
          <a:graphicData uri="http://schemas.openxmlformats.org/drawingml/2006/table">
            <a:tbl>
              <a:tblPr firstRow="1" bandRow="1">
                <a:tableStyleId>{5C22544A-7EE6-4342-B048-85BDC9FD1C3A}</a:tableStyleId>
              </a:tblPr>
              <a:tblGrid>
                <a:gridCol w="1731599"/>
                <a:gridCol w="950400"/>
                <a:gridCol w="957600"/>
              </a:tblGrid>
              <a:tr h="216000">
                <a:tc>
                  <a:txBody>
                    <a:bodyPr/>
                    <a:lstStyle/>
                    <a:p>
                      <a:pPr algn="ctr">
                        <a:defRPr b="1" sz="1100">
                          <a:solidFill>
                            <a:srgbClr val="FFFFFF"/>
                          </a:solidFill>
                          <a:latin typeface="Montserrat"/>
                        </a:defRPr>
                      </a:pPr>
                      <a:r>
                        <a:t>Especialidad</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acumulado total</a:t>
                      </a:r>
                    </a:p>
                  </a:txBody>
                  <a:tcPr marL="14400" marR="14400" anchor="ctr">
                    <a:solidFill>
                      <a:srgbClr val="006455"/>
                    </a:solidFill>
                  </a:tcPr>
                </a:tc>
              </a:tr>
              <a:tr h="216000">
                <a:tc>
                  <a:txBody>
                    <a:bodyPr/>
                    <a:lstStyle/>
                    <a:p>
                      <a:pPr algn="l">
                        <a:defRPr sz="1000">
                          <a:latin typeface="Montserrat"/>
                        </a:defRPr>
                      </a:pPr>
                      <a:r>
                        <a:t>Traumatología y ortopedia</a:t>
                      </a:r>
                    </a:p>
                  </a:txBody>
                  <a:tcPr anchor="ctr">
                    <a:solidFill>
                      <a:srgbClr val="FFFFFF"/>
                    </a:solidFill>
                  </a:tcPr>
                </a:tc>
                <a:tc>
                  <a:txBody>
                    <a:bodyPr/>
                    <a:lstStyle/>
                    <a:p>
                      <a:pPr algn="ctr">
                        <a:defRPr sz="1000">
                          <a:latin typeface="Montserrat"/>
                        </a:defRPr>
                      </a:pPr>
                      <a:r>
                        <a:t>840</a:t>
                      </a:r>
                    </a:p>
                  </a:txBody>
                  <a:tcPr anchor="ctr">
                    <a:solidFill>
                      <a:srgbClr val="FFFFFF"/>
                    </a:solidFill>
                  </a:tcPr>
                </a:tc>
                <a:tc>
                  <a:txBody>
                    <a:bodyPr/>
                    <a:lstStyle/>
                    <a:p>
                      <a:pPr algn="ctr">
                        <a:defRPr sz="1000">
                          <a:latin typeface="Montserrat"/>
                        </a:defRPr>
                      </a:pPr>
                      <a:r>
                        <a:t>27.9%</a:t>
                      </a:r>
                    </a:p>
                  </a:txBody>
                  <a:tcPr anchor="ctr">
                    <a:solidFill>
                      <a:srgbClr val="FFFFFF"/>
                    </a:solidFill>
                  </a:tcPr>
                </a:tc>
              </a:tr>
              <a:tr h="216000">
                <a:tc>
                  <a:txBody>
                    <a:bodyPr/>
                    <a:lstStyle/>
                    <a:p>
                      <a:pPr algn="l">
                        <a:defRPr sz="1000">
                          <a:latin typeface="Montserrat"/>
                        </a:defRPr>
                      </a:pPr>
                      <a:r>
                        <a:t>Cirugía General</a:t>
                      </a:r>
                    </a:p>
                  </a:txBody>
                  <a:tcPr anchor="ctr">
                    <a:solidFill>
                      <a:srgbClr val="D9D9D9"/>
                    </a:solidFill>
                  </a:tcPr>
                </a:tc>
                <a:tc>
                  <a:txBody>
                    <a:bodyPr/>
                    <a:lstStyle/>
                    <a:p>
                      <a:pPr algn="ctr">
                        <a:defRPr sz="1000">
                          <a:latin typeface="Montserrat"/>
                        </a:defRPr>
                      </a:pPr>
                      <a:r>
                        <a:t>826</a:t>
                      </a:r>
                    </a:p>
                  </a:txBody>
                  <a:tcPr anchor="ctr">
                    <a:solidFill>
                      <a:srgbClr val="D9D9D9"/>
                    </a:solidFill>
                  </a:tcPr>
                </a:tc>
                <a:tc>
                  <a:txBody>
                    <a:bodyPr/>
                    <a:lstStyle/>
                    <a:p>
                      <a:pPr algn="ctr">
                        <a:defRPr sz="1000">
                          <a:latin typeface="Montserrat"/>
                        </a:defRPr>
                      </a:pPr>
                      <a:r>
                        <a:t>55.4%</a:t>
                      </a:r>
                    </a:p>
                  </a:txBody>
                  <a:tcPr anchor="ctr">
                    <a:solidFill>
                      <a:srgbClr val="D9D9D9"/>
                    </a:solidFill>
                  </a:tcPr>
                </a:tc>
              </a:tr>
              <a:tr h="216000">
                <a:tc>
                  <a:txBody>
                    <a:bodyPr/>
                    <a:lstStyle/>
                    <a:p>
                      <a:pPr algn="l">
                        <a:defRPr sz="1000">
                          <a:latin typeface="Montserrat"/>
                        </a:defRPr>
                      </a:pPr>
                      <a:r>
                        <a:t>Ginecología</a:t>
                      </a:r>
                    </a:p>
                  </a:txBody>
                  <a:tcPr anchor="ctr">
                    <a:solidFill>
                      <a:srgbClr val="FFFFFF"/>
                    </a:solidFill>
                  </a:tcPr>
                </a:tc>
                <a:tc>
                  <a:txBody>
                    <a:bodyPr/>
                    <a:lstStyle/>
                    <a:p>
                      <a:pPr algn="ctr">
                        <a:defRPr sz="1000">
                          <a:latin typeface="Montserrat"/>
                        </a:defRPr>
                      </a:pPr>
                      <a:r>
                        <a:t>617</a:t>
                      </a:r>
                    </a:p>
                  </a:txBody>
                  <a:tcPr anchor="ctr">
                    <a:solidFill>
                      <a:srgbClr val="FFFFFF"/>
                    </a:solidFill>
                  </a:tcPr>
                </a:tc>
                <a:tc>
                  <a:txBody>
                    <a:bodyPr/>
                    <a:lstStyle/>
                    <a:p>
                      <a:pPr algn="ctr">
                        <a:defRPr sz="1000">
                          <a:latin typeface="Montserrat"/>
                        </a:defRPr>
                      </a:pPr>
                      <a:r>
                        <a:t>75.9%</a:t>
                      </a:r>
                    </a:p>
                  </a:txBody>
                  <a:tcPr anchor="ctr">
                    <a:solidFill>
                      <a:srgbClr val="FFFFFF"/>
                    </a:solidFill>
                  </a:tcPr>
                </a:tc>
              </a:tr>
              <a:tr h="216000">
                <a:tc>
                  <a:txBody>
                    <a:bodyPr/>
                    <a:lstStyle/>
                    <a:p>
                      <a:pPr algn="l">
                        <a:defRPr sz="1000">
                          <a:latin typeface="Montserrat"/>
                        </a:defRPr>
                      </a:pPr>
                      <a:r>
                        <a:t>Obstetricia</a:t>
                      </a:r>
                    </a:p>
                  </a:txBody>
                  <a:tcPr anchor="ctr">
                    <a:solidFill>
                      <a:srgbClr val="D9D9D9"/>
                    </a:solidFill>
                  </a:tcPr>
                </a:tc>
                <a:tc>
                  <a:txBody>
                    <a:bodyPr/>
                    <a:lstStyle/>
                    <a:p>
                      <a:pPr algn="ctr">
                        <a:defRPr sz="1000">
                          <a:latin typeface="Montserrat"/>
                        </a:defRPr>
                      </a:pPr>
                      <a:r>
                        <a:t>274</a:t>
                      </a:r>
                    </a:p>
                  </a:txBody>
                  <a:tcPr anchor="ctr">
                    <a:solidFill>
                      <a:srgbClr val="D9D9D9"/>
                    </a:solidFill>
                  </a:tcPr>
                </a:tc>
                <a:tc>
                  <a:txBody>
                    <a:bodyPr/>
                    <a:lstStyle/>
                    <a:p>
                      <a:pPr algn="ctr">
                        <a:defRPr sz="1000">
                          <a:latin typeface="Montserrat"/>
                        </a:defRPr>
                      </a:pPr>
                      <a:r>
                        <a:t>85.0%</a:t>
                      </a:r>
                    </a:p>
                  </a:txBody>
                  <a:tcPr anchor="ctr">
                    <a:solidFill>
                      <a:srgbClr val="D9D9D9"/>
                    </a:solidFill>
                  </a:tcPr>
                </a:tc>
              </a:tr>
              <a:tr h="216000">
                <a:tc>
                  <a:txBody>
                    <a:bodyPr/>
                    <a:lstStyle/>
                    <a:p>
                      <a:pPr algn="l">
                        <a:defRPr sz="1000">
                          <a:latin typeface="Montserrat"/>
                        </a:defRPr>
                      </a:pPr>
                      <a:r>
                        <a:t>Cirugía oncológica</a:t>
                      </a:r>
                    </a:p>
                  </a:txBody>
                  <a:tcPr anchor="ctr">
                    <a:solidFill>
                      <a:srgbClr val="FFFFFF"/>
                    </a:solidFill>
                  </a:tcPr>
                </a:tc>
                <a:tc>
                  <a:txBody>
                    <a:bodyPr/>
                    <a:lstStyle/>
                    <a:p>
                      <a:pPr algn="ctr">
                        <a:defRPr sz="1000">
                          <a:latin typeface="Montserrat"/>
                        </a:defRPr>
                      </a:pPr>
                      <a:r>
                        <a:t>162</a:t>
                      </a:r>
                    </a:p>
                  </a:txBody>
                  <a:tcPr anchor="ctr">
                    <a:solidFill>
                      <a:srgbClr val="FFFFFF"/>
                    </a:solidFill>
                  </a:tcPr>
                </a:tc>
                <a:tc>
                  <a:txBody>
                    <a:bodyPr/>
                    <a:lstStyle/>
                    <a:p>
                      <a:pPr algn="ctr">
                        <a:defRPr sz="1000">
                          <a:latin typeface="Montserrat"/>
                        </a:defRPr>
                      </a:pPr>
                      <a:r>
                        <a:t>90.4%</a:t>
                      </a:r>
                    </a:p>
                  </a:txBody>
                  <a:tcPr anchor="ctr">
                    <a:solidFill>
                      <a:srgbClr val="FFFFFF"/>
                    </a:solidFill>
                  </a:tcPr>
                </a:tc>
              </a:tr>
              <a:tr h="216000">
                <a:tc>
                  <a:txBody>
                    <a:bodyPr/>
                    <a:lstStyle/>
                    <a:p>
                      <a:pPr algn="l">
                        <a:defRPr sz="1000">
                          <a:latin typeface="Montserrat"/>
                        </a:defRPr>
                      </a:pPr>
                      <a:r>
                        <a:t>Oftalmología</a:t>
                      </a:r>
                    </a:p>
                  </a:txBody>
                  <a:tcPr anchor="ctr">
                    <a:solidFill>
                      <a:srgbClr val="D9D9D9"/>
                    </a:solidFill>
                  </a:tcPr>
                </a:tc>
                <a:tc>
                  <a:txBody>
                    <a:bodyPr/>
                    <a:lstStyle/>
                    <a:p>
                      <a:pPr algn="ctr">
                        <a:defRPr sz="1000">
                          <a:latin typeface="Montserrat"/>
                        </a:defRPr>
                      </a:pPr>
                      <a:r>
                        <a:t>87</a:t>
                      </a:r>
                    </a:p>
                  </a:txBody>
                  <a:tcPr anchor="ctr">
                    <a:solidFill>
                      <a:srgbClr val="D9D9D9"/>
                    </a:solidFill>
                  </a:tcPr>
                </a:tc>
                <a:tc>
                  <a:txBody>
                    <a:bodyPr/>
                    <a:lstStyle/>
                    <a:p>
                      <a:pPr algn="ctr">
                        <a:defRPr sz="1000">
                          <a:latin typeface="Montserrat"/>
                        </a:defRPr>
                      </a:pPr>
                      <a:r>
                        <a:t>93.3%</a:t>
                      </a:r>
                    </a:p>
                  </a:txBody>
                  <a:tcPr anchor="ctr">
                    <a:solidFill>
                      <a:srgbClr val="D9D9D9"/>
                    </a:solidFill>
                  </a:tcPr>
                </a:tc>
              </a:tr>
              <a:tr h="216000">
                <a:tc>
                  <a:txBody>
                    <a:bodyPr/>
                    <a:lstStyle/>
                    <a:p>
                      <a:pPr algn="l">
                        <a:defRPr sz="1000">
                          <a:latin typeface="Montserrat"/>
                        </a:defRPr>
                      </a:pPr>
                      <a:r>
                        <a:t>Otorrinolaringología</a:t>
                      </a:r>
                    </a:p>
                  </a:txBody>
                  <a:tcPr anchor="ctr">
                    <a:solidFill>
                      <a:srgbClr val="FFFFFF"/>
                    </a:solidFill>
                  </a:tcPr>
                </a:tc>
                <a:tc>
                  <a:txBody>
                    <a:bodyPr/>
                    <a:lstStyle/>
                    <a:p>
                      <a:pPr algn="ctr">
                        <a:defRPr sz="1000">
                          <a:latin typeface="Montserrat"/>
                        </a:defRPr>
                      </a:pPr>
                      <a:r>
                        <a:t>80</a:t>
                      </a:r>
                    </a:p>
                  </a:txBody>
                  <a:tcPr anchor="ctr">
                    <a:solidFill>
                      <a:srgbClr val="FFFFFF"/>
                    </a:solidFill>
                  </a:tcPr>
                </a:tc>
                <a:tc>
                  <a:txBody>
                    <a:bodyPr/>
                    <a:lstStyle/>
                    <a:p>
                      <a:pPr algn="ctr">
                        <a:defRPr sz="1000">
                          <a:latin typeface="Montserrat"/>
                        </a:defRPr>
                      </a:pPr>
                      <a:r>
                        <a:t>96.0%</a:t>
                      </a:r>
                    </a:p>
                  </a:txBody>
                  <a:tcPr anchor="ctr">
                    <a:solidFill>
                      <a:srgbClr val="FFFFFF"/>
                    </a:solidFill>
                  </a:tcPr>
                </a:tc>
              </a:tr>
              <a:tr h="216000">
                <a:tc>
                  <a:txBody>
                    <a:bodyPr/>
                    <a:lstStyle/>
                    <a:p>
                      <a:pPr algn="l">
                        <a:defRPr sz="1000">
                          <a:latin typeface="Montserrat"/>
                        </a:defRPr>
                      </a:pPr>
                      <a:r>
                        <a:t>Cirugía Pediátrica  </a:t>
                      </a:r>
                    </a:p>
                  </a:txBody>
                  <a:tcPr anchor="ctr">
                    <a:solidFill>
                      <a:srgbClr val="D9D9D9"/>
                    </a:solidFill>
                  </a:tcPr>
                </a:tc>
                <a:tc>
                  <a:txBody>
                    <a:bodyPr/>
                    <a:lstStyle/>
                    <a:p>
                      <a:pPr algn="ctr">
                        <a:defRPr sz="1000">
                          <a:latin typeface="Montserrat"/>
                        </a:defRPr>
                      </a:pPr>
                      <a:r>
                        <a:t>73</a:t>
                      </a:r>
                    </a:p>
                  </a:txBody>
                  <a:tcPr anchor="ctr">
                    <a:solidFill>
                      <a:srgbClr val="D9D9D9"/>
                    </a:solidFill>
                  </a:tcPr>
                </a:tc>
                <a:tc>
                  <a:txBody>
                    <a:bodyPr/>
                    <a:lstStyle/>
                    <a:p>
                      <a:pPr algn="ctr">
                        <a:defRPr sz="1000">
                          <a:latin typeface="Montserrat"/>
                        </a:defRPr>
                      </a:pPr>
                      <a:r>
                        <a:t>98.4%</a:t>
                      </a:r>
                    </a:p>
                  </a:txBody>
                  <a:tcPr anchor="ctr">
                    <a:solidFill>
                      <a:srgbClr val="D9D9D9"/>
                    </a:solidFill>
                  </a:tcPr>
                </a:tc>
              </a:tr>
              <a:tr h="216000">
                <a:tc>
                  <a:txBody>
                    <a:bodyPr/>
                    <a:lstStyle/>
                    <a:p>
                      <a:pPr algn="l">
                        <a:defRPr sz="1000">
                          <a:latin typeface="Montserrat"/>
                        </a:defRPr>
                      </a:pPr>
                      <a:r>
                        <a:t>Urología  </a:t>
                      </a:r>
                    </a:p>
                  </a:txBody>
                  <a:tcPr anchor="ctr">
                    <a:solidFill>
                      <a:srgbClr val="FFFFFF"/>
                    </a:solidFill>
                  </a:tcPr>
                </a:tc>
                <a:tc>
                  <a:txBody>
                    <a:bodyPr/>
                    <a:lstStyle/>
                    <a:p>
                      <a:pPr algn="ctr">
                        <a:defRPr sz="1000">
                          <a:latin typeface="Montserrat"/>
                        </a:defRPr>
                      </a:pPr>
                      <a:r>
                        <a:t>27</a:t>
                      </a:r>
                    </a:p>
                  </a:txBody>
                  <a:tcPr anchor="ctr">
                    <a:solidFill>
                      <a:srgbClr val="FFFFFF"/>
                    </a:solidFill>
                  </a:tcPr>
                </a:tc>
                <a:tc>
                  <a:txBody>
                    <a:bodyPr/>
                    <a:lstStyle/>
                    <a:p>
                      <a:pPr algn="ctr">
                        <a:defRPr sz="1000">
                          <a:latin typeface="Montserrat"/>
                        </a:defRPr>
                      </a:pPr>
                      <a:r>
                        <a:t>99.3%</a:t>
                      </a:r>
                    </a:p>
                  </a:txBody>
                  <a:tcPr anchor="ctr">
                    <a:solidFill>
                      <a:srgbClr val="FFFFFF"/>
                    </a:solidFill>
                  </a:tcPr>
                </a:tc>
              </a:tr>
              <a:tr h="216000">
                <a:tc>
                  <a:txBody>
                    <a:bodyPr/>
                    <a:lstStyle/>
                    <a:p>
                      <a:pPr algn="l">
                        <a:defRPr sz="1000">
                          <a:latin typeface="Montserrat"/>
                        </a:defRPr>
                      </a:pPr>
                      <a:r>
                        <a:t>Neurocirugía</a:t>
                      </a:r>
                    </a:p>
                  </a:txBody>
                  <a:tcPr anchor="ctr">
                    <a:solidFill>
                      <a:srgbClr val="D9D9D9"/>
                    </a:solidFill>
                  </a:tcPr>
                </a:tc>
                <a:tc>
                  <a:txBody>
                    <a:bodyPr/>
                    <a:lstStyle/>
                    <a:p>
                      <a:pPr algn="ctr">
                        <a:defRPr sz="1000">
                          <a:latin typeface="Montserrat"/>
                        </a:defRPr>
                      </a:pPr>
                      <a:r>
                        <a:t>21</a:t>
                      </a:r>
                    </a:p>
                  </a:txBody>
                  <a:tcPr anchor="ctr">
                    <a:solidFill>
                      <a:srgbClr val="D9D9D9"/>
                    </a:solidFill>
                  </a:tcPr>
                </a:tc>
                <a:tc>
                  <a:txBody>
                    <a:bodyPr/>
                    <a:lstStyle/>
                    <a:p>
                      <a:pPr algn="ctr">
                        <a:defRPr sz="1000">
                          <a:latin typeface="Montserrat"/>
                        </a:defRPr>
                      </a:pPr>
                      <a:r>
                        <a:t>100.0%</a:t>
                      </a:r>
                    </a:p>
                  </a:txBody>
                  <a:tcPr anchor="ctr">
                    <a:solidFill>
                      <a:srgbClr val="D9D9D9"/>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3,007</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3992400" y="3848400"/>
          <a:ext cx="3639599" cy="1944000"/>
        </p:xfrm>
        <a:graphic>
          <a:graphicData uri="http://schemas.openxmlformats.org/drawingml/2006/table">
            <a:tbl>
              <a:tblPr firstRow="1" bandRow="1">
                <a:tableStyleId>{5C22544A-7EE6-4342-B048-85BDC9FD1C3A}</a:tableStyleId>
              </a:tblPr>
              <a:tblGrid>
                <a:gridCol w="1738800"/>
                <a:gridCol w="1000799"/>
                <a:gridCol w="900000"/>
              </a:tblGrid>
              <a:tr h="216000">
                <a:tc>
                  <a:txBody>
                    <a:bodyPr/>
                    <a:lstStyle/>
                    <a:p>
                      <a:pPr algn="ctr">
                        <a:defRPr b="1" sz="1100">
                          <a:solidFill>
                            <a:srgbClr val="FFFFFF"/>
                          </a:solidFill>
                          <a:latin typeface="Montserrat"/>
                        </a:defRPr>
                      </a:pPr>
                      <a:r>
                        <a:t>Cirugía prioritaria</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del total</a:t>
                      </a:r>
                    </a:p>
                  </a:txBody>
                  <a:tcPr marL="14400" marR="14400" anchor="ctr">
                    <a:solidFill>
                      <a:srgbClr val="006455"/>
                    </a:solidFill>
                  </a:tcPr>
                </a:tc>
              </a:tr>
              <a:tr h="216000">
                <a:tc>
                  <a:txBody>
                    <a:bodyPr/>
                    <a:lstStyle/>
                    <a:p>
                      <a:pPr algn="l">
                        <a:defRPr sz="1000">
                          <a:latin typeface="Montserrat"/>
                        </a:defRPr>
                      </a:pPr>
                      <a:r>
                        <a:t>Sustitución de rodilla</a:t>
                      </a:r>
                    </a:p>
                  </a:txBody>
                  <a:tcPr anchor="ctr">
                    <a:solidFill>
                      <a:srgbClr val="FFFFFF"/>
                    </a:solidFill>
                  </a:tcPr>
                </a:tc>
                <a:tc>
                  <a:txBody>
                    <a:bodyPr/>
                    <a:lstStyle/>
                    <a:p>
                      <a:pPr algn="ctr">
                        <a:defRPr sz="1000">
                          <a:latin typeface="Montserrat"/>
                        </a:defRPr>
                      </a:pPr>
                      <a:r>
                        <a:t>215</a:t>
                      </a:r>
                    </a:p>
                  </a:txBody>
                  <a:tcPr anchor="ctr">
                    <a:solidFill>
                      <a:srgbClr val="FFFFFF"/>
                    </a:solidFill>
                  </a:tcPr>
                </a:tc>
                <a:tc>
                  <a:txBody>
                    <a:bodyPr/>
                    <a:lstStyle/>
                    <a:p>
                      <a:pPr algn="ctr">
                        <a:defRPr sz="1000">
                          <a:latin typeface="Montserrat"/>
                        </a:defRPr>
                      </a:pPr>
                      <a:r>
                        <a:t>28.5%</a:t>
                      </a:r>
                    </a:p>
                  </a:txBody>
                  <a:tcPr anchor="ctr">
                    <a:solidFill>
                      <a:srgbClr val="FFFFFF"/>
                    </a:solidFill>
                  </a:tcPr>
                </a:tc>
              </a:tr>
              <a:tr h="216000">
                <a:tc>
                  <a:txBody>
                    <a:bodyPr/>
                    <a:lstStyle/>
                    <a:p>
                      <a:pPr algn="l">
                        <a:defRPr sz="1000">
                          <a:latin typeface="Montserrat"/>
                        </a:defRPr>
                      </a:pPr>
                      <a:r>
                        <a:t>Colecistectomías</a:t>
                      </a:r>
                    </a:p>
                  </a:txBody>
                  <a:tcPr anchor="ctr">
                    <a:solidFill>
                      <a:srgbClr val="D9D9D9"/>
                    </a:solidFill>
                  </a:tcPr>
                </a:tc>
                <a:tc>
                  <a:txBody>
                    <a:bodyPr/>
                    <a:lstStyle/>
                    <a:p>
                      <a:pPr algn="ctr">
                        <a:defRPr sz="1000">
                          <a:latin typeface="Montserrat"/>
                        </a:defRPr>
                      </a:pPr>
                      <a:r>
                        <a:t>185</a:t>
                      </a:r>
                    </a:p>
                  </a:txBody>
                  <a:tcPr anchor="ctr">
                    <a:solidFill>
                      <a:srgbClr val="D9D9D9"/>
                    </a:solidFill>
                  </a:tcPr>
                </a:tc>
                <a:tc>
                  <a:txBody>
                    <a:bodyPr/>
                    <a:lstStyle/>
                    <a:p>
                      <a:pPr algn="ctr">
                        <a:defRPr sz="1000">
                          <a:latin typeface="Montserrat"/>
                        </a:defRPr>
                      </a:pPr>
                      <a:r>
                        <a:t>53.1%</a:t>
                      </a:r>
                    </a:p>
                  </a:txBody>
                  <a:tcPr anchor="ctr">
                    <a:solidFill>
                      <a:srgbClr val="D9D9D9"/>
                    </a:solidFill>
                  </a:tcPr>
                </a:tc>
              </a:tr>
              <a:tr h="216000">
                <a:tc>
                  <a:txBody>
                    <a:bodyPr/>
                    <a:lstStyle/>
                    <a:p>
                      <a:pPr algn="l">
                        <a:defRPr sz="1000">
                          <a:latin typeface="Montserrat"/>
                        </a:defRPr>
                      </a:pPr>
                      <a:r>
                        <a:t>Histerectomías</a:t>
                      </a:r>
                    </a:p>
                  </a:txBody>
                  <a:tcPr anchor="ctr">
                    <a:solidFill>
                      <a:srgbClr val="FFFFFF"/>
                    </a:solidFill>
                  </a:tcPr>
                </a:tc>
                <a:tc>
                  <a:txBody>
                    <a:bodyPr/>
                    <a:lstStyle/>
                    <a:p>
                      <a:pPr algn="ctr">
                        <a:defRPr sz="1000">
                          <a:latin typeface="Montserrat"/>
                        </a:defRPr>
                      </a:pPr>
                      <a:r>
                        <a:t>121</a:t>
                      </a:r>
                    </a:p>
                  </a:txBody>
                  <a:tcPr anchor="ctr">
                    <a:solidFill>
                      <a:srgbClr val="FFFFFF"/>
                    </a:solidFill>
                  </a:tcPr>
                </a:tc>
                <a:tc>
                  <a:txBody>
                    <a:bodyPr/>
                    <a:lstStyle/>
                    <a:p>
                      <a:pPr algn="ctr">
                        <a:defRPr sz="1000">
                          <a:latin typeface="Montserrat"/>
                        </a:defRPr>
                      </a:pPr>
                      <a:r>
                        <a:t>69.1%</a:t>
                      </a:r>
                    </a:p>
                  </a:txBody>
                  <a:tcPr anchor="ctr">
                    <a:solidFill>
                      <a:srgbClr val="FFFFFF"/>
                    </a:solidFill>
                  </a:tcPr>
                </a:tc>
              </a:tr>
              <a:tr h="216000">
                <a:tc>
                  <a:txBody>
                    <a:bodyPr/>
                    <a:lstStyle/>
                    <a:p>
                      <a:pPr algn="l">
                        <a:defRPr sz="1000">
                          <a:latin typeface="Montserrat"/>
                        </a:defRPr>
                      </a:pPr>
                      <a:r>
                        <a:t>Hernioplastías abdominales</a:t>
                      </a:r>
                    </a:p>
                  </a:txBody>
                  <a:tcPr anchor="ctr">
                    <a:solidFill>
                      <a:srgbClr val="D9D9D9"/>
                    </a:solidFill>
                  </a:tcPr>
                </a:tc>
                <a:tc>
                  <a:txBody>
                    <a:bodyPr/>
                    <a:lstStyle/>
                    <a:p>
                      <a:pPr algn="ctr">
                        <a:defRPr sz="1000">
                          <a:latin typeface="Montserrat"/>
                        </a:defRPr>
                      </a:pPr>
                      <a:r>
                        <a:t>83</a:t>
                      </a:r>
                    </a:p>
                  </a:txBody>
                  <a:tcPr anchor="ctr">
                    <a:solidFill>
                      <a:srgbClr val="D9D9D9"/>
                    </a:solidFill>
                  </a:tcPr>
                </a:tc>
                <a:tc>
                  <a:txBody>
                    <a:bodyPr/>
                    <a:lstStyle/>
                    <a:p>
                      <a:pPr algn="ctr">
                        <a:defRPr sz="1000">
                          <a:latin typeface="Montserrat"/>
                        </a:defRPr>
                      </a:pPr>
                      <a:r>
                        <a:t>80.1%</a:t>
                      </a:r>
                    </a:p>
                  </a:txBody>
                  <a:tcPr anchor="ctr">
                    <a:solidFill>
                      <a:srgbClr val="D9D9D9"/>
                    </a:solidFill>
                  </a:tcPr>
                </a:tc>
              </a:tr>
              <a:tr h="216000">
                <a:tc>
                  <a:txBody>
                    <a:bodyPr/>
                    <a:lstStyle/>
                    <a:p>
                      <a:pPr algn="l">
                        <a:defRPr sz="1000">
                          <a:latin typeface="Montserrat"/>
                        </a:defRPr>
                      </a:pPr>
                      <a:r>
                        <a:t>Sustitución de cadera</a:t>
                      </a:r>
                    </a:p>
                  </a:txBody>
                  <a:tcPr anchor="ctr">
                    <a:solidFill>
                      <a:srgbClr val="FFFFFF"/>
                    </a:solidFill>
                  </a:tcPr>
                </a:tc>
                <a:tc>
                  <a:txBody>
                    <a:bodyPr/>
                    <a:lstStyle/>
                    <a:p>
                      <a:pPr algn="ctr">
                        <a:defRPr sz="1000">
                          <a:latin typeface="Montserrat"/>
                        </a:defRPr>
                      </a:pPr>
                      <a:r>
                        <a:t>76</a:t>
                      </a:r>
                    </a:p>
                  </a:txBody>
                  <a:tcPr anchor="ctr">
                    <a:solidFill>
                      <a:srgbClr val="FFFFFF"/>
                    </a:solidFill>
                  </a:tcPr>
                </a:tc>
                <a:tc>
                  <a:txBody>
                    <a:bodyPr/>
                    <a:lstStyle/>
                    <a:p>
                      <a:pPr algn="ctr">
                        <a:defRPr sz="1000">
                          <a:latin typeface="Montserrat"/>
                        </a:defRPr>
                      </a:pPr>
                      <a:r>
                        <a:t>90.2%</a:t>
                      </a:r>
                    </a:p>
                  </a:txBody>
                  <a:tcPr anchor="ctr">
                    <a:solidFill>
                      <a:srgbClr val="FFFFFF"/>
                    </a:solidFill>
                  </a:tcPr>
                </a:tc>
              </a:tr>
              <a:tr h="216000">
                <a:tc>
                  <a:txBody>
                    <a:bodyPr/>
                    <a:lstStyle/>
                    <a:p>
                      <a:pPr algn="l">
                        <a:defRPr sz="1000">
                          <a:latin typeface="Montserrat"/>
                        </a:defRPr>
                      </a:pPr>
                      <a:r>
                        <a:t>Catarata</a:t>
                      </a:r>
                    </a:p>
                  </a:txBody>
                  <a:tcPr anchor="ctr">
                    <a:solidFill>
                      <a:srgbClr val="D9D9D9"/>
                    </a:solidFill>
                  </a:tcPr>
                </a:tc>
                <a:tc>
                  <a:txBody>
                    <a:bodyPr/>
                    <a:lstStyle/>
                    <a:p>
                      <a:pPr algn="ctr">
                        <a:defRPr sz="1000">
                          <a:latin typeface="Montserrat"/>
                        </a:defRPr>
                      </a:pPr>
                      <a:r>
                        <a:t>47</a:t>
                      </a:r>
                    </a:p>
                  </a:txBody>
                  <a:tcPr anchor="ctr">
                    <a:solidFill>
                      <a:srgbClr val="D9D9D9"/>
                    </a:solidFill>
                  </a:tcPr>
                </a:tc>
                <a:tc>
                  <a:txBody>
                    <a:bodyPr/>
                    <a:lstStyle/>
                    <a:p>
                      <a:pPr algn="ctr">
                        <a:defRPr sz="1000">
                          <a:latin typeface="Montserrat"/>
                        </a:defRPr>
                      </a:pPr>
                      <a:r>
                        <a:t>96.4%</a:t>
                      </a:r>
                    </a:p>
                  </a:txBody>
                  <a:tcPr anchor="ctr">
                    <a:solidFill>
                      <a:srgbClr val="D9D9D9"/>
                    </a:solidFill>
                  </a:tcPr>
                </a:tc>
              </a:tr>
              <a:tr h="216000">
                <a:tc>
                  <a:txBody>
                    <a:bodyPr/>
                    <a:lstStyle/>
                    <a:p>
                      <a:pPr algn="l">
                        <a:defRPr sz="1000">
                          <a:latin typeface="Montserrat"/>
                        </a:defRPr>
                      </a:pPr>
                      <a:r>
                        <a:t>Mastectomías</a:t>
                      </a:r>
                    </a:p>
                  </a:txBody>
                  <a:tcPr anchor="ctr">
                    <a:solidFill>
                      <a:srgbClr val="FFFFFF"/>
                    </a:solidFill>
                  </a:tcPr>
                </a:tc>
                <a:tc>
                  <a:txBody>
                    <a:bodyPr/>
                    <a:lstStyle/>
                    <a:p>
                      <a:pPr algn="ctr">
                        <a:defRPr sz="1000">
                          <a:latin typeface="Montserrat"/>
                        </a:defRPr>
                      </a:pPr>
                      <a:r>
                        <a:t>27</a:t>
                      </a:r>
                    </a:p>
                  </a:txBody>
                  <a:tcPr anchor="ctr">
                    <a:solidFill>
                      <a:srgbClr val="FFFFFF"/>
                    </a:solidFill>
                  </a:tcPr>
                </a:tc>
                <a:tc>
                  <a:txBody>
                    <a:bodyPr/>
                    <a:lstStyle/>
                    <a:p>
                      <a:pPr algn="ctr">
                        <a:defRPr sz="1000">
                          <a:latin typeface="Montserrat"/>
                        </a:defRPr>
                      </a:pPr>
                      <a:r>
                        <a:t>100.0%</a:t>
                      </a:r>
                    </a:p>
                  </a:txBody>
                  <a:tcPr anchor="ctr">
                    <a:solidFill>
                      <a:srgbClr val="FFFFFF"/>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754</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spTree>
    <p:extLst>
      <p:ext uri="{BB962C8B-B14F-4D97-AF65-F5344CB8AC3E}">
        <p14:creationId xmlns:p14="http://schemas.microsoft.com/office/powerpoint/2010/main" val="3805655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57"/>
        <p:cNvGrpSpPr/>
        <p:nvPr/>
      </p:nvGrpSpPr>
      <p:grpSpPr>
        <a:xfrm>
          <a:off x="0" y="0"/>
          <a:ext cx="0" cy="0"/>
          <a:chOff x="0" y="0"/>
          <a:chExt cx="0" cy="0"/>
        </a:xfrm>
      </p:grpSpPr>
      <p:graphicFrame>
        <p:nvGraphicFramePr>
          <p:cNvPr id="258" name="Google Shape;258;p8"/>
          <p:cNvGraphicFramePr/>
          <p:nvPr/>
        </p:nvGraphicFramePr>
        <p:xfrm>
          <a:off x="287700" y="789655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Vacantes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59" name="Google Shape;259;p8"/>
          <p:cNvPicPr preferRelativeResize="0"/>
          <p:nvPr/>
        </p:nvPicPr>
        <p:blipFill rotWithShape="1">
          <a:blip r:embed="rId4">
            <a:alphaModFix/>
          </a:blip>
          <a:srcRect/>
          <a:stretch/>
        </p:blipFill>
        <p:spPr>
          <a:xfrm>
            <a:off x="210001" y="1426697"/>
            <a:ext cx="1165254" cy="1022550"/>
          </a:xfrm>
          <a:prstGeom prst="rect">
            <a:avLst/>
          </a:prstGeom>
          <a:noFill/>
          <a:ln>
            <a:noFill/>
          </a:ln>
        </p:spPr>
      </p:pic>
      <p:pic>
        <p:nvPicPr>
          <p:cNvPr id="260" name="Google Shape;260;p8"/>
          <p:cNvPicPr preferRelativeResize="0"/>
          <p:nvPr/>
        </p:nvPicPr>
        <p:blipFill rotWithShape="1">
          <a:blip r:embed="rId5">
            <a:alphaModFix/>
          </a:blip>
          <a:srcRect/>
          <a:stretch/>
        </p:blipFill>
        <p:spPr>
          <a:xfrm>
            <a:off x="161175" y="2436923"/>
            <a:ext cx="1354900" cy="1188979"/>
          </a:xfrm>
          <a:prstGeom prst="rect">
            <a:avLst/>
          </a:prstGeom>
          <a:noFill/>
          <a:ln>
            <a:noFill/>
          </a:ln>
        </p:spPr>
      </p:pic>
      <p:pic>
        <p:nvPicPr>
          <p:cNvPr id="261" name="Google Shape;261;p8"/>
          <p:cNvPicPr preferRelativeResize="0"/>
          <p:nvPr/>
        </p:nvPicPr>
        <p:blipFill rotWithShape="1">
          <a:blip r:embed="rId6">
            <a:alphaModFix/>
          </a:blip>
          <a:srcRect/>
          <a:stretch/>
        </p:blipFill>
        <p:spPr>
          <a:xfrm>
            <a:off x="4187225" y="1281647"/>
            <a:ext cx="1354900" cy="1188953"/>
          </a:xfrm>
          <a:prstGeom prst="rect">
            <a:avLst/>
          </a:prstGeom>
          <a:noFill/>
          <a:ln>
            <a:noFill/>
          </a:ln>
        </p:spPr>
      </p:pic>
      <p:pic>
        <p:nvPicPr>
          <p:cNvPr id="262" name="Google Shape;262;p8"/>
          <p:cNvPicPr preferRelativeResize="0"/>
          <p:nvPr/>
        </p:nvPicPr>
        <p:blipFill rotWithShape="1">
          <a:blip r:embed="rId7">
            <a:alphaModFix/>
          </a:blip>
          <a:srcRect/>
          <a:stretch/>
        </p:blipFill>
        <p:spPr>
          <a:xfrm>
            <a:off x="161175" y="3532848"/>
            <a:ext cx="1354900" cy="1188979"/>
          </a:xfrm>
          <a:prstGeom prst="rect">
            <a:avLst/>
          </a:prstGeom>
          <a:noFill/>
          <a:ln>
            <a:noFill/>
          </a:ln>
        </p:spPr>
      </p:pic>
      <p:pic>
        <p:nvPicPr>
          <p:cNvPr id="263" name="Google Shape;263;p8"/>
          <p:cNvPicPr preferRelativeResize="0"/>
          <p:nvPr/>
        </p:nvPicPr>
        <p:blipFill rotWithShape="1">
          <a:blip r:embed="rId8">
            <a:alphaModFix/>
          </a:blip>
          <a:srcRect/>
          <a:stretch/>
        </p:blipFill>
        <p:spPr>
          <a:xfrm>
            <a:off x="4187225" y="2501823"/>
            <a:ext cx="1254675" cy="1101024"/>
          </a:xfrm>
          <a:prstGeom prst="rect">
            <a:avLst/>
          </a:prstGeom>
          <a:noFill/>
          <a:ln>
            <a:noFill/>
          </a:ln>
        </p:spPr>
      </p:pic>
      <p:pic>
        <p:nvPicPr>
          <p:cNvPr id="264" name="Google Shape;264;p8"/>
          <p:cNvPicPr preferRelativeResize="0"/>
          <p:nvPr/>
        </p:nvPicPr>
        <p:blipFill rotWithShape="1">
          <a:blip r:embed="rId9">
            <a:alphaModFix/>
          </a:blip>
          <a:srcRect/>
          <a:stretch/>
        </p:blipFill>
        <p:spPr>
          <a:xfrm>
            <a:off x="4237349" y="3569623"/>
            <a:ext cx="1165250" cy="1022551"/>
          </a:xfrm>
          <a:prstGeom prst="rect">
            <a:avLst/>
          </a:prstGeom>
          <a:noFill/>
          <a:ln>
            <a:noFill/>
          </a:ln>
        </p:spPr>
      </p:pic>
      <p:graphicFrame>
        <p:nvGraphicFramePr>
          <p:cNvPr id="295" name="Google Shape;295;p8"/>
          <p:cNvGraphicFramePr/>
          <p:nvPr/>
        </p:nvGraphicFramePr>
        <p:xfrm>
          <a:off x="287700" y="50804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Egreso de residentes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96" name="TextBox 295"/>
          <p:cNvSpPr txBox="1"/>
          <p:nvPr/>
        </p:nvSpPr>
        <p:spPr>
          <a:xfrm>
            <a:off x="0" y="27432"/>
            <a:ext cx="7772400" cy="548640"/>
          </a:xfrm>
          <a:prstGeom prst="rect">
            <a:avLst/>
          </a:prstGeom>
          <a:noFill/>
        </p:spPr>
        <p:txBody>
          <a:bodyPr wrap="none">
            <a:spAutoFit/>
          </a:bodyPr>
          <a:lstStyle/>
          <a:p>
            <a:pPr algn="ctr">
              <a:defRPr sz="2000">
                <a:solidFill>
                  <a:srgbClr val="FFFFFF"/>
                </a:solidFill>
                <a:latin typeface="Montserrat"/>
              </a:defRPr>
            </a:pPr>
            <a:r>
              <a:t>ZACATECAS</a:t>
            </a:r>
          </a:p>
        </p:txBody>
      </p:sp>
      <p:sp>
        <p:nvSpPr>
          <p:cNvPr id="297" name="TextBox 296"/>
          <p:cNvSpPr txBox="1"/>
          <p:nvPr/>
        </p:nvSpPr>
        <p:spPr>
          <a:xfrm>
            <a:off x="137160" y="722376"/>
            <a:ext cx="7470648" cy="384048"/>
          </a:xfrm>
          <a:prstGeom prst="rect">
            <a:avLst/>
          </a:prstGeom>
          <a:noFill/>
        </p:spPr>
        <p:txBody>
          <a:bodyPr wrap="none">
            <a:spAutoFit/>
          </a:bodyPr>
          <a:lstStyle/>
          <a:p>
            <a:pPr algn="l">
              <a:defRPr sz="2100" b="1">
                <a:solidFill>
                  <a:srgbClr val="B4975A"/>
                </a:solidFill>
                <a:latin typeface="Montserrat"/>
              </a:defRPr>
            </a:pPr>
            <a:r>
              <a:t>Personal Total: 6,414	 Personal de Salud: 2,994</a:t>
            </a:r>
          </a:p>
        </p:txBody>
      </p:sp>
      <p:cxnSp>
        <p:nvCxnSpPr>
          <p:cNvPr id="298" name="Connector 297"/>
          <p:cNvCxnSpPr/>
          <p:nvPr/>
        </p:nvCxnSpPr>
        <p:spPr>
          <a:xfrm>
            <a:off x="137160" y="1106424"/>
            <a:ext cx="7470648" cy="0"/>
          </a:xfrm>
          <a:prstGeom prst="line">
            <a:avLst/>
          </a:prstGeom>
          <a:ln w="18288">
            <a:solidFill>
              <a:srgbClr val="B4975A"/>
            </a:solidFill>
          </a:ln>
          <a:effectLst/>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1517904" y="1389888"/>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ounded Rectangle 299"/>
          <p:cNvSpPr/>
          <p:nvPr/>
        </p:nvSpPr>
        <p:spPr>
          <a:xfrm>
            <a:off x="151790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Generales</a:t>
            </a:r>
          </a:p>
          <a:p>
            <a:pPr algn="ctr">
              <a:defRPr sz="1600" b="1">
                <a:solidFill>
                  <a:srgbClr val="FFFFFF"/>
                </a:solidFill>
                <a:latin typeface="Montserrat"/>
              </a:defRPr>
            </a:pPr>
            <a:r>
              <a:t>+87.0%</a:t>
            </a:r>
          </a:p>
        </p:txBody>
      </p:sp>
      <p:graphicFrame>
        <p:nvGraphicFramePr>
          <p:cNvPr id="301" name="Table 300"/>
          <p:cNvGraphicFramePr>
            <a:graphicFrameLocks noGrp="1"/>
          </p:cNvGraphicFramePr>
          <p:nvPr/>
        </p:nvGraphicFramePr>
        <p:xfrm>
          <a:off x="1517904" y="1915668"/>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23</a:t>
                      </a:r>
                    </a:p>
                  </a:txBody>
                  <a:tcPr marL="0" marR="0" marT="0" marB="0">
                    <a:noFill/>
                  </a:tcPr>
                </a:tc>
                <a:tc>
                  <a:txBody>
                    <a:bodyPr/>
                    <a:lstStyle/>
                    <a:p>
                      <a:pPr algn="ctr">
                        <a:defRPr b="1" sz="1500">
                          <a:solidFill>
                            <a:srgbClr val="B4975A"/>
                          </a:solidFill>
                          <a:latin typeface="Montserrat"/>
                        </a:defRPr>
                      </a:pPr>
                      <a:r>
                        <a:t>43</a:t>
                      </a:r>
                    </a:p>
                  </a:txBody>
                  <a:tcPr marL="0" marR="0" marT="0" marB="0">
                    <a:noFill/>
                  </a:tcPr>
                </a:tc>
              </a:tr>
            </a:tbl>
          </a:graphicData>
        </a:graphic>
      </p:graphicFrame>
      <p:sp>
        <p:nvSpPr>
          <p:cNvPr id="302" name="Rounded Rectangle 301"/>
          <p:cNvSpPr/>
          <p:nvPr/>
        </p:nvSpPr>
        <p:spPr>
          <a:xfrm>
            <a:off x="5495544" y="1389888"/>
            <a:ext cx="1984248" cy="1042415"/>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ounded Rectangle 302"/>
          <p:cNvSpPr/>
          <p:nvPr/>
        </p:nvSpPr>
        <p:spPr>
          <a:xfrm>
            <a:off x="549554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Especialistas</a:t>
            </a:r>
          </a:p>
          <a:p>
            <a:pPr algn="ctr">
              <a:defRPr sz="1600" b="1">
                <a:solidFill>
                  <a:srgbClr val="FFFFFF"/>
                </a:solidFill>
                <a:latin typeface="Montserrat"/>
              </a:defRPr>
            </a:pPr>
            <a:r>
              <a:t>+49.3%</a:t>
            </a:r>
          </a:p>
        </p:txBody>
      </p:sp>
      <p:graphicFrame>
        <p:nvGraphicFramePr>
          <p:cNvPr id="304" name="Table 303"/>
          <p:cNvGraphicFramePr>
            <a:graphicFrameLocks noGrp="1"/>
          </p:cNvGraphicFramePr>
          <p:nvPr/>
        </p:nvGraphicFramePr>
        <p:xfrm>
          <a:off x="5495544" y="1915668"/>
          <a:ext cx="1984248" cy="516635"/>
        </p:xfrm>
        <a:graphic>
          <a:graphicData uri="http://schemas.openxmlformats.org/drawingml/2006/table">
            <a:tbl>
              <a:tblPr firstRow="1" bandRow="1">
                <a:tableStyleId>{5C22544A-7EE6-4342-B048-85BDC9FD1C3A}</a:tableStyleId>
              </a:tblPr>
              <a:tblGrid>
                <a:gridCol w="992124"/>
                <a:gridCol w="992124"/>
              </a:tblGrid>
              <a:tr h="258317">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8318">
                <a:tc>
                  <a:txBody>
                    <a:bodyPr/>
                    <a:lstStyle/>
                    <a:p>
                      <a:pPr algn="ctr">
                        <a:defRPr b="1" sz="1500">
                          <a:solidFill>
                            <a:srgbClr val="004B41"/>
                          </a:solidFill>
                          <a:latin typeface="Montserrat"/>
                        </a:defRPr>
                      </a:pPr>
                      <a:r>
                        <a:t>509</a:t>
                      </a:r>
                    </a:p>
                  </a:txBody>
                  <a:tcPr marL="0" marR="0" marT="0" marB="0">
                    <a:noFill/>
                  </a:tcPr>
                </a:tc>
                <a:tc>
                  <a:txBody>
                    <a:bodyPr/>
                    <a:lstStyle/>
                    <a:p>
                      <a:pPr algn="ctr">
                        <a:defRPr b="1" sz="1500">
                          <a:solidFill>
                            <a:srgbClr val="B4975A"/>
                          </a:solidFill>
                          <a:latin typeface="Montserrat"/>
                        </a:defRPr>
                      </a:pPr>
                      <a:r>
                        <a:t>760</a:t>
                      </a:r>
                    </a:p>
                  </a:txBody>
                  <a:tcPr marL="0" marR="0" marT="0" marB="0">
                    <a:noFill/>
                  </a:tcPr>
                </a:tc>
              </a:tr>
            </a:tbl>
          </a:graphicData>
        </a:graphic>
      </p:graphicFrame>
      <p:sp>
        <p:nvSpPr>
          <p:cNvPr id="305" name="Rounded Rectangle 304"/>
          <p:cNvSpPr/>
          <p:nvPr/>
        </p:nvSpPr>
        <p:spPr>
          <a:xfrm>
            <a:off x="151790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ounded Rectangle 305"/>
          <p:cNvSpPr/>
          <p:nvPr/>
        </p:nvSpPr>
        <p:spPr>
          <a:xfrm>
            <a:off x="151790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Enfermeras</a:t>
            </a:r>
          </a:p>
          <a:p>
            <a:pPr algn="ctr">
              <a:defRPr sz="1600" b="1">
                <a:solidFill>
                  <a:srgbClr val="FFFFFF"/>
                </a:solidFill>
                <a:latin typeface="Montserrat"/>
              </a:defRPr>
            </a:pPr>
            <a:r>
              <a:t>+35.8%</a:t>
            </a:r>
          </a:p>
        </p:txBody>
      </p:sp>
      <p:graphicFrame>
        <p:nvGraphicFramePr>
          <p:cNvPr id="307" name="Table 306"/>
          <p:cNvGraphicFramePr>
            <a:graphicFrameLocks noGrp="1"/>
          </p:cNvGraphicFramePr>
          <p:nvPr/>
        </p:nvGraphicFramePr>
        <p:xfrm>
          <a:off x="151790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798</a:t>
                      </a:r>
                    </a:p>
                  </a:txBody>
                  <a:tcPr marL="0" marR="0" marT="0" marB="0">
                    <a:noFill/>
                  </a:tcPr>
                </a:tc>
                <a:tc>
                  <a:txBody>
                    <a:bodyPr/>
                    <a:lstStyle/>
                    <a:p>
                      <a:pPr algn="ctr">
                        <a:defRPr b="1" sz="1500">
                          <a:solidFill>
                            <a:srgbClr val="B4975A"/>
                          </a:solidFill>
                          <a:latin typeface="Montserrat"/>
                        </a:defRPr>
                      </a:pPr>
                      <a:r>
                        <a:t>1,084</a:t>
                      </a:r>
                    </a:p>
                  </a:txBody>
                  <a:tcPr marL="0" marR="0" marT="0" marB="0">
                    <a:noFill/>
                  </a:tcPr>
                </a:tc>
              </a:tr>
            </a:tbl>
          </a:graphicData>
        </a:graphic>
      </p:graphicFrame>
      <p:sp>
        <p:nvSpPr>
          <p:cNvPr id="308" name="Rounded Rectangle 307"/>
          <p:cNvSpPr/>
          <p:nvPr/>
        </p:nvSpPr>
        <p:spPr>
          <a:xfrm>
            <a:off x="549554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ounded Rectangle 308"/>
          <p:cNvSpPr/>
          <p:nvPr/>
        </p:nvSpPr>
        <p:spPr>
          <a:xfrm>
            <a:off x="549554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Paramédicos</a:t>
            </a:r>
          </a:p>
          <a:p>
            <a:pPr algn="ctr">
              <a:defRPr sz="1600" b="1">
                <a:solidFill>
                  <a:srgbClr val="FFFFFF"/>
                </a:solidFill>
                <a:latin typeface="Montserrat"/>
              </a:defRPr>
            </a:pPr>
            <a:r>
              <a:t>+51.4%</a:t>
            </a:r>
          </a:p>
        </p:txBody>
      </p:sp>
      <p:graphicFrame>
        <p:nvGraphicFramePr>
          <p:cNvPr id="310" name="Table 309"/>
          <p:cNvGraphicFramePr>
            <a:graphicFrameLocks noGrp="1"/>
          </p:cNvGraphicFramePr>
          <p:nvPr/>
        </p:nvGraphicFramePr>
        <p:xfrm>
          <a:off x="549554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535</a:t>
                      </a:r>
                    </a:p>
                  </a:txBody>
                  <a:tcPr marL="0" marR="0" marT="0" marB="0">
                    <a:noFill/>
                  </a:tcPr>
                </a:tc>
                <a:tc>
                  <a:txBody>
                    <a:bodyPr/>
                    <a:lstStyle/>
                    <a:p>
                      <a:pPr algn="ctr">
                        <a:defRPr b="1" sz="1500">
                          <a:solidFill>
                            <a:srgbClr val="B4975A"/>
                          </a:solidFill>
                          <a:latin typeface="Montserrat"/>
                        </a:defRPr>
                      </a:pPr>
                      <a:r>
                        <a:t>810</a:t>
                      </a:r>
                    </a:p>
                  </a:txBody>
                  <a:tcPr marL="0" marR="0" marT="0" marB="0">
                    <a:noFill/>
                  </a:tcPr>
                </a:tc>
              </a:tr>
            </a:tbl>
          </a:graphicData>
        </a:graphic>
      </p:graphicFrame>
      <p:sp>
        <p:nvSpPr>
          <p:cNvPr id="311" name="Rounded Rectangle 310"/>
          <p:cNvSpPr/>
          <p:nvPr/>
        </p:nvSpPr>
        <p:spPr>
          <a:xfrm>
            <a:off x="151790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ounded Rectangle 311"/>
          <p:cNvSpPr/>
          <p:nvPr/>
        </p:nvSpPr>
        <p:spPr>
          <a:xfrm>
            <a:off x="151790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Residentes</a:t>
            </a:r>
          </a:p>
          <a:p>
            <a:pPr algn="ctr">
              <a:defRPr sz="1600" b="1">
                <a:solidFill>
                  <a:srgbClr val="FFFFFF"/>
                </a:solidFill>
                <a:latin typeface="Montserrat"/>
              </a:defRPr>
            </a:pPr>
            <a:r>
              <a:t>+93.2%</a:t>
            </a:r>
          </a:p>
        </p:txBody>
      </p:sp>
      <p:graphicFrame>
        <p:nvGraphicFramePr>
          <p:cNvPr id="313" name="Table 312"/>
          <p:cNvGraphicFramePr>
            <a:graphicFrameLocks noGrp="1"/>
          </p:cNvGraphicFramePr>
          <p:nvPr/>
        </p:nvGraphicFramePr>
        <p:xfrm>
          <a:off x="151790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88</a:t>
                      </a:r>
                    </a:p>
                  </a:txBody>
                  <a:tcPr marL="0" marR="0" marT="0" marB="0">
                    <a:noFill/>
                  </a:tcPr>
                </a:tc>
                <a:tc>
                  <a:txBody>
                    <a:bodyPr/>
                    <a:lstStyle/>
                    <a:p>
                      <a:pPr algn="ctr">
                        <a:defRPr b="1" sz="1500">
                          <a:solidFill>
                            <a:srgbClr val="B4975A"/>
                          </a:solidFill>
                          <a:latin typeface="Montserrat"/>
                        </a:defRPr>
                      </a:pPr>
                      <a:r>
                        <a:t>170</a:t>
                      </a:r>
                    </a:p>
                  </a:txBody>
                  <a:tcPr marL="0" marR="0" marT="0" marB="0">
                    <a:noFill/>
                  </a:tcPr>
                </a:tc>
              </a:tr>
            </a:tbl>
          </a:graphicData>
        </a:graphic>
      </p:graphicFrame>
      <p:sp>
        <p:nvSpPr>
          <p:cNvPr id="314" name="Rounded Rectangle 313"/>
          <p:cNvSpPr/>
          <p:nvPr/>
        </p:nvSpPr>
        <p:spPr>
          <a:xfrm>
            <a:off x="549554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ounded Rectangle 314"/>
          <p:cNvSpPr/>
          <p:nvPr/>
        </p:nvSpPr>
        <p:spPr>
          <a:xfrm>
            <a:off x="549554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Técnicos</a:t>
            </a:r>
          </a:p>
          <a:p>
            <a:pPr algn="ctr">
              <a:defRPr sz="1600" b="1">
                <a:solidFill>
                  <a:srgbClr val="FFFFFF"/>
                </a:solidFill>
                <a:latin typeface="Montserrat"/>
              </a:defRPr>
            </a:pPr>
            <a:r>
              <a:t>-17.5%</a:t>
            </a:r>
          </a:p>
        </p:txBody>
      </p:sp>
      <p:graphicFrame>
        <p:nvGraphicFramePr>
          <p:cNvPr id="316" name="Table 315"/>
          <p:cNvGraphicFramePr>
            <a:graphicFrameLocks noGrp="1"/>
          </p:cNvGraphicFramePr>
          <p:nvPr/>
        </p:nvGraphicFramePr>
        <p:xfrm>
          <a:off x="549554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154</a:t>
                      </a:r>
                    </a:p>
                  </a:txBody>
                  <a:tcPr marL="0" marR="0" marT="0" marB="0">
                    <a:noFill/>
                  </a:tcPr>
                </a:tc>
                <a:tc>
                  <a:txBody>
                    <a:bodyPr/>
                    <a:lstStyle/>
                    <a:p>
                      <a:pPr algn="ctr">
                        <a:defRPr b="1" sz="1500">
                          <a:solidFill>
                            <a:srgbClr val="B4975A"/>
                          </a:solidFill>
                          <a:latin typeface="Montserrat"/>
                        </a:defRPr>
                      </a:pPr>
                      <a:r>
                        <a:t>127</a:t>
                      </a:r>
                    </a:p>
                  </a:txBody>
                  <a:tcPr marL="0" marR="0" marT="0" marB="0">
                    <a:noFill/>
                  </a:tcPr>
                </a:tc>
              </a:tr>
            </a:tbl>
          </a:graphicData>
        </a:graphic>
      </p:graphicFrame>
      <p:graphicFrame>
        <p:nvGraphicFramePr>
          <p:cNvPr id="317" name="Table 316"/>
          <p:cNvGraphicFramePr>
            <a:graphicFrameLocks noGrp="1"/>
          </p:cNvGraphicFramePr>
          <p:nvPr/>
        </p:nvGraphicFramePr>
        <p:xfrm>
          <a:off x="4507200" y="5515200"/>
          <a:ext cx="2843784" cy="73152"/>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2025</a:t>
                      </a:r>
                    </a:p>
                  </a:txBody>
                  <a:tcPr marL="36576" marR="36576" marT="36576" marB="36576">
                    <a:solidFill>
                      <a:srgbClr val="006455"/>
                    </a:solidFill>
                  </a:tcPr>
                </a:tc>
                <a:tc>
                  <a:txBody>
                    <a:bodyPr/>
                    <a:lstStyle/>
                    <a:p>
                      <a:pPr algn="ctr">
                        <a:defRPr b="1" sz="900">
                          <a:solidFill>
                            <a:srgbClr val="FFFFFF"/>
                          </a:solidFill>
                          <a:latin typeface="Montserrat"/>
                        </a:defRPr>
                      </a:pPr>
                      <a:r>
                        <a:t>Cantidad</a:t>
                      </a:r>
                    </a:p>
                  </a:txBody>
                  <a:tcPr marL="36576" marR="36576" marT="36576" marB="36576">
                    <a:solidFill>
                      <a:srgbClr val="006455"/>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36</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19</a:t>
                      </a:r>
                    </a:p>
                  </a:txBody>
                  <a:tcPr marL="45720" marR="45720" marT="45720" marB="45720">
                    <a:solidFill>
                      <a:srgbClr val="EFEFEF"/>
                    </a:solidFill>
                  </a:tcPr>
                </a:tc>
              </a:tr>
              <a:tr h="18288">
                <a:tc>
                  <a:txBody>
                    <a:bodyPr/>
                    <a:lstStyle/>
                    <a:p>
                      <a:pPr algn="l">
                        <a:defRPr sz="800">
                          <a:latin typeface="Montserrat"/>
                        </a:defRPr>
                      </a:pPr>
                      <a:r>
                        <a:t>Medicina Interna</a:t>
                      </a:r>
                    </a:p>
                  </a:txBody>
                  <a:tcPr marL="45720" marR="45720" marT="45720" marB="45720">
                    <a:solidFill>
                      <a:srgbClr val="FFFFFF"/>
                    </a:solidFill>
                  </a:tcPr>
                </a:tc>
                <a:tc>
                  <a:txBody>
                    <a:bodyPr/>
                    <a:lstStyle/>
                    <a:p>
                      <a:pPr algn="ctr">
                        <a:defRPr sz="800">
                          <a:latin typeface="Montserrat"/>
                        </a:defRPr>
                      </a:pPr>
                      <a:r>
                        <a:t>1</a:t>
                      </a:r>
                    </a:p>
                  </a:txBody>
                  <a:tcPr marL="45720" marR="45720" marT="45720" marB="45720">
                    <a:solidFill>
                      <a:srgbClr val="FFFFFF"/>
                    </a:solidFill>
                  </a:tcPr>
                </a:tc>
              </a:tr>
            </a:tbl>
          </a:graphicData>
        </a:graphic>
      </p:graphicFrame>
      <p:graphicFrame>
        <p:nvGraphicFramePr>
          <p:cNvPr id="318" name="Table 317"/>
          <p:cNvGraphicFramePr>
            <a:graphicFrameLocks noGrp="1"/>
          </p:cNvGraphicFramePr>
          <p:nvPr/>
        </p:nvGraphicFramePr>
        <p:xfrm>
          <a:off x="4507200" y="6850800"/>
          <a:ext cx="2843784" cy="91440"/>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2026</a:t>
                      </a:r>
                    </a:p>
                  </a:txBody>
                  <a:tcPr marL="36576" marR="36576" marT="36576" marB="36576">
                    <a:solidFill>
                      <a:srgbClr val="691C32"/>
                    </a:solidFill>
                  </a:tcPr>
                </a:tc>
                <a:tc>
                  <a:txBody>
                    <a:bodyPr/>
                    <a:lstStyle/>
                    <a:p>
                      <a:pPr algn="ctr">
                        <a:defRPr b="1" sz="900">
                          <a:solidFill>
                            <a:srgbClr val="FFFFFF"/>
                          </a:solidFill>
                          <a:latin typeface="Montserrat"/>
                        </a:defRPr>
                      </a:pPr>
                      <a:r>
                        <a:t>Cantidad</a:t>
                      </a:r>
                    </a:p>
                  </a:txBody>
                  <a:tcPr marL="36576" marR="36576" marT="36576" marB="36576">
                    <a:solidFill>
                      <a:srgbClr val="691C32"/>
                    </a:solidFill>
                  </a:tcPr>
                </a:tc>
              </a:tr>
              <a:tr h="18288">
                <a:tc>
                  <a:txBody>
                    <a:bodyPr/>
                    <a:lstStyle/>
                    <a:p>
                      <a:pPr algn="l">
                        <a:defRPr sz="800">
                          <a:latin typeface="Montserrat"/>
                        </a:defRPr>
                      </a:pPr>
                      <a:r>
                        <a:t>Medicina de Urgencias</a:t>
                      </a:r>
                    </a:p>
                  </a:txBody>
                  <a:tcPr marL="45720" marR="45720" marT="45720" marB="45720">
                    <a:solidFill>
                      <a:srgbClr val="FFFFFF"/>
                    </a:solidFill>
                  </a:tcPr>
                </a:tc>
                <a:tc>
                  <a:txBody>
                    <a:bodyPr/>
                    <a:lstStyle/>
                    <a:p>
                      <a:pPr algn="ctr">
                        <a:defRPr sz="800">
                          <a:latin typeface="Montserrat"/>
                        </a:defRPr>
                      </a:pPr>
                      <a:r>
                        <a:t>11</a:t>
                      </a:r>
                    </a:p>
                  </a:txBody>
                  <a:tcPr marL="45720" marR="45720" marT="45720" marB="45720">
                    <a:solidFill>
                      <a:srgbClr val="FFFFFF"/>
                    </a:solidFill>
                  </a:tcPr>
                </a:tc>
              </a:tr>
              <a:tr h="18288">
                <a:tc>
                  <a:txBody>
                    <a:bodyPr/>
                    <a:lstStyle/>
                    <a:p>
                      <a:pPr algn="l">
                        <a:defRPr sz="800">
                          <a:latin typeface="Montserrat"/>
                        </a:defRPr>
                      </a:pPr>
                      <a:r>
                        <a:t>Medicina Familiar</a:t>
                      </a:r>
                    </a:p>
                  </a:txBody>
                  <a:tcPr marL="45720" marR="45720" marT="45720" marB="45720">
                    <a:solidFill>
                      <a:srgbClr val="EFEFEF"/>
                    </a:solidFill>
                  </a:tcPr>
                </a:tc>
                <a:tc>
                  <a:txBody>
                    <a:bodyPr/>
                    <a:lstStyle/>
                    <a:p>
                      <a:pPr algn="ctr">
                        <a:defRPr sz="800">
                          <a:latin typeface="Montserrat"/>
                        </a:defRPr>
                      </a:pPr>
                      <a:r>
                        <a:t>10</a:t>
                      </a:r>
                    </a:p>
                  </a:txBody>
                  <a:tcPr marL="45720" marR="45720" marT="45720" marB="45720">
                    <a:solidFill>
                      <a:srgbClr val="EFEFEF"/>
                    </a:solidFill>
                  </a:tcPr>
                </a:tc>
              </a:tr>
              <a:tr h="18288">
                <a:tc>
                  <a:txBody>
                    <a:bodyPr/>
                    <a:lstStyle/>
                    <a:p>
                      <a:pPr algn="l">
                        <a:defRPr sz="800">
                          <a:latin typeface="Montserrat"/>
                        </a:defRPr>
                      </a:pPr>
                      <a:r>
                        <a:t>Medicina Interna</a:t>
                      </a:r>
                    </a:p>
                  </a:txBody>
                  <a:tcPr marL="45720" marR="45720" marT="45720" marB="45720">
                    <a:solidFill>
                      <a:srgbClr val="FFFFFF"/>
                    </a:solidFill>
                  </a:tcPr>
                </a:tc>
                <a:tc>
                  <a:txBody>
                    <a:bodyPr/>
                    <a:lstStyle/>
                    <a:p>
                      <a:pPr algn="ctr">
                        <a:defRPr sz="800">
                          <a:latin typeface="Montserrat"/>
                        </a:defRPr>
                      </a:pPr>
                      <a:r>
                        <a:t>3</a:t>
                      </a:r>
                    </a:p>
                  </a:txBody>
                  <a:tcPr marL="45720" marR="45720" marT="45720" marB="45720">
                    <a:solidFill>
                      <a:srgbClr val="FFFFFF"/>
                    </a:solidFill>
                  </a:tcPr>
                </a:tc>
              </a:tr>
              <a:tr h="18288">
                <a:tc>
                  <a:txBody>
                    <a:bodyPr/>
                    <a:lstStyle/>
                    <a:p>
                      <a:pPr algn="l">
                        <a:defRPr sz="800">
                          <a:latin typeface="Montserrat"/>
                        </a:defRPr>
                      </a:pPr>
                      <a:r>
                        <a:t>Medicina del Trabajo y Ambiental</a:t>
                      </a:r>
                    </a:p>
                  </a:txBody>
                  <a:tcPr marL="45720" marR="45720" marT="45720" marB="45720">
                    <a:solidFill>
                      <a:srgbClr val="EFEFEF"/>
                    </a:solidFill>
                  </a:tcPr>
                </a:tc>
                <a:tc>
                  <a:txBody>
                    <a:bodyPr/>
                    <a:lstStyle/>
                    <a:p>
                      <a:pPr algn="ctr">
                        <a:defRPr sz="800">
                          <a:latin typeface="Montserrat"/>
                        </a:defRPr>
                      </a:pPr>
                      <a:r>
                        <a:t>3</a:t>
                      </a:r>
                    </a:p>
                  </a:txBody>
                  <a:tcPr marL="45720" marR="45720" marT="45720" marB="45720">
                    <a:solidFill>
                      <a:srgbClr val="EFEFEF"/>
                    </a:solidFill>
                  </a:tcPr>
                </a:tc>
              </a:tr>
            </a:tbl>
          </a:graphicData>
        </a:graphic>
      </p:graphicFrame>
      <p:graphicFrame>
        <p:nvGraphicFramePr>
          <p:cNvPr id="319" name="Table 318"/>
          <p:cNvGraphicFramePr>
            <a:graphicFrameLocks noGrp="1"/>
          </p:cNvGraphicFramePr>
          <p:nvPr/>
        </p:nvGraphicFramePr>
        <p:xfrm>
          <a:off x="384048" y="8313724"/>
          <a:ext cx="5266944" cy="91440"/>
        </p:xfrm>
        <a:graphic>
          <a:graphicData uri="http://schemas.openxmlformats.org/drawingml/2006/table">
            <a:tbl>
              <a:tblPr bandRow="1">
                <a:tableStyleId>{5C22544A-7EE6-4342-B048-85BDC9FD1C3A}</a:tableStyleId>
              </a:tblPr>
              <a:tblGrid>
                <a:gridCol w="3218688"/>
                <a:gridCol w="2048256"/>
              </a:tblGrid>
              <a:tr h="18288">
                <a:tc>
                  <a:txBody>
                    <a:bodyPr/>
                    <a:lstStyle/>
                    <a:p>
                      <a:pPr algn="l">
                        <a:defRPr b="1" sz="1000">
                          <a:solidFill>
                            <a:srgbClr val="FFFFFF"/>
                          </a:solidFill>
                          <a:latin typeface="Montserrat"/>
                        </a:defRPr>
                      </a:pPr>
                      <a:r>
                        <a:t>Personal médico</a:t>
                      </a:r>
                    </a:p>
                  </a:txBody>
                  <a:tcPr anchor="ctr" marL="36576" marR="36576" marT="36576" marB="36576">
                    <a:solidFill>
                      <a:srgbClr val="006455"/>
                    </a:solidFill>
                  </a:tcPr>
                </a:tc>
                <a:tc>
                  <a:txBody>
                    <a:bodyPr/>
                    <a:lstStyle/>
                    <a:p>
                      <a:pPr algn="ctr">
                        <a:defRPr b="0" sz="1000">
                          <a:solidFill>
                            <a:srgbClr val="000000"/>
                          </a:solidFill>
                          <a:latin typeface="Montserrat"/>
                        </a:defRPr>
                      </a:pPr>
                      <a:r>
                        <a:t>38</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de Enfermería</a:t>
                      </a:r>
                    </a:p>
                  </a:txBody>
                  <a:tcPr anchor="ctr" marL="36576" marR="36576" marT="36576" marB="36576">
                    <a:solidFill>
                      <a:srgbClr val="006455"/>
                    </a:solidFill>
                  </a:tcPr>
                </a:tc>
                <a:tc>
                  <a:txBody>
                    <a:bodyPr/>
                    <a:lstStyle/>
                    <a:p>
                      <a:pPr algn="ctr">
                        <a:defRPr b="0" sz="1000">
                          <a:solidFill>
                            <a:srgbClr val="000000"/>
                          </a:solidFill>
                          <a:latin typeface="Montserrat"/>
                        </a:defRPr>
                      </a:pPr>
                      <a:r>
                        <a:t>17</a:t>
                      </a:r>
                    </a:p>
                  </a:txBody>
                  <a:tcPr anchor="ctr" marL="36576" marR="36576" marT="36576" marB="36576">
                    <a:solidFill>
                      <a:srgbClr val="FFFFFF"/>
                    </a:solidFill>
                  </a:tcPr>
                </a:tc>
              </a:tr>
              <a:tr h="18288">
                <a:tc>
                  <a:txBody>
                    <a:bodyPr/>
                    <a:lstStyle/>
                    <a:p>
                      <a:pPr algn="l">
                        <a:defRPr b="1" sz="1000">
                          <a:solidFill>
                            <a:srgbClr val="FFFFFF"/>
                          </a:solidFill>
                          <a:latin typeface="Montserrat"/>
                        </a:defRPr>
                      </a:pPr>
                      <a:r>
                        <a:t>Personal administrativos y básico</a:t>
                      </a:r>
                    </a:p>
                  </a:txBody>
                  <a:tcPr anchor="ctr" marL="36576" marR="36576" marT="36576" marB="36576">
                    <a:solidFill>
                      <a:srgbClr val="006455"/>
                    </a:solidFill>
                  </a:tcPr>
                </a:tc>
                <a:tc>
                  <a:txBody>
                    <a:bodyPr/>
                    <a:lstStyle/>
                    <a:p>
                      <a:pPr algn="ctr">
                        <a:defRPr b="0" sz="1000">
                          <a:solidFill>
                            <a:srgbClr val="000000"/>
                          </a:solidFill>
                          <a:latin typeface="Montserrat"/>
                        </a:defRPr>
                      </a:pPr>
                      <a:r>
                        <a:t>20</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paramédico y técnico</a:t>
                      </a:r>
                    </a:p>
                  </a:txBody>
                  <a:tcPr anchor="ctr" marL="36576" marR="36576" marT="36576" marB="36576">
                    <a:solidFill>
                      <a:srgbClr val="006455"/>
                    </a:solidFill>
                  </a:tcPr>
                </a:tc>
                <a:tc>
                  <a:txBody>
                    <a:bodyPr/>
                    <a:lstStyle/>
                    <a:p>
                      <a:pPr algn="ctr">
                        <a:defRPr b="0" sz="1000">
                          <a:solidFill>
                            <a:srgbClr val="000000"/>
                          </a:solidFill>
                          <a:latin typeface="Montserrat"/>
                        </a:defRPr>
                      </a:pPr>
                      <a:r>
                        <a:t>22</a:t>
                      </a:r>
                    </a:p>
                  </a:txBody>
                  <a:tcPr anchor="ctr" marL="36576" marR="36576" marT="36576" marB="36576">
                    <a:solidFill>
                      <a:srgbClr val="FFFFFF"/>
                    </a:solidFill>
                  </a:tcPr>
                </a:tc>
              </a:tr>
              <a:tr h="18288">
                <a:tc>
                  <a:txBody>
                    <a:bodyPr/>
                    <a:lstStyle/>
                    <a:p>
                      <a:pPr algn="l">
                        <a:defRPr b="1" sz="1000">
                          <a:solidFill>
                            <a:srgbClr val="00515E"/>
                          </a:solidFill>
                          <a:latin typeface="Montserrat"/>
                        </a:defRPr>
                      </a:pPr>
                      <a:r>
                        <a:t>Total</a:t>
                      </a:r>
                    </a:p>
                  </a:txBody>
                  <a:tcPr anchor="ctr" marL="36576" marR="36576" marT="36576" marB="36576">
                    <a:solidFill>
                      <a:srgbClr val="D3E9E7"/>
                    </a:solidFill>
                  </a:tcPr>
                </a:tc>
                <a:tc>
                  <a:txBody>
                    <a:bodyPr/>
                    <a:lstStyle/>
                    <a:p>
                      <a:pPr algn="ctr">
                        <a:defRPr b="1" sz="1000">
                          <a:solidFill>
                            <a:srgbClr val="00515E"/>
                          </a:solidFill>
                          <a:latin typeface="Montserrat"/>
                        </a:defRPr>
                      </a:pPr>
                      <a:r>
                        <a:t>97</a:t>
                      </a:r>
                    </a:p>
                  </a:txBody>
                  <a:tcPr anchor="ctr" marL="36576" marR="36576" marT="36576" marB="36576">
                    <a:solidFill>
                      <a:srgbClr val="D3E9E7"/>
                    </a:solidFill>
                  </a:tcPr>
                </a:tc>
              </a:tr>
            </a:tbl>
          </a:graphicData>
        </a:graphic>
      </p:graphicFrame>
      <p:graphicFrame>
        <p:nvGraphicFramePr>
          <p:cNvPr id="320" name="Chart 319"/>
          <p:cNvGraphicFramePr>
            <a:graphicFrameLocks noGrp="1"/>
          </p:cNvGraphicFramePr>
          <p:nvPr/>
        </p:nvGraphicFramePr>
        <p:xfrm>
          <a:off x="320040" y="5404104"/>
          <a:ext cx="3438144" cy="2066543"/>
        </p:xfrm>
        <a:graphic>
          <a:graphicData uri="http://schemas.openxmlformats.org/drawingml/2006/chart">
            <c:chart xmlns:c="http://schemas.openxmlformats.org/drawingml/2006/chart" r:id="rId10"/>
          </a:graphicData>
        </a:graphic>
      </p:graphicFrame>
      <p:sp>
        <p:nvSpPr>
          <p:cNvPr id="321" name="TextBox 320"/>
          <p:cNvSpPr txBox="1"/>
          <p:nvPr/>
        </p:nvSpPr>
        <p:spPr>
          <a:xfrm>
            <a:off x="324000" y="4888800"/>
            <a:ext cx="7286399" cy="331200"/>
          </a:xfrm>
          <a:prstGeom prst="rect">
            <a:avLst/>
          </a:prstGeom>
          <a:noFill/>
        </p:spPr>
        <p:txBody>
          <a:bodyPr wrap="square" tIns="0" bIns="0" lIns="0" rIns="0">
            <a:spAutoFit/>
          </a:bodyPr>
          <a:lstStyle/>
          <a:p>
            <a:pPr algn="l">
              <a:defRPr sz="900">
                <a:solidFill>
                  <a:srgbClr val="000000"/>
                </a:solidFill>
                <a:latin typeface="Montserrat"/>
              </a:defRPr>
            </a:pPr>
            <a:r>
              <a:t>Fuente: Dirección de Administración. Base SIAP comparativa del diciembre 2018 con el 15 de mayo 2026.</a:t>
            </a:r>
          </a:p>
        </p:txBody>
      </p:sp>
      <p:sp>
        <p:nvSpPr>
          <p:cNvPr id="322" name="TextBox 321"/>
          <p:cNvSpPr txBox="1"/>
          <p:nvPr/>
        </p:nvSpPr>
        <p:spPr>
          <a:xfrm>
            <a:off x="162000" y="7405200"/>
            <a:ext cx="3888000" cy="370800"/>
          </a:xfrm>
          <a:prstGeom prst="rect">
            <a:avLst/>
          </a:prstGeom>
          <a:noFill/>
        </p:spPr>
        <p:txBody>
          <a:bodyPr wrap="square" tIns="0" bIns="0" lIns="0" rIns="0">
            <a:spAutoFit/>
          </a:bodyPr>
          <a:lstStyle/>
          <a:p>
            <a:pPr algn="l">
              <a:defRPr sz="800">
                <a:solidFill>
                  <a:srgbClr val="000000"/>
                </a:solidFill>
                <a:latin typeface="Montserrat"/>
              </a:defRPr>
            </a:pPr>
            <a:r>
              <a:t>Se muestra el total de egresos en la entidad y sólo las cinco especialidades con mayor egresos de cada año. Corte de información marzo 2026.</a:t>
            </a:r>
            <a:br/>
            <a:r>
              <a:t>Fuente: Dirección de Prestaciones Médicas.</a:t>
            </a:r>
          </a:p>
        </p:txBody>
      </p:sp>
      <p:sp>
        <p:nvSpPr>
          <p:cNvPr id="323" name="TextBox 322"/>
          <p:cNvSpPr txBox="1"/>
          <p:nvPr/>
        </p:nvSpPr>
        <p:spPr>
          <a:xfrm>
            <a:off x="5716800" y="8553600"/>
            <a:ext cx="2048400" cy="554400"/>
          </a:xfrm>
          <a:prstGeom prst="rect">
            <a:avLst/>
          </a:prstGeom>
          <a:noFill/>
        </p:spPr>
        <p:txBody>
          <a:bodyPr wrap="square" tIns="0" bIns="0" lIns="0" rIns="0">
            <a:spAutoFit/>
          </a:bodyPr>
          <a:lstStyle/>
          <a:p>
            <a:pPr algn="l">
              <a:defRPr sz="800">
                <a:solidFill>
                  <a:srgbClr val="000000"/>
                </a:solidFill>
                <a:latin typeface="Montserrat"/>
              </a:defRPr>
            </a:pPr>
            <a:r>
              <a:t>Fuente: Sistema de Información Operativa. Personal de base. Corte de información: abril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09"/>
        <p:cNvGrpSpPr/>
        <p:nvPr/>
      </p:nvGrpSpPr>
      <p:grpSpPr>
        <a:xfrm>
          <a:off x="0" y="0"/>
          <a:ext cx="0" cy="0"/>
          <a:chOff x="0" y="0"/>
          <a:chExt cx="0" cy="0"/>
        </a:xfrm>
      </p:grpSpPr>
      <p:sp>
        <p:nvSpPr>
          <p:cNvPr id="310" name="Google Shape;310;p9"/>
          <p:cNvSpPr txBox="1"/>
          <p:nvPr/>
        </p:nvSpPr>
        <p:spPr>
          <a:xfrm>
            <a:off x="2151325" y="8689650"/>
            <a:ext cx="3428100" cy="758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lang="es" sz="20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endParaRPr lang="es" sz="11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2000" b="1" i="0" u="none" strike="noStrike" cap="none" dirty="0">
                <a:solidFill>
                  <a:srgbClr val="980000"/>
                </a:solidFill>
                <a:latin typeface="Montserrat"/>
                <a:ea typeface="Montserrat"/>
                <a:cs typeface="Montserrat"/>
                <a:sym typeface="Montserrat"/>
              </a:rPr>
              <a:t>consultas diarias</a:t>
            </a:r>
            <a:endParaRPr sz="2000" b="0" i="0" u="none" strike="noStrike" cap="none" dirty="0">
              <a:solidFill>
                <a:srgbClr val="980000"/>
              </a:solidFill>
              <a:latin typeface="Montserrat"/>
              <a:ea typeface="Montserrat"/>
              <a:cs typeface="Montserrat"/>
              <a:sym typeface="Montserrat"/>
            </a:endParaRPr>
          </a:p>
        </p:txBody>
      </p:sp>
      <p:graphicFrame>
        <p:nvGraphicFramePr>
          <p:cNvPr id="311" name="Google Shape;311;p9"/>
          <p:cNvGraphicFramePr/>
          <p:nvPr>
            <p:extLst>
              <p:ext uri="{D42A27DB-BD31-4B8C-83A1-F6EECF244321}">
                <p14:modId xmlns:p14="http://schemas.microsoft.com/office/powerpoint/2010/main" val="2077789532"/>
              </p:ext>
            </p:extLst>
          </p:nvPr>
        </p:nvGraphicFramePr>
        <p:xfrm>
          <a:off x="218088" y="6048653"/>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dirty="0">
                          <a:solidFill>
                            <a:srgbClr val="BC955C"/>
                          </a:solidFill>
                          <a:latin typeface="Montserrat"/>
                          <a:ea typeface="Montserrat"/>
                          <a:cs typeface="Montserrat"/>
                          <a:sym typeface="Montserrat"/>
                        </a:rPr>
                        <a:t>Día típico</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12" name="Google Shape;312;p9"/>
          <p:cNvSpPr txBox="1"/>
          <p:nvPr/>
        </p:nvSpPr>
        <p:spPr>
          <a:xfrm>
            <a:off x="0" y="1776125"/>
            <a:ext cx="7772400" cy="550500"/>
          </a:xfrm>
          <a:prstGeom prst="rect">
            <a:avLst/>
          </a:prstGeom>
          <a:noFill/>
          <a:ln>
            <a:noFill/>
          </a:ln>
        </p:spPr>
        <p:txBody>
          <a:bodyPr spcFirstLastPara="1" wrap="square" lIns="99700" tIns="49825" rIns="99700" bIns="49825" anchor="b" anchorCtr="0">
            <a:noAutofit/>
          </a:bodyPr>
          <a:lstStyle/>
          <a:p>
            <a:pPr marL="0" marR="0" lvl="0" indent="0" algn="ctr" rtl="0">
              <a:lnSpc>
                <a:spcPct val="100000"/>
              </a:lnSpc>
              <a:spcBef>
                <a:spcPts val="0"/>
              </a:spcBef>
              <a:spcAft>
                <a:spcPts val="0"/>
              </a:spcAft>
              <a:buClr>
                <a:srgbClr val="1E4236"/>
              </a:buClr>
              <a:buSzPts val="3100"/>
              <a:buFont typeface="Montserrat"/>
              <a:buNone/>
            </a:pPr>
            <a:r>
              <a:rPr lang="es" sz="2000" b="0" i="0" u="none" strike="noStrike" cap="none">
                <a:solidFill>
                  <a:srgbClr val="FFFFFF"/>
                </a:solidFill>
                <a:latin typeface="Montserrat"/>
                <a:ea typeface="Montserrat"/>
                <a:cs typeface="Montserrat"/>
                <a:sym typeface="Montserrat"/>
              </a:rPr>
              <a:t>ESTADO DE MÉXICO</a:t>
            </a:r>
            <a:endParaRPr sz="2000" b="0" i="0" u="none" strike="noStrike" cap="none">
              <a:solidFill>
                <a:srgbClr val="FFFFFF"/>
              </a:solidFill>
              <a:latin typeface="Montserrat"/>
              <a:ea typeface="Montserrat"/>
              <a:cs typeface="Montserrat"/>
              <a:sym typeface="Montserrat"/>
            </a:endParaRPr>
          </a:p>
        </p:txBody>
      </p:sp>
      <p:pic>
        <p:nvPicPr>
          <p:cNvPr id="313" name="Google Shape;313;p9"/>
          <p:cNvPicPr preferRelativeResize="0"/>
          <p:nvPr/>
        </p:nvPicPr>
        <p:blipFill rotWithShape="1">
          <a:blip r:embed="rId4">
            <a:alphaModFix/>
          </a:blip>
          <a:srcRect/>
          <a:stretch/>
        </p:blipFill>
        <p:spPr>
          <a:xfrm>
            <a:off x="3947656" y="6546918"/>
            <a:ext cx="911525" cy="799891"/>
          </a:xfrm>
          <a:prstGeom prst="rect">
            <a:avLst/>
          </a:prstGeom>
          <a:noFill/>
          <a:ln>
            <a:noFill/>
          </a:ln>
        </p:spPr>
      </p:pic>
      <p:sp>
        <p:nvSpPr>
          <p:cNvPr id="314" name="Google Shape;314;p9"/>
          <p:cNvSpPr txBox="1"/>
          <p:nvPr/>
        </p:nvSpPr>
        <p:spPr>
          <a:xfrm>
            <a:off x="4850850" y="6852664"/>
            <a:ext cx="870900" cy="18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cirugías</a:t>
            </a:r>
            <a:endParaRPr sz="1000" b="1" i="0" u="none" strike="noStrike" cap="none">
              <a:solidFill>
                <a:srgbClr val="006455"/>
              </a:solidFill>
              <a:latin typeface="Montserrat"/>
              <a:ea typeface="Montserrat"/>
              <a:cs typeface="Montserrat"/>
              <a:sym typeface="Montserrat"/>
            </a:endParaRPr>
          </a:p>
        </p:txBody>
      </p:sp>
      <p:sp>
        <p:nvSpPr>
          <p:cNvPr id="316" name="Google Shape;316;p9"/>
          <p:cNvSpPr txBox="1"/>
          <p:nvPr/>
        </p:nvSpPr>
        <p:spPr>
          <a:xfrm>
            <a:off x="3936446" y="7861911"/>
            <a:ext cx="1083300" cy="266100"/>
          </a:xfrm>
          <a:prstGeom prst="rect">
            <a:avLst/>
          </a:prstGeom>
          <a:noFill/>
          <a:ln>
            <a:noFill/>
          </a:ln>
        </p:spPr>
        <p:txBody>
          <a:bodyPr spcFirstLastPara="1" wrap="square" lIns="18000" tIns="18000" rIns="18000" bIns="180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Urgencias</a:t>
            </a:r>
            <a:endParaRPr sz="1000" b="1" i="0" u="none" strike="noStrike" cap="none">
              <a:solidFill>
                <a:srgbClr val="006455"/>
              </a:solidFill>
              <a:latin typeface="Montserrat"/>
              <a:ea typeface="Montserrat"/>
              <a:cs typeface="Montserrat"/>
              <a:sym typeface="Montserrat"/>
            </a:endParaRPr>
          </a:p>
        </p:txBody>
      </p:sp>
      <p:pic>
        <p:nvPicPr>
          <p:cNvPr id="317" name="Google Shape;317;p9"/>
          <p:cNvPicPr preferRelativeResize="0"/>
          <p:nvPr/>
        </p:nvPicPr>
        <p:blipFill rotWithShape="1">
          <a:blip r:embed="rId4">
            <a:alphaModFix/>
          </a:blip>
          <a:srcRect/>
          <a:stretch/>
        </p:blipFill>
        <p:spPr>
          <a:xfrm>
            <a:off x="3033252" y="7615925"/>
            <a:ext cx="911524" cy="758100"/>
          </a:xfrm>
          <a:prstGeom prst="rect">
            <a:avLst/>
          </a:prstGeom>
          <a:noFill/>
          <a:ln>
            <a:noFill/>
          </a:ln>
        </p:spPr>
      </p:pic>
      <p:sp>
        <p:nvSpPr>
          <p:cNvPr id="319" name="Google Shape;319;p9"/>
          <p:cNvSpPr txBox="1"/>
          <p:nvPr/>
        </p:nvSpPr>
        <p:spPr>
          <a:xfrm>
            <a:off x="6651731"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egresos</a:t>
            </a:r>
            <a:endParaRPr sz="1000" b="1" i="0" u="none" strike="noStrike" cap="none">
              <a:solidFill>
                <a:srgbClr val="006455"/>
              </a:solidFill>
              <a:latin typeface="Montserrat"/>
              <a:ea typeface="Montserrat"/>
              <a:cs typeface="Montserrat"/>
              <a:sym typeface="Montserrat"/>
            </a:endParaRPr>
          </a:p>
        </p:txBody>
      </p:sp>
      <p:pic>
        <p:nvPicPr>
          <p:cNvPr id="320" name="Google Shape;320;p9"/>
          <p:cNvPicPr preferRelativeResize="0"/>
          <p:nvPr/>
        </p:nvPicPr>
        <p:blipFill rotWithShape="1">
          <a:blip r:embed="rId4">
            <a:alphaModFix/>
          </a:blip>
          <a:srcRect/>
          <a:stretch/>
        </p:blipFill>
        <p:spPr>
          <a:xfrm>
            <a:off x="5811651" y="6546918"/>
            <a:ext cx="911525" cy="799891"/>
          </a:xfrm>
          <a:prstGeom prst="rect">
            <a:avLst/>
          </a:prstGeom>
          <a:noFill/>
          <a:ln>
            <a:noFill/>
          </a:ln>
        </p:spPr>
      </p:pic>
      <p:sp>
        <p:nvSpPr>
          <p:cNvPr id="322" name="Google Shape;322;p9"/>
          <p:cNvSpPr txBox="1"/>
          <p:nvPr/>
        </p:nvSpPr>
        <p:spPr>
          <a:xfrm>
            <a:off x="1096893" y="6679864"/>
            <a:ext cx="1062600" cy="534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Medicina Familiar</a:t>
            </a:r>
            <a:endParaRPr sz="1000" b="1" i="0" u="none" strike="noStrike" cap="none">
              <a:solidFill>
                <a:srgbClr val="006455"/>
              </a:solidFill>
              <a:latin typeface="Montserrat"/>
              <a:ea typeface="Montserrat"/>
              <a:cs typeface="Montserrat"/>
              <a:sym typeface="Montserrat"/>
            </a:endParaRPr>
          </a:p>
        </p:txBody>
      </p:sp>
      <p:pic>
        <p:nvPicPr>
          <p:cNvPr id="323" name="Google Shape;323;p9"/>
          <p:cNvPicPr preferRelativeResize="0"/>
          <p:nvPr/>
        </p:nvPicPr>
        <p:blipFill rotWithShape="1">
          <a:blip r:embed="rId4">
            <a:alphaModFix/>
          </a:blip>
          <a:srcRect/>
          <a:stretch/>
        </p:blipFill>
        <p:spPr>
          <a:xfrm>
            <a:off x="250377" y="6546918"/>
            <a:ext cx="911525" cy="799891"/>
          </a:xfrm>
          <a:prstGeom prst="rect">
            <a:avLst/>
          </a:prstGeom>
          <a:noFill/>
          <a:ln>
            <a:noFill/>
          </a:ln>
        </p:spPr>
      </p:pic>
      <p:sp>
        <p:nvSpPr>
          <p:cNvPr id="325" name="Google Shape;325;p9"/>
          <p:cNvSpPr txBox="1"/>
          <p:nvPr/>
        </p:nvSpPr>
        <p:spPr>
          <a:xfrm>
            <a:off x="5737325" y="7930718"/>
            <a:ext cx="870300" cy="12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partos</a:t>
            </a:r>
            <a:endParaRPr sz="1000" b="1" i="0" u="none" strike="noStrike" cap="none">
              <a:solidFill>
                <a:srgbClr val="006455"/>
              </a:solidFill>
              <a:latin typeface="Montserrat"/>
              <a:ea typeface="Montserrat"/>
              <a:cs typeface="Montserrat"/>
              <a:sym typeface="Montserrat"/>
            </a:endParaRPr>
          </a:p>
        </p:txBody>
      </p:sp>
      <p:pic>
        <p:nvPicPr>
          <p:cNvPr id="326" name="Google Shape;326;p9"/>
          <p:cNvPicPr preferRelativeResize="0"/>
          <p:nvPr/>
        </p:nvPicPr>
        <p:blipFill rotWithShape="1">
          <a:blip r:embed="rId4">
            <a:alphaModFix/>
          </a:blip>
          <a:srcRect/>
          <a:stretch/>
        </p:blipFill>
        <p:spPr>
          <a:xfrm>
            <a:off x="4897246" y="7615925"/>
            <a:ext cx="911524" cy="758100"/>
          </a:xfrm>
          <a:prstGeom prst="rect">
            <a:avLst/>
          </a:prstGeom>
          <a:noFill/>
          <a:ln>
            <a:noFill/>
          </a:ln>
        </p:spPr>
      </p:pic>
      <p:sp>
        <p:nvSpPr>
          <p:cNvPr id="328" name="Google Shape;328;p9"/>
          <p:cNvSpPr txBox="1"/>
          <p:nvPr/>
        </p:nvSpPr>
        <p:spPr>
          <a:xfrm>
            <a:off x="2011304" y="7802771"/>
            <a:ext cx="1062600" cy="384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de Especialidad</a:t>
            </a:r>
            <a:endParaRPr sz="1000" b="1" i="0" u="none" strike="noStrike" cap="none">
              <a:solidFill>
                <a:srgbClr val="006455"/>
              </a:solidFill>
              <a:latin typeface="Montserrat"/>
              <a:ea typeface="Montserrat"/>
              <a:cs typeface="Montserrat"/>
              <a:sym typeface="Montserrat"/>
            </a:endParaRPr>
          </a:p>
        </p:txBody>
      </p:sp>
      <p:pic>
        <p:nvPicPr>
          <p:cNvPr id="329" name="Google Shape;329;p9"/>
          <p:cNvPicPr preferRelativeResize="0"/>
          <p:nvPr/>
        </p:nvPicPr>
        <p:blipFill rotWithShape="1">
          <a:blip r:embed="rId4">
            <a:alphaModFix/>
          </a:blip>
          <a:srcRect/>
          <a:stretch/>
        </p:blipFill>
        <p:spPr>
          <a:xfrm>
            <a:off x="1164775" y="7615925"/>
            <a:ext cx="911524" cy="758100"/>
          </a:xfrm>
          <a:prstGeom prst="rect">
            <a:avLst/>
          </a:prstGeom>
          <a:noFill/>
          <a:ln>
            <a:noFill/>
          </a:ln>
        </p:spPr>
      </p:pic>
      <p:sp>
        <p:nvSpPr>
          <p:cNvPr id="331" name="Google Shape;331;p9"/>
          <p:cNvSpPr txBox="1"/>
          <p:nvPr/>
        </p:nvSpPr>
        <p:spPr>
          <a:xfrm>
            <a:off x="2955330"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a:t>
            </a:r>
            <a:endParaRPr sz="1000" b="1" i="0" u="none" strike="noStrike" cap="none">
              <a:solidFill>
                <a:srgbClr val="00645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dentales</a:t>
            </a:r>
            <a:endParaRPr sz="1000" b="1" i="0" u="none" strike="noStrike" cap="none">
              <a:solidFill>
                <a:srgbClr val="006455"/>
              </a:solidFill>
              <a:latin typeface="Montserrat"/>
              <a:ea typeface="Montserrat"/>
              <a:cs typeface="Montserrat"/>
              <a:sym typeface="Montserrat"/>
            </a:endParaRPr>
          </a:p>
        </p:txBody>
      </p:sp>
      <p:pic>
        <p:nvPicPr>
          <p:cNvPr id="332" name="Google Shape;332;p9"/>
          <p:cNvPicPr preferRelativeResize="0"/>
          <p:nvPr/>
        </p:nvPicPr>
        <p:blipFill rotWithShape="1">
          <a:blip r:embed="rId4">
            <a:alphaModFix/>
          </a:blip>
          <a:srcRect/>
          <a:stretch/>
        </p:blipFill>
        <p:spPr>
          <a:xfrm>
            <a:off x="2108733" y="6546918"/>
            <a:ext cx="911525" cy="799891"/>
          </a:xfrm>
          <a:prstGeom prst="rect">
            <a:avLst/>
          </a:prstGeom>
          <a:noFill/>
          <a:ln>
            <a:noFill/>
          </a:ln>
        </p:spPr>
      </p:pic>
      <p:graphicFrame>
        <p:nvGraphicFramePr>
          <p:cNvPr id="334" name="Google Shape;334;p9"/>
          <p:cNvGraphicFramePr/>
          <p:nvPr/>
        </p:nvGraphicFramePr>
        <p:xfrm>
          <a:off x="145197" y="81603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Principales motivos de consulta, egresos, defunciones y cirugías</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35" name="TextBox 33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336" name="TextBox 335"/>
          <p:cNvSpPr txBox="1"/>
          <p:nvPr/>
        </p:nvSpPr>
        <p:spPr>
          <a:xfrm>
            <a:off x="324000" y="6825600"/>
            <a:ext cx="763200" cy="241200"/>
          </a:xfrm>
          <a:prstGeom prst="rect">
            <a:avLst/>
          </a:prstGeom>
          <a:noFill/>
        </p:spPr>
        <p:txBody>
          <a:bodyPr wrap="none">
            <a:spAutoFit/>
          </a:bodyPr>
          <a:lstStyle/>
          <a:p>
            <a:pPr algn="ctr">
              <a:defRPr sz="1300">
                <a:solidFill>
                  <a:srgbClr val="006455"/>
                </a:solidFill>
                <a:latin typeface="Montserrat ExtraBold"/>
              </a:defRPr>
            </a:pPr>
            <a:r>
              <a:t>5,281</a:t>
            </a:r>
          </a:p>
        </p:txBody>
      </p:sp>
      <p:sp>
        <p:nvSpPr>
          <p:cNvPr id="337" name="TextBox 336"/>
          <p:cNvSpPr txBox="1"/>
          <p:nvPr/>
        </p:nvSpPr>
        <p:spPr>
          <a:xfrm>
            <a:off x="2224800" y="6825600"/>
            <a:ext cx="676800" cy="241200"/>
          </a:xfrm>
          <a:prstGeom prst="rect">
            <a:avLst/>
          </a:prstGeom>
          <a:noFill/>
        </p:spPr>
        <p:txBody>
          <a:bodyPr wrap="none">
            <a:spAutoFit/>
          </a:bodyPr>
          <a:lstStyle/>
          <a:p>
            <a:pPr algn="ctr">
              <a:defRPr sz="1300">
                <a:solidFill>
                  <a:srgbClr val="006455"/>
                </a:solidFill>
                <a:latin typeface="Montserrat ExtraBold"/>
              </a:defRPr>
            </a:pPr>
            <a:r>
              <a:t>321</a:t>
            </a:r>
          </a:p>
        </p:txBody>
      </p:sp>
      <p:sp>
        <p:nvSpPr>
          <p:cNvPr id="338" name="TextBox 337"/>
          <p:cNvSpPr txBox="1"/>
          <p:nvPr/>
        </p:nvSpPr>
        <p:spPr>
          <a:xfrm>
            <a:off x="4064399" y="6825600"/>
            <a:ext cx="676800" cy="241200"/>
          </a:xfrm>
          <a:prstGeom prst="rect">
            <a:avLst/>
          </a:prstGeom>
          <a:noFill/>
        </p:spPr>
        <p:txBody>
          <a:bodyPr wrap="none">
            <a:spAutoFit/>
          </a:bodyPr>
          <a:lstStyle/>
          <a:p>
            <a:pPr algn="ctr">
              <a:defRPr sz="1300">
                <a:solidFill>
                  <a:srgbClr val="006455"/>
                </a:solidFill>
                <a:latin typeface="Montserrat ExtraBold"/>
              </a:defRPr>
            </a:pPr>
            <a:r>
              <a:t>35</a:t>
            </a:r>
          </a:p>
        </p:txBody>
      </p:sp>
      <p:sp>
        <p:nvSpPr>
          <p:cNvPr id="339" name="TextBox 338"/>
          <p:cNvSpPr txBox="1"/>
          <p:nvPr/>
        </p:nvSpPr>
        <p:spPr>
          <a:xfrm>
            <a:off x="5929200" y="6825600"/>
            <a:ext cx="676800" cy="241200"/>
          </a:xfrm>
          <a:prstGeom prst="rect">
            <a:avLst/>
          </a:prstGeom>
          <a:noFill/>
        </p:spPr>
        <p:txBody>
          <a:bodyPr wrap="none">
            <a:spAutoFit/>
          </a:bodyPr>
          <a:lstStyle/>
          <a:p>
            <a:pPr algn="ctr">
              <a:defRPr sz="1300">
                <a:solidFill>
                  <a:srgbClr val="006455"/>
                </a:solidFill>
                <a:latin typeface="Montserrat ExtraBold"/>
              </a:defRPr>
            </a:pPr>
            <a:r>
              <a:t>59</a:t>
            </a:r>
          </a:p>
        </p:txBody>
      </p:sp>
      <p:sp>
        <p:nvSpPr>
          <p:cNvPr id="340" name="TextBox 339"/>
          <p:cNvSpPr txBox="1"/>
          <p:nvPr/>
        </p:nvSpPr>
        <p:spPr>
          <a:xfrm>
            <a:off x="1242000" y="7880400"/>
            <a:ext cx="763200" cy="226800"/>
          </a:xfrm>
          <a:prstGeom prst="rect">
            <a:avLst/>
          </a:prstGeom>
          <a:noFill/>
        </p:spPr>
        <p:txBody>
          <a:bodyPr wrap="none">
            <a:spAutoFit/>
          </a:bodyPr>
          <a:lstStyle/>
          <a:p>
            <a:pPr algn="ctr">
              <a:defRPr sz="1300">
                <a:solidFill>
                  <a:srgbClr val="006455"/>
                </a:solidFill>
                <a:latin typeface="Montserrat ExtraBold"/>
              </a:defRPr>
            </a:pPr>
            <a:r>
              <a:t>1,189</a:t>
            </a:r>
          </a:p>
        </p:txBody>
      </p:sp>
      <p:sp>
        <p:nvSpPr>
          <p:cNvPr id="341" name="TextBox 340"/>
          <p:cNvSpPr txBox="1"/>
          <p:nvPr/>
        </p:nvSpPr>
        <p:spPr>
          <a:xfrm>
            <a:off x="3114000" y="7880400"/>
            <a:ext cx="752400" cy="241200"/>
          </a:xfrm>
          <a:prstGeom prst="rect">
            <a:avLst/>
          </a:prstGeom>
          <a:noFill/>
        </p:spPr>
        <p:txBody>
          <a:bodyPr wrap="none">
            <a:spAutoFit/>
          </a:bodyPr>
          <a:lstStyle/>
          <a:p>
            <a:pPr algn="ctr">
              <a:defRPr sz="1300">
                <a:solidFill>
                  <a:srgbClr val="006455"/>
                </a:solidFill>
                <a:latin typeface="Montserrat ExtraBold"/>
              </a:defRPr>
            </a:pPr>
            <a:r>
              <a:t>586</a:t>
            </a:r>
          </a:p>
        </p:txBody>
      </p:sp>
      <p:sp>
        <p:nvSpPr>
          <p:cNvPr id="342" name="TextBox 341"/>
          <p:cNvSpPr txBox="1"/>
          <p:nvPr/>
        </p:nvSpPr>
        <p:spPr>
          <a:xfrm>
            <a:off x="5014800" y="7880400"/>
            <a:ext cx="676800" cy="226800"/>
          </a:xfrm>
          <a:prstGeom prst="rect">
            <a:avLst/>
          </a:prstGeom>
          <a:noFill/>
        </p:spPr>
        <p:txBody>
          <a:bodyPr wrap="none">
            <a:spAutoFit/>
          </a:bodyPr>
          <a:lstStyle/>
          <a:p>
            <a:pPr algn="ctr">
              <a:defRPr sz="1300">
                <a:solidFill>
                  <a:srgbClr val="006455"/>
                </a:solidFill>
                <a:latin typeface="Montserrat ExtraBold"/>
              </a:defRPr>
            </a:pPr>
            <a:r>
              <a:t>8</a:t>
            </a:r>
          </a:p>
        </p:txBody>
      </p:sp>
      <p:sp>
        <p:nvSpPr>
          <p:cNvPr id="343" name="TextBox 342"/>
          <p:cNvSpPr txBox="1"/>
          <p:nvPr/>
        </p:nvSpPr>
        <p:spPr>
          <a:xfrm>
            <a:off x="2152800" y="8690400"/>
            <a:ext cx="3427200" cy="385200"/>
          </a:xfrm>
          <a:prstGeom prst="rect">
            <a:avLst/>
          </a:prstGeom>
          <a:noFill/>
        </p:spPr>
        <p:txBody>
          <a:bodyPr wrap="none">
            <a:spAutoFit/>
          </a:bodyPr>
          <a:lstStyle/>
          <a:p>
            <a:pPr algn="ctr">
              <a:defRPr sz="3200" b="1">
                <a:solidFill>
                  <a:srgbClr val="980000"/>
                </a:solidFill>
                <a:latin typeface="Montserrat"/>
              </a:defRPr>
            </a:pPr>
            <a:r>
              <a:t>7,377</a:t>
            </a:r>
          </a:p>
        </p:txBody>
      </p:sp>
      <p:graphicFrame>
        <p:nvGraphicFramePr>
          <p:cNvPr id="344" name="Table 343"/>
          <p:cNvGraphicFramePr>
            <a:graphicFrameLocks noGrp="1"/>
          </p:cNvGraphicFramePr>
          <p:nvPr/>
        </p:nvGraphicFramePr>
        <p:xfrm>
          <a:off x="219600" y="1548000"/>
          <a:ext cx="7567200" cy="2937600"/>
        </p:xfrm>
        <a:graphic>
          <a:graphicData uri="http://schemas.openxmlformats.org/drawingml/2006/table">
            <a:tbl>
              <a:tblPr firstRow="1" bandRow="1">
                <a:tableStyleId>{5C22544A-7EE6-4342-B048-85BDC9FD1C3A}</a:tableStyleId>
              </a:tblPr>
              <a:tblGrid>
                <a:gridCol w="1472400"/>
                <a:gridCol w="1468800"/>
                <a:gridCol w="1479600"/>
                <a:gridCol w="1602000"/>
                <a:gridCol w="1544400"/>
              </a:tblGrid>
              <a:tr h="489600">
                <a:tc>
                  <a:txBody>
                    <a:bodyPr/>
                    <a:lstStyle/>
                    <a:p>
                      <a:pPr algn="ctr">
                        <a:defRPr b="1" sz="1000">
                          <a:solidFill>
                            <a:srgbClr val="FFFFFF"/>
                          </a:solidFill>
                          <a:latin typeface="Montserrat"/>
                        </a:defRPr>
                      </a:pPr>
                      <a:r>
                        <a:t>Medicina Familiar</a:t>
                      </a:r>
                    </a:p>
                  </a:txBody>
                  <a:tcPr anchor="ctr">
                    <a:solidFill>
                      <a:srgbClr val="006455"/>
                    </a:solidFill>
                  </a:tcPr>
                </a:tc>
                <a:tc>
                  <a:txBody>
                    <a:bodyPr/>
                    <a:lstStyle/>
                    <a:p>
                      <a:pPr algn="ctr">
                        <a:defRPr b="1" sz="1000">
                          <a:solidFill>
                            <a:srgbClr val="FFFFFF"/>
                          </a:solidFill>
                          <a:latin typeface="Montserrat"/>
                        </a:defRPr>
                      </a:pPr>
                      <a:r>
                        <a:t>Especialidades</a:t>
                      </a:r>
                    </a:p>
                  </a:txBody>
                  <a:tcPr anchor="ctr">
                    <a:solidFill>
                      <a:srgbClr val="006455"/>
                    </a:solidFill>
                  </a:tcPr>
                </a:tc>
                <a:tc>
                  <a:txBody>
                    <a:bodyPr/>
                    <a:lstStyle/>
                    <a:p>
                      <a:pPr algn="ctr">
                        <a:defRPr b="1" sz="1000">
                          <a:solidFill>
                            <a:srgbClr val="FFFFFF"/>
                          </a:solidFill>
                          <a:latin typeface="Montserrat"/>
                        </a:defRPr>
                      </a:pPr>
                      <a:r>
                        <a:t>Cirugías</a:t>
                      </a:r>
                    </a:p>
                  </a:txBody>
                  <a:tcPr anchor="ctr">
                    <a:solidFill>
                      <a:srgbClr val="006455"/>
                    </a:solidFill>
                  </a:tcPr>
                </a:tc>
                <a:tc>
                  <a:txBody>
                    <a:bodyPr/>
                    <a:lstStyle/>
                    <a:p>
                      <a:pPr algn="ctr">
                        <a:defRPr b="1" sz="1000">
                          <a:solidFill>
                            <a:srgbClr val="FFFFFF"/>
                          </a:solidFill>
                          <a:latin typeface="Montserrat"/>
                        </a:defRPr>
                      </a:pPr>
                      <a:r>
                        <a:t>Egresos</a:t>
                      </a:r>
                    </a:p>
                  </a:txBody>
                  <a:tcPr anchor="ctr">
                    <a:solidFill>
                      <a:srgbClr val="006455"/>
                    </a:solidFill>
                  </a:tcPr>
                </a:tc>
                <a:tc>
                  <a:txBody>
                    <a:bodyPr/>
                    <a:lstStyle/>
                    <a:p>
                      <a:pPr algn="ctr">
                        <a:defRPr b="1" sz="1000">
                          <a:solidFill>
                            <a:srgbClr val="FFFFFF"/>
                          </a:solidFill>
                          <a:latin typeface="Montserrat"/>
                        </a:defRPr>
                      </a:pPr>
                      <a:r>
                        <a:t>Defunciones</a:t>
                      </a:r>
                    </a:p>
                  </a:txBody>
                  <a:tcPr anchor="ctr">
                    <a:solidFill>
                      <a:srgbClr val="006455"/>
                    </a:solidFill>
                  </a:tcPr>
                </a:tc>
              </a:tr>
              <a:tr h="489600">
                <a:tc>
                  <a:txBody>
                    <a:bodyPr/>
                    <a:lstStyle/>
                    <a:p>
                      <a:pPr algn="ctr"/>
                      <a:r>
                        <a:rPr sz="900" b="0">
                          <a:latin typeface="Montserrat"/>
                        </a:rPr>
                        <a:t>Enfermedades del corazón
(75,104)</a:t>
                      </a:r>
                    </a:p>
                  </a:txBody>
                  <a:tcPr>
                    <a:solidFill>
                      <a:srgbClr val="FFFFFF"/>
                    </a:solidFill>
                  </a:tcPr>
                </a:tc>
                <a:tc>
                  <a:txBody>
                    <a:bodyPr/>
                    <a:lstStyle/>
                    <a:p>
                      <a:pPr algn="ctr"/>
                      <a:r>
                        <a:rPr sz="900" b="0">
                          <a:latin typeface="Montserrat"/>
                        </a:rPr>
                        <a:t>Enfermedades y trastornos de las articulaciones
(5,566)</a:t>
                      </a:r>
                    </a:p>
                  </a:txBody>
                  <a:tcPr>
                    <a:solidFill>
                      <a:srgbClr val="FFFFFF"/>
                    </a:solidFill>
                  </a:tcPr>
                </a:tc>
                <a:tc>
                  <a:txBody>
                    <a:bodyPr/>
                    <a:lstStyle/>
                    <a:p>
                      <a:pPr algn="ctr"/>
                      <a:r>
                        <a:rPr sz="900" b="0">
                          <a:latin typeface="Montserrat"/>
                        </a:rPr>
                        <a:t>Traumatismos y envenenamientos
(557)</a:t>
                      </a:r>
                    </a:p>
                  </a:txBody>
                  <a:tcPr>
                    <a:solidFill>
                      <a:srgbClr val="FFFFFF"/>
                    </a:solidFill>
                  </a:tcPr>
                </a:tc>
                <a:tc>
                  <a:txBody>
                    <a:bodyPr/>
                    <a:lstStyle/>
                    <a:p>
                      <a:pPr algn="ctr"/>
                      <a:r>
                        <a:rPr sz="900" b="0">
                          <a:latin typeface="Montserrat"/>
                        </a:rPr>
                        <a:t>Embarazo, parto y puerperio
(1,603)</a:t>
                      </a:r>
                    </a:p>
                  </a:txBody>
                  <a:tcPr>
                    <a:solidFill>
                      <a:srgbClr val="FFFFFF"/>
                    </a:solidFill>
                  </a:tcPr>
                </a:tc>
                <a:tc>
                  <a:txBody>
                    <a:bodyPr/>
                    <a:lstStyle/>
                    <a:p>
                      <a:pPr algn="ctr"/>
                      <a:r>
                        <a:rPr sz="900" b="0">
                          <a:latin typeface="Montserrat"/>
                        </a:rPr>
                        <a:t>Tumores malignos
(54)</a:t>
                      </a:r>
                    </a:p>
                  </a:txBody>
                  <a:tcPr>
                    <a:solidFill>
                      <a:srgbClr val="FFFFFF"/>
                    </a:solidFill>
                  </a:tcPr>
                </a:tc>
              </a:tr>
              <a:tr h="489600">
                <a:tc>
                  <a:txBody>
                    <a:bodyPr/>
                    <a:lstStyle/>
                    <a:p>
                      <a:pPr algn="ctr"/>
                      <a:r>
                        <a:rPr sz="900" b="0">
                          <a:latin typeface="Montserrat"/>
                        </a:rPr>
                        <a:t>Diabetes mellitus
(70,268)</a:t>
                      </a:r>
                    </a:p>
                  </a:txBody>
                  <a:tcPr>
                    <a:solidFill>
                      <a:srgbClr val="EFEFEF"/>
                    </a:solidFill>
                  </a:tcPr>
                </a:tc>
                <a:tc>
                  <a:txBody>
                    <a:bodyPr/>
                    <a:lstStyle/>
                    <a:p>
                      <a:pPr algn="ctr"/>
                      <a:r>
                        <a:rPr sz="900" b="0">
                          <a:latin typeface="Montserrat"/>
                        </a:rPr>
                        <a:t>Tumores malignos
(4,848)</a:t>
                      </a:r>
                    </a:p>
                  </a:txBody>
                  <a:tcPr>
                    <a:solidFill>
                      <a:srgbClr val="EFEFEF"/>
                    </a:solidFill>
                  </a:tcPr>
                </a:tc>
                <a:tc>
                  <a:txBody>
                    <a:bodyPr/>
                    <a:lstStyle/>
                    <a:p>
                      <a:pPr algn="ctr"/>
                      <a:r>
                        <a:rPr sz="900" b="0">
                          <a:latin typeface="Montserrat"/>
                        </a:rPr>
                        <a:t>Cesárea
(318)</a:t>
                      </a:r>
                    </a:p>
                  </a:txBody>
                  <a:tcPr>
                    <a:solidFill>
                      <a:srgbClr val="EFEFEF"/>
                    </a:solidFill>
                  </a:tcPr>
                </a:tc>
                <a:tc>
                  <a:txBody>
                    <a:bodyPr/>
                    <a:lstStyle/>
                    <a:p>
                      <a:pPr algn="ctr"/>
                      <a:r>
                        <a:rPr sz="900" b="0">
                          <a:latin typeface="Montserrat"/>
                        </a:rPr>
                        <a:t>Traumatismos e intoxicaciones
(708)</a:t>
                      </a:r>
                    </a:p>
                  </a:txBody>
                  <a:tcPr>
                    <a:solidFill>
                      <a:srgbClr val="EFEFEF"/>
                    </a:solidFill>
                  </a:tcPr>
                </a:tc>
                <a:tc>
                  <a:txBody>
                    <a:bodyPr/>
                    <a:lstStyle/>
                    <a:p>
                      <a:pPr algn="ctr"/>
                      <a:r>
                        <a:rPr sz="900" b="0">
                          <a:latin typeface="Montserrat"/>
                        </a:rPr>
                        <a:t>Enfermedades del corazón
(53)</a:t>
                      </a:r>
                    </a:p>
                  </a:txBody>
                  <a:tcPr>
                    <a:solidFill>
                      <a:srgbClr val="EFEFEF"/>
                    </a:solidFill>
                  </a:tcPr>
                </a:tc>
              </a:tr>
              <a:tr h="489600">
                <a:tc>
                  <a:txBody>
                    <a:bodyPr/>
                    <a:lstStyle/>
                    <a:p>
                      <a:pPr algn="ctr"/>
                      <a:r>
                        <a:rPr sz="900" b="0">
                          <a:latin typeface="Montserrat"/>
                        </a:rPr>
                        <a:t>Infecciones respiratorias agudas
(21,794)</a:t>
                      </a:r>
                    </a:p>
                  </a:txBody>
                  <a:tcPr>
                    <a:solidFill>
                      <a:srgbClr val="FFFFFF"/>
                    </a:solidFill>
                  </a:tcPr>
                </a:tc>
                <a:tc>
                  <a:txBody>
                    <a:bodyPr/>
                    <a:lstStyle/>
                    <a:p>
                      <a:pPr algn="ctr"/>
                      <a:r>
                        <a:rPr sz="900" b="0">
                          <a:latin typeface="Montserrat"/>
                        </a:rPr>
                        <a:t>Traumatismos e intoxicaciones
(4,078)</a:t>
                      </a:r>
                    </a:p>
                  </a:txBody>
                  <a:tcPr>
                    <a:solidFill>
                      <a:srgbClr val="FFFFFF"/>
                    </a:solidFill>
                  </a:tcPr>
                </a:tc>
                <a:tc>
                  <a:txBody>
                    <a:bodyPr/>
                    <a:lstStyle/>
                    <a:p>
                      <a:pPr algn="ctr"/>
                      <a:r>
                        <a:rPr sz="900" b="0">
                          <a:latin typeface="Montserrat"/>
                        </a:rPr>
                        <a:t>Cirugía de Hernias (Hernioplastía)
(317)</a:t>
                      </a:r>
                    </a:p>
                  </a:txBody>
                  <a:tcPr>
                    <a:solidFill>
                      <a:srgbClr val="FFFFFF"/>
                    </a:solidFill>
                  </a:tcPr>
                </a:tc>
                <a:tc>
                  <a:txBody>
                    <a:bodyPr/>
                    <a:lstStyle/>
                    <a:p>
                      <a:pPr algn="ctr"/>
                      <a:r>
                        <a:rPr sz="900" b="0">
                          <a:latin typeface="Montserrat"/>
                        </a:rPr>
                        <a:t>Insuficiencia renal
(557)</a:t>
                      </a:r>
                    </a:p>
                  </a:txBody>
                  <a:tcPr>
                    <a:solidFill>
                      <a:srgbClr val="FFFFFF"/>
                    </a:solidFill>
                  </a:tcPr>
                </a:tc>
                <a:tc>
                  <a:txBody>
                    <a:bodyPr/>
                    <a:lstStyle/>
                    <a:p>
                      <a:pPr algn="ctr"/>
                      <a:r>
                        <a:rPr sz="900" b="0">
                          <a:latin typeface="Montserrat"/>
                        </a:rPr>
                        <a:t>Diabetes mellitus
(49)</a:t>
                      </a:r>
                    </a:p>
                  </a:txBody>
                  <a:tcPr>
                    <a:solidFill>
                      <a:srgbClr val="FFFFFF"/>
                    </a:solidFill>
                  </a:tcPr>
                </a:tc>
              </a:tr>
              <a:tr h="489600">
                <a:tc>
                  <a:txBody>
                    <a:bodyPr/>
                    <a:lstStyle/>
                    <a:p>
                      <a:pPr algn="ctr"/>
                      <a:r>
                        <a:rPr sz="900" b="0">
                          <a:latin typeface="Montserrat"/>
                        </a:rPr>
                        <a:t>traumatismos e intoxicaciones
(12,137)</a:t>
                      </a:r>
                    </a:p>
                  </a:txBody>
                  <a:tcPr>
                    <a:solidFill>
                      <a:srgbClr val="EFEFEF"/>
                    </a:solidFill>
                  </a:tcPr>
                </a:tc>
                <a:tc>
                  <a:txBody>
                    <a:bodyPr/>
                    <a:lstStyle/>
                    <a:p>
                      <a:pPr algn="ctr"/>
                      <a:r>
                        <a:rPr sz="900" b="0">
                          <a:latin typeface="Montserrat"/>
                        </a:rPr>
                        <a:t>Enfermedades del corazón
(3,392)</a:t>
                      </a:r>
                    </a:p>
                  </a:txBody>
                  <a:tcPr>
                    <a:solidFill>
                      <a:srgbClr val="EFEFEF"/>
                    </a:solidFill>
                  </a:tcPr>
                </a:tc>
                <a:tc>
                  <a:txBody>
                    <a:bodyPr/>
                    <a:lstStyle/>
                    <a:p>
                      <a:pPr algn="ctr"/>
                      <a:r>
                        <a:rPr sz="900" b="0">
                          <a:latin typeface="Montserrat"/>
                        </a:rPr>
                        <a:t>Cirugía de vesicula biliar (Colecistectomía)
(312)</a:t>
                      </a:r>
                    </a:p>
                  </a:txBody>
                  <a:tcPr>
                    <a:solidFill>
                      <a:srgbClr val="EFEFEF"/>
                    </a:solidFill>
                  </a:tcPr>
                </a:tc>
                <a:tc>
                  <a:txBody>
                    <a:bodyPr/>
                    <a:lstStyle/>
                    <a:p>
                      <a:pPr algn="ctr"/>
                      <a:r>
                        <a:rPr sz="900" b="0">
                          <a:latin typeface="Montserrat"/>
                        </a:rPr>
                        <a:t>Enfermedades de la vesicula biliar
(363)</a:t>
                      </a:r>
                    </a:p>
                  </a:txBody>
                  <a:tcPr>
                    <a:solidFill>
                      <a:srgbClr val="EFEFEF"/>
                    </a:solidFill>
                  </a:tcPr>
                </a:tc>
                <a:tc>
                  <a:txBody>
                    <a:bodyPr/>
                    <a:lstStyle/>
                    <a:p>
                      <a:pPr algn="ctr"/>
                      <a:r>
                        <a:rPr sz="900" b="0">
                          <a:latin typeface="Montserrat"/>
                        </a:rPr>
                        <a:t>Neumonía e influenza
(37)</a:t>
                      </a:r>
                    </a:p>
                  </a:txBody>
                  <a:tcPr>
                    <a:solidFill>
                      <a:srgbClr val="EFEFEF"/>
                    </a:solidFill>
                  </a:tcPr>
                </a:tc>
              </a:tr>
              <a:tr h="489600">
                <a:tc>
                  <a:txBody>
                    <a:bodyPr/>
                    <a:lstStyle/>
                    <a:p>
                      <a:pPr algn="ctr"/>
                      <a:r>
                        <a:rPr sz="900" b="0">
                          <a:latin typeface="Montserrat"/>
                        </a:rPr>
                        <a:t>Enfermedades y trastornos de las articulaciones
(9,962)</a:t>
                      </a:r>
                    </a:p>
                  </a:txBody>
                  <a:tcPr>
                    <a:solidFill>
                      <a:srgbClr val="FFFFFF"/>
                    </a:solidFill>
                  </a:tcPr>
                </a:tc>
                <a:tc>
                  <a:txBody>
                    <a:bodyPr/>
                    <a:lstStyle/>
                    <a:p>
                      <a:pPr algn="ctr"/>
                      <a:r>
                        <a:rPr sz="900" b="0">
                          <a:latin typeface="Montserrat"/>
                        </a:rPr>
                        <a:t>Problemas y enfermedades de la columna vertebral
(3,379)</a:t>
                      </a:r>
                    </a:p>
                  </a:txBody>
                  <a:tcPr>
                    <a:solidFill>
                      <a:srgbClr val="FFFFFF"/>
                    </a:solidFill>
                  </a:tcPr>
                </a:tc>
                <a:tc>
                  <a:txBody>
                    <a:bodyPr/>
                    <a:lstStyle/>
                    <a:p>
                      <a:pPr algn="ctr"/>
                      <a:r>
                        <a:rPr sz="900" b="0">
                          <a:latin typeface="Montserrat"/>
                        </a:rPr>
                        <a:t>Cirugía de cataratas (Facoemulsificación con implante de lente intraocular)
(167)</a:t>
                      </a:r>
                    </a:p>
                  </a:txBody>
                  <a:tcPr>
                    <a:solidFill>
                      <a:srgbClr val="FFFFFF"/>
                    </a:solidFill>
                  </a:tcPr>
                </a:tc>
                <a:tc>
                  <a:txBody>
                    <a:bodyPr/>
                    <a:lstStyle/>
                    <a:p>
                      <a:pPr algn="ctr"/>
                      <a:r>
                        <a:rPr sz="900" b="0">
                          <a:latin typeface="Montserrat"/>
                        </a:rPr>
                        <a:t>Hernias
(360)</a:t>
                      </a:r>
                    </a:p>
                  </a:txBody>
                  <a:tcPr>
                    <a:solidFill>
                      <a:srgbClr val="FFFFFF"/>
                    </a:solidFill>
                  </a:tcPr>
                </a:tc>
                <a:tc>
                  <a:txBody>
                    <a:bodyPr/>
                    <a:lstStyle/>
                    <a:p>
                      <a:pPr algn="ctr"/>
                      <a:r>
                        <a:rPr sz="900" b="0">
                          <a:latin typeface="Montserrat"/>
                        </a:rPr>
                        <a:t>Insuficiencia renal
(29)</a:t>
                      </a:r>
                    </a:p>
                  </a:txBody>
                  <a:tcPr>
                    <a:solidFill>
                      <a:srgbClr val="FFFFFF"/>
                    </a:solidFill>
                  </a:tcPr>
                </a:tc>
              </a:tr>
            </a:tbl>
          </a:graphicData>
        </a:graphic>
      </p:graphicFrame>
      <p:sp>
        <p:nvSpPr>
          <p:cNvPr id="345" name="TextBox 344"/>
          <p:cNvSpPr txBox="1"/>
          <p:nvPr/>
        </p:nvSpPr>
        <p:spPr>
          <a:xfrm>
            <a:off x="219600" y="5608800"/>
            <a:ext cx="5331600" cy="432000"/>
          </a:xfrm>
          <a:prstGeom prst="rect">
            <a:avLst/>
          </a:prstGeom>
          <a:noFill/>
        </p:spPr>
        <p:txBody>
          <a:bodyPr wrap="square" tIns="0" bIns="0" lIns="0" rIns="0">
            <a:spAutoFit/>
          </a:bodyPr>
          <a:lstStyle/>
          <a:p>
            <a:pPr algn="l">
              <a:defRPr sz="700">
                <a:solidFill>
                  <a:srgbClr val="000000"/>
                </a:solidFill>
                <a:latin typeface="Montserrat"/>
              </a:defRPr>
            </a:pPr>
            <a:r>
              <a:t>El número de casos se presentan entre paréntesis.</a:t>
            </a:r>
            <a:br/>
            <a:r>
              <a:t>Fuente: IMSS/DPM/División de Información en Salud/Motivos de Consulta Externa (SUI27).</a:t>
            </a:r>
            <a:br/>
            <a:r>
              <a:t>Sistema de información Médico Operativo Central (SIMOC).</a:t>
            </a:r>
            <a:br/>
            <a:r>
              <a:t>Periodo: enero-diciembre 2025</a:t>
            </a:r>
          </a:p>
        </p:txBody>
      </p:sp>
      <p:sp>
        <p:nvSpPr>
          <p:cNvPr id="346" name="TextBox 345"/>
          <p:cNvSpPr txBox="1"/>
          <p:nvPr/>
        </p:nvSpPr>
        <p:spPr>
          <a:xfrm>
            <a:off x="230400" y="9093600"/>
            <a:ext cx="4244400" cy="2556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p:cNvGrpSpPr/>
        <p:nvPr/>
      </p:nvGrpSpPr>
      <p:grpSpPr>
        <a:xfrm>
          <a:off x="0" y="0"/>
          <a:ext cx="0" cy="0"/>
          <a:chOff x="0" y="0"/>
          <a:chExt cx="0" cy="0"/>
        </a:xfrm>
      </p:grpSpPr>
      <p:sp>
        <p:nvSpPr>
          <p:cNvPr id="2" name="TextBox 1"/>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ZACATECAS</a:t>
            </a:r>
          </a:p>
        </p:txBody>
      </p:sp>
      <p:cxnSp>
        <p:nvCxnSpPr>
          <p:cNvPr id="3" name="Connector 2"/>
          <p:cNvCxnSpPr/>
          <p:nvPr/>
        </p:nvCxnSpPr>
        <p:spPr>
          <a:xfrm>
            <a:off x="274320" y="109728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74320" y="731520"/>
            <a:ext cx="4572000" cy="365760"/>
          </a:xfrm>
          <a:prstGeom prst="rect">
            <a:avLst/>
          </a:prstGeom>
          <a:noFill/>
        </p:spPr>
        <p:txBody>
          <a:bodyPr wrap="none">
            <a:spAutoFit/>
          </a:bodyPr>
          <a:lstStyle/>
          <a:p>
            <a:pPr algn="l">
              <a:defRPr sz="1800" b="1">
                <a:solidFill>
                  <a:srgbClr val="BC955C"/>
                </a:solidFill>
                <a:latin typeface="Montserrat"/>
              </a:defRPr>
            </a:pPr>
            <a:r>
              <a:t>Recetas surtidas y negadas</a:t>
            </a:r>
          </a:p>
        </p:txBody>
      </p:sp>
      <p:sp>
        <p:nvSpPr>
          <p:cNvPr id="5" name="TextBox 4"/>
          <p:cNvSpPr txBox="1"/>
          <p:nvPr/>
        </p:nvSpPr>
        <p:spPr>
          <a:xfrm>
            <a:off x="0" y="1691640"/>
            <a:ext cx="7772400" cy="274320"/>
          </a:xfrm>
          <a:prstGeom prst="rect">
            <a:avLst/>
          </a:prstGeom>
          <a:noFill/>
        </p:spPr>
        <p:txBody>
          <a:bodyPr wrap="none">
            <a:spAutoFit/>
          </a:bodyPr>
          <a:lstStyle/>
          <a:p>
            <a:pPr algn="ctr">
              <a:defRPr sz="1200" b="1">
                <a:solidFill>
                  <a:srgbClr val="434343"/>
                </a:solidFill>
                <a:latin typeface="Montserrat"/>
              </a:defRPr>
            </a:pPr>
            <a:r>
              <a:t>Comparación interanual de enero a abril de cada año</a:t>
            </a:r>
          </a:p>
        </p:txBody>
      </p:sp>
      <p:pic>
        <p:nvPicPr>
          <p:cNvPr id="6" name="Picture 5" descr="image.png"/>
          <p:cNvPicPr>
            <a:picLocks noChangeAspect="1"/>
          </p:cNvPicPr>
          <p:nvPr/>
        </p:nvPicPr>
        <p:blipFill>
          <a:blip r:embed="rId4"/>
          <a:stretch>
            <a:fillRect/>
          </a:stretch>
        </p:blipFill>
        <p:spPr>
          <a:xfrm>
            <a:off x="122400" y="1717199"/>
            <a:ext cx="7347600" cy="3927962"/>
          </a:xfrm>
          <a:prstGeom prst="rect">
            <a:avLst/>
          </a:prstGeom>
        </p:spPr>
      </p:pic>
      <p:sp>
        <p:nvSpPr>
          <p:cNvPr id="7" name="TextBox 6"/>
          <p:cNvSpPr txBox="1"/>
          <p:nvPr/>
        </p:nvSpPr>
        <p:spPr>
          <a:xfrm>
            <a:off x="457200" y="5623560"/>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
        <p:nvSpPr>
          <p:cNvPr id="8" name="TextBox 7"/>
          <p:cNvSpPr txBox="1"/>
          <p:nvPr/>
        </p:nvSpPr>
        <p:spPr>
          <a:xfrm>
            <a:off x="274320" y="5943600"/>
            <a:ext cx="4572000" cy="365760"/>
          </a:xfrm>
          <a:prstGeom prst="rect">
            <a:avLst/>
          </a:prstGeom>
          <a:noFill/>
        </p:spPr>
        <p:txBody>
          <a:bodyPr wrap="none">
            <a:spAutoFit/>
          </a:bodyPr>
          <a:lstStyle/>
          <a:p>
            <a:pPr algn="l">
              <a:defRPr sz="2000" b="0">
                <a:solidFill>
                  <a:srgbClr val="BC955C"/>
                </a:solidFill>
                <a:latin typeface="Montserrat"/>
              </a:defRPr>
            </a:pPr>
            <a:r>
              <a:t>Recetas manuales y electrónicas</a:t>
            </a:r>
          </a:p>
        </p:txBody>
      </p:sp>
      <p:cxnSp>
        <p:nvCxnSpPr>
          <p:cNvPr id="9" name="Connector 8"/>
          <p:cNvCxnSpPr/>
          <p:nvPr/>
        </p:nvCxnSpPr>
        <p:spPr>
          <a:xfrm>
            <a:off x="274320" y="630936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nvGraphicFramePr>
        <p:xfrm>
          <a:off x="457200" y="6583680"/>
          <a:ext cx="6858000" cy="914400"/>
        </p:xfrm>
        <a:graphic>
          <a:graphicData uri="http://schemas.openxmlformats.org/drawingml/2006/table">
            <a:tbl>
              <a:tblPr firstRow="1" bandRow="1">
                <a:tableStyleId>{5C22544A-7EE6-4342-B048-85BDC9FD1C3A}</a:tableStyleId>
              </a:tblPr>
              <a:tblGrid>
                <a:gridCol w="1714500"/>
                <a:gridCol w="1714500"/>
                <a:gridCol w="1714500"/>
                <a:gridCol w="1714500"/>
              </a:tblGrid>
              <a:tr h="304800">
                <a:tc>
                  <a:txBody>
                    <a:bodyPr/>
                    <a:lstStyle/>
                    <a:p>
                      <a:pPr algn="ctr"/>
                      <a:r>
                        <a:rPr sz="1100" b="1">
                          <a:solidFill>
                            <a:srgbClr val="FFFFFF"/>
                          </a:solidFill>
                          <a:latin typeface="Montserrat"/>
                        </a:rPr>
                        <a:t>Año</a:t>
                      </a:r>
                    </a:p>
                  </a:txBody>
                  <a:tcPr anchor="ctr">
                    <a:solidFill>
                      <a:srgbClr val="006455"/>
                    </a:solidFill>
                  </a:tcPr>
                </a:tc>
                <a:tc>
                  <a:txBody>
                    <a:bodyPr/>
                    <a:lstStyle/>
                    <a:p>
                      <a:pPr algn="ctr"/>
                      <a:r>
                        <a:rPr sz="1100" b="1">
                          <a:solidFill>
                            <a:srgbClr val="FFFFFF"/>
                          </a:solidFill>
                          <a:latin typeface="Montserrat"/>
                        </a:rPr>
                        <a:t>Manuales</a:t>
                      </a:r>
                    </a:p>
                  </a:txBody>
                  <a:tcPr anchor="ctr">
                    <a:solidFill>
                      <a:srgbClr val="006455"/>
                    </a:solidFill>
                  </a:tcPr>
                </a:tc>
                <a:tc>
                  <a:txBody>
                    <a:bodyPr/>
                    <a:lstStyle/>
                    <a:p>
                      <a:pPr algn="ctr"/>
                      <a:r>
                        <a:rPr sz="1100" b="1">
                          <a:solidFill>
                            <a:srgbClr val="FFFFFF"/>
                          </a:solidFill>
                          <a:latin typeface="Montserrat"/>
                        </a:rPr>
                        <a:t>Electrónicas</a:t>
                      </a:r>
                    </a:p>
                  </a:txBody>
                  <a:tcPr anchor="ctr">
                    <a:solidFill>
                      <a:srgbClr val="006455"/>
                    </a:solidFill>
                  </a:tcPr>
                </a:tc>
                <a:tc>
                  <a:txBody>
                    <a:bodyPr/>
                    <a:lstStyle/>
                    <a:p>
                      <a:pPr algn="ctr"/>
                      <a:r>
                        <a:rPr sz="1100" b="1">
                          <a:solidFill>
                            <a:srgbClr val="FFFFFF"/>
                          </a:solidFill>
                          <a:latin typeface="Montserrat"/>
                        </a:rPr>
                        <a:t>Porcentaje de electrónicas</a:t>
                      </a:r>
                    </a:p>
                  </a:txBody>
                  <a:tcPr anchor="ctr">
                    <a:solidFill>
                      <a:srgbClr val="006455"/>
                    </a:solidFill>
                  </a:tcPr>
                </a:tc>
              </a:tr>
              <a:tr h="304800">
                <a:tc>
                  <a:txBody>
                    <a:bodyPr/>
                    <a:lstStyle/>
                    <a:p>
                      <a:pPr algn="ctr"/>
                      <a:r>
                        <a:rPr sz="1100" b="0">
                          <a:solidFill>
                            <a:srgbClr val="434343"/>
                          </a:solidFill>
                          <a:latin typeface="Montserrat"/>
                        </a:rPr>
                        <a:t>2019</a:t>
                      </a:r>
                    </a:p>
                  </a:txBody>
                  <a:tcPr>
                    <a:solidFill>
                      <a:srgbClr val="FFFFFF"/>
                    </a:solidFill>
                  </a:tcPr>
                </a:tc>
                <a:tc>
                  <a:txBody>
                    <a:bodyPr/>
                    <a:lstStyle/>
                    <a:p>
                      <a:pPr algn="ctr"/>
                      <a:r>
                        <a:rPr sz="1100" b="0">
                          <a:solidFill>
                            <a:srgbClr val="434343"/>
                          </a:solidFill>
                          <a:latin typeface="Montserrat"/>
                        </a:rPr>
                        <a:t>54,788</a:t>
                      </a:r>
                    </a:p>
                  </a:txBody>
                  <a:tcPr>
                    <a:solidFill>
                      <a:srgbClr val="FFFFFF"/>
                    </a:solidFill>
                  </a:tcPr>
                </a:tc>
                <a:tc>
                  <a:txBody>
                    <a:bodyPr/>
                    <a:lstStyle/>
                    <a:p>
                      <a:pPr algn="ctr"/>
                      <a:r>
                        <a:rPr sz="1100" b="0">
                          <a:solidFill>
                            <a:srgbClr val="434343"/>
                          </a:solidFill>
                          <a:latin typeface="Montserrat"/>
                        </a:rPr>
                        <a:t>848,586</a:t>
                      </a:r>
                    </a:p>
                  </a:txBody>
                  <a:tcPr>
                    <a:solidFill>
                      <a:srgbClr val="FFFFFF"/>
                    </a:solidFill>
                  </a:tcPr>
                </a:tc>
                <a:tc>
                  <a:txBody>
                    <a:bodyPr/>
                    <a:lstStyle/>
                    <a:p>
                      <a:pPr algn="ctr"/>
                      <a:r>
                        <a:rPr sz="1100" b="0">
                          <a:solidFill>
                            <a:srgbClr val="434343"/>
                          </a:solidFill>
                          <a:latin typeface="Montserrat"/>
                        </a:rPr>
                        <a:t>93.9%</a:t>
                      </a:r>
                    </a:p>
                  </a:txBody>
                  <a:tcPr>
                    <a:solidFill>
                      <a:srgbClr val="FFFFFF"/>
                    </a:solidFill>
                  </a:tcPr>
                </a:tc>
              </a:tr>
              <a:tr h="304800">
                <a:tc>
                  <a:txBody>
                    <a:bodyPr/>
                    <a:lstStyle/>
                    <a:p>
                      <a:pPr algn="ctr"/>
                      <a:r>
                        <a:rPr sz="1100" b="0">
                          <a:solidFill>
                            <a:srgbClr val="434343"/>
                          </a:solidFill>
                          <a:latin typeface="Montserrat"/>
                        </a:rPr>
                        <a:t>2026</a:t>
                      </a:r>
                    </a:p>
                  </a:txBody>
                  <a:tcPr>
                    <a:solidFill>
                      <a:srgbClr val="D9D9D9"/>
                    </a:solidFill>
                  </a:tcPr>
                </a:tc>
                <a:tc>
                  <a:txBody>
                    <a:bodyPr/>
                    <a:lstStyle/>
                    <a:p>
                      <a:pPr algn="ctr"/>
                      <a:r>
                        <a:rPr sz="1100" b="0">
                          <a:solidFill>
                            <a:srgbClr val="434343"/>
                          </a:solidFill>
                          <a:latin typeface="Montserrat"/>
                        </a:rPr>
                        <a:t>45,561</a:t>
                      </a:r>
                    </a:p>
                  </a:txBody>
                  <a:tcPr>
                    <a:solidFill>
                      <a:srgbClr val="D9D9D9"/>
                    </a:solidFill>
                  </a:tcPr>
                </a:tc>
                <a:tc>
                  <a:txBody>
                    <a:bodyPr/>
                    <a:lstStyle/>
                    <a:p>
                      <a:pPr algn="ctr"/>
                      <a:r>
                        <a:rPr sz="1100" b="1">
                          <a:solidFill>
                            <a:srgbClr val="006455"/>
                          </a:solidFill>
                          <a:latin typeface="Montserrat"/>
                        </a:rPr>
                        <a:t>952,646</a:t>
                      </a:r>
                    </a:p>
                  </a:txBody>
                  <a:tcPr>
                    <a:solidFill>
                      <a:srgbClr val="D9D9D9"/>
                    </a:solidFill>
                  </a:tcPr>
                </a:tc>
                <a:tc>
                  <a:txBody>
                    <a:bodyPr/>
                    <a:lstStyle/>
                    <a:p>
                      <a:pPr algn="ctr"/>
                      <a:r>
                        <a:rPr sz="1100" b="1">
                          <a:solidFill>
                            <a:srgbClr val="006455"/>
                          </a:solidFill>
                          <a:latin typeface="Montserrat"/>
                        </a:rPr>
                        <a:t>95.4%</a:t>
                      </a:r>
                    </a:p>
                  </a:txBody>
                  <a:tcPr>
                    <a:solidFill>
                      <a:srgbClr val="D9D9D9"/>
                    </a:solidFill>
                  </a:tcPr>
                </a:tc>
              </a:tr>
            </a:tbl>
          </a:graphicData>
        </a:graphic>
      </p:graphicFrame>
      <p:sp>
        <p:nvSpPr>
          <p:cNvPr id="11" name="TextBox 10"/>
          <p:cNvSpPr txBox="1"/>
          <p:nvPr/>
        </p:nvSpPr>
        <p:spPr>
          <a:xfrm>
            <a:off x="457200" y="7955279"/>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95B2A-B30D-20A6-2F96-14454410C42B}"/>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ZACATECAS</a:t>
            </a:r>
          </a:p>
        </p:txBody>
      </p:sp>
      <p:sp>
        <p:nvSpPr>
          <p:cNvPr id="3" name="TextBox 2"/>
          <p:cNvSpPr txBox="1"/>
          <p:nvPr/>
        </p:nvSpPr>
        <p:spPr>
          <a:xfrm>
            <a:off x="180000" y="612000"/>
            <a:ext cx="5400000" cy="324000"/>
          </a:xfrm>
          <a:prstGeom prst="rect">
            <a:avLst/>
          </a:prstGeom>
          <a:noFill/>
        </p:spPr>
        <p:txBody>
          <a:bodyPr wrap="none" lIns="0" rIns="0" tIns="0" bIns="0">
            <a:spAutoFit/>
          </a:bodyPr>
          <a:lstStyle/>
          <a:p>
            <a:pPr algn="l">
              <a:defRPr sz="2000" b="1">
                <a:solidFill>
                  <a:srgbClr val="BC955C"/>
                </a:solidFill>
                <a:latin typeface="Montserrat"/>
              </a:defRPr>
            </a:pPr>
            <a:r>
              <a:t>Abasto de Medicamentos</a:t>
            </a:r>
          </a:p>
        </p:txBody>
      </p:sp>
      <p:sp>
        <p:nvSpPr>
          <p:cNvPr id="4" name="TextBox 3"/>
          <p:cNvSpPr txBox="1"/>
          <p:nvPr/>
        </p:nvSpPr>
        <p:spPr>
          <a:xfrm>
            <a:off x="180000" y="917999"/>
            <a:ext cx="5400000" cy="251999"/>
          </a:xfrm>
          <a:prstGeom prst="rect">
            <a:avLst/>
          </a:prstGeom>
          <a:noFill/>
        </p:spPr>
        <p:txBody>
          <a:bodyPr wrap="none" lIns="0" rIns="0" tIns="0" bIns="0">
            <a:spAutoFit/>
          </a:bodyPr>
          <a:lstStyle/>
          <a:p>
            <a:pPr algn="l">
              <a:defRPr sz="1500" b="0">
                <a:solidFill>
                  <a:srgbClr val="BC955C"/>
                </a:solidFill>
                <a:latin typeface="Montserrat"/>
              </a:defRPr>
            </a:pPr>
            <a:r>
              <a:t>Piezas consumidas</a:t>
            </a:r>
          </a:p>
        </p:txBody>
      </p:sp>
      <p:cxnSp>
        <p:nvCxnSpPr>
          <p:cNvPr id="5" name="Connector 4"/>
          <p:cNvCxnSpPr/>
          <p:nvPr/>
        </p:nvCxnSpPr>
        <p:spPr>
          <a:xfrm>
            <a:off x="180000" y="1188000"/>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6" name="Picture 5" descr="grafica_piezas_32.png"/>
          <p:cNvPicPr>
            <a:picLocks noChangeAspect="1"/>
          </p:cNvPicPr>
          <p:nvPr/>
        </p:nvPicPr>
        <p:blipFill>
          <a:blip r:embed="rId2"/>
          <a:stretch>
            <a:fillRect/>
          </a:stretch>
        </p:blipFill>
        <p:spPr>
          <a:xfrm>
            <a:off x="129600" y="1360800"/>
            <a:ext cx="7441200" cy="2178000"/>
          </a:xfrm>
          <a:prstGeom prst="rect">
            <a:avLst/>
          </a:prstGeom>
        </p:spPr>
      </p:pic>
      <p:sp>
        <p:nvSpPr>
          <p:cNvPr id="7" name="TextBox 6"/>
          <p:cNvSpPr txBox="1"/>
          <p:nvPr/>
        </p:nvSpPr>
        <p:spPr>
          <a:xfrm>
            <a:off x="180000" y="3671999"/>
            <a:ext cx="6840000" cy="288000"/>
          </a:xfrm>
          <a:prstGeom prst="rect">
            <a:avLst/>
          </a:prstGeom>
          <a:noFill/>
        </p:spPr>
        <p:txBody>
          <a:bodyPr wrap="none" lIns="0" rIns="0" tIns="0" bIns="0">
            <a:spAutoFit/>
          </a:bodyPr>
          <a:lstStyle/>
          <a:p>
            <a:pPr algn="l">
              <a:defRPr sz="1800" b="0">
                <a:solidFill>
                  <a:srgbClr val="BC955C"/>
                </a:solidFill>
                <a:latin typeface="Montserrat"/>
              </a:defRPr>
            </a:pPr>
            <a:r>
              <a:t>Medicamentos con mayor demanda</a:t>
            </a:r>
          </a:p>
        </p:txBody>
      </p:sp>
      <p:cxnSp>
        <p:nvCxnSpPr>
          <p:cNvPr id="8" name="Connector 7"/>
          <p:cNvCxnSpPr/>
          <p:nvPr/>
        </p:nvCxnSpPr>
        <p:spPr>
          <a:xfrm>
            <a:off x="180000" y="3941999"/>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180000" y="4121999"/>
          <a:ext cx="7200000" cy="2034000"/>
        </p:xfrm>
        <a:graphic>
          <a:graphicData uri="http://schemas.openxmlformats.org/drawingml/2006/table">
            <a:tbl>
              <a:tblPr firstRow="1" bandRow="1">
                <a:tableStyleId>{5C22544A-7EE6-4342-B048-85BDC9FD1C3A}</a:tableStyleId>
              </a:tblPr>
              <a:tblGrid>
                <a:gridCol w="5400000"/>
                <a:gridCol w="1800000"/>
              </a:tblGrid>
              <a:tr h="198000">
                <a:tc gridSpan="2">
                  <a:txBody>
                    <a:bodyPr/>
                    <a:lstStyle/>
                    <a:p>
                      <a:pPr algn="ctr">
                        <a:defRPr sz="1000" b="1">
                          <a:solidFill>
                            <a:srgbClr val="FFFFFF"/>
                          </a:solidFill>
                          <a:latin typeface="Montserrat"/>
                        </a:defRPr>
                      </a:pPr>
                      <a:r>
                        <a:t>Con mayor demanda de enero a abril de 2026</a:t>
                      </a:r>
                    </a:p>
                  </a:txBody>
                  <a:tcPr marL="18000" marR="18000" marT="18000" marB="18000" anchor="ctr">
                    <a:solidFill>
                      <a:srgbClr val="006455"/>
                    </a:solidFill>
                  </a:tcPr>
                </a:tc>
                <a:tc hMerge="1">
                  <a:txBody>
                    <a:bodyPr/>
                    <a:lstStyle/>
                    <a:p/>
                  </a:txBody>
                  <a:tcPr/>
                </a:tc>
              </a:tr>
              <a:tr h="216000">
                <a:tc>
                  <a:txBody>
                    <a:bodyPr/>
                    <a:lstStyle/>
                    <a:p>
                      <a:pPr algn="ctr">
                        <a:defRPr sz="900" b="1">
                          <a:solidFill>
                            <a:srgbClr val="FFFFFF"/>
                          </a:solidFill>
                          <a:latin typeface="Montserrat"/>
                        </a:defRPr>
                      </a:pPr>
                      <a:r>
                        <a:t>Nombre</a:t>
                      </a:r>
                    </a:p>
                  </a:txBody>
                  <a:tcPr marL="18000" marR="18000" marT="18000" marB="18000" anchor="ctr">
                    <a:solidFill>
                      <a:srgbClr val="006455"/>
                    </a:solidFill>
                  </a:tcPr>
                </a:tc>
                <a:tc>
                  <a:txBody>
                    <a:bodyPr/>
                    <a:lstStyle/>
                    <a:p>
                      <a:pPr algn="ctr">
                        <a:defRPr sz="900" b="1">
                          <a:solidFill>
                            <a:srgbClr val="FFFFFF"/>
                          </a:solidFill>
                          <a:latin typeface="Montserrat"/>
                        </a:defRPr>
                      </a:pPr>
                      <a:r>
                        <a:t>Consumo</a:t>
                      </a:r>
                    </a:p>
                  </a:txBody>
                  <a:tcPr marL="18000" marR="18000" marT="18000" marB="18000" anchor="ctr">
                    <a:solidFill>
                      <a:srgbClr val="006455"/>
                    </a:solidFill>
                  </a:tcPr>
                </a:tc>
              </a:tr>
              <a:tr h="162000">
                <a:tc>
                  <a:txBody>
                    <a:bodyPr/>
                    <a:lstStyle/>
                    <a:p>
                      <a:pPr algn="l">
                        <a:defRPr sz="900" b="0">
                          <a:solidFill>
                            <a:srgbClr val="333333"/>
                          </a:solidFill>
                          <a:latin typeface="Montserrat"/>
                        </a:defRPr>
                      </a:pPr>
                      <a:r>
                        <a:t>Paracetamol, tableta (analgésico)</a:t>
                      </a:r>
                    </a:p>
                  </a:txBody>
                  <a:tcPr marL="18000" marR="18000" marT="18000" marB="18000" anchor="ctr">
                    <a:solidFill>
                      <a:srgbClr val="F2F2F2"/>
                    </a:solidFill>
                  </a:tcPr>
                </a:tc>
                <a:tc>
                  <a:txBody>
                    <a:bodyPr/>
                    <a:lstStyle/>
                    <a:p>
                      <a:pPr algn="ctr">
                        <a:defRPr sz="900" b="0">
                          <a:solidFill>
                            <a:srgbClr val="333333"/>
                          </a:solidFill>
                          <a:latin typeface="Montserrat"/>
                        </a:defRPr>
                      </a:pPr>
                      <a:r>
                        <a:t>457,409</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Losartán, gragea o comprimido recubierto (hipertensión)</a:t>
                      </a:r>
                    </a:p>
                  </a:txBody>
                  <a:tcPr marL="18000" marR="18000" marT="18000" marB="18000" anchor="ctr">
                    <a:solidFill>
                      <a:srgbClr val="FFFFFF"/>
                    </a:solidFill>
                  </a:tcPr>
                </a:tc>
                <a:tc>
                  <a:txBody>
                    <a:bodyPr/>
                    <a:lstStyle/>
                    <a:p>
                      <a:pPr algn="ctr">
                        <a:defRPr sz="900" b="0">
                          <a:solidFill>
                            <a:srgbClr val="333333"/>
                          </a:solidFill>
                          <a:latin typeface="Montserrat"/>
                        </a:defRPr>
                      </a:pPr>
                      <a:r>
                        <a:t>209,840</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Metformina, tableta (hipoglucemiante)                                                                                                                                                    </a:t>
                      </a:r>
                    </a:p>
                  </a:txBody>
                  <a:tcPr marL="18000" marR="18000" marT="18000" marB="18000" anchor="ctr">
                    <a:solidFill>
                      <a:srgbClr val="F2F2F2"/>
                    </a:solidFill>
                  </a:tcPr>
                </a:tc>
                <a:tc>
                  <a:txBody>
                    <a:bodyPr/>
                    <a:lstStyle/>
                    <a:p>
                      <a:pPr algn="ctr">
                        <a:defRPr sz="900" b="0">
                          <a:solidFill>
                            <a:srgbClr val="333333"/>
                          </a:solidFill>
                          <a:latin typeface="Montserrat"/>
                        </a:defRPr>
                      </a:pPr>
                      <a:r>
                        <a:t>166,530</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Pantoprazol o Rabeprazol u Omeprazol, tableta o gragea o cápsula (antiácido)                       </a:t>
                      </a:r>
                    </a:p>
                  </a:txBody>
                  <a:tcPr marL="18000" marR="18000" marT="18000" marB="18000" anchor="ctr">
                    <a:solidFill>
                      <a:srgbClr val="FFFFFF"/>
                    </a:solidFill>
                  </a:tcPr>
                </a:tc>
                <a:tc>
                  <a:txBody>
                    <a:bodyPr/>
                    <a:lstStyle/>
                    <a:p>
                      <a:pPr algn="ctr">
                        <a:defRPr sz="900" b="0">
                          <a:solidFill>
                            <a:srgbClr val="333333"/>
                          </a:solidFill>
                          <a:latin typeface="Montserrat"/>
                        </a:defRPr>
                      </a:pPr>
                      <a:r>
                        <a:t>144,488</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Dieta polimérica con fibra, suspensión oral o enteral  (nutrición)</a:t>
                      </a:r>
                    </a:p>
                  </a:txBody>
                  <a:tcPr marL="18000" marR="18000" marT="18000" marB="18000" anchor="ctr">
                    <a:solidFill>
                      <a:srgbClr val="F2F2F2"/>
                    </a:solidFill>
                  </a:tcPr>
                </a:tc>
                <a:tc>
                  <a:txBody>
                    <a:bodyPr/>
                    <a:lstStyle/>
                    <a:p>
                      <a:pPr algn="ctr">
                        <a:defRPr sz="900" b="0">
                          <a:solidFill>
                            <a:srgbClr val="333333"/>
                          </a:solidFill>
                          <a:latin typeface="Montserrat"/>
                        </a:defRPr>
                      </a:pPr>
                      <a:r>
                        <a:t>134,071</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Electrolitos orales solución (hidratación)  </a:t>
                      </a:r>
                    </a:p>
                  </a:txBody>
                  <a:tcPr marL="18000" marR="18000" marT="18000" marB="18000" anchor="ctr">
                    <a:solidFill>
                      <a:srgbClr val="FFFFFF"/>
                    </a:solidFill>
                  </a:tcPr>
                </a:tc>
                <a:tc>
                  <a:txBody>
                    <a:bodyPr/>
                    <a:lstStyle/>
                    <a:p>
                      <a:pPr algn="ctr">
                        <a:defRPr sz="900" b="0">
                          <a:solidFill>
                            <a:srgbClr val="333333"/>
                          </a:solidFill>
                          <a:latin typeface="Montserrat"/>
                        </a:defRPr>
                      </a:pPr>
                      <a:r>
                        <a:t>89,084</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Hidroclorotiazida, tableta (diurético)</a:t>
                      </a:r>
                    </a:p>
                  </a:txBody>
                  <a:tcPr marL="18000" marR="18000" marT="18000" marB="18000" anchor="ctr">
                    <a:solidFill>
                      <a:srgbClr val="F2F2F2"/>
                    </a:solidFill>
                  </a:tcPr>
                </a:tc>
                <a:tc>
                  <a:txBody>
                    <a:bodyPr/>
                    <a:lstStyle/>
                    <a:p>
                      <a:pPr algn="ctr">
                        <a:defRPr sz="900" b="0">
                          <a:solidFill>
                            <a:srgbClr val="333333"/>
                          </a:solidFill>
                          <a:latin typeface="Montserrat"/>
                        </a:defRPr>
                      </a:pPr>
                      <a:r>
                        <a:t>83,202</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Atorvastatina, tableta (reducir colesterol y triglicéridos)                          </a:t>
                      </a:r>
                    </a:p>
                  </a:txBody>
                  <a:tcPr marL="18000" marR="18000" marT="18000" marB="18000" anchor="ctr">
                    <a:solidFill>
                      <a:srgbClr val="FFFFFF"/>
                    </a:solidFill>
                  </a:tcPr>
                </a:tc>
                <a:tc>
                  <a:txBody>
                    <a:bodyPr/>
                    <a:lstStyle/>
                    <a:p>
                      <a:pPr algn="ctr">
                        <a:defRPr sz="900" b="0">
                          <a:solidFill>
                            <a:srgbClr val="333333"/>
                          </a:solidFill>
                          <a:latin typeface="Montserrat"/>
                        </a:defRPr>
                      </a:pPr>
                      <a:r>
                        <a:t>81,943</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Dapagliflozina, tableta (hipoglucemiante)                                     </a:t>
                      </a:r>
                    </a:p>
                  </a:txBody>
                  <a:tcPr marL="18000" marR="18000" marT="18000" marB="18000" anchor="ctr">
                    <a:solidFill>
                      <a:srgbClr val="F2F2F2"/>
                    </a:solidFill>
                  </a:tcPr>
                </a:tc>
                <a:tc>
                  <a:txBody>
                    <a:bodyPr/>
                    <a:lstStyle/>
                    <a:p>
                      <a:pPr algn="ctr">
                        <a:defRPr sz="900" b="0">
                          <a:solidFill>
                            <a:srgbClr val="333333"/>
                          </a:solidFill>
                          <a:latin typeface="Montserrat"/>
                        </a:defRPr>
                      </a:pPr>
                      <a:r>
                        <a:t>73,093</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Dieta polimérica sin fibra, suspensión (nutrición)</a:t>
                      </a:r>
                    </a:p>
                  </a:txBody>
                  <a:tcPr marL="18000" marR="18000" marT="18000" marB="18000" anchor="ctr">
                    <a:solidFill>
                      <a:srgbClr val="FFFFFF"/>
                    </a:solidFill>
                  </a:tcPr>
                </a:tc>
                <a:tc>
                  <a:txBody>
                    <a:bodyPr/>
                    <a:lstStyle/>
                    <a:p>
                      <a:pPr algn="ctr">
                        <a:defRPr sz="900" b="0">
                          <a:solidFill>
                            <a:srgbClr val="333333"/>
                          </a:solidFill>
                          <a:latin typeface="Montserrat"/>
                        </a:defRPr>
                      </a:pPr>
                      <a:r>
                        <a:t>70,674</a:t>
                      </a:r>
                    </a:p>
                  </a:txBody>
                  <a:tcPr marL="18000" marR="18000" marT="18000" marB="18000" anchor="ctr">
                    <a:solidFill>
                      <a:srgbClr val="FFFFFF"/>
                    </a:solidFill>
                  </a:tcPr>
                </a:tc>
              </a:tr>
            </a:tbl>
          </a:graphicData>
        </a:graphic>
      </p:graphicFrame>
    </p:spTree>
    <p:extLst>
      <p:ext uri="{BB962C8B-B14F-4D97-AF65-F5344CB8AC3E}">
        <p14:creationId xmlns:p14="http://schemas.microsoft.com/office/powerpoint/2010/main" val="24884373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13DF9A8B-BC84-B53F-A860-42396A28CE90}"/>
            </a:ext>
          </a:extLst>
        </p:cNvPr>
        <p:cNvGrpSpPr/>
        <p:nvPr/>
      </p:nvGrpSpPr>
      <p:grpSpPr>
        <a:xfrm>
          <a:off x="0" y="0"/>
          <a:ext cx="0" cy="0"/>
          <a:chOff x="0" y="0"/>
          <a:chExt cx="0" cy="0"/>
        </a:xfrm>
      </p:grpSpPr>
      <p:graphicFrame>
        <p:nvGraphicFramePr>
          <p:cNvPr id="2" name="Google Shape;394;p15">
            <a:extLst>
              <a:ext uri="{FF2B5EF4-FFF2-40B4-BE49-F238E27FC236}">
                <a16:creationId xmlns:a16="http://schemas.microsoft.com/office/drawing/2014/main" id="{434C3138-4D0E-D6F5-1979-61C724288F50}"/>
              </a:ext>
            </a:extLst>
          </p:cNvPr>
          <p:cNvGraphicFramePr/>
          <p:nvPr/>
        </p:nvGraphicFramePr>
        <p:xfrm>
          <a:off x="287700" y="1106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BC955C"/>
                          </a:solidFill>
                          <a:latin typeface="Montserrat"/>
                          <a:ea typeface="Montserrat"/>
                          <a:cs typeface="Montserrat"/>
                          <a:sym typeface="Montserrat"/>
                        </a:rPr>
                        <a:t>Acciones 2025</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5" name="Google Shape;395;p15">
            <a:extLst>
              <a:ext uri="{FF2B5EF4-FFF2-40B4-BE49-F238E27FC236}">
                <a16:creationId xmlns:a16="http://schemas.microsoft.com/office/drawing/2014/main" id="{4689FF38-8CFA-FB37-4E7B-B5603B7FC116}"/>
              </a:ext>
            </a:extLst>
          </p:cNvPr>
          <p:cNvPicPr preferRelativeResize="0"/>
          <p:nvPr/>
        </p:nvPicPr>
        <p:blipFill rotWithShape="1">
          <a:blip r:embed="rId4">
            <a:alphaModFix/>
          </a:blip>
          <a:srcRect/>
          <a:stretch/>
        </p:blipFill>
        <p:spPr>
          <a:xfrm>
            <a:off x="5590550" y="728870"/>
            <a:ext cx="1599000" cy="758330"/>
          </a:xfrm>
          <a:prstGeom prst="rect">
            <a:avLst/>
          </a:prstGeom>
          <a:noFill/>
          <a:ln>
            <a:noFill/>
          </a:ln>
        </p:spPr>
      </p:pic>
      <p:sp>
        <p:nvSpPr>
          <p:cNvPr id="6" name="Google Shape;396;p15">
            <a:extLst>
              <a:ext uri="{FF2B5EF4-FFF2-40B4-BE49-F238E27FC236}">
                <a16:creationId xmlns:a16="http://schemas.microsoft.com/office/drawing/2014/main" id="{3C879FA3-8153-8C4E-8B9C-4DF691C41AD2}"/>
              </a:ext>
            </a:extLst>
          </p:cNvPr>
          <p:cNvSpPr txBox="1"/>
          <p:nvPr/>
        </p:nvSpPr>
        <p:spPr>
          <a:xfrm>
            <a:off x="4051800" y="1055450"/>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 ¿Qué se hizo? </a:t>
            </a:r>
            <a:endParaRPr kumimoji="0" sz="1200" b="1" i="0" u="none" strike="noStrike" kern="0" cap="none" spc="0" normalizeH="0" baseline="0" noProof="0" dirty="0">
              <a:ln>
                <a:noFill/>
              </a:ln>
              <a:solidFill>
                <a:srgbClr val="BC955C"/>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2025</a:t>
            </a:r>
            <a:endParaRPr kumimoji="0" sz="1200" b="0" i="0" u="none" strike="noStrike" kern="0" cap="none" spc="0" normalizeH="0" baseline="0" noProof="0" dirty="0">
              <a:ln>
                <a:noFill/>
              </a:ln>
              <a:solidFill>
                <a:srgbClr val="BC955C"/>
              </a:solidFill>
              <a:effectLst/>
              <a:uLnTx/>
              <a:uFillTx/>
              <a:latin typeface="Arial"/>
              <a:ea typeface="Arial"/>
              <a:cs typeface="Arial"/>
              <a:sym typeface="Arial"/>
            </a:endParaRPr>
          </a:p>
        </p:txBody>
      </p:sp>
      <p:sp>
        <p:nvSpPr>
          <p:cNvPr id="3" name="CuadroTexto 10">
            <a:extLst>
              <a:ext uri="{FF2B5EF4-FFF2-40B4-BE49-F238E27FC236}">
                <a16:creationId xmlns:a16="http://schemas.microsoft.com/office/drawing/2014/main" id="{21AE8FA6-CA77-F761-93C9-BF2570CBBE30}"/>
              </a:ext>
            </a:extLst>
          </p:cNvPr>
          <p:cNvSpPr txBox="1"/>
          <p:nvPr/>
        </p:nvSpPr>
        <p:spPr>
          <a:xfrm>
            <a:off x="-1155984" y="2854979"/>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Remodelación</a:t>
            </a:r>
            <a:r>
              <a:rPr lang="en-US" sz="1200" b="1" i="0" u="none" strike="noStrike" dirty="0">
                <a:solidFill>
                  <a:srgbClr val="BC955C"/>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AE9FD96F-084C-5DEE-6966-05F8D1633A42}"/>
              </a:ext>
            </a:extLst>
          </p:cNvPr>
          <p:cNvPicPr>
            <a:picLocks noChangeAspect="1"/>
          </p:cNvPicPr>
          <p:nvPr/>
        </p:nvPicPr>
        <p:blipFill>
          <a:blip r:embed="rId5"/>
          <a:srcRect b="-847"/>
          <a:stretch>
            <a:fillRect/>
          </a:stretch>
        </p:blipFill>
        <p:spPr>
          <a:xfrm>
            <a:off x="282946" y="3198568"/>
            <a:ext cx="875508" cy="854908"/>
          </a:xfrm>
          <a:prstGeom prst="rect">
            <a:avLst/>
          </a:prstGeom>
        </p:spPr>
      </p:pic>
      <p:sp>
        <p:nvSpPr>
          <p:cNvPr id="7" name="CuadroTexto 12">
            <a:extLst>
              <a:ext uri="{FF2B5EF4-FFF2-40B4-BE49-F238E27FC236}">
                <a16:creationId xmlns:a16="http://schemas.microsoft.com/office/drawing/2014/main" id="{FD4175D4-66CF-7FBC-B843-C149C5339DF1}"/>
              </a:ext>
            </a:extLst>
          </p:cNvPr>
          <p:cNvSpPr txBox="1"/>
          <p:nvPr/>
        </p:nvSpPr>
        <p:spPr>
          <a:xfrm>
            <a:off x="-1215734" y="3296764"/>
            <a:ext cx="3886200" cy="5232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2</a:t>
            </a:r>
            <a:endParaRPr lang="en-US" sz="2000" b="1" i="0" u="none" strike="noStrike" dirty="0">
              <a:solidFill>
                <a:srgbClr val="BC955C"/>
              </a:solidFill>
              <a:latin typeface="Montserrat"/>
              <a:ea typeface="Montserrat"/>
              <a:cs typeface="Montserrat"/>
            </a:endParaRPr>
          </a:p>
          <a:p>
            <a:pPr algn="ctr"/>
            <a:r>
              <a:rPr lang="en-US" sz="800" b="1" dirty="0" err="1">
                <a:solidFill>
                  <a:srgbClr val="BC955C"/>
                </a:solidFill>
                <a:latin typeface="Montserrat"/>
              </a:rPr>
              <a:t>Hospitales</a:t>
            </a:r>
            <a:endParaRPr lang="en-US" sz="800"/>
          </a:p>
        </p:txBody>
      </p:sp>
      <p:sp>
        <p:nvSpPr>
          <p:cNvPr id="10" name="CuadroTexto 10">
            <a:extLst>
              <a:ext uri="{FF2B5EF4-FFF2-40B4-BE49-F238E27FC236}">
                <a16:creationId xmlns:a16="http://schemas.microsoft.com/office/drawing/2014/main" id="{991C7EE4-1170-AC4C-597D-3383D8E8A8F9}"/>
              </a:ext>
            </a:extLst>
          </p:cNvPr>
          <p:cNvSpPr txBox="1"/>
          <p:nvPr/>
        </p:nvSpPr>
        <p:spPr>
          <a:xfrm>
            <a:off x="-1156903" y="4078868"/>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Adquisición</a:t>
            </a:r>
            <a:r>
              <a:rPr lang="en-US" sz="1200" b="1" i="0" u="none" strike="noStrike" dirty="0">
                <a:solidFill>
                  <a:srgbClr val="BC955C"/>
                </a:solidFill>
                <a:latin typeface="Montserrat"/>
                <a:ea typeface="Montserrat"/>
                <a:cs typeface="Montserrat"/>
              </a:rPr>
              <a:t>: </a:t>
            </a:r>
          </a:p>
        </p:txBody>
      </p:sp>
      <p:pic>
        <p:nvPicPr>
          <p:cNvPr id="11" name="Imagen 10" descr="Forma, Círculo&#10;&#10;El contenido generado por IA puede ser incorrecto.">
            <a:extLst>
              <a:ext uri="{FF2B5EF4-FFF2-40B4-BE49-F238E27FC236}">
                <a16:creationId xmlns:a16="http://schemas.microsoft.com/office/drawing/2014/main" id="{F7B31A16-FD1A-331A-6F76-259EB810FD76}"/>
              </a:ext>
            </a:extLst>
          </p:cNvPr>
          <p:cNvPicPr>
            <a:picLocks noChangeAspect="1"/>
          </p:cNvPicPr>
          <p:nvPr/>
        </p:nvPicPr>
        <p:blipFill>
          <a:blip r:embed="rId5"/>
          <a:srcRect b="-847"/>
          <a:stretch>
            <a:fillRect/>
          </a:stretch>
        </p:blipFill>
        <p:spPr>
          <a:xfrm>
            <a:off x="283724" y="4422455"/>
            <a:ext cx="875508" cy="854908"/>
          </a:xfrm>
          <a:prstGeom prst="rect">
            <a:avLst/>
          </a:prstGeom>
        </p:spPr>
      </p:pic>
      <p:sp>
        <p:nvSpPr>
          <p:cNvPr id="12" name="CuadroTexto 12">
            <a:extLst>
              <a:ext uri="{FF2B5EF4-FFF2-40B4-BE49-F238E27FC236}">
                <a16:creationId xmlns:a16="http://schemas.microsoft.com/office/drawing/2014/main" id="{CA535D92-E281-11D7-D7CB-F8BAB9F176B8}"/>
              </a:ext>
            </a:extLst>
          </p:cNvPr>
          <p:cNvSpPr txBox="1"/>
          <p:nvPr/>
        </p:nvSpPr>
        <p:spPr>
          <a:xfrm>
            <a:off x="-1217668" y="4548787"/>
            <a:ext cx="3886200" cy="5078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2</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Tomógrafos</a:t>
            </a:r>
          </a:p>
        </p:txBody>
      </p:sp>
      <p:sp>
        <p:nvSpPr>
          <p:cNvPr id="13" name="CuadroTexto 10">
            <a:extLst>
              <a:ext uri="{FF2B5EF4-FFF2-40B4-BE49-F238E27FC236}">
                <a16:creationId xmlns:a16="http://schemas.microsoft.com/office/drawing/2014/main" id="{B9C2E918-974F-A566-8C8B-5DDE4ED4290B}"/>
              </a:ext>
            </a:extLst>
          </p:cNvPr>
          <p:cNvSpPr txBox="1"/>
          <p:nvPr/>
        </p:nvSpPr>
        <p:spPr>
          <a:xfrm>
            <a:off x="-1156903" y="1673292"/>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Construcción</a:t>
            </a:r>
            <a:r>
              <a:rPr lang="en-US" sz="1200" b="1" i="0" u="none" strike="noStrike" dirty="0">
                <a:solidFill>
                  <a:srgbClr val="BC955C"/>
                </a:solidFill>
                <a:latin typeface="Montserrat"/>
                <a:ea typeface="Montserrat"/>
                <a:cs typeface="Montserrat"/>
              </a:rPr>
              <a:t>: </a:t>
            </a:r>
          </a:p>
        </p:txBody>
      </p:sp>
      <p:pic>
        <p:nvPicPr>
          <p:cNvPr id="14" name="Imagen 13" descr="Forma, Círculo&#10;&#10;El contenido generado por IA puede ser incorrecto.">
            <a:extLst>
              <a:ext uri="{FF2B5EF4-FFF2-40B4-BE49-F238E27FC236}">
                <a16:creationId xmlns:a16="http://schemas.microsoft.com/office/drawing/2014/main" id="{C365C7D6-999E-5396-FE1A-9AF265B06DAC}"/>
              </a:ext>
            </a:extLst>
          </p:cNvPr>
          <p:cNvPicPr>
            <a:picLocks noChangeAspect="1"/>
          </p:cNvPicPr>
          <p:nvPr/>
        </p:nvPicPr>
        <p:blipFill>
          <a:blip r:embed="rId5"/>
          <a:srcRect b="-847"/>
          <a:stretch>
            <a:fillRect/>
          </a:stretch>
        </p:blipFill>
        <p:spPr>
          <a:xfrm>
            <a:off x="283328" y="2016881"/>
            <a:ext cx="875508" cy="854908"/>
          </a:xfrm>
          <a:prstGeom prst="rect">
            <a:avLst/>
          </a:prstGeom>
        </p:spPr>
      </p:pic>
      <p:sp>
        <p:nvSpPr>
          <p:cNvPr id="15" name="CuadroTexto 12">
            <a:extLst>
              <a:ext uri="{FF2B5EF4-FFF2-40B4-BE49-F238E27FC236}">
                <a16:creationId xmlns:a16="http://schemas.microsoft.com/office/drawing/2014/main" id="{A0083CC0-370A-999A-F425-0B0E05DEB5CF}"/>
              </a:ext>
            </a:extLst>
          </p:cNvPr>
          <p:cNvSpPr txBox="1"/>
          <p:nvPr/>
        </p:nvSpPr>
        <p:spPr>
          <a:xfrm>
            <a:off x="-1216707" y="2030671"/>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a:solidFill>
                  <a:srgbClr val="BC955C"/>
                </a:solidFill>
                <a:latin typeface="Montserrat"/>
              </a:rPr>
              <a:t>Sala de </a:t>
            </a:r>
          </a:p>
          <a:p>
            <a:pPr algn="ctr"/>
            <a:r>
              <a:rPr lang="en-US" sz="700" b="1" dirty="0" err="1">
                <a:solidFill>
                  <a:srgbClr val="BC955C"/>
                </a:solidFill>
                <a:latin typeface="Montserrat"/>
              </a:rPr>
              <a:t>Hemodinamia</a:t>
            </a:r>
            <a:endParaRPr lang="en-US" sz="700" b="1">
              <a:solidFill>
                <a:srgbClr val="BC955C"/>
              </a:solidFill>
              <a:latin typeface="Montserrat"/>
            </a:endParaRPr>
          </a:p>
        </p:txBody>
      </p:sp>
      <p:sp>
        <p:nvSpPr>
          <p:cNvPr id="16" name="TextBox 15"/>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graphicFrame>
        <p:nvGraphicFramePr>
          <p:cNvPr id="17" name="Table 16"/>
          <p:cNvGraphicFramePr>
            <a:graphicFrameLocks noGrp="1"/>
          </p:cNvGraphicFramePr>
          <p:nvPr/>
        </p:nvGraphicFramePr>
        <p:xfrm>
          <a:off x="1785600" y="1584000"/>
          <a:ext cx="5295600" cy="1800000"/>
        </p:xfrm>
        <a:graphic>
          <a:graphicData uri="http://schemas.openxmlformats.org/drawingml/2006/table">
            <a:tbl>
              <a:tblPr firstRow="1" bandRow="1">
                <a:tableStyleId>{5C22544A-7EE6-4342-B048-85BDC9FD1C3A}</a:tableStyleId>
              </a:tblPr>
              <a:tblGrid>
                <a:gridCol w="4176000"/>
                <a:gridCol w="1119600"/>
              </a:tblGrid>
              <a:tr h="360000">
                <a:tc>
                  <a:txBody>
                    <a:bodyPr/>
                    <a:lstStyle/>
                    <a:p>
                      <a:pPr algn="ctr">
                        <a:defRPr b="1" sz="1000">
                          <a:solidFill>
                            <a:srgbClr val="FFFFFF"/>
                          </a:solidFill>
                          <a:latin typeface="Montserrat"/>
                        </a:defRPr>
                      </a:pPr>
                      <a:r>
                        <a:t>Obras de Infraestructura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360000">
                <a:tc>
                  <a:txBody>
                    <a:bodyPr/>
                    <a:lstStyle/>
                    <a:p>
                      <a:pPr algn="l">
                        <a:lnSpc>
                          <a:spcPct val="100000"/>
                        </a:lnSpc>
                      </a:pPr>
                      <a:r>
                        <a:rPr sz="1000">
                          <a:latin typeface="Montserrat"/>
                        </a:rPr>
                        <a:t>Nueva Sala de Hemodinamia en el Hospital General de Zona 1 de Zacatecas</a:t>
                      </a:r>
                    </a:p>
                  </a:txBody>
                  <a:tcPr marL="3600" marR="3600" marT="3600" marB="3600">
                    <a:solidFill>
                      <a:srgbClr val="FFFFFF"/>
                    </a:solidFill>
                  </a:tcPr>
                </a:tc>
                <a:tc>
                  <a:txBody>
                    <a:bodyPr/>
                    <a:lstStyle/>
                    <a:p>
                      <a:pPr algn="ctr">
                        <a:lnSpc>
                          <a:spcPct val="100000"/>
                        </a:lnSpc>
                      </a:pPr>
                      <a:r>
                        <a:rPr sz="1000">
                          <a:latin typeface="Montserrat"/>
                        </a:rPr>
                        <a:t>$35.4</a:t>
                      </a:r>
                    </a:p>
                  </a:txBody>
                  <a:tcPr marL="3600" marR="3600" marT="3600" marB="3600">
                    <a:solidFill>
                      <a:srgbClr val="FFFFFF"/>
                    </a:solidFill>
                  </a:tcPr>
                </a:tc>
              </a:tr>
              <a:tr h="360000">
                <a:tc>
                  <a:txBody>
                    <a:bodyPr/>
                    <a:lstStyle/>
                    <a:p>
                      <a:pPr algn="l">
                        <a:lnSpc>
                          <a:spcPct val="100000"/>
                        </a:lnSpc>
                      </a:pPr>
                      <a:r>
                        <a:rPr sz="1000">
                          <a:latin typeface="Montserrat"/>
                        </a:rPr>
                        <a:t>Estudios de preinversión del HGR de 216 camas, Guadalupe</a:t>
                      </a:r>
                    </a:p>
                  </a:txBody>
                  <a:tcPr marL="3600" marR="3600" marT="3600" marB="3600">
                    <a:solidFill>
                      <a:srgbClr val="D9D9D9"/>
                    </a:solidFill>
                  </a:tcPr>
                </a:tc>
                <a:tc>
                  <a:txBody>
                    <a:bodyPr/>
                    <a:lstStyle/>
                    <a:p>
                      <a:pPr algn="ctr">
                        <a:lnSpc>
                          <a:spcPct val="100000"/>
                        </a:lnSpc>
                      </a:pPr>
                      <a:r>
                        <a:rPr sz="1000">
                          <a:latin typeface="Montserrat"/>
                        </a:rPr>
                        <a:t>$21.9</a:t>
                      </a:r>
                    </a:p>
                  </a:txBody>
                  <a:tcPr marL="3600" marR="3600" marT="3600" marB="3600">
                    <a:solidFill>
                      <a:srgbClr val="D9D9D9"/>
                    </a:solidFill>
                  </a:tcPr>
                </a:tc>
              </a:tr>
              <a:tr h="360000">
                <a:tc>
                  <a:txBody>
                    <a:bodyPr/>
                    <a:lstStyle/>
                    <a:p>
                      <a:pPr algn="l">
                        <a:lnSpc>
                          <a:spcPct val="100000"/>
                        </a:lnSpc>
                      </a:pPr>
                      <a:r>
                        <a:rPr sz="1000">
                          <a:latin typeface="Montserrat"/>
                        </a:rPr>
                        <a:t>Remodelación de gradas, baños y vestidores en gimnasio de basquetbol del CSS Zacatecas</a:t>
                      </a:r>
                    </a:p>
                  </a:txBody>
                  <a:tcPr marL="3600" marR="3600" marT="3600" marB="3600">
                    <a:solidFill>
                      <a:srgbClr val="FFFFFF"/>
                    </a:solidFill>
                  </a:tcPr>
                </a:tc>
                <a:tc>
                  <a:txBody>
                    <a:bodyPr/>
                    <a:lstStyle/>
                    <a:p>
                      <a:pPr algn="ctr">
                        <a:lnSpc>
                          <a:spcPct val="100000"/>
                        </a:lnSpc>
                      </a:pPr>
                      <a:r>
                        <a:rPr sz="1000">
                          <a:latin typeface="Montserrat"/>
                        </a:rPr>
                        <a:t>$9.6</a:t>
                      </a:r>
                    </a:p>
                  </a:txBody>
                  <a:tcPr marL="3600" marR="3600" marT="3600" marB="3600">
                    <a:solidFill>
                      <a:srgbClr val="FFFFFF"/>
                    </a:solidFill>
                  </a:tcPr>
                </a:tc>
              </a:tr>
              <a:tr h="360000">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$66.9</a:t>
                      </a:r>
                    </a:p>
                  </a:txBody>
                  <a:tcPr marL="3600" marR="3600" marT="3600" marB="3600">
                    <a:solidFill>
                      <a:srgbClr val="ECE1D2"/>
                    </a:solidFill>
                  </a:tcPr>
                </a:tc>
              </a:tr>
            </a:tbl>
          </a:graphicData>
        </a:graphic>
      </p:graphicFrame>
      <p:graphicFrame>
        <p:nvGraphicFramePr>
          <p:cNvPr id="18" name="Table 17"/>
          <p:cNvGraphicFramePr>
            <a:graphicFrameLocks noGrp="1"/>
          </p:cNvGraphicFramePr>
          <p:nvPr/>
        </p:nvGraphicFramePr>
        <p:xfrm>
          <a:off x="1785600" y="3564000"/>
          <a:ext cx="5295600" cy="1980000"/>
        </p:xfrm>
        <a:graphic>
          <a:graphicData uri="http://schemas.openxmlformats.org/drawingml/2006/table">
            <a:tbl>
              <a:tblPr firstRow="1" bandRow="1">
                <a:tableStyleId>{5C22544A-7EE6-4342-B048-85BDC9FD1C3A}</a:tableStyleId>
              </a:tblPr>
              <a:tblGrid>
                <a:gridCol w="4176000"/>
                <a:gridCol w="1119600"/>
              </a:tblGrid>
              <a:tr h="396000">
                <a:tc>
                  <a:txBody>
                    <a:bodyPr/>
                    <a:lstStyle/>
                    <a:p>
                      <a:pPr algn="ctr">
                        <a:defRPr b="1" sz="1000">
                          <a:solidFill>
                            <a:srgbClr val="FFFFFF"/>
                          </a:solidFill>
                          <a:latin typeface="Montserrat"/>
                        </a:defRPr>
                      </a:pPr>
                      <a:r>
                        <a:t>Obras de Conservación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396000">
                <a:tc>
                  <a:txBody>
                    <a:bodyPr/>
                    <a:lstStyle/>
                    <a:p>
                      <a:pPr algn="l">
                        <a:lnSpc>
                          <a:spcPct val="100000"/>
                        </a:lnSpc>
                      </a:pPr>
                      <a:r>
                        <a:rPr sz="1000">
                          <a:latin typeface="Montserrat"/>
                        </a:rPr>
                        <a:t>Mantenimiento de Infraestructura (PAO 2025)</a:t>
                      </a:r>
                    </a:p>
                  </a:txBody>
                  <a:tcPr marL="3600" marR="3600" marT="3600" marB="3600">
                    <a:solidFill>
                      <a:srgbClr val="FFFFFF"/>
                    </a:solidFill>
                  </a:tcPr>
                </a:tc>
                <a:tc>
                  <a:txBody>
                    <a:bodyPr/>
                    <a:lstStyle/>
                    <a:p>
                      <a:pPr algn="ctr">
                        <a:lnSpc>
                          <a:spcPct val="100000"/>
                        </a:lnSpc>
                      </a:pPr>
                      <a:r>
                        <a:rPr sz="1000">
                          <a:latin typeface="Montserrat"/>
                        </a:rPr>
                        <a:t>$435.2</a:t>
                      </a:r>
                    </a:p>
                  </a:txBody>
                  <a:tcPr marL="3600" marR="3600" marT="3600" marB="3600">
                    <a:solidFill>
                      <a:srgbClr val="FFFFFF"/>
                    </a:solidFill>
                  </a:tcPr>
                </a:tc>
              </a:tr>
              <a:tr h="396000">
                <a:tc>
                  <a:txBody>
                    <a:bodyPr/>
                    <a:lstStyle/>
                    <a:p>
                      <a:pPr algn="l">
                        <a:lnSpc>
                          <a:spcPct val="100000"/>
                        </a:lnSpc>
                      </a:pPr>
                      <a:r>
                        <a:rPr sz="1000">
                          <a:latin typeface="Montserrat"/>
                        </a:rPr>
                        <a:t>Intervención en áreas de Hospitales Prioritarios en el HGZ No. 1 Zacatecas y HGZ No. 2 Fresnillo</a:t>
                      </a:r>
                    </a:p>
                  </a:txBody>
                  <a:tcPr marL="3600" marR="3600" marT="3600" marB="3600">
                    <a:solidFill>
                      <a:srgbClr val="D9D9D9"/>
                    </a:solidFill>
                  </a:tcPr>
                </a:tc>
                <a:tc>
                  <a:txBody>
                    <a:bodyPr/>
                    <a:lstStyle/>
                    <a:p>
                      <a:pPr algn="ctr">
                        <a:lnSpc>
                          <a:spcPct val="100000"/>
                        </a:lnSpc>
                      </a:pPr>
                      <a:r>
                        <a:rPr sz="1000">
                          <a:latin typeface="Montserrat"/>
                        </a:rPr>
                        <a:t>$210.4</a:t>
                      </a:r>
                    </a:p>
                  </a:txBody>
                  <a:tcPr marL="3600" marR="3600" marT="3600" marB="3600">
                    <a:solidFill>
                      <a:srgbClr val="D9D9D9"/>
                    </a:solidFill>
                  </a:tcPr>
                </a:tc>
              </a:tr>
              <a:tr h="396000">
                <a:tc>
                  <a:txBody>
                    <a:bodyPr/>
                    <a:lstStyle/>
                    <a:p>
                      <a:pPr algn="l">
                        <a:lnSpc>
                          <a:spcPct val="100000"/>
                        </a:lnSpc>
                      </a:pPr>
                      <a:r>
                        <a:rPr sz="1000">
                          <a:latin typeface="Montserrat"/>
                        </a:rPr>
                        <a:t>Intervención en áreas de residencias médicas en 4 unidades (HGZ No.1 Zacatecas, HGZ No.2 Fresnillo, UMF No.55 Fresnillo, UMF No.57  Zacatecas)</a:t>
                      </a:r>
                    </a:p>
                  </a:txBody>
                  <a:tcPr marL="3600" marR="3600" marT="3600" marB="3600">
                    <a:solidFill>
                      <a:srgbClr val="FFFFFF"/>
                    </a:solidFill>
                  </a:tcPr>
                </a:tc>
                <a:tc>
                  <a:txBody>
                    <a:bodyPr/>
                    <a:lstStyle/>
                    <a:p>
                      <a:pPr algn="ctr">
                        <a:lnSpc>
                          <a:spcPct val="100000"/>
                        </a:lnSpc>
                      </a:pPr>
                      <a:r>
                        <a:rPr sz="1000">
                          <a:latin typeface="Montserrat"/>
                        </a:rPr>
                        <a:t>$16.1</a:t>
                      </a:r>
                    </a:p>
                  </a:txBody>
                  <a:tcPr marL="3600" marR="3600" marT="3600" marB="3600">
                    <a:solidFill>
                      <a:srgbClr val="FFFFFF"/>
                    </a:solidFill>
                  </a:tcPr>
                </a:tc>
              </a:tr>
              <a:tr h="396000">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$661.7</a:t>
                      </a:r>
                    </a:p>
                  </a:txBody>
                  <a:tcPr marL="3600" marR="3600" marT="3600" marB="3600">
                    <a:solidFill>
                      <a:srgbClr val="ECE1D2"/>
                    </a:solidFill>
                  </a:tcPr>
                </a:tc>
              </a:tr>
            </a:tbl>
          </a:graphicData>
        </a:graphic>
      </p:graphicFrame>
      <p:graphicFrame>
        <p:nvGraphicFramePr>
          <p:cNvPr id="19" name="Table 18"/>
          <p:cNvGraphicFramePr>
            <a:graphicFrameLocks noGrp="1"/>
          </p:cNvGraphicFramePr>
          <p:nvPr/>
        </p:nvGraphicFramePr>
        <p:xfrm>
          <a:off x="1785600" y="5724000"/>
          <a:ext cx="5295600" cy="1080000"/>
        </p:xfrm>
        <a:graphic>
          <a:graphicData uri="http://schemas.openxmlformats.org/drawingml/2006/table">
            <a:tbl>
              <a:tblPr firstRow="1" bandRow="1">
                <a:tableStyleId>{5C22544A-7EE6-4342-B048-85BDC9FD1C3A}</a:tableStyleId>
              </a:tblPr>
              <a:tblGrid>
                <a:gridCol w="4176000"/>
                <a:gridCol w="1119600"/>
              </a:tblGrid>
              <a:tr h="540000">
                <a:tc>
                  <a:txBody>
                    <a:bodyPr/>
                    <a:lstStyle/>
                    <a:p>
                      <a:pPr algn="ctr">
                        <a:defRPr b="1" sz="1000">
                          <a:solidFill>
                            <a:srgbClr val="FFFFFF"/>
                          </a:solidFill>
                          <a:latin typeface="Montserrat"/>
                        </a:defRPr>
                      </a:pPr>
                      <a:r>
                        <a:t>Equipo Médico 2025, Instalación 2026</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540000">
                <a:tc>
                  <a:txBody>
                    <a:bodyPr/>
                    <a:lstStyle/>
                    <a:p>
                      <a:pPr algn="l">
                        <a:lnSpc>
                          <a:spcPct val="100000"/>
                        </a:lnSpc>
                      </a:pPr>
                      <a:r>
                        <a:rPr sz="1000">
                          <a:latin typeface="Montserrat"/>
                        </a:rPr>
                        <a:t>Adquisición de 5 piezas de equipo médico: 1 refrigerador congelador de 5.4 pies cúbicos, 2 mastógrafos digitales con estereotaxia y tomosíntesis, 2 tomógrafos axiales computarizados de alta resolución</a:t>
                      </a:r>
                    </a:p>
                  </a:txBody>
                  <a:tcPr marL="3600" marR="3600" marT="3600" marB="3600">
                    <a:solidFill>
                      <a:srgbClr val="FFFFFF"/>
                    </a:solidFill>
                  </a:tcPr>
                </a:tc>
                <a:tc>
                  <a:txBody>
                    <a:bodyPr/>
                    <a:lstStyle/>
                    <a:p>
                      <a:pPr algn="ctr">
                        <a:lnSpc>
                          <a:spcPct val="100000"/>
                        </a:lnSpc>
                      </a:pPr>
                      <a:r>
                        <a:rPr sz="1000">
                          <a:latin typeface="Montserrat"/>
                        </a:rPr>
                        <a:t>$68.0</a:t>
                      </a:r>
                    </a:p>
                  </a:txBody>
                  <a:tcPr marL="3600" marR="3600" marT="3600" marB="3600">
                    <a:solidFill>
                      <a:srgbClr val="FFFFFF"/>
                    </a:solidFill>
                  </a:tcPr>
                </a:tc>
              </a:tr>
            </a:tbl>
          </a:graphicData>
        </a:graphic>
      </p:graphicFrame>
      <p:sp>
        <p:nvSpPr>
          <p:cNvPr id="20" name="TextBox 19"/>
          <p:cNvSpPr txBox="1"/>
          <p:nvPr/>
        </p:nvSpPr>
        <p:spPr>
          <a:xfrm>
            <a:off x="5774400" y="878400"/>
            <a:ext cx="1306800" cy="338400"/>
          </a:xfrm>
          <a:prstGeom prst="rect">
            <a:avLst/>
          </a:prstGeom>
          <a:noFill/>
        </p:spPr>
        <p:txBody>
          <a:bodyPr wrap="none">
            <a:spAutoFit/>
          </a:bodyPr>
          <a:lstStyle/>
          <a:p>
            <a:pPr algn="ctr">
              <a:defRPr sz="1400" b="1">
                <a:solidFill>
                  <a:srgbClr val="FFFFFF"/>
                </a:solidFill>
                <a:latin typeface="Montserrat"/>
              </a:defRPr>
            </a:pPr>
            <a:r>
              <a:t>796.6</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240565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E90BEC93-CBF6-4FFC-F412-1E04A89853A3}"/>
            </a:ext>
          </a:extLst>
        </p:cNvPr>
        <p:cNvGrpSpPr/>
        <p:nvPr/>
      </p:nvGrpSpPr>
      <p:grpSpPr>
        <a:xfrm>
          <a:off x="0" y="0"/>
          <a:ext cx="0" cy="0"/>
          <a:chOff x="0" y="0"/>
          <a:chExt cx="0" cy="0"/>
        </a:xfrm>
      </p:grpSpPr>
      <p:graphicFrame>
        <p:nvGraphicFramePr>
          <p:cNvPr id="5" name="Google Shape;394;p15">
            <a:extLst>
              <a:ext uri="{FF2B5EF4-FFF2-40B4-BE49-F238E27FC236}">
                <a16:creationId xmlns:a16="http://schemas.microsoft.com/office/drawing/2014/main" id="{B762DBC9-2C5F-4219-04BA-4A2BF2F57E2F}"/>
              </a:ext>
            </a:extLst>
          </p:cNvPr>
          <p:cNvGraphicFramePr/>
          <p:nvPr/>
        </p:nvGraphicFramePr>
        <p:xfrm>
          <a:off x="287700" y="110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2026</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7" name="Google Shape;396;p15">
            <a:extLst>
              <a:ext uri="{FF2B5EF4-FFF2-40B4-BE49-F238E27FC236}">
                <a16:creationId xmlns:a16="http://schemas.microsoft.com/office/drawing/2014/main" id="{8E24F6E5-E3CB-0C93-0587-E21A33C953B7}"/>
              </a:ext>
            </a:extLst>
          </p:cNvPr>
          <p:cNvSpPr txBox="1"/>
          <p:nvPr/>
        </p:nvSpPr>
        <p:spPr>
          <a:xfrm>
            <a:off x="4031556" y="1055457"/>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 ¿Qué se hará? </a:t>
            </a:r>
            <a:endParaRPr kumimoji="0" sz="1200" b="1" i="0" u="none" strike="noStrike" kern="0" cap="none" spc="0" normalizeH="0" baseline="0" noProof="0" dirty="0">
              <a:ln>
                <a:noFill/>
              </a:ln>
              <a:solidFill>
                <a:srgbClr val="9F2241"/>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2026</a:t>
            </a:r>
            <a:endParaRPr kumimoji="0" sz="1200" b="0" i="0" u="none" strike="noStrike" kern="0" cap="none" spc="0" normalizeH="0" baseline="0" noProof="0" dirty="0">
              <a:ln>
                <a:noFill/>
              </a:ln>
              <a:solidFill>
                <a:srgbClr val="9F2241"/>
              </a:solidFill>
              <a:effectLst/>
              <a:uLnTx/>
              <a:uFillTx/>
              <a:latin typeface="Arial"/>
              <a:ea typeface="Arial"/>
              <a:cs typeface="Arial"/>
              <a:sym typeface="Arial"/>
            </a:endParaRPr>
          </a:p>
        </p:txBody>
      </p:sp>
      <p:pic>
        <p:nvPicPr>
          <p:cNvPr id="2" name="Google Shape;395;p15">
            <a:extLst>
              <a:ext uri="{FF2B5EF4-FFF2-40B4-BE49-F238E27FC236}">
                <a16:creationId xmlns:a16="http://schemas.microsoft.com/office/drawing/2014/main" id="{1B5687F4-45A0-92B4-9653-1598AF1BC42E}"/>
              </a:ext>
            </a:extLst>
          </p:cNvPr>
          <p:cNvPicPr preferRelativeResize="0"/>
          <p:nvPr/>
        </p:nvPicPr>
        <p:blipFill rotWithShape="1">
          <a:blip r:embed="rId4">
            <a:clrChange>
              <a:clrFrom>
                <a:srgbClr val="FFFFFF"/>
              </a:clrFrom>
              <a:clrTo>
                <a:srgbClr val="FFFFFF">
                  <a:alpha val="0"/>
                </a:srgbClr>
              </a:clrTo>
            </a:clrChange>
            <a:alphaModFix/>
            <a:duotone>
              <a:prstClr val="black"/>
              <a:srgbClr val="FF0000">
                <a:tint val="45000"/>
                <a:satMod val="400000"/>
              </a:srgbClr>
            </a:duotone>
          </a:blip>
          <a:srcRect/>
          <a:stretch/>
        </p:blipFill>
        <p:spPr>
          <a:xfrm>
            <a:off x="5590800" y="715617"/>
            <a:ext cx="1599000" cy="773189"/>
          </a:xfrm>
          <a:prstGeom prst="rect">
            <a:avLst/>
          </a:prstGeom>
          <a:noFill/>
          <a:ln>
            <a:noFill/>
          </a:ln>
        </p:spPr>
      </p:pic>
      <p:sp>
        <p:nvSpPr>
          <p:cNvPr id="3" name="CuadroTexto 9">
            <a:extLst>
              <a:ext uri="{FF2B5EF4-FFF2-40B4-BE49-F238E27FC236}">
                <a16:creationId xmlns:a16="http://schemas.microsoft.com/office/drawing/2014/main" id="{ABCC6279-D2EB-1F1F-D811-3FFF80887FF1}"/>
              </a:ext>
            </a:extLst>
          </p:cNvPr>
          <p:cNvSpPr txBox="1"/>
          <p:nvPr/>
        </p:nvSpPr>
        <p:spPr>
          <a:xfrm>
            <a:off x="-1184094" y="1715497"/>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A42145"/>
                </a:solidFill>
                <a:latin typeface="Montserrat"/>
                <a:ea typeface="Montserrat"/>
                <a:cs typeface="Montserrat"/>
              </a:rPr>
              <a:t>Construcción</a:t>
            </a:r>
            <a:r>
              <a:rPr lang="en-US" sz="1200" b="1" i="0" u="none" strike="noStrike" dirty="0">
                <a:solidFill>
                  <a:srgbClr val="A42145"/>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488C755F-8E2D-8CE1-6C1B-6DBB55EE2CD3}"/>
              </a:ext>
            </a:extLst>
          </p:cNvPr>
          <p:cNvPicPr>
            <a:picLocks noChangeAspect="1"/>
          </p:cNvPicPr>
          <p:nvPr/>
        </p:nvPicPr>
        <p:blipFill>
          <a:blip r:embed="rId5"/>
          <a:stretch>
            <a:fillRect/>
          </a:stretch>
        </p:blipFill>
        <p:spPr>
          <a:xfrm>
            <a:off x="260870" y="2027418"/>
            <a:ext cx="872667" cy="849944"/>
          </a:xfrm>
          <a:prstGeom prst="rect">
            <a:avLst/>
          </a:prstGeom>
        </p:spPr>
      </p:pic>
      <p:sp>
        <p:nvSpPr>
          <p:cNvPr id="6" name="CuadroTexto 11">
            <a:extLst>
              <a:ext uri="{FF2B5EF4-FFF2-40B4-BE49-F238E27FC236}">
                <a16:creationId xmlns:a16="http://schemas.microsoft.com/office/drawing/2014/main" id="{4578A0AA-9DC1-3453-263A-76BE5A8BE282}"/>
              </a:ext>
            </a:extLst>
          </p:cNvPr>
          <p:cNvSpPr txBox="1"/>
          <p:nvPr/>
        </p:nvSpPr>
        <p:spPr>
          <a:xfrm>
            <a:off x="-1241589" y="2154552"/>
            <a:ext cx="3886200" cy="5232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1</a:t>
            </a:r>
            <a:endParaRPr lang="en-US" sz="2000" b="1" i="0" u="none" strike="noStrike" dirty="0">
              <a:solidFill>
                <a:srgbClr val="A42145"/>
              </a:solidFill>
              <a:latin typeface="Montserrat"/>
              <a:ea typeface="Montserrat"/>
              <a:cs typeface="Montserrat"/>
            </a:endParaRPr>
          </a:p>
          <a:p>
            <a:pPr algn="ctr"/>
            <a:r>
              <a:rPr lang="en-US" sz="800" b="1">
                <a:solidFill>
                  <a:srgbClr val="A42145"/>
                </a:solidFill>
                <a:latin typeface="Montserrat"/>
                <a:ea typeface="Montserrat"/>
                <a:cs typeface="Montserrat"/>
              </a:rPr>
              <a:t>Hospital</a:t>
            </a:r>
            <a:endParaRPr lang="en-US" sz="800" b="1" i="0" u="none" strike="noStrike">
              <a:solidFill>
                <a:srgbClr val="A42145"/>
              </a:solidFill>
              <a:latin typeface="Montserrat"/>
              <a:ea typeface="Montserrat"/>
              <a:cs typeface="Montserrat"/>
            </a:endParaRPr>
          </a:p>
        </p:txBody>
      </p:sp>
      <p:pic>
        <p:nvPicPr>
          <p:cNvPr id="8" name="Imagen 7" descr="Forma, Círculo&#10;&#10;El contenido generado por IA puede ser incorrecto.">
            <a:extLst>
              <a:ext uri="{FF2B5EF4-FFF2-40B4-BE49-F238E27FC236}">
                <a16:creationId xmlns:a16="http://schemas.microsoft.com/office/drawing/2014/main" id="{4F2E1097-3694-6090-CBA5-667DCD67E48E}"/>
              </a:ext>
            </a:extLst>
          </p:cNvPr>
          <p:cNvPicPr>
            <a:picLocks noChangeAspect="1"/>
          </p:cNvPicPr>
          <p:nvPr/>
        </p:nvPicPr>
        <p:blipFill>
          <a:blip r:embed="rId5"/>
          <a:stretch>
            <a:fillRect/>
          </a:stretch>
        </p:blipFill>
        <p:spPr>
          <a:xfrm>
            <a:off x="269463" y="2938439"/>
            <a:ext cx="872667" cy="849944"/>
          </a:xfrm>
          <a:prstGeom prst="rect">
            <a:avLst/>
          </a:prstGeom>
        </p:spPr>
      </p:pic>
      <p:sp>
        <p:nvSpPr>
          <p:cNvPr id="9" name="CuadroTexto 11">
            <a:extLst>
              <a:ext uri="{FF2B5EF4-FFF2-40B4-BE49-F238E27FC236}">
                <a16:creationId xmlns:a16="http://schemas.microsoft.com/office/drawing/2014/main" id="{907F7F6F-8FF8-56A0-795F-B2A127C97D4D}"/>
              </a:ext>
            </a:extLst>
          </p:cNvPr>
          <p:cNvSpPr txBox="1"/>
          <p:nvPr/>
        </p:nvSpPr>
        <p:spPr>
          <a:xfrm>
            <a:off x="-1233656" y="3065573"/>
            <a:ext cx="3886200" cy="5232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1</a:t>
            </a:r>
            <a:endParaRPr lang="en-US" sz="2000" b="1" i="0" u="none" strike="noStrike" dirty="0">
              <a:solidFill>
                <a:srgbClr val="A42145"/>
              </a:solidFill>
              <a:latin typeface="Montserrat"/>
              <a:ea typeface="Montserrat"/>
              <a:cs typeface="Montserrat"/>
            </a:endParaRPr>
          </a:p>
          <a:p>
            <a:pPr algn="ctr"/>
            <a:r>
              <a:rPr lang="en-US" sz="800" b="1">
                <a:solidFill>
                  <a:srgbClr val="A42145"/>
                </a:solidFill>
                <a:latin typeface="Montserrat"/>
              </a:rPr>
              <a:t>UCIN</a:t>
            </a:r>
            <a:endParaRPr lang="en-US"/>
          </a:p>
        </p:txBody>
      </p:sp>
      <p:pic>
        <p:nvPicPr>
          <p:cNvPr id="10" name="Imagen 9" descr="Forma, Círculo&#10;&#10;El contenido generado por IA puede ser incorrecto.">
            <a:extLst>
              <a:ext uri="{FF2B5EF4-FFF2-40B4-BE49-F238E27FC236}">
                <a16:creationId xmlns:a16="http://schemas.microsoft.com/office/drawing/2014/main" id="{CA24C0E7-282C-9B96-A7B5-7554B2C6EF8D}"/>
              </a:ext>
            </a:extLst>
          </p:cNvPr>
          <p:cNvPicPr>
            <a:picLocks noChangeAspect="1"/>
          </p:cNvPicPr>
          <p:nvPr/>
        </p:nvPicPr>
        <p:blipFill>
          <a:blip r:embed="rId5"/>
          <a:stretch>
            <a:fillRect/>
          </a:stretch>
        </p:blipFill>
        <p:spPr>
          <a:xfrm>
            <a:off x="286296" y="3874532"/>
            <a:ext cx="872667" cy="849944"/>
          </a:xfrm>
          <a:prstGeom prst="rect">
            <a:avLst/>
          </a:prstGeom>
        </p:spPr>
      </p:pic>
      <p:sp>
        <p:nvSpPr>
          <p:cNvPr id="11" name="CuadroTexto 11">
            <a:extLst>
              <a:ext uri="{FF2B5EF4-FFF2-40B4-BE49-F238E27FC236}">
                <a16:creationId xmlns:a16="http://schemas.microsoft.com/office/drawing/2014/main" id="{2C157DF6-A7FD-940D-19DA-323ACD68454D}"/>
              </a:ext>
            </a:extLst>
          </p:cNvPr>
          <p:cNvSpPr txBox="1"/>
          <p:nvPr/>
        </p:nvSpPr>
        <p:spPr>
          <a:xfrm>
            <a:off x="-1216824" y="3895806"/>
            <a:ext cx="3886200" cy="72327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1</a:t>
            </a:r>
            <a:endParaRPr lang="en-US" sz="2000" b="1" i="0" u="none" strike="noStrike" dirty="0">
              <a:solidFill>
                <a:srgbClr val="A42145"/>
              </a:solidFill>
              <a:latin typeface="Montserrat"/>
              <a:ea typeface="Montserrat"/>
              <a:cs typeface="Montserrat"/>
            </a:endParaRPr>
          </a:p>
          <a:p>
            <a:pPr algn="ctr"/>
            <a:r>
              <a:rPr lang="en-US" sz="700" b="1">
                <a:solidFill>
                  <a:srgbClr val="A42145"/>
                </a:solidFill>
                <a:latin typeface="Montserrat"/>
              </a:rPr>
              <a:t>Centro de</a:t>
            </a:r>
            <a:endParaRPr lang="en-US" sz="700" b="1">
              <a:latin typeface="Montserrat"/>
            </a:endParaRPr>
          </a:p>
          <a:p>
            <a:pPr algn="ctr"/>
            <a:r>
              <a:rPr lang="en-US" sz="700" b="1" dirty="0" err="1">
                <a:solidFill>
                  <a:srgbClr val="A42145"/>
                </a:solidFill>
                <a:latin typeface="Montserrat"/>
              </a:rPr>
              <a:t>Biomedicina</a:t>
            </a:r>
            <a:r>
              <a:rPr lang="en-US" sz="700" b="1" dirty="0">
                <a:solidFill>
                  <a:srgbClr val="A42145"/>
                </a:solidFill>
                <a:latin typeface="Montserrat"/>
              </a:rPr>
              <a:t> </a:t>
            </a:r>
          </a:p>
          <a:p>
            <a:pPr algn="ctr"/>
            <a:r>
              <a:rPr lang="en-US" sz="700" b="1">
                <a:solidFill>
                  <a:srgbClr val="A42145"/>
                </a:solidFill>
                <a:latin typeface="Montserrat"/>
              </a:rPr>
              <a:t>Molecular</a:t>
            </a:r>
            <a:endParaRPr lang="en-US" sz="700" b="1">
              <a:latin typeface="Montserrat"/>
            </a:endParaRPr>
          </a:p>
        </p:txBody>
      </p:sp>
      <p:sp>
        <p:nvSpPr>
          <p:cNvPr id="12" name="TextBox 1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graphicFrame>
        <p:nvGraphicFramePr>
          <p:cNvPr id="13" name="Table 12"/>
          <p:cNvGraphicFramePr>
            <a:graphicFrameLocks noGrp="1"/>
          </p:cNvGraphicFramePr>
          <p:nvPr/>
        </p:nvGraphicFramePr>
        <p:xfrm>
          <a:off x="1785600" y="1584000"/>
          <a:ext cx="5396400" cy="1007996"/>
        </p:xfrm>
        <a:graphic>
          <a:graphicData uri="http://schemas.openxmlformats.org/drawingml/2006/table">
            <a:tbl>
              <a:tblPr firstRow="1" bandRow="1">
                <a:tableStyleId>{5C22544A-7EE6-4342-B048-85BDC9FD1C3A}</a:tableStyleId>
              </a:tblPr>
              <a:tblGrid>
                <a:gridCol w="4255200"/>
                <a:gridCol w="1141200"/>
              </a:tblGrid>
              <a:tr h="251999">
                <a:tc>
                  <a:txBody>
                    <a:bodyPr/>
                    <a:lstStyle/>
                    <a:p>
                      <a:pPr algn="ctr">
                        <a:defRPr b="1" sz="1000">
                          <a:solidFill>
                            <a:srgbClr val="FFFFFF"/>
                          </a:solidFill>
                          <a:latin typeface="Montserrat"/>
                        </a:defRPr>
                      </a:pPr>
                      <a:r>
                        <a:t>Obras de Infraestructura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251999">
                <a:tc>
                  <a:txBody>
                    <a:bodyPr/>
                    <a:lstStyle/>
                    <a:p>
                      <a:pPr algn="l">
                        <a:lnSpc>
                          <a:spcPct val="100000"/>
                        </a:lnSpc>
                      </a:pPr>
                      <a:r>
                        <a:rPr sz="1000">
                          <a:latin typeface="Montserrat"/>
                        </a:rPr>
                        <a:t>Hospital General Regional Guadalupe</a:t>
                      </a:r>
                    </a:p>
                  </a:txBody>
                  <a:tcPr marL="3600" marR="3600" marT="3600" marB="3600">
                    <a:solidFill>
                      <a:srgbClr val="FFFFFF"/>
                    </a:solidFill>
                  </a:tcPr>
                </a:tc>
                <a:tc>
                  <a:txBody>
                    <a:bodyPr/>
                    <a:lstStyle/>
                    <a:p>
                      <a:pPr algn="ctr">
                        <a:lnSpc>
                          <a:spcPct val="100000"/>
                        </a:lnSpc>
                      </a:pPr>
                      <a:r>
                        <a:rPr sz="1000">
                          <a:latin typeface="Montserrat"/>
                        </a:rPr>
                        <a:t>$2,941.5</a:t>
                      </a:r>
                    </a:p>
                  </a:txBody>
                  <a:tcPr marL="3600" marR="3600" marT="3600" marB="3600">
                    <a:solidFill>
                      <a:srgbClr val="FFFFFF"/>
                    </a:solidFill>
                  </a:tcPr>
                </a:tc>
              </a:tr>
              <a:tr h="251999">
                <a:tc>
                  <a:txBody>
                    <a:bodyPr/>
                    <a:lstStyle/>
                    <a:p>
                      <a:pPr algn="l">
                        <a:lnSpc>
                          <a:spcPct val="100000"/>
                        </a:lnSpc>
                      </a:pPr>
                      <a:r>
                        <a:rPr sz="1000">
                          <a:latin typeface="Montserrat"/>
                        </a:rPr>
                        <a:t>Construcción del Centro de Investigación en Biomedicina Molecular</a:t>
                      </a:r>
                    </a:p>
                  </a:txBody>
                  <a:tcPr marL="3600" marR="3600" marT="3600" marB="3600">
                    <a:solidFill>
                      <a:srgbClr val="D9D9D9"/>
                    </a:solidFill>
                  </a:tcPr>
                </a:tc>
                <a:tc>
                  <a:txBody>
                    <a:bodyPr/>
                    <a:lstStyle/>
                    <a:p>
                      <a:pPr algn="ctr">
                        <a:lnSpc>
                          <a:spcPct val="100000"/>
                        </a:lnSpc>
                      </a:pPr>
                      <a:r>
                        <a:rPr sz="1000">
                          <a:latin typeface="Montserrat"/>
                        </a:rPr>
                        <a:t>$145.0</a:t>
                      </a:r>
                    </a:p>
                  </a:txBody>
                  <a:tcPr marL="3600" marR="3600" marT="3600" marB="3600">
                    <a:solidFill>
                      <a:srgbClr val="D9D9D9"/>
                    </a:solidFill>
                  </a:tcPr>
                </a:tc>
              </a:tr>
              <a:tr h="251999">
                <a:tc>
                  <a:txBody>
                    <a:bodyPr/>
                    <a:lstStyle/>
                    <a:p>
                      <a:pPr algn="l">
                        <a:lnSpc>
                          <a:spcPct val="100000"/>
                        </a:lnSpc>
                        <a:defRPr sz="900" b="1">
                          <a:solidFill>
                            <a:srgbClr val="FFFFFF"/>
                          </a:solidFill>
                          <a:latin typeface="Montserrat"/>
                        </a:defRPr>
                      </a:pPr>
                      <a:r>
                        <a:t>Subtotal</a:t>
                      </a:r>
                    </a:p>
                  </a:txBody>
                  <a:tcPr marL="3600" marR="3600" marT="3600" marB="3600">
                    <a:solidFill>
                      <a:srgbClr val="9F2241"/>
                    </a:solidFill>
                  </a:tcPr>
                </a:tc>
                <a:tc>
                  <a:txBody>
                    <a:bodyPr/>
                    <a:lstStyle/>
                    <a:p>
                      <a:pPr algn="ctr">
                        <a:lnSpc>
                          <a:spcPct val="100000"/>
                        </a:lnSpc>
                        <a:defRPr sz="900" b="1">
                          <a:solidFill>
                            <a:srgbClr val="FFFFFF"/>
                          </a:solidFill>
                          <a:latin typeface="Montserrat"/>
                        </a:defRPr>
                      </a:pPr>
                      <a:r>
                        <a:t>$3,086.5</a:t>
                      </a:r>
                    </a:p>
                  </a:txBody>
                  <a:tcPr marL="3600" marR="3600" marT="3600" marB="3600">
                    <a:solidFill>
                      <a:srgbClr val="9F2241"/>
                    </a:solidFill>
                  </a:tcPr>
                </a:tc>
              </a:tr>
            </a:tbl>
          </a:graphicData>
        </a:graphic>
      </p:graphicFrame>
      <p:graphicFrame>
        <p:nvGraphicFramePr>
          <p:cNvPr id="14" name="Table 13"/>
          <p:cNvGraphicFramePr>
            <a:graphicFrameLocks noGrp="1"/>
          </p:cNvGraphicFramePr>
          <p:nvPr/>
        </p:nvGraphicFramePr>
        <p:xfrm>
          <a:off x="1785600" y="2771996"/>
          <a:ext cx="5396400" cy="755997"/>
        </p:xfrm>
        <a:graphic>
          <a:graphicData uri="http://schemas.openxmlformats.org/drawingml/2006/table">
            <a:tbl>
              <a:tblPr firstRow="1" bandRow="1">
                <a:tableStyleId>{5C22544A-7EE6-4342-B048-85BDC9FD1C3A}</a:tableStyleId>
              </a:tblPr>
              <a:tblGrid>
                <a:gridCol w="4255200"/>
                <a:gridCol w="1141200"/>
              </a:tblGrid>
              <a:tr h="188999">
                <a:tc>
                  <a:txBody>
                    <a:bodyPr/>
                    <a:lstStyle/>
                    <a:p>
                      <a:pPr algn="ctr">
                        <a:defRPr b="1" sz="1000">
                          <a:solidFill>
                            <a:srgbClr val="FFFFFF"/>
                          </a:solidFill>
                          <a:latin typeface="Montserrat"/>
                        </a:defRPr>
                      </a:pPr>
                      <a:r>
                        <a:t>Obras de Conservación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188999">
                <a:tc>
                  <a:txBody>
                    <a:bodyPr/>
                    <a:lstStyle/>
                    <a:p>
                      <a:pPr algn="l">
                        <a:lnSpc>
                          <a:spcPct val="100000"/>
                        </a:lnSpc>
                      </a:pPr>
                      <a:r>
                        <a:rPr sz="1000">
                          <a:latin typeface="Montserrat"/>
                        </a:rPr>
                        <a:t>Mantenimiento de infraestructura (PAO 2026)</a:t>
                      </a:r>
                    </a:p>
                  </a:txBody>
                  <a:tcPr marL="3600" marR="3600" marT="3600" marB="3600">
                    <a:solidFill>
                      <a:srgbClr val="FFFFFF"/>
                    </a:solidFill>
                  </a:tcPr>
                </a:tc>
                <a:tc>
                  <a:txBody>
                    <a:bodyPr/>
                    <a:lstStyle/>
                    <a:p>
                      <a:pPr algn="ctr">
                        <a:lnSpc>
                          <a:spcPct val="100000"/>
                        </a:lnSpc>
                      </a:pPr>
                      <a:r>
                        <a:rPr sz="1000">
                          <a:latin typeface="Montserrat"/>
                        </a:rPr>
                        <a:t>$118.7</a:t>
                      </a:r>
                    </a:p>
                  </a:txBody>
                  <a:tcPr marL="3600" marR="3600" marT="3600" marB="3600">
                    <a:solidFill>
                      <a:srgbClr val="FFFFFF"/>
                    </a:solidFill>
                  </a:tcPr>
                </a:tc>
              </a:tr>
              <a:tr h="188999">
                <a:tc>
                  <a:txBody>
                    <a:bodyPr/>
                    <a:lstStyle/>
                    <a:p>
                      <a:pPr algn="l">
                        <a:lnSpc>
                          <a:spcPct val="100000"/>
                        </a:lnSpc>
                      </a:pPr>
                      <a:r>
                        <a:rPr sz="1000">
                          <a:latin typeface="Montserrat"/>
                        </a:rPr>
                        <a:t>Fortalecimiento de UCIN en HGZ 1 Zacatecas</a:t>
                      </a:r>
                    </a:p>
                  </a:txBody>
                  <a:tcPr marL="3600" marR="3600" marT="3600" marB="3600">
                    <a:solidFill>
                      <a:srgbClr val="D9D9D9"/>
                    </a:solidFill>
                  </a:tcPr>
                </a:tc>
                <a:tc>
                  <a:txBody>
                    <a:bodyPr/>
                    <a:lstStyle/>
                    <a:p>
                      <a:pPr algn="ctr">
                        <a:lnSpc>
                          <a:spcPct val="100000"/>
                        </a:lnSpc>
                      </a:pPr>
                      <a:r>
                        <a:rPr sz="1000">
                          <a:latin typeface="Montserrat"/>
                        </a:rPr>
                        <a:t>$0.0</a:t>
                      </a:r>
                    </a:p>
                  </a:txBody>
                  <a:tcPr marL="3600" marR="3600" marT="3600" marB="3600">
                    <a:solidFill>
                      <a:srgbClr val="D9D9D9"/>
                    </a:solidFill>
                  </a:tcPr>
                </a:tc>
              </a:tr>
              <a:tr h="189000">
                <a:tc>
                  <a:txBody>
                    <a:bodyPr/>
                    <a:lstStyle/>
                    <a:p>
                      <a:pPr algn="l">
                        <a:lnSpc>
                          <a:spcPct val="100000"/>
                        </a:lnSpc>
                        <a:defRPr sz="900" b="1">
                          <a:solidFill>
                            <a:srgbClr val="FFFFFF"/>
                          </a:solidFill>
                          <a:latin typeface="Montserrat"/>
                        </a:defRPr>
                      </a:pPr>
                      <a:r>
                        <a:t>Subtotal</a:t>
                      </a:r>
                    </a:p>
                  </a:txBody>
                  <a:tcPr marL="3600" marR="3600" marT="3600" marB="3600">
                    <a:solidFill>
                      <a:srgbClr val="9F2241"/>
                    </a:solidFill>
                  </a:tcPr>
                </a:tc>
                <a:tc>
                  <a:txBody>
                    <a:bodyPr/>
                    <a:lstStyle/>
                    <a:p>
                      <a:pPr algn="ctr">
                        <a:lnSpc>
                          <a:spcPct val="100000"/>
                        </a:lnSpc>
                        <a:defRPr sz="900" b="1">
                          <a:solidFill>
                            <a:srgbClr val="FFFFFF"/>
                          </a:solidFill>
                          <a:latin typeface="Montserrat"/>
                        </a:defRPr>
                      </a:pPr>
                      <a:r>
                        <a:t>$118.7</a:t>
                      </a:r>
                    </a:p>
                  </a:txBody>
                  <a:tcPr marL="3600" marR="3600" marT="3600" marB="3600">
                    <a:solidFill>
                      <a:srgbClr val="9F2241"/>
                    </a:solidFill>
                  </a:tcPr>
                </a:tc>
              </a:tr>
            </a:tbl>
          </a:graphicData>
        </a:graphic>
      </p:graphicFrame>
      <p:graphicFrame>
        <p:nvGraphicFramePr>
          <p:cNvPr id="15" name="Table 14"/>
          <p:cNvGraphicFramePr>
            <a:graphicFrameLocks noGrp="1"/>
          </p:cNvGraphicFramePr>
          <p:nvPr/>
        </p:nvGraphicFramePr>
        <p:xfrm>
          <a:off x="1785600" y="3707993"/>
          <a:ext cx="5396400" cy="1007996"/>
        </p:xfrm>
        <a:graphic>
          <a:graphicData uri="http://schemas.openxmlformats.org/drawingml/2006/table">
            <a:tbl>
              <a:tblPr firstRow="1" bandRow="1">
                <a:tableStyleId>{5C22544A-7EE6-4342-B048-85BDC9FD1C3A}</a:tableStyleId>
              </a:tblPr>
              <a:tblGrid>
                <a:gridCol w="4255200"/>
                <a:gridCol w="1141200"/>
              </a:tblGrid>
              <a:tr h="503998">
                <a:tc>
                  <a:txBody>
                    <a:bodyPr/>
                    <a:lstStyle/>
                    <a:p>
                      <a:pPr algn="ctr">
                        <a:defRPr b="1" sz="1000">
                          <a:solidFill>
                            <a:srgbClr val="FFFFFF"/>
                          </a:solidFill>
                          <a:latin typeface="Montserrat"/>
                        </a:defRPr>
                      </a:pPr>
                      <a:r>
                        <a:t>Equipamiento Electromecánico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503998">
                <a:tc>
                  <a:txBody>
                    <a:bodyPr/>
                    <a:lstStyle/>
                    <a:p>
                      <a:pPr algn="l">
                        <a:lnSpc>
                          <a:spcPct val="100000"/>
                        </a:lnSpc>
                      </a:pPr>
                      <a:r>
                        <a:rPr sz="1000">
                          <a:latin typeface="Montserrat"/>
                        </a:rPr>
                        <a:t>13 Equipos electromecánicos para 2 unidades Médicas; 1 elevador, 6 equipos para casa de máquinas, 3 lavadoras y 3 secadoras. Zacatecas</a:t>
                      </a:r>
                    </a:p>
                  </a:txBody>
                  <a:tcPr marL="3600" marR="3600" marT="3600" marB="3600">
                    <a:solidFill>
                      <a:srgbClr val="FFFFFF"/>
                    </a:solidFill>
                  </a:tcPr>
                </a:tc>
                <a:tc>
                  <a:txBody>
                    <a:bodyPr/>
                    <a:lstStyle/>
                    <a:p>
                      <a:pPr algn="ctr">
                        <a:lnSpc>
                          <a:spcPct val="100000"/>
                        </a:lnSpc>
                      </a:pPr>
                      <a:r>
                        <a:rPr sz="1000">
                          <a:latin typeface="Montserrat"/>
                        </a:rPr>
                        <a:t>$64.8</a:t>
                      </a:r>
                    </a:p>
                  </a:txBody>
                  <a:tcPr marL="3600" marR="3600" marT="3600" marB="3600">
                    <a:solidFill>
                      <a:srgbClr val="FFFFFF"/>
                    </a:solidFill>
                  </a:tcPr>
                </a:tc>
              </a:tr>
            </a:tbl>
          </a:graphicData>
        </a:graphic>
      </p:graphicFrame>
      <p:sp>
        <p:nvSpPr>
          <p:cNvPr id="16" name="TextBox 15"/>
          <p:cNvSpPr txBox="1"/>
          <p:nvPr/>
        </p:nvSpPr>
        <p:spPr>
          <a:xfrm>
            <a:off x="5781600" y="878400"/>
            <a:ext cx="1306800" cy="338400"/>
          </a:xfrm>
          <a:prstGeom prst="rect">
            <a:avLst/>
          </a:prstGeom>
          <a:noFill/>
        </p:spPr>
        <p:txBody>
          <a:bodyPr wrap="none">
            <a:spAutoFit/>
          </a:bodyPr>
          <a:lstStyle/>
          <a:p>
            <a:pPr algn="ctr">
              <a:defRPr sz="1400" b="1">
                <a:solidFill>
                  <a:srgbClr val="FFFFFF"/>
                </a:solidFill>
                <a:latin typeface="Montserrat"/>
              </a:defRPr>
            </a:pPr>
            <a:r>
              <a:t>3,270.0</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64733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FE744575-7751-A208-3347-5F7CBAC2C786}"/>
            </a:ext>
          </a:extLst>
        </p:cNvPr>
        <p:cNvGrpSpPr/>
        <p:nvPr/>
      </p:nvGrpSpPr>
      <p:grpSpPr>
        <a:xfrm>
          <a:off x="0" y="0"/>
          <a:ext cx="0" cy="0"/>
          <a:chOff x="0" y="0"/>
          <a:chExt cx="0" cy="0"/>
        </a:xfrm>
      </p:grpSpPr>
      <p:pic>
        <p:nvPicPr>
          <p:cNvPr id="7" name="Google Shape;551;g3d0ffe769cd_0_0">
            <a:extLst>
              <a:ext uri="{FF2B5EF4-FFF2-40B4-BE49-F238E27FC236}">
                <a16:creationId xmlns:a16="http://schemas.microsoft.com/office/drawing/2014/main" id="{5BD5C9B2-AB8A-FA14-D2D6-EBEB470169FF}"/>
              </a:ext>
            </a:extLst>
          </p:cNvPr>
          <p:cNvPicPr preferRelativeResize="0"/>
          <p:nvPr/>
        </p:nvPicPr>
        <p:blipFill rotWithShape="1">
          <a:blip r:embed="rId4">
            <a:alphaModFix/>
          </a:blip>
          <a:srcRect l="382" t="14684" r="1598" b="17771"/>
          <a:stretch/>
        </p:blipFill>
        <p:spPr>
          <a:xfrm>
            <a:off x="230902" y="5977920"/>
            <a:ext cx="7368300" cy="2862900"/>
          </a:xfrm>
          <a:prstGeom prst="rect">
            <a:avLst/>
          </a:prstGeom>
          <a:noFill/>
          <a:ln>
            <a:noFill/>
          </a:ln>
        </p:spPr>
      </p:pic>
      <p:graphicFrame>
        <p:nvGraphicFramePr>
          <p:cNvPr id="2" name="Google Shape;394;p15">
            <a:extLst>
              <a:ext uri="{FF2B5EF4-FFF2-40B4-BE49-F238E27FC236}">
                <a16:creationId xmlns:a16="http://schemas.microsoft.com/office/drawing/2014/main" id="{57BAAA0D-10FB-75CD-3071-B491398A053A}"/>
              </a:ext>
            </a:extLst>
          </p:cNvPr>
          <p:cNvGraphicFramePr/>
          <p:nvPr/>
        </p:nvGraphicFramePr>
        <p:xfrm>
          <a:off x="287700" y="11592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en planeación</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4" name="Google Shape;559;g3d0ffe769cd_0_0">
            <a:extLst>
              <a:ext uri="{FF2B5EF4-FFF2-40B4-BE49-F238E27FC236}">
                <a16:creationId xmlns:a16="http://schemas.microsoft.com/office/drawing/2014/main" id="{74EA239F-AD11-6BB6-2B07-15FDA93930A1}"/>
              </a:ext>
            </a:extLst>
          </p:cNvPr>
          <p:cNvGraphicFramePr/>
          <p:nvPr/>
        </p:nvGraphicFramePr>
        <p:xfrm>
          <a:off x="147600" y="5029200"/>
          <a:ext cx="7474250" cy="381000"/>
        </p:xfrm>
        <a:graphic>
          <a:graphicData uri="http://schemas.openxmlformats.org/drawingml/2006/table">
            <a:tbl>
              <a:tblPr>
                <a:noFill/>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A42145"/>
                          </a:solidFill>
                          <a:latin typeface="Montserrat"/>
                          <a:ea typeface="Montserrat"/>
                          <a:cs typeface="Montserrat"/>
                          <a:sym typeface="Montserrat"/>
                        </a:rPr>
                        <a:t>Propuestas </a:t>
                      </a:r>
                      <a:r>
                        <a:rPr lang="es" sz="2100" b="1" dirty="0">
                          <a:solidFill>
                            <a:srgbClr val="A42145"/>
                          </a:solidFill>
                          <a:latin typeface="Montserrat"/>
                          <a:ea typeface="Montserrat"/>
                          <a:cs typeface="Montserrat"/>
                          <a:sym typeface="Montserrat"/>
                        </a:rPr>
                        <a:t>en</a:t>
                      </a:r>
                      <a:r>
                        <a:rPr lang="es" sz="2100" b="1" u="none" strike="noStrike" cap="none" dirty="0">
                          <a:solidFill>
                            <a:srgbClr val="A42145"/>
                          </a:solidFill>
                          <a:latin typeface="Montserrat"/>
                          <a:ea typeface="Montserrat"/>
                          <a:cs typeface="Montserrat"/>
                          <a:sym typeface="Montserrat"/>
                        </a:rPr>
                        <a:t> valoración</a:t>
                      </a:r>
                      <a:endParaRPr sz="2100" b="1" u="none" strike="noStrike" cap="none" dirty="0">
                        <a:solidFill>
                          <a:srgbClr val="A42145"/>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A4214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6" name="Google Shape;552;g3d0ffe769cd_0_0">
            <a:extLst>
              <a:ext uri="{FF2B5EF4-FFF2-40B4-BE49-F238E27FC236}">
                <a16:creationId xmlns:a16="http://schemas.microsoft.com/office/drawing/2014/main" id="{1CFCE444-12DD-D109-A796-7924C33A5D14}"/>
              </a:ext>
            </a:extLst>
          </p:cNvPr>
          <p:cNvSpPr/>
          <p:nvPr/>
        </p:nvSpPr>
        <p:spPr>
          <a:xfrm>
            <a:off x="234692" y="6000034"/>
            <a:ext cx="7338300" cy="2862900"/>
          </a:xfrm>
          <a:prstGeom prst="rect">
            <a:avLst/>
          </a:prstGeom>
          <a:solidFill>
            <a:srgbClr val="000000">
              <a:alpha val="49800"/>
            </a:srgbClr>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 name="Google Shape;556;g3d0ffe769cd_0_0">
            <a:extLst>
              <a:ext uri="{FF2B5EF4-FFF2-40B4-BE49-F238E27FC236}">
                <a16:creationId xmlns:a16="http://schemas.microsoft.com/office/drawing/2014/main" id="{7A6658D4-29D8-8663-D2C5-74863CD96596}"/>
              </a:ext>
            </a:extLst>
          </p:cNvPr>
          <p:cNvSpPr/>
          <p:nvPr/>
        </p:nvSpPr>
        <p:spPr>
          <a:xfrm>
            <a:off x="852084" y="6140331"/>
            <a:ext cx="893727" cy="769171"/>
          </a:xfrm>
          <a:prstGeom prst="ellipse">
            <a:avLst/>
          </a:prstGeom>
          <a:gradFill>
            <a:gsLst>
              <a:gs pos="0">
                <a:srgbClr val="714B8D"/>
              </a:gs>
              <a:gs pos="100000">
                <a:srgbClr val="B395BA"/>
              </a:gs>
            </a:gsLst>
            <a:lin ang="10801400"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1" name="Google Shape;553;g3d0ffe769cd_0_0">
            <a:extLst>
              <a:ext uri="{FF2B5EF4-FFF2-40B4-BE49-F238E27FC236}">
                <a16:creationId xmlns:a16="http://schemas.microsoft.com/office/drawing/2014/main" id="{C2E1F9A0-4911-B1FF-D485-66518A66B9A6}"/>
              </a:ext>
            </a:extLst>
          </p:cNvPr>
          <p:cNvSpPr/>
          <p:nvPr/>
        </p:nvSpPr>
        <p:spPr>
          <a:xfrm>
            <a:off x="290798" y="6906978"/>
            <a:ext cx="2016300" cy="585600"/>
          </a:xfrm>
          <a:prstGeom prst="roundRect">
            <a:avLst>
              <a:gd name="adj" fmla="val 16667"/>
            </a:avLst>
          </a:prstGeom>
          <a:gradFill>
            <a:gsLst>
              <a:gs pos="0">
                <a:srgbClr val="714B8D"/>
              </a:gs>
              <a:gs pos="100000">
                <a:srgbClr val="B395BA"/>
              </a:gs>
            </a:gsLst>
            <a:lin ang="10800025" scaled="0"/>
          </a:gradFill>
          <a:ln>
            <a:noFill/>
          </a:ln>
        </p:spPr>
        <p:txBody>
          <a:bodyPr spcFirstLastPara="1" wrap="square" lIns="0" tIns="0" rIns="0" bIns="0" anchor="ctr" anchorCtr="0">
            <a:noAutofit/>
          </a:bodyPr>
          <a:lstStyle/>
          <a:p>
            <a:pPr marL="482600" marR="0" lvl="0" indent="-482600" algn="ctr" defTabSz="914400" rtl="0" eaLnBrk="1" fontAlgn="auto" latinLnBrk="0" hangingPunct="1">
              <a:lnSpc>
                <a:spcPct val="102000"/>
              </a:lnSpc>
              <a:spcBef>
                <a:spcPts val="0"/>
              </a:spcBef>
              <a:spcAft>
                <a:spcPts val="0"/>
              </a:spcAft>
              <a:buClr>
                <a:srgbClr val="000000"/>
              </a:buClr>
              <a:buSzPts val="1100"/>
              <a:buFont typeface="Arial"/>
              <a:buNone/>
              <a:tabLst/>
              <a:defRPr/>
            </a:pPr>
            <a:endParaRPr kumimoji="0" sz="15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2" name="Google Shape;554;g3d0ffe769cd_0_0">
            <a:extLst>
              <a:ext uri="{FF2B5EF4-FFF2-40B4-BE49-F238E27FC236}">
                <a16:creationId xmlns:a16="http://schemas.microsoft.com/office/drawing/2014/main" id="{6C0AF4EA-FBE1-4238-8146-A4C96C7D760B}"/>
              </a:ext>
            </a:extLst>
          </p:cNvPr>
          <p:cNvSpPr txBox="1"/>
          <p:nvPr/>
        </p:nvSpPr>
        <p:spPr>
          <a:xfrm>
            <a:off x="276701" y="7497965"/>
            <a:ext cx="19650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2025-2030</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8" name="Google Shape;562;g3d0ffe769cd_0_0">
            <a:extLst>
              <a:ext uri="{FF2B5EF4-FFF2-40B4-BE49-F238E27FC236}">
                <a16:creationId xmlns:a16="http://schemas.microsoft.com/office/drawing/2014/main" id="{D407F8E2-D0BB-FA42-30DC-AD7126C10878}"/>
              </a:ext>
            </a:extLst>
          </p:cNvPr>
          <p:cNvSpPr txBox="1"/>
          <p:nvPr/>
        </p:nvSpPr>
        <p:spPr>
          <a:xfrm rot="16200000">
            <a:off x="1958850" y="7286400"/>
            <a:ext cx="16596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2026</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9" name="TextBox 1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graphicFrame>
        <p:nvGraphicFramePr>
          <p:cNvPr id="20" name="Table 19"/>
          <p:cNvGraphicFramePr>
            <a:graphicFrameLocks noGrp="1"/>
          </p:cNvGraphicFramePr>
          <p:nvPr/>
        </p:nvGraphicFramePr>
        <p:xfrm>
          <a:off x="691200" y="1584000"/>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Infraestructura</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a:txBody>
                    <a:bodyPr/>
                    <a:lstStyle/>
                    <a:p>
                      <a:pPr algn="l">
                        <a:defRPr sz="1000">
                          <a:latin typeface="Montserrat"/>
                        </a:defRPr>
                      </a:pPr>
                      <a:r>
                        <a:t>Hospital Rural Fresnillo</a:t>
                      </a:r>
                    </a:p>
                  </a:txBody>
                  <a:tcPr>
                    <a:solidFill>
                      <a:srgbClr val="FFFFFF"/>
                    </a:solidFill>
                  </a:tcPr>
                </a:tc>
                <a:tc>
                  <a:txBody>
                    <a:bodyPr/>
                    <a:lstStyle/>
                    <a:p>
                      <a:pPr algn="ctr">
                        <a:defRPr sz="1000">
                          <a:latin typeface="Montserrat"/>
                        </a:defRPr>
                      </a:pPr>
                      <a:r>
                        <a:t>$40.0</a:t>
                      </a:r>
                    </a:p>
                  </a:txBody>
                  <a:tcPr>
                    <a:solidFill>
                      <a:srgbClr val="FFFFFF"/>
                    </a:solidFill>
                  </a:tcPr>
                </a:tc>
              </a:tr>
            </a:tbl>
          </a:graphicData>
        </a:graphic>
      </p:graphicFrame>
      <p:graphicFrame>
        <p:nvGraphicFramePr>
          <p:cNvPr id="21" name="Table 20"/>
          <p:cNvGraphicFramePr>
            <a:graphicFrameLocks noGrp="1"/>
          </p:cNvGraphicFramePr>
          <p:nvPr/>
        </p:nvGraphicFramePr>
        <p:xfrm>
          <a:off x="691200" y="2267998"/>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Conservación</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2" name="Table 21"/>
          <p:cNvGraphicFramePr>
            <a:graphicFrameLocks noGrp="1"/>
          </p:cNvGraphicFramePr>
          <p:nvPr/>
        </p:nvGraphicFramePr>
        <p:xfrm>
          <a:off x="691200" y="2951996"/>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Equipo Médico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3" name="Table 22"/>
          <p:cNvGraphicFramePr>
            <a:graphicFrameLocks noGrp="1"/>
          </p:cNvGraphicFramePr>
          <p:nvPr/>
        </p:nvGraphicFramePr>
        <p:xfrm>
          <a:off x="691200" y="3635994"/>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Equipamiento Electromecánico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sp>
        <p:nvSpPr>
          <p:cNvPr id="24" name="TextBox 23"/>
          <p:cNvSpPr txBox="1"/>
          <p:nvPr/>
        </p:nvSpPr>
        <p:spPr>
          <a:xfrm>
            <a:off x="5936399" y="1018800"/>
            <a:ext cx="1306800" cy="338400"/>
          </a:xfrm>
          <a:prstGeom prst="rect">
            <a:avLst/>
          </a:prstGeom>
          <a:noFill/>
        </p:spPr>
        <p:txBody>
          <a:bodyPr wrap="none">
            <a:spAutoFit/>
          </a:bodyPr>
          <a:lstStyle/>
          <a:p>
            <a:pPr algn="ctr">
              <a:defRPr sz="1400" b="1">
                <a:solidFill>
                  <a:srgbClr val="FFFFFF"/>
                </a:solidFill>
                <a:latin typeface="Montserrat"/>
              </a:defRPr>
            </a:pPr>
            <a:r>
              <a:t>40.0 mdp</a:t>
            </a:r>
          </a:p>
        </p:txBody>
      </p:sp>
      <p:graphicFrame>
        <p:nvGraphicFramePr>
          <p:cNvPr id="25" name="Table 24"/>
          <p:cNvGraphicFramePr>
            <a:graphicFrameLocks noGrp="1"/>
          </p:cNvGraphicFramePr>
          <p:nvPr/>
        </p:nvGraphicFramePr>
        <p:xfrm>
          <a:off x="2552400" y="6141600"/>
          <a:ext cx="4928400" cy="1861200"/>
        </p:xfrm>
        <a:graphic>
          <a:graphicData uri="http://schemas.openxmlformats.org/drawingml/2006/table">
            <a:tbl>
              <a:tblPr firstRow="1" bandRow="1">
                <a:tableStyleId>{5C22544A-7EE6-4342-B048-85BDC9FD1C3A}</a:tableStyleId>
              </a:tblPr>
              <a:tblGrid>
                <a:gridCol w="471600"/>
                <a:gridCol w="1828800"/>
                <a:gridCol w="2628000"/>
              </a:tblGrid>
              <a:tr h="465300">
                <a:tc gridSpan="3">
                  <a:txBody>
                    <a:bodyPr/>
                    <a:lstStyle/>
                    <a:p>
                      <a:pPr algn="ctr">
                        <a:defRPr sz="1400" b="1">
                          <a:solidFill>
                            <a:srgbClr val="FFFFFF"/>
                          </a:solidFill>
                          <a:latin typeface="Montserrat"/>
                        </a:defRPr>
                      </a:pPr>
                      <a:r>
                        <a:t>4 Predios en ruta 2026</a:t>
                      </a:r>
                    </a:p>
                  </a:txBody>
                  <a:tcPr marL="72000" marR="72000" anchor="ctr">
                    <a:solidFill>
                      <a:srgbClr val="705085"/>
                    </a:solidFill>
                  </a:tcPr>
                </a:tc>
                <a:tc hMerge="1">
                  <a:txBody>
                    <a:bodyPr/>
                    <a:lstStyle/>
                    <a:p/>
                  </a:txBody>
                  <a:tcPr marL="72000" marR="72000" anchor="ctr"/>
                </a:tc>
                <a:tc hMerge="1">
                  <a:txBody>
                    <a:bodyPr/>
                    <a:lstStyle/>
                    <a:p/>
                  </a:txBody>
                  <a:tcPr marL="72000" marR="72000" anchor="ctr"/>
                </a:tc>
              </a:tr>
              <a:tr h="465300">
                <a:tc gridSpan="2">
                  <a:txBody>
                    <a:bodyPr/>
                    <a:lstStyle/>
                    <a:p>
                      <a:pPr algn="ctr">
                        <a:defRPr sz="1200" b="1">
                          <a:solidFill>
                            <a:srgbClr val="FFFFFF"/>
                          </a:solidFill>
                          <a:latin typeface="Montserrat"/>
                        </a:defRPr>
                      </a:pPr>
                      <a:r>
                        <a:t>Estatus terrenos ¹</a:t>
                      </a:r>
                    </a:p>
                  </a:txBody>
                  <a:tcPr marL="72000" marR="72000" anchor="ctr">
                    <a:solidFill>
                      <a:srgbClr val="705085"/>
                    </a:solidFill>
                  </a:tcPr>
                </a:tc>
                <a:tc hMerge="1">
                  <a:txBody>
                    <a:bodyPr/>
                    <a:lstStyle/>
                    <a:p/>
                  </a:txBody>
                  <a:tcPr marL="72000" marR="72000" anchor="ctr"/>
                </a:tc>
                <a:tc>
                  <a:txBody>
                    <a:bodyPr/>
                    <a:lstStyle/>
                    <a:p>
                      <a:pPr algn="ctr">
                        <a:defRPr sz="1200" b="1">
                          <a:solidFill>
                            <a:srgbClr val="FFFFFF"/>
                          </a:solidFill>
                          <a:latin typeface="Montserrat"/>
                        </a:defRPr>
                      </a:pPr>
                      <a:r>
                        <a:t>Municipios</a:t>
                      </a:r>
                    </a:p>
                  </a:txBody>
                  <a:tcPr marL="72000" marR="72000" anchor="ctr">
                    <a:solidFill>
                      <a:srgbClr val="705085"/>
                    </a:solidFill>
                  </a:tcPr>
                </a:tc>
              </a:tr>
              <a:tr h="465300">
                <a:tc rowSpan="2">
                  <a:txBody>
                    <a:bodyPr/>
                    <a:lstStyle/>
                    <a:p/>
                  </a:txBody>
                  <a:tcPr marL="72000" marR="72000" anchor="ctr">
                    <a:noFill/>
                  </a:tcPr>
                </a:tc>
                <a:tc>
                  <a:txBody>
                    <a:bodyPr/>
                    <a:lstStyle/>
                    <a:p>
                      <a:pPr algn="ctr">
                        <a:defRPr sz="1200" b="1">
                          <a:solidFill>
                            <a:srgbClr val="FFFFFF"/>
                          </a:solidFill>
                          <a:latin typeface="Montserrat"/>
                        </a:defRPr>
                      </a:pPr>
                      <a:r>
                        <a:t>2 Reserva IMSS</a:t>
                      </a:r>
                    </a:p>
                  </a:txBody>
                  <a:tcPr marL="72000" marR="72000" anchor="ctr">
                    <a:noFill/>
                  </a:tcPr>
                </a:tc>
                <a:tc>
                  <a:txBody>
                    <a:bodyPr/>
                    <a:lstStyle/>
                    <a:p>
                      <a:pPr algn="ctr">
                        <a:defRPr sz="1200" b="0">
                          <a:solidFill>
                            <a:srgbClr val="FFFFFF"/>
                          </a:solidFill>
                          <a:latin typeface="Montserrat"/>
                        </a:defRPr>
                      </a:pPr>
                      <a:r>
                        <a:t>Zacatecas, Pinos</a:t>
                      </a:r>
                    </a:p>
                  </a:txBody>
                  <a:tcPr marL="72000" marR="72000" anchor="ctr">
                    <a:noFill/>
                  </a:tcPr>
                </a:tc>
              </a:tr>
              <a:tr h="465300">
                <a:tc vMerge="1">
                  <a:txBody>
                    <a:bodyPr/>
                    <a:lstStyle/>
                    <a:p/>
                  </a:txBody>
                  <a:tcPr marL="72000" marR="72000" anchor="ctr"/>
                </a:tc>
                <a:tc>
                  <a:txBody>
                    <a:bodyPr/>
                    <a:lstStyle/>
                    <a:p>
                      <a:pPr algn="ctr">
                        <a:defRPr sz="1200" b="1">
                          <a:solidFill>
                            <a:srgbClr val="FFFFFF"/>
                          </a:solidFill>
                          <a:latin typeface="Montserrat"/>
                        </a:defRPr>
                      </a:pPr>
                      <a:r>
                        <a:t>2 Donación</a:t>
                      </a:r>
                    </a:p>
                  </a:txBody>
                  <a:tcPr marL="72000" marR="72000" anchor="ctr">
                    <a:noFill/>
                  </a:tcPr>
                </a:tc>
                <a:tc>
                  <a:txBody>
                    <a:bodyPr/>
                    <a:lstStyle/>
                    <a:p>
                      <a:pPr algn="ctr">
                        <a:defRPr sz="1200" b="0">
                          <a:solidFill>
                            <a:srgbClr val="FFFFFF"/>
                          </a:solidFill>
                          <a:latin typeface="Montserrat"/>
                        </a:defRPr>
                      </a:pPr>
                      <a:r>
                        <a:t>Sombrerete, Fresnillo</a:t>
                      </a:r>
                    </a:p>
                  </a:txBody>
                  <a:tcPr marL="72000" marR="72000" anchor="ctr">
                    <a:noFill/>
                  </a:tcPr>
                </a:tc>
              </a:tr>
            </a:tbl>
          </a:graphicData>
        </a:graphic>
      </p:graphicFrame>
      <p:sp>
        <p:nvSpPr>
          <p:cNvPr id="26" name="Oval 25"/>
          <p:cNvSpPr/>
          <p:nvPr/>
        </p:nvSpPr>
        <p:spPr>
          <a:xfrm>
            <a:off x="885600" y="6163200"/>
            <a:ext cx="810000" cy="70920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b="1" sz="2000">
                <a:solidFill>
                  <a:srgbClr val="705085"/>
                </a:solidFill>
                <a:latin typeface="Montserrat"/>
              </a:defRPr>
            </a:pPr>
            <a:r>
              <a:t>12</a:t>
            </a:r>
          </a:p>
        </p:txBody>
      </p:sp>
      <p:sp>
        <p:nvSpPr>
          <p:cNvPr id="27" name="Rectangle 26"/>
          <p:cNvSpPr/>
          <p:nvPr/>
        </p:nvSpPr>
        <p:spPr>
          <a:xfrm>
            <a:off x="363600" y="6948000"/>
            <a:ext cx="1760400" cy="5039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000" rIns="36000" tIns="36000" bIns="36000"/>
          <a:lstStyle/>
          <a:p>
            <a:pPr algn="ctr">
              <a:defRPr sz="1500" b="1">
                <a:solidFill>
                  <a:srgbClr val="FFFFFF"/>
                </a:solidFill>
                <a:latin typeface="Montserrat"/>
              </a:defRPr>
            </a:pPr>
            <a:r>
              <a:t>10 CECI IMSS</a:t>
            </a:r>
          </a:p>
          <a:p>
            <a:pPr algn="ctr">
              <a:defRPr sz="1500" b="1">
                <a:solidFill>
                  <a:srgbClr val="FFFFFF"/>
                </a:solidFill>
                <a:latin typeface="Montserrat"/>
              </a:defRPr>
            </a:pPr>
            <a:r>
              <a:t>2 CECI CAMPO</a:t>
            </a:r>
          </a:p>
        </p:txBody>
      </p:sp>
      <p:sp>
        <p:nvSpPr>
          <p:cNvPr id="28" name="TextBox 27"/>
          <p:cNvSpPr txBox="1"/>
          <p:nvPr/>
        </p:nvSpPr>
        <p:spPr>
          <a:xfrm>
            <a:off x="0" y="9273600"/>
            <a:ext cx="7574400" cy="230400"/>
          </a:xfrm>
          <a:prstGeom prst="rect">
            <a:avLst/>
          </a:prstGeom>
          <a:noFill/>
        </p:spPr>
        <p:txBody>
          <a:bodyPr wrap="square" tIns="0" bIns="0" lIns="0" rIns="0">
            <a:spAutoFit/>
          </a:bodyPr>
          <a:lstStyle/>
          <a:p>
            <a:pPr algn="l">
              <a:defRPr sz="900">
                <a:solidFill>
                  <a:srgbClr val="000000"/>
                </a:solidFill>
                <a:latin typeface="Montserrat"/>
              </a:defRPr>
            </a:pPr>
            <a:r>
              <a:t>¹ 1/Terrenos validados. Para entregar a SICT: 2 en Pinos y Zacatecas.</a:t>
            </a:r>
            <a:br/>
            <a:r>
              <a:t>En integración de expediente para donación: 2 en Sombrerete y Fresnillo.</a:t>
            </a:r>
          </a:p>
        </p:txBody>
      </p:sp>
    </p:spTree>
    <p:extLst>
      <p:ext uri="{BB962C8B-B14F-4D97-AF65-F5344CB8AC3E}">
        <p14:creationId xmlns:p14="http://schemas.microsoft.com/office/powerpoint/2010/main" val="30077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55"/>
        <p:cNvGrpSpPr/>
        <p:nvPr/>
      </p:nvGrpSpPr>
      <p:grpSpPr>
        <a:xfrm>
          <a:off x="0" y="0"/>
          <a:ext cx="0" cy="0"/>
          <a:chOff x="0" y="0"/>
          <a:chExt cx="0" cy="0"/>
        </a:xfrm>
      </p:grpSpPr>
      <p:graphicFrame>
        <p:nvGraphicFramePr>
          <p:cNvPr id="457" name="Google Shape;457;p16"/>
          <p:cNvGraphicFramePr/>
          <p:nvPr/>
        </p:nvGraphicFramePr>
        <p:xfrm>
          <a:off x="287700" y="118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Infraestructura de prestaciones sociales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58" name="Google Shape;458;p16"/>
          <p:cNvPicPr preferRelativeResize="0"/>
          <p:nvPr/>
        </p:nvPicPr>
        <p:blipFill rotWithShape="1">
          <a:blip r:embed="rId4">
            <a:alphaModFix/>
          </a:blip>
          <a:srcRect/>
          <a:stretch/>
        </p:blipFill>
        <p:spPr>
          <a:xfrm>
            <a:off x="576200" y="3011565"/>
            <a:ext cx="1405326" cy="1233273"/>
          </a:xfrm>
          <a:prstGeom prst="rect">
            <a:avLst/>
          </a:prstGeom>
          <a:noFill/>
          <a:ln>
            <a:noFill/>
          </a:ln>
        </p:spPr>
      </p:pic>
      <p:pic>
        <p:nvPicPr>
          <p:cNvPr id="459" name="Google Shape;459;p16"/>
          <p:cNvPicPr preferRelativeResize="0"/>
          <p:nvPr/>
        </p:nvPicPr>
        <p:blipFill rotWithShape="1">
          <a:blip r:embed="rId5">
            <a:alphaModFix/>
          </a:blip>
          <a:srcRect/>
          <a:stretch/>
        </p:blipFill>
        <p:spPr>
          <a:xfrm>
            <a:off x="815540" y="4913783"/>
            <a:ext cx="926657" cy="813175"/>
          </a:xfrm>
          <a:prstGeom prst="rect">
            <a:avLst/>
          </a:prstGeom>
          <a:noFill/>
          <a:ln>
            <a:noFill/>
          </a:ln>
        </p:spPr>
      </p:pic>
      <p:sp>
        <p:nvSpPr>
          <p:cNvPr id="460" name="Google Shape;460;p16"/>
          <p:cNvSpPr/>
          <p:nvPr/>
        </p:nvSpPr>
        <p:spPr>
          <a:xfrm>
            <a:off x="866642" y="1681836"/>
            <a:ext cx="822964" cy="738609"/>
          </a:xfrm>
          <a:custGeom>
            <a:avLst/>
            <a:gdLst/>
            <a:ahLst/>
            <a:cxnLst/>
            <a:rect l="l" t="t" r="r" b="b"/>
            <a:pathLst>
              <a:path w="1146988" h="1029420" extrusionOk="0">
                <a:moveTo>
                  <a:pt x="71580" y="796949"/>
                </a:moveTo>
                <a:lnTo>
                  <a:pt x="248013" y="898518"/>
                </a:lnTo>
                <a:lnTo>
                  <a:pt x="169866" y="661669"/>
                </a:lnTo>
                <a:lnTo>
                  <a:pt x="71580" y="796949"/>
                </a:lnTo>
                <a:close/>
                <a:moveTo>
                  <a:pt x="1145278" y="451745"/>
                </a:moveTo>
                <a:cubicBezTo>
                  <a:pt x="1119886" y="347331"/>
                  <a:pt x="1094275" y="243135"/>
                  <a:pt x="1068664" y="138939"/>
                </a:cubicBezTo>
                <a:cubicBezTo>
                  <a:pt x="1064505" y="122084"/>
                  <a:pt x="1054216" y="110263"/>
                  <a:pt x="1037799" y="105229"/>
                </a:cubicBezTo>
                <a:cubicBezTo>
                  <a:pt x="928131" y="70862"/>
                  <a:pt x="818463" y="36495"/>
                  <a:pt x="708794" y="2565"/>
                </a:cubicBezTo>
                <a:cubicBezTo>
                  <a:pt x="691720" y="-2688"/>
                  <a:pt x="675522" y="-62"/>
                  <a:pt x="661512" y="12197"/>
                </a:cubicBezTo>
                <a:cubicBezTo>
                  <a:pt x="580957" y="83339"/>
                  <a:pt x="500403" y="154481"/>
                  <a:pt x="420067" y="225842"/>
                </a:cubicBezTo>
                <a:cubicBezTo>
                  <a:pt x="405619" y="238757"/>
                  <a:pt x="400585" y="254956"/>
                  <a:pt x="405619" y="274000"/>
                </a:cubicBezTo>
                <a:cubicBezTo>
                  <a:pt x="407589" y="281880"/>
                  <a:pt x="409341" y="289760"/>
                  <a:pt x="411968" y="300486"/>
                </a:cubicBezTo>
                <a:cubicBezTo>
                  <a:pt x="389202" y="286696"/>
                  <a:pt x="369501" y="274875"/>
                  <a:pt x="349800" y="263055"/>
                </a:cubicBezTo>
                <a:cubicBezTo>
                  <a:pt x="332507" y="252548"/>
                  <a:pt x="315433" y="252767"/>
                  <a:pt x="298359" y="263055"/>
                </a:cubicBezTo>
                <a:cubicBezTo>
                  <a:pt x="207297" y="318217"/>
                  <a:pt x="116017" y="373380"/>
                  <a:pt x="24736" y="428323"/>
                </a:cubicBezTo>
                <a:cubicBezTo>
                  <a:pt x="8099" y="438393"/>
                  <a:pt x="0" y="452621"/>
                  <a:pt x="0" y="472322"/>
                </a:cubicBezTo>
                <a:cubicBezTo>
                  <a:pt x="219" y="585493"/>
                  <a:pt x="219" y="698882"/>
                  <a:pt x="0" y="812053"/>
                </a:cubicBezTo>
                <a:cubicBezTo>
                  <a:pt x="0" y="832191"/>
                  <a:pt x="7881" y="846858"/>
                  <a:pt x="25174" y="857146"/>
                </a:cubicBezTo>
                <a:cubicBezTo>
                  <a:pt x="115360" y="911433"/>
                  <a:pt x="205327" y="965720"/>
                  <a:pt x="295295" y="1020444"/>
                </a:cubicBezTo>
                <a:cubicBezTo>
                  <a:pt x="314776" y="1032265"/>
                  <a:pt x="332945" y="1032484"/>
                  <a:pt x="352646" y="1020663"/>
                </a:cubicBezTo>
                <a:cubicBezTo>
                  <a:pt x="440643" y="967252"/>
                  <a:pt x="528641" y="913622"/>
                  <a:pt x="617295" y="861086"/>
                </a:cubicBezTo>
                <a:cubicBezTo>
                  <a:pt x="639622" y="847733"/>
                  <a:pt x="649473" y="830440"/>
                  <a:pt x="648816" y="804391"/>
                </a:cubicBezTo>
                <a:cubicBezTo>
                  <a:pt x="647721" y="757766"/>
                  <a:pt x="648378" y="711141"/>
                  <a:pt x="648378" y="663202"/>
                </a:cubicBezTo>
                <a:cubicBezTo>
                  <a:pt x="653632" y="664734"/>
                  <a:pt x="657791" y="665828"/>
                  <a:pt x="661731" y="667142"/>
                </a:cubicBezTo>
                <a:cubicBezTo>
                  <a:pt x="721052" y="685748"/>
                  <a:pt x="780375" y="704136"/>
                  <a:pt x="839477" y="722961"/>
                </a:cubicBezTo>
                <a:cubicBezTo>
                  <a:pt x="857864" y="728871"/>
                  <a:pt x="874501" y="726901"/>
                  <a:pt x="889167" y="713986"/>
                </a:cubicBezTo>
                <a:cubicBezTo>
                  <a:pt x="969722" y="642844"/>
                  <a:pt x="1050057" y="571702"/>
                  <a:pt x="1130612" y="500341"/>
                </a:cubicBezTo>
                <a:cubicBezTo>
                  <a:pt x="1145278" y="486988"/>
                  <a:pt x="1149875" y="470571"/>
                  <a:pt x="1145278" y="451745"/>
                </a:cubicBezTo>
                <a:close/>
                <a:moveTo>
                  <a:pt x="484423" y="212489"/>
                </a:moveTo>
                <a:cubicBezTo>
                  <a:pt x="548560" y="155576"/>
                  <a:pt x="612916" y="99100"/>
                  <a:pt x="676835" y="41748"/>
                </a:cubicBezTo>
                <a:cubicBezTo>
                  <a:pt x="686467" y="33211"/>
                  <a:pt x="694785" y="31679"/>
                  <a:pt x="706824" y="35619"/>
                </a:cubicBezTo>
                <a:cubicBezTo>
                  <a:pt x="793946" y="63419"/>
                  <a:pt x="881287" y="90563"/>
                  <a:pt x="968408" y="117706"/>
                </a:cubicBezTo>
                <a:cubicBezTo>
                  <a:pt x="972568" y="119019"/>
                  <a:pt x="976726" y="120552"/>
                  <a:pt x="983293" y="122741"/>
                </a:cubicBezTo>
                <a:cubicBezTo>
                  <a:pt x="953304" y="149227"/>
                  <a:pt x="925504" y="173744"/>
                  <a:pt x="897704" y="198480"/>
                </a:cubicBezTo>
                <a:cubicBezTo>
                  <a:pt x="848452" y="242040"/>
                  <a:pt x="799419" y="285601"/>
                  <a:pt x="749728" y="328943"/>
                </a:cubicBezTo>
                <a:cubicBezTo>
                  <a:pt x="746445" y="331789"/>
                  <a:pt x="739878" y="334197"/>
                  <a:pt x="736157" y="332884"/>
                </a:cubicBezTo>
                <a:cubicBezTo>
                  <a:pt x="642030" y="303770"/>
                  <a:pt x="548123" y="274219"/>
                  <a:pt x="453996" y="244886"/>
                </a:cubicBezTo>
                <a:cubicBezTo>
                  <a:pt x="453340" y="244667"/>
                  <a:pt x="452683" y="243792"/>
                  <a:pt x="451151" y="242259"/>
                </a:cubicBezTo>
                <a:cubicBezTo>
                  <a:pt x="462314" y="232190"/>
                  <a:pt x="473259" y="222340"/>
                  <a:pt x="484423" y="212489"/>
                </a:cubicBezTo>
                <a:close/>
                <a:moveTo>
                  <a:pt x="298359" y="983669"/>
                </a:moveTo>
                <a:cubicBezTo>
                  <a:pt x="213645" y="932447"/>
                  <a:pt x="128713" y="881444"/>
                  <a:pt x="44436" y="829784"/>
                </a:cubicBezTo>
                <a:cubicBezTo>
                  <a:pt x="38746" y="826281"/>
                  <a:pt x="33054" y="817525"/>
                  <a:pt x="33054" y="811177"/>
                </a:cubicBezTo>
                <a:cubicBezTo>
                  <a:pt x="32397" y="715300"/>
                  <a:pt x="32616" y="619422"/>
                  <a:pt x="32616" y="523325"/>
                </a:cubicBezTo>
                <a:cubicBezTo>
                  <a:pt x="32616" y="521574"/>
                  <a:pt x="33054" y="520042"/>
                  <a:pt x="33491" y="515883"/>
                </a:cubicBezTo>
                <a:cubicBezTo>
                  <a:pt x="72237" y="539305"/>
                  <a:pt x="109012" y="561414"/>
                  <a:pt x="145787" y="583741"/>
                </a:cubicBezTo>
                <a:cubicBezTo>
                  <a:pt x="196790" y="614606"/>
                  <a:pt x="247574" y="645252"/>
                  <a:pt x="298359" y="676336"/>
                </a:cubicBezTo>
                <a:cubicBezTo>
                  <a:pt x="302299" y="678744"/>
                  <a:pt x="306896" y="683778"/>
                  <a:pt x="306896" y="687718"/>
                </a:cubicBezTo>
                <a:cubicBezTo>
                  <a:pt x="307334" y="787098"/>
                  <a:pt x="307334" y="886697"/>
                  <a:pt x="307334" y="987391"/>
                </a:cubicBezTo>
                <a:cubicBezTo>
                  <a:pt x="303612" y="985858"/>
                  <a:pt x="300767" y="984983"/>
                  <a:pt x="298359" y="983669"/>
                </a:cubicBezTo>
                <a:close/>
                <a:moveTo>
                  <a:pt x="310180" y="644814"/>
                </a:moveTo>
                <a:cubicBezTo>
                  <a:pt x="222183" y="591184"/>
                  <a:pt x="133966" y="537992"/>
                  <a:pt x="45750" y="484799"/>
                </a:cubicBezTo>
                <a:cubicBezTo>
                  <a:pt x="27801" y="474073"/>
                  <a:pt x="27581" y="464661"/>
                  <a:pt x="45312" y="453934"/>
                </a:cubicBezTo>
                <a:cubicBezTo>
                  <a:pt x="133747" y="400304"/>
                  <a:pt x="222401" y="346893"/>
                  <a:pt x="311056" y="293482"/>
                </a:cubicBezTo>
                <a:cubicBezTo>
                  <a:pt x="315215" y="291074"/>
                  <a:pt x="319592" y="289323"/>
                  <a:pt x="324189" y="287134"/>
                </a:cubicBezTo>
                <a:cubicBezTo>
                  <a:pt x="328786" y="289323"/>
                  <a:pt x="332726" y="290855"/>
                  <a:pt x="336447" y="293263"/>
                </a:cubicBezTo>
                <a:cubicBezTo>
                  <a:pt x="425102" y="346674"/>
                  <a:pt x="513537" y="400304"/>
                  <a:pt x="601972" y="453716"/>
                </a:cubicBezTo>
                <a:cubicBezTo>
                  <a:pt x="620359" y="464879"/>
                  <a:pt x="619921" y="474073"/>
                  <a:pt x="601096" y="485237"/>
                </a:cubicBezTo>
                <a:cubicBezTo>
                  <a:pt x="513318" y="538210"/>
                  <a:pt x="425321" y="591184"/>
                  <a:pt x="337761" y="644376"/>
                </a:cubicBezTo>
                <a:cubicBezTo>
                  <a:pt x="327911" y="650724"/>
                  <a:pt x="320468" y="651162"/>
                  <a:pt x="310180" y="644814"/>
                </a:cubicBezTo>
                <a:close/>
                <a:moveTo>
                  <a:pt x="601096" y="831754"/>
                </a:moveTo>
                <a:cubicBezTo>
                  <a:pt x="517914" y="881444"/>
                  <a:pt x="435171" y="931790"/>
                  <a:pt x="352427" y="981699"/>
                </a:cubicBezTo>
                <a:cubicBezTo>
                  <a:pt x="349144" y="983669"/>
                  <a:pt x="345641" y="985421"/>
                  <a:pt x="341045" y="987828"/>
                </a:cubicBezTo>
                <a:cubicBezTo>
                  <a:pt x="340606" y="982794"/>
                  <a:pt x="340169" y="978854"/>
                  <a:pt x="340169" y="975132"/>
                </a:cubicBezTo>
                <a:cubicBezTo>
                  <a:pt x="340169" y="881444"/>
                  <a:pt x="340169" y="787536"/>
                  <a:pt x="339950" y="693847"/>
                </a:cubicBezTo>
                <a:cubicBezTo>
                  <a:pt x="339950" y="684873"/>
                  <a:pt x="342358" y="679838"/>
                  <a:pt x="350457" y="675022"/>
                </a:cubicBezTo>
                <a:cubicBezTo>
                  <a:pt x="433857" y="625113"/>
                  <a:pt x="517039" y="574548"/>
                  <a:pt x="600221" y="524420"/>
                </a:cubicBezTo>
                <a:cubicBezTo>
                  <a:pt x="604380" y="522012"/>
                  <a:pt x="608539" y="519604"/>
                  <a:pt x="615543" y="515664"/>
                </a:cubicBezTo>
                <a:lnTo>
                  <a:pt x="615543" y="531862"/>
                </a:lnTo>
                <a:cubicBezTo>
                  <a:pt x="615543" y="622924"/>
                  <a:pt x="615325" y="713986"/>
                  <a:pt x="615762" y="805048"/>
                </a:cubicBezTo>
                <a:cubicBezTo>
                  <a:pt x="615762" y="817306"/>
                  <a:pt x="612260" y="825187"/>
                  <a:pt x="601096" y="831754"/>
                </a:cubicBezTo>
                <a:close/>
                <a:moveTo>
                  <a:pt x="733967" y="655102"/>
                </a:moveTo>
                <a:cubicBezTo>
                  <a:pt x="709889" y="647660"/>
                  <a:pt x="685810" y="639561"/>
                  <a:pt x="661512" y="632775"/>
                </a:cubicBezTo>
                <a:cubicBezTo>
                  <a:pt x="651662" y="629929"/>
                  <a:pt x="647503" y="625989"/>
                  <a:pt x="647721" y="614606"/>
                </a:cubicBezTo>
                <a:cubicBezTo>
                  <a:pt x="648597" y="567981"/>
                  <a:pt x="647721" y="521355"/>
                  <a:pt x="648159" y="474730"/>
                </a:cubicBezTo>
                <a:cubicBezTo>
                  <a:pt x="648378" y="453059"/>
                  <a:pt x="639622" y="437736"/>
                  <a:pt x="621016" y="426572"/>
                </a:cubicBezTo>
                <a:cubicBezTo>
                  <a:pt x="568480" y="395270"/>
                  <a:pt x="516382" y="363092"/>
                  <a:pt x="463628" y="331789"/>
                </a:cubicBezTo>
                <a:cubicBezTo>
                  <a:pt x="454434" y="326317"/>
                  <a:pt x="449399" y="319750"/>
                  <a:pt x="447648" y="309242"/>
                </a:cubicBezTo>
                <a:cubicBezTo>
                  <a:pt x="445897" y="298516"/>
                  <a:pt x="442832" y="288009"/>
                  <a:pt x="439767" y="274656"/>
                </a:cubicBezTo>
                <a:cubicBezTo>
                  <a:pt x="508721" y="296327"/>
                  <a:pt x="574609" y="316904"/>
                  <a:pt x="640717" y="337480"/>
                </a:cubicBezTo>
                <a:cubicBezTo>
                  <a:pt x="668736" y="346236"/>
                  <a:pt x="696755" y="354554"/>
                  <a:pt x="724336" y="363967"/>
                </a:cubicBezTo>
                <a:cubicBezTo>
                  <a:pt x="728714" y="365499"/>
                  <a:pt x="733749" y="370534"/>
                  <a:pt x="734843" y="375131"/>
                </a:cubicBezTo>
                <a:cubicBezTo>
                  <a:pt x="759141" y="472322"/>
                  <a:pt x="782782" y="569732"/>
                  <a:pt x="806642" y="667142"/>
                </a:cubicBezTo>
                <a:cubicBezTo>
                  <a:pt x="807299" y="669988"/>
                  <a:pt x="807518" y="673052"/>
                  <a:pt x="808394" y="678087"/>
                </a:cubicBezTo>
                <a:cubicBezTo>
                  <a:pt x="782563" y="670206"/>
                  <a:pt x="758266" y="662764"/>
                  <a:pt x="733967" y="655102"/>
                </a:cubicBezTo>
                <a:close/>
                <a:moveTo>
                  <a:pt x="1103688" y="479983"/>
                </a:moveTo>
                <a:cubicBezTo>
                  <a:pt x="1029043" y="546310"/>
                  <a:pt x="953742" y="611979"/>
                  <a:pt x="879536" y="678744"/>
                </a:cubicBezTo>
                <a:cubicBezTo>
                  <a:pt x="856770" y="699320"/>
                  <a:pt x="848014" y="698882"/>
                  <a:pt x="840133" y="666704"/>
                </a:cubicBezTo>
                <a:cubicBezTo>
                  <a:pt x="816930" y="569294"/>
                  <a:pt x="792633" y="471884"/>
                  <a:pt x="768554" y="374474"/>
                </a:cubicBezTo>
                <a:cubicBezTo>
                  <a:pt x="766146" y="364405"/>
                  <a:pt x="767459" y="357181"/>
                  <a:pt x="775777" y="349739"/>
                </a:cubicBezTo>
                <a:cubicBezTo>
                  <a:pt x="853924" y="281223"/>
                  <a:pt x="931633" y="212270"/>
                  <a:pt x="1009561" y="143536"/>
                </a:cubicBezTo>
                <a:cubicBezTo>
                  <a:pt x="1024665" y="130183"/>
                  <a:pt x="1033640" y="133029"/>
                  <a:pt x="1038237" y="152292"/>
                </a:cubicBezTo>
                <a:cubicBezTo>
                  <a:pt x="1062972" y="252985"/>
                  <a:pt x="1087708" y="353898"/>
                  <a:pt x="1112224" y="454810"/>
                </a:cubicBezTo>
                <a:cubicBezTo>
                  <a:pt x="1112881" y="457875"/>
                  <a:pt x="1113757" y="460939"/>
                  <a:pt x="1114852" y="466412"/>
                </a:cubicBezTo>
                <a:cubicBezTo>
                  <a:pt x="1111787" y="470352"/>
                  <a:pt x="1108284" y="475824"/>
                  <a:pt x="1103688" y="479983"/>
                </a:cubicBezTo>
                <a:close/>
                <a:moveTo>
                  <a:pt x="858740" y="150979"/>
                </a:moveTo>
                <a:lnTo>
                  <a:pt x="706387" y="93408"/>
                </a:lnTo>
                <a:lnTo>
                  <a:pt x="570669" y="214459"/>
                </a:lnTo>
                <a:lnTo>
                  <a:pt x="728933" y="268308"/>
                </a:lnTo>
                <a:lnTo>
                  <a:pt x="858740" y="150979"/>
                </a:lnTo>
                <a:close/>
                <a:moveTo>
                  <a:pt x="323971" y="404901"/>
                </a:moveTo>
                <a:cubicBezTo>
                  <a:pt x="278877" y="404901"/>
                  <a:pt x="242540" y="433358"/>
                  <a:pt x="242540" y="468382"/>
                </a:cubicBezTo>
                <a:cubicBezTo>
                  <a:pt x="242540" y="503406"/>
                  <a:pt x="279096" y="531862"/>
                  <a:pt x="323971" y="531862"/>
                </a:cubicBezTo>
                <a:cubicBezTo>
                  <a:pt x="368844" y="531862"/>
                  <a:pt x="405401" y="503406"/>
                  <a:pt x="405401" y="468382"/>
                </a:cubicBezTo>
                <a:cubicBezTo>
                  <a:pt x="405401" y="433358"/>
                  <a:pt x="368844" y="404901"/>
                  <a:pt x="323971" y="404901"/>
                </a:cubicBezTo>
                <a:close/>
                <a:moveTo>
                  <a:pt x="418753" y="872688"/>
                </a:moveTo>
                <a:lnTo>
                  <a:pt x="552063" y="798700"/>
                </a:lnTo>
                <a:lnTo>
                  <a:pt x="552063" y="630367"/>
                </a:lnTo>
                <a:lnTo>
                  <a:pt x="418753" y="704355"/>
                </a:lnTo>
                <a:lnTo>
                  <a:pt x="418753" y="872688"/>
                </a:lnTo>
                <a:close/>
                <a:moveTo>
                  <a:pt x="947613" y="355649"/>
                </a:moveTo>
                <a:cubicBezTo>
                  <a:pt x="915435" y="355649"/>
                  <a:pt x="889167" y="381917"/>
                  <a:pt x="889167" y="414095"/>
                </a:cubicBezTo>
                <a:cubicBezTo>
                  <a:pt x="889167" y="446273"/>
                  <a:pt x="915435" y="472541"/>
                  <a:pt x="947613" y="472541"/>
                </a:cubicBezTo>
                <a:cubicBezTo>
                  <a:pt x="979791" y="472541"/>
                  <a:pt x="1006059" y="446273"/>
                  <a:pt x="1006059" y="414095"/>
                </a:cubicBezTo>
                <a:cubicBezTo>
                  <a:pt x="1006059" y="381917"/>
                  <a:pt x="980010" y="355649"/>
                  <a:pt x="947613" y="355649"/>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5" name="Google Shape;465;p16"/>
          <p:cNvSpPr/>
          <p:nvPr/>
        </p:nvSpPr>
        <p:spPr>
          <a:xfrm>
            <a:off x="734975" y="6618257"/>
            <a:ext cx="209700" cy="209700"/>
          </a:xfrm>
          <a:prstGeom prst="rect">
            <a:avLst/>
          </a:prstGeom>
          <a:solidFill>
            <a:srgbClr val="DD8DC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TextBox 465"/>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ZACATECAS</a:t>
            </a:r>
          </a:p>
        </p:txBody>
      </p:sp>
      <p:graphicFrame>
        <p:nvGraphicFramePr>
          <p:cNvPr id="467" name="Table 466"/>
          <p:cNvGraphicFramePr>
            <a:graphicFrameLocks noGrp="1"/>
          </p:cNvGraphicFramePr>
          <p:nvPr/>
        </p:nvGraphicFramePr>
        <p:xfrm>
          <a:off x="2311200" y="1670400"/>
          <a:ext cx="5032800" cy="666000"/>
        </p:xfrm>
        <a:graphic>
          <a:graphicData uri="http://schemas.openxmlformats.org/drawingml/2006/table">
            <a:tbl>
              <a:tblPr firstRow="1" bandRow="1">
                <a:tableStyleId>{5C22544A-7EE6-4342-B048-85BDC9FD1C3A}</a:tableStyleId>
              </a:tblPr>
              <a:tblGrid>
                <a:gridCol w="1576800"/>
                <a:gridCol w="3456000"/>
              </a:tblGrid>
              <a:tr h="333000">
                <a:tc gridSpan="2">
                  <a:txBody>
                    <a:bodyPr/>
                    <a:lstStyle/>
                    <a:p>
                      <a:pPr algn="ctr"/>
                      <a:r>
                        <a:rPr b="1" sz="1000">
                          <a:solidFill>
                            <a:srgbClr val="FFFFFF"/>
                          </a:solidFill>
                          <a:latin typeface="Montserrat"/>
                        </a:rPr>
                        <a:t>GUARDERÍAS</a:t>
                      </a:r>
                    </a:p>
                  </a:txBody>
                  <a:tcPr marT="0" marB="0" marL="0" marR="0" anchor="ctr">
                    <a:solidFill>
                      <a:srgbClr val="006455"/>
                    </a:solidFill>
                  </a:tcPr>
                </a:tc>
                <a:tc hMerge="1">
                  <a:txBody>
                    <a:bodyPr/>
                    <a:lstStyle/>
                    <a:p/>
                  </a:txBody>
                  <a:tcPr/>
                </a:tc>
              </a:tr>
              <a:tr h="333000">
                <a:tc>
                  <a:txBody>
                    <a:bodyPr/>
                    <a:lstStyle/>
                    <a:p>
                      <a:pPr algn="ctr"/>
                      <a:r>
                        <a:rPr b="1" sz="1000">
                          <a:latin typeface="Montserrat"/>
                        </a:rPr>
                        <a:t>28 </a:t>
                      </a:r>
                      <a:r>
                        <a:rPr b="1" sz="1000">
                          <a:latin typeface="Montserrat"/>
                        </a:rPr>
                        <a:t>unidades</a:t>
                      </a:r>
                    </a:p>
                    <a:p>
                      <a:pPr algn="ctr">
                        <a:defRPr sz="1000">
                          <a:solidFill>
                            <a:srgbClr val="505050"/>
                          </a:solidFill>
                          <a:latin typeface="Montserrat"/>
                        </a:defRPr>
                      </a:pPr>
                      <a:r>
                        <a:t>0 directas</a:t>
                      </a:r>
                    </a:p>
                    <a:p>
                      <a:pPr algn="ctr">
                        <a:defRPr sz="1000">
                          <a:solidFill>
                            <a:srgbClr val="505050"/>
                          </a:solidFill>
                          <a:latin typeface="Montserrat"/>
                        </a:defRPr>
                      </a:pPr>
                      <a:r>
                        <a:t>28 indirectas</a:t>
                      </a:r>
                    </a:p>
                  </a:txBody>
                  <a:tcPr anchor="ctr">
                    <a:solidFill>
                      <a:srgbClr val="FFFFFF"/>
                    </a:solidFill>
                  </a:tcPr>
                </a:tc>
                <a:tc>
                  <a:txBody>
                    <a:bodyPr/>
                    <a:lstStyle/>
                    <a:p>
                      <a:pPr algn="ctr"/>
                      <a:r>
                        <a:rPr b="1" sz="1000">
                          <a:latin typeface="Montserrat"/>
                        </a:rPr>
                        <a:t>3,611 </a:t>
                      </a:r>
                      <a:r>
                        <a:rPr b="1" sz="1000">
                          <a:latin typeface="Montserrat"/>
                        </a:rPr>
                        <a:t>inscritos</a:t>
                      </a:r>
                    </a:p>
                    <a:p>
                      <a:pPr algn="ctr">
                        <a:defRPr sz="1000">
                          <a:solidFill>
                            <a:srgbClr val="505050"/>
                          </a:solidFill>
                          <a:latin typeface="Montserrat"/>
                        </a:defRPr>
                      </a:pPr>
                      <a:r>
                        <a:t>266 en espera</a:t>
                      </a:r>
                    </a:p>
                  </a:txBody>
                  <a:tcPr anchor="ctr">
                    <a:solidFill>
                      <a:srgbClr val="FFFFFF"/>
                    </a:solidFill>
                  </a:tcPr>
                </a:tc>
              </a:tr>
            </a:tbl>
          </a:graphicData>
        </a:graphic>
      </p:graphicFrame>
      <p:graphicFrame>
        <p:nvGraphicFramePr>
          <p:cNvPr id="468" name="Table 467"/>
          <p:cNvGraphicFramePr>
            <a:graphicFrameLocks noGrp="1"/>
          </p:cNvGraphicFramePr>
          <p:nvPr/>
        </p:nvGraphicFramePr>
        <p:xfrm>
          <a:off x="2311200" y="2570400"/>
          <a:ext cx="5032800" cy="2091599"/>
        </p:xfrm>
        <a:graphic>
          <a:graphicData uri="http://schemas.openxmlformats.org/drawingml/2006/table">
            <a:tbl>
              <a:tblPr firstRow="1" bandRow="1">
                <a:tableStyleId>{5C22544A-7EE6-4342-B048-85BDC9FD1C3A}</a:tableStyleId>
              </a:tblPr>
              <a:tblGrid>
                <a:gridCol w="1576800"/>
                <a:gridCol w="3456000"/>
              </a:tblGrid>
              <a:tr h="522899">
                <a:tc gridSpan="2">
                  <a:txBody>
                    <a:bodyPr/>
                    <a:lstStyle/>
                    <a:p>
                      <a:pPr algn="ctr">
                        <a:defRPr b="1" sz="1000">
                          <a:solidFill>
                            <a:srgbClr val="FFFFFF"/>
                          </a:solidFill>
                          <a:latin typeface="Montserrat"/>
                        </a:defRPr>
                      </a:pPr>
                      <a:r>
                        <a:t>BIENESTAR SOCIAL</a:t>
                      </a:r>
                    </a:p>
                  </a:txBody>
                  <a:tcPr anchor="ctr">
                    <a:solidFill>
                      <a:srgbClr val="006455"/>
                    </a:solidFill>
                  </a:tcPr>
                </a:tc>
                <a:tc hMerge="1">
                  <a:txBody>
                    <a:bodyPr/>
                    <a:lstStyle/>
                    <a:p/>
                  </a:txBody>
                  <a:tcPr/>
                </a:tc>
              </a:tr>
              <a:tr h="522899">
                <a:tc>
                  <a:txBody>
                    <a:bodyPr/>
                    <a:lstStyle/>
                    <a:p>
                      <a:pPr algn="ctr">
                        <a:defRPr sz="800" b="1">
                          <a:latin typeface="Montserrat"/>
                        </a:defRPr>
                      </a:pPr>
                      <a:r>
                        <a:t>6 CEBIS</a:t>
                      </a:r>
                    </a:p>
                  </a:txBody>
                  <a:tcPr anchor="ctr" marL="28800" marR="28800" marT="0" marB="0">
                    <a:solidFill>
                      <a:srgbClr val="FFFFFF"/>
                    </a:solidFill>
                  </a:tcPr>
                </a:tc>
                <a:tc>
                  <a:txBody>
                    <a:bodyPr/>
                    <a:lstStyle/>
                    <a:p>
                      <a:pPr algn="ctr">
                        <a:defRPr sz="800">
                          <a:latin typeface="Montserrat"/>
                        </a:defRPr>
                      </a:pPr>
                      <a:r>
                        <a:t>González Ortega, Felipe Angeles,Jerez, Río Grande, Emiliano Zapata, Calera de Víctor Rosales</a:t>
                      </a:r>
                    </a:p>
                  </a:txBody>
                  <a:tcPr anchor="ctr" marL="28800" marR="28800" marT="0" marB="0">
                    <a:solidFill>
                      <a:srgbClr val="FFFFFF"/>
                    </a:solidFill>
                  </a:tcPr>
                </a:tc>
              </a:tr>
              <a:tr h="522899">
                <a:tc>
                  <a:txBody>
                    <a:bodyPr/>
                    <a:lstStyle/>
                    <a:p>
                      <a:pPr algn="ctr">
                        <a:defRPr sz="800" b="1">
                          <a:latin typeface="Montserrat"/>
                        </a:defRPr>
                      </a:pPr>
                      <a:r>
                        <a:t>2 Centros de Seguridad Social</a:t>
                      </a:r>
                    </a:p>
                  </a:txBody>
                  <a:tcPr anchor="ctr" marL="28800" marR="28800" marT="0" marB="0">
                    <a:solidFill>
                      <a:srgbClr val="EFEFEF"/>
                    </a:solidFill>
                  </a:tcPr>
                </a:tc>
                <a:tc>
                  <a:txBody>
                    <a:bodyPr/>
                    <a:lstStyle/>
                    <a:p>
                      <a:pPr algn="ctr">
                        <a:defRPr sz="800">
                          <a:latin typeface="Montserrat"/>
                        </a:defRPr>
                      </a:pPr>
                      <a:r>
                        <a:t>Fresnillo y Zacatecas</a:t>
                      </a:r>
                    </a:p>
                  </a:txBody>
                  <a:tcPr anchor="ctr" marL="28800" marR="28800" marT="0" marB="0">
                    <a:solidFill>
                      <a:srgbClr val="EFEFEF"/>
                    </a:solidFill>
                  </a:tcPr>
                </a:tc>
              </a:tr>
              <a:tr h="522902">
                <a:tc>
                  <a:txBody>
                    <a:bodyPr/>
                    <a:lstStyle/>
                    <a:p>
                      <a:pPr algn="ctr">
                        <a:defRPr sz="800" b="1">
                          <a:latin typeface="Montserrat"/>
                        </a:defRPr>
                      </a:pPr>
                      <a:r>
                        <a:t>1 Teatro</a:t>
                      </a:r>
                    </a:p>
                  </a:txBody>
                  <a:tcPr anchor="ctr" marL="28800" marR="28800" marT="0" marB="0">
                    <a:solidFill>
                      <a:srgbClr val="FFFFFF"/>
                    </a:solidFill>
                  </a:tcPr>
                </a:tc>
                <a:tc>
                  <a:txBody>
                    <a:bodyPr/>
                    <a:lstStyle/>
                    <a:p>
                      <a:pPr algn="ctr">
                        <a:defRPr sz="800">
                          <a:latin typeface="Montserrat"/>
                        </a:defRPr>
                      </a:pPr>
                      <a:r>
                        <a:t>Zacatecas</a:t>
                      </a:r>
                    </a:p>
                  </a:txBody>
                  <a:tcPr anchor="ctr" marL="28800" marR="28800" marT="0" marB="0">
                    <a:solidFill>
                      <a:srgbClr val="FFFFFF"/>
                    </a:solidFill>
                  </a:tcPr>
                </a:tc>
              </a:tr>
            </a:tbl>
          </a:graphicData>
        </a:graphic>
      </p:graphicFrame>
      <p:graphicFrame>
        <p:nvGraphicFramePr>
          <p:cNvPr id="469" name="Table 468"/>
          <p:cNvGraphicFramePr>
            <a:graphicFrameLocks noGrp="1"/>
          </p:cNvGraphicFramePr>
          <p:nvPr/>
        </p:nvGraphicFramePr>
        <p:xfrm>
          <a:off x="2311200" y="4910400"/>
          <a:ext cx="5032800" cy="817200"/>
        </p:xfrm>
        <a:graphic>
          <a:graphicData uri="http://schemas.openxmlformats.org/drawingml/2006/table">
            <a:tbl>
              <a:tblPr firstRow="1" bandRow="1">
                <a:tableStyleId>{5C22544A-7EE6-4342-B048-85BDC9FD1C3A}</a:tableStyleId>
              </a:tblPr>
              <a:tblGrid>
                <a:gridCol w="1576800"/>
                <a:gridCol w="3456000"/>
              </a:tblGrid>
              <a:tr h="408600">
                <a:tc gridSpan="2">
                  <a:txBody>
                    <a:bodyPr/>
                    <a:lstStyle/>
                    <a:p>
                      <a:pPr algn="ctr">
                        <a:defRPr b="1" sz="1000">
                          <a:solidFill>
                            <a:srgbClr val="FFFFFF"/>
                          </a:solidFill>
                          <a:latin typeface="Montserrat"/>
                        </a:defRPr>
                      </a:pPr>
                      <a:r>
                        <a:t>CENTROS VACACIONALES, VELATORIOS Y TIENDAS</a:t>
                      </a:r>
                    </a:p>
                  </a:txBody>
                  <a:tcPr anchor="ctr">
                    <a:solidFill>
                      <a:srgbClr val="006455"/>
                    </a:solidFill>
                  </a:tcPr>
                </a:tc>
                <a:tc hMerge="1">
                  <a:txBody>
                    <a:bodyPr/>
                    <a:lstStyle/>
                    <a:p/>
                  </a:txBody>
                  <a:tcPr/>
                </a:tc>
              </a:tr>
              <a:tr h="408600">
                <a:tc>
                  <a:txBody>
                    <a:bodyPr/>
                    <a:lstStyle/>
                    <a:p>
                      <a:pPr algn="ctr">
                        <a:defRPr sz="800" b="1">
                          <a:latin typeface="Montserrat"/>
                        </a:defRPr>
                      </a:pPr>
                      <a:r>
                        <a:t>4 Tiendas IMSS-SNTSS</a:t>
                      </a:r>
                    </a:p>
                  </a:txBody>
                  <a:tcPr anchor="ctr" marL="28800" marR="28800" marT="0" marB="0">
                    <a:solidFill>
                      <a:srgbClr val="FFFFFF"/>
                    </a:solidFill>
                  </a:tcPr>
                </a:tc>
                <a:tc>
                  <a:txBody>
                    <a:bodyPr/>
                    <a:lstStyle/>
                    <a:p>
                      <a:pPr algn="ctr">
                        <a:defRPr sz="800">
                          <a:latin typeface="Montserrat"/>
                        </a:defRPr>
                      </a:pPr>
                      <a:r>
                        <a:t>No. 140 Concepción del Oro, No. 143 Río Grande, No. 100 Sombrerete y No. 60 Zacatecas</a:t>
                      </a:r>
                    </a:p>
                  </a:txBody>
                  <a:tcPr anchor="ctr" marL="28800" marR="28800" marT="0" marB="0">
                    <a:solidFill>
                      <a:srgbClr val="FFFFFF"/>
                    </a:solidFill>
                  </a:tcPr>
                </a:tc>
              </a:tr>
            </a:tbl>
          </a:graphicData>
        </a:graphic>
      </p:graphicFrame>
      <p:pic>
        <p:nvPicPr>
          <p:cNvPr id="470" name="Picture 469" descr="map_tipo2_32_zac.png"/>
          <p:cNvPicPr>
            <a:picLocks noChangeAspect="1"/>
          </p:cNvPicPr>
          <p:nvPr/>
        </p:nvPicPr>
        <p:blipFill>
          <a:blip r:embed="rId6"/>
          <a:stretch>
            <a:fillRect/>
          </a:stretch>
        </p:blipFill>
        <p:spPr>
          <a:xfrm>
            <a:off x="2822400" y="5929200"/>
            <a:ext cx="4014000" cy="3101727"/>
          </a:xfrm>
          <a:prstGeom prst="rect">
            <a:avLst/>
          </a:prstGeom>
        </p:spPr>
      </p:pic>
      <p:sp>
        <p:nvSpPr>
          <p:cNvPr id="471" name="TextBox 470"/>
          <p:cNvSpPr txBox="1"/>
          <p:nvPr/>
        </p:nvSpPr>
        <p:spPr>
          <a:xfrm>
            <a:off x="928800" y="6598799"/>
            <a:ext cx="1364400" cy="244800"/>
          </a:xfrm>
          <a:prstGeom prst="rect">
            <a:avLst/>
          </a:prstGeom>
          <a:noFill/>
        </p:spPr>
        <p:txBody>
          <a:bodyPr wrap="none">
            <a:spAutoFit/>
          </a:bodyPr>
          <a:lstStyle/>
          <a:p>
            <a:pPr algn="ctr">
              <a:defRPr b="0" sz="1000">
                <a:solidFill>
                  <a:srgbClr val="000000"/>
                </a:solidFill>
                <a:latin typeface="Montserrat"/>
              </a:defRPr>
            </a:pPr>
            <a:r>
              <a:t>Guarderías    28</a:t>
            </a:r>
          </a:p>
        </p:txBody>
      </p:sp>
      <p:sp>
        <p:nvSpPr>
          <p:cNvPr id="472" name="TextBox 471"/>
          <p:cNvSpPr txBox="1"/>
          <p:nvPr/>
        </p:nvSpPr>
        <p:spPr>
          <a:xfrm>
            <a:off x="0" y="9273600"/>
            <a:ext cx="4258800" cy="230400"/>
          </a:xfrm>
          <a:prstGeom prst="rect">
            <a:avLst/>
          </a:prstGeom>
          <a:noFill/>
        </p:spPr>
        <p:txBody>
          <a:bodyPr wrap="square" tIns="0" bIns="0" lIns="0" rIns="0">
            <a:spAutoFit/>
          </a:bodyPr>
          <a:lstStyle/>
          <a:p>
            <a:pPr algn="l">
              <a:defRPr sz="900">
                <a:solidFill>
                  <a:srgbClr val="000000"/>
                </a:solidFill>
                <a:latin typeface="Montserrat"/>
              </a:defRPr>
            </a:pPr>
            <a:r>
              <a:t>Fuente: Dirección de Prestaciones Económicas y Sociales, abril de 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71"/>
        <p:cNvGrpSpPr/>
        <p:nvPr/>
      </p:nvGrpSpPr>
      <p:grpSpPr>
        <a:xfrm>
          <a:off x="0" y="0"/>
          <a:ext cx="0" cy="0"/>
          <a:chOff x="0" y="0"/>
          <a:chExt cx="0" cy="0"/>
        </a:xfrm>
      </p:grpSpPr>
      <p:graphicFrame>
        <p:nvGraphicFramePr>
          <p:cNvPr id="473" name="Google Shape;473;g370e87ffe7a_2_298"/>
          <p:cNvGraphicFramePr/>
          <p:nvPr/>
        </p:nvGraphicFramePr>
        <p:xfrm>
          <a:off x="209550" y="624625"/>
          <a:ext cx="7493300" cy="381000"/>
        </p:xfrm>
        <a:graphic>
          <a:graphicData uri="http://schemas.openxmlformats.org/drawingml/2006/table">
            <a:tbl>
              <a:tblPr>
                <a:noFill/>
                <a:tableStyleId>{3C216991-1C96-4F05-AC00-DA6B9BB01C7E}</a:tableStyleId>
              </a:tblPr>
              <a:tblGrid>
                <a:gridCol w="7493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100" b="1" u="none" strike="noStrike" cap="none" dirty="0">
                          <a:solidFill>
                            <a:srgbClr val="BC955C"/>
                          </a:solidFill>
                          <a:latin typeface="Montserrat"/>
                          <a:ea typeface="Montserrat"/>
                          <a:cs typeface="Montserrat"/>
                          <a:sym typeface="Montserrat"/>
                        </a:rPr>
                        <a:t>Actividad económica</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5" name="Google Shape;475;g370e87ffe7a_2_298"/>
          <p:cNvGraphicFramePr/>
          <p:nvPr>
            <p:extLst>
              <p:ext uri="{D42A27DB-BD31-4B8C-83A1-F6EECF244321}">
                <p14:modId xmlns:p14="http://schemas.microsoft.com/office/powerpoint/2010/main" val="1516890549"/>
              </p:ext>
            </p:extLst>
          </p:nvPr>
        </p:nvGraphicFramePr>
        <p:xfrm>
          <a:off x="282450" y="341803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dirty="0">
                          <a:solidFill>
                            <a:srgbClr val="BC955C"/>
                          </a:solidFill>
                          <a:latin typeface="Montserrat"/>
                          <a:ea typeface="Montserrat"/>
                          <a:cs typeface="Montserrat"/>
                          <a:sym typeface="Montserrat"/>
                        </a:rPr>
                        <a:t>Puestos de trabajo, </a:t>
                      </a:r>
                      <a:r>
                        <a:rPr lang="es" sz="1500" b="1" u="none" strike="noStrike" cap="none" dirty="0">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4"/>
                            </a:ext>
                          </a:extLst>
                        </a:rPr>
                        <a:t>por </a:t>
                      </a:r>
                      <a:r>
                        <a:rPr lang="es" sz="1500" b="1" u="none" strike="noStrike" cap="none" dirty="0">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5"/>
                            </a:ext>
                          </a:extLst>
                        </a:rPr>
                        <a:t>tipo de sector</a:t>
                      </a:r>
                      <a:endParaRPr sz="1500" u="none" strike="noStrike" cap="none" dirty="0">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7" name="Google Shape;477;g370e87ffe7a_2_298"/>
          <p:cNvGraphicFramePr/>
          <p:nvPr/>
        </p:nvGraphicFramePr>
        <p:xfrm>
          <a:off x="231775" y="737650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a:solidFill>
                            <a:srgbClr val="BC955C"/>
                          </a:solidFill>
                          <a:latin typeface="Montserrat"/>
                          <a:ea typeface="Montserrat"/>
                          <a:cs typeface="Montserrat"/>
                          <a:sym typeface="Montserrat"/>
                        </a:rPr>
                        <a:t>Puesto de trabajo, por tipo de contratación</a:t>
                      </a:r>
                      <a:endParaRPr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478" name="TextBox 47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graphicFrame>
        <p:nvGraphicFramePr>
          <p:cNvPr id="479" name="Table 478"/>
          <p:cNvGraphicFramePr>
            <a:graphicFrameLocks noGrp="1"/>
          </p:cNvGraphicFramePr>
          <p:nvPr/>
        </p:nvGraphicFramePr>
        <p:xfrm>
          <a:off x="284400" y="1087200"/>
          <a:ext cx="6984000" cy="1880639"/>
        </p:xfrm>
        <a:graphic>
          <a:graphicData uri="http://schemas.openxmlformats.org/drawingml/2006/table">
            <a:tbl>
              <a:tblPr firstRow="1" bandRow="1">
                <a:tableStyleId>{5C22544A-7EE6-4342-B048-85BDC9FD1C3A}</a:tableStyleId>
              </a:tblPr>
              <a:tblGrid>
                <a:gridCol w="1260000"/>
                <a:gridCol w="720000"/>
                <a:gridCol w="720000"/>
                <a:gridCol w="792000"/>
                <a:gridCol w="1260000"/>
                <a:gridCol w="720000"/>
                <a:gridCol w="720000"/>
                <a:gridCol w="792000"/>
              </a:tblGrid>
              <a:tr h="251999">
                <a:tc gridSpan="8">
                  <a:txBody>
                    <a:bodyPr/>
                    <a:lstStyle/>
                    <a:p>
                      <a:pPr algn="ctr">
                        <a:defRPr b="1" sz="1000">
                          <a:solidFill>
                            <a:srgbClr val="FFFFFF"/>
                          </a:solidFill>
                          <a:latin typeface="Montserrat"/>
                        </a:defRPr>
                      </a:pPr>
                      <a:r>
                        <a:t>PRINCIPALES EMPLEADORES</a:t>
                      </a:r>
                    </a:p>
                  </a:txBody>
                  <a:tcPr anchor="ctr">
                    <a:solidFill>
                      <a:srgbClr val="BC955C"/>
                    </a:solidFill>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r>
              <a:tr h="360000">
                <a:tc>
                  <a:txBody>
                    <a:bodyPr/>
                    <a:lstStyle/>
                    <a:p>
                      <a:pPr algn="ctr">
                        <a:defRPr b="1" sz="850">
                          <a:solidFill>
                            <a:srgbClr val="FFFFFF"/>
                          </a:solidFill>
                          <a:latin typeface="Montserrat"/>
                        </a:defRPr>
                      </a:pPr>
                      <a:r>
                        <a:t>Empleador público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c>
                  <a:txBody>
                    <a:bodyPr/>
                    <a:lstStyle/>
                    <a:p>
                      <a:pPr algn="ctr">
                        <a:defRPr b="1" sz="850">
                          <a:solidFill>
                            <a:srgbClr val="FFFFFF"/>
                          </a:solidFill>
                          <a:latin typeface="Montserrat"/>
                        </a:defRPr>
                      </a:pPr>
                      <a:r>
                        <a:t>Empleador Privado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r>
              <a:tr h="288000">
                <a:tc>
                  <a:txBody>
                    <a:bodyPr/>
                    <a:lstStyle/>
                    <a:p>
                      <a:pPr algn="ctr">
                        <a:defRPr sz="850">
                          <a:latin typeface="Montserrat"/>
                        </a:defRPr>
                      </a:pPr>
                      <a:r>
                        <a:t>Secretaría de Educación</a:t>
                      </a:r>
                    </a:p>
                  </a:txBody>
                  <a:tcPr anchor="ctr">
                    <a:solidFill>
                      <a:srgbClr val="FFFFFF"/>
                    </a:solidFill>
                  </a:tcPr>
                </a:tc>
                <a:tc>
                  <a:txBody>
                    <a:bodyPr/>
                    <a:lstStyle/>
                    <a:p>
                      <a:pPr algn="ctr">
                        <a:defRPr sz="850">
                          <a:latin typeface="Montserrat"/>
                        </a:defRPr>
                      </a:pPr>
                      <a:r>
                        <a:t>15,939</a:t>
                      </a:r>
                    </a:p>
                  </a:txBody>
                  <a:tcPr anchor="ctr">
                    <a:solidFill>
                      <a:srgbClr val="FFFFFF"/>
                    </a:solidFill>
                  </a:tcPr>
                </a:tc>
                <a:tc>
                  <a:txBody>
                    <a:bodyPr/>
                    <a:lstStyle/>
                    <a:p>
                      <a:pPr algn="ctr">
                        <a:defRPr sz="850">
                          <a:latin typeface="Montserrat"/>
                        </a:defRPr>
                      </a:pPr>
                      <a:r>
                        <a:t>15,913</a:t>
                      </a:r>
                    </a:p>
                  </a:txBody>
                  <a:tcPr anchor="ctr">
                    <a:solidFill>
                      <a:srgbClr val="FFFFFF"/>
                    </a:solidFill>
                  </a:tcPr>
                </a:tc>
                <a:tc>
                  <a:txBody>
                    <a:bodyPr/>
                    <a:lstStyle/>
                    <a:p>
                      <a:pPr algn="ctr">
                        <a:defRPr sz="850" b="1">
                          <a:solidFill>
                            <a:srgbClr val="691C32"/>
                          </a:solidFill>
                          <a:latin typeface="Montserrat"/>
                        </a:defRPr>
                      </a:pPr>
                      <a:r>
                        <a:t>-0.2%</a:t>
                      </a:r>
                    </a:p>
                  </a:txBody>
                  <a:tcPr anchor="ctr">
                    <a:solidFill>
                      <a:srgbClr val="FFFFFF"/>
                    </a:solidFill>
                  </a:tcPr>
                </a:tc>
                <a:tc>
                  <a:txBody>
                    <a:bodyPr/>
                    <a:lstStyle/>
                    <a:p>
                      <a:pPr algn="ctr">
                        <a:defRPr sz="850">
                          <a:latin typeface="Montserrat"/>
                        </a:defRPr>
                      </a:pPr>
                      <a:r>
                        <a:t>Aptiv Contract Services Zacatecas S. de R.L. de C.V.</a:t>
                      </a:r>
                    </a:p>
                  </a:txBody>
                  <a:tcPr anchor="ctr">
                    <a:solidFill>
                      <a:srgbClr val="FFFFFF"/>
                    </a:solidFill>
                  </a:tcPr>
                </a:tc>
                <a:tc>
                  <a:txBody>
                    <a:bodyPr/>
                    <a:lstStyle/>
                    <a:p>
                      <a:pPr algn="ctr">
                        <a:defRPr sz="850">
                          <a:latin typeface="Montserrat"/>
                        </a:defRPr>
                      </a:pPr>
                      <a:r>
                        <a:t>10,519</a:t>
                      </a:r>
                    </a:p>
                  </a:txBody>
                  <a:tcPr anchor="ctr">
                    <a:solidFill>
                      <a:srgbClr val="FFFFFF"/>
                    </a:solidFill>
                  </a:tcPr>
                </a:tc>
                <a:tc>
                  <a:txBody>
                    <a:bodyPr/>
                    <a:lstStyle/>
                    <a:p>
                      <a:pPr algn="ctr">
                        <a:defRPr sz="850">
                          <a:latin typeface="Montserrat"/>
                        </a:defRPr>
                      </a:pPr>
                      <a:r>
                        <a:t>10,538</a:t>
                      </a:r>
                    </a:p>
                  </a:txBody>
                  <a:tcPr anchor="ctr">
                    <a:solidFill>
                      <a:srgbClr val="FFFFFF"/>
                    </a:solidFill>
                  </a:tcPr>
                </a:tc>
                <a:tc>
                  <a:txBody>
                    <a:bodyPr/>
                    <a:lstStyle/>
                    <a:p>
                      <a:pPr algn="ctr">
                        <a:defRPr sz="850" b="1">
                          <a:solidFill>
                            <a:srgbClr val="006455"/>
                          </a:solidFill>
                          <a:latin typeface="Montserrat"/>
                        </a:defRPr>
                      </a:pPr>
                      <a:r>
                        <a:t>0.2%</a:t>
                      </a:r>
                    </a:p>
                  </a:txBody>
                  <a:tcPr anchor="ctr">
                    <a:solidFill>
                      <a:srgbClr val="FFFFFF"/>
                    </a:solidFill>
                  </a:tcPr>
                </a:tc>
              </a:tr>
              <a:tr h="490320">
                <a:tc>
                  <a:txBody>
                    <a:bodyPr/>
                    <a:lstStyle/>
                    <a:p>
                      <a:pPr algn="ctr">
                        <a:defRPr sz="850">
                          <a:latin typeface="Montserrat"/>
                        </a:defRPr>
                      </a:pPr>
                      <a:r>
                        <a:t>Instituto Mexicano del Seguro Social</a:t>
                      </a:r>
                    </a:p>
                  </a:txBody>
                  <a:tcPr anchor="ctr">
                    <a:solidFill>
                      <a:srgbClr val="D9D9D9"/>
                    </a:solidFill>
                  </a:tcPr>
                </a:tc>
                <a:tc>
                  <a:txBody>
                    <a:bodyPr/>
                    <a:lstStyle/>
                    <a:p>
                      <a:pPr algn="ctr">
                        <a:defRPr sz="850">
                          <a:latin typeface="Montserrat"/>
                        </a:defRPr>
                      </a:pPr>
                      <a:r>
                        <a:t>6,400</a:t>
                      </a:r>
                    </a:p>
                  </a:txBody>
                  <a:tcPr anchor="ctr">
                    <a:solidFill>
                      <a:srgbClr val="D9D9D9"/>
                    </a:solidFill>
                  </a:tcPr>
                </a:tc>
                <a:tc>
                  <a:txBody>
                    <a:bodyPr/>
                    <a:lstStyle/>
                    <a:p>
                      <a:pPr algn="ctr">
                        <a:defRPr sz="850">
                          <a:latin typeface="Montserrat"/>
                        </a:defRPr>
                      </a:pPr>
                      <a:r>
                        <a:t>6,414</a:t>
                      </a:r>
                    </a:p>
                  </a:txBody>
                  <a:tcPr anchor="ctr">
                    <a:solidFill>
                      <a:srgbClr val="D9D9D9"/>
                    </a:solidFill>
                  </a:tcPr>
                </a:tc>
                <a:tc>
                  <a:txBody>
                    <a:bodyPr/>
                    <a:lstStyle/>
                    <a:p>
                      <a:pPr algn="ctr">
                        <a:defRPr sz="850" b="1">
                          <a:solidFill>
                            <a:srgbClr val="006455"/>
                          </a:solidFill>
                          <a:latin typeface="Montserrat"/>
                        </a:defRPr>
                      </a:pPr>
                      <a:r>
                        <a:t>0.2%</a:t>
                      </a:r>
                    </a:p>
                  </a:txBody>
                  <a:tcPr anchor="ctr">
                    <a:solidFill>
                      <a:srgbClr val="D9D9D9"/>
                    </a:solidFill>
                  </a:tcPr>
                </a:tc>
                <a:tc>
                  <a:txBody>
                    <a:bodyPr/>
                    <a:lstStyle/>
                    <a:p>
                      <a:pPr algn="ctr">
                        <a:defRPr sz="850">
                          <a:latin typeface="Montserrat"/>
                        </a:defRPr>
                      </a:pPr>
                      <a:r>
                        <a:t>Entrada Group de México S. de R.L. de C.V.</a:t>
                      </a:r>
                    </a:p>
                  </a:txBody>
                  <a:tcPr anchor="ctr">
                    <a:solidFill>
                      <a:srgbClr val="D9D9D9"/>
                    </a:solidFill>
                  </a:tcPr>
                </a:tc>
                <a:tc>
                  <a:txBody>
                    <a:bodyPr/>
                    <a:lstStyle/>
                    <a:p>
                      <a:pPr algn="ctr">
                        <a:defRPr sz="850">
                          <a:latin typeface="Montserrat"/>
                        </a:defRPr>
                      </a:pPr>
                      <a:r>
                        <a:t>4,304</a:t>
                      </a:r>
                    </a:p>
                  </a:txBody>
                  <a:tcPr anchor="ctr">
                    <a:solidFill>
                      <a:srgbClr val="D9D9D9"/>
                    </a:solidFill>
                  </a:tcPr>
                </a:tc>
                <a:tc>
                  <a:txBody>
                    <a:bodyPr/>
                    <a:lstStyle/>
                    <a:p>
                      <a:pPr algn="ctr">
                        <a:defRPr sz="850">
                          <a:latin typeface="Montserrat"/>
                        </a:defRPr>
                      </a:pPr>
                      <a:r>
                        <a:t>4,250</a:t>
                      </a:r>
                    </a:p>
                  </a:txBody>
                  <a:tcPr anchor="ctr">
                    <a:solidFill>
                      <a:srgbClr val="D9D9D9"/>
                    </a:solidFill>
                  </a:tcPr>
                </a:tc>
                <a:tc>
                  <a:txBody>
                    <a:bodyPr/>
                    <a:lstStyle/>
                    <a:p>
                      <a:pPr algn="ctr">
                        <a:defRPr sz="850" b="1">
                          <a:solidFill>
                            <a:srgbClr val="691C32"/>
                          </a:solidFill>
                          <a:latin typeface="Montserrat"/>
                        </a:defRPr>
                      </a:pPr>
                      <a:r>
                        <a:t>-1.3%</a:t>
                      </a:r>
                    </a:p>
                  </a:txBody>
                  <a:tcPr anchor="ctr">
                    <a:solidFill>
                      <a:srgbClr val="D9D9D9"/>
                    </a:solidFill>
                  </a:tcPr>
                </a:tc>
              </a:tr>
              <a:tr h="490320">
                <a:tc>
                  <a:txBody>
                    <a:bodyPr/>
                    <a:lstStyle/>
                    <a:p>
                      <a:pPr algn="ctr">
                        <a:defRPr sz="850">
                          <a:latin typeface="Montserrat"/>
                        </a:defRPr>
                      </a:pPr>
                      <a:r>
                        <a:t>Municipio de Fresnillo Zacatecas</a:t>
                      </a:r>
                    </a:p>
                  </a:txBody>
                  <a:tcPr anchor="ctr">
                    <a:solidFill>
                      <a:srgbClr val="FFFFFF"/>
                    </a:solidFill>
                  </a:tcPr>
                </a:tc>
                <a:tc>
                  <a:txBody>
                    <a:bodyPr/>
                    <a:lstStyle/>
                    <a:p>
                      <a:pPr algn="ctr">
                        <a:defRPr sz="850">
                          <a:latin typeface="Montserrat"/>
                        </a:defRPr>
                      </a:pPr>
                      <a:r>
                        <a:t>1,689</a:t>
                      </a:r>
                    </a:p>
                  </a:txBody>
                  <a:tcPr anchor="ctr">
                    <a:solidFill>
                      <a:srgbClr val="FFFFFF"/>
                    </a:solidFill>
                  </a:tcPr>
                </a:tc>
                <a:tc>
                  <a:txBody>
                    <a:bodyPr/>
                    <a:lstStyle/>
                    <a:p>
                      <a:pPr algn="ctr">
                        <a:defRPr sz="850">
                          <a:latin typeface="Montserrat"/>
                        </a:defRPr>
                      </a:pPr>
                      <a:r>
                        <a:t>1,708</a:t>
                      </a:r>
                    </a:p>
                  </a:txBody>
                  <a:tcPr anchor="ctr">
                    <a:solidFill>
                      <a:srgbClr val="FFFFFF"/>
                    </a:solidFill>
                  </a:tcPr>
                </a:tc>
                <a:tc>
                  <a:txBody>
                    <a:bodyPr/>
                    <a:lstStyle/>
                    <a:p>
                      <a:pPr algn="ctr">
                        <a:defRPr sz="850" b="1">
                          <a:solidFill>
                            <a:srgbClr val="006455"/>
                          </a:solidFill>
                          <a:latin typeface="Montserrat"/>
                        </a:defRPr>
                      </a:pPr>
                      <a:r>
                        <a:t>1.1%</a:t>
                      </a:r>
                    </a:p>
                  </a:txBody>
                  <a:tcPr anchor="ctr">
                    <a:solidFill>
                      <a:srgbClr val="FFFFFF"/>
                    </a:solidFill>
                  </a:tcPr>
                </a:tc>
                <a:tc>
                  <a:txBody>
                    <a:bodyPr/>
                    <a:lstStyle/>
                    <a:p>
                      <a:pPr algn="ctr">
                        <a:defRPr sz="850">
                          <a:latin typeface="Montserrat"/>
                        </a:defRPr>
                      </a:pPr>
                      <a:r>
                        <a:t>Minera Peñasquito S.A. de C.V.</a:t>
                      </a:r>
                    </a:p>
                  </a:txBody>
                  <a:tcPr anchor="ctr">
                    <a:solidFill>
                      <a:srgbClr val="FFFFFF"/>
                    </a:solidFill>
                  </a:tcPr>
                </a:tc>
                <a:tc>
                  <a:txBody>
                    <a:bodyPr/>
                    <a:lstStyle/>
                    <a:p>
                      <a:pPr algn="ctr">
                        <a:defRPr sz="850">
                          <a:latin typeface="Montserrat"/>
                        </a:defRPr>
                      </a:pPr>
                      <a:r>
                        <a:t>2,182</a:t>
                      </a:r>
                    </a:p>
                  </a:txBody>
                  <a:tcPr anchor="ctr">
                    <a:solidFill>
                      <a:srgbClr val="FFFFFF"/>
                    </a:solidFill>
                  </a:tcPr>
                </a:tc>
                <a:tc>
                  <a:txBody>
                    <a:bodyPr/>
                    <a:lstStyle/>
                    <a:p>
                      <a:pPr algn="ctr">
                        <a:defRPr sz="850">
                          <a:latin typeface="Montserrat"/>
                        </a:defRPr>
                      </a:pPr>
                      <a:r>
                        <a:t>2,176</a:t>
                      </a:r>
                    </a:p>
                  </a:txBody>
                  <a:tcPr anchor="ctr">
                    <a:solidFill>
                      <a:srgbClr val="FFFFFF"/>
                    </a:solidFill>
                  </a:tcPr>
                </a:tc>
                <a:tc>
                  <a:txBody>
                    <a:bodyPr/>
                    <a:lstStyle/>
                    <a:p>
                      <a:pPr algn="ctr">
                        <a:defRPr sz="850" b="1">
                          <a:solidFill>
                            <a:srgbClr val="691C32"/>
                          </a:solidFill>
                          <a:latin typeface="Montserrat"/>
                        </a:defRPr>
                      </a:pPr>
                      <a:r>
                        <a:t>-0.3%</a:t>
                      </a:r>
                    </a:p>
                  </a:txBody>
                  <a:tcPr anchor="ctr">
                    <a:solidFill>
                      <a:srgbClr val="FFFFFF"/>
                    </a:solidFill>
                  </a:tcPr>
                </a:tc>
              </a:tr>
            </a:tbl>
          </a:graphicData>
        </a:graphic>
      </p:graphicFrame>
      <p:graphicFrame>
        <p:nvGraphicFramePr>
          <p:cNvPr id="480" name="Chart 479"/>
          <p:cNvGraphicFramePr>
            <a:graphicFrameLocks noGrp="1"/>
          </p:cNvGraphicFramePr>
          <p:nvPr/>
        </p:nvGraphicFramePr>
        <p:xfrm>
          <a:off x="72000" y="3650400"/>
          <a:ext cx="7016399" cy="3726000"/>
        </p:xfrm>
        <a:graphic>
          <a:graphicData uri="http://schemas.openxmlformats.org/drawingml/2006/chart">
            <c:chart xmlns:c="http://schemas.openxmlformats.org/drawingml/2006/chart" r:id="rId4"/>
          </a:graphicData>
        </a:graphic>
      </p:graphicFrame>
      <p:sp>
        <p:nvSpPr>
          <p:cNvPr id="481" name="Rounded Rectangle 480"/>
          <p:cNvSpPr/>
          <p:nvPr/>
        </p:nvSpPr>
        <p:spPr>
          <a:xfrm>
            <a:off x="7020000" y="378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-47.40%</a:t>
            </a:r>
          </a:p>
        </p:txBody>
      </p:sp>
      <p:sp>
        <p:nvSpPr>
          <p:cNvPr id="482" name="Rounded Rectangle 481"/>
          <p:cNvSpPr/>
          <p:nvPr/>
        </p:nvSpPr>
        <p:spPr>
          <a:xfrm>
            <a:off x="7020000" y="4176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-1.14%</a:t>
            </a:r>
          </a:p>
        </p:txBody>
      </p:sp>
      <p:sp>
        <p:nvSpPr>
          <p:cNvPr id="483" name="Rounded Rectangle 482"/>
          <p:cNvSpPr/>
          <p:nvPr/>
        </p:nvSpPr>
        <p:spPr>
          <a:xfrm>
            <a:off x="7020000" y="4572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-0.63%</a:t>
            </a:r>
          </a:p>
        </p:txBody>
      </p:sp>
      <p:sp>
        <p:nvSpPr>
          <p:cNvPr id="484" name="Rounded Rectangle 483"/>
          <p:cNvSpPr/>
          <p:nvPr/>
        </p:nvSpPr>
        <p:spPr>
          <a:xfrm>
            <a:off x="7020000" y="496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+0.62%</a:t>
            </a:r>
          </a:p>
        </p:txBody>
      </p:sp>
      <p:sp>
        <p:nvSpPr>
          <p:cNvPr id="485" name="Rounded Rectangle 484"/>
          <p:cNvSpPr/>
          <p:nvPr/>
        </p:nvSpPr>
        <p:spPr>
          <a:xfrm>
            <a:off x="7020000" y="5364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+2.30%</a:t>
            </a:r>
          </a:p>
        </p:txBody>
      </p:sp>
      <p:sp>
        <p:nvSpPr>
          <p:cNvPr id="486" name="Rounded Rectangle 485"/>
          <p:cNvSpPr/>
          <p:nvPr/>
        </p:nvSpPr>
        <p:spPr>
          <a:xfrm>
            <a:off x="7020000" y="5760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+2.50%</a:t>
            </a:r>
          </a:p>
        </p:txBody>
      </p:sp>
      <p:sp>
        <p:nvSpPr>
          <p:cNvPr id="487" name="Rounded Rectangle 486"/>
          <p:cNvSpPr/>
          <p:nvPr/>
        </p:nvSpPr>
        <p:spPr>
          <a:xfrm>
            <a:off x="7020000" y="6156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+3.25%</a:t>
            </a:r>
          </a:p>
        </p:txBody>
      </p:sp>
      <p:sp>
        <p:nvSpPr>
          <p:cNvPr id="488" name="Rounded Rectangle 487"/>
          <p:cNvSpPr/>
          <p:nvPr/>
        </p:nvSpPr>
        <p:spPr>
          <a:xfrm>
            <a:off x="7020000" y="6552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+4.09%</a:t>
            </a:r>
          </a:p>
        </p:txBody>
      </p:sp>
      <p:sp>
        <p:nvSpPr>
          <p:cNvPr id="489" name="Rounded Rectangle 488"/>
          <p:cNvSpPr/>
          <p:nvPr/>
        </p:nvSpPr>
        <p:spPr>
          <a:xfrm>
            <a:off x="7020000" y="694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+6.85%</a:t>
            </a:r>
          </a:p>
        </p:txBody>
      </p:sp>
      <p:sp>
        <p:nvSpPr>
          <p:cNvPr id="490" name="Rounded Rectangle 489"/>
          <p:cNvSpPr/>
          <p:nvPr/>
        </p:nvSpPr>
        <p:spPr>
          <a:xfrm>
            <a:off x="4525200" y="3491999"/>
            <a:ext cx="763200" cy="2412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2025</a:t>
            </a:r>
          </a:p>
        </p:txBody>
      </p:sp>
      <p:sp>
        <p:nvSpPr>
          <p:cNvPr id="491" name="Rounded Rectangle 490"/>
          <p:cNvSpPr/>
          <p:nvPr/>
        </p:nvSpPr>
        <p:spPr>
          <a:xfrm>
            <a:off x="5425200" y="3491999"/>
            <a:ext cx="763200" cy="2412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2026</a:t>
            </a:r>
          </a:p>
        </p:txBody>
      </p:sp>
      <p:graphicFrame>
        <p:nvGraphicFramePr>
          <p:cNvPr id="492" name="Table 491"/>
          <p:cNvGraphicFramePr>
            <a:graphicFrameLocks noGrp="1"/>
          </p:cNvGraphicFramePr>
          <p:nvPr/>
        </p:nvGraphicFramePr>
        <p:xfrm>
          <a:off x="853200" y="7826399"/>
          <a:ext cx="5875200" cy="1383120"/>
        </p:xfrm>
        <a:graphic>
          <a:graphicData uri="http://schemas.openxmlformats.org/drawingml/2006/table">
            <a:tbl>
              <a:tblPr firstRow="1" bandRow="1">
                <a:tableStyleId>{5C22544A-7EE6-4342-B048-85BDC9FD1C3A}</a:tableStyleId>
              </a:tblPr>
              <a:tblGrid>
                <a:gridCol w="1260000"/>
                <a:gridCol w="838800"/>
                <a:gridCol w="838800"/>
                <a:gridCol w="838800"/>
                <a:gridCol w="838800"/>
                <a:gridCol w="1260000"/>
              </a:tblGrid>
              <a:tr h="286560">
                <a:tc rowSpan="2">
                  <a:txBody>
                    <a:bodyPr/>
                    <a:lstStyle/>
                    <a:p>
                      <a:pPr algn="ctr">
                        <a:defRPr b="1" sz="1000">
                          <a:solidFill>
                            <a:srgbClr val="FFFFFF"/>
                          </a:solidFill>
                          <a:latin typeface="Montserrat"/>
                        </a:defRPr>
                      </a:pPr>
                      <a:r>
                        <a:t>Mes</a:t>
                      </a:r>
                    </a:p>
                  </a:txBody>
                  <a:tcPr anchor="ctr">
                    <a:solidFill>
                      <a:srgbClr val="BC955C"/>
                    </a:solidFill>
                  </a:tcPr>
                </a:tc>
                <a:tc gridSpan="2">
                  <a:txBody>
                    <a:bodyPr/>
                    <a:lstStyle/>
                    <a:p>
                      <a:pPr algn="ctr">
                        <a:defRPr b="1" sz="1000">
                          <a:solidFill>
                            <a:srgbClr val="FFFFFF"/>
                          </a:solidFill>
                          <a:latin typeface="Montserrat"/>
                        </a:defRPr>
                      </a:pPr>
                      <a:r>
                        <a:t>Permanente</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gridSpan="2">
                  <a:txBody>
                    <a:bodyPr/>
                    <a:lstStyle/>
                    <a:p>
                      <a:pPr algn="ctr">
                        <a:defRPr b="1" sz="1000">
                          <a:solidFill>
                            <a:srgbClr val="FFFFFF"/>
                          </a:solidFill>
                          <a:latin typeface="Montserrat"/>
                        </a:defRPr>
                      </a:pPr>
                      <a:r>
                        <a:t>Eventual</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rowSpan="2">
                  <a:txBody>
                    <a:bodyPr/>
                    <a:lstStyle/>
                    <a:p>
                      <a:pPr algn="ctr">
                        <a:defRPr b="1" sz="1000">
                          <a:solidFill>
                            <a:srgbClr val="FFFFFF"/>
                          </a:solidFill>
                          <a:latin typeface="Montserrat"/>
                        </a:defRPr>
                      </a:pPr>
                      <a:r>
                        <a:t>Total</a:t>
                      </a:r>
                    </a:p>
                  </a:txBody>
                  <a:tcPr anchor="ctr">
                    <a:solidFill>
                      <a:srgbClr val="BC955C"/>
                    </a:solidFill>
                  </a:tcPr>
                </a:tc>
              </a:tr>
              <a:tr h="286560">
                <a:tc vMerge="1">
                  <a:txBody>
                    <a:bodyPr/>
                    <a:lstStyle/>
                    <a:p>
                      <a:pPr algn="ctr">
                        <a:defRPr b="1" sz="1000">
                          <a:solidFill>
                            <a:srgbClr val="FFFFFF"/>
                          </a:solidFill>
                          <a:latin typeface="Montserrat"/>
                        </a:defRPr>
                      </a:pP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vMerge="1">
                  <a:txBody>
                    <a:bodyPr/>
                    <a:lstStyle/>
                    <a:p>
                      <a:pPr algn="ctr">
                        <a:defRPr b="1" sz="1000">
                          <a:solidFill>
                            <a:srgbClr val="FFFFFF"/>
                          </a:solidFill>
                          <a:latin typeface="Montserrat"/>
                        </a:defRPr>
                      </a:pPr>
                    </a:p>
                  </a:txBody>
                  <a:tcPr anchor="ctr">
                    <a:solidFill>
                      <a:srgbClr val="BC955C"/>
                    </a:solidFill>
                  </a:tcPr>
                </a:tc>
              </a:tr>
              <a:tr h="270000">
                <a:tc>
                  <a:txBody>
                    <a:bodyPr/>
                    <a:lstStyle/>
                    <a:p>
                      <a:pPr algn="ctr">
                        <a:defRPr sz="900">
                          <a:latin typeface="Montserrat"/>
                        </a:defRPr>
                      </a:pPr>
                      <a:r>
                        <a:t>Abr 2025</a:t>
                      </a:r>
                    </a:p>
                  </a:txBody>
                  <a:tcPr>
                    <a:solidFill>
                      <a:srgbClr val="FFFFFF"/>
                    </a:solidFill>
                  </a:tcPr>
                </a:tc>
                <a:tc>
                  <a:txBody>
                    <a:bodyPr/>
                    <a:lstStyle/>
                    <a:p>
                      <a:pPr algn="ctr">
                        <a:defRPr sz="900">
                          <a:latin typeface="Montserrat"/>
                        </a:defRPr>
                      </a:pPr>
                      <a:r>
                        <a:t>156,114</a:t>
                      </a:r>
                    </a:p>
                  </a:txBody>
                  <a:tcPr>
                    <a:solidFill>
                      <a:srgbClr val="FFFFFF"/>
                    </a:solidFill>
                  </a:tcPr>
                </a:tc>
                <a:tc>
                  <a:txBody>
                    <a:bodyPr/>
                    <a:lstStyle/>
                    <a:p>
                      <a:pPr algn="ctr">
                        <a:defRPr sz="900">
                          <a:latin typeface="Montserrat"/>
                        </a:defRPr>
                      </a:pPr>
                      <a:r>
                        <a:t>4,259</a:t>
                      </a:r>
                    </a:p>
                  </a:txBody>
                  <a:tcPr>
                    <a:solidFill>
                      <a:srgbClr val="FFFFFF"/>
                    </a:solidFill>
                  </a:tcPr>
                </a:tc>
                <a:tc>
                  <a:txBody>
                    <a:bodyPr/>
                    <a:lstStyle/>
                    <a:p>
                      <a:pPr algn="ctr">
                        <a:defRPr sz="900">
                          <a:latin typeface="Montserrat"/>
                        </a:defRPr>
                      </a:pPr>
                      <a:r>
                        <a:t>28,067</a:t>
                      </a:r>
                    </a:p>
                  </a:txBody>
                  <a:tcPr>
                    <a:solidFill>
                      <a:srgbClr val="FFFFFF"/>
                    </a:solidFill>
                  </a:tcPr>
                </a:tc>
                <a:tc>
                  <a:txBody>
                    <a:bodyPr/>
                    <a:lstStyle/>
                    <a:p>
                      <a:pPr algn="ctr">
                        <a:defRPr sz="900">
                          <a:latin typeface="Montserrat"/>
                        </a:defRPr>
                      </a:pPr>
                      <a:r>
                        <a:t>1,823</a:t>
                      </a:r>
                    </a:p>
                  </a:txBody>
                  <a:tcPr>
                    <a:solidFill>
                      <a:srgbClr val="FFFFFF"/>
                    </a:solidFill>
                  </a:tcPr>
                </a:tc>
                <a:tc>
                  <a:txBody>
                    <a:bodyPr/>
                    <a:lstStyle/>
                    <a:p>
                      <a:pPr algn="ctr">
                        <a:defRPr sz="900">
                          <a:latin typeface="Montserrat"/>
                        </a:defRPr>
                      </a:pPr>
                      <a:r>
                        <a:t>190,263</a:t>
                      </a:r>
                    </a:p>
                  </a:txBody>
                  <a:tcPr>
                    <a:solidFill>
                      <a:srgbClr val="FFFFFF"/>
                    </a:solidFill>
                  </a:tcPr>
                </a:tc>
              </a:tr>
              <a:tr h="270000">
                <a:tc>
                  <a:txBody>
                    <a:bodyPr/>
                    <a:lstStyle/>
                    <a:p>
                      <a:pPr algn="ctr">
                        <a:defRPr sz="900">
                          <a:latin typeface="Montserrat"/>
                        </a:defRPr>
                      </a:pPr>
                      <a:r>
                        <a:t>Abr 2026</a:t>
                      </a:r>
                    </a:p>
                  </a:txBody>
                  <a:tcPr>
                    <a:solidFill>
                      <a:srgbClr val="D9D9D9"/>
                    </a:solidFill>
                  </a:tcPr>
                </a:tc>
                <a:tc>
                  <a:txBody>
                    <a:bodyPr/>
                    <a:lstStyle/>
                    <a:p>
                      <a:pPr algn="ctr">
                        <a:defRPr sz="900">
                          <a:latin typeface="Montserrat"/>
                        </a:defRPr>
                      </a:pPr>
                      <a:r>
                        <a:t>158,744</a:t>
                      </a:r>
                    </a:p>
                  </a:txBody>
                  <a:tcPr>
                    <a:solidFill>
                      <a:srgbClr val="D9D9D9"/>
                    </a:solidFill>
                  </a:tcPr>
                </a:tc>
                <a:tc>
                  <a:txBody>
                    <a:bodyPr/>
                    <a:lstStyle/>
                    <a:p>
                      <a:pPr algn="ctr">
                        <a:defRPr sz="900">
                          <a:latin typeface="Montserrat"/>
                        </a:defRPr>
                      </a:pPr>
                      <a:r>
                        <a:t>2,169</a:t>
                      </a:r>
                    </a:p>
                  </a:txBody>
                  <a:tcPr>
                    <a:solidFill>
                      <a:srgbClr val="D9D9D9"/>
                    </a:solidFill>
                  </a:tcPr>
                </a:tc>
                <a:tc>
                  <a:txBody>
                    <a:bodyPr/>
                    <a:lstStyle/>
                    <a:p>
                      <a:pPr algn="ctr">
                        <a:defRPr sz="900">
                          <a:latin typeface="Montserrat"/>
                        </a:defRPr>
                      </a:pPr>
                      <a:r>
                        <a:t>28,799</a:t>
                      </a:r>
                    </a:p>
                  </a:txBody>
                  <a:tcPr>
                    <a:solidFill>
                      <a:srgbClr val="D9D9D9"/>
                    </a:solidFill>
                  </a:tcPr>
                </a:tc>
                <a:tc>
                  <a:txBody>
                    <a:bodyPr/>
                    <a:lstStyle/>
                    <a:p>
                      <a:pPr algn="ctr">
                        <a:defRPr sz="900">
                          <a:latin typeface="Montserrat"/>
                        </a:defRPr>
                      </a:pPr>
                      <a:r>
                        <a:t>492</a:t>
                      </a:r>
                    </a:p>
                  </a:txBody>
                  <a:tcPr>
                    <a:solidFill>
                      <a:srgbClr val="D9D9D9"/>
                    </a:solidFill>
                  </a:tcPr>
                </a:tc>
                <a:tc>
                  <a:txBody>
                    <a:bodyPr/>
                    <a:lstStyle/>
                    <a:p>
                      <a:pPr algn="ctr">
                        <a:defRPr sz="900">
                          <a:latin typeface="Montserrat"/>
                        </a:defRPr>
                      </a:pPr>
                      <a:r>
                        <a:t>190,204</a:t>
                      </a:r>
                    </a:p>
                  </a:txBody>
                  <a:tcPr>
                    <a:solidFill>
                      <a:srgbClr val="D9D9D9"/>
                    </a:solidFill>
                  </a:tcPr>
                </a:tc>
              </a:tr>
              <a:tr h="270000">
                <a:tc>
                  <a:txBody>
                    <a:bodyPr/>
                    <a:lstStyle/>
                    <a:p>
                      <a:pPr algn="ctr">
                        <a:defRPr sz="900">
                          <a:latin typeface="Montserrat"/>
                        </a:defRPr>
                      </a:pPr>
                      <a:r>
                        <a:t>Variación %</a:t>
                      </a:r>
                    </a:p>
                  </a:txBody>
                  <a:tcPr>
                    <a:solidFill>
                      <a:srgbClr val="FFFFFF"/>
                    </a:solidFill>
                  </a:tcPr>
                </a:tc>
                <a:tc>
                  <a:txBody>
                    <a:bodyPr/>
                    <a:lstStyle/>
                    <a:p>
                      <a:pPr algn="ctr">
                        <a:defRPr sz="900" b="1">
                          <a:solidFill>
                            <a:srgbClr val="006455"/>
                          </a:solidFill>
                          <a:latin typeface="Montserrat"/>
                        </a:defRPr>
                      </a:pPr>
                      <a:r>
                        <a:t>+1.7%</a:t>
                      </a:r>
                    </a:p>
                  </a:txBody>
                  <a:tcPr>
                    <a:solidFill>
                      <a:srgbClr val="FFFFFF"/>
                    </a:solidFill>
                  </a:tcPr>
                </a:tc>
                <a:tc>
                  <a:txBody>
                    <a:bodyPr/>
                    <a:lstStyle/>
                    <a:p>
                      <a:pPr algn="ctr">
                        <a:defRPr sz="900" b="0">
                          <a:solidFill>
                            <a:srgbClr val="691C32"/>
                          </a:solidFill>
                          <a:latin typeface="Montserrat"/>
                        </a:defRPr>
                      </a:pPr>
                      <a:r>
                        <a:t>-49.1%</a:t>
                      </a:r>
                    </a:p>
                  </a:txBody>
                  <a:tcPr>
                    <a:solidFill>
                      <a:srgbClr val="FFFFFF"/>
                    </a:solidFill>
                  </a:tcPr>
                </a:tc>
                <a:tc>
                  <a:txBody>
                    <a:bodyPr/>
                    <a:lstStyle/>
                    <a:p>
                      <a:pPr algn="ctr">
                        <a:defRPr sz="900" b="1">
                          <a:solidFill>
                            <a:srgbClr val="006455"/>
                          </a:solidFill>
                          <a:latin typeface="Montserrat"/>
                        </a:defRPr>
                      </a:pPr>
                      <a:r>
                        <a:t>+2.6%</a:t>
                      </a:r>
                    </a:p>
                  </a:txBody>
                  <a:tcPr>
                    <a:solidFill>
                      <a:srgbClr val="FFFFFF"/>
                    </a:solidFill>
                  </a:tcPr>
                </a:tc>
                <a:tc>
                  <a:txBody>
                    <a:bodyPr/>
                    <a:lstStyle/>
                    <a:p>
                      <a:pPr algn="ctr">
                        <a:defRPr sz="900" b="0">
                          <a:solidFill>
                            <a:srgbClr val="691C32"/>
                          </a:solidFill>
                          <a:latin typeface="Montserrat"/>
                        </a:defRPr>
                      </a:pPr>
                      <a:r>
                        <a:t>-73.0%</a:t>
                      </a:r>
                    </a:p>
                  </a:txBody>
                  <a:tcPr>
                    <a:solidFill>
                      <a:srgbClr val="FFFFFF"/>
                    </a:solidFill>
                  </a:tcPr>
                </a:tc>
                <a:tc>
                  <a:txBody>
                    <a:bodyPr/>
                    <a:lstStyle/>
                    <a:p>
                      <a:pPr algn="ctr">
                        <a:defRPr sz="900">
                          <a:latin typeface="Montserrat"/>
                        </a:defRPr>
                      </a:pPr>
                      <a:r>
                        <a:t>-0.0%</a:t>
                      </a:r>
                    </a:p>
                  </a:txBody>
                  <a:tcPr>
                    <a:solidFill>
                      <a:srgbClr val="FFFFFF"/>
                    </a:solidFill>
                  </a:tcPr>
                </a:tc>
              </a:tr>
            </a:tbl>
          </a:graphicData>
        </a:graphic>
      </p:graphicFrame>
      <p:sp>
        <p:nvSpPr>
          <p:cNvPr id="493" name="TextBox 492"/>
          <p:cNvSpPr txBox="1"/>
          <p:nvPr/>
        </p:nvSpPr>
        <p:spPr>
          <a:xfrm>
            <a:off x="208800" y="9313200"/>
            <a:ext cx="4316400" cy="244800"/>
          </a:xfrm>
          <a:prstGeom prst="rect">
            <a:avLst/>
          </a:prstGeom>
          <a:noFill/>
        </p:spPr>
        <p:txBody>
          <a:bodyPr wrap="square" tIns="0" bIns="0" lIns="0" rIns="0">
            <a:spAutoFit/>
          </a:bodyPr>
          <a:lstStyle/>
          <a:p>
            <a:pPr algn="l">
              <a:defRPr sz="800">
                <a:solidFill>
                  <a:srgbClr val="000000"/>
                </a:solidFill>
                <a:latin typeface="Montserrat"/>
              </a:defRPr>
            </a:pPr>
            <a:r>
              <a:t>Fuente: Dirección de Incorporación y Recaudación.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90"/>
        <p:cNvGrpSpPr/>
        <p:nvPr/>
      </p:nvGrpSpPr>
      <p:grpSpPr>
        <a:xfrm>
          <a:off x="0" y="0"/>
          <a:ext cx="0" cy="0"/>
          <a:chOff x="0" y="0"/>
          <a:chExt cx="0" cy="0"/>
        </a:xfrm>
      </p:grpSpPr>
      <p:graphicFrame>
        <p:nvGraphicFramePr>
          <p:cNvPr id="492" name="Google Shape;492;g370e87ffe7a_2_319"/>
          <p:cNvGraphicFramePr/>
          <p:nvPr/>
        </p:nvGraphicFramePr>
        <p:xfrm>
          <a:off x="253000" y="656341"/>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000" b="1" u="none" strike="noStrike" cap="none">
                          <a:solidFill>
                            <a:srgbClr val="BC955C"/>
                          </a:solidFill>
                          <a:latin typeface="Montserrat"/>
                          <a:ea typeface="Montserrat"/>
                          <a:cs typeface="Montserrat"/>
                          <a:sym typeface="Montserrat"/>
                        </a:rPr>
                        <a:t>Puestos de trabajo y salario base de </a:t>
                      </a:r>
                      <a:r>
                        <a:rPr lang="es" sz="2000" b="1" u="none" strike="noStrike" cap="none">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6"/>
                            </a:ext>
                          </a:extLst>
                        </a:rPr>
                        <a:t>cotización</a:t>
                      </a:r>
                      <a:endParaRPr sz="25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93" name="Google Shape;493;g370e87ffe7a_2_319"/>
          <p:cNvPicPr preferRelativeResize="0"/>
          <p:nvPr/>
        </p:nvPicPr>
        <p:blipFill rotWithShape="1">
          <a:blip r:embed="rId4">
            <a:alphaModFix/>
          </a:blip>
          <a:srcRect/>
          <a:stretch/>
        </p:blipFill>
        <p:spPr>
          <a:xfrm>
            <a:off x="6743437" y="2513375"/>
            <a:ext cx="1017725" cy="965325"/>
          </a:xfrm>
          <a:prstGeom prst="rect">
            <a:avLst/>
          </a:prstGeom>
          <a:noFill/>
          <a:ln>
            <a:noFill/>
          </a:ln>
        </p:spPr>
      </p:pic>
      <p:sp>
        <p:nvSpPr>
          <p:cNvPr id="500" name="Google Shape;500;g370e87ffe7a_2_319"/>
          <p:cNvSpPr txBox="1"/>
          <p:nvPr/>
        </p:nvSpPr>
        <p:spPr>
          <a:xfrm>
            <a:off x="291337" y="2602800"/>
            <a:ext cx="64521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900" b="1" i="0" u="none" strike="noStrike" cap="none" dirty="0">
                <a:solidFill>
                  <a:srgbClr val="5B0F00"/>
                </a:solidFill>
                <a:latin typeface="Montserrat"/>
                <a:ea typeface="Montserrat"/>
                <a:cs typeface="Montserrat"/>
                <a:sym typeface="Montserrat"/>
              </a:rPr>
              <a:t> </a:t>
            </a:r>
            <a:r>
              <a:rPr lang="es" sz="1400" b="1" i="0" u="none" strike="noStrike" cap="none" dirty="0">
                <a:solidFill>
                  <a:srgbClr val="5B0F00"/>
                </a:solidFill>
                <a:latin typeface="Montserrat"/>
                <a:ea typeface="Montserrat"/>
                <a:cs typeface="Montserrat"/>
                <a:sym typeface="Montserrat"/>
              </a:rPr>
              <a:t>Puestos de trabajo comparación interanual de cada año</a:t>
            </a:r>
            <a:endParaRPr sz="2000" b="1" i="0" u="none" strike="noStrike" cap="none" dirty="0">
              <a:solidFill>
                <a:srgbClr val="5B0F00"/>
              </a:solidFill>
              <a:latin typeface="Montserrat"/>
              <a:ea typeface="Montserrat"/>
              <a:cs typeface="Montserrat"/>
              <a:sym typeface="Montserrat"/>
            </a:endParaRPr>
          </a:p>
        </p:txBody>
      </p:sp>
      <p:sp>
        <p:nvSpPr>
          <p:cNvPr id="2" name="Google Shape;496;g370e87ffe7a_2_319">
            <a:extLst>
              <a:ext uri="{FF2B5EF4-FFF2-40B4-BE49-F238E27FC236}">
                <a16:creationId xmlns:a16="http://schemas.microsoft.com/office/drawing/2014/main" id="{624E426C-214B-9408-8FCC-3D097E7961AD}"/>
              </a:ext>
            </a:extLst>
          </p:cNvPr>
          <p:cNvSpPr/>
          <p:nvPr/>
        </p:nvSpPr>
        <p:spPr>
          <a:xfrm>
            <a:off x="839061" y="1101600"/>
            <a:ext cx="497077" cy="381001"/>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A4214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1" name="TextBox 50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502" name="TextBox 501"/>
          <p:cNvSpPr txBox="1"/>
          <p:nvPr/>
        </p:nvSpPr>
        <p:spPr>
          <a:xfrm>
            <a:off x="6717600" y="2721600"/>
            <a:ext cx="961200" cy="630000"/>
          </a:xfrm>
          <a:prstGeom prst="rect">
            <a:avLst/>
          </a:prstGeom>
          <a:noFill/>
        </p:spPr>
        <p:txBody>
          <a:bodyPr wrap="none">
            <a:spAutoFit/>
          </a:bodyPr>
          <a:lstStyle/>
          <a:p>
            <a:pPr algn="ctr">
              <a:defRPr sz="1400" b="1">
                <a:solidFill>
                  <a:srgbClr val="FFFFFF"/>
                </a:solidFill>
                <a:latin typeface="Montserrat"/>
              </a:defRPr>
            </a:pPr>
            <a:r>
              <a:t>$601.67</a:t>
            </a:r>
          </a:p>
          <a:p>
            <a:pPr algn="ctr">
              <a:defRPr sz="800" b="1">
                <a:solidFill>
                  <a:srgbClr val="FFFFFF"/>
                </a:solidFill>
                <a:latin typeface="Montserrat"/>
              </a:defRPr>
            </a:pPr>
            <a:r>
              <a:t>SBC</a:t>
            </a:r>
          </a:p>
          <a:p>
            <a:pPr algn="ctr">
              <a:defRPr sz="800" b="0">
                <a:solidFill>
                  <a:srgbClr val="FFFFFF"/>
                </a:solidFill>
                <a:latin typeface="Montserrat"/>
              </a:defRPr>
            </a:pPr>
            <a:r>
              <a:t>Abril</a:t>
            </a:r>
          </a:p>
        </p:txBody>
      </p:sp>
      <p:graphicFrame>
        <p:nvGraphicFramePr>
          <p:cNvPr id="503" name="Table 502"/>
          <p:cNvGraphicFramePr>
            <a:graphicFrameLocks noGrp="1"/>
          </p:cNvGraphicFramePr>
          <p:nvPr/>
        </p:nvGraphicFramePr>
        <p:xfrm>
          <a:off x="478800" y="1130400"/>
          <a:ext cx="6638400" cy="576000"/>
        </p:xfrm>
        <a:graphic>
          <a:graphicData uri="http://schemas.openxmlformats.org/drawingml/2006/table">
            <a:tbl>
              <a:tblPr firstRow="1" bandRow="1">
                <a:tableStyleId>{5C22544A-7EE6-4342-B048-85BDC9FD1C3A}</a:tableStyleId>
              </a:tblPr>
              <a:tblGrid>
                <a:gridCol w="1106400"/>
                <a:gridCol w="1106400"/>
                <a:gridCol w="1106400"/>
                <a:gridCol w="1106400"/>
                <a:gridCol w="1106400"/>
                <a:gridCol w="1106400"/>
              </a:tblGrid>
              <a:tr h="288000">
                <a:tc>
                  <a:txBody>
                    <a:bodyPr/>
                    <a:lstStyle/>
                    <a:p>
                      <a:pPr algn="ctr">
                        <a:defRPr b="1" sz="1100">
                          <a:solidFill>
                            <a:srgbClr val="FFFFFF"/>
                          </a:solidFill>
                          <a:latin typeface="Montserrat"/>
                        </a:defRPr>
                      </a:pPr>
                    </a:p>
                  </a:txBody>
                  <a:tcPr anchor="ctr">
                    <a:noFill/>
                  </a:tcPr>
                </a:tc>
                <a:tc>
                  <a:txBody>
                    <a:bodyPr/>
                    <a:lstStyle/>
                    <a:p>
                      <a:pPr algn="ctr">
                        <a:defRPr b="1" sz="1100">
                          <a:solidFill>
                            <a:srgbClr val="FFFFFF"/>
                          </a:solidFill>
                          <a:latin typeface="Montserrat"/>
                        </a:defRPr>
                      </a:pPr>
                      <a:r>
                        <a:t>2018 diciembre</a:t>
                      </a:r>
                    </a:p>
                  </a:txBody>
                  <a:tcPr anchor="ctr">
                    <a:solidFill>
                      <a:srgbClr val="A42145"/>
                    </a:solidFill>
                  </a:tcPr>
                </a:tc>
                <a:tc>
                  <a:txBody>
                    <a:bodyPr/>
                    <a:lstStyle/>
                    <a:p>
                      <a:pPr algn="ctr">
                        <a:defRPr b="1" sz="1100">
                          <a:solidFill>
                            <a:srgbClr val="FFFFFF"/>
                          </a:solidFill>
                          <a:latin typeface="Montserrat"/>
                        </a:defRPr>
                      </a:pPr>
                      <a:r>
                        <a:t>2026 Abril</a:t>
                      </a:r>
                    </a:p>
                  </a:txBody>
                  <a:tcPr anchor="ctr">
                    <a:solidFill>
                      <a:srgbClr val="A42145"/>
                    </a:solidFill>
                  </a:tcPr>
                </a:tc>
                <a:tc>
                  <a:txBody>
                    <a:bodyPr/>
                    <a:lstStyle/>
                    <a:p>
                      <a:pPr algn="ctr">
                        <a:defRPr b="1" sz="1100">
                          <a:solidFill>
                            <a:srgbClr val="FFFFFF"/>
                          </a:solidFill>
                          <a:latin typeface="Montserrat"/>
                        </a:defRPr>
                      </a:pPr>
                      <a:r>
                        <a:t>Variación %</a:t>
                      </a:r>
                    </a:p>
                  </a:txBody>
                  <a:tcPr anchor="ctr">
                    <a:solidFill>
                      <a:srgbClr val="A42145"/>
                    </a:solidFill>
                  </a:tcPr>
                </a:tc>
                <a:tc>
                  <a:txBody>
                    <a:bodyPr/>
                    <a:lstStyle/>
                    <a:p>
                      <a:pPr algn="ctr">
                        <a:defRPr b="1" sz="1100">
                          <a:solidFill>
                            <a:srgbClr val="FFFFFF"/>
                          </a:solidFill>
                          <a:latin typeface="Montserrat"/>
                        </a:defRPr>
                      </a:pPr>
                      <a:r>
                        <a:t>Nacional 2026</a:t>
                      </a:r>
                    </a:p>
                  </a:txBody>
                  <a:tcPr anchor="ctr">
                    <a:solidFill>
                      <a:srgbClr val="A42145"/>
                    </a:solidFill>
                  </a:tcPr>
                </a:tc>
                <a:tc>
                  <a:txBody>
                    <a:bodyPr/>
                    <a:lstStyle/>
                    <a:p>
                      <a:pPr algn="ctr">
                        <a:defRPr b="1" sz="1100">
                          <a:solidFill>
                            <a:srgbClr val="FFFFFF"/>
                          </a:solidFill>
                          <a:latin typeface="Montserrat"/>
                        </a:defRPr>
                      </a:pPr>
                      <a:r>
                        <a:t>Salario Mensual</a:t>
                      </a:r>
                    </a:p>
                  </a:txBody>
                  <a:tcPr anchor="ctr">
                    <a:solidFill>
                      <a:srgbClr val="A42145"/>
                    </a:solidFill>
                  </a:tcPr>
                </a:tc>
              </a:tr>
              <a:tr h="288000">
                <a:tc>
                  <a:txBody>
                    <a:bodyPr/>
                    <a:lstStyle/>
                    <a:p>
                      <a:pPr algn="ctr">
                        <a:defRPr sz="1100" b="1">
                          <a:solidFill>
                            <a:srgbClr val="FFFFFF"/>
                          </a:solidFill>
                          <a:latin typeface="Montserrat"/>
                        </a:defRPr>
                      </a:pPr>
                      <a:r>
                        <a:t>Salario Base de Cotización</a:t>
                      </a:r>
                    </a:p>
                  </a:txBody>
                  <a:tcPr anchor="ctr">
                    <a:solidFill>
                      <a:srgbClr val="A42145"/>
                    </a:solidFill>
                  </a:tcPr>
                </a:tc>
                <a:tc>
                  <a:txBody>
                    <a:bodyPr/>
                    <a:lstStyle/>
                    <a:p>
                      <a:pPr algn="ctr">
                        <a:defRPr sz="1100">
                          <a:latin typeface="Montserrat"/>
                        </a:defRPr>
                      </a:pPr>
                      <a:r>
                        <a:t>$326.91</a:t>
                      </a:r>
                    </a:p>
                  </a:txBody>
                  <a:tcPr anchor="ctr">
                    <a:solidFill>
                      <a:srgbClr val="EEEEEE"/>
                    </a:solidFill>
                  </a:tcPr>
                </a:tc>
                <a:tc>
                  <a:txBody>
                    <a:bodyPr/>
                    <a:lstStyle/>
                    <a:p>
                      <a:pPr algn="ctr">
                        <a:defRPr sz="1100" b="1">
                          <a:latin typeface="Montserrat"/>
                        </a:defRPr>
                      </a:pPr>
                      <a:r>
                        <a:t>$601.67</a:t>
                      </a:r>
                    </a:p>
                  </a:txBody>
                  <a:tcPr anchor="ctr">
                    <a:solidFill>
                      <a:srgbClr val="EEEEEE"/>
                    </a:solidFill>
                  </a:tcPr>
                </a:tc>
                <a:tc>
                  <a:txBody>
                    <a:bodyPr/>
                    <a:lstStyle/>
                    <a:p>
                      <a:pPr algn="ctr">
                        <a:defRPr sz="1100">
                          <a:latin typeface="Montserrat"/>
                        </a:defRPr>
                      </a:pPr>
                      <a:r>
                        <a:t>30.0%</a:t>
                      </a:r>
                    </a:p>
                  </a:txBody>
                  <a:tcPr anchor="ctr">
                    <a:solidFill>
                      <a:srgbClr val="EEEEEE"/>
                    </a:solidFill>
                  </a:tcPr>
                </a:tc>
                <a:tc>
                  <a:txBody>
                    <a:bodyPr/>
                    <a:lstStyle/>
                    <a:p>
                      <a:pPr algn="ctr">
                        <a:defRPr sz="1100" b="1">
                          <a:latin typeface="Montserrat"/>
                        </a:defRPr>
                      </a:pPr>
                      <a:r>
                        <a:t>$664.55</a:t>
                      </a:r>
                    </a:p>
                  </a:txBody>
                  <a:tcPr anchor="ctr">
                    <a:solidFill>
                      <a:srgbClr val="EEEEEE"/>
                    </a:solidFill>
                  </a:tcPr>
                </a:tc>
                <a:tc>
                  <a:txBody>
                    <a:bodyPr/>
                    <a:lstStyle/>
                    <a:p>
                      <a:pPr algn="ctr">
                        <a:defRPr sz="1100" b="1">
                          <a:solidFill>
                            <a:srgbClr val="9F2241"/>
                          </a:solidFill>
                          <a:latin typeface="Montserrat"/>
                        </a:defRPr>
                      </a:pPr>
                      <a:r>
                        <a:t>$18,050.1</a:t>
                      </a:r>
                    </a:p>
                  </a:txBody>
                  <a:tcPr anchor="ctr">
                    <a:solidFill>
                      <a:srgbClr val="EEEEEE"/>
                    </a:solidFill>
                  </a:tcPr>
                </a:tc>
              </a:tr>
            </a:tbl>
          </a:graphicData>
        </a:graphic>
      </p:graphicFrame>
      <p:graphicFrame>
        <p:nvGraphicFramePr>
          <p:cNvPr id="504" name="Chart 503"/>
          <p:cNvGraphicFramePr>
            <a:graphicFrameLocks noGrp="1"/>
          </p:cNvGraphicFramePr>
          <p:nvPr/>
        </p:nvGraphicFramePr>
        <p:xfrm>
          <a:off x="745200" y="2851200"/>
          <a:ext cx="6163200" cy="3600000"/>
        </p:xfrm>
        <a:graphic>
          <a:graphicData uri="http://schemas.openxmlformats.org/drawingml/2006/chart">
            <c:chart xmlns:c="http://schemas.openxmlformats.org/drawingml/2006/chart" r:id="rId5"/>
          </a:graphicData>
        </a:graphic>
      </p:graphicFrame>
      <p:sp>
        <p:nvSpPr>
          <p:cNvPr id="505" name="TextBox 504"/>
          <p:cNvSpPr txBox="1"/>
          <p:nvPr/>
        </p:nvSpPr>
        <p:spPr>
          <a:xfrm>
            <a:off x="745200" y="6271200"/>
            <a:ext cx="684800" cy="288000"/>
          </a:xfrm>
          <a:prstGeom prst="rect">
            <a:avLst/>
          </a:prstGeom>
          <a:noFill/>
        </p:spPr>
        <p:txBody>
          <a:bodyPr wrap="square">
            <a:spAutoFit/>
          </a:bodyPr>
          <a:lstStyle/>
          <a:p>
            <a:pPr algn="ctr">
              <a:defRPr sz="900" b="0">
                <a:solidFill>
                  <a:srgbClr val="10312B"/>
                </a:solidFill>
                <a:latin typeface="Montserrat"/>
              </a:defRPr>
            </a:pPr>
            <a:r>
              <a:t>2018</a:t>
            </a:r>
          </a:p>
        </p:txBody>
      </p:sp>
      <p:sp>
        <p:nvSpPr>
          <p:cNvPr id="506" name="TextBox 505"/>
          <p:cNvSpPr txBox="1"/>
          <p:nvPr/>
        </p:nvSpPr>
        <p:spPr>
          <a:xfrm>
            <a:off x="1430000" y="6271200"/>
            <a:ext cx="684800" cy="288000"/>
          </a:xfrm>
          <a:prstGeom prst="rect">
            <a:avLst/>
          </a:prstGeom>
          <a:noFill/>
        </p:spPr>
        <p:txBody>
          <a:bodyPr wrap="square">
            <a:spAutoFit/>
          </a:bodyPr>
          <a:lstStyle/>
          <a:p>
            <a:pPr algn="ctr">
              <a:defRPr sz="900" b="0">
                <a:solidFill>
                  <a:srgbClr val="10312B"/>
                </a:solidFill>
                <a:latin typeface="Montserrat"/>
              </a:defRPr>
            </a:pPr>
            <a:r>
              <a:t>2019</a:t>
            </a:r>
          </a:p>
        </p:txBody>
      </p:sp>
      <p:sp>
        <p:nvSpPr>
          <p:cNvPr id="507" name="TextBox 506"/>
          <p:cNvSpPr txBox="1"/>
          <p:nvPr/>
        </p:nvSpPr>
        <p:spPr>
          <a:xfrm>
            <a:off x="2114800" y="6271200"/>
            <a:ext cx="684800" cy="288000"/>
          </a:xfrm>
          <a:prstGeom prst="rect">
            <a:avLst/>
          </a:prstGeom>
          <a:noFill/>
        </p:spPr>
        <p:txBody>
          <a:bodyPr wrap="square">
            <a:spAutoFit/>
          </a:bodyPr>
          <a:lstStyle/>
          <a:p>
            <a:pPr algn="ctr">
              <a:defRPr sz="900" b="0">
                <a:solidFill>
                  <a:srgbClr val="10312B"/>
                </a:solidFill>
                <a:latin typeface="Montserrat"/>
              </a:defRPr>
            </a:pPr>
            <a:r>
              <a:t>2020</a:t>
            </a:r>
          </a:p>
        </p:txBody>
      </p:sp>
      <p:sp>
        <p:nvSpPr>
          <p:cNvPr id="508" name="TextBox 507"/>
          <p:cNvSpPr txBox="1"/>
          <p:nvPr/>
        </p:nvSpPr>
        <p:spPr>
          <a:xfrm>
            <a:off x="2799600" y="6271200"/>
            <a:ext cx="684800" cy="288000"/>
          </a:xfrm>
          <a:prstGeom prst="rect">
            <a:avLst/>
          </a:prstGeom>
          <a:noFill/>
        </p:spPr>
        <p:txBody>
          <a:bodyPr wrap="square">
            <a:spAutoFit/>
          </a:bodyPr>
          <a:lstStyle/>
          <a:p>
            <a:pPr algn="ctr">
              <a:defRPr sz="900" b="0">
                <a:solidFill>
                  <a:srgbClr val="10312B"/>
                </a:solidFill>
                <a:latin typeface="Montserrat"/>
              </a:defRPr>
            </a:pPr>
            <a:r>
              <a:t>2021</a:t>
            </a:r>
          </a:p>
        </p:txBody>
      </p:sp>
      <p:sp>
        <p:nvSpPr>
          <p:cNvPr id="509" name="TextBox 508"/>
          <p:cNvSpPr txBox="1"/>
          <p:nvPr/>
        </p:nvSpPr>
        <p:spPr>
          <a:xfrm>
            <a:off x="3484400" y="6271200"/>
            <a:ext cx="684800" cy="288000"/>
          </a:xfrm>
          <a:prstGeom prst="rect">
            <a:avLst/>
          </a:prstGeom>
          <a:noFill/>
        </p:spPr>
        <p:txBody>
          <a:bodyPr wrap="square">
            <a:spAutoFit/>
          </a:bodyPr>
          <a:lstStyle/>
          <a:p>
            <a:pPr algn="ctr">
              <a:defRPr sz="900" b="0">
                <a:solidFill>
                  <a:srgbClr val="10312B"/>
                </a:solidFill>
                <a:latin typeface="Montserrat"/>
              </a:defRPr>
            </a:pPr>
            <a:r>
              <a:t>2022</a:t>
            </a:r>
          </a:p>
        </p:txBody>
      </p:sp>
      <p:sp>
        <p:nvSpPr>
          <p:cNvPr id="510" name="TextBox 509"/>
          <p:cNvSpPr txBox="1"/>
          <p:nvPr/>
        </p:nvSpPr>
        <p:spPr>
          <a:xfrm>
            <a:off x="4169200" y="6271200"/>
            <a:ext cx="684800" cy="288000"/>
          </a:xfrm>
          <a:prstGeom prst="rect">
            <a:avLst/>
          </a:prstGeom>
          <a:noFill/>
        </p:spPr>
        <p:txBody>
          <a:bodyPr wrap="square">
            <a:spAutoFit/>
          </a:bodyPr>
          <a:lstStyle/>
          <a:p>
            <a:pPr algn="ctr">
              <a:defRPr sz="900" b="0">
                <a:solidFill>
                  <a:srgbClr val="10312B"/>
                </a:solidFill>
                <a:latin typeface="Montserrat"/>
              </a:defRPr>
            </a:pPr>
            <a:r>
              <a:t>2023</a:t>
            </a:r>
          </a:p>
        </p:txBody>
      </p:sp>
      <p:sp>
        <p:nvSpPr>
          <p:cNvPr id="511" name="TextBox 510"/>
          <p:cNvSpPr txBox="1"/>
          <p:nvPr/>
        </p:nvSpPr>
        <p:spPr>
          <a:xfrm>
            <a:off x="4854000" y="6271200"/>
            <a:ext cx="684800" cy="288000"/>
          </a:xfrm>
          <a:prstGeom prst="rect">
            <a:avLst/>
          </a:prstGeom>
          <a:noFill/>
        </p:spPr>
        <p:txBody>
          <a:bodyPr wrap="square">
            <a:spAutoFit/>
          </a:bodyPr>
          <a:lstStyle/>
          <a:p>
            <a:pPr algn="ctr">
              <a:defRPr sz="900" b="0">
                <a:solidFill>
                  <a:srgbClr val="10312B"/>
                </a:solidFill>
                <a:latin typeface="Montserrat"/>
              </a:defRPr>
            </a:pPr>
            <a:r>
              <a:t>2024</a:t>
            </a:r>
          </a:p>
        </p:txBody>
      </p:sp>
      <p:sp>
        <p:nvSpPr>
          <p:cNvPr id="512" name="TextBox 511"/>
          <p:cNvSpPr txBox="1"/>
          <p:nvPr/>
        </p:nvSpPr>
        <p:spPr>
          <a:xfrm>
            <a:off x="5538800" y="6271200"/>
            <a:ext cx="684800" cy="288000"/>
          </a:xfrm>
          <a:prstGeom prst="rect">
            <a:avLst/>
          </a:prstGeom>
          <a:noFill/>
        </p:spPr>
        <p:txBody>
          <a:bodyPr wrap="square">
            <a:spAutoFit/>
          </a:bodyPr>
          <a:lstStyle/>
          <a:p>
            <a:pPr algn="ctr">
              <a:defRPr sz="900" b="0">
                <a:solidFill>
                  <a:srgbClr val="10312B"/>
                </a:solidFill>
                <a:latin typeface="Montserrat"/>
              </a:defRPr>
            </a:pPr>
            <a:r>
              <a:t>2025</a:t>
            </a:r>
          </a:p>
        </p:txBody>
      </p:sp>
      <p:sp>
        <p:nvSpPr>
          <p:cNvPr id="513" name="TextBox 512"/>
          <p:cNvSpPr txBox="1"/>
          <p:nvPr/>
        </p:nvSpPr>
        <p:spPr>
          <a:xfrm>
            <a:off x="6223600" y="6271200"/>
            <a:ext cx="684800" cy="288000"/>
          </a:xfrm>
          <a:prstGeom prst="rect">
            <a:avLst/>
          </a:prstGeom>
          <a:noFill/>
        </p:spPr>
        <p:txBody>
          <a:bodyPr wrap="square">
            <a:spAutoFit/>
          </a:bodyPr>
          <a:lstStyle/>
          <a:p>
            <a:pPr algn="ctr">
              <a:defRPr sz="900" b="0">
                <a:solidFill>
                  <a:srgbClr val="10312B"/>
                </a:solidFill>
                <a:latin typeface="Montserrat"/>
              </a:defRPr>
            </a:pPr>
            <a:r>
              <a:t>2026</a:t>
            </a:r>
          </a:p>
        </p:txBody>
      </p:sp>
      <p:graphicFrame>
        <p:nvGraphicFramePr>
          <p:cNvPr id="514" name="Table 513"/>
          <p:cNvGraphicFramePr>
            <a:graphicFrameLocks noGrp="1"/>
          </p:cNvGraphicFramePr>
          <p:nvPr/>
        </p:nvGraphicFramePr>
        <p:xfrm>
          <a:off x="320400" y="6649200"/>
          <a:ext cx="7038000" cy="2339999"/>
        </p:xfrm>
        <a:graphic>
          <a:graphicData uri="http://schemas.openxmlformats.org/drawingml/2006/table">
            <a:tbl>
              <a:tblPr firstRow="1" bandRow="1">
                <a:tableStyleId>{5C22544A-7EE6-4342-B048-85BDC9FD1C3A}</a:tableStyleId>
              </a:tblPr>
              <a:tblGrid>
                <a:gridCol w="2520000"/>
                <a:gridCol w="3240000"/>
                <a:gridCol w="1278000"/>
              </a:tblGrid>
              <a:tr h="251999">
                <a:tc gridSpan="3">
                  <a:txBody>
                    <a:bodyPr/>
                    <a:lstStyle/>
                    <a:p>
                      <a:pPr algn="ctr">
                        <a:defRPr b="1" sz="1100">
                          <a:solidFill>
                            <a:srgbClr val="FFFFFF"/>
                          </a:solidFill>
                          <a:latin typeface="Montserrat"/>
                        </a:defRPr>
                      </a:pPr>
                      <a:r>
                        <a:t>PRINCIPALES DEUDORES</a:t>
                      </a:r>
                    </a:p>
                  </a:txBody>
                  <a:tcPr>
                    <a:solidFill>
                      <a:srgbClr val="006455"/>
                    </a:solidFill>
                  </a:tcPr>
                </a:tc>
                <a:tc hMerge="1">
                  <a:txBody>
                    <a:bodyPr/>
                    <a:lstStyle/>
                    <a:p/>
                  </a:txBody>
                  <a:tcPr/>
                </a:tc>
                <a:tc hMerge="1">
                  <a:txBody>
                    <a:bodyPr/>
                    <a:lstStyle/>
                    <a:p/>
                  </a:txBody>
                  <a:tcPr/>
                </a:tc>
              </a:tr>
              <a:tr h="360000">
                <a:tc>
                  <a:txBody>
                    <a:bodyPr/>
                    <a:lstStyle/>
                    <a:p>
                      <a:pPr algn="ctr">
                        <a:defRPr b="1" sz="1100">
                          <a:solidFill>
                            <a:srgbClr val="FFFFFF"/>
                          </a:solidFill>
                          <a:latin typeface="Montserrat"/>
                        </a:defRPr>
                      </a:pPr>
                      <a:r>
                        <a:t>Categoría</a:t>
                      </a:r>
                    </a:p>
                  </a:txBody>
                  <a:tcPr>
                    <a:solidFill>
                      <a:srgbClr val="006455"/>
                    </a:solidFill>
                  </a:tcPr>
                </a:tc>
                <a:tc>
                  <a:txBody>
                    <a:bodyPr/>
                    <a:lstStyle/>
                    <a:p>
                      <a:pPr algn="ctr">
                        <a:defRPr b="1" sz="1100">
                          <a:solidFill>
                            <a:srgbClr val="FFFFFF"/>
                          </a:solidFill>
                          <a:latin typeface="Montserrat"/>
                        </a:defRPr>
                      </a:pPr>
                      <a:r>
                        <a:t>Deudores</a:t>
                      </a:r>
                    </a:p>
                  </a:txBody>
                  <a:tcPr>
                    <a:solidFill>
                      <a:srgbClr val="006455"/>
                    </a:solidFill>
                  </a:tcPr>
                </a:tc>
                <a:tc>
                  <a:txBody>
                    <a:bodyPr/>
                    <a:lstStyle/>
                    <a:p>
                      <a:pPr algn="ctr">
                        <a:defRPr b="1" sz="1100">
                          <a:solidFill>
                            <a:srgbClr val="FFFFFF"/>
                          </a:solidFill>
                          <a:latin typeface="Montserrat"/>
                        </a:defRPr>
                      </a:pPr>
                      <a:r>
                        <a:t>Monto de deuda (mdp)</a:t>
                      </a:r>
                    </a:p>
                  </a:txBody>
                  <a:tcPr>
                    <a:solidFill>
                      <a:srgbClr val="006455"/>
                    </a:solidFill>
                  </a:tcPr>
                </a:tc>
              </a:tr>
              <a:tr h="288000">
                <a:tc rowSpan="3">
                  <a:txBody>
                    <a:bodyPr/>
                    <a:lstStyle/>
                    <a:p>
                      <a:pPr algn="ctr">
                        <a:defRPr sz="1100">
                          <a:solidFill>
                            <a:srgbClr val="FFFFFF"/>
                          </a:solidFill>
                          <a:latin typeface="Montserrat"/>
                        </a:defRPr>
                      </a:pPr>
                      <a:r>
                        <a:t>Principal deudor público</a:t>
                      </a:r>
                    </a:p>
                  </a:txBody>
                  <a:tcPr anchor="ctr">
                    <a:solidFill>
                      <a:srgbClr val="006455"/>
                    </a:solidFill>
                  </a:tcPr>
                </a:tc>
                <a:tc>
                  <a:txBody>
                    <a:bodyPr/>
                    <a:lstStyle/>
                    <a:p>
                      <a:pPr algn="ctr">
                        <a:defRPr sz="900">
                          <a:latin typeface="Montserrat"/>
                        </a:defRPr>
                      </a:pPr>
                      <a:r>
                        <a:t>Secretaría de Educación</a:t>
                      </a:r>
                    </a:p>
                  </a:txBody>
                  <a:tcPr>
                    <a:solidFill>
                      <a:srgbClr val="FFFFFF"/>
                    </a:solidFill>
                  </a:tcPr>
                </a:tc>
                <a:tc>
                  <a:txBody>
                    <a:bodyPr/>
                    <a:lstStyle/>
                    <a:p>
                      <a:pPr algn="ctr">
                        <a:defRPr sz="900">
                          <a:latin typeface="Montserrat"/>
                        </a:defRPr>
                      </a:pPr>
                      <a:r>
                        <a:t>$222.00</a:t>
                      </a:r>
                    </a:p>
                  </a:txBody>
                  <a:tcPr>
                    <a:solidFill>
                      <a:srgbClr val="FFFFFF"/>
                    </a:solidFill>
                  </a:tcPr>
                </a:tc>
              </a:tr>
              <a:tr h="288000">
                <a:tc vMerge="1">
                  <a:txBody>
                    <a:bodyPr/>
                    <a:lstStyle/>
                    <a:p/>
                  </a:txBody>
                  <a:tcPr>
                    <a:solidFill>
                      <a:srgbClr val="EEEEEE"/>
                    </a:solidFill>
                  </a:tcPr>
                </a:tc>
                <a:tc>
                  <a:txBody>
                    <a:bodyPr/>
                    <a:lstStyle/>
                    <a:p>
                      <a:pPr algn="ctr">
                        <a:defRPr sz="900">
                          <a:latin typeface="Montserrat"/>
                        </a:defRPr>
                      </a:pPr>
                      <a:r>
                        <a:t>Municipio de Sombrerete</a:t>
                      </a:r>
                    </a:p>
                  </a:txBody>
                  <a:tcPr>
                    <a:solidFill>
                      <a:srgbClr val="EEEEEE"/>
                    </a:solidFill>
                  </a:tcPr>
                </a:tc>
                <a:tc>
                  <a:txBody>
                    <a:bodyPr/>
                    <a:lstStyle/>
                    <a:p>
                      <a:pPr algn="ctr">
                        <a:defRPr sz="900">
                          <a:latin typeface="Montserrat"/>
                        </a:defRPr>
                      </a:pPr>
                      <a:r>
                        <a:t>$138.93</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Municipio de Trancoso</a:t>
                      </a:r>
                    </a:p>
                  </a:txBody>
                  <a:tcPr>
                    <a:solidFill>
                      <a:srgbClr val="FFFFFF"/>
                    </a:solidFill>
                  </a:tcPr>
                </a:tc>
                <a:tc>
                  <a:txBody>
                    <a:bodyPr/>
                    <a:lstStyle/>
                    <a:p>
                      <a:pPr algn="ctr">
                        <a:defRPr sz="900">
                          <a:latin typeface="Montserrat"/>
                        </a:defRPr>
                      </a:pPr>
                      <a:r>
                        <a:t>$59.79</a:t>
                      </a:r>
                    </a:p>
                  </a:txBody>
                  <a:tcPr>
                    <a:solidFill>
                      <a:srgbClr val="FFFFFF"/>
                    </a:solidFill>
                  </a:tcPr>
                </a:tc>
              </a:tr>
              <a:tr h="288000">
                <a:tc rowSpan="3">
                  <a:txBody>
                    <a:bodyPr/>
                    <a:lstStyle/>
                    <a:p>
                      <a:pPr algn="ctr">
                        <a:defRPr sz="1100">
                          <a:solidFill>
                            <a:srgbClr val="FFFFFF"/>
                          </a:solidFill>
                          <a:latin typeface="Montserrat"/>
                        </a:defRPr>
                      </a:pPr>
                      <a:r>
                        <a:t>Principal deudor privado</a:t>
                      </a:r>
                    </a:p>
                  </a:txBody>
                  <a:tcPr anchor="ctr">
                    <a:solidFill>
                      <a:srgbClr val="006455"/>
                    </a:solidFill>
                  </a:tcPr>
                </a:tc>
                <a:tc>
                  <a:txBody>
                    <a:bodyPr/>
                    <a:lstStyle/>
                    <a:p>
                      <a:pPr algn="ctr">
                        <a:defRPr sz="900">
                          <a:latin typeface="Montserrat"/>
                        </a:defRPr>
                      </a:pPr>
                      <a:r>
                        <a:t>Paravillage Trasnporte y Logística SAS de CV</a:t>
                      </a:r>
                    </a:p>
                  </a:txBody>
                  <a:tcPr>
                    <a:solidFill>
                      <a:srgbClr val="EEEEEE"/>
                    </a:solidFill>
                  </a:tcPr>
                </a:tc>
                <a:tc>
                  <a:txBody>
                    <a:bodyPr/>
                    <a:lstStyle/>
                    <a:p>
                      <a:pPr algn="ctr">
                        <a:defRPr sz="900">
                          <a:latin typeface="Montserrat"/>
                        </a:defRPr>
                      </a:pPr>
                      <a:r>
                        <a:t>$10.85</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Servicios de Repostería Medina SAS de CV</a:t>
                      </a:r>
                    </a:p>
                  </a:txBody>
                  <a:tcPr>
                    <a:solidFill>
                      <a:srgbClr val="FFFFFF"/>
                    </a:solidFill>
                  </a:tcPr>
                </a:tc>
                <a:tc>
                  <a:txBody>
                    <a:bodyPr/>
                    <a:lstStyle/>
                    <a:p>
                      <a:pPr algn="ctr">
                        <a:defRPr sz="900">
                          <a:latin typeface="Montserrat"/>
                        </a:defRPr>
                      </a:pPr>
                      <a:r>
                        <a:t>$7.52</a:t>
                      </a:r>
                    </a:p>
                  </a:txBody>
                  <a:tcPr>
                    <a:solidFill>
                      <a:srgbClr val="FFFFFF"/>
                    </a:solidFill>
                  </a:tcPr>
                </a:tc>
              </a:tr>
              <a:tr h="288000">
                <a:tc vMerge="1">
                  <a:txBody>
                    <a:bodyPr/>
                    <a:lstStyle/>
                    <a:p/>
                  </a:txBody>
                  <a:tcPr>
                    <a:solidFill>
                      <a:srgbClr val="006455"/>
                    </a:solidFill>
                  </a:tcPr>
                </a:tc>
                <a:tc>
                  <a:txBody>
                    <a:bodyPr/>
                    <a:lstStyle/>
                    <a:p>
                      <a:pPr algn="ctr">
                        <a:defRPr sz="900">
                          <a:latin typeface="Montserrat"/>
                        </a:defRPr>
                      </a:pPr>
                      <a:r>
                        <a:t>Concreto Lanzado de Los Mochis SA de CV</a:t>
                      </a:r>
                    </a:p>
                  </a:txBody>
                  <a:tcPr>
                    <a:solidFill>
                      <a:srgbClr val="EEEEEE"/>
                    </a:solidFill>
                  </a:tcPr>
                </a:tc>
                <a:tc>
                  <a:txBody>
                    <a:bodyPr/>
                    <a:lstStyle/>
                    <a:p>
                      <a:pPr algn="ctr">
                        <a:defRPr sz="900">
                          <a:latin typeface="Montserrat"/>
                        </a:defRPr>
                      </a:pPr>
                      <a:r>
                        <a:t>$5.03</a:t>
                      </a:r>
                    </a:p>
                  </a:txBody>
                  <a:tcPr>
                    <a:solidFill>
                      <a:srgbClr val="EEEEEE"/>
                    </a:solidFill>
                  </a:tcPr>
                </a:tc>
              </a:tr>
            </a:tbl>
          </a:graphicData>
        </a:graphic>
      </p:graphicFrame>
      <p:sp>
        <p:nvSpPr>
          <p:cNvPr id="515" name="TextBox 514"/>
          <p:cNvSpPr txBox="1"/>
          <p:nvPr/>
        </p:nvSpPr>
        <p:spPr>
          <a:xfrm>
            <a:off x="251999" y="2350800"/>
            <a:ext cx="4316400" cy="244800"/>
          </a:xfrm>
          <a:prstGeom prst="rect">
            <a:avLst/>
          </a:prstGeom>
          <a:noFill/>
        </p:spPr>
        <p:txBody>
          <a:bodyPr wrap="square" tIns="0" bIns="0" lIns="0" rIns="0">
            <a:spAutoFit/>
          </a:bodyPr>
          <a:lstStyle/>
          <a:p>
            <a:pPr algn="l">
              <a:defRPr sz="800">
                <a:solidFill>
                  <a:srgbClr val="000000"/>
                </a:solidFill>
                <a:latin typeface="Montserrat"/>
              </a:defRPr>
            </a:pPr>
            <a:r>
              <a:t>Salario Base de Cotización: tado: Se utilizó como deflactor del salario el cociente del INPC entre diciembre 2018 (103.02) y abril 2026 (145.831) de 0.706434.</a:t>
            </a:r>
          </a:p>
        </p:txBody>
      </p:sp>
      <p:sp>
        <p:nvSpPr>
          <p:cNvPr id="516" name="TextBox 515"/>
          <p:cNvSpPr txBox="1"/>
          <p:nvPr/>
        </p:nvSpPr>
        <p:spPr>
          <a:xfrm>
            <a:off x="251999" y="9561600"/>
            <a:ext cx="4316400" cy="244800"/>
          </a:xfrm>
          <a:prstGeom prst="rect">
            <a:avLst/>
          </a:prstGeom>
          <a:noFill/>
        </p:spPr>
        <p:txBody>
          <a:bodyPr wrap="square" tIns="0" bIns="0" lIns="0" rIns="0">
            <a:spAutoFit/>
          </a:bodyPr>
          <a:lstStyle/>
          <a:p>
            <a:pPr algn="l">
              <a:defRPr sz="800">
                <a:solidFill>
                  <a:srgbClr val="FFFFFF"/>
                </a:solidFill>
                <a:latin typeface="Montserrat"/>
              </a:defRPr>
            </a:pPr>
            <a:r>
              <a:t>Fuente: Dirección de Incorporación y Recaudación. Corte de información abril 2026.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505"/>
        <p:cNvGrpSpPr/>
        <p:nvPr/>
      </p:nvGrpSpPr>
      <p:grpSpPr>
        <a:xfrm>
          <a:off x="0" y="0"/>
          <a:ext cx="0" cy="0"/>
          <a:chOff x="0" y="0"/>
          <a:chExt cx="0" cy="0"/>
        </a:xfrm>
      </p:grpSpPr>
      <p:graphicFrame>
        <p:nvGraphicFramePr>
          <p:cNvPr id="512" name="Google Shape;512;g370e87ffe7a_0_0"/>
          <p:cNvGraphicFramePr/>
          <p:nvPr/>
        </p:nvGraphicFramePr>
        <p:xfrm>
          <a:off x="-126" y="2788487"/>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3. Productividad</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18" name="Google Shape;518;g370e87ffe7a_0_0"/>
          <p:cNvGraphicFramePr/>
          <p:nvPr/>
        </p:nvGraphicFramePr>
        <p:xfrm>
          <a:off x="0" y="5391789"/>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dirty="0">
                          <a:solidFill>
                            <a:srgbClr val="006455"/>
                          </a:solidFill>
                          <a:latin typeface="Montserrat"/>
                          <a:ea typeface="Montserrat"/>
                          <a:cs typeface="Montserrat"/>
                          <a:sym typeface="Montserrat"/>
                        </a:rPr>
                        <a:t>4. Personal</a:t>
                      </a:r>
                      <a:endParaRPr sz="1700" b="1" u="none" strike="noStrike" cap="none" dirty="0">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0" name="Google Shape;520;g370e87ffe7a_0_0"/>
          <p:cNvGraphicFramePr/>
          <p:nvPr/>
        </p:nvGraphicFramePr>
        <p:xfrm>
          <a:off x="-2134" y="811308"/>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635000" marR="0" lvl="0" indent="-336550" algn="l" rtl="0">
                        <a:lnSpc>
                          <a:spcPct val="100000"/>
                        </a:lnSpc>
                        <a:spcBef>
                          <a:spcPts val="0"/>
                        </a:spcBef>
                        <a:spcAft>
                          <a:spcPts val="0"/>
                        </a:spcAft>
                        <a:buClr>
                          <a:srgbClr val="006455"/>
                        </a:buClr>
                        <a:buSzPts val="1700"/>
                        <a:buFont typeface="Montserrat"/>
                        <a:buAutoNum type="arabicPeriod"/>
                      </a:pPr>
                      <a:r>
                        <a:rPr lang="es" sz="1600" b="1" u="none" strike="noStrike" cap="none">
                          <a:solidFill>
                            <a:srgbClr val="006455"/>
                          </a:solidFill>
                          <a:latin typeface="Montserrat"/>
                          <a:ea typeface="Montserrat"/>
                          <a:cs typeface="Montserrat"/>
                          <a:sym typeface="Montserrat"/>
                        </a:rPr>
                        <a:t>Infraestructura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1" name="Google Shape;521;g370e87ffe7a_0_0"/>
          <p:cNvGraphicFramePr/>
          <p:nvPr/>
        </p:nvGraphicFramePr>
        <p:xfrm>
          <a:off x="-126" y="7519253"/>
          <a:ext cx="7772400" cy="39605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3960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5. Organización comunitaria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3" name="Google Shape;523;g370e87ffe7a_0_0"/>
          <p:cNvGraphicFramePr/>
          <p:nvPr/>
        </p:nvGraphicFramePr>
        <p:xfrm>
          <a:off x="3884217" y="826580"/>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2.  Población beneficiada </a:t>
                      </a:r>
                      <a:endParaRPr sz="16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cxnSp>
        <p:nvCxnSpPr>
          <p:cNvPr id="524" name="Google Shape;524;g370e87ffe7a_0_0"/>
          <p:cNvCxnSpPr/>
          <p:nvPr/>
        </p:nvCxnSpPr>
        <p:spPr>
          <a:xfrm>
            <a:off x="6214233" y="1355079"/>
            <a:ext cx="0" cy="524700"/>
          </a:xfrm>
          <a:prstGeom prst="straightConnector1">
            <a:avLst/>
          </a:prstGeom>
          <a:noFill/>
          <a:ln w="19050" cap="flat" cmpd="sng">
            <a:solidFill>
              <a:srgbClr val="A48250"/>
            </a:solidFill>
            <a:prstDash val="solid"/>
            <a:round/>
            <a:headEnd type="none" w="sm" len="sm"/>
            <a:tailEnd type="none" w="sm" len="sm"/>
          </a:ln>
        </p:spPr>
      </p:cxnSp>
      <p:cxnSp>
        <p:nvCxnSpPr>
          <p:cNvPr id="529" name="Google Shape;529;g370e87ffe7a_0_0"/>
          <p:cNvCxnSpPr/>
          <p:nvPr/>
        </p:nvCxnSpPr>
        <p:spPr>
          <a:xfrm>
            <a:off x="6214233" y="2225029"/>
            <a:ext cx="0" cy="524700"/>
          </a:xfrm>
          <a:prstGeom prst="straightConnector1">
            <a:avLst/>
          </a:prstGeom>
          <a:noFill/>
          <a:ln w="19050" cap="flat" cmpd="sng">
            <a:solidFill>
              <a:srgbClr val="A48250"/>
            </a:solidFill>
            <a:prstDash val="solid"/>
            <a:round/>
            <a:headEnd type="none" w="sm" len="sm"/>
            <a:tailEnd type="none" w="sm" len="sm"/>
          </a:ln>
        </p:spPr>
      </p:cxnSp>
      <p:sp>
        <p:nvSpPr>
          <p:cNvPr id="530" name="TextBox 529"/>
          <p:cNvSpPr txBox="1"/>
          <p:nvPr/>
        </p:nvSpPr>
        <p:spPr>
          <a:xfrm>
            <a:off x="0" y="27432"/>
            <a:ext cx="7772400" cy="548640"/>
          </a:xfrm>
          <a:prstGeom prst="rect">
            <a:avLst/>
          </a:prstGeom>
          <a:noFill/>
        </p:spPr>
        <p:txBody>
          <a:bodyPr wrap="none">
            <a:spAutoFit/>
          </a:bodyPr>
          <a:lstStyle/>
          <a:p>
            <a:pPr algn="l">
              <a:defRPr sz="2000">
                <a:solidFill>
                  <a:srgbClr val="FFFFFF"/>
                </a:solidFill>
                <a:latin typeface="Montserrat"/>
              </a:defRPr>
            </a:pPr>
            <a:r>
              <a:t>ZACATECAS PROGRAMA IMSS-COPLAMAR</a:t>
            </a:r>
          </a:p>
        </p:txBody>
      </p:sp>
      <p:sp>
        <p:nvSpPr>
          <p:cNvPr id="531" name="TextBox 530"/>
          <p:cNvSpPr txBox="1"/>
          <p:nvPr/>
        </p:nvSpPr>
        <p:spPr>
          <a:xfrm>
            <a:off x="309600" y="5119200"/>
            <a:ext cx="1958400" cy="270000"/>
          </a:xfrm>
          <a:prstGeom prst="rect">
            <a:avLst/>
          </a:prstGeom>
          <a:noFill/>
        </p:spPr>
        <p:txBody>
          <a:bodyPr wrap="square" tIns="0" bIns="0" lIns="0" rIns="0">
            <a:spAutoFit/>
          </a:bodyPr>
          <a:lstStyle/>
          <a:p>
            <a:pPr algn="l">
              <a:defRPr sz="800">
                <a:solidFill>
                  <a:srgbClr val="000000"/>
                </a:solidFill>
                <a:latin typeface="Montserrat"/>
              </a:defRPr>
            </a:pPr>
            <a:r>
              <a:t>enero-diciembre 2025</a:t>
            </a:r>
          </a:p>
        </p:txBody>
      </p:sp>
      <p:sp>
        <p:nvSpPr>
          <p:cNvPr id="532" name="TextBox 531"/>
          <p:cNvSpPr txBox="1"/>
          <p:nvPr/>
        </p:nvSpPr>
        <p:spPr>
          <a:xfrm>
            <a:off x="309600" y="9190800"/>
            <a:ext cx="1958400" cy="270000"/>
          </a:xfrm>
          <a:prstGeom prst="rect">
            <a:avLst/>
          </a:prstGeom>
          <a:noFill/>
        </p:spPr>
        <p:txBody>
          <a:bodyPr wrap="square" tIns="0" bIns="0" lIns="0" rIns="0">
            <a:spAutoFit/>
          </a:bodyPr>
          <a:lstStyle/>
          <a:p>
            <a:pPr algn="l">
              <a:defRPr sz="800">
                <a:solidFill>
                  <a:srgbClr val="000000"/>
                </a:solidFill>
                <a:latin typeface="Montserrat"/>
              </a:defRPr>
            </a:pPr>
            <a:r>
              <a:t>enero-diciembre 2025</a:t>
            </a:r>
          </a:p>
        </p:txBody>
      </p:sp>
      <p:graphicFrame>
        <p:nvGraphicFramePr>
          <p:cNvPr id="533" name="Table 532"/>
          <p:cNvGraphicFramePr>
            <a:graphicFrameLocks noGrp="1"/>
          </p:cNvGraphicFramePr>
          <p:nvPr/>
        </p:nvGraphicFramePr>
        <p:xfrm>
          <a:off x="310896" y="1335024"/>
          <a:ext cx="3575304" cy="1243584"/>
        </p:xfrm>
        <a:graphic>
          <a:graphicData uri="http://schemas.openxmlformats.org/drawingml/2006/table">
            <a:tbl>
              <a:tblPr firstRow="1" bandRow="1">
                <a:tableStyleId>{5C22544A-7EE6-4342-B048-85BDC9FD1C3A}</a:tableStyleId>
              </a:tblPr>
              <a:tblGrid>
                <a:gridCol w="2551176"/>
                <a:gridCol w="1024128"/>
              </a:tblGrid>
              <a:tr h="177654">
                <a:tc>
                  <a:txBody>
                    <a:bodyPr/>
                    <a:lstStyle/>
                    <a:p>
                      <a:pPr algn="ctr">
                        <a:defRPr b="1" sz="1100">
                          <a:solidFill>
                            <a:srgbClr val="FFFFFF"/>
                          </a:solidFill>
                          <a:latin typeface="Montserrat"/>
                        </a:defRPr>
                      </a:pPr>
                      <a:r>
                        <a:t>Unidades</a:t>
                      </a:r>
                    </a:p>
                  </a:txBody>
                  <a:tcPr marL="36576" marR="36576" marT="36576" marB="36576">
                    <a:solidFill>
                      <a:srgbClr val="006455"/>
                    </a:solidFill>
                  </a:tcPr>
                </a:tc>
                <a:tc>
                  <a:txBody>
                    <a:bodyPr/>
                    <a:lstStyle/>
                    <a:p>
                      <a:pPr algn="ctr">
                        <a:defRPr b="1" sz="1100">
                          <a:solidFill>
                            <a:srgbClr val="FFFFFF"/>
                          </a:solidFill>
                          <a:latin typeface="Montserrat"/>
                        </a:defRPr>
                      </a:pPr>
                      <a:r>
                        <a:t>Total</a:t>
                      </a:r>
                    </a:p>
                  </a:txBody>
                  <a:tcPr marL="36576" marR="36576" marT="36576" marB="36576">
                    <a:solidFill>
                      <a:srgbClr val="006455"/>
                    </a:solidFill>
                  </a:tcPr>
                </a:tc>
              </a:tr>
              <a:tr h="177654">
                <a:tc>
                  <a:txBody>
                    <a:bodyPr/>
                    <a:lstStyle/>
                    <a:p>
                      <a:pPr algn="l">
                        <a:defRPr b="0" sz="1100">
                          <a:solidFill>
                            <a:srgbClr val="000000"/>
                          </a:solidFill>
                          <a:latin typeface="Montserrat"/>
                        </a:defRPr>
                      </a:pPr>
                      <a:r>
                        <a:t>Hospital Rural</a:t>
                      </a:r>
                    </a:p>
                  </a:txBody>
                  <a:tcPr anchor="ctr" marL="73152" marR="73152" marT="0" marB="0">
                    <a:solidFill>
                      <a:srgbClr val="FFFFFF"/>
                    </a:solidFill>
                  </a:tcPr>
                </a:tc>
                <a:tc>
                  <a:txBody>
                    <a:bodyPr/>
                    <a:lstStyle/>
                    <a:p>
                      <a:pPr algn="ctr">
                        <a:defRPr b="1" sz="1000">
                          <a:solidFill>
                            <a:srgbClr val="006455"/>
                          </a:solidFill>
                          <a:latin typeface="Montserrat"/>
                        </a:defRPr>
                      </a:pPr>
                      <a:r>
                        <a:t>5</a:t>
                      </a:r>
                    </a:p>
                  </a:txBody>
                  <a:tcPr anchor="ctr" marL="73152" marR="73152" marT="0" marB="0">
                    <a:solidFill>
                      <a:srgbClr val="D3E9E7"/>
                    </a:solidFill>
                  </a:tcPr>
                </a:tc>
              </a:tr>
              <a:tr h="177654">
                <a:tc>
                  <a:txBody>
                    <a:bodyPr/>
                    <a:lstStyle/>
                    <a:p>
                      <a:pPr algn="l">
                        <a:defRPr b="0" sz="1100">
                          <a:solidFill>
                            <a:srgbClr val="000000"/>
                          </a:solidFill>
                          <a:latin typeface="Montserrat"/>
                        </a:defRPr>
                      </a:pPr>
                      <a:r>
                        <a:t>Unidad Médica Rural</a:t>
                      </a:r>
                    </a:p>
                  </a:txBody>
                  <a:tcPr anchor="ctr" marL="73152" marR="73152" marT="0" marB="0">
                    <a:solidFill>
                      <a:srgbClr val="EFEFEF"/>
                    </a:solidFill>
                  </a:tcPr>
                </a:tc>
                <a:tc>
                  <a:txBody>
                    <a:bodyPr/>
                    <a:lstStyle/>
                    <a:p>
                      <a:pPr algn="ctr">
                        <a:defRPr b="1" sz="1000">
                          <a:solidFill>
                            <a:srgbClr val="006455"/>
                          </a:solidFill>
                          <a:latin typeface="Montserrat"/>
                        </a:defRPr>
                      </a:pPr>
                      <a:r>
                        <a:t>141</a:t>
                      </a:r>
                    </a:p>
                  </a:txBody>
                  <a:tcPr anchor="ctr" marL="73152" marR="73152" marT="0" marB="0">
                    <a:solidFill>
                      <a:srgbClr val="D3E9E7"/>
                    </a:solidFill>
                  </a:tcPr>
                </a:tc>
              </a:tr>
              <a:tr h="177654">
                <a:tc>
                  <a:txBody>
                    <a:bodyPr/>
                    <a:lstStyle/>
                    <a:p>
                      <a:pPr algn="l">
                        <a:defRPr b="0" sz="1100">
                          <a:solidFill>
                            <a:srgbClr val="000000"/>
                          </a:solidFill>
                          <a:latin typeface="Montserrat"/>
                        </a:defRPr>
                      </a:pPr>
                      <a:r>
                        <a:t>Brigada Salud</a:t>
                      </a:r>
                    </a:p>
                  </a:txBody>
                  <a:tcPr anchor="ctr" marL="73152" marR="73152" marT="0" marB="0">
                    <a:solidFill>
                      <a:srgbClr val="FFFFFF"/>
                    </a:solidFill>
                  </a:tcPr>
                </a:tc>
                <a:tc>
                  <a:txBody>
                    <a:bodyPr/>
                    <a:lstStyle/>
                    <a:p>
                      <a:pPr algn="ctr">
                        <a:defRPr b="1" sz="1000">
                          <a:solidFill>
                            <a:srgbClr val="006455"/>
                          </a:solidFill>
                          <a:latin typeface="Montserrat"/>
                        </a:defRPr>
                      </a:pPr>
                      <a:r>
                        <a:t>12</a:t>
                      </a:r>
                    </a:p>
                  </a:txBody>
                  <a:tcPr anchor="ctr" marL="73152" marR="73152" marT="0" marB="0">
                    <a:solidFill>
                      <a:srgbClr val="D3E9E7"/>
                    </a:solidFill>
                  </a:tcPr>
                </a:tc>
              </a:tr>
              <a:tr h="177654">
                <a:tc>
                  <a:txBody>
                    <a:bodyPr/>
                    <a:lstStyle/>
                    <a:p>
                      <a:pPr algn="l">
                        <a:defRPr b="0" sz="1100">
                          <a:solidFill>
                            <a:srgbClr val="000000"/>
                          </a:solidFill>
                          <a:latin typeface="Montserrat"/>
                        </a:defRPr>
                      </a:pPr>
                      <a:r>
                        <a:t>Unidad Médica Móvil</a:t>
                      </a:r>
                    </a:p>
                  </a:txBody>
                  <a:tcPr anchor="ctr" marL="73152" marR="73152" marT="0" marB="0">
                    <a:solidFill>
                      <a:srgbClr val="EFEFEF"/>
                    </a:solidFill>
                  </a:tcPr>
                </a:tc>
                <a:tc>
                  <a:txBody>
                    <a:bodyPr/>
                    <a:lstStyle/>
                    <a:p>
                      <a:pPr algn="ctr">
                        <a:defRPr b="1" sz="1000">
                          <a:solidFill>
                            <a:srgbClr val="006455"/>
                          </a:solidFill>
                          <a:latin typeface="Montserrat"/>
                        </a:defRPr>
                      </a:pPr>
                      <a:r>
                        <a:t>0</a:t>
                      </a:r>
                    </a:p>
                  </a:txBody>
                  <a:tcPr anchor="ctr" marL="73152" marR="73152" marT="0" marB="0">
                    <a:solidFill>
                      <a:srgbClr val="D3E9E7"/>
                    </a:solidFill>
                  </a:tcPr>
                </a:tc>
              </a:tr>
              <a:tr h="177654">
                <a:tc>
                  <a:txBody>
                    <a:bodyPr/>
                    <a:lstStyle/>
                    <a:p>
                      <a:pPr algn="l">
                        <a:defRPr b="0" sz="1100">
                          <a:solidFill>
                            <a:srgbClr val="000000"/>
                          </a:solidFill>
                          <a:latin typeface="Montserrat"/>
                        </a:defRPr>
                      </a:pPr>
                      <a:r>
                        <a:t>Centros de Atención Rural Obstétrica</a:t>
                      </a:r>
                    </a:p>
                  </a:txBody>
                  <a:tcPr anchor="ctr" marL="73152" marR="73152" marT="0" marB="0">
                    <a:solidFill>
                      <a:srgbClr val="FFFFFF"/>
                    </a:solidFill>
                  </a:tcPr>
                </a:tc>
                <a:tc>
                  <a:txBody>
                    <a:bodyPr/>
                    <a:lstStyle/>
                    <a:p>
                      <a:pPr algn="ctr">
                        <a:defRPr b="1" sz="1000">
                          <a:solidFill>
                            <a:srgbClr val="006455"/>
                          </a:solidFill>
                          <a:latin typeface="Montserrat"/>
                        </a:defRPr>
                      </a:pPr>
                      <a:r>
                        <a:t>0</a:t>
                      </a:r>
                    </a:p>
                  </a:txBody>
                  <a:tcPr anchor="ctr" marL="73152" marR="73152" marT="0" marB="0">
                    <a:solidFill>
                      <a:srgbClr val="D3E9E7"/>
                    </a:solidFill>
                  </a:tcPr>
                </a:tc>
              </a:tr>
              <a:tr h="177660">
                <a:tc>
                  <a:txBody>
                    <a:bodyPr/>
                    <a:lstStyle/>
                    <a:p>
                      <a:pPr algn="l">
                        <a:defRPr b="1" sz="1100">
                          <a:solidFill>
                            <a:srgbClr val="006455"/>
                          </a:solidFill>
                          <a:latin typeface="Montserrat"/>
                        </a:defRPr>
                      </a:pPr>
                      <a:r>
                        <a:t>Total</a:t>
                      </a:r>
                    </a:p>
                  </a:txBody>
                  <a:tcPr anchor="ctr" marL="73152" marR="73152" marT="0" marB="0">
                    <a:solidFill>
                      <a:srgbClr val="D3E9E7"/>
                    </a:solidFill>
                  </a:tcPr>
                </a:tc>
                <a:tc>
                  <a:txBody>
                    <a:bodyPr/>
                    <a:lstStyle/>
                    <a:p>
                      <a:pPr algn="ctr">
                        <a:defRPr b="1" sz="1000">
                          <a:solidFill>
                            <a:srgbClr val="006455"/>
                          </a:solidFill>
                          <a:latin typeface="Montserrat"/>
                        </a:defRPr>
                      </a:pPr>
                      <a:r>
                        <a:t>158</a:t>
                      </a:r>
                    </a:p>
                  </a:txBody>
                  <a:tcPr anchor="ctr" marL="73152" marR="73152" marT="0" marB="0">
                    <a:solidFill>
                      <a:srgbClr val="D3E9E7"/>
                    </a:solidFill>
                  </a:tcPr>
                </a:tc>
              </a:tr>
            </a:tbl>
          </a:graphicData>
        </a:graphic>
      </p:graphicFrame>
      <p:graphicFrame>
        <p:nvGraphicFramePr>
          <p:cNvPr id="534" name="Table 533"/>
          <p:cNvGraphicFramePr>
            <a:graphicFrameLocks noGrp="1"/>
          </p:cNvGraphicFramePr>
          <p:nvPr/>
        </p:nvGraphicFramePr>
        <p:xfrm>
          <a:off x="310896" y="3209544"/>
          <a:ext cx="4965192" cy="1691640"/>
        </p:xfrm>
        <a:graphic>
          <a:graphicData uri="http://schemas.openxmlformats.org/drawingml/2006/table">
            <a:tbl>
              <a:tblPr firstRow="1" bandRow="1">
                <a:tableStyleId>{5C22544A-7EE6-4342-B048-85BDC9FD1C3A}</a:tableStyleId>
              </a:tblPr>
              <a:tblGrid>
                <a:gridCol w="1655064"/>
                <a:gridCol w="1655064"/>
                <a:gridCol w="1655064"/>
              </a:tblGrid>
              <a:tr h="187960">
                <a:tc>
                  <a:txBody>
                    <a:bodyPr/>
                    <a:lstStyle/>
                    <a:p>
                      <a:pPr algn="ctr">
                        <a:defRPr b="1" sz="1100">
                          <a:solidFill>
                            <a:srgbClr val="FFFFFF"/>
                          </a:solidFill>
                          <a:latin typeface="Montserrat"/>
                        </a:defRPr>
                      </a:pPr>
                      <a:r>
                        <a:t>Concepto</a:t>
                      </a:r>
                    </a:p>
                  </a:txBody>
                  <a:tcPr marL="36576" marR="36576" marT="36576" marB="36576">
                    <a:solidFill>
                      <a:srgbClr val="006455"/>
                    </a:solidFill>
                  </a:tcPr>
                </a:tc>
                <a:tc>
                  <a:txBody>
                    <a:bodyPr/>
                    <a:lstStyle/>
                    <a:p>
                      <a:pPr algn="ctr">
                        <a:defRPr b="1" sz="1100">
                          <a:solidFill>
                            <a:srgbClr val="FFFFFF"/>
                          </a:solidFill>
                          <a:latin typeface="Montserrat"/>
                        </a:defRPr>
                      </a:pPr>
                      <a:r>
                        <a:t>Productividad</a:t>
                      </a:r>
                    </a:p>
                  </a:txBody>
                  <a:tcPr marL="36576" marR="36576" marT="36576" marB="36576">
                    <a:solidFill>
                      <a:srgbClr val="006455"/>
                    </a:solidFill>
                  </a:tcPr>
                </a:tc>
                <a:tc>
                  <a:txBody>
                    <a:bodyPr/>
                    <a:lstStyle/>
                    <a:p>
                      <a:pPr algn="ctr">
                        <a:defRPr b="1" sz="1100">
                          <a:solidFill>
                            <a:srgbClr val="FFFFFF"/>
                          </a:solidFill>
                          <a:latin typeface="Montserrat"/>
                        </a:defRPr>
                      </a:pPr>
                      <a:r>
                        <a:t>Día Típico</a:t>
                      </a:r>
                    </a:p>
                  </a:txBody>
                  <a:tcPr marL="36576" marR="36576" marT="36576" marB="36576">
                    <a:solidFill>
                      <a:srgbClr val="006455"/>
                    </a:solidFill>
                  </a:tcPr>
                </a:tc>
              </a:tr>
              <a:tr h="187960">
                <a:tc>
                  <a:txBody>
                    <a:bodyPr/>
                    <a:lstStyle/>
                    <a:p>
                      <a:pPr algn="l">
                        <a:defRPr b="1" sz="1100">
                          <a:solidFill>
                            <a:srgbClr val="006455"/>
                          </a:solidFill>
                          <a:latin typeface="Montserrat"/>
                        </a:defRPr>
                      </a:pPr>
                      <a:r>
                        <a:t>Total consultas</a:t>
                      </a:r>
                    </a:p>
                  </a:txBody>
                  <a:tcPr anchor="ctr" marL="73152" marR="73152" marT="0" marB="0">
                    <a:solidFill>
                      <a:srgbClr val="D3E9E7"/>
                    </a:solidFill>
                  </a:tcPr>
                </a:tc>
                <a:tc>
                  <a:txBody>
                    <a:bodyPr/>
                    <a:lstStyle/>
                    <a:p>
                      <a:pPr algn="ctr">
                        <a:defRPr b="1" sz="1000">
                          <a:solidFill>
                            <a:srgbClr val="006455"/>
                          </a:solidFill>
                          <a:latin typeface="Montserrat"/>
                        </a:defRPr>
                      </a:pPr>
                      <a:r>
                        <a:t>498,544</a:t>
                      </a:r>
                    </a:p>
                  </a:txBody>
                  <a:tcPr anchor="ctr" marL="73152" marR="73152" marT="0" marB="0">
                    <a:solidFill>
                      <a:srgbClr val="D3E9E7"/>
                    </a:solidFill>
                  </a:tcPr>
                </a:tc>
                <a:tc>
                  <a:txBody>
                    <a:bodyPr/>
                    <a:lstStyle/>
                    <a:p>
                      <a:pPr algn="ctr">
                        <a:defRPr b="1" sz="1000">
                          <a:solidFill>
                            <a:srgbClr val="006455"/>
                          </a:solidFill>
                          <a:latin typeface="Montserrat"/>
                        </a:defRPr>
                      </a:pPr>
                      <a:r>
                        <a:t>1,877</a:t>
                      </a:r>
                    </a:p>
                  </a:txBody>
                  <a:tcPr anchor="ctr" marL="73152" marR="73152" marT="0" marB="0">
                    <a:solidFill>
                      <a:srgbClr val="D3E9E7"/>
                    </a:solidFill>
                  </a:tcPr>
                </a:tc>
              </a:tr>
              <a:tr h="187960">
                <a:tc>
                  <a:txBody>
                    <a:bodyPr/>
                    <a:lstStyle/>
                    <a:p>
                      <a:pPr algn="ctr">
                        <a:defRPr b="0" sz="1100">
                          <a:solidFill>
                            <a:srgbClr val="000000"/>
                          </a:solidFill>
                          <a:latin typeface="Montserrat"/>
                        </a:defRPr>
                      </a:pPr>
                      <a:r>
                        <a:t>Familiar</a:t>
                      </a:r>
                    </a:p>
                  </a:txBody>
                  <a:tcPr anchor="ctr" marL="73152" marR="73152" marT="0" marB="0">
                    <a:solidFill>
                      <a:srgbClr val="FFFFFF"/>
                    </a:solidFill>
                  </a:tcPr>
                </a:tc>
                <a:tc>
                  <a:txBody>
                    <a:bodyPr/>
                    <a:lstStyle/>
                    <a:p>
                      <a:pPr algn="ctr">
                        <a:defRPr b="0" sz="1000">
                          <a:solidFill>
                            <a:srgbClr val="000000"/>
                          </a:solidFill>
                          <a:latin typeface="Montserrat"/>
                        </a:defRPr>
                      </a:pPr>
                      <a:r>
                        <a:t>434,079</a:t>
                      </a:r>
                    </a:p>
                  </a:txBody>
                  <a:tcPr anchor="ctr" marL="73152" marR="73152" marT="0" marB="0">
                    <a:solidFill>
                      <a:srgbClr val="FFFFFF"/>
                    </a:solidFill>
                  </a:tcPr>
                </a:tc>
                <a:tc>
                  <a:txBody>
                    <a:bodyPr/>
                    <a:lstStyle/>
                    <a:p>
                      <a:pPr algn="ctr">
                        <a:defRPr b="0" sz="1000">
                          <a:solidFill>
                            <a:srgbClr val="000000"/>
                          </a:solidFill>
                          <a:latin typeface="Montserrat"/>
                        </a:defRPr>
                      </a:pPr>
                      <a:r>
                        <a:t>1,663</a:t>
                      </a:r>
                    </a:p>
                  </a:txBody>
                  <a:tcPr anchor="ctr" marL="73152" marR="73152" marT="0" marB="0">
                    <a:solidFill>
                      <a:srgbClr val="FFFFFF"/>
                    </a:solidFill>
                  </a:tcPr>
                </a:tc>
              </a:tr>
              <a:tr h="187960">
                <a:tc>
                  <a:txBody>
                    <a:bodyPr/>
                    <a:lstStyle/>
                    <a:p>
                      <a:pPr algn="ctr">
                        <a:defRPr b="0" sz="1100">
                          <a:solidFill>
                            <a:srgbClr val="000000"/>
                          </a:solidFill>
                          <a:latin typeface="Montserrat"/>
                        </a:defRPr>
                      </a:pPr>
                      <a:r>
                        <a:t>Estomatología</a:t>
                      </a:r>
                    </a:p>
                  </a:txBody>
                  <a:tcPr anchor="ctr" marL="73152" marR="73152" marT="0" marB="0">
                    <a:solidFill>
                      <a:srgbClr val="EFEFEF"/>
                    </a:solidFill>
                  </a:tcPr>
                </a:tc>
                <a:tc>
                  <a:txBody>
                    <a:bodyPr/>
                    <a:lstStyle/>
                    <a:p>
                      <a:pPr algn="ctr">
                        <a:defRPr b="0" sz="1000">
                          <a:solidFill>
                            <a:srgbClr val="000000"/>
                          </a:solidFill>
                          <a:latin typeface="Montserrat"/>
                        </a:defRPr>
                      </a:pPr>
                      <a:r>
                        <a:t>10,990</a:t>
                      </a:r>
                    </a:p>
                  </a:txBody>
                  <a:tcPr anchor="ctr" marL="73152" marR="73152" marT="0" marB="0">
                    <a:solidFill>
                      <a:srgbClr val="EFEFEF"/>
                    </a:solidFill>
                  </a:tcPr>
                </a:tc>
                <a:tc>
                  <a:txBody>
                    <a:bodyPr/>
                    <a:lstStyle/>
                    <a:p>
                      <a:pPr algn="ctr">
                        <a:defRPr b="0" sz="1000">
                          <a:solidFill>
                            <a:srgbClr val="000000"/>
                          </a:solidFill>
                          <a:latin typeface="Montserrat"/>
                        </a:defRPr>
                      </a:pPr>
                      <a:r>
                        <a:t>42</a:t>
                      </a:r>
                    </a:p>
                  </a:txBody>
                  <a:tcPr anchor="ctr" marL="73152" marR="73152" marT="0" marB="0">
                    <a:solidFill>
                      <a:srgbClr val="EFEFEF"/>
                    </a:solidFill>
                  </a:tcPr>
                </a:tc>
              </a:tr>
              <a:tr h="187960">
                <a:tc>
                  <a:txBody>
                    <a:bodyPr/>
                    <a:lstStyle/>
                    <a:p>
                      <a:pPr algn="ctr">
                        <a:defRPr b="0" sz="1100">
                          <a:solidFill>
                            <a:srgbClr val="000000"/>
                          </a:solidFill>
                          <a:latin typeface="Montserrat"/>
                        </a:defRPr>
                      </a:pPr>
                      <a:r>
                        <a:t>Urgencias</a:t>
                      </a:r>
                    </a:p>
                  </a:txBody>
                  <a:tcPr anchor="ctr" marL="73152" marR="73152" marT="0" marB="0">
                    <a:solidFill>
                      <a:srgbClr val="FFFFFF"/>
                    </a:solidFill>
                  </a:tcPr>
                </a:tc>
                <a:tc>
                  <a:txBody>
                    <a:bodyPr/>
                    <a:lstStyle/>
                    <a:p>
                      <a:pPr algn="ctr">
                        <a:defRPr b="0" sz="1000">
                          <a:solidFill>
                            <a:srgbClr val="000000"/>
                          </a:solidFill>
                          <a:latin typeface="Montserrat"/>
                        </a:defRPr>
                      </a:pPr>
                      <a:r>
                        <a:t>30,470</a:t>
                      </a:r>
                    </a:p>
                  </a:txBody>
                  <a:tcPr anchor="ctr" marL="73152" marR="73152" marT="0" marB="0">
                    <a:solidFill>
                      <a:srgbClr val="FFFFFF"/>
                    </a:solidFill>
                  </a:tcPr>
                </a:tc>
                <a:tc>
                  <a:txBody>
                    <a:bodyPr/>
                    <a:lstStyle/>
                    <a:p>
                      <a:pPr algn="ctr">
                        <a:defRPr b="0" sz="1000">
                          <a:solidFill>
                            <a:srgbClr val="000000"/>
                          </a:solidFill>
                          <a:latin typeface="Montserrat"/>
                        </a:defRPr>
                      </a:pPr>
                      <a:r>
                        <a:t>83</a:t>
                      </a:r>
                    </a:p>
                  </a:txBody>
                  <a:tcPr anchor="ctr" marL="73152" marR="73152" marT="0" marB="0">
                    <a:solidFill>
                      <a:srgbClr val="FFFFFF"/>
                    </a:solidFill>
                  </a:tcPr>
                </a:tc>
              </a:tr>
              <a:tr h="187960">
                <a:tc>
                  <a:txBody>
                    <a:bodyPr/>
                    <a:lstStyle/>
                    <a:p>
                      <a:pPr algn="ctr">
                        <a:defRPr b="0" sz="1100">
                          <a:solidFill>
                            <a:srgbClr val="000000"/>
                          </a:solidFill>
                          <a:latin typeface="Montserrat"/>
                        </a:defRPr>
                      </a:pPr>
                      <a:r>
                        <a:t>Especialidades</a:t>
                      </a:r>
                    </a:p>
                  </a:txBody>
                  <a:tcPr anchor="ctr" marL="73152" marR="73152" marT="0" marB="0">
                    <a:solidFill>
                      <a:srgbClr val="EFEFEF"/>
                    </a:solidFill>
                  </a:tcPr>
                </a:tc>
                <a:tc>
                  <a:txBody>
                    <a:bodyPr/>
                    <a:lstStyle/>
                    <a:p>
                      <a:pPr algn="ctr">
                        <a:defRPr b="0" sz="1000">
                          <a:solidFill>
                            <a:srgbClr val="000000"/>
                          </a:solidFill>
                          <a:latin typeface="Montserrat"/>
                        </a:defRPr>
                      </a:pPr>
                      <a:r>
                        <a:t>23,005</a:t>
                      </a:r>
                    </a:p>
                  </a:txBody>
                  <a:tcPr anchor="ctr" marL="73152" marR="73152" marT="0" marB="0">
                    <a:solidFill>
                      <a:srgbClr val="EFEFEF"/>
                    </a:solidFill>
                  </a:tcPr>
                </a:tc>
                <a:tc>
                  <a:txBody>
                    <a:bodyPr/>
                    <a:lstStyle/>
                    <a:p>
                      <a:pPr algn="ctr">
                        <a:defRPr b="0" sz="1000">
                          <a:solidFill>
                            <a:srgbClr val="000000"/>
                          </a:solidFill>
                          <a:latin typeface="Montserrat"/>
                        </a:defRPr>
                      </a:pPr>
                      <a:r>
                        <a:t>88</a:t>
                      </a:r>
                    </a:p>
                  </a:txBody>
                  <a:tcPr anchor="ctr" marL="73152" marR="73152" marT="0" marB="0">
                    <a:solidFill>
                      <a:srgbClr val="EFEFEF"/>
                    </a:solidFill>
                  </a:tcPr>
                </a:tc>
              </a:tr>
              <a:tr h="187960">
                <a:tc>
                  <a:txBody>
                    <a:bodyPr/>
                    <a:lstStyle/>
                    <a:p>
                      <a:pPr algn="l">
                        <a:defRPr b="1" sz="1100">
                          <a:solidFill>
                            <a:srgbClr val="000000"/>
                          </a:solidFill>
                          <a:latin typeface="Montserrat"/>
                        </a:defRPr>
                      </a:pPr>
                      <a:r>
                        <a:t>Cirugías</a:t>
                      </a:r>
                    </a:p>
                  </a:txBody>
                  <a:tcPr anchor="ctr" marL="73152" marR="73152" marT="0" marB="0">
                    <a:solidFill>
                      <a:srgbClr val="FFFFFF"/>
                    </a:solidFill>
                  </a:tcPr>
                </a:tc>
                <a:tc>
                  <a:txBody>
                    <a:bodyPr/>
                    <a:lstStyle/>
                    <a:p>
                      <a:pPr algn="ctr">
                        <a:defRPr b="0" sz="1000">
                          <a:solidFill>
                            <a:srgbClr val="000000"/>
                          </a:solidFill>
                          <a:latin typeface="Montserrat"/>
                        </a:defRPr>
                      </a:pPr>
                      <a:r>
                        <a:t>2,575</a:t>
                      </a:r>
                    </a:p>
                  </a:txBody>
                  <a:tcPr anchor="ctr" marL="73152" marR="73152" marT="0" marB="0">
                    <a:solidFill>
                      <a:srgbClr val="FFFFFF"/>
                    </a:solidFill>
                  </a:tcPr>
                </a:tc>
                <a:tc>
                  <a:txBody>
                    <a:bodyPr/>
                    <a:lstStyle/>
                    <a:p>
                      <a:pPr algn="ctr">
                        <a:defRPr b="0" sz="1000">
                          <a:solidFill>
                            <a:srgbClr val="000000"/>
                          </a:solidFill>
                          <a:latin typeface="Montserrat"/>
                        </a:defRPr>
                      </a:pPr>
                      <a:r>
                        <a:t>7</a:t>
                      </a:r>
                    </a:p>
                  </a:txBody>
                  <a:tcPr anchor="ctr" marL="73152" marR="73152" marT="0" marB="0">
                    <a:solidFill>
                      <a:srgbClr val="FFFFFF"/>
                    </a:solidFill>
                  </a:tcPr>
                </a:tc>
              </a:tr>
              <a:tr h="187960">
                <a:tc>
                  <a:txBody>
                    <a:bodyPr/>
                    <a:lstStyle/>
                    <a:p>
                      <a:pPr algn="l">
                        <a:defRPr b="1" sz="1100">
                          <a:solidFill>
                            <a:srgbClr val="000000"/>
                          </a:solidFill>
                          <a:latin typeface="Montserrat"/>
                        </a:defRPr>
                      </a:pPr>
                      <a:r>
                        <a:t>Partos</a:t>
                      </a:r>
                    </a:p>
                  </a:txBody>
                  <a:tcPr anchor="ctr" marL="73152" marR="73152" marT="0" marB="0">
                    <a:solidFill>
                      <a:srgbClr val="EFEFEF"/>
                    </a:solidFill>
                  </a:tcPr>
                </a:tc>
                <a:tc>
                  <a:txBody>
                    <a:bodyPr/>
                    <a:lstStyle/>
                    <a:p>
                      <a:pPr algn="ctr">
                        <a:defRPr b="0" sz="1000">
                          <a:solidFill>
                            <a:srgbClr val="000000"/>
                          </a:solidFill>
                          <a:latin typeface="Montserrat"/>
                        </a:defRPr>
                      </a:pPr>
                      <a:r>
                        <a:t>1,861</a:t>
                      </a:r>
                    </a:p>
                  </a:txBody>
                  <a:tcPr anchor="ctr" marL="73152" marR="73152" marT="0" marB="0">
                    <a:solidFill>
                      <a:srgbClr val="EFEFEF"/>
                    </a:solidFill>
                  </a:tcPr>
                </a:tc>
                <a:tc>
                  <a:txBody>
                    <a:bodyPr/>
                    <a:lstStyle/>
                    <a:p>
                      <a:pPr algn="ctr">
                        <a:defRPr b="0" sz="1000">
                          <a:solidFill>
                            <a:srgbClr val="000000"/>
                          </a:solidFill>
                          <a:latin typeface="Montserrat"/>
                        </a:defRPr>
                      </a:pPr>
                      <a:r>
                        <a:t>5</a:t>
                      </a:r>
                    </a:p>
                  </a:txBody>
                  <a:tcPr anchor="ctr" marL="73152" marR="73152" marT="0" marB="0">
                    <a:solidFill>
                      <a:srgbClr val="EFEFEF"/>
                    </a:solidFill>
                  </a:tcPr>
                </a:tc>
              </a:tr>
              <a:tr h="187960">
                <a:tc>
                  <a:txBody>
                    <a:bodyPr/>
                    <a:lstStyle/>
                    <a:p>
                      <a:pPr algn="l">
                        <a:defRPr b="1" sz="1100">
                          <a:solidFill>
                            <a:srgbClr val="000000"/>
                          </a:solidFill>
                          <a:latin typeface="Montserrat"/>
                        </a:defRPr>
                      </a:pPr>
                      <a:r>
                        <a:t>Egresos Hosp.</a:t>
                      </a:r>
                    </a:p>
                  </a:txBody>
                  <a:tcPr anchor="ctr" marL="73152" marR="73152" marT="0" marB="0">
                    <a:solidFill>
                      <a:srgbClr val="FFFFFF"/>
                    </a:solidFill>
                  </a:tcPr>
                </a:tc>
                <a:tc>
                  <a:txBody>
                    <a:bodyPr/>
                    <a:lstStyle/>
                    <a:p>
                      <a:pPr algn="ctr">
                        <a:defRPr b="0" sz="1000">
                          <a:solidFill>
                            <a:srgbClr val="000000"/>
                          </a:solidFill>
                          <a:latin typeface="Montserrat"/>
                        </a:defRPr>
                      </a:pPr>
                      <a:r>
                        <a:t>8,048</a:t>
                      </a:r>
                    </a:p>
                  </a:txBody>
                  <a:tcPr anchor="ctr" marL="73152" marR="73152" marT="0" marB="0">
                    <a:solidFill>
                      <a:srgbClr val="FFFFFF"/>
                    </a:solidFill>
                  </a:tcPr>
                </a:tc>
                <a:tc>
                  <a:txBody>
                    <a:bodyPr/>
                    <a:lstStyle/>
                    <a:p>
                      <a:pPr algn="ctr">
                        <a:defRPr b="0" sz="1000">
                          <a:solidFill>
                            <a:srgbClr val="000000"/>
                          </a:solidFill>
                          <a:latin typeface="Montserrat"/>
                        </a:defRPr>
                      </a:pPr>
                      <a:r>
                        <a:t>22</a:t>
                      </a:r>
                    </a:p>
                  </a:txBody>
                  <a:tcPr anchor="ctr" marL="73152" marR="73152" marT="0" marB="0">
                    <a:solidFill>
                      <a:srgbClr val="FFFFFF"/>
                    </a:solidFill>
                  </a:tcPr>
                </a:tc>
              </a:tr>
            </a:tbl>
          </a:graphicData>
        </a:graphic>
      </p:graphicFrame>
      <p:graphicFrame>
        <p:nvGraphicFramePr>
          <p:cNvPr id="535" name="Table 534"/>
          <p:cNvGraphicFramePr>
            <a:graphicFrameLocks noGrp="1"/>
          </p:cNvGraphicFramePr>
          <p:nvPr/>
        </p:nvGraphicFramePr>
        <p:xfrm>
          <a:off x="310896" y="5815584"/>
          <a:ext cx="7022592" cy="1609344"/>
        </p:xfrm>
        <a:graphic>
          <a:graphicData uri="http://schemas.openxmlformats.org/drawingml/2006/table">
            <a:tbl>
              <a:tblPr firstRow="1" bandRow="1">
                <a:tableStyleId>{5C22544A-7EE6-4342-B048-85BDC9FD1C3A}</a:tableStyleId>
              </a:tblPr>
              <a:tblGrid>
                <a:gridCol w="1664208"/>
                <a:gridCol w="923544"/>
                <a:gridCol w="1179576"/>
                <a:gridCol w="1179576"/>
                <a:gridCol w="1179576"/>
                <a:gridCol w="896112"/>
              </a:tblGrid>
              <a:tr h="201168">
                <a:tc>
                  <a:txBody>
                    <a:bodyPr/>
                    <a:lstStyle/>
                    <a:p>
                      <a:pPr algn="ctr">
                        <a:defRPr b="1" sz="1100">
                          <a:solidFill>
                            <a:srgbClr val="FFFFFF"/>
                          </a:solidFill>
                          <a:latin typeface="Montserrat"/>
                        </a:defRPr>
                      </a:pPr>
                      <a:r>
                        <a:t>Disciplina</a:t>
                      </a:r>
                    </a:p>
                  </a:txBody>
                  <a:tcPr marL="36576" marR="36576" marT="36576" marB="36576">
                    <a:solidFill>
                      <a:srgbClr val="006455"/>
                    </a:solidFill>
                  </a:tcPr>
                </a:tc>
                <a:tc>
                  <a:txBody>
                    <a:bodyPr/>
                    <a:lstStyle/>
                    <a:p>
                      <a:pPr algn="ctr">
                        <a:defRPr b="1" sz="1100">
                          <a:solidFill>
                            <a:srgbClr val="FFFFFF"/>
                          </a:solidFill>
                          <a:latin typeface="Montserrat"/>
                        </a:defRPr>
                      </a:pPr>
                      <a:r>
                        <a:t>Base</a:t>
                      </a:r>
                    </a:p>
                  </a:txBody>
                  <a:tcPr marL="36576" marR="36576" marT="36576" marB="36576">
                    <a:solidFill>
                      <a:srgbClr val="006455"/>
                    </a:solidFill>
                  </a:tcPr>
                </a:tc>
                <a:tc>
                  <a:txBody>
                    <a:bodyPr/>
                    <a:lstStyle/>
                    <a:p>
                      <a:pPr algn="ctr">
                        <a:defRPr b="1" sz="1100">
                          <a:solidFill>
                            <a:srgbClr val="FFFFFF"/>
                          </a:solidFill>
                          <a:latin typeface="Montserrat"/>
                        </a:defRPr>
                      </a:pPr>
                      <a:r>
                        <a:t>Confianza</a:t>
                      </a:r>
                    </a:p>
                  </a:txBody>
                  <a:tcPr marL="36576" marR="36576" marT="36576" marB="36576">
                    <a:solidFill>
                      <a:srgbClr val="006455"/>
                    </a:solidFill>
                  </a:tcPr>
                </a:tc>
                <a:tc>
                  <a:txBody>
                    <a:bodyPr/>
                    <a:lstStyle/>
                    <a:p>
                      <a:pPr algn="ctr">
                        <a:defRPr b="1" sz="1100">
                          <a:solidFill>
                            <a:srgbClr val="FFFFFF"/>
                          </a:solidFill>
                          <a:latin typeface="Montserrat"/>
                        </a:defRPr>
                      </a:pPr>
                      <a:r>
                        <a:t>Estatuto A</a:t>
                      </a:r>
                    </a:p>
                  </a:txBody>
                  <a:tcPr marL="36576" marR="36576" marT="36576" marB="36576">
                    <a:solidFill>
                      <a:srgbClr val="006455"/>
                    </a:solidFill>
                  </a:tcPr>
                </a:tc>
                <a:tc>
                  <a:txBody>
                    <a:bodyPr/>
                    <a:lstStyle/>
                    <a:p>
                      <a:pPr algn="ctr">
                        <a:defRPr b="1" sz="1100">
                          <a:solidFill>
                            <a:srgbClr val="FFFFFF"/>
                          </a:solidFill>
                          <a:latin typeface="Montserrat"/>
                        </a:defRPr>
                      </a:pPr>
                      <a:r>
                        <a:t>Sustitutos</a:t>
                      </a:r>
                    </a:p>
                  </a:txBody>
                  <a:tcPr marL="36576" marR="36576" marT="36576" marB="36576">
                    <a:solidFill>
                      <a:srgbClr val="006455"/>
                    </a:solidFill>
                  </a:tcPr>
                </a:tc>
                <a:tc>
                  <a:txBody>
                    <a:bodyPr/>
                    <a:lstStyle/>
                    <a:p>
                      <a:pPr algn="ctr">
                        <a:defRPr b="1" sz="1100">
                          <a:solidFill>
                            <a:srgbClr val="FFFFFF"/>
                          </a:solidFill>
                          <a:latin typeface="Montserrat"/>
                        </a:defRPr>
                      </a:pPr>
                      <a:r>
                        <a:t>Total</a:t>
                      </a:r>
                    </a:p>
                  </a:txBody>
                  <a:tcPr marL="36576" marR="36576" marT="36576" marB="36576">
                    <a:solidFill>
                      <a:srgbClr val="006455"/>
                    </a:solidFill>
                  </a:tcPr>
                </a:tc>
              </a:tr>
              <a:tr h="201168">
                <a:tc>
                  <a:txBody>
                    <a:bodyPr/>
                    <a:lstStyle/>
                    <a:p>
                      <a:pPr algn="l">
                        <a:defRPr b="0" sz="1100">
                          <a:solidFill>
                            <a:srgbClr val="000000"/>
                          </a:solidFill>
                          <a:latin typeface="Montserrat"/>
                        </a:defRPr>
                      </a:pPr>
                      <a:r>
                        <a:t>Médicos</a:t>
                      </a:r>
                    </a:p>
                  </a:txBody>
                  <a:tcPr anchor="ctr" marL="73152" marR="73152" marT="0" marB="0">
                    <a:solidFill>
                      <a:srgbClr val="FFFFFF"/>
                    </a:solidFill>
                  </a:tcPr>
                </a:tc>
                <a:tc>
                  <a:txBody>
                    <a:bodyPr/>
                    <a:lstStyle/>
                    <a:p>
                      <a:pPr algn="ctr">
                        <a:defRPr b="0" sz="1000">
                          <a:solidFill>
                            <a:srgbClr val="000000"/>
                          </a:solidFill>
                          <a:latin typeface="Montserrat"/>
                        </a:defRPr>
                      </a:pPr>
                      <a:r>
                        <a:t>216</a:t>
                      </a:r>
                    </a:p>
                  </a:txBody>
                  <a:tcPr anchor="ctr" marL="73152" marR="73152" marT="0" marB="0">
                    <a:solidFill>
                      <a:srgbClr val="FFFFFF"/>
                    </a:solidFill>
                  </a:tcPr>
                </a:tc>
                <a:tc>
                  <a:txBody>
                    <a:bodyPr/>
                    <a:lstStyle/>
                    <a:p>
                      <a:pPr algn="ctr">
                        <a:defRPr b="0" sz="1000">
                          <a:solidFill>
                            <a:srgbClr val="000000"/>
                          </a:solidFill>
                          <a:latin typeface="Montserrat"/>
                        </a:defRPr>
                      </a:pPr>
                      <a:r>
                        <a:t>18</a:t>
                      </a:r>
                    </a:p>
                  </a:txBody>
                  <a:tcPr anchor="ctr" marL="73152" marR="73152" marT="0" marB="0">
                    <a:solidFill>
                      <a:srgbClr val="FFFFFF"/>
                    </a:solidFill>
                  </a:tcPr>
                </a:tc>
                <a:tc>
                  <a:txBody>
                    <a:bodyPr/>
                    <a:lstStyle/>
                    <a:p>
                      <a:pPr algn="ctr">
                        <a:defRPr b="0" sz="1000">
                          <a:solidFill>
                            <a:srgbClr val="000000"/>
                          </a:solidFill>
                          <a:latin typeface="Montserrat"/>
                        </a:defRPr>
                      </a:pPr>
                      <a:r>
                        <a:t>6</a:t>
                      </a:r>
                    </a:p>
                  </a:txBody>
                  <a:tcPr anchor="ctr" marL="73152" marR="73152" marT="0" marB="0">
                    <a:solidFill>
                      <a:srgbClr val="FFFFFF"/>
                    </a:solidFill>
                  </a:tcPr>
                </a:tc>
                <a:tc>
                  <a:txBody>
                    <a:bodyPr/>
                    <a:lstStyle/>
                    <a:p>
                      <a:pPr algn="ctr">
                        <a:defRPr b="0" sz="1000">
                          <a:solidFill>
                            <a:srgbClr val="000000"/>
                          </a:solidFill>
                          <a:latin typeface="Montserrat"/>
                        </a:defRPr>
                      </a:pPr>
                      <a:r>
                        <a:t>13</a:t>
                      </a:r>
                    </a:p>
                  </a:txBody>
                  <a:tcPr anchor="ctr" marL="73152" marR="73152" marT="0" marB="0">
                    <a:solidFill>
                      <a:srgbClr val="FFFFFF"/>
                    </a:solidFill>
                  </a:tcPr>
                </a:tc>
                <a:tc>
                  <a:txBody>
                    <a:bodyPr/>
                    <a:lstStyle/>
                    <a:p>
                      <a:pPr algn="ctr">
                        <a:defRPr b="1" sz="1000">
                          <a:solidFill>
                            <a:srgbClr val="006455"/>
                          </a:solidFill>
                          <a:latin typeface="Montserrat"/>
                        </a:defRPr>
                      </a:pPr>
                      <a:r>
                        <a:t>253</a:t>
                      </a:r>
                    </a:p>
                  </a:txBody>
                  <a:tcPr anchor="ctr" marL="73152" marR="73152" marT="0" marB="0">
                    <a:solidFill>
                      <a:srgbClr val="D3E9E7"/>
                    </a:solidFill>
                  </a:tcPr>
                </a:tc>
              </a:tr>
              <a:tr h="201168">
                <a:tc>
                  <a:txBody>
                    <a:bodyPr/>
                    <a:lstStyle/>
                    <a:p>
                      <a:pPr algn="l">
                        <a:defRPr b="0" sz="1100">
                          <a:solidFill>
                            <a:srgbClr val="000000"/>
                          </a:solidFill>
                          <a:latin typeface="Montserrat"/>
                        </a:defRPr>
                      </a:pPr>
                      <a:r>
                        <a:t>Enfermeras</a:t>
                      </a:r>
                    </a:p>
                  </a:txBody>
                  <a:tcPr anchor="ctr" marL="73152" marR="73152" marT="0" marB="0">
                    <a:solidFill>
                      <a:srgbClr val="EFEFEF"/>
                    </a:solidFill>
                  </a:tcPr>
                </a:tc>
                <a:tc>
                  <a:txBody>
                    <a:bodyPr/>
                    <a:lstStyle/>
                    <a:p>
                      <a:pPr algn="ctr">
                        <a:defRPr b="0" sz="1000">
                          <a:solidFill>
                            <a:srgbClr val="000000"/>
                          </a:solidFill>
                          <a:latin typeface="Montserrat"/>
                        </a:defRPr>
                      </a:pPr>
                      <a:r>
                        <a:t>461</a:t>
                      </a:r>
                    </a:p>
                  </a:txBody>
                  <a:tcPr anchor="ctr" marL="73152" marR="73152" marT="0" marB="0">
                    <a:solidFill>
                      <a:srgbClr val="EFEFEF"/>
                    </a:solidFill>
                  </a:tcPr>
                </a:tc>
                <a:tc>
                  <a:txBody>
                    <a:bodyPr/>
                    <a:lstStyle/>
                    <a:p>
                      <a:pPr algn="ctr">
                        <a:defRPr b="0" sz="1000">
                          <a:solidFill>
                            <a:srgbClr val="000000"/>
                          </a:solidFill>
                          <a:latin typeface="Montserrat"/>
                        </a:defRPr>
                      </a:pPr>
                      <a:r>
                        <a:t>8</a:t>
                      </a:r>
                    </a:p>
                  </a:txBody>
                  <a:tcPr anchor="ctr" marL="73152" marR="73152" marT="0" marB="0">
                    <a:solidFill>
                      <a:srgbClr val="EFEFEF"/>
                    </a:solidFill>
                  </a:tcPr>
                </a:tc>
                <a:tc>
                  <a:txBody>
                    <a:bodyPr/>
                    <a:lstStyle/>
                    <a:p>
                      <a:pPr algn="ctr">
                        <a:defRPr b="0" sz="1000">
                          <a:solidFill>
                            <a:srgbClr val="000000"/>
                          </a:solidFill>
                          <a:latin typeface="Montserrat"/>
                        </a:defRPr>
                      </a:pPr>
                      <a:r>
                        <a:t>1</a:t>
                      </a:r>
                    </a:p>
                  </a:txBody>
                  <a:tcPr anchor="ctr" marL="73152" marR="73152" marT="0" marB="0">
                    <a:solidFill>
                      <a:srgbClr val="EFEFEF"/>
                    </a:solidFill>
                  </a:tcPr>
                </a:tc>
                <a:tc>
                  <a:txBody>
                    <a:bodyPr/>
                    <a:lstStyle/>
                    <a:p>
                      <a:pPr algn="ctr">
                        <a:defRPr b="0" sz="1000">
                          <a:solidFill>
                            <a:srgbClr val="000000"/>
                          </a:solidFill>
                          <a:latin typeface="Montserrat"/>
                        </a:defRPr>
                      </a:pPr>
                      <a:r>
                        <a:t>282</a:t>
                      </a:r>
                    </a:p>
                  </a:txBody>
                  <a:tcPr anchor="ctr" marL="73152" marR="73152" marT="0" marB="0">
                    <a:solidFill>
                      <a:srgbClr val="EFEFEF"/>
                    </a:solidFill>
                  </a:tcPr>
                </a:tc>
                <a:tc>
                  <a:txBody>
                    <a:bodyPr/>
                    <a:lstStyle/>
                    <a:p>
                      <a:pPr algn="ctr">
                        <a:defRPr b="1" sz="1000">
                          <a:solidFill>
                            <a:srgbClr val="006455"/>
                          </a:solidFill>
                          <a:latin typeface="Montserrat"/>
                        </a:defRPr>
                      </a:pPr>
                      <a:r>
                        <a:t>752</a:t>
                      </a:r>
                    </a:p>
                  </a:txBody>
                  <a:tcPr anchor="ctr" marL="73152" marR="73152" marT="0" marB="0">
                    <a:solidFill>
                      <a:srgbClr val="D3E9E7"/>
                    </a:solidFill>
                  </a:tcPr>
                </a:tc>
              </a:tr>
              <a:tr h="201168">
                <a:tc>
                  <a:txBody>
                    <a:bodyPr/>
                    <a:lstStyle/>
                    <a:p>
                      <a:pPr algn="l">
                        <a:defRPr b="0" sz="1100">
                          <a:solidFill>
                            <a:srgbClr val="000000"/>
                          </a:solidFill>
                          <a:latin typeface="Montserrat"/>
                        </a:defRPr>
                      </a:pPr>
                      <a:r>
                        <a:t>Paramédicos</a:t>
                      </a:r>
                    </a:p>
                  </a:txBody>
                  <a:tcPr anchor="ctr" marL="73152" marR="73152" marT="0" marB="0">
                    <a:solidFill>
                      <a:srgbClr val="FFFFFF"/>
                    </a:solidFill>
                  </a:tcPr>
                </a:tc>
                <a:tc>
                  <a:txBody>
                    <a:bodyPr/>
                    <a:lstStyle/>
                    <a:p>
                      <a:pPr algn="ctr">
                        <a:defRPr b="0" sz="1000">
                          <a:solidFill>
                            <a:srgbClr val="000000"/>
                          </a:solidFill>
                          <a:latin typeface="Montserrat"/>
                        </a:defRPr>
                      </a:pPr>
                      <a:r>
                        <a:t>59</a:t>
                      </a:r>
                    </a:p>
                  </a:txBody>
                  <a:tcPr anchor="ctr" marL="73152" marR="73152" marT="0" marB="0">
                    <a:solidFill>
                      <a:srgbClr val="FFFFFF"/>
                    </a:solidFill>
                  </a:tcPr>
                </a:tc>
                <a:tc>
                  <a:txBody>
                    <a:bodyPr/>
                    <a:lstStyle/>
                    <a:p>
                      <a:pPr algn="ctr">
                        <a:defRPr b="0" sz="1000">
                          <a:solidFill>
                            <a:srgbClr val="000000"/>
                          </a:solidFill>
                          <a:latin typeface="Montserrat"/>
                        </a:defRPr>
                      </a:pPr>
                      <a:r>
                        <a:t>0</a:t>
                      </a:r>
                    </a:p>
                  </a:txBody>
                  <a:tcPr anchor="ctr" marL="73152" marR="73152" marT="0" marB="0">
                    <a:solidFill>
                      <a:srgbClr val="FFFFFF"/>
                    </a:solidFill>
                  </a:tcPr>
                </a:tc>
                <a:tc>
                  <a:txBody>
                    <a:bodyPr/>
                    <a:lstStyle/>
                    <a:p>
                      <a:pPr algn="ctr">
                        <a:defRPr b="0" sz="1000">
                          <a:solidFill>
                            <a:srgbClr val="000000"/>
                          </a:solidFill>
                          <a:latin typeface="Montserrat"/>
                        </a:defRPr>
                      </a:pPr>
                      <a:r>
                        <a:t>5</a:t>
                      </a:r>
                    </a:p>
                  </a:txBody>
                  <a:tcPr anchor="ctr" marL="73152" marR="73152" marT="0" marB="0">
                    <a:solidFill>
                      <a:srgbClr val="FFFFFF"/>
                    </a:solidFill>
                  </a:tcPr>
                </a:tc>
                <a:tc>
                  <a:txBody>
                    <a:bodyPr/>
                    <a:lstStyle/>
                    <a:p>
                      <a:pPr algn="ctr">
                        <a:defRPr b="0" sz="1000">
                          <a:solidFill>
                            <a:srgbClr val="000000"/>
                          </a:solidFill>
                          <a:latin typeface="Montserrat"/>
                        </a:defRPr>
                      </a:pPr>
                      <a:r>
                        <a:t>32</a:t>
                      </a:r>
                    </a:p>
                  </a:txBody>
                  <a:tcPr anchor="ctr" marL="73152" marR="73152" marT="0" marB="0">
                    <a:solidFill>
                      <a:srgbClr val="FFFFFF"/>
                    </a:solidFill>
                  </a:tcPr>
                </a:tc>
                <a:tc>
                  <a:txBody>
                    <a:bodyPr/>
                    <a:lstStyle/>
                    <a:p>
                      <a:pPr algn="ctr">
                        <a:defRPr b="1" sz="1000">
                          <a:solidFill>
                            <a:srgbClr val="006455"/>
                          </a:solidFill>
                          <a:latin typeface="Montserrat"/>
                        </a:defRPr>
                      </a:pPr>
                      <a:r>
                        <a:t>96</a:t>
                      </a:r>
                    </a:p>
                  </a:txBody>
                  <a:tcPr anchor="ctr" marL="73152" marR="73152" marT="0" marB="0">
                    <a:solidFill>
                      <a:srgbClr val="D3E9E7"/>
                    </a:solidFill>
                  </a:tcPr>
                </a:tc>
              </a:tr>
              <a:tr h="201168">
                <a:tc>
                  <a:txBody>
                    <a:bodyPr/>
                    <a:lstStyle/>
                    <a:p>
                      <a:pPr algn="l">
                        <a:defRPr b="0" sz="1100">
                          <a:solidFill>
                            <a:srgbClr val="000000"/>
                          </a:solidFill>
                          <a:latin typeface="Montserrat"/>
                        </a:defRPr>
                      </a:pPr>
                      <a:r>
                        <a:t>Administrativas</a:t>
                      </a:r>
                    </a:p>
                  </a:txBody>
                  <a:tcPr anchor="ctr" marL="73152" marR="73152" marT="0" marB="0">
                    <a:solidFill>
                      <a:srgbClr val="EFEFEF"/>
                    </a:solidFill>
                  </a:tcPr>
                </a:tc>
                <a:tc>
                  <a:txBody>
                    <a:bodyPr/>
                    <a:lstStyle/>
                    <a:p>
                      <a:pPr algn="ctr">
                        <a:defRPr b="0" sz="1000">
                          <a:solidFill>
                            <a:srgbClr val="000000"/>
                          </a:solidFill>
                          <a:latin typeface="Montserrat"/>
                        </a:defRPr>
                      </a:pPr>
                      <a:r>
                        <a:t>44</a:t>
                      </a:r>
                    </a:p>
                  </a:txBody>
                  <a:tcPr anchor="ctr" marL="73152" marR="73152" marT="0" marB="0">
                    <a:solidFill>
                      <a:srgbClr val="EFEFEF"/>
                    </a:solidFill>
                  </a:tcPr>
                </a:tc>
                <a:tc>
                  <a:txBody>
                    <a:bodyPr/>
                    <a:lstStyle/>
                    <a:p>
                      <a:pPr algn="ctr">
                        <a:defRPr b="0" sz="1000">
                          <a:solidFill>
                            <a:srgbClr val="000000"/>
                          </a:solidFill>
                          <a:latin typeface="Montserrat"/>
                        </a:defRPr>
                      </a:pPr>
                      <a:r>
                        <a:t>14</a:t>
                      </a:r>
                    </a:p>
                  </a:txBody>
                  <a:tcPr anchor="ctr" marL="73152" marR="73152" marT="0" marB="0">
                    <a:solidFill>
                      <a:srgbClr val="EFEFEF"/>
                    </a:solidFill>
                  </a:tcPr>
                </a:tc>
                <a:tc>
                  <a:txBody>
                    <a:bodyPr/>
                    <a:lstStyle/>
                    <a:p>
                      <a:pPr algn="ctr">
                        <a:defRPr b="0" sz="1000">
                          <a:solidFill>
                            <a:srgbClr val="000000"/>
                          </a:solidFill>
                          <a:latin typeface="Montserrat"/>
                        </a:defRPr>
                      </a:pPr>
                      <a:r>
                        <a:t>29</a:t>
                      </a:r>
                    </a:p>
                  </a:txBody>
                  <a:tcPr anchor="ctr" marL="73152" marR="73152" marT="0" marB="0">
                    <a:solidFill>
                      <a:srgbClr val="EFEFEF"/>
                    </a:solidFill>
                  </a:tcPr>
                </a:tc>
                <a:tc>
                  <a:txBody>
                    <a:bodyPr/>
                    <a:lstStyle/>
                    <a:p>
                      <a:pPr algn="ctr">
                        <a:defRPr b="0" sz="1000">
                          <a:solidFill>
                            <a:srgbClr val="000000"/>
                          </a:solidFill>
                          <a:latin typeface="Montserrat"/>
                        </a:defRPr>
                      </a:pPr>
                      <a:r>
                        <a:t>14</a:t>
                      </a:r>
                    </a:p>
                  </a:txBody>
                  <a:tcPr anchor="ctr" marL="73152" marR="73152" marT="0" marB="0">
                    <a:solidFill>
                      <a:srgbClr val="EFEFEF"/>
                    </a:solidFill>
                  </a:tcPr>
                </a:tc>
                <a:tc>
                  <a:txBody>
                    <a:bodyPr/>
                    <a:lstStyle/>
                    <a:p>
                      <a:pPr algn="ctr">
                        <a:defRPr b="1" sz="1000">
                          <a:solidFill>
                            <a:srgbClr val="006455"/>
                          </a:solidFill>
                          <a:latin typeface="Montserrat"/>
                        </a:defRPr>
                      </a:pPr>
                      <a:r>
                        <a:t>101</a:t>
                      </a:r>
                    </a:p>
                  </a:txBody>
                  <a:tcPr anchor="ctr" marL="73152" marR="73152" marT="0" marB="0">
                    <a:solidFill>
                      <a:srgbClr val="D3E9E7"/>
                    </a:solidFill>
                  </a:tcPr>
                </a:tc>
              </a:tr>
              <a:tr h="201168">
                <a:tc>
                  <a:txBody>
                    <a:bodyPr/>
                    <a:lstStyle/>
                    <a:p>
                      <a:pPr algn="l">
                        <a:defRPr b="0" sz="1100">
                          <a:solidFill>
                            <a:srgbClr val="000000"/>
                          </a:solidFill>
                          <a:latin typeface="Montserrat"/>
                        </a:defRPr>
                      </a:pPr>
                      <a:r>
                        <a:t>Servicios Generales</a:t>
                      </a:r>
                    </a:p>
                  </a:txBody>
                  <a:tcPr anchor="ctr" marL="73152" marR="73152" marT="0" marB="0">
                    <a:solidFill>
                      <a:srgbClr val="FFFFFF"/>
                    </a:solidFill>
                  </a:tcPr>
                </a:tc>
                <a:tc>
                  <a:txBody>
                    <a:bodyPr/>
                    <a:lstStyle/>
                    <a:p>
                      <a:pPr algn="ctr">
                        <a:defRPr b="0" sz="1000">
                          <a:solidFill>
                            <a:srgbClr val="000000"/>
                          </a:solidFill>
                          <a:latin typeface="Montserrat"/>
                        </a:defRPr>
                      </a:pPr>
                      <a:r>
                        <a:t>176</a:t>
                      </a:r>
                    </a:p>
                  </a:txBody>
                  <a:tcPr anchor="ctr" marL="73152" marR="73152" marT="0" marB="0">
                    <a:solidFill>
                      <a:srgbClr val="FFFFFF"/>
                    </a:solidFill>
                  </a:tcPr>
                </a:tc>
                <a:tc>
                  <a:txBody>
                    <a:bodyPr/>
                    <a:lstStyle/>
                    <a:p>
                      <a:pPr algn="ctr">
                        <a:defRPr b="0" sz="1000">
                          <a:solidFill>
                            <a:srgbClr val="000000"/>
                          </a:solidFill>
                          <a:latin typeface="Montserrat"/>
                        </a:defRPr>
                      </a:pPr>
                      <a:r>
                        <a:t>8</a:t>
                      </a:r>
                    </a:p>
                  </a:txBody>
                  <a:tcPr anchor="ctr" marL="73152" marR="73152" marT="0" marB="0">
                    <a:solidFill>
                      <a:srgbClr val="FFFFFF"/>
                    </a:solidFill>
                  </a:tcPr>
                </a:tc>
                <a:tc>
                  <a:txBody>
                    <a:bodyPr/>
                    <a:lstStyle/>
                    <a:p>
                      <a:pPr algn="ctr">
                        <a:defRPr b="0" sz="1000">
                          <a:solidFill>
                            <a:srgbClr val="000000"/>
                          </a:solidFill>
                          <a:latin typeface="Montserrat"/>
                        </a:defRPr>
                      </a:pPr>
                      <a:r>
                        <a:t>8</a:t>
                      </a:r>
                    </a:p>
                  </a:txBody>
                  <a:tcPr anchor="ctr" marL="73152" marR="73152" marT="0" marB="0">
                    <a:solidFill>
                      <a:srgbClr val="FFFFFF"/>
                    </a:solidFill>
                  </a:tcPr>
                </a:tc>
                <a:tc>
                  <a:txBody>
                    <a:bodyPr/>
                    <a:lstStyle/>
                    <a:p>
                      <a:pPr algn="ctr">
                        <a:defRPr b="0" sz="1000">
                          <a:solidFill>
                            <a:srgbClr val="000000"/>
                          </a:solidFill>
                          <a:latin typeface="Montserrat"/>
                        </a:defRPr>
                      </a:pPr>
                      <a:r>
                        <a:t>84</a:t>
                      </a:r>
                    </a:p>
                  </a:txBody>
                  <a:tcPr anchor="ctr" marL="73152" marR="73152" marT="0" marB="0">
                    <a:solidFill>
                      <a:srgbClr val="FFFFFF"/>
                    </a:solidFill>
                  </a:tcPr>
                </a:tc>
                <a:tc>
                  <a:txBody>
                    <a:bodyPr/>
                    <a:lstStyle/>
                    <a:p>
                      <a:pPr algn="ctr">
                        <a:defRPr b="1" sz="1000">
                          <a:solidFill>
                            <a:srgbClr val="006455"/>
                          </a:solidFill>
                          <a:latin typeface="Montserrat"/>
                        </a:defRPr>
                      </a:pPr>
                      <a:r>
                        <a:t>276</a:t>
                      </a:r>
                    </a:p>
                  </a:txBody>
                  <a:tcPr anchor="ctr" marL="73152" marR="73152" marT="0" marB="0">
                    <a:solidFill>
                      <a:srgbClr val="D3E9E7"/>
                    </a:solidFill>
                  </a:tcPr>
                </a:tc>
              </a:tr>
              <a:tr h="201168">
                <a:tc>
                  <a:txBody>
                    <a:bodyPr/>
                    <a:lstStyle/>
                    <a:p>
                      <a:pPr algn="l">
                        <a:defRPr b="0" sz="1100">
                          <a:solidFill>
                            <a:srgbClr val="000000"/>
                          </a:solidFill>
                          <a:latin typeface="Montserrat"/>
                        </a:defRPr>
                      </a:pPr>
                      <a:r>
                        <a:t>Acción Comunitaria</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0" sz="1000">
                          <a:solidFill>
                            <a:srgbClr val="000000"/>
                          </a:solidFill>
                          <a:latin typeface="Montserrat"/>
                        </a:defRPr>
                      </a:pPr>
                      <a:r>
                        <a:t>3</a:t>
                      </a:r>
                    </a:p>
                  </a:txBody>
                  <a:tcPr anchor="ctr" marL="73152" marR="73152" marT="0" marB="0">
                    <a:solidFill>
                      <a:srgbClr val="EFEFEF"/>
                    </a:solidFill>
                  </a:tcPr>
                </a:tc>
                <a:tc>
                  <a:txBody>
                    <a:bodyPr/>
                    <a:lstStyle/>
                    <a:p>
                      <a:pPr algn="ctr">
                        <a:defRPr b="0" sz="1000">
                          <a:solidFill>
                            <a:srgbClr val="000000"/>
                          </a:solidFill>
                          <a:latin typeface="Montserrat"/>
                        </a:defRPr>
                      </a:pPr>
                      <a:r>
                        <a:t>7</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1" sz="1000">
                          <a:solidFill>
                            <a:srgbClr val="006455"/>
                          </a:solidFill>
                          <a:latin typeface="Montserrat"/>
                        </a:defRPr>
                      </a:pPr>
                      <a:r>
                        <a:t>10</a:t>
                      </a:r>
                    </a:p>
                  </a:txBody>
                  <a:tcPr anchor="ctr" marL="73152" marR="73152" marT="0" marB="0">
                    <a:solidFill>
                      <a:srgbClr val="D3E9E7"/>
                    </a:solidFill>
                  </a:tcPr>
                </a:tc>
              </a:tr>
              <a:tr h="201168">
                <a:tc>
                  <a:txBody>
                    <a:bodyPr/>
                    <a:lstStyle/>
                    <a:p>
                      <a:pPr algn="l">
                        <a:defRPr b="1" sz="1100">
                          <a:solidFill>
                            <a:srgbClr val="006455"/>
                          </a:solidFill>
                          <a:latin typeface="Montserrat"/>
                        </a:defRPr>
                      </a:pPr>
                      <a:r>
                        <a:t>Total</a:t>
                      </a:r>
                    </a:p>
                  </a:txBody>
                  <a:tcPr anchor="ctr" marL="73152" marR="73152" marT="0" marB="0">
                    <a:solidFill>
                      <a:srgbClr val="D3E9E7"/>
                    </a:solidFill>
                  </a:tcPr>
                </a:tc>
                <a:tc>
                  <a:txBody>
                    <a:bodyPr/>
                    <a:lstStyle/>
                    <a:p>
                      <a:pPr algn="ctr">
                        <a:defRPr b="1" sz="1000">
                          <a:solidFill>
                            <a:srgbClr val="006455"/>
                          </a:solidFill>
                          <a:latin typeface="Montserrat"/>
                        </a:defRPr>
                      </a:pPr>
                      <a:r>
                        <a:t>956</a:t>
                      </a:r>
                    </a:p>
                  </a:txBody>
                  <a:tcPr anchor="ctr" marL="73152" marR="73152" marT="0" marB="0">
                    <a:solidFill>
                      <a:srgbClr val="D3E9E7"/>
                    </a:solidFill>
                  </a:tcPr>
                </a:tc>
                <a:tc>
                  <a:txBody>
                    <a:bodyPr/>
                    <a:lstStyle/>
                    <a:p>
                      <a:pPr algn="ctr">
                        <a:defRPr b="1" sz="1000">
                          <a:solidFill>
                            <a:srgbClr val="006455"/>
                          </a:solidFill>
                          <a:latin typeface="Montserrat"/>
                        </a:defRPr>
                      </a:pPr>
                      <a:r>
                        <a:t>51</a:t>
                      </a:r>
                    </a:p>
                  </a:txBody>
                  <a:tcPr anchor="ctr" marL="73152" marR="73152" marT="0" marB="0">
                    <a:solidFill>
                      <a:srgbClr val="D3E9E7"/>
                    </a:solidFill>
                  </a:tcPr>
                </a:tc>
                <a:tc>
                  <a:txBody>
                    <a:bodyPr/>
                    <a:lstStyle/>
                    <a:p>
                      <a:pPr algn="ctr">
                        <a:defRPr b="1" sz="1000">
                          <a:solidFill>
                            <a:srgbClr val="006455"/>
                          </a:solidFill>
                          <a:latin typeface="Montserrat"/>
                        </a:defRPr>
                      </a:pPr>
                      <a:r>
                        <a:t>56</a:t>
                      </a:r>
                    </a:p>
                  </a:txBody>
                  <a:tcPr anchor="ctr" marL="73152" marR="73152" marT="0" marB="0">
                    <a:solidFill>
                      <a:srgbClr val="D3E9E7"/>
                    </a:solidFill>
                  </a:tcPr>
                </a:tc>
                <a:tc>
                  <a:txBody>
                    <a:bodyPr/>
                    <a:lstStyle/>
                    <a:p>
                      <a:pPr algn="ctr">
                        <a:defRPr b="1" sz="1000">
                          <a:solidFill>
                            <a:srgbClr val="006455"/>
                          </a:solidFill>
                          <a:latin typeface="Montserrat"/>
                        </a:defRPr>
                      </a:pPr>
                      <a:r>
                        <a:t>425</a:t>
                      </a:r>
                    </a:p>
                  </a:txBody>
                  <a:tcPr anchor="ctr" marL="73152" marR="73152" marT="0" marB="0">
                    <a:solidFill>
                      <a:srgbClr val="D3E9E7"/>
                    </a:solidFill>
                  </a:tcPr>
                </a:tc>
                <a:tc>
                  <a:txBody>
                    <a:bodyPr/>
                    <a:lstStyle/>
                    <a:p>
                      <a:pPr algn="ctr">
                        <a:defRPr b="1" sz="1000">
                          <a:solidFill>
                            <a:srgbClr val="006455"/>
                          </a:solidFill>
                          <a:latin typeface="Montserrat"/>
                        </a:defRPr>
                      </a:pPr>
                      <a:r>
                        <a:t>1,488</a:t>
                      </a:r>
                    </a:p>
                  </a:txBody>
                  <a:tcPr anchor="ctr" marL="73152" marR="73152" marT="0" marB="0">
                    <a:solidFill>
                      <a:srgbClr val="D3E9E7"/>
                    </a:solidFill>
                  </a:tcPr>
                </a:tc>
              </a:tr>
            </a:tbl>
          </a:graphicData>
        </a:graphic>
      </p:graphicFrame>
      <p:graphicFrame>
        <p:nvGraphicFramePr>
          <p:cNvPr id="536" name="Table 535"/>
          <p:cNvGraphicFramePr>
            <a:graphicFrameLocks noGrp="1"/>
          </p:cNvGraphicFramePr>
          <p:nvPr/>
        </p:nvGraphicFramePr>
        <p:xfrm>
          <a:off x="310896" y="7991856"/>
          <a:ext cx="7004303" cy="612648"/>
        </p:xfrm>
        <a:graphic>
          <a:graphicData uri="http://schemas.openxmlformats.org/drawingml/2006/table">
            <a:tbl>
              <a:tblPr firstRow="1" bandRow="1">
                <a:tableStyleId>{5C22544A-7EE6-4342-B048-85BDC9FD1C3A}</a:tableStyleId>
              </a:tblPr>
              <a:tblGrid>
                <a:gridCol w="996696"/>
                <a:gridCol w="996696"/>
                <a:gridCol w="832104"/>
                <a:gridCol w="1060704"/>
                <a:gridCol w="969264"/>
                <a:gridCol w="1042415"/>
                <a:gridCol w="1106424"/>
              </a:tblGrid>
              <a:tr h="306324">
                <a:tc>
                  <a:txBody>
                    <a:bodyPr/>
                    <a:lstStyle/>
                    <a:p>
                      <a:pPr algn="ctr">
                        <a:defRPr b="1" sz="1100">
                          <a:solidFill>
                            <a:srgbClr val="FFFFFF"/>
                          </a:solidFill>
                          <a:latin typeface="Montserrat"/>
                        </a:defRPr>
                      </a:pPr>
                      <a:r>
                        <a:t>OOAD</a:t>
                      </a:r>
                    </a:p>
                  </a:txBody>
                  <a:tcPr marL="36576" marR="36576" marT="36576" marB="36576">
                    <a:solidFill>
                      <a:srgbClr val="006455"/>
                    </a:solidFill>
                  </a:tcPr>
                </a:tc>
                <a:tc>
                  <a:txBody>
                    <a:bodyPr/>
                    <a:lstStyle/>
                    <a:p>
                      <a:pPr algn="ctr">
                        <a:defRPr b="1" sz="1100">
                          <a:solidFill>
                            <a:srgbClr val="FFFFFF"/>
                          </a:solidFill>
                          <a:latin typeface="Montserrat"/>
                        </a:defRPr>
                      </a:pPr>
                      <a:r>
                        <a:t>Voluntarios Rurales</a:t>
                      </a:r>
                    </a:p>
                  </a:txBody>
                  <a:tcPr marL="36576" marR="36576" marT="36576" marB="36576">
                    <a:solidFill>
                      <a:srgbClr val="006455"/>
                    </a:solidFill>
                  </a:tcPr>
                </a:tc>
                <a:tc>
                  <a:txBody>
                    <a:bodyPr/>
                    <a:lstStyle/>
                    <a:p>
                      <a:pPr algn="ctr">
                        <a:defRPr b="1" sz="1100">
                          <a:solidFill>
                            <a:srgbClr val="FFFFFF"/>
                          </a:solidFill>
                          <a:latin typeface="Montserrat"/>
                        </a:defRPr>
                      </a:pPr>
                      <a:r>
                        <a:t>Comités de Salud</a:t>
                      </a:r>
                    </a:p>
                  </a:txBody>
                  <a:tcPr marL="36576" marR="36576" marT="36576" marB="36576">
                    <a:solidFill>
                      <a:srgbClr val="006455"/>
                    </a:solidFill>
                  </a:tcPr>
                </a:tc>
                <a:tc>
                  <a:txBody>
                    <a:bodyPr/>
                    <a:lstStyle/>
                    <a:p>
                      <a:pPr algn="ctr">
                        <a:defRPr b="1" sz="1100">
                          <a:solidFill>
                            <a:srgbClr val="FFFFFF"/>
                          </a:solidFill>
                          <a:latin typeface="Montserrat"/>
                        </a:defRPr>
                      </a:pPr>
                      <a:r>
                        <a:t>Integrantes de Comités</a:t>
                      </a:r>
                    </a:p>
                  </a:txBody>
                  <a:tcPr marL="36576" marR="36576" marT="36576" marB="36576">
                    <a:solidFill>
                      <a:srgbClr val="006455"/>
                    </a:solidFill>
                  </a:tcPr>
                </a:tc>
                <a:tc>
                  <a:txBody>
                    <a:bodyPr/>
                    <a:lstStyle/>
                    <a:p>
                      <a:pPr algn="ctr">
                        <a:defRPr b="1" sz="1100">
                          <a:solidFill>
                            <a:srgbClr val="FFFFFF"/>
                          </a:solidFill>
                          <a:latin typeface="Montserrat"/>
                        </a:defRPr>
                      </a:pPr>
                      <a:r>
                        <a:t>Voluntarios</a:t>
                      </a:r>
                    </a:p>
                  </a:txBody>
                  <a:tcPr marL="36576" marR="36576" marT="36576" marB="36576">
                    <a:solidFill>
                      <a:srgbClr val="006455"/>
                    </a:solidFill>
                  </a:tcPr>
                </a:tc>
                <a:tc>
                  <a:txBody>
                    <a:bodyPr/>
                    <a:lstStyle/>
                    <a:p>
                      <a:pPr algn="ctr">
                        <a:defRPr b="1" sz="1100">
                          <a:solidFill>
                            <a:srgbClr val="FFFFFF"/>
                          </a:solidFill>
                          <a:latin typeface="Montserrat"/>
                        </a:defRPr>
                      </a:pPr>
                      <a:r>
                        <a:t>Parteras Voluntarias</a:t>
                      </a:r>
                    </a:p>
                  </a:txBody>
                  <a:tcPr marL="36576" marR="36576" marT="36576" marB="36576">
                    <a:solidFill>
                      <a:srgbClr val="006455"/>
                    </a:solidFill>
                  </a:tcPr>
                </a:tc>
                <a:tc>
                  <a:txBody>
                    <a:bodyPr/>
                    <a:lstStyle/>
                    <a:p>
                      <a:pPr algn="ctr">
                        <a:defRPr b="1" sz="1100">
                          <a:solidFill>
                            <a:srgbClr val="FFFFFF"/>
                          </a:solidFill>
                          <a:latin typeface="Montserrat"/>
                        </a:defRPr>
                      </a:pPr>
                      <a:r>
                        <a:t>Médicos Tradicionales</a:t>
                      </a:r>
                    </a:p>
                  </a:txBody>
                  <a:tcPr marL="36576" marR="36576" marT="36576" marB="36576">
                    <a:solidFill>
                      <a:srgbClr val="006455"/>
                    </a:solidFill>
                  </a:tcPr>
                </a:tc>
              </a:tr>
              <a:tr h="306324">
                <a:tc>
                  <a:txBody>
                    <a:bodyPr/>
                    <a:lstStyle/>
                    <a:p>
                      <a:pPr algn="l">
                        <a:defRPr b="1" sz="1000">
                          <a:solidFill>
                            <a:srgbClr val="006455"/>
                          </a:solidFill>
                          <a:latin typeface="Montserrat"/>
                        </a:defRPr>
                      </a:pPr>
                      <a:r>
                        <a:t>Total Programa</a:t>
                      </a:r>
                    </a:p>
                  </a:txBody>
                  <a:tcPr anchor="ctr" marL="73152" marR="73152" marT="0" marB="0">
                    <a:solidFill>
                      <a:srgbClr val="D3E9E7"/>
                    </a:solidFill>
                  </a:tcPr>
                </a:tc>
                <a:tc>
                  <a:txBody>
                    <a:bodyPr/>
                    <a:lstStyle/>
                    <a:p>
                      <a:pPr algn="ctr">
                        <a:defRPr b="1" sz="1000">
                          <a:solidFill>
                            <a:srgbClr val="006455"/>
                          </a:solidFill>
                          <a:latin typeface="Montserrat"/>
                        </a:defRPr>
                      </a:pPr>
                      <a:r>
                        <a:t>722</a:t>
                      </a:r>
                    </a:p>
                  </a:txBody>
                  <a:tcPr anchor="ctr" marL="73152" marR="73152" marT="0" marB="0">
                    <a:solidFill>
                      <a:srgbClr val="D3E9E7"/>
                    </a:solidFill>
                  </a:tcPr>
                </a:tc>
                <a:tc>
                  <a:txBody>
                    <a:bodyPr/>
                    <a:lstStyle/>
                    <a:p>
                      <a:pPr algn="ctr">
                        <a:defRPr b="1" sz="1000">
                          <a:solidFill>
                            <a:srgbClr val="006455"/>
                          </a:solidFill>
                          <a:latin typeface="Montserrat"/>
                        </a:defRPr>
                      </a:pPr>
                      <a:r>
                        <a:t>647</a:t>
                      </a:r>
                    </a:p>
                  </a:txBody>
                  <a:tcPr anchor="ctr" marL="73152" marR="73152" marT="0" marB="0">
                    <a:solidFill>
                      <a:srgbClr val="D3E9E7"/>
                    </a:solidFill>
                  </a:tcPr>
                </a:tc>
                <a:tc>
                  <a:txBody>
                    <a:bodyPr/>
                    <a:lstStyle/>
                    <a:p>
                      <a:pPr algn="ctr">
                        <a:defRPr b="1" sz="1000">
                          <a:solidFill>
                            <a:srgbClr val="006455"/>
                          </a:solidFill>
                          <a:latin typeface="Montserrat"/>
                        </a:defRPr>
                      </a:pPr>
                      <a:r>
                        <a:t>3,866</a:t>
                      </a:r>
                    </a:p>
                  </a:txBody>
                  <a:tcPr anchor="ctr" marL="73152" marR="73152" marT="0" marB="0">
                    <a:solidFill>
                      <a:srgbClr val="D3E9E7"/>
                    </a:solidFill>
                  </a:tcPr>
                </a:tc>
                <a:tc>
                  <a:txBody>
                    <a:bodyPr/>
                    <a:lstStyle/>
                    <a:p>
                      <a:pPr algn="ctr">
                        <a:defRPr b="1" sz="1000">
                          <a:solidFill>
                            <a:srgbClr val="006455"/>
                          </a:solidFill>
                          <a:latin typeface="Montserrat"/>
                        </a:defRPr>
                      </a:pPr>
                      <a:r>
                        <a:t>4,743</a:t>
                      </a:r>
                    </a:p>
                  </a:txBody>
                  <a:tcPr anchor="ctr" marL="73152" marR="73152" marT="0" marB="0">
                    <a:solidFill>
                      <a:srgbClr val="D3E9E7"/>
                    </a:solidFill>
                  </a:tcPr>
                </a:tc>
                <a:tc>
                  <a:txBody>
                    <a:bodyPr/>
                    <a:lstStyle/>
                    <a:p>
                      <a:pPr algn="ctr">
                        <a:defRPr b="1" sz="1000">
                          <a:solidFill>
                            <a:srgbClr val="006455"/>
                          </a:solidFill>
                          <a:latin typeface="Montserrat"/>
                        </a:defRPr>
                      </a:pPr>
                      <a:r>
                        <a:t>8</a:t>
                      </a:r>
                    </a:p>
                  </a:txBody>
                  <a:tcPr anchor="ctr" marL="73152" marR="73152" marT="0" marB="0">
                    <a:solidFill>
                      <a:srgbClr val="D3E9E7"/>
                    </a:solidFill>
                  </a:tcPr>
                </a:tc>
                <a:tc>
                  <a:txBody>
                    <a:bodyPr/>
                    <a:lstStyle/>
                    <a:p>
                      <a:pPr algn="ctr">
                        <a:defRPr b="1" sz="1000">
                          <a:solidFill>
                            <a:srgbClr val="006455"/>
                          </a:solidFill>
                          <a:latin typeface="Montserrat"/>
                        </a:defRPr>
                      </a:pPr>
                      <a:r>
                        <a:t>10</a:t>
                      </a:r>
                    </a:p>
                  </a:txBody>
                  <a:tcPr anchor="ctr" marL="73152" marR="73152" marT="0" marB="0">
                    <a:solidFill>
                      <a:srgbClr val="D3E9E7"/>
                    </a:solidFill>
                  </a:tcPr>
                </a:tc>
              </a:tr>
            </a:tbl>
          </a:graphicData>
        </a:graphic>
      </p:graphicFrame>
      <p:sp>
        <p:nvSpPr>
          <p:cNvPr id="537" name="Rounded Rectangle 536"/>
          <p:cNvSpPr/>
          <p:nvPr/>
        </p:nvSpPr>
        <p:spPr>
          <a:xfrm rot="16200000">
            <a:off x="5648400" y="-93600"/>
            <a:ext cx="7920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8" name="Connector 537"/>
          <p:cNvCxnSpPr/>
          <p:nvPr/>
        </p:nvCxnSpPr>
        <p:spPr>
          <a:xfrm>
            <a:off x="6213600" y="1353600"/>
            <a:ext cx="0" cy="5760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39" name="TextBox 538"/>
          <p:cNvSpPr txBox="1"/>
          <p:nvPr/>
        </p:nvSpPr>
        <p:spPr>
          <a:xfrm>
            <a:off x="4478400" y="1429200"/>
            <a:ext cx="1645200" cy="500399"/>
          </a:xfrm>
          <a:prstGeom prst="rect">
            <a:avLst/>
          </a:prstGeom>
          <a:noFill/>
        </p:spPr>
        <p:txBody>
          <a:bodyPr wrap="none">
            <a:spAutoFit/>
          </a:bodyPr>
          <a:lstStyle/>
          <a:p>
            <a:pPr algn="ctr">
              <a:defRPr b="1" sz="2000">
                <a:solidFill>
                  <a:srgbClr val="A08250"/>
                </a:solidFill>
                <a:latin typeface="Montserrat"/>
              </a:defRPr>
            </a:pPr>
            <a:r>
              <a:t>409,391</a:t>
            </a:r>
          </a:p>
          <a:p>
            <a:pPr algn="ctr">
              <a:defRPr sz="1000">
                <a:solidFill>
                  <a:srgbClr val="A08250"/>
                </a:solidFill>
                <a:latin typeface="Montserrat"/>
              </a:defRPr>
            </a:pPr>
            <a:r>
              <a:t>Población beneficiaria</a:t>
            </a:r>
          </a:p>
        </p:txBody>
      </p:sp>
      <p:sp>
        <p:nvSpPr>
          <p:cNvPr id="540" name="TextBox 539"/>
          <p:cNvSpPr txBox="1"/>
          <p:nvPr/>
        </p:nvSpPr>
        <p:spPr>
          <a:xfrm>
            <a:off x="6393600" y="1195200"/>
            <a:ext cx="1137600" cy="500399"/>
          </a:xfrm>
          <a:prstGeom prst="rect">
            <a:avLst/>
          </a:prstGeom>
          <a:noFill/>
        </p:spPr>
        <p:txBody>
          <a:bodyPr wrap="none">
            <a:spAutoFit/>
          </a:bodyPr>
          <a:lstStyle/>
          <a:p>
            <a:pPr algn="ctr">
              <a:defRPr b="1" sz="1500">
                <a:solidFill>
                  <a:srgbClr val="A08250"/>
                </a:solidFill>
                <a:latin typeface="Montserrat"/>
              </a:defRPr>
            </a:pPr>
            <a:r>
              <a:t>129,722</a:t>
            </a:r>
          </a:p>
          <a:p>
            <a:pPr algn="ctr">
              <a:defRPr sz="1000">
                <a:solidFill>
                  <a:srgbClr val="A08250"/>
                </a:solidFill>
                <a:latin typeface="Montserrat"/>
              </a:defRPr>
            </a:pPr>
            <a:r>
              <a:t>Derechohabiente</a:t>
            </a:r>
          </a:p>
        </p:txBody>
      </p:sp>
      <p:sp>
        <p:nvSpPr>
          <p:cNvPr id="541" name="TextBox 540"/>
          <p:cNvSpPr txBox="1"/>
          <p:nvPr/>
        </p:nvSpPr>
        <p:spPr>
          <a:xfrm>
            <a:off x="5443200" y="1602000"/>
            <a:ext cx="2998800" cy="370800"/>
          </a:xfrm>
          <a:prstGeom prst="rect">
            <a:avLst/>
          </a:prstGeom>
          <a:noFill/>
        </p:spPr>
        <p:txBody>
          <a:bodyPr wrap="none">
            <a:spAutoFit/>
          </a:bodyPr>
          <a:lstStyle/>
          <a:p>
            <a:pPr algn="ctr">
              <a:defRPr b="1" sz="1500">
                <a:solidFill>
                  <a:srgbClr val="A08250"/>
                </a:solidFill>
                <a:latin typeface="Montserrat"/>
              </a:defRPr>
            </a:pPr>
            <a:r>
              <a:t>279,669</a:t>
            </a:r>
          </a:p>
          <a:p>
            <a:pPr algn="ctr">
              <a:defRPr sz="1000">
                <a:solidFill>
                  <a:srgbClr val="A08250"/>
                </a:solidFill>
                <a:latin typeface="Montserrat"/>
              </a:defRPr>
            </a:pPr>
            <a:r>
              <a:t>Población abierta</a:t>
            </a:r>
          </a:p>
        </p:txBody>
      </p:sp>
      <p:sp>
        <p:nvSpPr>
          <p:cNvPr id="542" name="Rounded Rectangle 541"/>
          <p:cNvSpPr/>
          <p:nvPr/>
        </p:nvSpPr>
        <p:spPr>
          <a:xfrm rot="16200000">
            <a:off x="5652000" y="802800"/>
            <a:ext cx="7632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3" name="Connector 542"/>
          <p:cNvCxnSpPr/>
          <p:nvPr/>
        </p:nvCxnSpPr>
        <p:spPr>
          <a:xfrm>
            <a:off x="6213600" y="2224800"/>
            <a:ext cx="0" cy="5256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44" name="TextBox 543"/>
          <p:cNvSpPr txBox="1"/>
          <p:nvPr/>
        </p:nvSpPr>
        <p:spPr>
          <a:xfrm>
            <a:off x="4672800" y="2289600"/>
            <a:ext cx="1198800" cy="432000"/>
          </a:xfrm>
          <a:prstGeom prst="rect">
            <a:avLst/>
          </a:prstGeom>
          <a:noFill/>
        </p:spPr>
        <p:txBody>
          <a:bodyPr wrap="none">
            <a:spAutoFit/>
          </a:bodyPr>
          <a:lstStyle/>
          <a:p>
            <a:pPr algn="ctr">
              <a:defRPr sz="2000" b="1">
                <a:solidFill>
                  <a:srgbClr val="A08250"/>
                </a:solidFill>
                <a:latin typeface="Montserrat"/>
              </a:defRPr>
            </a:pPr>
            <a:r>
              <a:t>69</a:t>
            </a:r>
          </a:p>
        </p:txBody>
      </p:sp>
      <p:sp>
        <p:nvSpPr>
          <p:cNvPr id="545" name="TextBox 544"/>
          <p:cNvSpPr txBox="1"/>
          <p:nvPr/>
        </p:nvSpPr>
        <p:spPr>
          <a:xfrm>
            <a:off x="6501600" y="2163600"/>
            <a:ext cx="1007999" cy="500399"/>
          </a:xfrm>
          <a:prstGeom prst="rect">
            <a:avLst/>
          </a:prstGeom>
          <a:noFill/>
        </p:spPr>
        <p:txBody>
          <a:bodyPr wrap="square">
            <a:spAutoFit/>
          </a:bodyPr>
          <a:lstStyle/>
          <a:p>
            <a:pPr algn="ctr">
              <a:defRPr sz="1000" b="1">
                <a:solidFill>
                  <a:srgbClr val="A08250"/>
                </a:solidFill>
                <a:latin typeface="Montserrat"/>
              </a:defRPr>
            </a:pPr>
            <a:r>
              <a:t>Población en localidades indígenas</a:t>
            </a:r>
          </a:p>
        </p:txBody>
      </p:sp>
      <p:sp>
        <p:nvSpPr>
          <p:cNvPr id="546" name="Rounded Rectangle 545"/>
          <p:cNvSpPr/>
          <p:nvPr/>
        </p:nvSpPr>
        <p:spPr>
          <a:xfrm>
            <a:off x="5608800" y="32904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TextBox 546"/>
          <p:cNvSpPr txBox="1"/>
          <p:nvPr/>
        </p:nvSpPr>
        <p:spPr>
          <a:xfrm>
            <a:off x="5608800" y="3290400"/>
            <a:ext cx="2163600" cy="684000"/>
          </a:xfrm>
          <a:prstGeom prst="rect">
            <a:avLst/>
          </a:prstGeom>
          <a:noFill/>
        </p:spPr>
        <p:txBody>
          <a:bodyPr wrap="none">
            <a:spAutoFit/>
          </a:bodyPr>
          <a:lstStyle/>
          <a:p>
            <a:pPr algn="ctr">
              <a:defRPr b="1" sz="2600">
                <a:solidFill>
                  <a:srgbClr val="FFFFFF"/>
                </a:solidFill>
                <a:latin typeface="Montserrat"/>
              </a:defRPr>
            </a:pPr>
            <a:r>
              <a:t>498,544</a:t>
            </a:r>
          </a:p>
          <a:p>
            <a:pPr algn="ctr">
              <a:defRPr sz="1600">
                <a:solidFill>
                  <a:srgbClr val="CFC48C"/>
                </a:solidFill>
                <a:latin typeface="Montserrat"/>
              </a:defRPr>
            </a:pPr>
            <a:r>
              <a:t>consultas anuales</a:t>
            </a:r>
          </a:p>
        </p:txBody>
      </p:sp>
      <p:sp>
        <p:nvSpPr>
          <p:cNvPr id="548" name="Rounded Rectangle 547"/>
          <p:cNvSpPr/>
          <p:nvPr/>
        </p:nvSpPr>
        <p:spPr>
          <a:xfrm>
            <a:off x="5608800" y="42120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TextBox 548"/>
          <p:cNvSpPr txBox="1"/>
          <p:nvPr/>
        </p:nvSpPr>
        <p:spPr>
          <a:xfrm>
            <a:off x="5608800" y="4212000"/>
            <a:ext cx="2163600" cy="684000"/>
          </a:xfrm>
          <a:prstGeom prst="rect">
            <a:avLst/>
          </a:prstGeom>
          <a:noFill/>
        </p:spPr>
        <p:txBody>
          <a:bodyPr wrap="none">
            <a:spAutoFit/>
          </a:bodyPr>
          <a:lstStyle/>
          <a:p>
            <a:pPr algn="ctr">
              <a:defRPr b="1" sz="2600">
                <a:solidFill>
                  <a:srgbClr val="FFFFFF"/>
                </a:solidFill>
                <a:latin typeface="Montserrat"/>
              </a:defRPr>
            </a:pPr>
            <a:r>
              <a:t>2,575</a:t>
            </a:r>
          </a:p>
          <a:p>
            <a:pPr algn="ctr">
              <a:defRPr sz="1600">
                <a:solidFill>
                  <a:srgbClr val="CFC48C"/>
                </a:solidFill>
                <a:latin typeface="Montserrat"/>
              </a:defRPr>
            </a:pPr>
            <a:r>
              <a:t>cirugías anuales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3" name="TextBox 2"/>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4" name="Connector 3"/>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75600" y="1234800"/>
          <a:ext cx="7650000" cy="20736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IMSS-Coplamar</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HR Concepción del Oro</a:t>
                      </a:r>
                    </a:p>
                  </a:txBody>
                  <a:tcPr anchor="ctr">
                    <a:solidFill>
                      <a:srgbClr val="FFFFFF"/>
                    </a:solidFill>
                  </a:tcPr>
                </a:tc>
                <a:tc>
                  <a:txBody>
                    <a:bodyPr/>
                    <a:lstStyle/>
                    <a:p>
                      <a:pPr algn="ctr">
                        <a:defRPr sz="900">
                          <a:latin typeface="Montserrat"/>
                        </a:defRPr>
                      </a:pPr>
                      <a:r>
                        <a:t>Mayo de 1974</a:t>
                      </a:r>
                    </a:p>
                  </a:txBody>
                  <a:tcPr anchor="ctr">
                    <a:solidFill>
                      <a:srgbClr val="FFFFFF"/>
                    </a:solidFill>
                  </a:tcPr>
                </a:tc>
                <a:tc>
                  <a:txBody>
                    <a:bodyPr/>
                    <a:lstStyle/>
                    <a:p>
                      <a:pPr algn="ctr">
                        <a:defRPr sz="900">
                          <a:latin typeface="Montserrat"/>
                        </a:defRPr>
                      </a:pPr>
                      <a:r>
                        <a:t>22</a:t>
                      </a:r>
                    </a:p>
                  </a:txBody>
                  <a:tcPr anchor="ctr">
                    <a:solidFill>
                      <a:srgbClr val="FFFFFF"/>
                    </a:solidFill>
                  </a:tcPr>
                </a:tc>
                <a:tc>
                  <a:txBody>
                    <a:bodyPr/>
                    <a:lstStyle/>
                    <a:p>
                      <a:pPr algn="ctr">
                        <a:defRPr sz="900">
                          <a:latin typeface="Montserrat"/>
                        </a:defRPr>
                      </a:pPr>
                      <a:r>
                        <a:t>14</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3</a:t>
                      </a:r>
                    </a:p>
                  </a:txBody>
                  <a:tcPr anchor="ctr">
                    <a:solidFill>
                      <a:srgbClr val="FFFFFF"/>
                    </a:solidFill>
                  </a:tcPr>
                </a:tc>
              </a:tr>
              <a:tr h="230400">
                <a:tc>
                  <a:txBody>
                    <a:bodyPr/>
                    <a:lstStyle/>
                    <a:p>
                      <a:pPr algn="l">
                        <a:defRPr sz="900">
                          <a:latin typeface="Montserrat"/>
                        </a:defRPr>
                      </a:pPr>
                      <a:r>
                        <a:t>HR Villanueva</a:t>
                      </a:r>
                    </a:p>
                  </a:txBody>
                  <a:tcPr anchor="ctr">
                    <a:solidFill>
                      <a:srgbClr val="EFEFEF"/>
                    </a:solidFill>
                  </a:tcPr>
                </a:tc>
                <a:tc>
                  <a:txBody>
                    <a:bodyPr/>
                    <a:lstStyle/>
                    <a:p>
                      <a:pPr algn="ctr">
                        <a:defRPr sz="900">
                          <a:latin typeface="Montserrat"/>
                        </a:defRPr>
                      </a:pPr>
                      <a:r>
                        <a:t>Noviembre de 1982</a:t>
                      </a:r>
                    </a:p>
                  </a:txBody>
                  <a:tcPr anchor="ctr">
                    <a:solidFill>
                      <a:srgbClr val="EFEFEF"/>
                    </a:solidFill>
                  </a:tcPr>
                </a:tc>
                <a:tc>
                  <a:txBody>
                    <a:bodyPr/>
                    <a:lstStyle/>
                    <a:p>
                      <a:pPr algn="ctr">
                        <a:defRPr sz="900">
                          <a:latin typeface="Montserrat"/>
                        </a:defRPr>
                      </a:pPr>
                      <a:r>
                        <a:t>24</a:t>
                      </a:r>
                    </a:p>
                  </a:txBody>
                  <a:tcPr anchor="ctr">
                    <a:solidFill>
                      <a:srgbClr val="EFEFEF"/>
                    </a:solidFill>
                  </a:tcPr>
                </a:tc>
                <a:tc>
                  <a:txBody>
                    <a:bodyPr/>
                    <a:lstStyle/>
                    <a:p>
                      <a:pPr algn="ctr">
                        <a:defRPr sz="900">
                          <a:latin typeface="Montserrat"/>
                        </a:defRPr>
                      </a:pPr>
                      <a:r>
                        <a:t>10</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4</a:t>
                      </a:r>
                    </a:p>
                  </a:txBody>
                  <a:tcPr anchor="ctr">
                    <a:solidFill>
                      <a:srgbClr val="EFEFEF"/>
                    </a:solidFill>
                  </a:tcPr>
                </a:tc>
              </a:tr>
              <a:tr h="230400">
                <a:tc>
                  <a:txBody>
                    <a:bodyPr/>
                    <a:lstStyle/>
                    <a:p>
                      <a:pPr algn="l">
                        <a:defRPr sz="900">
                          <a:latin typeface="Montserrat"/>
                        </a:defRPr>
                      </a:pPr>
                      <a:r>
                        <a:t>HR Río Grande</a:t>
                      </a:r>
                    </a:p>
                  </a:txBody>
                  <a:tcPr anchor="ctr">
                    <a:solidFill>
                      <a:srgbClr val="FFFFFF"/>
                    </a:solidFill>
                  </a:tcPr>
                </a:tc>
                <a:tc>
                  <a:txBody>
                    <a:bodyPr/>
                    <a:lstStyle/>
                    <a:p>
                      <a:pPr algn="ctr">
                        <a:defRPr sz="900">
                          <a:latin typeface="Montserrat"/>
                        </a:defRPr>
                      </a:pPr>
                      <a:r>
                        <a:t>Noviembre de 1988</a:t>
                      </a:r>
                    </a:p>
                  </a:txBody>
                  <a:tcPr anchor="ctr">
                    <a:solidFill>
                      <a:srgbClr val="FFFFFF"/>
                    </a:solidFill>
                  </a:tcPr>
                </a:tc>
                <a:tc>
                  <a:txBody>
                    <a:bodyPr/>
                    <a:lstStyle/>
                    <a:p>
                      <a:pPr algn="ctr">
                        <a:defRPr sz="900">
                          <a:latin typeface="Montserrat"/>
                        </a:defRPr>
                      </a:pPr>
                      <a:r>
                        <a:t>32</a:t>
                      </a:r>
                    </a:p>
                  </a:txBody>
                  <a:tcPr anchor="ctr">
                    <a:solidFill>
                      <a:srgbClr val="FFFFFF"/>
                    </a:solidFill>
                  </a:tcPr>
                </a:tc>
                <a:tc>
                  <a:txBody>
                    <a:bodyPr/>
                    <a:lstStyle/>
                    <a:p>
                      <a:pPr algn="ctr">
                        <a:defRPr sz="900">
                          <a:latin typeface="Montserrat"/>
                        </a:defRPr>
                      </a:pPr>
                      <a:r>
                        <a:t>15</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3</a:t>
                      </a:r>
                    </a:p>
                  </a:txBody>
                  <a:tcPr anchor="ctr">
                    <a:solidFill>
                      <a:srgbClr val="FFFFFF"/>
                    </a:solidFill>
                  </a:tcPr>
                </a:tc>
              </a:tr>
              <a:tr h="230400">
                <a:tc>
                  <a:txBody>
                    <a:bodyPr/>
                    <a:lstStyle/>
                    <a:p>
                      <a:pPr algn="l">
                        <a:defRPr sz="900">
                          <a:latin typeface="Montserrat"/>
                        </a:defRPr>
                      </a:pPr>
                      <a:r>
                        <a:t>HR Tlaltenango de Sánchez Román</a:t>
                      </a:r>
                    </a:p>
                  </a:txBody>
                  <a:tcPr anchor="ctr">
                    <a:solidFill>
                      <a:srgbClr val="EFEFEF"/>
                    </a:solidFill>
                  </a:tcPr>
                </a:tc>
                <a:tc>
                  <a:txBody>
                    <a:bodyPr/>
                    <a:lstStyle/>
                    <a:p>
                      <a:pPr algn="ctr">
                        <a:defRPr sz="900">
                          <a:latin typeface="Montserrat"/>
                        </a:defRPr>
                      </a:pPr>
                      <a:r>
                        <a:t>Mayo de 1991</a:t>
                      </a:r>
                    </a:p>
                  </a:txBody>
                  <a:tcPr anchor="ctr">
                    <a:solidFill>
                      <a:srgbClr val="EFEFEF"/>
                    </a:solidFill>
                  </a:tcPr>
                </a:tc>
                <a:tc>
                  <a:txBody>
                    <a:bodyPr/>
                    <a:lstStyle/>
                    <a:p>
                      <a:pPr algn="ctr">
                        <a:defRPr sz="900">
                          <a:latin typeface="Montserrat"/>
                        </a:defRPr>
                      </a:pPr>
                      <a:r>
                        <a:t>27</a:t>
                      </a:r>
                    </a:p>
                  </a:txBody>
                  <a:tcPr anchor="ctr">
                    <a:solidFill>
                      <a:srgbClr val="EFEFEF"/>
                    </a:solidFill>
                  </a:tcPr>
                </a:tc>
                <a:tc>
                  <a:txBody>
                    <a:bodyPr/>
                    <a:lstStyle/>
                    <a:p>
                      <a:pPr algn="ctr">
                        <a:defRPr sz="900">
                          <a:latin typeface="Montserrat"/>
                        </a:defRPr>
                      </a:pPr>
                      <a:r>
                        <a:t>8</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4</a:t>
                      </a:r>
                    </a:p>
                  </a:txBody>
                  <a:tcPr anchor="ctr">
                    <a:solidFill>
                      <a:srgbClr val="EFEFEF"/>
                    </a:solidFill>
                  </a:tcPr>
                </a:tc>
              </a:tr>
              <a:tr h="230400">
                <a:tc>
                  <a:txBody>
                    <a:bodyPr/>
                    <a:lstStyle/>
                    <a:p>
                      <a:pPr algn="l">
                        <a:defRPr sz="900">
                          <a:latin typeface="Montserrat"/>
                        </a:defRPr>
                      </a:pPr>
                      <a:r>
                        <a:t>HR Pinos</a:t>
                      </a:r>
                    </a:p>
                  </a:txBody>
                  <a:tcPr anchor="ctr">
                    <a:solidFill>
                      <a:srgbClr val="FFFFFF"/>
                    </a:solidFill>
                  </a:tcPr>
                </a:tc>
                <a:tc>
                  <a:txBody>
                    <a:bodyPr/>
                    <a:lstStyle/>
                    <a:p>
                      <a:pPr algn="ctr">
                        <a:defRPr sz="900">
                          <a:latin typeface="Montserrat"/>
                        </a:defRPr>
                      </a:pPr>
                      <a:r>
                        <a:t>Julio de 1993</a:t>
                      </a:r>
                    </a:p>
                  </a:txBody>
                  <a:tcPr anchor="ctr">
                    <a:solidFill>
                      <a:srgbClr val="FFFFFF"/>
                    </a:solidFill>
                  </a:tcPr>
                </a:tc>
                <a:tc>
                  <a:txBody>
                    <a:bodyPr/>
                    <a:lstStyle/>
                    <a:p>
                      <a:pPr algn="ctr">
                        <a:defRPr sz="900">
                          <a:latin typeface="Montserrat"/>
                        </a:defRPr>
                      </a:pPr>
                      <a:r>
                        <a:t>36</a:t>
                      </a:r>
                    </a:p>
                  </a:txBody>
                  <a:tcPr anchor="ctr">
                    <a:solidFill>
                      <a:srgbClr val="FFFFFF"/>
                    </a:solidFill>
                  </a:tcPr>
                </a:tc>
                <a:tc>
                  <a:txBody>
                    <a:bodyPr/>
                    <a:lstStyle/>
                    <a:p>
                      <a:pPr algn="ctr">
                        <a:defRPr sz="900">
                          <a:latin typeface="Montserrat"/>
                        </a:defRPr>
                      </a:pPr>
                      <a:r>
                        <a:t>10</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5</a:t>
                      </a:r>
                    </a:p>
                  </a:txBody>
                  <a:tcPr anchor="ctr">
                    <a:solidFill>
                      <a:srgbClr val="FFFFFF"/>
                    </a:solidFill>
                  </a:tcPr>
                </a:tc>
              </a:tr>
              <a:tr h="230400">
                <a:tc>
                  <a:txBody>
                    <a:bodyPr/>
                    <a:lstStyle/>
                    <a:p>
                      <a:pPr algn="l">
                        <a:defRPr sz="900">
                          <a:latin typeface="Montserrat"/>
                        </a:defRPr>
                      </a:pPr>
                      <a:r>
                        <a:t>HR Fresnillo</a:t>
                      </a:r>
                    </a:p>
                  </a:txBody>
                  <a:tcPr anchor="ctr">
                    <a:solidFill>
                      <a:srgbClr val="EFEFEF"/>
                    </a:solidFill>
                  </a:tcPr>
                </a:tc>
                <a:tc>
                  <a:txBody>
                    <a:bodyPr/>
                    <a:lstStyle/>
                    <a:p>
                      <a:pPr algn="ctr">
                        <a:defRPr sz="900">
                          <a:latin typeface="Montserrat"/>
                        </a:defRPr>
                      </a:pPr>
                      <a:r>
                        <a:t>Abril de 2023</a:t>
                      </a:r>
                    </a:p>
                  </a:txBody>
                  <a:tcPr anchor="ctr">
                    <a:solidFill>
                      <a:srgbClr val="EFEFEF"/>
                    </a:solidFill>
                  </a:tcPr>
                </a:tc>
                <a:tc>
                  <a:txBody>
                    <a:bodyPr/>
                    <a:lstStyle/>
                    <a:p>
                      <a:pPr algn="ctr">
                        <a:defRPr sz="900">
                          <a:latin typeface="Montserrat"/>
                        </a:defRPr>
                      </a:pPr>
                      <a:r>
                        <a:t>80</a:t>
                      </a:r>
                    </a:p>
                  </a:txBody>
                  <a:tcPr anchor="ctr">
                    <a:solidFill>
                      <a:srgbClr val="EFEFEF"/>
                    </a:solidFill>
                  </a:tcPr>
                </a:tc>
                <a:tc>
                  <a:txBody>
                    <a:bodyPr/>
                    <a:lstStyle/>
                    <a:p>
                      <a:pPr algn="ctr">
                        <a:defRPr sz="900">
                          <a:latin typeface="Montserrat"/>
                        </a:defRPr>
                      </a:pPr>
                      <a:r>
                        <a:t>35</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3</a:t>
                      </a:r>
                    </a:p>
                  </a:txBody>
                  <a:tcPr anchor="ctr">
                    <a:solidFill>
                      <a:srgbClr val="EFEFEF"/>
                    </a:solidFill>
                  </a:tcPr>
                </a:tc>
                <a:tc>
                  <a:txBody>
                    <a:bodyPr/>
                    <a:lstStyle/>
                    <a:p>
                      <a:pPr algn="ctr">
                        <a:defRPr sz="900">
                          <a:latin typeface="Montserrat"/>
                        </a:defRPr>
                      </a:pPr>
                      <a:r>
                        <a:t>5</a:t>
                      </a:r>
                    </a:p>
                  </a:txBody>
                  <a:tcPr anchor="ctr">
                    <a:solidFill>
                      <a:srgbClr val="EFEFE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221</a:t>
                      </a:r>
                    </a:p>
                  </a:txBody>
                  <a:tcPr anchor="ctr">
                    <a:solidFill>
                      <a:srgbClr val="D3E9E7"/>
                    </a:solidFill>
                  </a:tcPr>
                </a:tc>
                <a:tc>
                  <a:txBody>
                    <a:bodyPr/>
                    <a:lstStyle/>
                    <a:p>
                      <a:pPr algn="ctr">
                        <a:defRPr sz="900" b="1">
                          <a:solidFill>
                            <a:srgbClr val="006556"/>
                          </a:solidFill>
                          <a:latin typeface="Montserrat"/>
                        </a:defRPr>
                      </a:pPr>
                      <a:r>
                        <a:t>92</a:t>
                      </a:r>
                    </a:p>
                  </a:txBody>
                  <a:tcPr anchor="ctr">
                    <a:solidFill>
                      <a:srgbClr val="D3E9E7"/>
                    </a:solidFill>
                  </a:tcPr>
                </a:tc>
                <a:tc>
                  <a:txBody>
                    <a:bodyPr/>
                    <a:lstStyle/>
                    <a:p>
                      <a:pPr algn="ctr">
                        <a:defRPr sz="900" b="1">
                          <a:solidFill>
                            <a:srgbClr val="006556"/>
                          </a:solidFill>
                          <a:latin typeface="Montserrat"/>
                        </a:defRPr>
                      </a:pPr>
                      <a:r>
                        <a:t>0</a:t>
                      </a:r>
                    </a:p>
                  </a:txBody>
                  <a:tcPr anchor="ctr">
                    <a:solidFill>
                      <a:srgbClr val="D3E9E7"/>
                    </a:solidFill>
                  </a:tcPr>
                </a:tc>
                <a:tc>
                  <a:txBody>
                    <a:bodyPr/>
                    <a:lstStyle/>
                    <a:p>
                      <a:pPr algn="ctr">
                        <a:defRPr sz="900" b="1">
                          <a:solidFill>
                            <a:srgbClr val="006556"/>
                          </a:solidFill>
                          <a:latin typeface="Montserrat"/>
                        </a:defRPr>
                      </a:pPr>
                      <a:r>
                        <a:t>8</a:t>
                      </a:r>
                    </a:p>
                  </a:txBody>
                  <a:tcPr anchor="ctr">
                    <a:solidFill>
                      <a:srgbClr val="D3E9E7"/>
                    </a:solidFill>
                  </a:tcPr>
                </a:tc>
                <a:tc>
                  <a:txBody>
                    <a:bodyPr/>
                    <a:lstStyle/>
                    <a:p>
                      <a:pPr algn="ctr">
                        <a:defRPr sz="900" b="1">
                          <a:solidFill>
                            <a:srgbClr val="006556"/>
                          </a:solidFill>
                          <a:latin typeface="Montserrat"/>
                        </a:defRPr>
                      </a:pPr>
                      <a:r>
                        <a:t>24</a:t>
                      </a:r>
                    </a:p>
                  </a:txBody>
                  <a:tcPr anchor="ctr">
                    <a:solidFill>
                      <a:srgbClr val="D3E9E7"/>
                    </a:solidFill>
                  </a:tcPr>
                </a:tc>
              </a:tr>
              <a:tr h="230400">
                <a:tc gridSpan="2">
                  <a:txBody>
                    <a:bodyPr/>
                    <a:lstStyle/>
                    <a:p>
                      <a:pPr algn="ctr">
                        <a:defRPr sz="900" b="1">
                          <a:solidFill>
                            <a:srgbClr val="006556"/>
                          </a:solidFill>
                          <a:latin typeface="Montserrat"/>
                        </a:defRPr>
                      </a:pPr>
                      <a:r>
                        <a:t>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526</a:t>
                      </a:r>
                    </a:p>
                  </a:txBody>
                  <a:tcPr anchor="ctr">
                    <a:solidFill>
                      <a:srgbClr val="D3E9E7"/>
                    </a:solidFill>
                  </a:tcPr>
                </a:tc>
                <a:tc>
                  <a:txBody>
                    <a:bodyPr/>
                    <a:lstStyle/>
                    <a:p>
                      <a:pPr algn="ctr">
                        <a:defRPr sz="900" b="1">
                          <a:solidFill>
                            <a:srgbClr val="006556"/>
                          </a:solidFill>
                          <a:latin typeface="Montserrat"/>
                        </a:defRPr>
                      </a:pPr>
                      <a:r>
                        <a:t>268</a:t>
                      </a:r>
                    </a:p>
                  </a:txBody>
                  <a:tcPr anchor="ctr">
                    <a:solidFill>
                      <a:srgbClr val="D3E9E7"/>
                    </a:solidFill>
                  </a:tcPr>
                </a:tc>
                <a:tc>
                  <a:txBody>
                    <a:bodyPr/>
                    <a:lstStyle/>
                    <a:p>
                      <a:pPr algn="ctr">
                        <a:defRPr sz="900" b="1">
                          <a:solidFill>
                            <a:srgbClr val="006556"/>
                          </a:solidFill>
                          <a:latin typeface="Montserrat"/>
                        </a:defRPr>
                      </a:pPr>
                      <a:r>
                        <a:t>17</a:t>
                      </a:r>
                    </a:p>
                  </a:txBody>
                  <a:tcPr anchor="ctr">
                    <a:solidFill>
                      <a:srgbClr val="D3E9E7"/>
                    </a:solidFill>
                  </a:tcPr>
                </a:tc>
                <a:tc>
                  <a:txBody>
                    <a:bodyPr/>
                    <a:lstStyle/>
                    <a:p>
                      <a:pPr algn="ctr">
                        <a:defRPr sz="900" b="1">
                          <a:solidFill>
                            <a:srgbClr val="006556"/>
                          </a:solidFill>
                          <a:latin typeface="Montserrat"/>
                        </a:defRPr>
                      </a:pPr>
                      <a:r>
                        <a:t>17</a:t>
                      </a:r>
                    </a:p>
                  </a:txBody>
                  <a:tcPr anchor="ctr">
                    <a:solidFill>
                      <a:srgbClr val="D3E9E7"/>
                    </a:solidFill>
                  </a:tcPr>
                </a:tc>
                <a:tc>
                  <a:txBody>
                    <a:bodyPr/>
                    <a:lstStyle/>
                    <a:p>
                      <a:pPr algn="ctr">
                        <a:defRPr sz="900" b="1">
                          <a:solidFill>
                            <a:srgbClr val="006556"/>
                          </a:solidFill>
                          <a:latin typeface="Montserrat"/>
                        </a:defRPr>
                      </a:pPr>
                      <a:r>
                        <a:t>84</a:t>
                      </a:r>
                    </a:p>
                  </a:txBody>
                  <a:tcPr anchor="ctr">
                    <a:solidFill>
                      <a:srgbClr val="D3E9E7"/>
                    </a:solidFill>
                  </a:tcPr>
                </a:tc>
              </a:tr>
            </a:tbl>
          </a:graphicData>
        </a:graphic>
      </p:graphicFrame>
      <p:sp>
        <p:nvSpPr>
          <p:cNvPr id="6" name="TextBox 5"/>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Corte de Información: marzo de 2026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129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79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Hospital Rural Tlaltenango</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7</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1943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8">
                  <a:txBody>
                    <a:bodyPr/>
                    <a:lstStyle/>
                    <a:p>
                      <a:pPr algn="ctr">
                        <a:defRPr sz="800" b="1">
                          <a:solidFill>
                            <a:srgbClr val="000000"/>
                          </a:solidFill>
                          <a:latin typeface="Montserrat"/>
                        </a:defRPr>
                      </a:pPr>
                      <a:r>
                        <a:t>Hospital Rural Villanueva</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6</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r h="216007">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32</a:t>
                      </a:r>
                    </a:p>
                  </a:txBody>
                  <a:tcPr>
                    <a:solidFill>
                      <a:srgbClr val="D3E9E7"/>
                    </a:solidFill>
                  </a:tcPr>
                </a:tc>
              </a:tr>
            </a:tbl>
          </a:graphicData>
        </a:graphic>
      </p:graphicFrame>
      <p:sp>
        <p:nvSpPr>
          <p:cNvPr id="9" name="TextBox 8"/>
          <p:cNvSpPr txBox="1"/>
          <p:nvPr/>
        </p:nvSpPr>
        <p:spPr>
          <a:xfrm>
            <a:off x="360000" y="4161600"/>
            <a:ext cx="6840000" cy="360000"/>
          </a:xfrm>
          <a:prstGeom prst="rect">
            <a:avLst/>
          </a:prstGeom>
          <a:noFill/>
        </p:spPr>
        <p:txBody>
          <a:bodyPr wrap="none" anchor="ctr">
            <a:spAutoFit/>
          </a:bodyPr>
          <a:lstStyle/>
          <a:p>
            <a:pPr algn="l">
              <a:defRPr sz="2000" b="1">
                <a:solidFill>
                  <a:srgbClr val="BC955C"/>
                </a:solidFill>
                <a:latin typeface="Montserrat"/>
              </a:defRPr>
            </a:pPr>
            <a:r>
              <a:t>1 Sede delegacional</a:t>
            </a:r>
          </a:p>
        </p:txBody>
      </p:sp>
      <p:cxnSp>
        <p:nvCxnSpPr>
          <p:cNvPr id="10" name="Connector 9"/>
          <p:cNvCxnSpPr/>
          <p:nvPr/>
        </p:nvCxnSpPr>
        <p:spPr>
          <a:xfrm>
            <a:off x="360000" y="455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1" name="Table 10"/>
          <p:cNvGraphicFramePr>
            <a:graphicFrameLocks noGrp="1"/>
          </p:cNvGraphicFramePr>
          <p:nvPr/>
        </p:nvGraphicFramePr>
        <p:xfrm>
          <a:off x="360000" y="462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Sede Delegación</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sp>
        <p:nvSpPr>
          <p:cNvPr id="12" name="TextBox 11"/>
          <p:cNvSpPr txBox="1"/>
          <p:nvPr/>
        </p:nvSpPr>
        <p:spPr>
          <a:xfrm>
            <a:off x="360000" y="5709599"/>
            <a:ext cx="6840000" cy="360000"/>
          </a:xfrm>
          <a:prstGeom prst="rect">
            <a:avLst/>
          </a:prstGeom>
          <a:noFill/>
        </p:spPr>
        <p:txBody>
          <a:bodyPr wrap="none" anchor="ctr">
            <a:spAutoFit/>
          </a:bodyPr>
          <a:lstStyle/>
          <a:p>
            <a:pPr algn="l">
              <a:defRPr sz="2000" b="1">
                <a:solidFill>
                  <a:srgbClr val="BC955C"/>
                </a:solidFill>
                <a:latin typeface="Montserrat"/>
              </a:defRPr>
            </a:pPr>
            <a:r>
              <a:t>10 en Unidades de Medicina Familiar</a:t>
            </a:r>
          </a:p>
        </p:txBody>
      </p:sp>
      <p:cxnSp>
        <p:nvCxnSpPr>
          <p:cNvPr id="13" name="Connector 12"/>
          <p:cNvCxnSpPr/>
          <p:nvPr/>
        </p:nvCxnSpPr>
        <p:spPr>
          <a:xfrm>
            <a:off x="360000" y="6105599"/>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4" name="Table 13"/>
          <p:cNvGraphicFramePr>
            <a:graphicFrameLocks noGrp="1"/>
          </p:cNvGraphicFramePr>
          <p:nvPr/>
        </p:nvGraphicFramePr>
        <p:xfrm>
          <a:off x="360000" y="6177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5" name="Table 14"/>
          <p:cNvGraphicFramePr>
            <a:graphicFrameLocks noGrp="1"/>
          </p:cNvGraphicFramePr>
          <p:nvPr/>
        </p:nvGraphicFramePr>
        <p:xfrm>
          <a:off x="3960000" y="6177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36</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6" name="Table 15"/>
          <p:cNvGraphicFramePr>
            <a:graphicFrameLocks noGrp="1"/>
          </p:cNvGraphicFramePr>
          <p:nvPr/>
        </p:nvGraphicFramePr>
        <p:xfrm>
          <a:off x="360000" y="7077598"/>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4</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7" name="Table 16"/>
          <p:cNvGraphicFramePr>
            <a:graphicFrameLocks noGrp="1"/>
          </p:cNvGraphicFramePr>
          <p:nvPr/>
        </p:nvGraphicFramePr>
        <p:xfrm>
          <a:off x="3960000" y="7077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43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8" name="Table 17"/>
          <p:cNvGraphicFramePr>
            <a:graphicFrameLocks noGrp="1"/>
          </p:cNvGraphicFramePr>
          <p:nvPr/>
        </p:nvGraphicFramePr>
        <p:xfrm>
          <a:off x="360000" y="8229597"/>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Unidad de Medicina Familiar 55</a:t>
                      </a:r>
                    </a:p>
                  </a:txBody>
                  <a:tcPr anchor="ctr">
                    <a:no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9" name="Table 18"/>
          <p:cNvGraphicFramePr>
            <a:graphicFrameLocks noGrp="1"/>
          </p:cNvGraphicFramePr>
          <p:nvPr/>
        </p:nvGraphicFramePr>
        <p:xfrm>
          <a:off x="3960000" y="8229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57</a:t>
                      </a:r>
                    </a:p>
                  </a:txBody>
                  <a:tcPr anchor="ctr">
                    <a:no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129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10 en Unidades de Medicina Familiar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7</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sp>
        <p:nvSpPr>
          <p:cNvPr id="8" name="TextBox 7"/>
          <p:cNvSpPr txBox="1"/>
          <p:nvPr/>
        </p:nvSpPr>
        <p:spPr>
          <a:xfrm>
            <a:off x="360000" y="2649599"/>
            <a:ext cx="6840000" cy="360000"/>
          </a:xfrm>
          <a:prstGeom prst="rect">
            <a:avLst/>
          </a:prstGeom>
          <a:noFill/>
        </p:spPr>
        <p:txBody>
          <a:bodyPr wrap="none" anchor="ctr">
            <a:spAutoFit/>
          </a:bodyPr>
          <a:lstStyle/>
          <a:p>
            <a:pPr algn="l">
              <a:defRPr sz="2000" b="1">
                <a:solidFill>
                  <a:srgbClr val="BC955C"/>
                </a:solidFill>
                <a:latin typeface="Montserrat"/>
              </a:defRPr>
            </a:pPr>
            <a:r>
              <a:t>39 especialistas (sustitutos)</a:t>
            </a:r>
          </a:p>
        </p:txBody>
      </p:sp>
      <p:cxnSp>
        <p:nvCxnSpPr>
          <p:cNvPr id="9" name="Connector 8"/>
          <p:cNvCxnSpPr/>
          <p:nvPr/>
        </p:nvCxnSpPr>
        <p:spPr>
          <a:xfrm>
            <a:off x="360000" y="3045599"/>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nvGraphicFramePr>
        <p:xfrm>
          <a:off x="360000" y="3117599"/>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Sustitución 8 (Parte 1)</a:t>
                      </a:r>
                    </a:p>
                  </a:txBody>
                  <a:tcPr anchor="ctr">
                    <a:noFill/>
                  </a:tcPr>
                </a:tc>
                <a:tc>
                  <a:txBody>
                    <a:bodyPr/>
                    <a:lstStyle/>
                    <a:p>
                      <a:pPr algn="ctr">
                        <a:defRPr sz="800" b="0">
                          <a:solidFill>
                            <a:srgbClr val="000000"/>
                          </a:solidFill>
                          <a:latin typeface="Montserrat"/>
                        </a:defRPr>
                      </a:pPr>
                      <a:r>
                        <a:t>Anatomía Patológica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Anestesiología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Epidemiología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Genética Médica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Geriatría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Rehabilitación</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6</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bl>
          </a:graphicData>
        </a:graphic>
      </p:graphicFrame>
      <p:graphicFrame>
        <p:nvGraphicFramePr>
          <p:cNvPr id="11" name="Table 10"/>
          <p:cNvGraphicFramePr>
            <a:graphicFrameLocks noGrp="1"/>
          </p:cNvGraphicFramePr>
          <p:nvPr/>
        </p:nvGraphicFramePr>
        <p:xfrm>
          <a:off x="3960000" y="3117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Sustitución 8 (Parte 2)</a:t>
                      </a:r>
                    </a:p>
                  </a:txBody>
                  <a:tcPr anchor="ctr">
                    <a:no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39</a:t>
                      </a:r>
                    </a:p>
                  </a:txBody>
                  <a:tcPr>
                    <a:solidFill>
                      <a:srgbClr val="D3E9E7"/>
                    </a:solidFill>
                  </a:tcPr>
                </a:tc>
              </a:tr>
            </a:tbl>
          </a:graphicData>
        </a:graphic>
      </p:graphicFrame>
      <p:sp>
        <p:nvSpPr>
          <p:cNvPr id="12" name="TextBox 11"/>
          <p:cNvSpPr txBox="1"/>
          <p:nvPr/>
        </p:nvSpPr>
        <p:spPr>
          <a:xfrm>
            <a:off x="270000" y="8193598"/>
            <a:ext cx="7200000" cy="540000"/>
          </a:xfrm>
          <a:prstGeom prst="rect">
            <a:avLst/>
          </a:prstGeom>
          <a:noFill/>
        </p:spPr>
        <p:txBody>
          <a:bodyPr wrap="square">
            <a:spAutoFit/>
          </a:bodyPr>
          <a:lstStyle/>
          <a:p>
            <a:pPr algn="l">
              <a:defRPr sz="1000">
                <a:solidFill>
                  <a:srgbClr val="000000"/>
                </a:solidFill>
                <a:latin typeface="Montserrat"/>
              </a:defRPr>
            </a:pPr>
            <a:r>
              <a:t>Sustitutos se integran a los Listados de Bolsa de Trabajo, para cubrir las futuras vacantes por jubilación, renuncia, fallecimiento, etc., así como ausentismo programado y no programado.</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b08e6078-b6a6-4e37-b77a-f467d32c54e5}" enabled="0" method="" siteId="{b08e6078-b6a6-4e37-b77a-f467d32c54e5}" removed="1"/>
</clbl:labelList>
</file>

<file path=docProps/app.xml><?xml version="1.0" encoding="utf-8"?>
<Properties xmlns="http://schemas.openxmlformats.org/officeDocument/2006/extended-properties" xmlns:vt="http://schemas.openxmlformats.org/officeDocument/2006/docPropsVTypes">
  <TotalTime>396</TotalTime>
  <Words>393</Words>
  <Application>Microsoft Office PowerPoint</Application>
  <PresentationFormat>Personalizado</PresentationFormat>
  <Paragraphs>95</Paragraphs>
  <Slides>25</Slides>
  <Notes>22</Notes>
  <HiddenSlides>0</HiddenSlides>
  <MMClips>0</MMClips>
  <ScaleCrop>false</ScaleCrop>
  <HeadingPairs>
    <vt:vector size="4" baseType="variant">
      <vt:variant>
        <vt:lpstr>Tema</vt:lpstr>
      </vt:variant>
      <vt:variant>
        <vt:i4>1</vt:i4>
      </vt:variant>
      <vt:variant>
        <vt:lpstr>Títulos de diapositiva</vt:lpstr>
      </vt:variant>
      <vt:variant>
        <vt:i4>25</vt:i4>
      </vt:variant>
    </vt:vector>
  </HeadingPairs>
  <TitlesOfParts>
    <vt:vector size="26" baseType="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Guillermo Martinez Flores</dc:creator>
  <cp:lastModifiedBy>Carlos Esponda Rosales</cp:lastModifiedBy>
  <cp:revision>129</cp:revision>
  <dcterms:modified xsi:type="dcterms:W3CDTF">2026-05-13T00:15:12Z</dcterms:modified>
</cp:coreProperties>
</file>