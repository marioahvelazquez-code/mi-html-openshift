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5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145601-A1B9-A7FB-36F9-FE03FAD08805}" v="131" dt="2026-05-12T23:56:54.310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8:17.181" v="0"/>
      <pc:docMkLst>
        <pc:docMk/>
      </pc:docMkLst>
      <pc:sldChg chg="add">
        <pc:chgData name="Carlos Esponda Rosales" userId="08a2b2cc-6d12-4dea-90fe-c484bece8186" providerId="ADAL" clId="{6846A1DD-3EC1-5A12-B3C5-9C410579EE4F}" dt="2026-05-08T17:38:17.181" v="0"/>
        <pc:sldMkLst>
          <pc:docMk/>
          <pc:sldMk cId="3283096737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5:57.676" v="107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8:28.629" v="97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8:28.629" v="97" actId="1036"/>
          <ac:spMkLst>
            <pc:docMk/>
            <pc:sldMk cId="0" sldId="260"/>
            <ac:spMk id="7" creationId="{2FCCF329-533B-AC88-7205-F58054D875E9}"/>
          </ac:spMkLst>
        </pc:spChg>
        <pc:graphicFrameChg chg="add mod">
          <ac:chgData name="Edgar Rosales Ortega" userId="d1d54fc2-1570-4978-babc-e22e1526833f" providerId="ADAL" clId="{66BE7C30-C669-4152-AC74-10076FC0590C}" dt="2026-04-30T23:18:20.711" v="35" actId="1076"/>
          <ac:graphicFrameMkLst>
            <pc:docMk/>
            <pc:sldMk cId="0" sldId="260"/>
            <ac:graphicFrameMk id="5" creationId="{6EBC6F6F-8EE7-931F-6F2E-285DD0A6C924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8:28.629" v="97" actId="1036"/>
          <ac:picMkLst>
            <pc:docMk/>
            <pc:sldMk cId="0" sldId="260"/>
            <ac:picMk id="6" creationId="{01001F63-9550-7C35-64E7-01F6C24C376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6:03.311" v="98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7" creationId="{E7702067-5742-EA23-0A11-060589693687}"/>
          </ac:spMkLst>
        </pc:spChg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8" creationId="{E6C81B3B-1817-D0EC-E3C5-0375D8D28677}"/>
          </ac:spMkLst>
        </pc:spChg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9" creationId="{DF255586-4622-42A2-17E8-57EF54313F6B}"/>
          </ac:spMkLst>
        </pc:spChg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10" creationId="{A2C4B133-C2EE-2AA4-A3B0-AC880DC3CD04}"/>
          </ac:spMkLst>
        </pc:spChg>
        <pc:grpChg chg="add mod">
          <ac:chgData name="Edgar Rosales Ortega" userId="d1d54fc2-1570-4978-babc-e22e1526833f" providerId="ADAL" clId="{66BE7C30-C669-4152-AC74-10076FC0590C}" dt="2026-05-05T18:06:03.311" v="98" actId="164"/>
          <ac:grpSpMkLst>
            <pc:docMk/>
            <pc:sldMk cId="0" sldId="261"/>
            <ac:grpSpMk id="2" creationId="{7C21F7D2-9824-D87D-ACE6-0021E66F26CA}"/>
          </ac:grpSpMkLst>
        </pc:grpChg>
        <pc:picChg chg="add mod">
          <ac:chgData name="Edgar Rosales Ortega" userId="d1d54fc2-1570-4978-babc-e22e1526833f" providerId="ADAL" clId="{66BE7C30-C669-4152-AC74-10076FC0590C}" dt="2026-05-05T18:06:03.311" v="98" actId="164"/>
          <ac:picMkLst>
            <pc:docMk/>
            <pc:sldMk cId="0" sldId="261"/>
            <ac:picMk id="11" creationId="{518F3AB4-6622-9001-1FE2-17A1543F7E8F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5:25.272" v="101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5:34.309" v="103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6:43.331" v="30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3:01.474" v="19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5:42.501" v="10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5:42.501" v="10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6:24.889" v="10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1:07.909" v="31" actId="1076"/>
          <ac:spMkLst>
            <pc:docMk/>
            <pc:sldMk cId="0" sldId="279"/>
            <ac:spMk id="2" creationId="{480BA1CB-A0C8-E927-A91A-0AE617DE072A}"/>
          </ac:spMkLst>
        </pc:spChg>
        <pc:spChg chg="mod">
          <ac:chgData name="Edgar Rosales Ortega" userId="d1d54fc2-1570-4978-babc-e22e1526833f" providerId="ADAL" clId="{66BE7C30-C669-4152-AC74-10076FC0590C}" dt="2026-05-05T18:06:24.889" v="100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6:40.403" v="28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3:04.546" v="2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6:10.388" v="9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5:57.676" v="107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5:57.676" v="107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6:28.233" v="26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3:07.902" v="21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5:48.294" v="105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5:48.294" v="105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3:30.221" v="5"/>
        <pc:sldMkLst>
          <pc:docMk/>
          <pc:sldMk cId="3312959536" sldId="298"/>
        </pc:sldMkLst>
      </pc:sldChg>
    </pc:docChg>
  </pc:docChgLst>
  <pc:docChgLst>
    <pc:chgData name="Gerardo Jahir Lara Garcia" userId="S::gerardo.larag@imss.gob.mx::84d5cd65-4601-4e92-b448-a9da4809e012" providerId="AD" clId="Web-{80145601-A1B9-A7FB-36F9-FE03FAD08805}"/>
    <pc:docChg chg="modSld">
      <pc:chgData name="Gerardo Jahir Lara Garcia" userId="S::gerardo.larag@imss.gob.mx::84d5cd65-4601-4e92-b448-a9da4809e012" providerId="AD" clId="Web-{80145601-A1B9-A7FB-36F9-FE03FAD08805}" dt="2026-05-12T23:56:54.310" v="69" actId="1076"/>
      <pc:docMkLst>
        <pc:docMk/>
      </pc:docMkLst>
      <pc:sldChg chg="addSp delSp modSp">
        <pc:chgData name="Gerardo Jahir Lara Garcia" userId="S::gerardo.larag@imss.gob.mx::84d5cd65-4601-4e92-b448-a9da4809e012" providerId="AD" clId="Web-{80145601-A1B9-A7FB-36F9-FE03FAD08805}" dt="2026-05-12T23:56:54.310" v="69" actId="1076"/>
        <pc:sldMkLst>
          <pc:docMk/>
          <pc:sldMk cId="364733940" sldId="284"/>
        </pc:sldMkLst>
        <pc:spChg chg="add del mod">
          <ac:chgData name="Gerardo Jahir Lara Garcia" userId="S::gerardo.larag@imss.gob.mx::84d5cd65-4601-4e92-b448-a9da4809e012" providerId="AD" clId="Web-{80145601-A1B9-A7FB-36F9-FE03FAD08805}" dt="2026-05-12T23:56:20.387" v="28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80145601-A1B9-A7FB-36F9-FE03FAD08805}" dt="2026-05-12T23:56:54.310" v="69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80145601-A1B9-A7FB-36F9-FE03FAD08805}" dt="2026-05-12T23:55:58.293" v="6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80145601-A1B9-A7FB-36F9-FE03FAD08805}" dt="2026-05-12T23:55:58.293" v="4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80145601-A1B9-A7FB-36F9-FE03FAD08805}" dt="2026-05-12T23:55:05.400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80145601-A1B9-A7FB-36F9-FE03FAD08805}" dt="2026-05-12T23:55:58.293" v="7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80145601-A1B9-A7FB-36F9-FE03FAD08805}" dt="2026-05-12T23:55:58.293" v="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80145601-A1B9-A7FB-36F9-FE03FAD08805}" dt="2026-05-12T23:55:40.995" v="3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80145601-A1B9-A7FB-36F9-FE03FAD08805}" dt="2026-05-12T23:55:40.995" v="3" actId="20577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80145601-A1B9-A7FB-36F9-FE03FAD08805}" dt="2026-05-12T23:54:53.728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80145601-A1B9-A7FB-36F9-FE03FAD08805}" dt="2026-05-12T23:54:53.728" v="0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80145601-A1B9-A7FB-36F9-FE03FAD08805}" dt="2026-05-12T23:54:53.728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802513.0</c:v>
                </c:pt>
                <c:pt idx="1">
                  <c:v>227859.0</c:v>
                </c:pt>
                <c:pt idx="2">
                  <c:v>1344227.0</c:v>
                </c:pt>
                <c:pt idx="3">
                  <c:v>98069.0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41.94214469725276</c:v>
                </c:pt>
                <c:pt idx="1">
                  <c:v>58.05785530274724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12.2876540865</c:v>
                </c:pt>
                <c:pt idx="1">
                  <c:v>87.7123459135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45.76698765766988</c:v>
                </c:pt>
                <c:pt idx="1">
                  <c:v>54.23301234233012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43.064516129032256</c:v>
                </c:pt>
                <c:pt idx="1">
                  <c:v>56.935483870967744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69</c:v>
                </c:pt>
                <c:pt idx="2">
                  <c:v>64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Comercio</c:v>
                </c:pt>
                <c:pt idx="3">
                  <c:v>Transportes y Comunicaciones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Industrias Extractivas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8801</c:v>
                </c:pt>
                <c:pt idx="1">
                  <c:v>1743</c:v>
                </c:pt>
                <c:pt idx="2">
                  <c:v>68652</c:v>
                </c:pt>
                <c:pt idx="3">
                  <c:v>19125</c:v>
                </c:pt>
                <c:pt idx="4">
                  <c:v>34519</c:v>
                </c:pt>
                <c:pt idx="5">
                  <c:v>16594</c:v>
                </c:pt>
                <c:pt idx="6">
                  <c:v>18902</c:v>
                </c:pt>
                <c:pt idx="7">
                  <c:v>5164</c:v>
                </c:pt>
                <c:pt idx="8">
                  <c:v>29989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Comercio</c:v>
                </c:pt>
                <c:pt idx="3">
                  <c:v>Transportes y Comunicaciones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Industrias Extractivas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8222</c:v>
                </c:pt>
                <c:pt idx="1">
                  <c:v>1637</c:v>
                </c:pt>
                <c:pt idx="2">
                  <c:v>67625</c:v>
                </c:pt>
                <c:pt idx="3">
                  <c:v>19140</c:v>
                </c:pt>
                <c:pt idx="4">
                  <c:v>34585</c:v>
                </c:pt>
                <c:pt idx="5">
                  <c:v>16632</c:v>
                </c:pt>
                <c:pt idx="6">
                  <c:v>19266</c:v>
                </c:pt>
                <c:pt idx="7">
                  <c:v>5328</c:v>
                </c:pt>
                <c:pt idx="8">
                  <c:v>32560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167424</c:v>
                </c:pt>
                <c:pt idx="1">
                  <c:v>167792</c:v>
                </c:pt>
                <c:pt idx="2">
                  <c:v>171642</c:v>
                </c:pt>
                <c:pt idx="3">
                  <c:v>188355</c:v>
                </c:pt>
                <c:pt idx="4">
                  <c:v>220036</c:v>
                </c:pt>
                <c:pt idx="5">
                  <c:v>244054</c:v>
                </c:pt>
                <c:pt idx="6">
                  <c:v>222016</c:v>
                </c:pt>
                <c:pt idx="7">
                  <c:v>203489</c:v>
                </c:pt>
                <c:pt idx="8">
                  <c:v>204995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Tabasco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_Taba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32%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802,513</a:t>
            </a:r>
            <a:br/>
            <a:r>
              <a:t>32%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227,859</a:t>
            </a:r>
            <a:br/>
            <a:r>
              <a:t>9%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1,344,227</a:t>
            </a:r>
            <a:br/>
            <a:r>
              <a:t>54%</a:t>
            </a:r>
          </a:p>
        </p:txBody>
      </p:sp>
      <p:pic>
        <p:nvPicPr>
          <p:cNvPr id="125" name="Picture 124" descr="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98,069</a:t>
            </a:r>
            <a:br/>
            <a:r>
              <a:t>4%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2,472,668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639,196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802,513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373,285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502,917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165,576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204,995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165,599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185,502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265,911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299,596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1,821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2,616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1750954990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7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31 UMF y no incluye 2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53;g3d0b4d3c5c9_0_58">
            <a:extLst>
              <a:ext uri="{FF2B5EF4-FFF2-40B4-BE49-F238E27FC236}">
                <a16:creationId xmlns:a16="http://schemas.microsoft.com/office/drawing/2014/main" id="{6EBC6F6F-8EE7-931F-6F2E-285DD0A6C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168246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 1, Villahermosa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55;g3d0b4d3c5c9_0_58">
            <a:extLst>
              <a:ext uri="{FF2B5EF4-FFF2-40B4-BE49-F238E27FC236}">
                <a16:creationId xmlns:a16="http://schemas.microsoft.com/office/drawing/2014/main" id="{01001F63-9550-7C35-64E7-01F6C24C37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9741" t="18770" r="21418" b="8280"/>
          <a:stretch/>
        </p:blipFill>
        <p:spPr>
          <a:xfrm>
            <a:off x="0" y="2606392"/>
            <a:ext cx="3060722" cy="19153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FCCF329-533B-AC88-7205-F58054D875E9}"/>
              </a:ext>
            </a:extLst>
          </p:cNvPr>
          <p:cNvSpPr txBox="1"/>
          <p:nvPr/>
        </p:nvSpPr>
        <p:spPr>
          <a:xfrm>
            <a:off x="3073124" y="1942218"/>
            <a:ext cx="4543828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la entidad en 1957, con actividades administrativas y otorgando servicios médicos en 1958. Las consultas se brindaban mediante un esquema de subrogación. Posteriormente, se estableció la consulta externa en Villahermosa y subrogó la hospitalización al Hospital “Dr. Juan Graham Casasús”.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Tabasco fue el Hospital General de Zona (HGZ) No. 1, inaugurado el 7 de noviembre de 1966 en Villahermosa con el nombre de Clínica Hospital T‑1.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La Clínica Hospital T‑1 contaba con 66 camas censables y comenzó ofreciendo las cuatro especialidades básicas: Medicina Interna, Cirugía General, Gineco‑obstetricia y Pediatría. Además, disponía de consulta externa con ocho consultorios de medicina familiar, áreas de medicina preventiva y medicina del trabajo.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7_TABAS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7C21F7D2-9824-D87D-ACE6-0021E66F26CA}"/>
              </a:ext>
            </a:extLst>
          </p:cNvPr>
          <p:cNvGrpSpPr/>
          <p:nvPr/>
        </p:nvGrpSpPr>
        <p:grpSpPr>
          <a:xfrm>
            <a:off x="0" y="5325147"/>
            <a:ext cx="7772400" cy="3415781"/>
            <a:chOff x="0" y="5325147"/>
            <a:chExt cx="7772400" cy="3415781"/>
          </a:xfrm>
        </p:grpSpPr>
        <p:sp>
          <p:nvSpPr>
            <p:cNvPr id="7" name="Google Shape;316;g3d635d120e2_2_152">
              <a:extLst>
                <a:ext uri="{FF2B5EF4-FFF2-40B4-BE49-F238E27FC236}">
                  <a16:creationId xmlns:a16="http://schemas.microsoft.com/office/drawing/2014/main" id="{E7702067-5742-EA23-0A11-060589693687}"/>
                </a:ext>
              </a:extLst>
            </p:cNvPr>
            <p:cNvSpPr txBox="1"/>
            <p:nvPr/>
          </p:nvSpPr>
          <p:spPr>
            <a:xfrm>
              <a:off x="0" y="532514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330;g3d635d120e2_2_152">
              <a:extLst>
                <a:ext uri="{FF2B5EF4-FFF2-40B4-BE49-F238E27FC236}">
                  <a16:creationId xmlns:a16="http://schemas.microsoft.com/office/drawing/2014/main" id="{E6C81B3B-1817-D0EC-E3C5-0375D8D28677}"/>
                </a:ext>
              </a:extLst>
            </p:cNvPr>
            <p:cNvSpPr/>
            <p:nvPr/>
          </p:nvSpPr>
          <p:spPr>
            <a:xfrm>
              <a:off x="3031924" y="775851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31;g3d635d120e2_2_152">
              <a:extLst>
                <a:ext uri="{FF2B5EF4-FFF2-40B4-BE49-F238E27FC236}">
                  <a16:creationId xmlns:a16="http://schemas.microsoft.com/office/drawing/2014/main" id="{DF255586-4622-42A2-17E8-57EF54313F6B}"/>
                </a:ext>
              </a:extLst>
            </p:cNvPr>
            <p:cNvSpPr/>
            <p:nvPr/>
          </p:nvSpPr>
          <p:spPr>
            <a:xfrm>
              <a:off x="2529886" y="775851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" name="Google Shape;332;g3d635d120e2_2_152">
              <a:extLst>
                <a:ext uri="{FF2B5EF4-FFF2-40B4-BE49-F238E27FC236}">
                  <a16:creationId xmlns:a16="http://schemas.microsoft.com/office/drawing/2014/main" id="{A2C4B133-C2EE-2AA4-A3B0-AC880DC3CD04}"/>
                </a:ext>
              </a:extLst>
            </p:cNvPr>
            <p:cNvSpPr txBox="1"/>
            <p:nvPr/>
          </p:nvSpPr>
          <p:spPr>
            <a:xfrm>
              <a:off x="2546647" y="811219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46 Villahermosa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1" name="Google Shape;333;g3d635d120e2_2_152">
              <a:extLst>
                <a:ext uri="{FF2B5EF4-FFF2-40B4-BE49-F238E27FC236}">
                  <a16:creationId xmlns:a16="http://schemas.microsoft.com/office/drawing/2014/main" id="{518F3AB4-6622-9001-1FE2-17A1543F7E8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67622" y="619617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992272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DA8E5174-357F-006F-07DD-DAA2C939C9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47EEF55-2696-3FED-47AA-66DF353131C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FC513CD-DB13-FE4F-0CEB-CB3BEDCD699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34A6D0A-A159-47C1-4FC9-796B44A48853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81429D5-6042-C4D8-C019-60EE99F6CD57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B4A049-040A-4EFF-B3BA-D9935AFF4FA1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50489F-A36D-E178-E89C-456BC026383B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+7,409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+172,780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+105,423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1,280,021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172,780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561,185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1,303,008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328,287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105,423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168,720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368,650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23,322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7,409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11,481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26,660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Tacotalpa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Paraíso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35,763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Benito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Plutarco Elías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Emiliano Zapata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Vicente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Pedro Colorado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Francisco Villa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20 de Noviembre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Huimanguillo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32,125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14,747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Frontera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I. Sta.Rosalía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Balancan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Cd. Pemex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Macuspana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Sánchez Magallanes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La Venta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Emiliano Zapata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Jonuta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Villahermosa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Benito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Teapa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12,992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67,329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371,457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47,450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170,624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406,808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19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9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78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19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406,808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34D4C161-F553-4880-40C2-A99F9E5003CC}"/>
              </a:ext>
            </a:extLst>
          </p:cNvPr>
          <p:cNvSpPr txBox="1"/>
          <p:nvPr/>
        </p:nvSpPr>
        <p:spPr>
          <a:xfrm>
            <a:off x="4277403" y="504732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Nuevas UMTC con   9 consultorios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CA6DD4-FD29-E6A2-F007-A10205980078}"/>
              </a:ext>
            </a:extLst>
          </p:cNvPr>
          <p:cNvSpPr txBox="1"/>
          <p:nvPr/>
        </p:nvSpPr>
        <p:spPr>
          <a:xfrm>
            <a:off x="4558139" y="6011432"/>
            <a:ext cx="28379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44 Villahermosa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HGSMF 4 Tenosique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23 Huimanguillo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27 Macuspana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C8B7065-37C1-29DE-89DC-F7AFB37B86A5}"/>
              </a:ext>
            </a:extLst>
          </p:cNvPr>
          <p:cNvSpPr txBox="1"/>
          <p:nvPr/>
        </p:nvSpPr>
        <p:spPr>
          <a:xfrm>
            <a:off x="4447684" y="7123573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6 consultorios en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11D4588-0956-FDE9-56EB-250AC4854EFD}"/>
              </a:ext>
            </a:extLst>
          </p:cNvPr>
          <p:cNvSpPr txBox="1"/>
          <p:nvPr/>
        </p:nvSpPr>
        <p:spPr>
          <a:xfrm>
            <a:off x="4703363" y="7825407"/>
            <a:ext cx="27857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45 Cárdenas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43 Villahermosa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11 Comalcalco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8 Unidades Médicas de tiempo completo (25 consultorios)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(123,595 consultas)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51200" y="1695600"/>
          <a:ext cx="74735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43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152,778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65,963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 Cunduacan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24,919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13,317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Comalcalco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73,718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Jalpa Méndez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32,614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191,699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32,520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79,567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45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124,083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19,487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50,357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154,787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22,202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65,370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48 Pomoca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123,600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7,503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878,198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123,938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378,325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866,200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25552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19,922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239,834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72,788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120,325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45,227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328,287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105,423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168,720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368,650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94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6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45.8%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5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94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368,650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16759159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23,322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7,409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11,481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26,660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58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3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43.1%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2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58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26,660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32 en Hospitales, 2 en sede, 1 en UMF y 96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95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B9E81EA1-7F52-F739-26D2-3FAB989B3C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9261791"/>
              </p:ext>
            </p:extLst>
          </p:nvPr>
        </p:nvGraphicFramePr>
        <p:xfrm>
          <a:off x="287050" y="92494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1,862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6,084	 Personal de Salud: 3,841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+82.8%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+56.0%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883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+41.5%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991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1,402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988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+149.5%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5,610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284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580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8,165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(78,364)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(11,951)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(2,052)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(62,424)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(6,517)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(995)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(1,647)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(20,826)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(4,430)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(889)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(1,191)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(12,572)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(4,244)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(1,102)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(10,937)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(4,242)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(537)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63,542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620,922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43,283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838,725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3CD5-B36E-9922-B631-9393CAB4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166,532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119,099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104,590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93,465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89,407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88,911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82,904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74,590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Amlodipino, tableta o cápsula (presión alta o angina)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63,206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62,570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096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318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$162.3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Cárdenas y Villahermosa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46 Villahermosa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14 unidades, Tabasco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2 Cárdenas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3 unidades (HGZ No.2 Cárdenas, UMF No. 47, UMF  No. 43 Villahermosa)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46 Villahermosa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AEHos del HGZ No. 46 Villahermosa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$202.3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626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piezas de equipo médico: 1 refrigerador para vacunas, 1 refrigerador congelador de 5.4 pies cúbicos, 1 unidad para tomografía axial computarizada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$29.8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5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240.8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42122"/>
            <a:ext cx="1599000" cy="7466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51493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35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$68.5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35 equipos electromecánicos para 6 unidades; 2 elevadores, 28 equipos para aire acondicionado, 2 equipos para casa de máquinas, 2 lavadoras y 1 secadora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294.3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Villahermosa, Municipio Centro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$2,893.0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51999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2,893.0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Huimanguillo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Huimanguillo.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869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98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Gaviota San José y El Triunfo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46 Villa Hermosa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7_t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1273400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Corporación Sánchez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Juárez Autónoma de Tabasco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4,250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1,358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Chedraui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-6.58%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-6.08%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+8.57%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168,101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166,355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4,700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31,199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2,741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204,995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480BA1CB-A0C8-E927-A91A-0AE617DE072A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$588.79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$301.56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$588.79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$17,663.7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176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Administración Portuaria Integral de Tabasco S.A. de C.V.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Corporación Sánchez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$20.76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Tecnoagricola Maranza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Jorge Enrique Ramos Alejandro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$8.60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4197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96 especialistas (sustitutos)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4593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665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665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0000" y="9741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381</Words>
  <Application>Microsoft Office PowerPoint</Application>
  <PresentationFormat>Personalizado</PresentationFormat>
  <Paragraphs>87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113</cp:revision>
  <dcterms:modified xsi:type="dcterms:W3CDTF">2026-05-12T23:56:55Z</dcterms:modified>
</cp:coreProperties>
</file>