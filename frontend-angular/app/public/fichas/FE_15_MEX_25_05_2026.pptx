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302" r:id="rId47"/>
    <p:sldId id="287" r:id="rId8"/>
    <p:sldId id="262" r:id="rId9"/>
    <p:sldId id="303" r:id="rId48"/>
    <p:sldId id="263" r:id="rId10"/>
    <p:sldId id="304" r:id="rId49"/>
    <p:sldId id="280" r:id="rId11"/>
    <p:sldId id="305" r:id="rId50"/>
    <p:sldId id="306" r:id="rId51"/>
    <p:sldId id="267" r:id="rId12"/>
    <p:sldId id="307" r:id="rId45"/>
    <p:sldId id="308" r:id="rId44"/>
    <p:sldId id="298" r:id="rId13"/>
    <p:sldId id="309" r:id="rId43"/>
    <p:sldId id="310" r:id="rId42"/>
    <p:sldId id="311" r:id="rId41"/>
    <p:sldId id="312" r:id="rId40"/>
    <p:sldId id="313" r:id="rId39"/>
    <p:sldId id="314" r:id="rId59"/>
    <p:sldId id="315" r:id="rId60"/>
    <p:sldId id="316" r:id="rId61"/>
    <p:sldId id="317" r:id="rId62"/>
    <p:sldId id="281" r:id="rId14"/>
    <p:sldId id="318" r:id="rId63"/>
    <p:sldId id="319" r:id="rId6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CC6A1A-9E35-CE7F-4DAE-E8787C98E271}" v="177" dt="2026-05-12T22:55:18.858"/>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slide" Target="slides/slide38.xml"/><Relationship Id="rId40" Type="http://schemas.openxmlformats.org/officeDocument/2006/relationships/slide" Target="slides/slide37.xml"/><Relationship Id="rId41" Type="http://schemas.openxmlformats.org/officeDocument/2006/relationships/slide" Target="slides/slide36.xml"/><Relationship Id="rId42" Type="http://schemas.openxmlformats.org/officeDocument/2006/relationships/slide" Target="slides/slide35.xml"/><Relationship Id="rId43" Type="http://schemas.openxmlformats.org/officeDocument/2006/relationships/slide" Target="slides/slide34.xml"/><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1.xml"/><Relationship Id="rId62" Type="http://schemas.openxmlformats.org/officeDocument/2006/relationships/slide" Target="slides/slide42.xml"/><Relationship Id="rId63" Type="http://schemas.openxmlformats.org/officeDocument/2006/relationships/slide" Target="slides/slide43.xml"/><Relationship Id="rId64"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5:00.950" v="0"/>
      <pc:docMkLst>
        <pc:docMk/>
      </pc:docMkLst>
      <pc:sldChg chg="add">
        <pc:chgData name="Carlos Esponda Rosales" userId="08a2b2cc-6d12-4dea-90fe-c484bece8186" providerId="ADAL" clId="{6846A1DD-3EC1-5A12-B3C5-9C410579EE4F}" dt="2026-05-08T17:35:00.950" v="0"/>
        <pc:sldMkLst>
          <pc:docMk/>
          <pc:sldMk cId="2650410011"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8:58:51.656" v="105" actId="14100"/>
      <pc:docMkLst>
        <pc:docMk/>
      </pc:docMkLst>
      <pc:sldChg chg="addSp delSp modSp mod">
        <pc:chgData name="Edgar Rosales Ortega" userId="d1d54fc2-1570-4978-babc-e22e1526833f" providerId="ADAL" clId="{66BE7C30-C669-4152-AC74-10076FC0590C}" dt="2026-04-30T23:11:14.699" v="93" actId="1035"/>
        <pc:sldMkLst>
          <pc:docMk/>
          <pc:sldMk cId="0" sldId="260"/>
        </pc:sldMkLst>
        <pc:spChg chg="add mod">
          <ac:chgData name="Edgar Rosales Ortega" userId="d1d54fc2-1570-4978-babc-e22e1526833f" providerId="ADAL" clId="{66BE7C30-C669-4152-AC74-10076FC0590C}" dt="2026-04-30T23:11:14.699" v="93" actId="1035"/>
          <ac:spMkLst>
            <pc:docMk/>
            <pc:sldMk cId="0" sldId="260"/>
            <ac:spMk id="7" creationId="{6735AC94-50CB-7F28-350C-2F1DE2B64BFE}"/>
          </ac:spMkLst>
        </pc:spChg>
        <pc:graphicFrameChg chg="add mod">
          <ac:chgData name="Edgar Rosales Ortega" userId="d1d54fc2-1570-4978-babc-e22e1526833f" providerId="ADAL" clId="{66BE7C30-C669-4152-AC74-10076FC0590C}" dt="2026-04-30T23:11:05.015" v="39" actId="1076"/>
          <ac:graphicFrameMkLst>
            <pc:docMk/>
            <pc:sldMk cId="0" sldId="260"/>
            <ac:graphicFrameMk id="5" creationId="{741BCDF9-9B3B-C012-20BC-D6BE8EB94720}"/>
          </ac:graphicFrameMkLst>
        </pc:graphicFrameChg>
        <pc:picChg chg="add mod">
          <ac:chgData name="Edgar Rosales Ortega" userId="d1d54fc2-1570-4978-babc-e22e1526833f" providerId="ADAL" clId="{66BE7C30-C669-4152-AC74-10076FC0590C}" dt="2026-04-30T23:11:14.699" v="93" actId="1035"/>
          <ac:picMkLst>
            <pc:docMk/>
            <pc:sldMk cId="0" sldId="260"/>
            <ac:picMk id="6" creationId="{3965F5C1-B3F7-C607-8820-60A6F58686A2}"/>
          </ac:picMkLst>
        </pc:picChg>
      </pc:sldChg>
      <pc:sldChg chg="addSp delSp modSp mod">
        <pc:chgData name="Edgar Rosales Ortega" userId="d1d54fc2-1570-4978-babc-e22e1526833f" providerId="ADAL" clId="{66BE7C30-C669-4152-AC74-10076FC0590C}" dt="2026-05-05T17:58:31.337" v="94" actId="164"/>
        <pc:sldMkLst>
          <pc:docMk/>
          <pc:sldMk cId="0" sldId="261"/>
        </pc:sldMkLst>
        <pc:spChg chg="add mod">
          <ac:chgData name="Edgar Rosales Ortega" userId="d1d54fc2-1570-4978-babc-e22e1526833f" providerId="ADAL" clId="{66BE7C30-C669-4152-AC74-10076FC0590C}" dt="2026-05-05T17:58:31.337" v="94" actId="164"/>
          <ac:spMkLst>
            <pc:docMk/>
            <pc:sldMk cId="0" sldId="261"/>
            <ac:spMk id="3" creationId="{4F60AF3E-1876-B7D6-F04F-99D850FB305D}"/>
          </ac:spMkLst>
        </pc:spChg>
        <pc:spChg chg="add mod">
          <ac:chgData name="Edgar Rosales Ortega" userId="d1d54fc2-1570-4978-babc-e22e1526833f" providerId="ADAL" clId="{66BE7C30-C669-4152-AC74-10076FC0590C}" dt="2026-05-05T17:58:31.337" v="94" actId="164"/>
          <ac:spMkLst>
            <pc:docMk/>
            <pc:sldMk cId="0" sldId="261"/>
            <ac:spMk id="16" creationId="{A4BAE97D-45B4-EBF3-3DB3-14EB1F7D01A2}"/>
          </ac:spMkLst>
        </pc:spChg>
        <pc:spChg chg="add mod">
          <ac:chgData name="Edgar Rosales Ortega" userId="d1d54fc2-1570-4978-babc-e22e1526833f" providerId="ADAL" clId="{66BE7C30-C669-4152-AC74-10076FC0590C}" dt="2026-05-05T17:58:31.337" v="94" actId="164"/>
          <ac:spMkLst>
            <pc:docMk/>
            <pc:sldMk cId="0" sldId="261"/>
            <ac:spMk id="17" creationId="{CB7B6156-EE1D-943E-4952-DC5ABB5E7BFE}"/>
          </ac:spMkLst>
        </pc:spChg>
        <pc:spChg chg="add mod">
          <ac:chgData name="Edgar Rosales Ortega" userId="d1d54fc2-1570-4978-babc-e22e1526833f" providerId="ADAL" clId="{66BE7C30-C669-4152-AC74-10076FC0590C}" dt="2026-05-05T17:58:31.337" v="94" actId="164"/>
          <ac:spMkLst>
            <pc:docMk/>
            <pc:sldMk cId="0" sldId="261"/>
            <ac:spMk id="18" creationId="{C9C2D92B-4C45-753C-CA94-C773F99DD879}"/>
          </ac:spMkLst>
        </pc:spChg>
        <pc:spChg chg="add mod">
          <ac:chgData name="Edgar Rosales Ortega" userId="d1d54fc2-1570-4978-babc-e22e1526833f" providerId="ADAL" clId="{66BE7C30-C669-4152-AC74-10076FC0590C}" dt="2026-05-05T17:58:31.337" v="94" actId="164"/>
          <ac:spMkLst>
            <pc:docMk/>
            <pc:sldMk cId="0" sldId="261"/>
            <ac:spMk id="20" creationId="{D252CDEC-9F77-AACC-2354-758852F6A30A}"/>
          </ac:spMkLst>
        </pc:spChg>
        <pc:spChg chg="add mod">
          <ac:chgData name="Edgar Rosales Ortega" userId="d1d54fc2-1570-4978-babc-e22e1526833f" providerId="ADAL" clId="{66BE7C30-C669-4152-AC74-10076FC0590C}" dt="2026-05-05T17:58:31.337" v="94" actId="164"/>
          <ac:spMkLst>
            <pc:docMk/>
            <pc:sldMk cId="0" sldId="261"/>
            <ac:spMk id="21" creationId="{62DB79BF-ACF2-9AEC-14CE-71D1A285F9DB}"/>
          </ac:spMkLst>
        </pc:spChg>
        <pc:spChg chg="add mod">
          <ac:chgData name="Edgar Rosales Ortega" userId="d1d54fc2-1570-4978-babc-e22e1526833f" providerId="ADAL" clId="{66BE7C30-C669-4152-AC74-10076FC0590C}" dt="2026-05-05T17:58:31.337" v="94" actId="164"/>
          <ac:spMkLst>
            <pc:docMk/>
            <pc:sldMk cId="0" sldId="261"/>
            <ac:spMk id="22" creationId="{13007340-E7E5-C117-C189-4BEF7E4AC742}"/>
          </ac:spMkLst>
        </pc:spChg>
        <pc:spChg chg="add mod">
          <ac:chgData name="Edgar Rosales Ortega" userId="d1d54fc2-1570-4978-babc-e22e1526833f" providerId="ADAL" clId="{66BE7C30-C669-4152-AC74-10076FC0590C}" dt="2026-05-05T17:58:31.337" v="94" actId="164"/>
          <ac:spMkLst>
            <pc:docMk/>
            <pc:sldMk cId="0" sldId="261"/>
            <ac:spMk id="24" creationId="{BD6CB805-2855-E429-D67E-2F1DF7DD5D3E}"/>
          </ac:spMkLst>
        </pc:spChg>
        <pc:spChg chg="add mod">
          <ac:chgData name="Edgar Rosales Ortega" userId="d1d54fc2-1570-4978-babc-e22e1526833f" providerId="ADAL" clId="{66BE7C30-C669-4152-AC74-10076FC0590C}" dt="2026-05-05T17:58:31.337" v="94" actId="164"/>
          <ac:spMkLst>
            <pc:docMk/>
            <pc:sldMk cId="0" sldId="261"/>
            <ac:spMk id="25" creationId="{EEC50945-236D-E9D0-9528-BDE7C5C47447}"/>
          </ac:spMkLst>
        </pc:spChg>
        <pc:spChg chg="add mod">
          <ac:chgData name="Edgar Rosales Ortega" userId="d1d54fc2-1570-4978-babc-e22e1526833f" providerId="ADAL" clId="{66BE7C30-C669-4152-AC74-10076FC0590C}" dt="2026-05-05T17:58:31.337" v="94" actId="164"/>
          <ac:spMkLst>
            <pc:docMk/>
            <pc:sldMk cId="0" sldId="261"/>
            <ac:spMk id="27" creationId="{2B9E1775-2BC7-3994-FA03-07F86A6B211B}"/>
          </ac:spMkLst>
        </pc:spChg>
      </pc:sldChg>
      <pc:sldChg chg="delSp modSp mod">
        <pc:chgData name="Edgar Rosales Ortega" userId="d1d54fc2-1570-4978-babc-e22e1526833f" providerId="ADAL" clId="{66BE7C30-C669-4152-AC74-10076FC0590C}" dt="2026-05-07T18:58:07.735" v="98" actId="478"/>
        <pc:sldMkLst>
          <pc:docMk/>
          <pc:sldMk cId="0" sldId="262"/>
        </pc:sldMkLst>
      </pc:sldChg>
      <pc:sldChg chg="addSp delSp modSp mod">
        <pc:chgData name="Edgar Rosales Ortega" userId="d1d54fc2-1570-4978-babc-e22e1526833f" providerId="ADAL" clId="{66BE7C30-C669-4152-AC74-10076FC0590C}" dt="2026-05-07T18:58:14.934" v="100" actId="478"/>
        <pc:sldMkLst>
          <pc:docMk/>
          <pc:sldMk cId="0" sldId="263"/>
        </pc:sldMkLst>
        <pc:spChg chg="add mod">
          <ac:chgData name="Edgar Rosales Ortega" userId="d1d54fc2-1570-4978-babc-e22e1526833f" providerId="ADAL" clId="{66BE7C30-C669-4152-AC74-10076FC0590C}" dt="2026-04-23T16:11:38.568" v="21"/>
          <ac:spMkLst>
            <pc:docMk/>
            <pc:sldMk cId="0" sldId="263"/>
            <ac:spMk id="4" creationId="{51DC8848-2F69-6637-3EEB-2EA3FA367E49}"/>
          </ac:spMkLst>
        </pc:spChg>
        <pc:spChg chg="add mod">
          <ac:chgData name="Edgar Rosales Ortega" userId="d1d54fc2-1570-4978-babc-e22e1526833f" providerId="ADAL" clId="{66BE7C30-C669-4152-AC74-10076FC0590C}" dt="2026-04-23T16:11:38.568" v="21"/>
          <ac:spMkLst>
            <pc:docMk/>
            <pc:sldMk cId="0" sldId="263"/>
            <ac:spMk id="7" creationId="{EA95639D-70C0-CF3C-D31A-B9BB4767D461}"/>
          </ac:spMkLst>
        </pc:spChg>
        <pc:spChg chg="add mod">
          <ac:chgData name="Edgar Rosales Ortega" userId="d1d54fc2-1570-4978-babc-e22e1526833f" providerId="ADAL" clId="{66BE7C30-C669-4152-AC74-10076FC0590C}" dt="2026-04-23T16:11:38.568" v="21"/>
          <ac:spMkLst>
            <pc:docMk/>
            <pc:sldMk cId="0" sldId="263"/>
            <ac:spMk id="8" creationId="{D3753BE7-39D0-5C34-A248-748461D4BBBD}"/>
          </ac:spMkLst>
        </pc:spChg>
        <pc:spChg chg="add mod">
          <ac:chgData name="Edgar Rosales Ortega" userId="d1d54fc2-1570-4978-babc-e22e1526833f" providerId="ADAL" clId="{66BE7C30-C669-4152-AC74-10076FC0590C}" dt="2026-04-23T16:11:38.568" v="21"/>
          <ac:spMkLst>
            <pc:docMk/>
            <pc:sldMk cId="0" sldId="263"/>
            <ac:spMk id="9" creationId="{7F890880-289B-6C29-9C39-77E7ABC39093}"/>
          </ac:spMkLst>
        </pc:spChg>
      </pc:sldChg>
      <pc:sldChg chg="modSp mod ord">
        <pc:chgData name="Edgar Rosales Ortega" userId="d1d54fc2-1570-4978-babc-e22e1526833f" providerId="ADAL" clId="{66BE7C30-C669-4152-AC74-10076FC0590C}" dt="2026-04-30T15:50:04.830" v="35"/>
        <pc:sldMkLst>
          <pc:docMk/>
          <pc:sldMk cId="0" sldId="267"/>
        </pc:sldMkLst>
        <pc:graphicFrameChg chg="modGraphic">
          <ac:chgData name="Edgar Rosales Ortega" userId="d1d54fc2-1570-4978-babc-e22e1526833f" providerId="ADAL" clId="{66BE7C30-C669-4152-AC74-10076FC0590C}" dt="2026-04-30T00:12:27.530" v="22"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8:58:26.319" v="101"/>
        <pc:sldMkLst>
          <pc:docMk/>
          <pc:sldMk cId="0" sldId="272"/>
        </pc:sldMkLst>
        <pc:graphicFrameChg chg="mod">
          <ac:chgData name="Edgar Rosales Ortega" userId="d1d54fc2-1570-4978-babc-e22e1526833f" providerId="ADAL" clId="{66BE7C30-C669-4152-AC74-10076FC0590C}" dt="2026-05-07T18:58:26.319" v="10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8:52.557" v="96" actId="1076"/>
        <pc:sldMkLst>
          <pc:docMk/>
          <pc:sldMk cId="0" sldId="279"/>
        </pc:sldMkLst>
        <pc:spChg chg="add mod">
          <ac:chgData name="Edgar Rosales Ortega" userId="d1d54fc2-1570-4978-babc-e22e1526833f" providerId="ADAL" clId="{66BE7C30-C669-4152-AC74-10076FC0590C}" dt="2026-04-30T16:26:55.528" v="36" actId="1076"/>
          <ac:spMkLst>
            <pc:docMk/>
            <pc:sldMk cId="0" sldId="279"/>
            <ac:spMk id="2" creationId="{75DC7414-44CC-7FA8-BFE8-B4876438CDE7}"/>
          </ac:spMkLst>
        </pc:spChg>
        <pc:spChg chg="mod">
          <ac:chgData name="Edgar Rosales Ortega" userId="d1d54fc2-1570-4978-babc-e22e1526833f" providerId="ADAL" clId="{66BE7C30-C669-4152-AC74-10076FC0590C}" dt="2026-05-05T17:58:52.557" v="9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0:01.962" v="33"/>
        <pc:sldMkLst>
          <pc:docMk/>
          <pc:sldMk cId="540716406" sldId="280"/>
        </pc:sldMkLst>
        <pc:graphicFrameChg chg="modGraphic">
          <ac:chgData name="Edgar Rosales Ortega" userId="d1d54fc2-1570-4978-babc-e22e1526833f" providerId="ADAL" clId="{66BE7C30-C669-4152-AC74-10076FC0590C}" dt="2026-04-30T00:12:30.952" v="23"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8:36.606" v="95" actId="478"/>
        <pc:sldMkLst>
          <pc:docMk/>
          <pc:sldMk cId="3828482411" sldId="281"/>
        </pc:sldMkLst>
      </pc:sldChg>
      <pc:sldChg chg="modSp mod">
        <pc:chgData name="Edgar Rosales Ortega" userId="d1d54fc2-1570-4978-babc-e22e1526833f" providerId="ADAL" clId="{66BE7C30-C669-4152-AC74-10076FC0590C}" dt="2026-05-07T18:58:51.656" v="105" actId="14100"/>
        <pc:sldMkLst>
          <pc:docMk/>
          <pc:sldMk cId="364733940" sldId="284"/>
        </pc:sldMkLst>
        <pc:picChg chg="mod">
          <ac:chgData name="Edgar Rosales Ortega" userId="d1d54fc2-1570-4978-babc-e22e1526833f" providerId="ADAL" clId="{66BE7C30-C669-4152-AC74-10076FC0590C}" dt="2026-05-07T18:58:51.656" v="105"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9:49.517" v="31"/>
        <pc:sldMkLst>
          <pc:docMk/>
          <pc:sldMk cId="748044913" sldId="287"/>
        </pc:sldMkLst>
        <pc:graphicFrameChg chg="modGraphic">
          <ac:chgData name="Edgar Rosales Ortega" userId="d1d54fc2-1570-4978-babc-e22e1526833f" providerId="ADAL" clId="{66BE7C30-C669-4152-AC74-10076FC0590C}" dt="2026-04-30T00:12:34.346" v="24"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8:58:41.487" v="103" actId="14100"/>
        <pc:sldMkLst>
          <pc:docMk/>
          <pc:sldMk cId="3240565764" sldId="297"/>
        </pc:sldMkLst>
        <pc:picChg chg="mod">
          <ac:chgData name="Edgar Rosales Ortega" userId="d1d54fc2-1570-4978-babc-e22e1526833f" providerId="ADAL" clId="{66BE7C30-C669-4152-AC74-10076FC0590C}" dt="2026-05-07T18:58:41.487" v="103"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77CC6A1A-9E35-CE7F-4DAE-E8787C98E271}"/>
    <pc:docChg chg="modSld">
      <pc:chgData name="Gerardo Jahir Lara Garcia" userId="S::gerardo.larag@imss.gob.mx::84d5cd65-4601-4e92-b448-a9da4809e012" providerId="AD" clId="Web-{77CC6A1A-9E35-CE7F-4DAE-E8787C98E271}" dt="2026-05-12T22:55:18.858" v="93" actId="1076"/>
      <pc:docMkLst>
        <pc:docMk/>
      </pc:docMkLst>
      <pc:sldChg chg="addSp modSp">
        <pc:chgData name="Gerardo Jahir Lara Garcia" userId="S::gerardo.larag@imss.gob.mx::84d5cd65-4601-4e92-b448-a9da4809e012" providerId="AD" clId="Web-{77CC6A1A-9E35-CE7F-4DAE-E8787C98E271}" dt="2026-05-12T22:55:18.858" v="93" actId="1076"/>
        <pc:sldMkLst>
          <pc:docMk/>
          <pc:sldMk cId="364733940" sldId="284"/>
        </pc:sldMkLst>
        <pc:spChg chg="add">
          <ac:chgData name="Gerardo Jahir Lara Garcia" userId="S::gerardo.larag@imss.gob.mx::84d5cd65-4601-4e92-b448-a9da4809e012" providerId="AD" clId="Web-{77CC6A1A-9E35-CE7F-4DAE-E8787C98E271}" dt="2026-05-12T22:51:04.487" v="1"/>
          <ac:spMkLst>
            <pc:docMk/>
            <pc:sldMk cId="364733940" sldId="284"/>
            <ac:spMk id="3" creationId="{ABCC6279-D2EB-1F1F-D811-3FFF80887FF1}"/>
          </ac:spMkLst>
        </pc:spChg>
        <pc:spChg chg="add mod">
          <ac:chgData name="Gerardo Jahir Lara Garcia" userId="S::gerardo.larag@imss.gob.mx::84d5cd65-4601-4e92-b448-a9da4809e012" providerId="AD" clId="Web-{77CC6A1A-9E35-CE7F-4DAE-E8787C98E271}" dt="2026-05-12T22:53:21.291" v="49" actId="20577"/>
          <ac:spMkLst>
            <pc:docMk/>
            <pc:sldMk cId="364733940" sldId="284"/>
            <ac:spMk id="6" creationId="{4578A0AA-9DC1-3453-263A-76BE5A8BE282}"/>
          </ac:spMkLst>
        </pc:spChg>
        <pc:spChg chg="add mod">
          <ac:chgData name="Gerardo Jahir Lara Garcia" userId="S::gerardo.larag@imss.gob.mx::84d5cd65-4601-4e92-b448-a9da4809e012" providerId="AD" clId="Web-{77CC6A1A-9E35-CE7F-4DAE-E8787C98E271}" dt="2026-05-12T22:53:43.932" v="67" actId="1076"/>
          <ac:spMkLst>
            <pc:docMk/>
            <pc:sldMk cId="364733940" sldId="284"/>
            <ac:spMk id="9" creationId="{907F7F6F-8FF8-56A0-795F-B2A127C97D4D}"/>
          </ac:spMkLst>
        </pc:spChg>
        <pc:spChg chg="add mod">
          <ac:chgData name="Gerardo Jahir Lara Garcia" userId="S::gerardo.larag@imss.gob.mx::84d5cd65-4601-4e92-b448-a9da4809e012" providerId="AD" clId="Web-{77CC6A1A-9E35-CE7F-4DAE-E8787C98E271}" dt="2026-05-12T22:55:18.858" v="93" actId="1076"/>
          <ac:spMkLst>
            <pc:docMk/>
            <pc:sldMk cId="364733940" sldId="284"/>
            <ac:spMk id="11" creationId="{2C157DF6-A7FD-940D-19DA-323ACD68454D}"/>
          </ac:spMkLst>
        </pc:spChg>
        <pc:spChg chg="add mod">
          <ac:chgData name="Gerardo Jahir Lara Garcia" userId="S::gerardo.larag@imss.gob.mx::84d5cd65-4601-4e92-b448-a9da4809e012" providerId="AD" clId="Web-{77CC6A1A-9E35-CE7F-4DAE-E8787C98E271}" dt="2026-05-12T22:55:09.514" v="91" actId="1076"/>
          <ac:spMkLst>
            <pc:docMk/>
            <pc:sldMk cId="364733940" sldId="284"/>
            <ac:spMk id="13" creationId="{BB4AECBC-F01A-1186-A589-94289AC5A2ED}"/>
          </ac:spMkLst>
        </pc:spChg>
        <pc:picChg chg="add">
          <ac:chgData name="Gerardo Jahir Lara Garcia" userId="S::gerardo.larag@imss.gob.mx::84d5cd65-4601-4e92-b448-a9da4809e012" providerId="AD" clId="Web-{77CC6A1A-9E35-CE7F-4DAE-E8787C98E271}" dt="2026-05-12T22:51:04.487" v="1"/>
          <ac:picMkLst>
            <pc:docMk/>
            <pc:sldMk cId="364733940" sldId="284"/>
            <ac:picMk id="4" creationId="{488C755F-8E2D-8CE1-6C1B-6DBB55EE2CD3}"/>
          </ac:picMkLst>
        </pc:picChg>
        <pc:picChg chg="add">
          <ac:chgData name="Gerardo Jahir Lara Garcia" userId="S::gerardo.larag@imss.gob.mx::84d5cd65-4601-4e92-b448-a9da4809e012" providerId="AD" clId="Web-{77CC6A1A-9E35-CE7F-4DAE-E8787C98E271}" dt="2026-05-12T22:51:04.487" v="1"/>
          <ac:picMkLst>
            <pc:docMk/>
            <pc:sldMk cId="364733940" sldId="284"/>
            <ac:picMk id="8" creationId="{4F2E1097-3694-6090-CBA5-667DCD67E48E}"/>
          </ac:picMkLst>
        </pc:picChg>
        <pc:picChg chg="add mod">
          <ac:chgData name="Gerardo Jahir Lara Garcia" userId="S::gerardo.larag@imss.gob.mx::84d5cd65-4601-4e92-b448-a9da4809e012" providerId="AD" clId="Web-{77CC6A1A-9E35-CE7F-4DAE-E8787C98E271}" dt="2026-05-12T22:55:18.858" v="92" actId="1076"/>
          <ac:picMkLst>
            <pc:docMk/>
            <pc:sldMk cId="364733940" sldId="284"/>
            <ac:picMk id="10" creationId="{CA24C0E7-282C-9B96-A7B5-7554B2C6EF8D}"/>
          </ac:picMkLst>
        </pc:picChg>
        <pc:picChg chg="add mod">
          <ac:chgData name="Gerardo Jahir Lara Garcia" userId="S::gerardo.larag@imss.gob.mx::84d5cd65-4601-4e92-b448-a9da4809e012" providerId="AD" clId="Web-{77CC6A1A-9E35-CE7F-4DAE-E8787C98E271}" dt="2026-05-12T22:55:09.498" v="90" actId="1076"/>
          <ac:picMkLst>
            <pc:docMk/>
            <pc:sldMk cId="364733940" sldId="284"/>
            <ac:picMk id="12" creationId="{3EB238C3-5060-D10D-CC98-8FDAAA6A1C4D}"/>
          </ac:picMkLst>
        </pc:picChg>
      </pc:sldChg>
      <pc:sldChg chg="addSp modSp">
        <pc:chgData name="Gerardo Jahir Lara Garcia" userId="S::gerardo.larag@imss.gob.mx::84d5cd65-4601-4e92-b448-a9da4809e012" providerId="AD" clId="Web-{77CC6A1A-9E35-CE7F-4DAE-E8787C98E271}" dt="2026-05-12T22:52:49.508" v="46" actId="1076"/>
        <pc:sldMkLst>
          <pc:docMk/>
          <pc:sldMk cId="3240565764" sldId="297"/>
        </pc:sldMkLst>
        <pc:spChg chg="add">
          <ac:chgData name="Gerardo Jahir Lara Garcia" userId="S::gerardo.larag@imss.gob.mx::84d5cd65-4601-4e92-b448-a9da4809e012" providerId="AD" clId="Web-{77CC6A1A-9E35-CE7F-4DAE-E8787C98E271}" dt="2026-05-12T22:50:56.439" v="0"/>
          <ac:spMkLst>
            <pc:docMk/>
            <pc:sldMk cId="3240565764" sldId="297"/>
            <ac:spMk id="3" creationId="{21AE8FA6-CA77-F761-93C9-BF2570CBBE30}"/>
          </ac:spMkLst>
        </pc:spChg>
        <pc:spChg chg="add mod">
          <ac:chgData name="Gerardo Jahir Lara Garcia" userId="S::gerardo.larag@imss.gob.mx::84d5cd65-4601-4e92-b448-a9da4809e012" providerId="AD" clId="Web-{77CC6A1A-9E35-CE7F-4DAE-E8787C98E271}" dt="2026-05-12T22:52:06.865" v="10" actId="20577"/>
          <ac:spMkLst>
            <pc:docMk/>
            <pc:sldMk cId="3240565764" sldId="297"/>
            <ac:spMk id="7" creationId="{FD4175D4-66CF-7FBC-B843-C149C5339DF1}"/>
          </ac:spMkLst>
        </pc:spChg>
        <pc:spChg chg="add mod">
          <ac:chgData name="Gerardo Jahir Lara Garcia" userId="S::gerardo.larag@imss.gob.mx::84d5cd65-4601-4e92-b448-a9da4809e012" providerId="AD" clId="Web-{77CC6A1A-9E35-CE7F-4DAE-E8787C98E271}" dt="2026-05-12T22:52:12.991" v="12" actId="20577"/>
          <ac:spMkLst>
            <pc:docMk/>
            <pc:sldMk cId="3240565764" sldId="297"/>
            <ac:spMk id="9" creationId="{50F1217E-09B0-81A3-6E99-CB1DE729ADDF}"/>
          </ac:spMkLst>
        </pc:spChg>
        <pc:spChg chg="add">
          <ac:chgData name="Gerardo Jahir Lara Garcia" userId="S::gerardo.larag@imss.gob.mx::84d5cd65-4601-4e92-b448-a9da4809e012" providerId="AD" clId="Web-{77CC6A1A-9E35-CE7F-4DAE-E8787C98E271}" dt="2026-05-12T22:50:56.439" v="0"/>
          <ac:spMkLst>
            <pc:docMk/>
            <pc:sldMk cId="3240565764" sldId="297"/>
            <ac:spMk id="10" creationId="{991C7EE4-1170-AC4C-597D-3383D8E8A8F9}"/>
          </ac:spMkLst>
        </pc:spChg>
        <pc:spChg chg="add mod">
          <ac:chgData name="Gerardo Jahir Lara Garcia" userId="S::gerardo.larag@imss.gob.mx::84d5cd65-4601-4e92-b448-a9da4809e012" providerId="AD" clId="Web-{77CC6A1A-9E35-CE7F-4DAE-E8787C98E271}" dt="2026-05-12T22:52:49.508" v="46" actId="1076"/>
          <ac:spMkLst>
            <pc:docMk/>
            <pc:sldMk cId="3240565764" sldId="297"/>
            <ac:spMk id="12" creationId="{CA535D92-E281-11D7-D7CB-F8BAB9F176B8}"/>
          </ac:spMkLst>
        </pc:spChg>
        <pc:spChg chg="add">
          <ac:chgData name="Gerardo Jahir Lara Garcia" userId="S::gerardo.larag@imss.gob.mx::84d5cd65-4601-4e92-b448-a9da4809e012" providerId="AD" clId="Web-{77CC6A1A-9E35-CE7F-4DAE-E8787C98E271}" dt="2026-05-12T22:50:56.439" v="0"/>
          <ac:spMkLst>
            <pc:docMk/>
            <pc:sldMk cId="3240565764" sldId="297"/>
            <ac:spMk id="13" creationId="{B9C2E918-974F-A566-8C8B-5DDE4ED4290B}"/>
          </ac:spMkLst>
        </pc:spChg>
        <pc:spChg chg="add mod">
          <ac:chgData name="Gerardo Jahir Lara Garcia" userId="S::gerardo.larag@imss.gob.mx::84d5cd65-4601-4e92-b448-a9da4809e012" providerId="AD" clId="Web-{77CC6A1A-9E35-CE7F-4DAE-E8787C98E271}" dt="2026-05-12T22:51:41.566" v="3" actId="20577"/>
          <ac:spMkLst>
            <pc:docMk/>
            <pc:sldMk cId="3240565764" sldId="297"/>
            <ac:spMk id="15" creationId="{A0083CC0-370A-999A-F425-0B0E05DEB5CF}"/>
          </ac:spMkLst>
        </pc:spChg>
        <pc:picChg chg="add">
          <ac:chgData name="Gerardo Jahir Lara Garcia" userId="S::gerardo.larag@imss.gob.mx::84d5cd65-4601-4e92-b448-a9da4809e012" providerId="AD" clId="Web-{77CC6A1A-9E35-CE7F-4DAE-E8787C98E271}" dt="2026-05-12T22:50:56.439" v="0"/>
          <ac:picMkLst>
            <pc:docMk/>
            <pc:sldMk cId="3240565764" sldId="297"/>
            <ac:picMk id="4" creationId="{AE9FD96F-084C-5DEE-6966-05F8D1633A42}"/>
          </ac:picMkLst>
        </pc:picChg>
        <pc:picChg chg="add">
          <ac:chgData name="Gerardo Jahir Lara Garcia" userId="S::gerardo.larag@imss.gob.mx::84d5cd65-4601-4e92-b448-a9da4809e012" providerId="AD" clId="Web-{77CC6A1A-9E35-CE7F-4DAE-E8787C98E271}" dt="2026-05-12T22:50:56.439" v="0"/>
          <ac:picMkLst>
            <pc:docMk/>
            <pc:sldMk cId="3240565764" sldId="297"/>
            <ac:picMk id="8" creationId="{170CBE01-E044-2F44-556A-69D0B561DC01}"/>
          </ac:picMkLst>
        </pc:picChg>
        <pc:picChg chg="add">
          <ac:chgData name="Gerardo Jahir Lara Garcia" userId="S::gerardo.larag@imss.gob.mx::84d5cd65-4601-4e92-b448-a9da4809e012" providerId="AD" clId="Web-{77CC6A1A-9E35-CE7F-4DAE-E8787C98E271}" dt="2026-05-12T22:50:56.439" v="0"/>
          <ac:picMkLst>
            <pc:docMk/>
            <pc:sldMk cId="3240565764" sldId="297"/>
            <ac:picMk id="11" creationId="{F7B31A16-FD1A-331A-6F76-259EB810FD76}"/>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7813922.0</c:v>
                </c:pt>
                <c:pt idx="1">
                  <c:v>66902.0</c:v>
                </c:pt>
                <c:pt idx="2">
                  <c:v>1299505.0</c:v>
                </c:pt>
                <c:pt idx="3">
                  <c:v>8492814.0</c:v>
                </c:pt>
                <c:pt idx="4">
                  <c:v>149277.0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31.85058850906953</c:v>
                </c:pt>
                <c:pt idx="1">
                  <c:v>68.14941149093048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8.8547776352</c:v>
                </c:pt>
                <c:pt idx="1">
                  <c:v>91.1452223648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30.52</c:v>
                </c:pt>
                <c:pt idx="1">
                  <c:v>69.48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27.99</c:v>
                </c:pt>
                <c:pt idx="1">
                  <c:v>72.01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166</c:v>
                </c:pt>
                <c:pt idx="1">
                  <c:v>407</c:v>
                </c:pt>
                <c:pt idx="2">
                  <c:v>446</c:v>
                </c:pt>
                <c:pt idx="3">
                  <c:v>422</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 Eléctrica y Captación y Suministro de Agua Potable</c:v>
                </c:pt>
                <c:pt idx="1">
                  <c:v>Industrias Extractivas</c:v>
                </c:pt>
                <c:pt idx="2">
                  <c:v>Agricultura, Ganaderia, Silvicultura, Pesca y Caza</c:v>
                </c:pt>
                <c:pt idx="3">
                  <c:v>Industrias de la Transformación</c:v>
                </c:pt>
                <c:pt idx="4">
                  <c:v>Industria de la Construcción</c:v>
                </c:pt>
                <c:pt idx="5">
                  <c:v>Servicios Sociales y Comunales</c:v>
                </c:pt>
                <c:pt idx="6">
                  <c:v>Comercio</c:v>
                </c:pt>
                <c:pt idx="7">
                  <c:v>Servicios para Empresas, Personas y el Hogar</c:v>
                </c:pt>
                <c:pt idx="8">
                  <c:v>Transportes y Comunicaciones</c:v>
                </c:pt>
              </c:strCache>
            </c:strRef>
          </c:cat>
          <c:val>
            <c:numRef>
              <c:f>Sheet1!$B$2:$B$10</c:f>
              <c:numCache>
                <c:formatCode>General</c:formatCode>
                <c:ptCount val="9"/>
                <c:pt idx="0">
                  <c:v>4321</c:v>
                </c:pt>
                <c:pt idx="1">
                  <c:v>3870</c:v>
                </c:pt>
                <c:pt idx="2">
                  <c:v>10242</c:v>
                </c:pt>
                <c:pt idx="3">
                  <c:v>590814</c:v>
                </c:pt>
                <c:pt idx="4">
                  <c:v>140141</c:v>
                </c:pt>
                <c:pt idx="5">
                  <c:v>136317</c:v>
                </c:pt>
                <c:pt idx="6">
                  <c:v>476300</c:v>
                </c:pt>
                <c:pt idx="7">
                  <c:v>326910</c:v>
                </c:pt>
                <c:pt idx="8">
                  <c:v>218548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 Eléctrica y Captación y Suministro de Agua Potable</c:v>
                </c:pt>
                <c:pt idx="1">
                  <c:v>Industrias Extractivas</c:v>
                </c:pt>
                <c:pt idx="2">
                  <c:v>Agricultura, Ganaderia, Silvicultura, Pesca y Caza</c:v>
                </c:pt>
                <c:pt idx="3">
                  <c:v>Industrias de la Transformación</c:v>
                </c:pt>
                <c:pt idx="4">
                  <c:v>Industria de la Construcción</c:v>
                </c:pt>
                <c:pt idx="5">
                  <c:v>Servicios Sociales y Comunales</c:v>
                </c:pt>
                <c:pt idx="6">
                  <c:v>Comercio</c:v>
                </c:pt>
                <c:pt idx="7">
                  <c:v>Servicios para Empresas, Personas y el Hogar</c:v>
                </c:pt>
                <c:pt idx="8">
                  <c:v>Transportes y Comunicaciones</c:v>
                </c:pt>
              </c:strCache>
            </c:strRef>
          </c:cat>
          <c:val>
            <c:numRef>
              <c:f>Sheet1!$C$2:$C$10</c:f>
              <c:numCache>
                <c:formatCode>General</c:formatCode>
                <c:ptCount val="9"/>
                <c:pt idx="0">
                  <c:v>4120</c:v>
                </c:pt>
                <c:pt idx="1">
                  <c:v>3695</c:v>
                </c:pt>
                <c:pt idx="2">
                  <c:v>9954</c:v>
                </c:pt>
                <c:pt idx="3">
                  <c:v>579536</c:v>
                </c:pt>
                <c:pt idx="4">
                  <c:v>138628</c:v>
                </c:pt>
                <c:pt idx="5">
                  <c:v>135605</c:v>
                </c:pt>
                <c:pt idx="6">
                  <c:v>513643</c:v>
                </c:pt>
                <c:pt idx="7">
                  <c:v>379736</c:v>
                </c:pt>
                <c:pt idx="8">
                  <c:v>296708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1591009</c:v>
                </c:pt>
                <c:pt idx="1">
                  <c:v>1637760</c:v>
                </c:pt>
                <c:pt idx="2">
                  <c:v>1602221</c:v>
                </c:pt>
                <c:pt idx="3">
                  <c:v>1613698</c:v>
                </c:pt>
                <c:pt idx="4">
                  <c:v>1679022</c:v>
                </c:pt>
                <c:pt idx="5">
                  <c:v>1755514</c:v>
                </c:pt>
                <c:pt idx="6">
                  <c:v>1844815</c:v>
                </c:pt>
                <c:pt idx="7">
                  <c:v>1907463</c:v>
                </c:pt>
                <c:pt idx="8">
                  <c:v>2061625</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Estado de México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_Estado de Méxic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44%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7,813,922</a:t>
            </a:r>
            <a:br/>
            <a:r>
              <a:t>44%</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66,902</a:t>
            </a:r>
            <a:br/>
            <a:r>
              <a:t>0.38%</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1,299,505</a:t>
            </a:r>
            <a:br/>
            <a:r>
              <a:t>7%</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8,492,814</a:t>
            </a:r>
            <a:br/>
            <a:r>
              <a:t>48%</a:t>
            </a:r>
          </a:p>
        </p:txBody>
      </p:sp>
      <p:pic>
        <p:nvPicPr>
          <p:cNvPr id="128" name="Picture 127" descr="15.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149,277</a:t>
            </a:r>
            <a:br/>
            <a:r>
              <a:t>0.84%</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17,822,420</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5,902,344</a:t>
                      </a:r>
                    </a:p>
                  </a:txBody>
                  <a:tcPr>
                    <a:solidFill>
                      <a:srgbClr val="EBD2D9"/>
                    </a:solidFill>
                  </a:tcPr>
                </a:tc>
                <a:tc>
                  <a:txBody>
                    <a:bodyPr/>
                    <a:lstStyle/>
                    <a:p>
                      <a:pPr algn="ctr">
                        <a:defRPr sz="900" b="1">
                          <a:solidFill>
                            <a:srgbClr val="000000"/>
                          </a:solidFill>
                          <a:latin typeface="Montserrat"/>
                        </a:defRPr>
                      </a:pPr>
                      <a:r>
                        <a:t>7,866,621</a:t>
                      </a:r>
                    </a:p>
                  </a:txBody>
                  <a:tcPr>
                    <a:solidFill>
                      <a:srgbClr val="EBD2D9"/>
                    </a:solidFill>
                  </a:tcPr>
                </a:tc>
                <a:tc>
                  <a:txBody>
                    <a:bodyPr/>
                    <a:lstStyle/>
                    <a:p>
                      <a:pPr algn="ctr">
                        <a:defRPr sz="900" b="1">
                          <a:solidFill>
                            <a:srgbClr val="000000"/>
                          </a:solidFill>
                          <a:latin typeface="Montserrat"/>
                        </a:defRPr>
                      </a:pPr>
                      <a:r>
                        <a:t>33%</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3,030,502</a:t>
                      </a:r>
                    </a:p>
                  </a:txBody>
                  <a:tcPr>
                    <a:solidFill>
                      <a:srgbClr val="EBD2D9"/>
                    </a:solidFill>
                  </a:tcPr>
                </a:tc>
                <a:tc>
                  <a:txBody>
                    <a:bodyPr/>
                    <a:lstStyle/>
                    <a:p>
                      <a:pPr algn="ctr">
                        <a:defRPr sz="900" b="1">
                          <a:solidFill>
                            <a:srgbClr val="000000"/>
                          </a:solidFill>
                          <a:latin typeface="Montserrat"/>
                        </a:defRPr>
                      </a:pPr>
                      <a:r>
                        <a:t>4,877,173</a:t>
                      </a:r>
                    </a:p>
                  </a:txBody>
                  <a:tcPr>
                    <a:solidFill>
                      <a:srgbClr val="EBD2D9"/>
                    </a:solidFill>
                  </a:tcPr>
                </a:tc>
                <a:tc>
                  <a:txBody>
                    <a:bodyPr/>
                    <a:lstStyle/>
                    <a:p>
                      <a:pPr algn="ctr">
                        <a:defRPr sz="900" b="1">
                          <a:solidFill>
                            <a:srgbClr val="000000"/>
                          </a:solidFill>
                          <a:latin typeface="Montserrat"/>
                        </a:defRPr>
                      </a:pPr>
                      <a:r>
                        <a:t>61%</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1,627,196</a:t>
                      </a:r>
                    </a:p>
                  </a:txBody>
                  <a:tcPr>
                    <a:solidFill>
                      <a:srgbClr val="F8F4EC"/>
                    </a:solidFill>
                  </a:tcPr>
                </a:tc>
                <a:tc>
                  <a:txBody>
                    <a:bodyPr/>
                    <a:lstStyle/>
                    <a:p>
                      <a:pPr algn="ctr">
                        <a:defRPr sz="900" b="1">
                          <a:solidFill>
                            <a:srgbClr val="000000"/>
                          </a:solidFill>
                          <a:latin typeface="Montserrat"/>
                        </a:defRPr>
                      </a:pPr>
                      <a:r>
                        <a:t>2,061,625</a:t>
                      </a:r>
                    </a:p>
                  </a:txBody>
                  <a:tcPr>
                    <a:solidFill>
                      <a:srgbClr val="F8F4EC"/>
                    </a:solidFill>
                  </a:tcPr>
                </a:tc>
                <a:tc>
                  <a:txBody>
                    <a:bodyPr/>
                    <a:lstStyle/>
                    <a:p>
                      <a:pPr algn="ctr">
                        <a:defRPr sz="900" b="1">
                          <a:solidFill>
                            <a:srgbClr val="000000"/>
                          </a:solidFill>
                          <a:latin typeface="Montserrat"/>
                        </a:defRPr>
                      </a:pPr>
                      <a:r>
                        <a:t>27%</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522,831</a:t>
                      </a:r>
                    </a:p>
                  </a:txBody>
                  <a:tcPr>
                    <a:solidFill>
                      <a:srgbClr val="FFFFFF"/>
                    </a:solidFill>
                  </a:tcPr>
                </a:tc>
                <a:tc>
                  <a:txBody>
                    <a:bodyPr/>
                    <a:lstStyle/>
                    <a:p>
                      <a:pPr algn="ctr">
                        <a:defRPr sz="900">
                          <a:solidFill>
                            <a:srgbClr val="000000"/>
                          </a:solidFill>
                          <a:latin typeface="Montserrat"/>
                        </a:defRPr>
                      </a:pPr>
                      <a:r>
                        <a:t>751,771</a:t>
                      </a:r>
                    </a:p>
                  </a:txBody>
                  <a:tcPr>
                    <a:solidFill>
                      <a:srgbClr val="FFFFFF"/>
                    </a:solidFill>
                  </a:tcPr>
                </a:tc>
                <a:tc>
                  <a:txBody>
                    <a:bodyPr/>
                    <a:lstStyle/>
                    <a:p>
                      <a:pPr algn="ctr">
                        <a:defRPr sz="900">
                          <a:solidFill>
                            <a:srgbClr val="000000"/>
                          </a:solidFill>
                          <a:latin typeface="Montserrat"/>
                        </a:defRPr>
                      </a:pPr>
                      <a:r>
                        <a:t>44%</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82,637</a:t>
                      </a:r>
                    </a:p>
                  </a:txBody>
                  <a:tcPr>
                    <a:solidFill>
                      <a:srgbClr val="FFFFFF"/>
                    </a:solidFill>
                  </a:tcPr>
                </a:tc>
                <a:tc>
                  <a:txBody>
                    <a:bodyPr/>
                    <a:lstStyle/>
                    <a:p>
                      <a:pPr algn="ctr">
                        <a:defRPr sz="900">
                          <a:solidFill>
                            <a:srgbClr val="000000"/>
                          </a:solidFill>
                          <a:latin typeface="Montserrat"/>
                        </a:defRPr>
                      </a:pPr>
                      <a:r>
                        <a:t>100,572</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797,838</a:t>
                      </a:r>
                    </a:p>
                  </a:txBody>
                  <a:tcPr>
                    <a:solidFill>
                      <a:srgbClr val="CCE0DD"/>
                    </a:solidFill>
                  </a:tcPr>
                </a:tc>
                <a:tc>
                  <a:txBody>
                    <a:bodyPr/>
                    <a:lstStyle/>
                    <a:p>
                      <a:pPr algn="ctr">
                        <a:defRPr sz="900" b="1">
                          <a:solidFill>
                            <a:srgbClr val="000000"/>
                          </a:solidFill>
                          <a:latin typeface="Montserrat"/>
                        </a:defRPr>
                      </a:pPr>
                      <a:r>
                        <a:t>1,270,697</a:t>
                      </a:r>
                    </a:p>
                  </a:txBody>
                  <a:tcPr>
                    <a:solidFill>
                      <a:srgbClr val="CCE0DD"/>
                    </a:solidFill>
                  </a:tcPr>
                </a:tc>
                <a:tc>
                  <a:txBody>
                    <a:bodyPr/>
                    <a:lstStyle/>
                    <a:p>
                      <a:pPr algn="ctr">
                        <a:defRPr sz="900" b="1">
                          <a:solidFill>
                            <a:srgbClr val="000000"/>
                          </a:solidFill>
                          <a:latin typeface="Montserrat"/>
                        </a:defRPr>
                      </a:pPr>
                      <a:r>
                        <a:t>59%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767,449</a:t>
                      </a:r>
                    </a:p>
                  </a:txBody>
                  <a:tcPr>
                    <a:solidFill>
                      <a:srgbClr val="FFFFFF"/>
                    </a:solidFill>
                  </a:tcPr>
                </a:tc>
                <a:tc>
                  <a:txBody>
                    <a:bodyPr/>
                    <a:lstStyle/>
                    <a:p>
                      <a:pPr algn="ctr">
                        <a:defRPr sz="900">
                          <a:solidFill>
                            <a:srgbClr val="000000"/>
                          </a:solidFill>
                          <a:latin typeface="Montserrat"/>
                        </a:defRPr>
                      </a:pPr>
                      <a:r>
                        <a:t>1,239,250</a:t>
                      </a:r>
                    </a:p>
                  </a:txBody>
                  <a:tcPr>
                    <a:solidFill>
                      <a:srgbClr val="FFFFFF"/>
                    </a:solidFill>
                  </a:tcPr>
                </a:tc>
                <a:tc>
                  <a:txBody>
                    <a:bodyPr/>
                    <a:lstStyle/>
                    <a:p>
                      <a:pPr algn="ctr">
                        <a:defRPr sz="900">
                          <a:solidFill>
                            <a:srgbClr val="000000"/>
                          </a:solidFill>
                          <a:latin typeface="Montserrat"/>
                        </a:defRPr>
                      </a:pPr>
                      <a:r>
                        <a:t>61%</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15,361</a:t>
                      </a:r>
                    </a:p>
                  </a:txBody>
                  <a:tcPr>
                    <a:solidFill>
                      <a:srgbClr val="FFFFFF"/>
                    </a:solidFill>
                  </a:tcPr>
                </a:tc>
                <a:tc>
                  <a:txBody>
                    <a:bodyPr/>
                    <a:lstStyle/>
                    <a:p>
                      <a:pPr algn="ctr">
                        <a:defRPr sz="900">
                          <a:solidFill>
                            <a:srgbClr val="000000"/>
                          </a:solidFill>
                          <a:latin typeface="Montserrat"/>
                        </a:defRPr>
                      </a:pPr>
                      <a:r>
                        <a:t>5,224</a:t>
                      </a:r>
                    </a:p>
                  </a:txBody>
                  <a:tcPr>
                    <a:solidFill>
                      <a:srgbClr val="FFFFFF"/>
                    </a:solidFill>
                  </a:tcPr>
                </a:tc>
                <a:tc>
                  <a:txBody>
                    <a:bodyPr/>
                    <a:lstStyle/>
                    <a:p>
                      <a:pPr algn="ctr">
                        <a:defRPr sz="900">
                          <a:solidFill>
                            <a:srgbClr val="000000"/>
                          </a:solidFill>
                          <a:latin typeface="Montserrat"/>
                        </a:defRPr>
                      </a:pPr>
                      <a:r>
                        <a:t>-66%</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15,028</a:t>
                      </a:r>
                    </a:p>
                  </a:txBody>
                  <a:tcPr>
                    <a:solidFill>
                      <a:srgbClr val="FFFFFF"/>
                    </a:solidFill>
                  </a:tcPr>
                </a:tc>
                <a:tc>
                  <a:txBody>
                    <a:bodyPr/>
                    <a:lstStyle/>
                    <a:p>
                      <a:pPr algn="ctr">
                        <a:defRPr sz="900">
                          <a:solidFill>
                            <a:srgbClr val="000000"/>
                          </a:solidFill>
                          <a:latin typeface="Montserrat"/>
                        </a:defRPr>
                      </a:pPr>
                      <a:r>
                        <a:t>26,223</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2,871,842</a:t>
                      </a:r>
                    </a:p>
                  </a:txBody>
                  <a:tcPr>
                    <a:solidFill>
                      <a:srgbClr val="EBD2D9"/>
                    </a:solidFill>
                  </a:tcPr>
                </a:tc>
                <a:tc>
                  <a:txBody>
                    <a:bodyPr/>
                    <a:lstStyle/>
                    <a:p>
                      <a:pPr algn="ctr">
                        <a:defRPr sz="900" b="1">
                          <a:solidFill>
                            <a:srgbClr val="000000"/>
                          </a:solidFill>
                          <a:latin typeface="Montserrat"/>
                        </a:defRPr>
                      </a:pPr>
                      <a:r>
                        <a:t>2,989,448</a:t>
                      </a:r>
                    </a:p>
                  </a:txBody>
                  <a:tcPr>
                    <a:solidFill>
                      <a:srgbClr val="EBD2D9"/>
                    </a:solidFill>
                  </a:tcPr>
                </a:tc>
                <a:tc>
                  <a:txBody>
                    <a:bodyPr/>
                    <a:lstStyle/>
                    <a:p>
                      <a:pPr algn="ctr">
                        <a:defRPr sz="900" b="1">
                          <a:solidFill>
                            <a:srgbClr val="000000"/>
                          </a:solidFill>
                          <a:latin typeface="Montserrat"/>
                        </a:defRPr>
                      </a:pPr>
                      <a:r>
                        <a:t>4%</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1,010,566</a:t>
                      </a:r>
                    </a:p>
                  </a:txBody>
                  <a:tcPr>
                    <a:solidFill>
                      <a:srgbClr val="FFFFFF"/>
                    </a:solidFill>
                  </a:tcPr>
                </a:tc>
                <a:tc>
                  <a:txBody>
                    <a:bodyPr/>
                    <a:lstStyle/>
                    <a:p>
                      <a:pPr algn="ctr">
                        <a:defRPr sz="900">
                          <a:solidFill>
                            <a:srgbClr val="000000"/>
                          </a:solidFill>
                          <a:latin typeface="Montserrat"/>
                        </a:defRPr>
                      </a:pPr>
                      <a:r>
                        <a:t>1,109,713</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1,265,436</a:t>
                      </a:r>
                    </a:p>
                  </a:txBody>
                  <a:tcPr>
                    <a:solidFill>
                      <a:srgbClr val="FFFFFF"/>
                    </a:solidFill>
                  </a:tcPr>
                </a:tc>
                <a:tc>
                  <a:txBody>
                    <a:bodyPr/>
                    <a:lstStyle/>
                    <a:p>
                      <a:pPr algn="ctr">
                        <a:defRPr sz="900">
                          <a:solidFill>
                            <a:srgbClr val="000000"/>
                          </a:solidFill>
                          <a:latin typeface="Montserrat"/>
                        </a:defRPr>
                      </a:pPr>
                      <a:r>
                        <a:t>1,071,083</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595,840</a:t>
                      </a:r>
                    </a:p>
                  </a:txBody>
                  <a:tcPr>
                    <a:solidFill>
                      <a:srgbClr val="FFFFFF"/>
                    </a:solidFill>
                  </a:tcPr>
                </a:tc>
                <a:tc>
                  <a:txBody>
                    <a:bodyPr/>
                    <a:lstStyle/>
                    <a:p>
                      <a:pPr algn="ctr">
                        <a:defRPr sz="900">
                          <a:solidFill>
                            <a:srgbClr val="000000"/>
                          </a:solidFill>
                          <a:latin typeface="Montserrat"/>
                        </a:defRPr>
                      </a:pPr>
                      <a:r>
                        <a:t>808,652</a:t>
                      </a:r>
                    </a:p>
                  </a:txBody>
                  <a:tcPr>
                    <a:solidFill>
                      <a:srgbClr val="FFFFFF"/>
                    </a:solidFill>
                  </a:tcPr>
                </a:tc>
                <a:tc>
                  <a:txBody>
                    <a:bodyPr/>
                    <a:lstStyle/>
                    <a:p>
                      <a:pPr algn="ctr">
                        <a:defRPr sz="900">
                          <a:solidFill>
                            <a:srgbClr val="000000"/>
                          </a:solidFill>
                          <a:latin typeface="Montserrat"/>
                        </a:defRPr>
                      </a:pPr>
                      <a:r>
                        <a:t>36%</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6,491</a:t>
                      </a:r>
                    </a:p>
                  </a:txBody>
                  <a:tcPr>
                    <a:solidFill>
                      <a:srgbClr val="F8F4EC"/>
                    </a:solidFill>
                  </a:tcPr>
                </a:tc>
                <a:tc>
                  <a:txBody>
                    <a:bodyPr/>
                    <a:lstStyle/>
                    <a:p>
                      <a:pPr algn="ctr">
                        <a:defRPr b="1" sz="900">
                          <a:latin typeface="Montserrat"/>
                        </a:defRPr>
                      </a:pPr>
                      <a:r>
                        <a:t>6,172</a:t>
                      </a:r>
                    </a:p>
                  </a:txBody>
                  <a:tcPr>
                    <a:solidFill>
                      <a:srgbClr val="F8F4EC"/>
                    </a:solidFill>
                  </a:tcPr>
                </a:tc>
                <a:tc>
                  <a:txBody>
                    <a:bodyPr/>
                    <a:lstStyle/>
                    <a:p>
                      <a:pPr algn="ctr">
                        <a:defRPr b="1" sz="900">
                          <a:solidFill>
                            <a:srgbClr val="A61C00"/>
                          </a:solidFill>
                          <a:latin typeface="Montserrat"/>
                        </a:defRPr>
                      </a:pPr>
                      <a:r>
                        <a:t>-4%</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28,959</a:t>
                      </a:r>
                    </a:p>
                  </a:txBody>
                  <a:tcPr>
                    <a:solidFill>
                      <a:srgbClr val="F8F4EC"/>
                    </a:solidFill>
                  </a:tcPr>
                </a:tc>
                <a:tc>
                  <a:txBody>
                    <a:bodyPr/>
                    <a:lstStyle/>
                    <a:p>
                      <a:pPr algn="ctr">
                        <a:defRPr b="1" sz="900">
                          <a:latin typeface="Montserrat"/>
                        </a:defRPr>
                      </a:pPr>
                      <a:r>
                        <a:t>42,219</a:t>
                      </a:r>
                    </a:p>
                  </a:txBody>
                  <a:tcPr>
                    <a:solidFill>
                      <a:srgbClr val="F8F4EC"/>
                    </a:solidFill>
                  </a:tcPr>
                </a:tc>
                <a:tc>
                  <a:txBody>
                    <a:bodyPr/>
                    <a:lstStyle/>
                    <a:p>
                      <a:pPr algn="ctr">
                        <a:defRPr b="1" sz="900">
                          <a:latin typeface="Montserrat"/>
                        </a:defRPr>
                      </a:pPr>
                      <a:r>
                        <a:t>46%</a:t>
                      </a:r>
                    </a:p>
                  </a:txBody>
                  <a:tcPr>
                    <a:solidFill>
                      <a:srgbClr val="F8F4EC"/>
                    </a:solidFill>
                  </a:tcPr>
                </a:tc>
              </a:tr>
            </a:tbl>
          </a:graphicData>
        </a:graphic>
      </p:graphicFrame>
      <p:graphicFrame>
        <p:nvGraphicFramePr>
          <p:cNvPr id="140" name="Table 139"/>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abril 2026</a:t>
                      </a:r>
                    </a:p>
                  </a:txBody>
                  <a:tcPr anchor="ctr">
                    <a:solidFill>
                      <a:srgbClr val="006455"/>
                    </a:solidFill>
                  </a:tcPr>
                </a:tc>
              </a:tr>
              <a:tr h="334800">
                <a:tc>
                  <a:txBody>
                    <a:bodyPr/>
                    <a:lstStyle/>
                    <a:p>
                      <a:pPr algn="ctr">
                        <a:defRPr sz="1200" b="1">
                          <a:solidFill>
                            <a:srgbClr val="000000"/>
                          </a:solidFill>
                          <a:latin typeface="Montserrat"/>
                        </a:defRPr>
                      </a:pPr>
                      <a:r>
                        <a:t>74,622</a:t>
                      </a:r>
                    </a:p>
                  </a:txBody>
                  <a:tcPr anchor="ctr">
                    <a:solidFill>
                      <a:srgbClr val="F8F4EC"/>
                    </a:solidFill>
                  </a:tcPr>
                </a:tc>
              </a:tr>
            </a:tbl>
          </a:graphicData>
        </a:graphic>
      </p:graphicFrame>
      <p:sp>
        <p:nvSpPr>
          <p:cNvPr id="141" name="TextBox 140"/>
          <p:cNvSpPr txBox="1"/>
          <p:nvPr/>
        </p:nvSpPr>
        <p:spPr>
          <a:xfrm>
            <a:off x="136800" y="9536400"/>
            <a:ext cx="5864400" cy="360000"/>
          </a:xfrm>
          <a:prstGeom prst="rect">
            <a:avLst/>
          </a:prstGeom>
          <a:noFill/>
        </p:spPr>
        <p:txBody>
          <a:bodyPr wrap="square">
            <a:spAutoFit/>
          </a:bodyPr>
          <a:lstStyle/>
          <a:p>
            <a:pPr algn="l">
              <a:defRPr sz="700">
                <a:solidFill>
                  <a:srgbClr val="FFFFFF"/>
                </a:solidFill>
                <a:latin typeface="Montserrat"/>
              </a:defRPr>
            </a:pPr>
            <a:r>
              <a:t>** PTPD que superaron el umbral de ingreso mínimo neto</a:t>
            </a:r>
          </a:p>
        </p:txBody>
      </p:sp>
      <p:pic>
        <p:nvPicPr>
          <p:cNvPr id="142" name="Picture 141" descr="PTPD.png"/>
          <p:cNvPicPr>
            <a:picLocks noChangeAspect="1"/>
          </p:cNvPicPr>
          <p:nvPr/>
        </p:nvPicPr>
        <p:blipFill>
          <a:blip r:embed="rId11"/>
          <a:stretch>
            <a:fillRect/>
          </a:stretch>
        </p:blipFill>
        <p:spPr>
          <a:xfrm>
            <a:off x="6080400" y="8161200"/>
            <a:ext cx="1666800" cy="486000"/>
          </a:xfrm>
          <a:prstGeom prst="rect">
            <a:avLst/>
          </a:prstGeom>
        </p:spPr>
      </p:pic>
      <p:sp>
        <p:nvSpPr>
          <p:cNvPr id="143" name="TextBox 14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5_me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895</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162</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3,322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1,349</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316</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160</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927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3,638</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1,671</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29</a:t>
                      </a:r>
                    </a:p>
                  </a:txBody>
                  <a:tcPr marL="10800" marR="10800" marT="10800" marB="10800" anchor="ctr">
                    <a:solidFill>
                      <a:srgbClr val="FFFFFF"/>
                    </a:solidFill>
                  </a:tcPr>
                </a:tc>
                <a:tc>
                  <a:txBody>
                    <a:bodyPr/>
                    <a:lstStyle/>
                    <a:p>
                      <a:pPr algn="ctr">
                        <a:defRPr sz="1000">
                          <a:solidFill>
                            <a:srgbClr val="000000"/>
                          </a:solidFill>
                          <a:latin typeface="Montserrat"/>
                        </a:defRPr>
                      </a:pPr>
                      <a:r>
                        <a:t>29</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2</a:t>
                      </a:r>
                    </a:p>
                  </a:txBody>
                  <a:tcPr marL="10800" marR="10800" marT="10800" marB="10800" anchor="ctr">
                    <a:solidFill>
                      <a:srgbClr val="EFEFEF"/>
                    </a:solidFill>
                  </a:tcPr>
                </a:tc>
                <a:tc>
                  <a:txBody>
                    <a:bodyPr/>
                    <a:lstStyle/>
                    <a:p>
                      <a:pPr algn="ctr">
                        <a:defRPr sz="1000">
                          <a:solidFill>
                            <a:srgbClr val="000000"/>
                          </a:solidFill>
                          <a:latin typeface="Montserrat"/>
                        </a:defRPr>
                      </a:pPr>
                      <a:r>
                        <a:t>8</a:t>
                      </a:r>
                    </a:p>
                  </a:txBody>
                  <a:tcPr marL="10800" marR="10800" marT="10800" marB="10800" anchor="ctr">
                    <a:solidFill>
                      <a:srgbClr val="EFEFEF"/>
                    </a:solidFill>
                  </a:tcPr>
                </a:tc>
                <a:tc>
                  <a:txBody>
                    <a:bodyPr/>
                    <a:lstStyle/>
                    <a:p>
                      <a:pPr algn="ctr">
                        <a:defRPr sz="1000">
                          <a:solidFill>
                            <a:srgbClr val="000000"/>
                          </a:solidFill>
                          <a:latin typeface="Montserrat"/>
                        </a:defRPr>
                      </a:pPr>
                      <a:r>
                        <a:t>56</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31</a:t>
                      </a:r>
                    </a:p>
                  </a:txBody>
                  <a:tcPr marL="10800" marR="10800" marT="10800" marB="10800" anchor="ctr">
                    <a:solidFill>
                      <a:srgbClr val="D3E9E7"/>
                    </a:solidFill>
                  </a:tcPr>
                </a:tc>
                <a:tc>
                  <a:txBody>
                    <a:bodyPr/>
                    <a:lstStyle/>
                    <a:p>
                      <a:pPr algn="ctr">
                        <a:defRPr sz="1000" b="1">
                          <a:solidFill>
                            <a:srgbClr val="006556"/>
                          </a:solidFill>
                          <a:latin typeface="Montserrat"/>
                        </a:defRPr>
                      </a:pPr>
                      <a:r>
                        <a:t>37</a:t>
                      </a:r>
                    </a:p>
                  </a:txBody>
                  <a:tcPr marL="10800" marR="10800" marT="10800" marB="10800" anchor="ctr">
                    <a:solidFill>
                      <a:srgbClr val="D3E9E7"/>
                    </a:solidFill>
                  </a:tcPr>
                </a:tc>
                <a:tc>
                  <a:txBody>
                    <a:bodyPr/>
                    <a:lstStyle/>
                    <a:p>
                      <a:pPr algn="ctr">
                        <a:defRPr sz="1000" b="1">
                          <a:solidFill>
                            <a:srgbClr val="006556"/>
                          </a:solidFill>
                          <a:latin typeface="Montserrat"/>
                        </a:defRPr>
                      </a:pPr>
                      <a:r>
                        <a:t>56</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67657">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67657">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67657">
                <a:tc>
                  <a:txBody>
                    <a:bodyPr/>
                    <a:lstStyle/>
                    <a:p>
                      <a:pPr algn="ctr">
                        <a:defRPr sz="1000">
                          <a:solidFill>
                            <a:srgbClr val="000000"/>
                          </a:solidFill>
                          <a:latin typeface="Montserrat"/>
                        </a:defRPr>
                      </a:pPr>
                      <a:r>
                        <a:t>HR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67657">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10</a:t>
                      </a:r>
                    </a:p>
                  </a:txBody>
                  <a:tcPr>
                    <a:solidFill>
                      <a:srgbClr val="EFEFEF"/>
                    </a:solidFill>
                  </a:tcPr>
                </a:tc>
              </a:tr>
              <a:tr h="167657">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67657">
                <a:tc>
                  <a:txBody>
                    <a:bodyPr/>
                    <a:lstStyle/>
                    <a:p>
                      <a:pPr algn="ctr">
                        <a:defRPr sz="1000">
                          <a:solidFill>
                            <a:srgbClr val="000000"/>
                          </a:solidFill>
                          <a:latin typeface="Montserrat"/>
                        </a:defRPr>
                      </a:pPr>
                      <a:r>
                        <a:t>HGO</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167658">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20</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81 UMF, 1 UMFH, 3 UMF-UMAA y no incluye 20 Unidades Auxiliares de Medicina Familiar.</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170;g3d0b4d3c5c9_0_28">
            <a:extLst>
              <a:ext uri="{FF2B5EF4-FFF2-40B4-BE49-F238E27FC236}">
                <a16:creationId xmlns:a16="http://schemas.microsoft.com/office/drawing/2014/main" id="{741BCDF9-9B3B-C012-20BC-D6BE8EB94720}"/>
              </a:ext>
            </a:extLst>
          </p:cNvPr>
          <p:cNvGraphicFramePr/>
          <p:nvPr>
            <p:extLst>
              <p:ext uri="{D42A27DB-BD31-4B8C-83A1-F6EECF244321}">
                <p14:modId xmlns:p14="http://schemas.microsoft.com/office/powerpoint/2010/main" val="3048361998"/>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Clínica‑hospital de atención directa, Estado de México</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171;g3d0b4d3c5c9_0_28">
            <a:extLst>
              <a:ext uri="{FF2B5EF4-FFF2-40B4-BE49-F238E27FC236}">
                <a16:creationId xmlns:a16="http://schemas.microsoft.com/office/drawing/2014/main" id="{3965F5C1-B3F7-C607-8820-60A6F58686A2}"/>
              </a:ext>
            </a:extLst>
          </p:cNvPr>
          <p:cNvPicPr preferRelativeResize="0"/>
          <p:nvPr/>
        </p:nvPicPr>
        <p:blipFill>
          <a:blip r:embed="rId4">
            <a:alphaModFix/>
          </a:blip>
          <a:stretch>
            <a:fillRect/>
          </a:stretch>
        </p:blipFill>
        <p:spPr>
          <a:xfrm>
            <a:off x="209738" y="2142706"/>
            <a:ext cx="3385901" cy="2809751"/>
          </a:xfrm>
          <a:prstGeom prst="rect">
            <a:avLst/>
          </a:prstGeom>
          <a:noFill/>
          <a:ln>
            <a:noFill/>
          </a:ln>
        </p:spPr>
      </p:pic>
      <p:sp>
        <p:nvSpPr>
          <p:cNvPr id="7" name="CuadroTexto 6">
            <a:extLst>
              <a:ext uri="{FF2B5EF4-FFF2-40B4-BE49-F238E27FC236}">
                <a16:creationId xmlns:a16="http://schemas.microsoft.com/office/drawing/2014/main" id="{6735AC94-50CB-7F28-350C-2F1DE2B64BFE}"/>
              </a:ext>
            </a:extLst>
          </p:cNvPr>
          <p:cNvSpPr txBox="1"/>
          <p:nvPr/>
        </p:nvSpPr>
        <p:spPr>
          <a:xfrm>
            <a:off x="3742680" y="1956313"/>
            <a:ext cx="3889512" cy="3329116"/>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en 1945. En su etapa inicial, las consultas se otorgaban principalmente como consulta externa, enfocadas en medicina general, atención preventiva y curativa básica.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el Estado de México fue el desarrollo de una clínica‑hospital de atención que </a:t>
            </a:r>
            <a:r>
              <a:rPr lang="es-ES" sz="1200" b="0" i="0" u="none" strike="noStrike">
                <a:solidFill>
                  <a:srgbClr val="000000"/>
                </a:solidFill>
                <a:effectLst/>
                <a:latin typeface="Montserrat" panose="00000500000000000000" pitchFamily="2" charset="0"/>
              </a:rPr>
              <a:t>inició operaciona</a:t>
            </a:r>
            <a:r>
              <a:rPr lang="es-ES" sz="1200">
                <a:latin typeface="Montserrat" panose="00000500000000000000" pitchFamily="2" charset="0"/>
              </a:rPr>
              <a:t>l</a:t>
            </a:r>
            <a:r>
              <a:rPr lang="es-ES" sz="1200" b="0" i="0" u="none" strike="noStrike">
                <a:solidFill>
                  <a:srgbClr val="000000"/>
                </a:solidFill>
                <a:effectLst/>
                <a:latin typeface="Montserrat" panose="00000500000000000000" pitchFamily="2" charset="0"/>
              </a:rPr>
              <a:t>es </a:t>
            </a:r>
            <a:r>
              <a:rPr lang="es-ES" sz="1200" b="0" i="0" u="none" strike="noStrike" dirty="0">
                <a:solidFill>
                  <a:srgbClr val="000000"/>
                </a:solidFill>
                <a:effectLst/>
                <a:latin typeface="Montserrat" panose="00000500000000000000" pitchFamily="2" charset="0"/>
              </a:rPr>
              <a:t>el 20 de agosto de 1960.</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el Estado de México contó con capacidad instalada acorde a un hospital general de la época, y comenzó ofreciendo servicios de consulta externa, hospitalización general, urgencias, cirugía básica, medicina interna, gineco‑obstetricia y pediatría.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edomex_15.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HGOMF 60 Tlanepantla</a:t>
                      </a:r>
                    </a:p>
                  </a:txBody>
                  <a:tcPr anchor="ctr">
                    <a:solidFill>
                      <a:srgbClr val="FFFFFF"/>
                    </a:solidFill>
                  </a:tcPr>
                </a:tc>
                <a:tc>
                  <a:txBody>
                    <a:bodyPr/>
                    <a:lstStyle/>
                    <a:p>
                      <a:pPr algn="ctr">
                        <a:defRPr sz="900">
                          <a:latin typeface="Montserrat"/>
                        </a:defRPr>
                      </a:pPr>
                      <a:r>
                        <a:t>Julio de 1948</a:t>
                      </a:r>
                    </a:p>
                  </a:txBody>
                  <a:tcPr anchor="ctr">
                    <a:solidFill>
                      <a:srgbClr val="FFFFFF"/>
                    </a:solidFill>
                  </a:tcPr>
                </a:tc>
                <a:tc>
                  <a:txBody>
                    <a:bodyPr/>
                    <a:lstStyle/>
                    <a:p>
                      <a:pPr algn="ctr">
                        <a:defRPr sz="900">
                          <a:latin typeface="Montserrat"/>
                        </a:defRPr>
                      </a:pPr>
                      <a:r>
                        <a:t>101</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HGZ 68 Tulpetlac</a:t>
                      </a:r>
                    </a:p>
                  </a:txBody>
                  <a:tcPr anchor="ctr">
                    <a:solidFill>
                      <a:srgbClr val="EFEFEF"/>
                    </a:solidFill>
                  </a:tcPr>
                </a:tc>
                <a:tc>
                  <a:txBody>
                    <a:bodyPr/>
                    <a:lstStyle/>
                    <a:p>
                      <a:pPr algn="ctr">
                        <a:defRPr sz="900">
                          <a:latin typeface="Montserrat"/>
                        </a:defRPr>
                      </a:pPr>
                      <a:r>
                        <a:t>Agosto de 1969</a:t>
                      </a:r>
                    </a:p>
                  </a:txBody>
                  <a:tcPr anchor="ctr">
                    <a:solidFill>
                      <a:srgbClr val="EFEFEF"/>
                    </a:solidFill>
                  </a:tcPr>
                </a:tc>
                <a:tc>
                  <a:txBody>
                    <a:bodyPr/>
                    <a:lstStyle/>
                    <a:p>
                      <a:pPr algn="ctr">
                        <a:defRPr sz="900">
                          <a:latin typeface="Montserrat"/>
                        </a:defRPr>
                      </a:pPr>
                      <a:r>
                        <a:t>161</a:t>
                      </a:r>
                    </a:p>
                  </a:txBody>
                  <a:tcPr anchor="ctr">
                    <a:solidFill>
                      <a:srgbClr val="EFEFEF"/>
                    </a:solidFill>
                  </a:tcPr>
                </a:tc>
                <a:tc>
                  <a:txBody>
                    <a:bodyPr/>
                    <a:lstStyle/>
                    <a:p>
                      <a:pPr algn="ctr">
                        <a:defRPr sz="900">
                          <a:latin typeface="Montserrat"/>
                        </a:defRPr>
                      </a:pPr>
                      <a:r>
                        <a:t>76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 58 Las Margaritas</a:t>
                      </a:r>
                    </a:p>
                  </a:txBody>
                  <a:tcPr anchor="ctr">
                    <a:solidFill>
                      <a:srgbClr val="FFFFFF"/>
                    </a:solidFill>
                  </a:tcPr>
                </a:tc>
                <a:tc>
                  <a:txBody>
                    <a:bodyPr/>
                    <a:lstStyle/>
                    <a:p>
                      <a:pPr algn="ctr">
                        <a:defRPr sz="900">
                          <a:latin typeface="Montserrat"/>
                        </a:defRPr>
                      </a:pPr>
                      <a:r>
                        <a:t>Mayo de 1975</a:t>
                      </a:r>
                    </a:p>
                  </a:txBody>
                  <a:tcPr anchor="ctr">
                    <a:solidFill>
                      <a:srgbClr val="FFFFFF"/>
                    </a:solidFill>
                  </a:tcPr>
                </a:tc>
                <a:tc>
                  <a:txBody>
                    <a:bodyPr/>
                    <a:lstStyle/>
                    <a:p>
                      <a:pPr algn="ctr">
                        <a:defRPr sz="900">
                          <a:latin typeface="Montserrat"/>
                        </a:defRPr>
                      </a:pPr>
                      <a:r>
                        <a:t>136</a:t>
                      </a:r>
                    </a:p>
                  </a:txBody>
                  <a:tcPr anchor="ctr">
                    <a:solidFill>
                      <a:srgbClr val="FFFFFF"/>
                    </a:solidFill>
                  </a:tcPr>
                </a:tc>
                <a:tc>
                  <a:txBody>
                    <a:bodyPr/>
                    <a:lstStyle/>
                    <a:p>
                      <a:pPr algn="ctr">
                        <a:defRPr sz="900">
                          <a:latin typeface="Montserrat"/>
                        </a:defRPr>
                      </a:pPr>
                      <a:r>
                        <a:t>60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23</a:t>
                      </a:r>
                    </a:p>
                  </a:txBody>
                  <a:tcPr anchor="ctr">
                    <a:solidFill>
                      <a:srgbClr val="FFFFFF"/>
                    </a:solidFill>
                  </a:tcPr>
                </a:tc>
              </a:tr>
              <a:tr h="230400">
                <a:tc>
                  <a:txBody>
                    <a:bodyPr/>
                    <a:lstStyle/>
                    <a:p>
                      <a:pPr algn="l">
                        <a:defRPr sz="900">
                          <a:latin typeface="Montserrat"/>
                        </a:defRPr>
                      </a:pPr>
                      <a:r>
                        <a:t>HGR 220 Toluca</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348</a:t>
                      </a:r>
                    </a:p>
                  </a:txBody>
                  <a:tcPr anchor="ctr">
                    <a:solidFill>
                      <a:srgbClr val="EFEFEF"/>
                    </a:solidFill>
                  </a:tcPr>
                </a:tc>
                <a:tc>
                  <a:txBody>
                    <a:bodyPr/>
                    <a:lstStyle/>
                    <a:p>
                      <a:pPr algn="ctr">
                        <a:defRPr sz="900">
                          <a:latin typeface="Montserrat"/>
                        </a:defRPr>
                      </a:pPr>
                      <a:r>
                        <a:t>83</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38</a:t>
                      </a:r>
                    </a:p>
                  </a:txBody>
                  <a:tcPr anchor="ctr">
                    <a:solidFill>
                      <a:srgbClr val="EFEFEF"/>
                    </a:solidFill>
                  </a:tcPr>
                </a:tc>
              </a:tr>
              <a:tr h="230400">
                <a:tc>
                  <a:txBody>
                    <a:bodyPr/>
                    <a:lstStyle/>
                    <a:p>
                      <a:pPr algn="l">
                        <a:defRPr sz="900">
                          <a:latin typeface="Montserrat"/>
                        </a:defRPr>
                      </a:pPr>
                      <a:r>
                        <a:t>HGZMF 76 Xalostoc</a:t>
                      </a:r>
                    </a:p>
                  </a:txBody>
                  <a:tcPr anchor="ctr">
                    <a:solidFill>
                      <a:srgbClr val="FFFFFF"/>
                    </a:solidFill>
                  </a:tcPr>
                </a:tc>
                <a:tc>
                  <a:txBody>
                    <a:bodyPr/>
                    <a:lstStyle/>
                    <a:p>
                      <a:pPr algn="ctr">
                        <a:defRPr sz="900">
                          <a:latin typeface="Montserrat"/>
                        </a:defRPr>
                      </a:pPr>
                      <a:r>
                        <a:t>Junio de 1976</a:t>
                      </a:r>
                    </a:p>
                  </a:txBody>
                  <a:tcPr anchor="ctr">
                    <a:solidFill>
                      <a:srgbClr val="FFFFFF"/>
                    </a:solidFill>
                  </a:tcPr>
                </a:tc>
                <a:tc>
                  <a:txBody>
                    <a:bodyPr/>
                    <a:lstStyle/>
                    <a:p>
                      <a:pPr algn="ctr">
                        <a:defRPr sz="900">
                          <a:latin typeface="Montserrat"/>
                        </a:defRPr>
                      </a:pPr>
                      <a:r>
                        <a:t>165</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30</a:t>
                      </a:r>
                    </a:p>
                  </a:txBody>
                  <a:tcPr anchor="ctr">
                    <a:solidFill>
                      <a:srgbClr val="FFFFFF"/>
                    </a:solidFill>
                  </a:tcPr>
                </a:tc>
              </a:tr>
              <a:tr h="230400">
                <a:tc>
                  <a:txBody>
                    <a:bodyPr/>
                    <a:lstStyle/>
                    <a:p>
                      <a:pPr algn="l">
                        <a:defRPr sz="900">
                          <a:latin typeface="Montserrat"/>
                        </a:defRPr>
                      </a:pPr>
                      <a:r>
                        <a:t>HGZ 57 La Quebrada</a:t>
                      </a:r>
                    </a:p>
                  </a:txBody>
                  <a:tcPr anchor="ctr">
                    <a:solidFill>
                      <a:srgbClr val="EFEFEF"/>
                    </a:solidFill>
                  </a:tcPr>
                </a:tc>
                <a:tc>
                  <a:txBody>
                    <a:bodyPr/>
                    <a:lstStyle/>
                    <a:p>
                      <a:pPr algn="ctr">
                        <a:defRPr sz="900">
                          <a:latin typeface="Montserrat"/>
                        </a:defRPr>
                      </a:pPr>
                      <a:r>
                        <a:t>Diciembre de 1978</a:t>
                      </a:r>
                    </a:p>
                  </a:txBody>
                  <a:tcPr anchor="ctr">
                    <a:solidFill>
                      <a:srgbClr val="EFEFEF"/>
                    </a:solidFill>
                  </a:tcPr>
                </a:tc>
                <a:tc>
                  <a:txBody>
                    <a:bodyPr/>
                    <a:lstStyle/>
                    <a:p>
                      <a:pPr algn="ctr">
                        <a:defRPr sz="900">
                          <a:latin typeface="Montserrat"/>
                        </a:defRPr>
                      </a:pPr>
                      <a:r>
                        <a:t>176</a:t>
                      </a:r>
                    </a:p>
                  </a:txBody>
                  <a:tcPr anchor="ctr">
                    <a:solidFill>
                      <a:srgbClr val="EFEFEF"/>
                    </a:solidFill>
                  </a:tcPr>
                </a:tc>
                <a:tc>
                  <a:txBody>
                    <a:bodyPr/>
                    <a:lstStyle/>
                    <a:p>
                      <a:pPr algn="ctr">
                        <a:defRPr sz="900">
                          <a:latin typeface="Montserrat"/>
                        </a:defRPr>
                      </a:pPr>
                      <a:r>
                        <a:t>43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a:txBody>
                    <a:bodyPr/>
                    <a:lstStyle/>
                    <a:p>
                      <a:pPr algn="l">
                        <a:defRPr sz="900">
                          <a:latin typeface="Montserrat"/>
                        </a:defRPr>
                      </a:pPr>
                      <a:r>
                        <a:t>HGO 221 Toluca</a:t>
                      </a:r>
                    </a:p>
                  </a:txBody>
                  <a:tcPr anchor="ctr">
                    <a:solidFill>
                      <a:srgbClr val="FFFFFF"/>
                    </a:solidFill>
                  </a:tcPr>
                </a:tc>
                <a:tc>
                  <a:txBody>
                    <a:bodyPr/>
                    <a:lstStyle/>
                    <a:p>
                      <a:pPr algn="ctr">
                        <a:defRPr sz="900">
                          <a:latin typeface="Montserrat"/>
                        </a:defRPr>
                      </a:pPr>
                      <a:r>
                        <a:t>Noviembre de 1985</a:t>
                      </a:r>
                    </a:p>
                  </a:txBody>
                  <a:tcPr anchor="ctr">
                    <a:solidFill>
                      <a:srgbClr val="FFFFFF"/>
                    </a:solidFill>
                  </a:tcPr>
                </a:tc>
                <a:tc>
                  <a:txBody>
                    <a:bodyPr/>
                    <a:lstStyle/>
                    <a:p>
                      <a:pPr algn="ctr">
                        <a:defRPr sz="900">
                          <a:latin typeface="Montserrat"/>
                        </a:defRPr>
                      </a:pPr>
                      <a:r>
                        <a:t>139</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HGZ 53 Los Reyes Paz</a:t>
                      </a:r>
                    </a:p>
                  </a:txBody>
                  <a:tcPr anchor="ctr">
                    <a:solidFill>
                      <a:srgbClr val="EFEFEF"/>
                    </a:solidFill>
                  </a:tcPr>
                </a:tc>
                <a:tc>
                  <a:txBody>
                    <a:bodyPr/>
                    <a:lstStyle/>
                    <a:p>
                      <a:pPr algn="ctr">
                        <a:defRPr sz="900">
                          <a:latin typeface="Montserrat"/>
                        </a:defRPr>
                      </a:pPr>
                      <a:r>
                        <a:t>Febrero de 1987</a:t>
                      </a:r>
                    </a:p>
                  </a:txBody>
                  <a:tcPr anchor="ctr">
                    <a:solidFill>
                      <a:srgbClr val="EFEFEF"/>
                    </a:solidFill>
                  </a:tcPr>
                </a:tc>
                <a:tc>
                  <a:txBody>
                    <a:bodyPr/>
                    <a:lstStyle/>
                    <a:p>
                      <a:pPr algn="ctr">
                        <a:defRPr sz="900">
                          <a:latin typeface="Montserrat"/>
                        </a:defRPr>
                      </a:pPr>
                      <a:r>
                        <a:t>186</a:t>
                      </a:r>
                    </a:p>
                  </a:txBody>
                  <a:tcPr anchor="ctr">
                    <a:solidFill>
                      <a:srgbClr val="EFEFEF"/>
                    </a:solidFill>
                  </a:tcPr>
                </a:tc>
                <a:tc>
                  <a:txBody>
                    <a:bodyPr/>
                    <a:lstStyle/>
                    <a:p>
                      <a:pPr algn="ctr">
                        <a:defRPr sz="900">
                          <a:latin typeface="Montserrat"/>
                        </a:defRPr>
                      </a:pPr>
                      <a:r>
                        <a:t>76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25</a:t>
                      </a:r>
                    </a:p>
                  </a:txBody>
                  <a:tcPr anchor="ctr">
                    <a:solidFill>
                      <a:srgbClr val="EFEFEF"/>
                    </a:solidFill>
                  </a:tcPr>
                </a:tc>
              </a:tr>
              <a:tr h="230400">
                <a:tc>
                  <a:txBody>
                    <a:bodyPr/>
                    <a:lstStyle/>
                    <a:p>
                      <a:pPr algn="l">
                        <a:defRPr sz="900">
                          <a:latin typeface="Montserrat"/>
                        </a:defRPr>
                      </a:pPr>
                      <a:r>
                        <a:t>HGZ 98 Coacalco</a:t>
                      </a:r>
                    </a:p>
                  </a:txBody>
                  <a:tcPr anchor="ctr">
                    <a:solidFill>
                      <a:srgbClr val="FFFFFF"/>
                    </a:solidFill>
                  </a:tcPr>
                </a:tc>
                <a:tc>
                  <a:txBody>
                    <a:bodyPr/>
                    <a:lstStyle/>
                    <a:p>
                      <a:pPr algn="ctr">
                        <a:defRPr sz="900">
                          <a:latin typeface="Montserrat"/>
                        </a:defRPr>
                      </a:pPr>
                      <a:r>
                        <a:t>Abril de 1987</a:t>
                      </a:r>
                    </a:p>
                  </a:txBody>
                  <a:tcPr anchor="ctr">
                    <a:solidFill>
                      <a:srgbClr val="FFFFFF"/>
                    </a:solidFill>
                  </a:tcPr>
                </a:tc>
                <a:tc>
                  <a:txBody>
                    <a:bodyPr/>
                    <a:lstStyle/>
                    <a:p>
                      <a:pPr algn="ctr">
                        <a:defRPr sz="900">
                          <a:latin typeface="Montserrat"/>
                        </a:defRPr>
                      </a:pPr>
                      <a:r>
                        <a:t>169</a:t>
                      </a:r>
                    </a:p>
                  </a:txBody>
                  <a:tcPr anchor="ctr">
                    <a:solidFill>
                      <a:srgbClr val="FFFFFF"/>
                    </a:solidFill>
                  </a:tcPr>
                </a:tc>
                <a:tc>
                  <a:txBody>
                    <a:bodyPr/>
                    <a:lstStyle/>
                    <a:p>
                      <a:pPr algn="ctr">
                        <a:defRPr sz="900">
                          <a:latin typeface="Montserrat"/>
                        </a:defRPr>
                      </a:pPr>
                      <a:r>
                        <a:t>59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25</a:t>
                      </a:r>
                    </a:p>
                  </a:txBody>
                  <a:tcPr anchor="ctr">
                    <a:solidFill>
                      <a:srgbClr val="FFFFFF"/>
                    </a:solidFill>
                  </a:tcPr>
                </a:tc>
              </a:tr>
              <a:tr h="230400">
                <a:tc>
                  <a:txBody>
                    <a:bodyPr/>
                    <a:lstStyle/>
                    <a:p>
                      <a:pPr algn="l">
                        <a:defRPr sz="900">
                          <a:latin typeface="Montserrat"/>
                        </a:defRPr>
                      </a:pPr>
                      <a:r>
                        <a:t>HGR 72 Gustavo Baz</a:t>
                      </a:r>
                    </a:p>
                  </a:txBody>
                  <a:tcPr anchor="ctr">
                    <a:solidFill>
                      <a:srgbClr val="EFEFEF"/>
                    </a:solidFill>
                  </a:tcPr>
                </a:tc>
                <a:tc>
                  <a:txBody>
                    <a:bodyPr/>
                    <a:lstStyle/>
                    <a:p>
                      <a:pPr algn="ctr">
                        <a:defRPr sz="900">
                          <a:latin typeface="Montserrat"/>
                        </a:defRPr>
                      </a:pPr>
                      <a:r>
                        <a:t>Noviembre de 1988</a:t>
                      </a:r>
                    </a:p>
                  </a:txBody>
                  <a:tcPr anchor="ctr">
                    <a:solidFill>
                      <a:srgbClr val="EFEFEF"/>
                    </a:solidFill>
                  </a:tcPr>
                </a:tc>
                <a:tc>
                  <a:txBody>
                    <a:bodyPr/>
                    <a:lstStyle/>
                    <a:p>
                      <a:pPr algn="ctr">
                        <a:defRPr sz="900">
                          <a:latin typeface="Montserrat"/>
                        </a:defRPr>
                      </a:pPr>
                      <a:r>
                        <a:t>342</a:t>
                      </a:r>
                    </a:p>
                  </a:txBody>
                  <a:tcPr anchor="ctr">
                    <a:solidFill>
                      <a:srgbClr val="EFEFEF"/>
                    </a:solidFill>
                  </a:tcPr>
                </a:tc>
                <a:tc>
                  <a:txBody>
                    <a:bodyPr/>
                    <a:lstStyle/>
                    <a:p>
                      <a:pPr algn="ctr">
                        <a:defRPr sz="900">
                          <a:latin typeface="Montserrat"/>
                        </a:defRPr>
                      </a:pPr>
                      <a:r>
                        <a:t>134</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47</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FAECA191-944A-0FDE-DBEA-FFCC3C6138D0}"/>
              </a:ext>
            </a:extLst>
          </p:cNvPr>
          <p:cNvGrpSpPr/>
          <p:nvPr/>
        </p:nvGrpSpPr>
        <p:grpSpPr>
          <a:xfrm>
            <a:off x="0" y="5130697"/>
            <a:ext cx="7947618" cy="3674862"/>
            <a:chOff x="0" y="5130697"/>
            <a:chExt cx="7947618" cy="3674862"/>
          </a:xfrm>
        </p:grpSpPr>
        <p:sp>
          <p:nvSpPr>
            <p:cNvPr id="3" name="Google Shape;187;g3d62d805bc0_1_198">
              <a:extLst>
                <a:ext uri="{FF2B5EF4-FFF2-40B4-BE49-F238E27FC236}">
                  <a16:creationId xmlns:a16="http://schemas.microsoft.com/office/drawing/2014/main" id="{4F60AF3E-1876-B7D6-F04F-99D850FB305D}"/>
                </a:ext>
              </a:extLst>
            </p:cNvPr>
            <p:cNvSpPr txBox="1"/>
            <p:nvPr/>
          </p:nvSpPr>
          <p:spPr>
            <a:xfrm>
              <a:off x="0" y="5130697"/>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b="1" dirty="0">
                  <a:solidFill>
                    <a:srgbClr val="006858"/>
                  </a:solidFill>
                  <a:latin typeface="Montserrat"/>
                  <a:ea typeface="Montserrat"/>
                  <a:cs typeface="Montserrat"/>
                  <a:sym typeface="Montserrat"/>
                </a:rPr>
                <a:t>Fortalecimiento de equipo médico</a:t>
              </a:r>
              <a:endParaRPr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b="1" i="0" u="none" strike="noStrike" cap="none" dirty="0">
                  <a:solidFill>
                    <a:srgbClr val="006858"/>
                  </a:solidFill>
                  <a:latin typeface="Montserrat"/>
                  <a:ea typeface="Montserrat"/>
                  <a:cs typeface="Montserrat"/>
                  <a:sym typeface="Montserrat"/>
                </a:rPr>
                <a:t>Compra 2025-2026 equipo mayor  (</a:t>
              </a:r>
              <a:r>
                <a:rPr lang="es" b="1" dirty="0">
                  <a:solidFill>
                    <a:srgbClr val="006858"/>
                  </a:solidFill>
                  <a:latin typeface="Montserrat"/>
                  <a:ea typeface="Montserrat"/>
                  <a:cs typeface="Montserrat"/>
                  <a:sym typeface="Montserrat"/>
                </a:rPr>
                <a:t>Instalación</a:t>
              </a:r>
              <a:r>
                <a:rPr lang="es" b="1" i="0" u="none" strike="noStrike" cap="none" dirty="0">
                  <a:solidFill>
                    <a:srgbClr val="006858"/>
                  </a:solidFill>
                  <a:latin typeface="Montserrat"/>
                  <a:ea typeface="Montserrat"/>
                  <a:cs typeface="Montserrat"/>
                  <a:sym typeface="Montserrat"/>
                </a:rPr>
                <a:t> abr</a:t>
              </a:r>
              <a:r>
                <a:rPr lang="es" b="1" dirty="0">
                  <a:solidFill>
                    <a:srgbClr val="006858"/>
                  </a:solidFill>
                  <a:latin typeface="Montserrat"/>
                  <a:ea typeface="Montserrat"/>
                  <a:cs typeface="Montserrat"/>
                  <a:sym typeface="Montserrat"/>
                </a:rPr>
                <a:t>il-</a:t>
              </a:r>
              <a:r>
                <a:rPr lang="es" b="1" i="0" u="none" strike="noStrike" cap="none" dirty="0">
                  <a:solidFill>
                    <a:srgbClr val="006858"/>
                  </a:solidFill>
                  <a:latin typeface="Montserrat"/>
                  <a:ea typeface="Montserrat"/>
                  <a:cs typeface="Montserrat"/>
                  <a:sym typeface="Montserrat"/>
                </a:rPr>
                <a:t>mayo)</a:t>
              </a:r>
              <a:endParaRPr sz="2000" b="1" i="0" u="none" strike="noStrike" cap="none" dirty="0">
                <a:solidFill>
                  <a:srgbClr val="006858"/>
                </a:solidFill>
                <a:latin typeface="Montserrat"/>
                <a:ea typeface="Montserrat"/>
                <a:cs typeface="Montserrat"/>
                <a:sym typeface="Montserrat"/>
              </a:endParaRPr>
            </a:p>
          </p:txBody>
        </p:sp>
        <p:sp>
          <p:nvSpPr>
            <p:cNvPr id="16" name="Google Shape;201;g3d62d805bc0_1_198">
              <a:extLst>
                <a:ext uri="{FF2B5EF4-FFF2-40B4-BE49-F238E27FC236}">
                  <a16:creationId xmlns:a16="http://schemas.microsoft.com/office/drawing/2014/main" id="{A4BAE97D-45B4-EBF3-3DB3-14EB1F7D01A2}"/>
                </a:ext>
              </a:extLst>
            </p:cNvPr>
            <p:cNvSpPr/>
            <p:nvPr/>
          </p:nvSpPr>
          <p:spPr>
            <a:xfrm>
              <a:off x="278969" y="7053011"/>
              <a:ext cx="420174" cy="361913"/>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3</a:t>
              </a:r>
              <a:endParaRPr sz="1400" b="0" i="0" u="none" strike="noStrike" cap="none">
                <a:solidFill>
                  <a:srgbClr val="FFFFFF"/>
                </a:solidFill>
                <a:latin typeface="Noto Sans Black"/>
                <a:ea typeface="Noto Sans Black"/>
                <a:cs typeface="Noto Sans Black"/>
                <a:sym typeface="Noto Sans Black"/>
              </a:endParaRPr>
            </a:p>
          </p:txBody>
        </p:sp>
        <p:sp>
          <p:nvSpPr>
            <p:cNvPr id="17" name="Google Shape;202;g3d62d805bc0_1_198">
              <a:extLst>
                <a:ext uri="{FF2B5EF4-FFF2-40B4-BE49-F238E27FC236}">
                  <a16:creationId xmlns:a16="http://schemas.microsoft.com/office/drawing/2014/main" id="{CB7B6156-EE1D-943E-4952-DC5ABB5E7BFE}"/>
                </a:ext>
              </a:extLst>
            </p:cNvPr>
            <p:cNvSpPr/>
            <p:nvPr/>
          </p:nvSpPr>
          <p:spPr>
            <a:xfrm>
              <a:off x="699145" y="7053018"/>
              <a:ext cx="1608262" cy="361913"/>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dirty="0">
                  <a:solidFill>
                    <a:srgbClr val="FFFFFF"/>
                  </a:solidFill>
                  <a:latin typeface="Montserrat"/>
                  <a:ea typeface="Montserrat"/>
                  <a:cs typeface="Montserrat"/>
                  <a:sym typeface="Montserrat"/>
                </a:rPr>
                <a:t>Mastógrafos</a:t>
              </a:r>
              <a:endParaRPr sz="1100" b="0" i="0" u="none" strike="noStrike" cap="none" dirty="0">
                <a:solidFill>
                  <a:srgbClr val="FFFFFF"/>
                </a:solidFill>
                <a:latin typeface="Arial"/>
                <a:ea typeface="Arial"/>
                <a:cs typeface="Arial"/>
                <a:sym typeface="Arial"/>
              </a:endParaRPr>
            </a:p>
          </p:txBody>
        </p:sp>
        <p:sp>
          <p:nvSpPr>
            <p:cNvPr id="18" name="Google Shape;203;g3d62d805bc0_1_198">
              <a:extLst>
                <a:ext uri="{FF2B5EF4-FFF2-40B4-BE49-F238E27FC236}">
                  <a16:creationId xmlns:a16="http://schemas.microsoft.com/office/drawing/2014/main" id="{C9C2D92B-4C45-753C-CA94-C773F99DD879}"/>
                </a:ext>
              </a:extLst>
            </p:cNvPr>
            <p:cNvSpPr txBox="1"/>
            <p:nvPr/>
          </p:nvSpPr>
          <p:spPr>
            <a:xfrm>
              <a:off x="258421" y="7366892"/>
              <a:ext cx="2487842" cy="522922"/>
            </a:xfrm>
            <a:prstGeom prst="rect">
              <a:avLst/>
            </a:prstGeom>
            <a:noFill/>
            <a:ln>
              <a:noFill/>
            </a:ln>
          </p:spPr>
          <p:txBody>
            <a:bodyPr spcFirstLastPara="1" wrap="square" lIns="91425" tIns="91425" rIns="91425" bIns="91425" anchor="t" anchorCtr="0">
              <a:noAutofit/>
            </a:bodyPr>
            <a:lstStyle/>
            <a:p>
              <a:pPr marL="0" lvl="0" indent="0" rtl="0">
                <a:lnSpc>
                  <a:spcPct val="115000"/>
                </a:lnSpc>
                <a:spcBef>
                  <a:spcPts val="0"/>
                </a:spcBef>
                <a:spcAft>
                  <a:spcPts val="0"/>
                </a:spcAft>
                <a:buClr>
                  <a:schemeClr val="dk1"/>
                </a:buClr>
                <a:buSzPts val="1100"/>
                <a:buFont typeface="Arial"/>
                <a:buNone/>
              </a:pPr>
              <a:r>
                <a:rPr lang="es" sz="1300" dirty="0">
                  <a:solidFill>
                    <a:srgbClr val="595959"/>
                  </a:solidFill>
                  <a:latin typeface="Montserrat"/>
                  <a:ea typeface="Montserrat"/>
                  <a:cs typeface="Montserrat"/>
                  <a:sym typeface="Montserrat"/>
                </a:rPr>
                <a:t>HGR 196 Fidel Velázquez </a:t>
              </a:r>
              <a:br>
                <a:rPr lang="es" sz="1300" dirty="0">
                  <a:solidFill>
                    <a:srgbClr val="595959"/>
                  </a:solidFill>
                  <a:latin typeface="Montserrat"/>
                  <a:ea typeface="Montserrat"/>
                  <a:cs typeface="Montserrat"/>
                  <a:sym typeface="Montserrat"/>
                </a:rPr>
              </a:br>
              <a:r>
                <a:rPr lang="es" sz="1300" dirty="0">
                  <a:solidFill>
                    <a:srgbClr val="595959"/>
                  </a:solidFill>
                  <a:latin typeface="Montserrat"/>
                  <a:ea typeface="Montserrat"/>
                  <a:cs typeface="Montserrat"/>
                  <a:sym typeface="Montserrat"/>
                </a:rPr>
                <a:t>HGZ 98 Coacalco </a:t>
              </a:r>
              <a:endParaRPr sz="1300" dirty="0">
                <a:solidFill>
                  <a:srgbClr val="595959"/>
                </a:solidFill>
                <a:latin typeface="Montserrat"/>
                <a:ea typeface="Montserrat"/>
                <a:cs typeface="Montserrat"/>
                <a:sym typeface="Montserrat"/>
              </a:endParaRPr>
            </a:p>
            <a:p>
              <a:pPr marL="0" lvl="0" indent="0" rtl="0">
                <a:lnSpc>
                  <a:spcPct val="115000"/>
                </a:lnSpc>
                <a:spcBef>
                  <a:spcPts val="0"/>
                </a:spcBef>
                <a:spcAft>
                  <a:spcPts val="0"/>
                </a:spcAft>
                <a:buClr>
                  <a:schemeClr val="dk1"/>
                </a:buClr>
                <a:buSzPts val="1100"/>
                <a:buFont typeface="Arial"/>
                <a:buNone/>
              </a:pPr>
              <a:r>
                <a:rPr lang="es" sz="1300" dirty="0">
                  <a:solidFill>
                    <a:srgbClr val="595959"/>
                  </a:solidFill>
                  <a:latin typeface="Montserrat"/>
                  <a:ea typeface="Montserrat"/>
                  <a:cs typeface="Montserrat"/>
                  <a:sym typeface="Montserrat"/>
                </a:rPr>
                <a:t>HGR 251 </a:t>
              </a:r>
              <a:r>
                <a:rPr lang="es" sz="1300" dirty="0">
                  <a:solidFill>
                    <a:srgbClr val="595959"/>
                  </a:solidFill>
                  <a:latin typeface="Montserrat"/>
                  <a:sym typeface="Montserrat"/>
                </a:rPr>
                <a:t>Metepe</a:t>
              </a:r>
              <a:r>
                <a:rPr lang="es" sz="1300" dirty="0">
                  <a:solidFill>
                    <a:srgbClr val="595959"/>
                  </a:solidFill>
                  <a:latin typeface="Montserrat"/>
                  <a:sym typeface="Noto Sans"/>
                </a:rPr>
                <a:t>c</a:t>
              </a:r>
            </a:p>
            <a:p>
              <a:pPr marL="0" lvl="0" indent="0" rtl="0">
                <a:lnSpc>
                  <a:spcPct val="115000"/>
                </a:lnSpc>
                <a:spcBef>
                  <a:spcPts val="0"/>
                </a:spcBef>
                <a:spcAft>
                  <a:spcPts val="0"/>
                </a:spcAft>
                <a:buClr>
                  <a:schemeClr val="dk1"/>
                </a:buClr>
                <a:buSzPts val="1100"/>
                <a:buFont typeface="Arial"/>
                <a:buNone/>
              </a:pPr>
              <a:r>
                <a:rPr lang="es" sz="1300" b="1" dirty="0">
                  <a:solidFill>
                    <a:srgbClr val="595959"/>
                  </a:solidFill>
                  <a:latin typeface="Montserrat"/>
                  <a:sym typeface="Noto Sans"/>
                </a:rPr>
                <a:t>$12.9 mdp</a:t>
              </a:r>
              <a:endParaRPr sz="1300" b="1" dirty="0">
                <a:solidFill>
                  <a:srgbClr val="595959"/>
                </a:solidFill>
                <a:latin typeface="Montserrat"/>
                <a:sym typeface="Noto Sans"/>
              </a:endParaRPr>
            </a:p>
          </p:txBody>
        </p:sp>
        <p:pic>
          <p:nvPicPr>
            <p:cNvPr id="19" name="Google Shape;204;g3d62d805bc0_1_198">
              <a:extLst>
                <a:ext uri="{FF2B5EF4-FFF2-40B4-BE49-F238E27FC236}">
                  <a16:creationId xmlns:a16="http://schemas.microsoft.com/office/drawing/2014/main" id="{451F91CF-93FB-EA3D-9381-7C3B9B2B4093}"/>
                </a:ext>
              </a:extLst>
            </p:cNvPr>
            <p:cNvPicPr preferRelativeResize="0"/>
            <p:nvPr/>
          </p:nvPicPr>
          <p:blipFill rotWithShape="1">
            <a:blip r:embed="rId4">
              <a:alphaModFix/>
            </a:blip>
            <a:srcRect/>
            <a:stretch/>
          </p:blipFill>
          <p:spPr>
            <a:xfrm>
              <a:off x="135267" y="5660076"/>
              <a:ext cx="2204061" cy="1392942"/>
            </a:xfrm>
            <a:prstGeom prst="rect">
              <a:avLst/>
            </a:prstGeom>
            <a:noFill/>
            <a:ln>
              <a:noFill/>
            </a:ln>
          </p:spPr>
        </p:pic>
        <p:sp>
          <p:nvSpPr>
            <p:cNvPr id="20" name="Google Shape;206;g3d62d805bc0_1_198">
              <a:extLst>
                <a:ext uri="{FF2B5EF4-FFF2-40B4-BE49-F238E27FC236}">
                  <a16:creationId xmlns:a16="http://schemas.microsoft.com/office/drawing/2014/main" id="{D252CDEC-9F77-AACC-2354-758852F6A30A}"/>
                </a:ext>
              </a:extLst>
            </p:cNvPr>
            <p:cNvSpPr/>
            <p:nvPr/>
          </p:nvSpPr>
          <p:spPr>
            <a:xfrm>
              <a:off x="5807355" y="7142546"/>
              <a:ext cx="1766730" cy="358779"/>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Tomógrafos</a:t>
              </a:r>
              <a:endParaRPr sz="1100" b="0" i="0" u="none" strike="noStrike" cap="none">
                <a:solidFill>
                  <a:srgbClr val="FFFFFF"/>
                </a:solidFill>
                <a:latin typeface="Arial"/>
                <a:ea typeface="Arial"/>
                <a:cs typeface="Arial"/>
                <a:sym typeface="Arial"/>
              </a:endParaRPr>
            </a:p>
          </p:txBody>
        </p:sp>
        <p:sp>
          <p:nvSpPr>
            <p:cNvPr id="21" name="Google Shape;207;g3d62d805bc0_1_198">
              <a:extLst>
                <a:ext uri="{FF2B5EF4-FFF2-40B4-BE49-F238E27FC236}">
                  <a16:creationId xmlns:a16="http://schemas.microsoft.com/office/drawing/2014/main" id="{62DB79BF-ACF2-9AEC-14CE-71D1A285F9DB}"/>
                </a:ext>
              </a:extLst>
            </p:cNvPr>
            <p:cNvSpPr/>
            <p:nvPr/>
          </p:nvSpPr>
          <p:spPr>
            <a:xfrm>
              <a:off x="5370018" y="7138491"/>
              <a:ext cx="469019" cy="358779"/>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4</a:t>
              </a:r>
              <a:endParaRPr sz="1400" b="0" i="0" u="none" strike="noStrike" cap="none">
                <a:solidFill>
                  <a:srgbClr val="FFFFFF"/>
                </a:solidFill>
                <a:latin typeface="Noto Sans Black"/>
                <a:ea typeface="Noto Sans Black"/>
                <a:cs typeface="Noto Sans Black"/>
                <a:sym typeface="Noto Sans Black"/>
              </a:endParaRPr>
            </a:p>
          </p:txBody>
        </p:sp>
        <p:sp>
          <p:nvSpPr>
            <p:cNvPr id="22" name="Google Shape;208;g3d62d805bc0_1_198">
              <a:extLst>
                <a:ext uri="{FF2B5EF4-FFF2-40B4-BE49-F238E27FC236}">
                  <a16:creationId xmlns:a16="http://schemas.microsoft.com/office/drawing/2014/main" id="{13007340-E7E5-C117-C189-4BEF7E4AC742}"/>
                </a:ext>
              </a:extLst>
            </p:cNvPr>
            <p:cNvSpPr txBox="1"/>
            <p:nvPr/>
          </p:nvSpPr>
          <p:spPr>
            <a:xfrm>
              <a:off x="5370018" y="7493563"/>
              <a:ext cx="2577600" cy="1311996"/>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 68 Tulpetlac</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196 Fidel Velázquez</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220 Toluca</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251 Metepec     </a:t>
              </a:r>
            </a:p>
            <a:p>
              <a:pPr marL="0" marR="50800" lvl="0" indent="0" algn="l" rtl="0">
                <a:lnSpc>
                  <a:spcPct val="111000"/>
                </a:lnSpc>
                <a:spcBef>
                  <a:spcPts val="0"/>
                </a:spcBef>
                <a:spcAft>
                  <a:spcPts val="0"/>
                </a:spcAft>
                <a:buNone/>
              </a:pPr>
              <a:r>
                <a:rPr lang="es" sz="1300" b="1" dirty="0">
                  <a:solidFill>
                    <a:srgbClr val="595959"/>
                  </a:solidFill>
                  <a:latin typeface="Montserrat"/>
                  <a:ea typeface="Noto Sans"/>
                  <a:cs typeface="Noto Sans"/>
                  <a:sym typeface="Montserrat"/>
                </a:rPr>
                <a:t>$118.7 mdp</a:t>
              </a:r>
              <a:endParaRPr b="1" dirty="0">
                <a:solidFill>
                  <a:srgbClr val="434343"/>
                </a:solidFill>
                <a:latin typeface="Noto Sans"/>
                <a:ea typeface="Noto Sans"/>
                <a:cs typeface="Noto Sans"/>
                <a:sym typeface="Noto Sans"/>
              </a:endParaRPr>
            </a:p>
          </p:txBody>
        </p:sp>
        <p:pic>
          <p:nvPicPr>
            <p:cNvPr id="23" name="Google Shape;209;g3d62d805bc0_1_198">
              <a:extLst>
                <a:ext uri="{FF2B5EF4-FFF2-40B4-BE49-F238E27FC236}">
                  <a16:creationId xmlns:a16="http://schemas.microsoft.com/office/drawing/2014/main" id="{75773726-C190-B437-3E6C-E65FD3ECDA64}"/>
                </a:ext>
              </a:extLst>
            </p:cNvPr>
            <p:cNvPicPr preferRelativeResize="0"/>
            <p:nvPr/>
          </p:nvPicPr>
          <p:blipFill>
            <a:blip r:embed="rId5">
              <a:alphaModFix/>
            </a:blip>
            <a:stretch>
              <a:fillRect/>
            </a:stretch>
          </p:blipFill>
          <p:spPr>
            <a:xfrm>
              <a:off x="5370018" y="5662186"/>
              <a:ext cx="2204067" cy="1484067"/>
            </a:xfrm>
            <a:prstGeom prst="rect">
              <a:avLst/>
            </a:prstGeom>
            <a:noFill/>
            <a:ln>
              <a:noFill/>
            </a:ln>
          </p:spPr>
        </p:pic>
        <p:sp>
          <p:nvSpPr>
            <p:cNvPr id="24" name="Google Shape;210;g3d62d805bc0_1_198">
              <a:extLst>
                <a:ext uri="{FF2B5EF4-FFF2-40B4-BE49-F238E27FC236}">
                  <a16:creationId xmlns:a16="http://schemas.microsoft.com/office/drawing/2014/main" id="{BD6CB805-2855-E429-D67E-2F1DF7DD5D3E}"/>
                </a:ext>
              </a:extLst>
            </p:cNvPr>
            <p:cNvSpPr/>
            <p:nvPr/>
          </p:nvSpPr>
          <p:spPr>
            <a:xfrm>
              <a:off x="3153984" y="7150858"/>
              <a:ext cx="1859701" cy="358779"/>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Resonadores magnéticos </a:t>
              </a:r>
              <a:endParaRPr sz="1300" b="1" i="0" u="none" strike="noStrike" cap="none">
                <a:solidFill>
                  <a:srgbClr val="FFFFFF"/>
                </a:solidFill>
                <a:latin typeface="Montserrat"/>
                <a:ea typeface="Montserrat"/>
                <a:cs typeface="Montserrat"/>
                <a:sym typeface="Montserrat"/>
              </a:endParaRPr>
            </a:p>
          </p:txBody>
        </p:sp>
        <p:sp>
          <p:nvSpPr>
            <p:cNvPr id="25" name="Google Shape;211;g3d62d805bc0_1_198">
              <a:extLst>
                <a:ext uri="{FF2B5EF4-FFF2-40B4-BE49-F238E27FC236}">
                  <a16:creationId xmlns:a16="http://schemas.microsoft.com/office/drawing/2014/main" id="{EEC50945-236D-E9D0-9528-BDE7C5C47447}"/>
                </a:ext>
              </a:extLst>
            </p:cNvPr>
            <p:cNvSpPr txBox="1"/>
            <p:nvPr/>
          </p:nvSpPr>
          <p:spPr>
            <a:xfrm>
              <a:off x="2956350" y="7493563"/>
              <a:ext cx="2291100" cy="89252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200 Tecamac</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251 Metepec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$76.4 mdp</a:t>
              </a:r>
              <a:endParaRPr b="1" dirty="0"/>
            </a:p>
          </p:txBody>
        </p:sp>
        <p:pic>
          <p:nvPicPr>
            <p:cNvPr id="26" name="Google Shape;212;g3d62d805bc0_1_198">
              <a:extLst>
                <a:ext uri="{FF2B5EF4-FFF2-40B4-BE49-F238E27FC236}">
                  <a16:creationId xmlns:a16="http://schemas.microsoft.com/office/drawing/2014/main" id="{C0BF6096-DE09-8CA3-38A5-BA0CF2181DC8}"/>
                </a:ext>
              </a:extLst>
            </p:cNvPr>
            <p:cNvPicPr preferRelativeResize="0"/>
            <p:nvPr/>
          </p:nvPicPr>
          <p:blipFill>
            <a:blip r:embed="rId6">
              <a:alphaModFix/>
            </a:blip>
            <a:stretch>
              <a:fillRect/>
            </a:stretch>
          </p:blipFill>
          <p:spPr>
            <a:xfrm>
              <a:off x="2758715" y="5669796"/>
              <a:ext cx="2254970" cy="1484068"/>
            </a:xfrm>
            <a:prstGeom prst="rect">
              <a:avLst/>
            </a:prstGeom>
            <a:noFill/>
            <a:ln>
              <a:noFill/>
            </a:ln>
          </p:spPr>
        </p:pic>
        <p:sp>
          <p:nvSpPr>
            <p:cNvPr id="27" name="Google Shape;213;g3d62d805bc0_1_198">
              <a:extLst>
                <a:ext uri="{FF2B5EF4-FFF2-40B4-BE49-F238E27FC236}">
                  <a16:creationId xmlns:a16="http://schemas.microsoft.com/office/drawing/2014/main" id="{2B9E1775-2BC7-3994-FA03-07F86A6B211B}"/>
                </a:ext>
              </a:extLst>
            </p:cNvPr>
            <p:cNvSpPr/>
            <p:nvPr/>
          </p:nvSpPr>
          <p:spPr>
            <a:xfrm>
              <a:off x="2761430" y="7155463"/>
              <a:ext cx="420174" cy="358779"/>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2</a:t>
              </a:r>
              <a:endParaRPr sz="1400" b="0" i="0" u="none" strike="noStrike" cap="none">
                <a:solidFill>
                  <a:srgbClr val="FFFFFF"/>
                </a:solidFill>
                <a:latin typeface="Noto Sans Black"/>
                <a:ea typeface="Noto Sans Black"/>
                <a:cs typeface="Noto Sans Black"/>
                <a:sym typeface="Noto Sans Black"/>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54" name="Table 153"/>
          <p:cNvGraphicFramePr>
            <a:graphicFrameLocks noGrp="1"/>
          </p:cNvGraphicFramePr>
          <p:nvPr/>
        </p:nvGraphicFramePr>
        <p:xfrm>
          <a:off x="93600" y="1180800"/>
          <a:ext cx="7534799" cy="432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98 Coacalco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72 Gustavo Baz</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76 Xalostoc</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197 Texcoco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HGR 220 Toluca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194 El Molinito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HGOMF 60 Tlanepantla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UMAA 199 Tlalnepantla (Aut)</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68 Tulpetlac</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196 Fidel Velázquez</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53 Los Reyes Paz</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57 La Quebrada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200 Tecamac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HGO 221 Toluca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58 Las Margaritas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251 Metepec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77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223432808"/>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002A42E7-4096-5C24-A79E-6BB1656CBB02}"/>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E0DC897B-6934-8309-3110-5175BE8346E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95A61FC6-A846-2250-2C87-74987048CC34}"/>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045FA34C-4CFB-3FE3-EE50-A4741DF1BE74}"/>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5AA190F7-50D0-EC0D-68E0-ECD11A4911C1}"/>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3081B06B-069E-3059-8759-BF7DA24E30DA}"/>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F51D86C5-C5EC-8B98-F692-580FABA74727}"/>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+22,045</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+1,177,836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+336,591</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11,934,572</a:t>
                      </a:r>
                    </a:p>
                  </a:txBody>
                  <a:tcPr marL="0" marR="0" marT="0" marB="0" anchor="ctr">
                    <a:solidFill>
                      <a:srgbClr val="FFFFFF"/>
                    </a:solidFill>
                  </a:tcPr>
                </a:tc>
                <a:tc>
                  <a:txBody>
                    <a:bodyPr/>
                    <a:lstStyle/>
                    <a:p>
                      <a:pPr algn="ctr">
                        <a:defRPr sz="1000">
                          <a:solidFill>
                            <a:srgbClr val="404040"/>
                          </a:solidFill>
                          <a:latin typeface="Montserrat"/>
                        </a:defRPr>
                      </a:pPr>
                      <a:r>
                        <a:t>1,177,836</a:t>
                      </a:r>
                    </a:p>
                  </a:txBody>
                  <a:tcPr marL="0" marR="0" marT="0" marB="0" anchor="ctr">
                    <a:solidFill>
                      <a:srgbClr val="FFFFFF"/>
                    </a:solidFill>
                  </a:tcPr>
                </a:tc>
                <a:tc>
                  <a:txBody>
                    <a:bodyPr/>
                    <a:lstStyle/>
                    <a:p>
                      <a:pPr algn="ctr">
                        <a:defRPr sz="1000" b="1">
                          <a:solidFill>
                            <a:srgbClr val="980000"/>
                          </a:solidFill>
                          <a:latin typeface="Montserrat"/>
                        </a:defRPr>
                      </a:pPr>
                      <a:r>
                        <a:t>3,956,024</a:t>
                      </a:r>
                    </a:p>
                  </a:txBody>
                  <a:tcPr marL="0" marR="0" marT="0" marB="0" anchor="ctr">
                    <a:solidFill>
                      <a:srgbClr val="ECD3D9"/>
                    </a:solidFill>
                  </a:tcPr>
                </a:tc>
                <a:tc>
                  <a:txBody>
                    <a:bodyPr/>
                    <a:lstStyle/>
                    <a:p>
                      <a:pPr algn="ctr">
                        <a:defRPr sz="1000" b="1">
                          <a:solidFill>
                            <a:srgbClr val="980000"/>
                          </a:solidFill>
                          <a:latin typeface="Montserrat"/>
                        </a:defRPr>
                      </a:pPr>
                      <a:r>
                        <a:t>12,143,816</a:t>
                      </a:r>
                    </a:p>
                  </a:txBody>
                  <a:tcPr marL="0" marR="0" marT="0" marB="0" anchor="ctr">
                    <a:solidFill>
                      <a:srgbClr val="ECD3D9"/>
                    </a:solidFill>
                  </a:tcPr>
                </a:tc>
                <a:tc>
                  <a:txBody>
                    <a:bodyPr/>
                    <a:lstStyle/>
                    <a:p>
                      <a:pPr algn="ctr">
                        <a:defRPr sz="1000" b="1">
                          <a:solidFill>
                            <a:srgbClr val="980000"/>
                          </a:solidFill>
                          <a:latin typeface="Montserrat"/>
                        </a:defRPr>
                      </a:pPr>
                      <a:r>
                        <a:t>32.6%</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2,178,092</a:t>
                      </a:r>
                    </a:p>
                  </a:txBody>
                  <a:tcPr marL="0" marR="0" marT="0" marB="0" anchor="ctr">
                    <a:solidFill>
                      <a:srgbClr val="EFEFEF"/>
                    </a:solidFill>
                  </a:tcPr>
                </a:tc>
                <a:tc>
                  <a:txBody>
                    <a:bodyPr/>
                    <a:lstStyle/>
                    <a:p>
                      <a:pPr algn="ctr">
                        <a:defRPr sz="1000">
                          <a:solidFill>
                            <a:srgbClr val="404040"/>
                          </a:solidFill>
                          <a:latin typeface="Montserrat"/>
                        </a:defRPr>
                      </a:pPr>
                      <a:r>
                        <a:t>336,591</a:t>
                      </a:r>
                    </a:p>
                  </a:txBody>
                  <a:tcPr marL="0" marR="0" marT="0" marB="0" anchor="ctr">
                    <a:solidFill>
                      <a:srgbClr val="EFEFEF"/>
                    </a:solidFill>
                  </a:tcPr>
                </a:tc>
                <a:tc>
                  <a:txBody>
                    <a:bodyPr/>
                    <a:lstStyle/>
                    <a:p>
                      <a:pPr algn="ctr">
                        <a:defRPr sz="1000" b="1">
                          <a:solidFill>
                            <a:srgbClr val="980000"/>
                          </a:solidFill>
                          <a:latin typeface="Montserrat"/>
                        </a:defRPr>
                      </a:pPr>
                      <a:r>
                        <a:t>745,310</a:t>
                      </a:r>
                    </a:p>
                  </a:txBody>
                  <a:tcPr marL="0" marR="0" marT="0" marB="0" anchor="ctr">
                    <a:solidFill>
                      <a:srgbClr val="F4E3E7"/>
                    </a:solidFill>
                  </a:tcPr>
                </a:tc>
                <a:tc>
                  <a:txBody>
                    <a:bodyPr/>
                    <a:lstStyle/>
                    <a:p>
                      <a:pPr algn="ctr">
                        <a:defRPr sz="1000" b="1">
                          <a:solidFill>
                            <a:srgbClr val="980000"/>
                          </a:solidFill>
                          <a:latin typeface="Montserrat"/>
                        </a:defRPr>
                      </a:pPr>
                      <a:r>
                        <a:t>2,442,215</a:t>
                      </a:r>
                    </a:p>
                  </a:txBody>
                  <a:tcPr marL="0" marR="0" marT="0" marB="0" anchor="ctr">
                    <a:solidFill>
                      <a:srgbClr val="F4E3E7"/>
                    </a:solidFill>
                  </a:tcPr>
                </a:tc>
                <a:tc>
                  <a:txBody>
                    <a:bodyPr/>
                    <a:lstStyle/>
                    <a:p>
                      <a:pPr algn="ctr">
                        <a:defRPr sz="1000" b="1">
                          <a:solidFill>
                            <a:srgbClr val="980000"/>
                          </a:solidFill>
                          <a:latin typeface="Montserrat"/>
                        </a:defRPr>
                      </a:pPr>
                      <a:r>
                        <a:t>30.5%</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146,375</a:t>
                      </a:r>
                    </a:p>
                  </a:txBody>
                  <a:tcPr marL="0" marR="0" marT="0" marB="0" anchor="ctr">
                    <a:solidFill>
                      <a:srgbClr val="FFFFFF"/>
                    </a:solidFill>
                  </a:tcPr>
                </a:tc>
                <a:tc>
                  <a:txBody>
                    <a:bodyPr/>
                    <a:lstStyle/>
                    <a:p>
                      <a:pPr algn="ctr">
                        <a:defRPr sz="1000">
                          <a:solidFill>
                            <a:srgbClr val="404040"/>
                          </a:solidFill>
                          <a:latin typeface="Montserrat"/>
                        </a:defRPr>
                      </a:pPr>
                      <a:r>
                        <a:t>22,045</a:t>
                      </a:r>
                    </a:p>
                  </a:txBody>
                  <a:tcPr marL="0" marR="0" marT="0" marB="0" anchor="ctr">
                    <a:solidFill>
                      <a:srgbClr val="FFFFFF"/>
                    </a:solidFill>
                  </a:tcPr>
                </a:tc>
                <a:tc>
                  <a:txBody>
                    <a:bodyPr/>
                    <a:lstStyle/>
                    <a:p>
                      <a:pPr algn="ctr">
                        <a:defRPr sz="1000" b="1">
                          <a:solidFill>
                            <a:srgbClr val="980000"/>
                          </a:solidFill>
                          <a:latin typeface="Montserrat"/>
                        </a:defRPr>
                      </a:pPr>
                      <a:r>
                        <a:t>50,659</a:t>
                      </a:r>
                    </a:p>
                  </a:txBody>
                  <a:tcPr marL="0" marR="0" marT="0" marB="0" anchor="ctr">
                    <a:solidFill>
                      <a:srgbClr val="ECD3D9"/>
                    </a:solidFill>
                  </a:tcPr>
                </a:tc>
                <a:tc>
                  <a:txBody>
                    <a:bodyPr/>
                    <a:lstStyle/>
                    <a:p>
                      <a:pPr algn="ctr">
                        <a:defRPr sz="1000" b="1">
                          <a:solidFill>
                            <a:srgbClr val="980000"/>
                          </a:solidFill>
                          <a:latin typeface="Montserrat"/>
                        </a:defRPr>
                      </a:pPr>
                      <a:r>
                        <a:t>181,012</a:t>
                      </a:r>
                    </a:p>
                  </a:txBody>
                  <a:tcPr marL="0" marR="0" marT="0" marB="0" anchor="ctr">
                    <a:solidFill>
                      <a:srgbClr val="ECD3D9"/>
                    </a:solidFill>
                  </a:tcPr>
                </a:tc>
                <a:tc>
                  <a:txBody>
                    <a:bodyPr/>
                    <a:lstStyle/>
                    <a:p>
                      <a:pPr algn="ctr">
                        <a:defRPr sz="1000" b="1">
                          <a:solidFill>
                            <a:srgbClr val="980000"/>
                          </a:solidFill>
                          <a:latin typeface="Montserrat"/>
                        </a:defRPr>
                      </a:pPr>
                      <a:r>
                        <a:t>28.0%</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44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74 San Rafael</a:t>
                      </a:r>
                    </a:p>
                  </a:txBody>
                  <a:tcPr marL="0" marR="0" marT="0" marB="0">
                    <a:solidFill>
                      <a:srgbClr val="FFFFFF"/>
                    </a:solidFill>
                  </a:tcPr>
                </a:tc>
                <a:tc>
                  <a:txBody>
                    <a:bodyPr/>
                    <a:lstStyle/>
                    <a:p>
                      <a:pPr algn="ctr">
                        <a:defRPr sz="1000">
                          <a:latin typeface="Montserrat"/>
                        </a:defRPr>
                      </a:pPr>
                      <a:r>
                        <a:t>60,861</a:t>
                      </a:r>
                    </a:p>
                  </a:txBody>
                  <a:tcPr marL="0" marR="0" marT="0" marB="0">
                    <a:solidFill>
                      <a:srgbClr val="FFFFFF"/>
                    </a:solidFill>
                  </a:tcPr>
                </a:tc>
                <a:tc>
                  <a:txBody>
                    <a:bodyPr/>
                    <a:lstStyle/>
                    <a:p>
                      <a:pPr algn="ctr">
                        <a:defRPr sz="1000">
                          <a:latin typeface="Montserrat"/>
                        </a:defRPr>
                      </a:pPr>
                      <a:r>
                        <a:t>1,549</a:t>
                      </a:r>
                    </a:p>
                  </a:txBody>
                  <a:tcPr marL="0" marR="0" marT="0" marB="0">
                    <a:solidFill>
                      <a:srgbClr val="FFFFFF"/>
                    </a:solidFill>
                  </a:tcPr>
                </a:tc>
                <a:tc>
                  <a:txBody>
                    <a:bodyPr/>
                    <a:lstStyle/>
                    <a:p>
                      <a:pPr algn="ctr">
                        <a:defRPr sz="1000">
                          <a:latin typeface="Montserrat"/>
                        </a:defRPr>
                      </a:pPr>
                      <a:r>
                        <a:t>20,155</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32.2%</a:t>
                      </a:r>
                    </a:p>
                  </a:txBody>
                  <a:tcPr marL="0" marR="0" marT="0" marB="0">
                    <a:solidFill>
                      <a:srgbClr val="ECD3D9"/>
                    </a:solidFill>
                  </a:tcPr>
                </a:tc>
              </a:tr>
              <a:tr h="151200">
                <a:tc>
                  <a:txBody>
                    <a:bodyPr/>
                    <a:lstStyle/>
                    <a:p>
                      <a:pPr algn="l">
                        <a:defRPr sz="1000">
                          <a:latin typeface="Montserrat"/>
                        </a:defRPr>
                      </a:pPr>
                      <a:r>
                        <a:t>UMF 73 Amecameca</a:t>
                      </a:r>
                    </a:p>
                  </a:txBody>
                  <a:tcPr marL="0" marR="0" marT="0" marB="0">
                    <a:solidFill>
                      <a:srgbClr val="EFEFEF"/>
                    </a:solidFill>
                  </a:tcPr>
                </a:tc>
                <a:tc>
                  <a:txBody>
                    <a:bodyPr/>
                    <a:lstStyle/>
                    <a:p>
                      <a:pPr algn="ctr">
                        <a:defRPr sz="1000">
                          <a:latin typeface="Montserrat"/>
                        </a:defRPr>
                      </a:pPr>
                      <a:r>
                        <a:t>34,474</a:t>
                      </a:r>
                    </a:p>
                  </a:txBody>
                  <a:tcPr marL="0" marR="0" marT="0" marB="0">
                    <a:solidFill>
                      <a:srgbClr val="EFEFEF"/>
                    </a:solidFill>
                  </a:tcPr>
                </a:tc>
                <a:tc>
                  <a:txBody>
                    <a:bodyPr/>
                    <a:lstStyle/>
                    <a:p>
                      <a:pPr algn="ctr">
                        <a:defRPr sz="1000">
                          <a:latin typeface="Montserrat"/>
                        </a:defRPr>
                      </a:pPr>
                      <a:r>
                        <a:t>126</a:t>
                      </a:r>
                    </a:p>
                  </a:txBody>
                  <a:tcPr marL="0" marR="0" marT="0" marB="0">
                    <a:solidFill>
                      <a:srgbClr val="EFEFEF"/>
                    </a:solidFill>
                  </a:tcPr>
                </a:tc>
                <a:tc>
                  <a:txBody>
                    <a:bodyPr/>
                    <a:lstStyle/>
                    <a:p>
                      <a:pPr algn="ctr">
                        <a:defRPr sz="1000">
                          <a:latin typeface="Montserrat"/>
                        </a:defRPr>
                      </a:pPr>
                      <a:r>
                        <a:t>11,102</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29.5%</a:t>
                      </a:r>
                    </a:p>
                  </a:txBody>
                  <a:tcPr marL="0" marR="0" marT="0" marB="0">
                    <a:solidFill>
                      <a:srgbClr val="ECD3D9"/>
                    </a:solidFill>
                  </a:tcPr>
                </a:tc>
              </a:tr>
              <a:tr h="151200">
                <a:tc>
                  <a:txBody>
                    <a:bodyPr/>
                    <a:lstStyle/>
                    <a:p>
                      <a:pPr algn="l">
                        <a:defRPr sz="1000">
                          <a:latin typeface="Montserrat"/>
                        </a:defRPr>
                      </a:pPr>
                      <a:r>
                        <a:t>UMF 245 Aculco</a:t>
                      </a:r>
                    </a:p>
                  </a:txBody>
                  <a:tcPr marL="0" marR="0" marT="0" marB="0">
                    <a:solidFill>
                      <a:srgbClr val="FFFFFF"/>
                    </a:solidFill>
                  </a:tcPr>
                </a:tc>
                <a:tc>
                  <a:txBody>
                    <a:bodyPr/>
                    <a:lstStyle/>
                    <a:p>
                      <a:pPr algn="ctr">
                        <a:defRPr sz="1000">
                          <a:latin typeface="Montserrat"/>
                        </a:defRPr>
                      </a:pPr>
                      <a:r>
                        <a:t>14,047</a:t>
                      </a:r>
                    </a:p>
                  </a:txBody>
                  <a:tcPr marL="0" marR="0" marT="0" marB="0">
                    <a:solidFill>
                      <a:srgbClr val="FFFFFF"/>
                    </a:solidFill>
                  </a:tcPr>
                </a:tc>
                <a:tc>
                  <a:txBody>
                    <a:bodyPr/>
                    <a:lstStyle/>
                    <a:p>
                      <a:pPr algn="ctr">
                        <a:defRPr sz="1000">
                          <a:latin typeface="Montserrat"/>
                        </a:defRPr>
                      </a:pPr>
                      <a:r>
                        <a:t>4,896</a:t>
                      </a:r>
                    </a:p>
                  </a:txBody>
                  <a:tcPr marL="0" marR="0" marT="0" marB="0">
                    <a:solidFill>
                      <a:srgbClr val="FFFFFF"/>
                    </a:solidFill>
                  </a:tcPr>
                </a:tc>
                <a:tc>
                  <a:txBody>
                    <a:bodyPr/>
                    <a:lstStyle/>
                    <a:p>
                      <a:pPr algn="ctr">
                        <a:defRPr sz="1000">
                          <a:latin typeface="Montserrat"/>
                        </a:defRPr>
                      </a:pPr>
                      <a:r>
                        <a:t>5,221</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l">
                        <a:defRPr sz="1000">
                          <a:latin typeface="Montserrat"/>
                        </a:defRPr>
                      </a:pPr>
                      <a:r>
                        <a:t>UMF 59 Lechería</a:t>
                      </a:r>
                    </a:p>
                  </a:txBody>
                  <a:tcPr marL="0" marR="0" marT="0" marB="0">
                    <a:solidFill>
                      <a:srgbClr val="EFEFEF"/>
                    </a:solidFill>
                  </a:tcPr>
                </a:tc>
                <a:tc>
                  <a:txBody>
                    <a:bodyPr/>
                    <a:lstStyle/>
                    <a:p>
                      <a:pPr algn="ctr">
                        <a:defRPr sz="1000">
                          <a:latin typeface="Montserrat"/>
                        </a:defRPr>
                      </a:pPr>
                      <a:r>
                        <a:t>6,678</a:t>
                      </a:r>
                    </a:p>
                  </a:txBody>
                  <a:tcPr marL="0" marR="0" marT="0" marB="0">
                    <a:solidFill>
                      <a:srgbClr val="EFEFEF"/>
                    </a:solidFill>
                  </a:tcPr>
                </a:tc>
                <a:tc>
                  <a:txBody>
                    <a:bodyPr/>
                    <a:lstStyle/>
                    <a:p>
                      <a:pPr algn="ctr">
                        <a:defRPr sz="1000">
                          <a:latin typeface="Montserrat"/>
                        </a:defRPr>
                      </a:pPr>
                      <a:r>
                        <a:t>1,049</a:t>
                      </a:r>
                    </a:p>
                  </a:txBody>
                  <a:tcPr marL="0" marR="0" marT="0" marB="0">
                    <a:solidFill>
                      <a:srgbClr val="EFEFEF"/>
                    </a:solidFill>
                  </a:tcPr>
                </a:tc>
                <a:tc>
                  <a:txBody>
                    <a:bodyPr/>
                    <a:lstStyle/>
                    <a:p>
                      <a:pPr algn="ctr">
                        <a:defRPr sz="1000">
                          <a:latin typeface="Montserrat"/>
                        </a:defRPr>
                      </a:pPr>
                      <a:r>
                        <a:t>3,197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tr>
              <a:tr h="151200">
                <a:tc>
                  <a:txBody>
                    <a:bodyPr/>
                    <a:lstStyle/>
                    <a:p>
                      <a:pPr algn="l">
                        <a:defRPr sz="1000">
                          <a:latin typeface="Montserrat"/>
                        </a:defRPr>
                      </a:pPr>
                      <a:r>
                        <a:t>UMF 225 Toluca</a:t>
                      </a:r>
                    </a:p>
                  </a:txBody>
                  <a:tcPr marL="0" marR="0" marT="0" marB="0">
                    <a:solidFill>
                      <a:srgbClr val="FFFFFF"/>
                    </a:solidFill>
                  </a:tcPr>
                </a:tc>
                <a:tc>
                  <a:txBody>
                    <a:bodyPr/>
                    <a:lstStyle/>
                    <a:p>
                      <a:pPr algn="ctr">
                        <a:defRPr sz="1000">
                          <a:latin typeface="Montserrat"/>
                        </a:defRPr>
                      </a:pPr>
                      <a:r>
                        <a:t>6,668</a:t>
                      </a:r>
                    </a:p>
                  </a:txBody>
                  <a:tcPr marL="0" marR="0" marT="0" marB="0">
                    <a:solidFill>
                      <a:srgbClr val="FFFFFF"/>
                    </a:solidFill>
                  </a:tcPr>
                </a:tc>
                <a:tc>
                  <a:txBody>
                    <a:bodyPr/>
                    <a:lstStyle/>
                    <a:p>
                      <a:pPr algn="ctr">
                        <a:defRPr sz="1000">
                          <a:latin typeface="Montserrat"/>
                        </a:defRPr>
                      </a:pPr>
                      <a:r>
                        <a:t>1,234</a:t>
                      </a:r>
                    </a:p>
                  </a:txBody>
                  <a:tcPr marL="0" marR="0" marT="0" marB="0">
                    <a:solidFill>
                      <a:srgbClr val="FFFFFF"/>
                    </a:solidFill>
                  </a:tcPr>
                </a:tc>
                <a:tc>
                  <a:txBody>
                    <a:bodyPr/>
                    <a:lstStyle/>
                    <a:p>
                      <a:pPr algn="ctr">
                        <a:defRPr sz="1000">
                          <a:latin typeface="Montserrat"/>
                        </a:defRPr>
                      </a:pPr>
                      <a:r>
                        <a:t>3,119</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39.0%</a:t>
                      </a:r>
                    </a:p>
                  </a:txBody>
                  <a:tcPr marL="0" marR="0" marT="0" marB="0">
                    <a:solidFill>
                      <a:srgbClr val="ECD3D9"/>
                    </a:solidFill>
                  </a:tcPr>
                </a:tc>
              </a:tr>
              <a:tr h="151200">
                <a:tc>
                  <a:txBody>
                    <a:bodyPr/>
                    <a:lstStyle/>
                    <a:p>
                      <a:pPr algn="l">
                        <a:defRPr sz="1000">
                          <a:latin typeface="Montserrat"/>
                        </a:defRPr>
                      </a:pPr>
                      <a:r>
                        <a:t>UMF 226 Ixtlahuaca</a:t>
                      </a:r>
                    </a:p>
                  </a:txBody>
                  <a:tcPr marL="0" marR="0" marT="0" marB="0">
                    <a:solidFill>
                      <a:srgbClr val="EFEFEF"/>
                    </a:solidFill>
                  </a:tcPr>
                </a:tc>
                <a:tc>
                  <a:txBody>
                    <a:bodyPr/>
                    <a:lstStyle/>
                    <a:p>
                      <a:pPr algn="ctr">
                        <a:defRPr sz="1000">
                          <a:latin typeface="Montserrat"/>
                        </a:defRPr>
                      </a:pPr>
                      <a:r>
                        <a:t>79,623</a:t>
                      </a:r>
                    </a:p>
                  </a:txBody>
                  <a:tcPr marL="0" marR="0" marT="0" marB="0">
                    <a:solidFill>
                      <a:srgbClr val="EFEFEF"/>
                    </a:solidFill>
                  </a:tcPr>
                </a:tc>
                <a:tc>
                  <a:txBody>
                    <a:bodyPr/>
                    <a:lstStyle/>
                    <a:p>
                      <a:pPr algn="ctr">
                        <a:defRPr sz="1000">
                          <a:latin typeface="Montserrat"/>
                        </a:defRPr>
                      </a:pPr>
                      <a:r>
                        <a:t>10,489</a:t>
                      </a:r>
                    </a:p>
                  </a:txBody>
                  <a:tcPr marL="0" marR="0" marT="0" marB="0">
                    <a:solidFill>
                      <a:srgbClr val="EFEFEF"/>
                    </a:solidFill>
                  </a:tcPr>
                </a:tc>
                <a:tc>
                  <a:txBody>
                    <a:bodyPr/>
                    <a:lstStyle/>
                    <a:p>
                      <a:pPr algn="ctr">
                        <a:defRPr sz="1000">
                          <a:latin typeface="Montserrat"/>
                        </a:defRPr>
                      </a:pPr>
                      <a:r>
                        <a:t>28,036</a:t>
                      </a:r>
                    </a:p>
                  </a:txBody>
                  <a:tcPr marL="0" marR="0" marT="0" marB="0">
                    <a:solidFill>
                      <a:srgbClr val="ECD3D9"/>
                    </a:solidFill>
                  </a:tcPr>
                </a:tc>
                <a:tc>
                  <a:txBody>
                    <a:bodyPr/>
                    <a:lstStyle/>
                    <a:p>
                      <a:pPr algn="ctr">
                        <a:defRPr sz="1000">
                          <a:latin typeface="Montserrat"/>
                        </a:defRPr>
                      </a:pPr>
                      <a:r>
                        <a:t>77,000</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UMFH 227 Ixtapan Sal</a:t>
                      </a:r>
                    </a:p>
                  </a:txBody>
                  <a:tcPr marL="0" marR="0" marT="0" marB="0">
                    <a:solidFill>
                      <a:srgbClr val="FFFFFF"/>
                    </a:solidFill>
                  </a:tcPr>
                </a:tc>
                <a:tc>
                  <a:txBody>
                    <a:bodyPr/>
                    <a:lstStyle/>
                    <a:p>
                      <a:pPr algn="ctr">
                        <a:defRPr sz="1000">
                          <a:latin typeface="Montserrat"/>
                        </a:defRPr>
                      </a:pPr>
                      <a:r>
                        <a:t>27,754</a:t>
                      </a:r>
                    </a:p>
                  </a:txBody>
                  <a:tcPr marL="0" marR="0" marT="0" marB="0">
                    <a:solidFill>
                      <a:srgbClr val="FFFFFF"/>
                    </a:solidFill>
                  </a:tcPr>
                </a:tc>
                <a:tc>
                  <a:txBody>
                    <a:bodyPr/>
                    <a:lstStyle/>
                    <a:p>
                      <a:pPr algn="ctr">
                        <a:defRPr sz="1000">
                          <a:latin typeface="Montserrat"/>
                        </a:defRPr>
                      </a:pPr>
                      <a:r>
                        <a:t>14,026</a:t>
                      </a:r>
                    </a:p>
                  </a:txBody>
                  <a:tcPr marL="0" marR="0" marT="0" marB="0">
                    <a:solidFill>
                      <a:srgbClr val="FFFFFF"/>
                    </a:solidFill>
                  </a:tcPr>
                </a:tc>
                <a:tc>
                  <a:txBody>
                    <a:bodyPr/>
                    <a:lstStyle/>
                    <a:p>
                      <a:pPr algn="ctr">
                        <a:defRPr sz="1000">
                          <a:latin typeface="Montserrat"/>
                        </a:defRPr>
                      </a:pPr>
                      <a:r>
                        <a:t>9,417</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tr>
              <a:tr h="151200">
                <a:tc>
                  <a:txBody>
                    <a:bodyPr/>
                    <a:lstStyle/>
                    <a:p>
                      <a:pPr algn="l">
                        <a:defRPr sz="1000">
                          <a:latin typeface="Montserrat"/>
                        </a:defRPr>
                      </a:pPr>
                      <a:r>
                        <a:t>UMF 237 Malinalco</a:t>
                      </a:r>
                    </a:p>
                  </a:txBody>
                  <a:tcPr marL="0" marR="0" marT="0" marB="0">
                    <a:solidFill>
                      <a:srgbClr val="EFEFEF"/>
                    </a:solidFill>
                  </a:tcPr>
                </a:tc>
                <a:tc>
                  <a:txBody>
                    <a:bodyPr/>
                    <a:lstStyle/>
                    <a:p>
                      <a:pPr algn="ctr">
                        <a:defRPr sz="1000">
                          <a:latin typeface="Montserrat"/>
                        </a:defRPr>
                      </a:pPr>
                      <a:r>
                        <a:t>6,211</a:t>
                      </a:r>
                    </a:p>
                  </a:txBody>
                  <a:tcPr marL="0" marR="0" marT="0" marB="0">
                    <a:solidFill>
                      <a:srgbClr val="EFEFEF"/>
                    </a:solidFill>
                  </a:tcPr>
                </a:tc>
                <a:tc>
                  <a:txBody>
                    <a:bodyPr/>
                    <a:lstStyle/>
                    <a:p>
                      <a:pPr algn="ctr">
                        <a:defRPr sz="1000">
                          <a:latin typeface="Montserrat"/>
                        </a:defRPr>
                      </a:pPr>
                      <a:r>
                        <a:t>1,670</a:t>
                      </a:r>
                    </a:p>
                  </a:txBody>
                  <a:tcPr marL="0" marR="0" marT="0" marB="0">
                    <a:solidFill>
                      <a:srgbClr val="EFEFEF"/>
                    </a:solidFill>
                  </a:tcPr>
                </a:tc>
                <a:tc>
                  <a:txBody>
                    <a:bodyPr/>
                    <a:lstStyle/>
                    <a:p>
                      <a:pPr algn="ctr">
                        <a:defRPr sz="1000">
                          <a:latin typeface="Montserrat"/>
                        </a:defRPr>
                      </a:pPr>
                      <a:r>
                        <a:t>2,053</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29.3%</a:t>
                      </a:r>
                    </a:p>
                  </a:txBody>
                  <a:tcPr marL="0" marR="0" marT="0" marB="0">
                    <a:solidFill>
                      <a:srgbClr val="ECD3D9"/>
                    </a:solidFill>
                  </a:tcPr>
                </a:tc>
              </a:tr>
              <a:tr h="151200">
                <a:tc>
                  <a:txBody>
                    <a:bodyPr/>
                    <a:lstStyle/>
                    <a:p>
                      <a:pPr algn="l">
                        <a:defRPr sz="1000">
                          <a:latin typeface="Montserrat"/>
                        </a:defRPr>
                      </a:pPr>
                      <a:r>
                        <a:t>UMF 75 Netzahualcoyotl</a:t>
                      </a:r>
                    </a:p>
                  </a:txBody>
                  <a:tcPr marL="0" marR="0" marT="0" marB="0">
                    <a:solidFill>
                      <a:srgbClr val="FFFFFF"/>
                    </a:solidFill>
                  </a:tcPr>
                </a:tc>
                <a:tc>
                  <a:txBody>
                    <a:bodyPr/>
                    <a:lstStyle/>
                    <a:p>
                      <a:pPr algn="ctr">
                        <a:defRPr sz="1000">
                          <a:latin typeface="Montserrat"/>
                        </a:defRPr>
                      </a:pPr>
                      <a:r>
                        <a:t>356,832</a:t>
                      </a:r>
                    </a:p>
                  </a:txBody>
                  <a:tcPr marL="0" marR="0" marT="0" marB="0">
                    <a:solidFill>
                      <a:srgbClr val="FFFFFF"/>
                    </a:solidFill>
                  </a:tcPr>
                </a:tc>
                <a:tc>
                  <a:txBody>
                    <a:bodyPr/>
                    <a:lstStyle/>
                    <a:p>
                      <a:pPr algn="ctr">
                        <a:defRPr sz="1000">
                          <a:latin typeface="Montserrat"/>
                        </a:defRPr>
                      </a:pPr>
                      <a:r>
                        <a:t>10,976</a:t>
                      </a:r>
                    </a:p>
                  </a:txBody>
                  <a:tcPr marL="0" marR="0" marT="0" marB="0">
                    <a:solidFill>
                      <a:srgbClr val="FFFFFF"/>
                    </a:solidFill>
                  </a:tcPr>
                </a:tc>
                <a:tc>
                  <a:txBody>
                    <a:bodyPr/>
                    <a:lstStyle/>
                    <a:p>
                      <a:pPr algn="ctr">
                        <a:defRPr sz="1000">
                          <a:latin typeface="Montserrat"/>
                        </a:defRPr>
                      </a:pPr>
                      <a:r>
                        <a:t>117,731</a:t>
                      </a:r>
                    </a:p>
                  </a:txBody>
                  <a:tcPr marL="0" marR="0" marT="0" marB="0">
                    <a:solidFill>
                      <a:srgbClr val="ECD3D9"/>
                    </a:solidFill>
                  </a:tcPr>
                </a:tc>
                <a:tc>
                  <a:txBody>
                    <a:bodyPr/>
                    <a:lstStyle/>
                    <a:p>
                      <a:pPr algn="ctr">
                        <a:defRPr sz="1000">
                          <a:latin typeface="Montserrat"/>
                        </a:defRPr>
                      </a:pPr>
                      <a:r>
                        <a:t>400,896</a:t>
                      </a:r>
                    </a:p>
                  </a:txBody>
                  <a:tcPr marL="0" marR="0" marT="0" marB="0">
                    <a:solidFill>
                      <a:srgbClr val="ECD3D9"/>
                    </a:solidFill>
                  </a:tcPr>
                </a:tc>
                <a:tc>
                  <a:txBody>
                    <a:bodyPr/>
                    <a:lstStyle/>
                    <a:p>
                      <a:pPr algn="ctr">
                        <a:defRPr sz="1000">
                          <a:latin typeface="Montserrat"/>
                        </a:defRPr>
                      </a:pPr>
                      <a:r>
                        <a:t>29.4%</a:t>
                      </a:r>
                    </a:p>
                  </a:txBody>
                  <a:tcPr marL="0" marR="0" marT="0" marB="0">
                    <a:solidFill>
                      <a:srgbClr val="ECD3D9"/>
                    </a:solidFill>
                  </a:tcPr>
                </a:tc>
              </a:tr>
              <a:tr h="151200">
                <a:tc>
                  <a:txBody>
                    <a:bodyPr/>
                    <a:lstStyle/>
                    <a:p>
                      <a:pPr algn="l">
                        <a:defRPr sz="1000">
                          <a:latin typeface="Montserrat"/>
                        </a:defRPr>
                      </a:pPr>
                      <a:r>
                        <a:t>UMF 58 Las Margaritas</a:t>
                      </a:r>
                    </a:p>
                  </a:txBody>
                  <a:tcPr marL="0" marR="0" marT="0" marB="0">
                    <a:solidFill>
                      <a:srgbClr val="EFEFEF"/>
                    </a:solidFill>
                  </a:tcPr>
                </a:tc>
                <a:tc>
                  <a:txBody>
                    <a:bodyPr/>
                    <a:lstStyle/>
                    <a:p>
                      <a:pPr algn="ctr">
                        <a:defRPr sz="1000">
                          <a:latin typeface="Montserrat"/>
                        </a:defRPr>
                      </a:pPr>
                      <a:r>
                        <a:t>258,692</a:t>
                      </a:r>
                    </a:p>
                  </a:txBody>
                  <a:tcPr marL="0" marR="0" marT="0" marB="0">
                    <a:solidFill>
                      <a:srgbClr val="EFEFEF"/>
                    </a:solidFill>
                  </a:tcPr>
                </a:tc>
                <a:tc>
                  <a:txBody>
                    <a:bodyPr/>
                    <a:lstStyle/>
                    <a:p>
                      <a:pPr algn="ctr">
                        <a:defRPr sz="1000">
                          <a:latin typeface="Montserrat"/>
                        </a:defRPr>
                      </a:pPr>
                      <a:r>
                        <a:t>15,983</a:t>
                      </a:r>
                    </a:p>
                  </a:txBody>
                  <a:tcPr marL="0" marR="0" marT="0" marB="0">
                    <a:solidFill>
                      <a:srgbClr val="EFEFEF"/>
                    </a:solidFill>
                  </a:tcPr>
                </a:tc>
                <a:tc>
                  <a:txBody>
                    <a:bodyPr/>
                    <a:lstStyle/>
                    <a:p>
                      <a:pPr algn="ctr">
                        <a:defRPr sz="1000">
                          <a:latin typeface="Montserrat"/>
                        </a:defRPr>
                      </a:pPr>
                      <a:r>
                        <a:t>83,320</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232 Villa Gro</a:t>
                      </a:r>
                    </a:p>
                  </a:txBody>
                  <a:tcPr marL="0" marR="0" marT="0" marB="0">
                    <a:solidFill>
                      <a:srgbClr val="FFFFFF"/>
                    </a:solidFill>
                  </a:tcPr>
                </a:tc>
                <a:tc>
                  <a:txBody>
                    <a:bodyPr/>
                    <a:lstStyle/>
                    <a:p>
                      <a:pPr algn="ctr">
                        <a:defRPr sz="1000">
                          <a:latin typeface="Montserrat"/>
                        </a:defRPr>
                      </a:pPr>
                      <a:r>
                        <a:t>9,347</a:t>
                      </a:r>
                    </a:p>
                  </a:txBody>
                  <a:tcPr marL="0" marR="0" marT="0" marB="0">
                    <a:solidFill>
                      <a:srgbClr val="FFFFFF"/>
                    </a:solidFill>
                  </a:tcPr>
                </a:tc>
                <a:tc>
                  <a:txBody>
                    <a:bodyPr/>
                    <a:lstStyle/>
                    <a:p>
                      <a:pPr algn="ctr">
                        <a:defRPr sz="1000">
                          <a:latin typeface="Montserrat"/>
                        </a:defRPr>
                      </a:pPr>
                      <a:r>
                        <a:t>1,317</a:t>
                      </a:r>
                    </a:p>
                  </a:txBody>
                  <a:tcPr marL="0" marR="0" marT="0" marB="0">
                    <a:solidFill>
                      <a:srgbClr val="FFFFFF"/>
                    </a:solidFill>
                  </a:tcPr>
                </a:tc>
                <a:tc>
                  <a:txBody>
                    <a:bodyPr/>
                    <a:lstStyle/>
                    <a:p>
                      <a:pPr algn="ctr">
                        <a:defRPr sz="1000">
                          <a:latin typeface="Montserrat"/>
                        </a:defRPr>
                      </a:pPr>
                      <a:r>
                        <a:t>3,143</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31.4%</a:t>
                      </a:r>
                    </a:p>
                  </a:txBody>
                  <a:tcPr marL="0" marR="0" marT="0" marB="0">
                    <a:solidFill>
                      <a:srgbClr val="ECD3D9"/>
                    </a:solidFill>
                  </a:tcPr>
                </a:tc>
              </a:tr>
              <a:tr h="151200">
                <a:tc>
                  <a:txBody>
                    <a:bodyPr/>
                    <a:lstStyle/>
                    <a:p>
                      <a:pPr algn="l">
                        <a:defRPr sz="1000">
                          <a:latin typeface="Montserrat"/>
                        </a:defRPr>
                      </a:pPr>
                      <a:r>
                        <a:t>UMF 54 Apaxco</a:t>
                      </a:r>
                    </a:p>
                  </a:txBody>
                  <a:tcPr marL="0" marR="0" marT="0" marB="0">
                    <a:solidFill>
                      <a:srgbClr val="EFEFEF"/>
                    </a:solidFill>
                  </a:tcPr>
                </a:tc>
                <a:tc>
                  <a:txBody>
                    <a:bodyPr/>
                    <a:lstStyle/>
                    <a:p>
                      <a:pPr algn="ctr">
                        <a:defRPr sz="1000">
                          <a:latin typeface="Montserrat"/>
                        </a:defRPr>
                      </a:pPr>
                      <a:r>
                        <a:t>75,964</a:t>
                      </a:r>
                    </a:p>
                  </a:txBody>
                  <a:tcPr marL="0" marR="0" marT="0" marB="0">
                    <a:solidFill>
                      <a:srgbClr val="EFEFEF"/>
                    </a:solidFill>
                  </a:tcPr>
                </a:tc>
                <a:tc>
                  <a:txBody>
                    <a:bodyPr/>
                    <a:lstStyle/>
                    <a:p>
                      <a:pPr algn="ctr">
                        <a:defRPr sz="1000">
                          <a:latin typeface="Montserrat"/>
                        </a:defRPr>
                      </a:pPr>
                      <a:r>
                        <a:t>17,020</a:t>
                      </a:r>
                    </a:p>
                  </a:txBody>
                  <a:tcPr marL="0" marR="0" marT="0" marB="0">
                    <a:solidFill>
                      <a:srgbClr val="EFEFEF"/>
                    </a:solidFill>
                  </a:tcPr>
                </a:tc>
                <a:tc>
                  <a:txBody>
                    <a:bodyPr/>
                    <a:lstStyle/>
                    <a:p>
                      <a:pPr algn="ctr">
                        <a:defRPr sz="1000">
                          <a:latin typeface="Montserrat"/>
                        </a:defRPr>
                      </a:pPr>
                      <a:r>
                        <a:t>24,036</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77 San Agustín</a:t>
                      </a:r>
                    </a:p>
                  </a:txBody>
                  <a:tcPr marL="0" marR="0" marT="0" marB="0">
                    <a:solidFill>
                      <a:srgbClr val="FFFFFF"/>
                    </a:solidFill>
                  </a:tcPr>
                </a:tc>
                <a:tc>
                  <a:txBody>
                    <a:bodyPr/>
                    <a:lstStyle/>
                    <a:p>
                      <a:pPr algn="ctr">
                        <a:defRPr sz="1000">
                          <a:latin typeface="Montserrat"/>
                        </a:defRPr>
                      </a:pPr>
                      <a:r>
                        <a:t>432,640</a:t>
                      </a:r>
                    </a:p>
                  </a:txBody>
                  <a:tcPr marL="0" marR="0" marT="0" marB="0">
                    <a:solidFill>
                      <a:srgbClr val="FFFFFF"/>
                    </a:solidFill>
                  </a:tcPr>
                </a:tc>
                <a:tc>
                  <a:txBody>
                    <a:bodyPr/>
                    <a:lstStyle/>
                    <a:p>
                      <a:pPr algn="ctr">
                        <a:defRPr sz="1000">
                          <a:latin typeface="Montserrat"/>
                        </a:defRPr>
                      </a:pPr>
                      <a:r>
                        <a:t>15,182</a:t>
                      </a:r>
                    </a:p>
                  </a:txBody>
                  <a:tcPr marL="0" marR="0" marT="0" marB="0">
                    <a:solidFill>
                      <a:srgbClr val="FFFFFF"/>
                    </a:solidFill>
                  </a:tcPr>
                </a:tc>
                <a:tc>
                  <a:txBody>
                    <a:bodyPr/>
                    <a:lstStyle/>
                    <a:p>
                      <a:pPr algn="ctr">
                        <a:defRPr sz="1000">
                          <a:latin typeface="Montserrat"/>
                        </a:defRPr>
                      </a:pPr>
                      <a:r>
                        <a:t>138,765</a:t>
                      </a:r>
                    </a:p>
                  </a:txBody>
                  <a:tcPr marL="0" marR="0" marT="0" marB="0">
                    <a:solidFill>
                      <a:srgbClr val="ECD3D9"/>
                    </a:solidFill>
                  </a:tcPr>
                </a:tc>
                <a:tc>
                  <a:txBody>
                    <a:bodyPr/>
                    <a:lstStyle/>
                    <a:p>
                      <a:pPr algn="ctr">
                        <a:defRPr sz="1000">
                          <a:latin typeface="Montserrat"/>
                        </a:defRPr>
                      </a:pPr>
                      <a:r>
                        <a:t>463,536</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56 Jilotepec</a:t>
                      </a:r>
                    </a:p>
                  </a:txBody>
                  <a:tcPr marL="0" marR="0" marT="0" marB="0">
                    <a:solidFill>
                      <a:srgbClr val="EFEFEF"/>
                    </a:solidFill>
                  </a:tcPr>
                </a:tc>
                <a:tc>
                  <a:txBody>
                    <a:bodyPr/>
                    <a:lstStyle/>
                    <a:p>
                      <a:pPr algn="ctr">
                        <a:defRPr sz="1000">
                          <a:latin typeface="Montserrat"/>
                        </a:defRPr>
                      </a:pPr>
                      <a:r>
                        <a:t>73,223</a:t>
                      </a:r>
                    </a:p>
                  </a:txBody>
                  <a:tcPr marL="0" marR="0" marT="0" marB="0">
                    <a:solidFill>
                      <a:srgbClr val="EFEFEF"/>
                    </a:solidFill>
                  </a:tcPr>
                </a:tc>
                <a:tc>
                  <a:txBody>
                    <a:bodyPr/>
                    <a:lstStyle/>
                    <a:p>
                      <a:pPr algn="ctr">
                        <a:defRPr sz="1000">
                          <a:latin typeface="Montserrat"/>
                        </a:defRPr>
                      </a:pPr>
                      <a:r>
                        <a:t>4,897</a:t>
                      </a:r>
                    </a:p>
                  </a:txBody>
                  <a:tcPr marL="0" marR="0" marT="0" marB="0">
                    <a:solidFill>
                      <a:srgbClr val="EFEFEF"/>
                    </a:solidFill>
                  </a:tcPr>
                </a:tc>
                <a:tc>
                  <a:txBody>
                    <a:bodyPr/>
                    <a:lstStyle/>
                    <a:p>
                      <a:pPr algn="ctr">
                        <a:defRPr sz="1000">
                          <a:latin typeface="Montserrat"/>
                        </a:defRPr>
                      </a:pPr>
                      <a:r>
                        <a:t>25,645</a:t>
                      </a:r>
                    </a:p>
                  </a:txBody>
                  <a:tcPr marL="0" marR="0" marT="0" marB="0">
                    <a:solidFill>
                      <a:srgbClr val="ECD3D9"/>
                    </a:solidFill>
                  </a:tcPr>
                </a:tc>
                <a:tc>
                  <a:txBody>
                    <a:bodyPr/>
                    <a:lstStyle/>
                    <a:p>
                      <a:pPr algn="ctr">
                        <a:defRPr sz="1000">
                          <a:latin typeface="Montserrat"/>
                        </a:defRPr>
                      </a:pPr>
                      <a:r>
                        <a:t>87,696</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228 Santiago</a:t>
                      </a:r>
                    </a:p>
                  </a:txBody>
                  <a:tcPr marL="0" marR="0" marT="0" marB="0">
                    <a:solidFill>
                      <a:srgbClr val="FFFFFF"/>
                    </a:solidFill>
                  </a:tcPr>
                </a:tc>
                <a:tc>
                  <a:txBody>
                    <a:bodyPr/>
                    <a:lstStyle/>
                    <a:p>
                      <a:pPr algn="ctr">
                        <a:defRPr sz="1000">
                          <a:latin typeface="Montserrat"/>
                        </a:defRPr>
                      </a:pPr>
                      <a:r>
                        <a:t>119,529</a:t>
                      </a:r>
                    </a:p>
                  </a:txBody>
                  <a:tcPr marL="0" marR="0" marT="0" marB="0">
                    <a:solidFill>
                      <a:srgbClr val="FFFFFF"/>
                    </a:solidFill>
                  </a:tcPr>
                </a:tc>
                <a:tc>
                  <a:txBody>
                    <a:bodyPr/>
                    <a:lstStyle/>
                    <a:p>
                      <a:pPr algn="ctr">
                        <a:defRPr sz="1000">
                          <a:latin typeface="Montserrat"/>
                        </a:defRPr>
                      </a:pPr>
                      <a:r>
                        <a:t>33,168</a:t>
                      </a:r>
                    </a:p>
                  </a:txBody>
                  <a:tcPr marL="0" marR="0" marT="0" marB="0">
                    <a:solidFill>
                      <a:srgbClr val="FFFFFF"/>
                    </a:solidFill>
                  </a:tcPr>
                </a:tc>
                <a:tc>
                  <a:txBody>
                    <a:bodyPr/>
                    <a:lstStyle/>
                    <a:p>
                      <a:pPr algn="ctr">
                        <a:defRPr sz="1000">
                          <a:latin typeface="Montserrat"/>
                        </a:defRPr>
                      </a:pPr>
                      <a:r>
                        <a:t>42,076</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33.6%</a:t>
                      </a:r>
                    </a:p>
                  </a:txBody>
                  <a:tcPr marL="0" marR="0" marT="0" marB="0">
                    <a:solidFill>
                      <a:srgbClr val="ECD3D9"/>
                    </a:solidFill>
                  </a:tcPr>
                </a:tc>
              </a:tr>
              <a:tr h="151200">
                <a:tc>
                  <a:txBody>
                    <a:bodyPr/>
                    <a:lstStyle/>
                    <a:p>
                      <a:pPr algn="l">
                        <a:defRPr sz="1000">
                          <a:latin typeface="Montserrat"/>
                        </a:defRPr>
                      </a:pPr>
                      <a:r>
                        <a:t>UMF 78 Netzahualcoyotl</a:t>
                      </a:r>
                    </a:p>
                  </a:txBody>
                  <a:tcPr marL="0" marR="0" marT="0" marB="0">
                    <a:solidFill>
                      <a:srgbClr val="EFEFEF"/>
                    </a:solidFill>
                  </a:tcPr>
                </a:tc>
                <a:tc>
                  <a:txBody>
                    <a:bodyPr/>
                    <a:lstStyle/>
                    <a:p>
                      <a:pPr algn="ctr">
                        <a:defRPr sz="1000">
                          <a:latin typeface="Montserrat"/>
                        </a:defRPr>
                      </a:pPr>
                      <a:r>
                        <a:t>252,835</a:t>
                      </a:r>
                    </a:p>
                  </a:txBody>
                  <a:tcPr marL="0" marR="0" marT="0" marB="0">
                    <a:solidFill>
                      <a:srgbClr val="EFEFEF"/>
                    </a:solidFill>
                  </a:tcPr>
                </a:tc>
                <a:tc>
                  <a:txBody>
                    <a:bodyPr/>
                    <a:lstStyle/>
                    <a:p>
                      <a:pPr algn="ctr">
                        <a:defRPr sz="1000">
                          <a:latin typeface="Montserrat"/>
                        </a:defRPr>
                      </a:pPr>
                      <a:r>
                        <a:t>-1,224</a:t>
                      </a:r>
                    </a:p>
                  </a:txBody>
                  <a:tcPr marL="0" marR="0" marT="0" marB="0">
                    <a:solidFill>
                      <a:srgbClr val="EFEFEF"/>
                    </a:solidFill>
                  </a:tcPr>
                </a:tc>
                <a:tc>
                  <a:txBody>
                    <a:bodyPr/>
                    <a:lstStyle/>
                    <a:p>
                      <a:pPr algn="ctr">
                        <a:defRPr sz="1000">
                          <a:latin typeface="Montserrat"/>
                        </a:defRPr>
                      </a:pPr>
                      <a:r>
                        <a:t>83,582</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33.4%</a:t>
                      </a:r>
                    </a:p>
                  </a:txBody>
                  <a:tcPr marL="0" marR="0" marT="0" marB="0">
                    <a:solidFill>
                      <a:srgbClr val="ECD3D9"/>
                    </a:solidFill>
                  </a:tcPr>
                </a:tc>
              </a:tr>
              <a:tr h="151200">
                <a:tc>
                  <a:txBody>
                    <a:bodyPr/>
                    <a:lstStyle/>
                    <a:p>
                      <a:pPr algn="l">
                        <a:defRPr sz="1000">
                          <a:latin typeface="Montserrat"/>
                        </a:defRPr>
                      </a:pPr>
                      <a:r>
                        <a:t>UMF 97 San Bartolo</a:t>
                      </a:r>
                    </a:p>
                  </a:txBody>
                  <a:tcPr marL="0" marR="0" marT="0" marB="0">
                    <a:solidFill>
                      <a:srgbClr val="FFFFFF"/>
                    </a:solidFill>
                  </a:tcPr>
                </a:tc>
                <a:tc>
                  <a:txBody>
                    <a:bodyPr/>
                    <a:lstStyle/>
                    <a:p>
                      <a:pPr algn="ctr">
                        <a:defRPr sz="1000">
                          <a:latin typeface="Montserrat"/>
                        </a:defRPr>
                      </a:pPr>
                      <a:r>
                        <a:t>142,437</a:t>
                      </a:r>
                    </a:p>
                  </a:txBody>
                  <a:tcPr marL="0" marR="0" marT="0" marB="0">
                    <a:solidFill>
                      <a:srgbClr val="FFFFFF"/>
                    </a:solidFill>
                  </a:tcPr>
                </a:tc>
                <a:tc>
                  <a:txBody>
                    <a:bodyPr/>
                    <a:lstStyle/>
                    <a:p>
                      <a:pPr algn="ctr">
                        <a:defRPr sz="1000">
                          <a:latin typeface="Montserrat"/>
                        </a:defRPr>
                      </a:pPr>
                      <a:r>
                        <a:t>21,963</a:t>
                      </a:r>
                    </a:p>
                  </a:txBody>
                  <a:tcPr marL="0" marR="0" marT="0" marB="0">
                    <a:solidFill>
                      <a:srgbClr val="FFFFFF"/>
                    </a:solidFill>
                  </a:tcPr>
                </a:tc>
                <a:tc>
                  <a:txBody>
                    <a:bodyPr/>
                    <a:lstStyle/>
                    <a:p>
                      <a:pPr algn="ctr">
                        <a:defRPr sz="1000">
                          <a:latin typeface="Montserrat"/>
                        </a:defRPr>
                      </a:pPr>
                      <a:r>
                        <a:t>47,809</a:t>
                      </a:r>
                    </a:p>
                  </a:txBody>
                  <a:tcPr marL="0" marR="0" marT="0" marB="0">
                    <a:solidFill>
                      <a:srgbClr val="ECD3D9"/>
                    </a:solidFill>
                  </a:tcPr>
                </a:tc>
                <a:tc>
                  <a:txBody>
                    <a:bodyPr/>
                    <a:lstStyle/>
                    <a:p>
                      <a:pPr algn="ctr">
                        <a:defRPr sz="1000">
                          <a:latin typeface="Montserrat"/>
                        </a:defRPr>
                      </a:pPr>
                      <a:r>
                        <a:t>150,336</a:t>
                      </a:r>
                    </a:p>
                  </a:txBody>
                  <a:tcPr marL="0" marR="0" marT="0" marB="0">
                    <a:solidFill>
                      <a:srgbClr val="ECD3D9"/>
                    </a:solidFill>
                  </a:tcPr>
                </a:tc>
                <a:tc>
                  <a:txBody>
                    <a:bodyPr/>
                    <a:lstStyle/>
                    <a:p>
                      <a:pPr algn="ctr">
                        <a:defRPr sz="1000">
                          <a:latin typeface="Montserrat"/>
                        </a:defRPr>
                      </a:pPr>
                      <a:r>
                        <a:t>31.8%</a:t>
                      </a:r>
                    </a:p>
                  </a:txBody>
                  <a:tcPr marL="0" marR="0" marT="0" marB="0">
                    <a:solidFill>
                      <a:srgbClr val="ECD3D9"/>
                    </a:solidFill>
                  </a:tcPr>
                </a:tc>
              </a:tr>
              <a:tr h="151200">
                <a:tc>
                  <a:txBody>
                    <a:bodyPr/>
                    <a:lstStyle/>
                    <a:p>
                      <a:pPr algn="l">
                        <a:defRPr sz="1000">
                          <a:latin typeface="Montserrat"/>
                        </a:defRPr>
                      </a:pPr>
                      <a:r>
                        <a:t>UMF 239 Tejupilco</a:t>
                      </a:r>
                    </a:p>
                  </a:txBody>
                  <a:tcPr marL="0" marR="0" marT="0" marB="0">
                    <a:solidFill>
                      <a:srgbClr val="EFEFEF"/>
                    </a:solidFill>
                  </a:tcPr>
                </a:tc>
                <a:tc>
                  <a:txBody>
                    <a:bodyPr/>
                    <a:lstStyle/>
                    <a:p>
                      <a:pPr algn="ctr">
                        <a:defRPr sz="1000">
                          <a:latin typeface="Montserrat"/>
                        </a:defRPr>
                      </a:pPr>
                      <a:r>
                        <a:t>9,352</a:t>
                      </a:r>
                    </a:p>
                  </a:txBody>
                  <a:tcPr marL="0" marR="0" marT="0" marB="0">
                    <a:solidFill>
                      <a:srgbClr val="EFEFEF"/>
                    </a:solidFill>
                  </a:tcPr>
                </a:tc>
                <a:tc>
                  <a:txBody>
                    <a:bodyPr/>
                    <a:lstStyle/>
                    <a:p>
                      <a:pPr algn="ctr">
                        <a:defRPr sz="1000">
                          <a:latin typeface="Montserrat"/>
                        </a:defRPr>
                      </a:pPr>
                      <a:r>
                        <a:t>617</a:t>
                      </a:r>
                    </a:p>
                  </a:txBody>
                  <a:tcPr marL="0" marR="0" marT="0" marB="0">
                    <a:solidFill>
                      <a:srgbClr val="EFEFEF"/>
                    </a:solidFill>
                  </a:tcPr>
                </a:tc>
                <a:tc>
                  <a:txBody>
                    <a:bodyPr/>
                    <a:lstStyle/>
                    <a:p>
                      <a:pPr algn="ctr">
                        <a:defRPr sz="1000">
                          <a:latin typeface="Montserrat"/>
                        </a:defRPr>
                      </a:pPr>
                      <a:r>
                        <a:t>3,237</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233 Valle Bravo</a:t>
                      </a:r>
                    </a:p>
                  </a:txBody>
                  <a:tcPr marL="0" marR="0" marT="0" marB="0">
                    <a:solidFill>
                      <a:srgbClr val="FFFFFF"/>
                    </a:solidFill>
                  </a:tcPr>
                </a:tc>
                <a:tc>
                  <a:txBody>
                    <a:bodyPr/>
                    <a:lstStyle/>
                    <a:p>
                      <a:pPr algn="ctr">
                        <a:defRPr sz="1000">
                          <a:latin typeface="Montserrat"/>
                        </a:defRPr>
                      </a:pPr>
                      <a:r>
                        <a:t>16,362</a:t>
                      </a:r>
                    </a:p>
                  </a:txBody>
                  <a:tcPr marL="0" marR="0" marT="0" marB="0">
                    <a:solidFill>
                      <a:srgbClr val="FFFFFF"/>
                    </a:solidFill>
                  </a:tcPr>
                </a:tc>
                <a:tc>
                  <a:txBody>
                    <a:bodyPr/>
                    <a:lstStyle/>
                    <a:p>
                      <a:pPr algn="ctr">
                        <a:defRPr sz="1000">
                          <a:latin typeface="Montserrat"/>
                        </a:defRPr>
                      </a:pPr>
                      <a:r>
                        <a:t>793</a:t>
                      </a:r>
                    </a:p>
                  </a:txBody>
                  <a:tcPr marL="0" marR="0" marT="0" marB="0">
                    <a:solidFill>
                      <a:srgbClr val="FFFFFF"/>
                    </a:solidFill>
                  </a:tcPr>
                </a:tc>
                <a:tc>
                  <a:txBody>
                    <a:bodyPr/>
                    <a:lstStyle/>
                    <a:p>
                      <a:pPr algn="ctr">
                        <a:defRPr sz="1000">
                          <a:latin typeface="Montserrat"/>
                        </a:defRPr>
                      </a:pPr>
                      <a:r>
                        <a:t>5,911</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l">
                        <a:defRPr sz="1000">
                          <a:latin typeface="Montserrat"/>
                        </a:defRPr>
                      </a:pPr>
                      <a:r>
                        <a:t>UMF 234 Colorínes</a:t>
                      </a:r>
                    </a:p>
                  </a:txBody>
                  <a:tcPr marL="0" marR="0" marT="0" marB="0">
                    <a:solidFill>
                      <a:srgbClr val="EFEFEF"/>
                    </a:solidFill>
                  </a:tcPr>
                </a:tc>
                <a:tc>
                  <a:txBody>
                    <a:bodyPr/>
                    <a:lstStyle/>
                    <a:p>
                      <a:pPr algn="ctr">
                        <a:defRPr sz="1000">
                          <a:latin typeface="Montserrat"/>
                        </a:defRPr>
                      </a:pPr>
                      <a:r>
                        <a:t>22,630</a:t>
                      </a:r>
                    </a:p>
                  </a:txBody>
                  <a:tcPr marL="0" marR="0" marT="0" marB="0">
                    <a:solidFill>
                      <a:srgbClr val="EFEFEF"/>
                    </a:solidFill>
                  </a:tcPr>
                </a:tc>
                <a:tc>
                  <a:txBody>
                    <a:bodyPr/>
                    <a:lstStyle/>
                    <a:p>
                      <a:pPr algn="ctr">
                        <a:defRPr sz="1000">
                          <a:latin typeface="Montserrat"/>
                        </a:defRPr>
                      </a:pPr>
                      <a:r>
                        <a:t>9,031</a:t>
                      </a:r>
                    </a:p>
                  </a:txBody>
                  <a:tcPr marL="0" marR="0" marT="0" marB="0">
                    <a:solidFill>
                      <a:srgbClr val="EFEFEF"/>
                    </a:solidFill>
                  </a:tcPr>
                </a:tc>
                <a:tc>
                  <a:txBody>
                    <a:bodyPr/>
                    <a:lstStyle/>
                    <a:p>
                      <a:pPr algn="ctr">
                        <a:defRPr sz="1000">
                          <a:latin typeface="Montserrat"/>
                        </a:defRPr>
                      </a:pPr>
                      <a:r>
                        <a:t>8,233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l">
                        <a:defRPr sz="1000">
                          <a:latin typeface="Montserrat"/>
                        </a:defRPr>
                      </a:pPr>
                      <a:r>
                        <a:t>UMF 85 Tezoyuca</a:t>
                      </a:r>
                    </a:p>
                  </a:txBody>
                  <a:tcPr marL="0" marR="0" marT="0" marB="0">
                    <a:solidFill>
                      <a:srgbClr val="FFFFFF"/>
                    </a:solidFill>
                  </a:tcPr>
                </a:tc>
                <a:tc>
                  <a:txBody>
                    <a:bodyPr/>
                    <a:lstStyle/>
                    <a:p>
                      <a:pPr algn="ctr">
                        <a:defRPr sz="1000">
                          <a:latin typeface="Montserrat"/>
                        </a:defRPr>
                      </a:pPr>
                      <a:r>
                        <a:t>23,416</a:t>
                      </a:r>
                    </a:p>
                  </a:txBody>
                  <a:tcPr marL="0" marR="0" marT="0" marB="0">
                    <a:solidFill>
                      <a:srgbClr val="FFFFFF"/>
                    </a:solidFill>
                  </a:tcPr>
                </a:tc>
                <a:tc>
                  <a:txBody>
                    <a:bodyPr/>
                    <a:lstStyle/>
                    <a:p>
                      <a:pPr algn="ctr">
                        <a:defRPr sz="1000">
                          <a:latin typeface="Montserrat"/>
                        </a:defRPr>
                      </a:pPr>
                      <a:r>
                        <a:t>2,071</a:t>
                      </a:r>
                    </a:p>
                  </a:txBody>
                  <a:tcPr marL="0" marR="0" marT="0" marB="0">
                    <a:solidFill>
                      <a:srgbClr val="FFFFFF"/>
                    </a:solidFill>
                  </a:tcPr>
                </a:tc>
                <a:tc>
                  <a:txBody>
                    <a:bodyPr/>
                    <a:lstStyle/>
                    <a:p>
                      <a:pPr algn="ctr">
                        <a:defRPr sz="1000">
                          <a:latin typeface="Montserrat"/>
                        </a:defRPr>
                      </a:pPr>
                      <a:r>
                        <a:t>7,475</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29.8%</a:t>
                      </a:r>
                    </a:p>
                  </a:txBody>
                  <a:tcPr marL="0" marR="0" marT="0" marB="0">
                    <a:solidFill>
                      <a:srgbClr val="ECD3D9"/>
                    </a:solidFill>
                  </a:tcPr>
                </a:tc>
              </a:tr>
              <a:tr h="151200">
                <a:tc>
                  <a:txBody>
                    <a:bodyPr/>
                    <a:lstStyle/>
                    <a:p>
                      <a:pPr algn="l">
                        <a:defRPr sz="1000">
                          <a:latin typeface="Montserrat"/>
                        </a:defRPr>
                      </a:pPr>
                      <a:r>
                        <a:t>UMF 81 Juchitepec</a:t>
                      </a:r>
                    </a:p>
                  </a:txBody>
                  <a:tcPr marL="0" marR="0" marT="0" marB="0">
                    <a:solidFill>
                      <a:srgbClr val="EFEFEF"/>
                    </a:solidFill>
                  </a:tcPr>
                </a:tc>
                <a:tc>
                  <a:txBody>
                    <a:bodyPr/>
                    <a:lstStyle/>
                    <a:p>
                      <a:pPr algn="ctr">
                        <a:defRPr sz="1000">
                          <a:latin typeface="Montserrat"/>
                        </a:defRPr>
                      </a:pPr>
                      <a:r>
                        <a:t>22,779</a:t>
                      </a:r>
                    </a:p>
                  </a:txBody>
                  <a:tcPr marL="0" marR="0" marT="0" marB="0">
                    <a:solidFill>
                      <a:srgbClr val="EFEFEF"/>
                    </a:solidFill>
                  </a:tcPr>
                </a:tc>
                <a:tc>
                  <a:txBody>
                    <a:bodyPr/>
                    <a:lstStyle/>
                    <a:p>
                      <a:pPr algn="ctr">
                        <a:defRPr sz="1000">
                          <a:latin typeface="Montserrat"/>
                        </a:defRPr>
                      </a:pPr>
                      <a:r>
                        <a:t>4,697</a:t>
                      </a:r>
                    </a:p>
                  </a:txBody>
                  <a:tcPr marL="0" marR="0" marT="0" marB="0">
                    <a:solidFill>
                      <a:srgbClr val="EFEFEF"/>
                    </a:solidFill>
                  </a:tcPr>
                </a:tc>
                <a:tc>
                  <a:txBody>
                    <a:bodyPr/>
                    <a:lstStyle/>
                    <a:p>
                      <a:pPr algn="ctr">
                        <a:defRPr sz="1000">
                          <a:latin typeface="Montserrat"/>
                        </a:defRPr>
                      </a:pPr>
                      <a:r>
                        <a:t>7,622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30.4%</a:t>
                      </a:r>
                    </a:p>
                  </a:txBody>
                  <a:tcPr marL="0" marR="0" marT="0" marB="0">
                    <a:solidFill>
                      <a:srgbClr val="ECD3D9"/>
                    </a:solidFill>
                  </a:tcPr>
                </a:tc>
              </a:tr>
              <a:tr h="151200">
                <a:tc>
                  <a:txBody>
                    <a:bodyPr/>
                    <a:lstStyle/>
                    <a:p>
                      <a:pPr algn="l">
                        <a:defRPr sz="1000">
                          <a:latin typeface="Montserrat"/>
                        </a:defRPr>
                      </a:pPr>
                      <a:r>
                        <a:t>UMF 87 Ozumba</a:t>
                      </a:r>
                    </a:p>
                  </a:txBody>
                  <a:tcPr marL="0" marR="0" marT="0" marB="0">
                    <a:solidFill>
                      <a:srgbClr val="FFFFFF"/>
                    </a:solidFill>
                  </a:tcPr>
                </a:tc>
                <a:tc>
                  <a:txBody>
                    <a:bodyPr/>
                    <a:lstStyle/>
                    <a:p>
                      <a:pPr algn="ctr">
                        <a:defRPr sz="1000">
                          <a:latin typeface="Montserrat"/>
                        </a:defRPr>
                      </a:pPr>
                      <a:r>
                        <a:t>25,777</a:t>
                      </a:r>
                    </a:p>
                  </a:txBody>
                  <a:tcPr marL="0" marR="0" marT="0" marB="0">
                    <a:solidFill>
                      <a:srgbClr val="FFFFFF"/>
                    </a:solidFill>
                  </a:tcPr>
                </a:tc>
                <a:tc>
                  <a:txBody>
                    <a:bodyPr/>
                    <a:lstStyle/>
                    <a:p>
                      <a:pPr algn="ctr">
                        <a:defRPr sz="1000">
                          <a:latin typeface="Montserrat"/>
                        </a:defRPr>
                      </a:pPr>
                      <a:r>
                        <a:t>2,751</a:t>
                      </a:r>
                    </a:p>
                  </a:txBody>
                  <a:tcPr marL="0" marR="0" marT="0" marB="0">
                    <a:solidFill>
                      <a:srgbClr val="FFFFFF"/>
                    </a:solidFill>
                  </a:tcPr>
                </a:tc>
                <a:tc>
                  <a:txBody>
                    <a:bodyPr/>
                    <a:lstStyle/>
                    <a:p>
                      <a:pPr algn="ctr">
                        <a:defRPr sz="1000">
                          <a:latin typeface="Montserrat"/>
                        </a:defRPr>
                      </a:pPr>
                      <a:r>
                        <a:t>8,916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tr>
              <a:tr h="151200">
                <a:tc>
                  <a:txBody>
                    <a:bodyPr/>
                    <a:lstStyle/>
                    <a:p>
                      <a:pPr algn="l">
                        <a:defRPr sz="1000">
                          <a:latin typeface="Montserrat"/>
                        </a:defRPr>
                      </a:pPr>
                      <a:r>
                        <a:t>UMF 238 Sultepec</a:t>
                      </a:r>
                    </a:p>
                  </a:txBody>
                  <a:tcPr marL="0" marR="0" marT="0" marB="0">
                    <a:solidFill>
                      <a:srgbClr val="EFEFEF"/>
                    </a:solidFill>
                  </a:tcPr>
                </a:tc>
                <a:tc>
                  <a:txBody>
                    <a:bodyPr/>
                    <a:lstStyle/>
                    <a:p>
                      <a:pPr algn="ctr">
                        <a:defRPr sz="1000">
                          <a:latin typeface="Montserrat"/>
                        </a:defRPr>
                      </a:pPr>
                      <a:r>
                        <a:t>4,409</a:t>
                      </a:r>
                    </a:p>
                  </a:txBody>
                  <a:tcPr marL="0" marR="0" marT="0" marB="0">
                    <a:solidFill>
                      <a:srgbClr val="EFEFEF"/>
                    </a:solidFill>
                  </a:tcPr>
                </a:tc>
                <a:tc>
                  <a:txBody>
                    <a:bodyPr/>
                    <a:lstStyle/>
                    <a:p>
                      <a:pPr algn="ctr">
                        <a:defRPr sz="1000">
                          <a:latin typeface="Montserrat"/>
                        </a:defRPr>
                      </a:pPr>
                      <a:r>
                        <a:t>-710</a:t>
                      </a:r>
                    </a:p>
                  </a:txBody>
                  <a:tcPr marL="0" marR="0" marT="0" marB="0">
                    <a:solidFill>
                      <a:srgbClr val="EFEFEF"/>
                    </a:solidFill>
                  </a:tcPr>
                </a:tc>
                <a:tc>
                  <a:txBody>
                    <a:bodyPr/>
                    <a:lstStyle/>
                    <a:p>
                      <a:pPr algn="ctr">
                        <a:defRPr sz="1000">
                          <a:latin typeface="Montserrat"/>
                        </a:defRPr>
                      </a:pPr>
                      <a:r>
                        <a:t>1,671</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27.9%</a:t>
                      </a:r>
                    </a:p>
                  </a:txBody>
                  <a:tcPr marL="0" marR="0" marT="0" marB="0">
                    <a:solidFill>
                      <a:srgbClr val="ECD3D9"/>
                    </a:solidFill>
                  </a:tcPr>
                </a:tc>
              </a:tr>
              <a:tr h="151200">
                <a:tc>
                  <a:txBody>
                    <a:bodyPr/>
                    <a:lstStyle/>
                    <a:p>
                      <a:pPr algn="l">
                        <a:defRPr sz="1000">
                          <a:latin typeface="Montserrat"/>
                        </a:defRPr>
                      </a:pPr>
                      <a:r>
                        <a:t>UMF 95 Pantaco</a:t>
                      </a:r>
                    </a:p>
                  </a:txBody>
                  <a:tcPr marL="0" marR="0" marT="0" marB="0">
                    <a:solidFill>
                      <a:srgbClr val="FFFFFF"/>
                    </a:solidFill>
                  </a:tcPr>
                </a:tc>
                <a:tc>
                  <a:txBody>
                    <a:bodyPr/>
                    <a:lstStyle/>
                    <a:p>
                      <a:pPr algn="ctr">
                        <a:defRPr sz="1000">
                          <a:latin typeface="Montserrat"/>
                        </a:defRPr>
                      </a:pPr>
                      <a:r>
                        <a:t>63,186</a:t>
                      </a:r>
                    </a:p>
                  </a:txBody>
                  <a:tcPr marL="0" marR="0" marT="0" marB="0">
                    <a:solidFill>
                      <a:srgbClr val="FFFFFF"/>
                    </a:solidFill>
                  </a:tcPr>
                </a:tc>
                <a:tc>
                  <a:txBody>
                    <a:bodyPr/>
                    <a:lstStyle/>
                    <a:p>
                      <a:pPr algn="ctr">
                        <a:defRPr sz="1000">
                          <a:latin typeface="Montserrat"/>
                        </a:defRPr>
                      </a:pPr>
                      <a:r>
                        <a:t>3,840</a:t>
                      </a:r>
                    </a:p>
                  </a:txBody>
                  <a:tcPr marL="0" marR="0" marT="0" marB="0">
                    <a:solidFill>
                      <a:srgbClr val="FFFFFF"/>
                    </a:solidFill>
                  </a:tcPr>
                </a:tc>
                <a:tc>
                  <a:txBody>
                    <a:bodyPr/>
                    <a:lstStyle/>
                    <a:p>
                      <a:pPr algn="ctr">
                        <a:defRPr sz="1000">
                          <a:latin typeface="Montserrat"/>
                        </a:defRPr>
                      </a:pPr>
                      <a:r>
                        <a:t>20,658</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27.5%</a:t>
                      </a:r>
                    </a:p>
                  </a:txBody>
                  <a:tcPr marL="0" marR="0" marT="0" marB="0">
                    <a:solidFill>
                      <a:srgbClr val="ECD3D9"/>
                    </a:solidFill>
                  </a:tcPr>
                </a:tc>
              </a:tr>
              <a:tr h="151200">
                <a:tc>
                  <a:txBody>
                    <a:bodyPr/>
                    <a:lstStyle/>
                    <a:p>
                      <a:pPr algn="l">
                        <a:defRPr sz="1000">
                          <a:latin typeface="Montserrat"/>
                        </a:defRPr>
                      </a:pPr>
                      <a:r>
                        <a:t>UMF 88 Sta. Anita</a:t>
                      </a:r>
                    </a:p>
                  </a:txBody>
                  <a:tcPr marL="0" marR="0" marT="0" marB="0">
                    <a:solidFill>
                      <a:srgbClr val="EFEFEF"/>
                    </a:solidFill>
                  </a:tcPr>
                </a:tc>
                <a:tc>
                  <a:txBody>
                    <a:bodyPr/>
                    <a:lstStyle/>
                    <a:p>
                      <a:pPr algn="ctr">
                        <a:defRPr sz="1000">
                          <a:latin typeface="Montserrat"/>
                        </a:defRPr>
                      </a:pPr>
                      <a:r>
                        <a:t>27,571</a:t>
                      </a:r>
                    </a:p>
                  </a:txBody>
                  <a:tcPr marL="0" marR="0" marT="0" marB="0">
                    <a:solidFill>
                      <a:srgbClr val="EFEFEF"/>
                    </a:solidFill>
                  </a:tcPr>
                </a:tc>
                <a:tc>
                  <a:txBody>
                    <a:bodyPr/>
                    <a:lstStyle/>
                    <a:p>
                      <a:pPr algn="ctr">
                        <a:defRPr sz="1000">
                          <a:latin typeface="Montserrat"/>
                        </a:defRPr>
                      </a:pPr>
                      <a:r>
                        <a:t>2,422</a:t>
                      </a:r>
                    </a:p>
                  </a:txBody>
                  <a:tcPr marL="0" marR="0" marT="0" marB="0">
                    <a:solidFill>
                      <a:srgbClr val="EFEFEF"/>
                    </a:solidFill>
                  </a:tcPr>
                </a:tc>
                <a:tc>
                  <a:txBody>
                    <a:bodyPr/>
                    <a:lstStyle/>
                    <a:p>
                      <a:pPr algn="ctr">
                        <a:defRPr sz="1000">
                          <a:latin typeface="Montserrat"/>
                        </a:defRPr>
                      </a:pPr>
                      <a:r>
                        <a:t>9,455</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35.0%</a:t>
                      </a:r>
                    </a:p>
                  </a:txBody>
                  <a:tcPr marL="0" marR="0" marT="0" marB="0">
                    <a:solidFill>
                      <a:srgbClr val="ECD3D9"/>
                    </a:solidFill>
                  </a:tcPr>
                </a:tc>
              </a:tr>
              <a:tr h="151200">
                <a:tc>
                  <a:txBody>
                    <a:bodyPr/>
                    <a:lstStyle/>
                    <a:p>
                      <a:pPr algn="l">
                        <a:defRPr sz="1000">
                          <a:latin typeface="Montserrat"/>
                        </a:defRPr>
                      </a:pPr>
                      <a:r>
                        <a:t>UMF 235 Atlacomulco</a:t>
                      </a:r>
                    </a:p>
                  </a:txBody>
                  <a:tcPr marL="0" marR="0" marT="0" marB="0">
                    <a:solidFill>
                      <a:srgbClr val="FFFFFF"/>
                    </a:solidFill>
                  </a:tcPr>
                </a:tc>
                <a:tc>
                  <a:txBody>
                    <a:bodyPr/>
                    <a:lstStyle/>
                    <a:p>
                      <a:pPr algn="ctr">
                        <a:defRPr sz="1000">
                          <a:latin typeface="Montserrat"/>
                        </a:defRPr>
                      </a:pPr>
                      <a:r>
                        <a:t>63,046</a:t>
                      </a:r>
                    </a:p>
                  </a:txBody>
                  <a:tcPr marL="0" marR="0" marT="0" marB="0">
                    <a:solidFill>
                      <a:srgbClr val="FFFFFF"/>
                    </a:solidFill>
                  </a:tcPr>
                </a:tc>
                <a:tc>
                  <a:txBody>
                    <a:bodyPr/>
                    <a:lstStyle/>
                    <a:p>
                      <a:pPr algn="ctr">
                        <a:defRPr sz="1000">
                          <a:latin typeface="Montserrat"/>
                        </a:defRPr>
                      </a:pPr>
                      <a:r>
                        <a:t>12,269</a:t>
                      </a:r>
                    </a:p>
                  </a:txBody>
                  <a:tcPr marL="0" marR="0" marT="0" marB="0">
                    <a:solidFill>
                      <a:srgbClr val="FFFFFF"/>
                    </a:solidFill>
                  </a:tcPr>
                </a:tc>
                <a:tc>
                  <a:txBody>
                    <a:bodyPr/>
                    <a:lstStyle/>
                    <a:p>
                      <a:pPr algn="ctr">
                        <a:defRPr sz="1000">
                          <a:latin typeface="Montserrat"/>
                        </a:defRPr>
                      </a:pPr>
                      <a:r>
                        <a:t>21,882</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tr>
              <a:tr h="151200">
                <a:tc>
                  <a:txBody>
                    <a:bodyPr/>
                    <a:lstStyle/>
                    <a:p>
                      <a:pPr algn="l">
                        <a:defRPr sz="1000">
                          <a:latin typeface="Montserrat"/>
                        </a:defRPr>
                      </a:pPr>
                      <a:r>
                        <a:t>UMF 242 Tenango</a:t>
                      </a:r>
                    </a:p>
                  </a:txBody>
                  <a:tcPr marL="0" marR="0" marT="0" marB="0">
                    <a:solidFill>
                      <a:srgbClr val="EFEFEF"/>
                    </a:solidFill>
                  </a:tcPr>
                </a:tc>
                <a:tc>
                  <a:txBody>
                    <a:bodyPr/>
                    <a:lstStyle/>
                    <a:p>
                      <a:pPr algn="ctr">
                        <a:defRPr sz="1000">
                          <a:latin typeface="Montserrat"/>
                        </a:defRPr>
                      </a:pPr>
                      <a:r>
                        <a:t>66,238</a:t>
                      </a:r>
                    </a:p>
                  </a:txBody>
                  <a:tcPr marL="0" marR="0" marT="0" marB="0">
                    <a:solidFill>
                      <a:srgbClr val="EFEFEF"/>
                    </a:solidFill>
                  </a:tcPr>
                </a:tc>
                <a:tc>
                  <a:txBody>
                    <a:bodyPr/>
                    <a:lstStyle/>
                    <a:p>
                      <a:pPr algn="ctr">
                        <a:defRPr sz="1000">
                          <a:latin typeface="Montserrat"/>
                        </a:defRPr>
                      </a:pPr>
                      <a:r>
                        <a:t>4,415</a:t>
                      </a:r>
                    </a:p>
                  </a:txBody>
                  <a:tcPr marL="0" marR="0" marT="0" marB="0">
                    <a:solidFill>
                      <a:srgbClr val="EFEFEF"/>
                    </a:solidFill>
                  </a:tcPr>
                </a:tc>
                <a:tc>
                  <a:txBody>
                    <a:bodyPr/>
                    <a:lstStyle/>
                    <a:p>
                      <a:pPr algn="ctr">
                        <a:defRPr sz="1000">
                          <a:latin typeface="Montserrat"/>
                        </a:defRPr>
                      </a:pPr>
                      <a:r>
                        <a:t>21,865</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34.2%</a:t>
                      </a:r>
                    </a:p>
                  </a:txBody>
                  <a:tcPr marL="0" marR="0" marT="0" marB="0">
                    <a:solidFill>
                      <a:srgbClr val="ECD3D9"/>
                    </a:solidFill>
                  </a:tcPr>
                </a:tc>
              </a:tr>
              <a:tr h="151200">
                <a:tc>
                  <a:txBody>
                    <a:bodyPr/>
                    <a:lstStyle/>
                    <a:p>
                      <a:pPr algn="l">
                        <a:defRPr sz="1000">
                          <a:latin typeface="Montserrat"/>
                        </a:defRPr>
                      </a:pPr>
                      <a:r>
                        <a:t>UMF 240 Temascaltepec</a:t>
                      </a:r>
                    </a:p>
                  </a:txBody>
                  <a:tcPr marL="0" marR="0" marT="0" marB="0">
                    <a:solidFill>
                      <a:srgbClr val="FFFFFF"/>
                    </a:solidFill>
                  </a:tcPr>
                </a:tc>
                <a:tc>
                  <a:txBody>
                    <a:bodyPr/>
                    <a:lstStyle/>
                    <a:p>
                      <a:pPr algn="ctr">
                        <a:defRPr sz="1000">
                          <a:latin typeface="Montserrat"/>
                        </a:defRPr>
                      </a:pPr>
                      <a:r>
                        <a:t>7,268</a:t>
                      </a:r>
                    </a:p>
                  </a:txBody>
                  <a:tcPr marL="0" marR="0" marT="0" marB="0">
                    <a:solidFill>
                      <a:srgbClr val="FFFFFF"/>
                    </a:solidFill>
                  </a:tcPr>
                </a:tc>
                <a:tc>
                  <a:txBody>
                    <a:bodyPr/>
                    <a:lstStyle/>
                    <a:p>
                      <a:pPr algn="ctr">
                        <a:defRPr sz="1000">
                          <a:latin typeface="Montserrat"/>
                        </a:defRPr>
                      </a:pPr>
                      <a:r>
                        <a:t>2,695</a:t>
                      </a:r>
                    </a:p>
                  </a:txBody>
                  <a:tcPr marL="0" marR="0" marT="0" marB="0">
                    <a:solidFill>
                      <a:srgbClr val="FFFFFF"/>
                    </a:solidFill>
                  </a:tcPr>
                </a:tc>
                <a:tc>
                  <a:txBody>
                    <a:bodyPr/>
                    <a:lstStyle/>
                    <a:p>
                      <a:pPr algn="ctr">
                        <a:defRPr sz="1000">
                          <a:latin typeface="Montserrat"/>
                        </a:defRPr>
                      </a:pPr>
                      <a:r>
                        <a:t>2,581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32.3%</a:t>
                      </a:r>
                    </a:p>
                  </a:txBody>
                  <a:tcPr marL="0" marR="0" marT="0" marB="0">
                    <a:solidFill>
                      <a:srgbClr val="ECD3D9"/>
                    </a:solidFill>
                  </a:tcPr>
                </a:tc>
              </a:tr>
              <a:tr h="151200">
                <a:tc>
                  <a:txBody>
                    <a:bodyPr/>
                    <a:lstStyle/>
                    <a:p>
                      <a:pPr algn="l">
                        <a:defRPr sz="1000">
                          <a:latin typeface="Montserrat"/>
                        </a:defRPr>
                      </a:pPr>
                      <a:r>
                        <a:t>UMF 236 El Oro</a:t>
                      </a:r>
                    </a:p>
                  </a:txBody>
                  <a:tcPr marL="0" marR="0" marT="0" marB="0">
                    <a:solidFill>
                      <a:srgbClr val="EFEFEF"/>
                    </a:solidFill>
                  </a:tcPr>
                </a:tc>
                <a:tc>
                  <a:txBody>
                    <a:bodyPr/>
                    <a:lstStyle/>
                    <a:p>
                      <a:pPr algn="ctr">
                        <a:defRPr sz="1000">
                          <a:latin typeface="Montserrat"/>
                        </a:defRPr>
                      </a:pPr>
                      <a:r>
                        <a:t>13,384</a:t>
                      </a:r>
                    </a:p>
                  </a:txBody>
                  <a:tcPr marL="0" marR="0" marT="0" marB="0">
                    <a:solidFill>
                      <a:srgbClr val="EFEFEF"/>
                    </a:solidFill>
                  </a:tcPr>
                </a:tc>
                <a:tc>
                  <a:txBody>
                    <a:bodyPr/>
                    <a:lstStyle/>
                    <a:p>
                      <a:pPr algn="ctr">
                        <a:defRPr sz="1000">
                          <a:latin typeface="Montserrat"/>
                        </a:defRPr>
                      </a:pPr>
                      <a:r>
                        <a:t>4,052</a:t>
                      </a:r>
                    </a:p>
                  </a:txBody>
                  <a:tcPr marL="0" marR="0" marT="0" marB="0">
                    <a:solidFill>
                      <a:srgbClr val="EFEFEF"/>
                    </a:solidFill>
                  </a:tcPr>
                </a:tc>
                <a:tc>
                  <a:txBody>
                    <a:bodyPr/>
                    <a:lstStyle/>
                    <a:p>
                      <a:pPr algn="ctr">
                        <a:defRPr sz="1000">
                          <a:latin typeface="Montserrat"/>
                        </a:defRPr>
                      </a:pPr>
                      <a:r>
                        <a:t>4,305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96 Tepozanes</a:t>
                      </a:r>
                    </a:p>
                  </a:txBody>
                  <a:tcPr marL="0" marR="0" marT="0" marB="0">
                    <a:solidFill>
                      <a:srgbClr val="FFFFFF"/>
                    </a:solidFill>
                  </a:tcPr>
                </a:tc>
                <a:tc>
                  <a:txBody>
                    <a:bodyPr/>
                    <a:lstStyle/>
                    <a:p>
                      <a:pPr algn="ctr">
                        <a:defRPr sz="1000">
                          <a:latin typeface="Montserrat"/>
                        </a:defRPr>
                      </a:pPr>
                      <a:r>
                        <a:t>129,449</a:t>
                      </a:r>
                    </a:p>
                  </a:txBody>
                  <a:tcPr marL="0" marR="0" marT="0" marB="0">
                    <a:solidFill>
                      <a:srgbClr val="FFFFFF"/>
                    </a:solidFill>
                  </a:tcPr>
                </a:tc>
                <a:tc>
                  <a:txBody>
                    <a:bodyPr/>
                    <a:lstStyle/>
                    <a:p>
                      <a:pPr algn="ctr">
                        <a:defRPr sz="1000">
                          <a:latin typeface="Montserrat"/>
                        </a:defRPr>
                      </a:pPr>
                      <a:r>
                        <a:t>-922</a:t>
                      </a:r>
                    </a:p>
                  </a:txBody>
                  <a:tcPr marL="0" marR="0" marT="0" marB="0">
                    <a:solidFill>
                      <a:srgbClr val="FFFFFF"/>
                    </a:solidFill>
                  </a:tcPr>
                </a:tc>
                <a:tc>
                  <a:txBody>
                    <a:bodyPr/>
                    <a:lstStyle/>
                    <a:p>
                      <a:pPr algn="ctr">
                        <a:defRPr sz="1000">
                          <a:latin typeface="Montserrat"/>
                        </a:defRPr>
                      </a:pPr>
                      <a:r>
                        <a:t>42,092</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30.5%</a:t>
                      </a:r>
                    </a:p>
                  </a:txBody>
                  <a:tcPr marL="0" marR="0" marT="0" marB="0">
                    <a:solidFill>
                      <a:srgbClr val="ECD3D9"/>
                    </a:solidFill>
                  </a:tcPr>
                </a:tc>
              </a:tr>
              <a:tr h="151200">
                <a:tc>
                  <a:txBody>
                    <a:bodyPr/>
                    <a:lstStyle/>
                    <a:p>
                      <a:pPr algn="l">
                        <a:defRPr sz="1000">
                          <a:latin typeface="Montserrat"/>
                        </a:defRPr>
                      </a:pPr>
                      <a:r>
                        <a:t>UMF 230 Toluca</a:t>
                      </a:r>
                    </a:p>
                  </a:txBody>
                  <a:tcPr marL="0" marR="0" marT="0" marB="0">
                    <a:solidFill>
                      <a:srgbClr val="EFEFEF"/>
                    </a:solidFill>
                  </a:tcPr>
                </a:tc>
                <a:tc>
                  <a:txBody>
                    <a:bodyPr/>
                    <a:lstStyle/>
                    <a:p>
                      <a:pPr algn="ctr">
                        <a:defRPr sz="1000">
                          <a:latin typeface="Montserrat"/>
                        </a:defRPr>
                      </a:pPr>
                      <a:r>
                        <a:t>8,098</a:t>
                      </a:r>
                    </a:p>
                  </a:txBody>
                  <a:tcPr marL="0" marR="0" marT="0" marB="0">
                    <a:solidFill>
                      <a:srgbClr val="EFEFEF"/>
                    </a:solidFill>
                  </a:tcPr>
                </a:tc>
                <a:tc>
                  <a:txBody>
                    <a:bodyPr/>
                    <a:lstStyle/>
                    <a:p>
                      <a:pPr algn="ctr">
                        <a:defRPr sz="1000">
                          <a:latin typeface="Montserrat"/>
                        </a:defRPr>
                      </a:pPr>
                      <a:r>
                        <a:t>266</a:t>
                      </a:r>
                    </a:p>
                  </a:txBody>
                  <a:tcPr marL="0" marR="0" marT="0" marB="0">
                    <a:solidFill>
                      <a:srgbClr val="EFEFEF"/>
                    </a:solidFill>
                  </a:tcPr>
                </a:tc>
                <a:tc>
                  <a:txBody>
                    <a:bodyPr/>
                    <a:lstStyle/>
                    <a:p>
                      <a:pPr algn="ctr">
                        <a:defRPr sz="1000">
                          <a:latin typeface="Montserrat"/>
                        </a:defRPr>
                      </a:pPr>
                      <a:r>
                        <a:t>3,180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35.3%</a:t>
                      </a:r>
                    </a:p>
                  </a:txBody>
                  <a:tcPr marL="0" marR="0" marT="0" marB="0">
                    <a:solidFill>
                      <a:srgbClr val="ECD3D9"/>
                    </a:solidFill>
                  </a:tcPr>
                </a:tc>
              </a:tr>
              <a:tr h="151200">
                <a:tc>
                  <a:txBody>
                    <a:bodyPr/>
                    <a:lstStyle/>
                    <a:p>
                      <a:pPr algn="l">
                        <a:defRPr sz="1000">
                          <a:latin typeface="Montserrat"/>
                        </a:defRPr>
                      </a:pPr>
                      <a:r>
                        <a:t>UMF 229 Tenancingo</a:t>
                      </a:r>
                    </a:p>
                  </a:txBody>
                  <a:tcPr marL="0" marR="0" marT="0" marB="0">
                    <a:solidFill>
                      <a:srgbClr val="FFFFFF"/>
                    </a:solidFill>
                  </a:tcPr>
                </a:tc>
                <a:tc>
                  <a:txBody>
                    <a:bodyPr/>
                    <a:lstStyle/>
                    <a:p>
                      <a:pPr algn="ctr">
                        <a:defRPr sz="1000">
                          <a:latin typeface="Montserrat"/>
                        </a:defRPr>
                      </a:pPr>
                      <a:r>
                        <a:t>27,096</a:t>
                      </a:r>
                    </a:p>
                  </a:txBody>
                  <a:tcPr marL="0" marR="0" marT="0" marB="0">
                    <a:solidFill>
                      <a:srgbClr val="FFFFFF"/>
                    </a:solidFill>
                  </a:tcPr>
                </a:tc>
                <a:tc>
                  <a:txBody>
                    <a:bodyPr/>
                    <a:lstStyle/>
                    <a:p>
                      <a:pPr algn="ctr">
                        <a:defRPr sz="1000">
                          <a:latin typeface="Montserrat"/>
                        </a:defRPr>
                      </a:pPr>
                      <a:r>
                        <a:t>4,805</a:t>
                      </a:r>
                    </a:p>
                  </a:txBody>
                  <a:tcPr marL="0" marR="0" marT="0" marB="0">
                    <a:solidFill>
                      <a:srgbClr val="FFFFFF"/>
                    </a:solidFill>
                  </a:tcPr>
                </a:tc>
                <a:tc>
                  <a:txBody>
                    <a:bodyPr/>
                    <a:lstStyle/>
                    <a:p>
                      <a:pPr algn="ctr">
                        <a:defRPr sz="1000">
                          <a:latin typeface="Montserrat"/>
                        </a:defRPr>
                      </a:pPr>
                      <a:r>
                        <a:t>9,976</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36.9%</a:t>
                      </a:r>
                    </a:p>
                  </a:txBody>
                  <a:tcPr marL="0" marR="0" marT="0" marB="0">
                    <a:solidFill>
                      <a:srgbClr val="ECD3D9"/>
                    </a:solidFill>
                  </a:tcPr>
                </a:tc>
              </a:tr>
              <a:tr h="151200">
                <a:tc>
                  <a:txBody>
                    <a:bodyPr/>
                    <a:lstStyle/>
                    <a:p>
                      <a:pPr algn="l">
                        <a:defRPr sz="1000">
                          <a:latin typeface="Montserrat"/>
                        </a:defRPr>
                      </a:pPr>
                      <a:r>
                        <a:t>UMF 80 Satélite</a:t>
                      </a:r>
                    </a:p>
                  </a:txBody>
                  <a:tcPr marL="0" marR="0" marT="0" marB="0">
                    <a:solidFill>
                      <a:srgbClr val="EFEFEF"/>
                    </a:solidFill>
                  </a:tcPr>
                </a:tc>
                <a:tc>
                  <a:txBody>
                    <a:bodyPr/>
                    <a:lstStyle/>
                    <a:p>
                      <a:pPr algn="ctr">
                        <a:defRPr sz="1000">
                          <a:latin typeface="Montserrat"/>
                        </a:defRPr>
                      </a:pPr>
                      <a:r>
                        <a:t>26,537</a:t>
                      </a:r>
                    </a:p>
                  </a:txBody>
                  <a:tcPr marL="0" marR="0" marT="0" marB="0">
                    <a:solidFill>
                      <a:srgbClr val="EFEFEF"/>
                    </a:solidFill>
                  </a:tcPr>
                </a:tc>
                <a:tc>
                  <a:txBody>
                    <a:bodyPr/>
                    <a:lstStyle/>
                    <a:p>
                      <a:pPr algn="ctr">
                        <a:defRPr sz="1000">
                          <a:latin typeface="Montserrat"/>
                        </a:defRPr>
                      </a:pPr>
                      <a:r>
                        <a:t>9,733</a:t>
                      </a:r>
                    </a:p>
                  </a:txBody>
                  <a:tcPr marL="0" marR="0" marT="0" marB="0">
                    <a:solidFill>
                      <a:srgbClr val="EFEFEF"/>
                    </a:solidFill>
                  </a:tcPr>
                </a:tc>
                <a:tc>
                  <a:txBody>
                    <a:bodyPr/>
                    <a:lstStyle/>
                    <a:p>
                      <a:pPr algn="ctr">
                        <a:defRPr sz="1000">
                          <a:latin typeface="Montserrat"/>
                        </a:defRPr>
                      </a:pPr>
                      <a:r>
                        <a:t>8,266</a:t>
                      </a:r>
                    </a:p>
                  </a:txBody>
                  <a:tcPr marL="0" marR="0" marT="0" marB="0">
                    <a:solidFill>
                      <a:srgbClr val="ECD3D9"/>
                    </a:solidFill>
                  </a:tcPr>
                </a:tc>
                <a:tc>
                  <a:txBody>
                    <a:bodyPr/>
                    <a:lstStyle/>
                    <a:p>
                      <a:pPr algn="ctr">
                        <a:defRPr sz="1000">
                          <a:latin typeface="Montserrat"/>
                        </a:defRPr>
                      </a:pPr>
                      <a:r>
                        <a:t>26,000</a:t>
                      </a:r>
                    </a:p>
                  </a:txBody>
                  <a:tcPr marL="0" marR="0" marT="0" marB="0">
                    <a:solidFill>
                      <a:srgbClr val="ECD3D9"/>
                    </a:solidFill>
                  </a:tcPr>
                </a:tc>
                <a:tc>
                  <a:txBody>
                    <a:bodyPr/>
                    <a:lstStyle/>
                    <a:p>
                      <a:pPr algn="ctr">
                        <a:defRPr sz="1000">
                          <a:latin typeface="Montserrat"/>
                        </a:defRPr>
                      </a:pPr>
                      <a:r>
                        <a:t>31.8%</a:t>
                      </a:r>
                    </a:p>
                  </a:txBody>
                  <a:tcPr marL="0" marR="0" marT="0" marB="0">
                    <a:solidFill>
                      <a:srgbClr val="ECD3D9"/>
                    </a:solidFill>
                  </a:tcPr>
                </a:tc>
              </a:tr>
              <a:tr h="151200">
                <a:tc>
                  <a:txBody>
                    <a:bodyPr/>
                    <a:lstStyle/>
                    <a:p>
                      <a:pPr algn="l">
                        <a:defRPr sz="1000">
                          <a:latin typeface="Montserrat"/>
                        </a:defRPr>
                      </a:pPr>
                      <a:r>
                        <a:t>UMF 186 Iztacala</a:t>
                      </a:r>
                    </a:p>
                  </a:txBody>
                  <a:tcPr marL="0" marR="0" marT="0" marB="0">
                    <a:solidFill>
                      <a:srgbClr val="FFFFFF"/>
                    </a:solidFill>
                  </a:tcPr>
                </a:tc>
                <a:tc>
                  <a:txBody>
                    <a:bodyPr/>
                    <a:lstStyle/>
                    <a:p>
                      <a:pPr algn="ctr">
                        <a:defRPr sz="1000">
                          <a:latin typeface="Montserrat"/>
                        </a:defRPr>
                      </a:pPr>
                      <a:r>
                        <a:t>68,527</a:t>
                      </a:r>
                    </a:p>
                  </a:txBody>
                  <a:tcPr marL="0" marR="0" marT="0" marB="0">
                    <a:solidFill>
                      <a:srgbClr val="FFFFFF"/>
                    </a:solidFill>
                  </a:tcPr>
                </a:tc>
                <a:tc>
                  <a:txBody>
                    <a:bodyPr/>
                    <a:lstStyle/>
                    <a:p>
                      <a:pPr algn="ctr">
                        <a:defRPr sz="1000">
                          <a:latin typeface="Montserrat"/>
                        </a:defRPr>
                      </a:pPr>
                      <a:r>
                        <a:t>2,750</a:t>
                      </a:r>
                    </a:p>
                  </a:txBody>
                  <a:tcPr marL="0" marR="0" marT="0" marB="0">
                    <a:solidFill>
                      <a:srgbClr val="FFFFFF"/>
                    </a:solidFill>
                  </a:tcPr>
                </a:tc>
                <a:tc>
                  <a:txBody>
                    <a:bodyPr/>
                    <a:lstStyle/>
                    <a:p>
                      <a:pPr algn="ctr">
                        <a:defRPr sz="1000">
                          <a:latin typeface="Montserrat"/>
                        </a:defRPr>
                      </a:pPr>
                      <a:r>
                        <a:t>21,981</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192 Atizapán</a:t>
                      </a:r>
                    </a:p>
                  </a:txBody>
                  <a:tcPr marL="0" marR="0" marT="0" marB="0">
                    <a:solidFill>
                      <a:srgbClr val="EFEFEF"/>
                    </a:solidFill>
                  </a:tcPr>
                </a:tc>
                <a:tc>
                  <a:txBody>
                    <a:bodyPr/>
                    <a:lstStyle/>
                    <a:p>
                      <a:pPr algn="ctr">
                        <a:defRPr sz="1000">
                          <a:latin typeface="Montserrat"/>
                        </a:defRPr>
                      </a:pPr>
                      <a:r>
                        <a:t>25,712</a:t>
                      </a:r>
                    </a:p>
                  </a:txBody>
                  <a:tcPr marL="0" marR="0" marT="0" marB="0">
                    <a:solidFill>
                      <a:srgbClr val="EFEFEF"/>
                    </a:solidFill>
                  </a:tcPr>
                </a:tc>
                <a:tc>
                  <a:txBody>
                    <a:bodyPr/>
                    <a:lstStyle/>
                    <a:p>
                      <a:pPr algn="ctr">
                        <a:defRPr sz="1000">
                          <a:latin typeface="Montserrat"/>
                        </a:defRPr>
                      </a:pPr>
                      <a:r>
                        <a:t>4,163</a:t>
                      </a:r>
                    </a:p>
                  </a:txBody>
                  <a:tcPr marL="0" marR="0" marT="0" marB="0">
                    <a:solidFill>
                      <a:srgbClr val="EFEFEF"/>
                    </a:solidFill>
                  </a:tcPr>
                </a:tc>
                <a:tc>
                  <a:txBody>
                    <a:bodyPr/>
                    <a:lstStyle/>
                    <a:p>
                      <a:pPr algn="ctr">
                        <a:defRPr sz="1000">
                          <a:latin typeface="Montserrat"/>
                        </a:defRPr>
                      </a:pPr>
                      <a:r>
                        <a:t>7,824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31.2%</a:t>
                      </a:r>
                    </a:p>
                  </a:txBody>
                  <a:tcPr marL="0" marR="0" marT="0" marB="0">
                    <a:solidFill>
                      <a:srgbClr val="ECD3D9"/>
                    </a:solidFill>
                  </a:tcPr>
                </a:tc>
              </a:tr>
              <a:tr h="151200">
                <a:tc>
                  <a:txBody>
                    <a:bodyPr/>
                    <a:lstStyle/>
                    <a:p>
                      <a:pPr algn="l">
                        <a:defRPr sz="1000">
                          <a:latin typeface="Montserrat"/>
                        </a:defRPr>
                      </a:pPr>
                      <a:r>
                        <a:t>UMF-UMAA 231 Metepec</a:t>
                      </a:r>
                    </a:p>
                  </a:txBody>
                  <a:tcPr marL="0" marR="0" marT="0" marB="0">
                    <a:solidFill>
                      <a:srgbClr val="FFFFFF"/>
                    </a:solidFill>
                  </a:tcPr>
                </a:tc>
                <a:tc>
                  <a:txBody>
                    <a:bodyPr/>
                    <a:lstStyle/>
                    <a:p>
                      <a:pPr algn="ctr">
                        <a:defRPr sz="1000">
                          <a:latin typeface="Montserrat"/>
                        </a:defRPr>
                      </a:pPr>
                      <a:r>
                        <a:t>126,430</a:t>
                      </a:r>
                    </a:p>
                  </a:txBody>
                  <a:tcPr marL="0" marR="0" marT="0" marB="0">
                    <a:solidFill>
                      <a:srgbClr val="FFFFFF"/>
                    </a:solidFill>
                  </a:tcPr>
                </a:tc>
                <a:tc>
                  <a:txBody>
                    <a:bodyPr/>
                    <a:lstStyle/>
                    <a:p>
                      <a:pPr algn="ctr">
                        <a:defRPr sz="1000">
                          <a:latin typeface="Montserrat"/>
                        </a:defRPr>
                      </a:pPr>
                      <a:r>
                        <a:t>21,372</a:t>
                      </a:r>
                    </a:p>
                  </a:txBody>
                  <a:tcPr marL="0" marR="0" marT="0" marB="0">
                    <a:solidFill>
                      <a:srgbClr val="FFFFFF"/>
                    </a:solidFill>
                  </a:tcPr>
                </a:tc>
                <a:tc>
                  <a:txBody>
                    <a:bodyPr/>
                    <a:lstStyle/>
                    <a:p>
                      <a:pPr algn="ctr">
                        <a:defRPr sz="1000">
                          <a:latin typeface="Montserrat"/>
                        </a:defRPr>
                      </a:pPr>
                      <a:r>
                        <a:t>43,056</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241 Temoaya</a:t>
                      </a:r>
                    </a:p>
                  </a:txBody>
                  <a:tcPr marL="0" marR="0" marT="0" marB="0">
                    <a:solidFill>
                      <a:srgbClr val="EFEFEF"/>
                    </a:solidFill>
                  </a:tcPr>
                </a:tc>
                <a:tc>
                  <a:txBody>
                    <a:bodyPr/>
                    <a:lstStyle/>
                    <a:p>
                      <a:pPr algn="ctr">
                        <a:defRPr sz="1000">
                          <a:latin typeface="Montserrat"/>
                        </a:defRPr>
                      </a:pPr>
                      <a:r>
                        <a:t>19,976</a:t>
                      </a:r>
                    </a:p>
                  </a:txBody>
                  <a:tcPr marL="0" marR="0" marT="0" marB="0">
                    <a:solidFill>
                      <a:srgbClr val="EFEFEF"/>
                    </a:solidFill>
                  </a:tcPr>
                </a:tc>
                <a:tc>
                  <a:txBody>
                    <a:bodyPr/>
                    <a:lstStyle/>
                    <a:p>
                      <a:pPr algn="ctr">
                        <a:defRPr sz="1000">
                          <a:latin typeface="Montserrat"/>
                        </a:defRPr>
                      </a:pPr>
                      <a:r>
                        <a:t>4,122</a:t>
                      </a:r>
                    </a:p>
                  </a:txBody>
                  <a:tcPr marL="0" marR="0" marT="0" marB="0">
                    <a:solidFill>
                      <a:srgbClr val="EFEFEF"/>
                    </a:solidFill>
                  </a:tcPr>
                </a:tc>
                <a:tc>
                  <a:txBody>
                    <a:bodyPr/>
                    <a:lstStyle/>
                    <a:p>
                      <a:pPr algn="ctr">
                        <a:defRPr sz="1000">
                          <a:latin typeface="Montserrat"/>
                        </a:defRPr>
                      </a:pPr>
                      <a:r>
                        <a:t>7,582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30.3%</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4" name="CuadroTexto 3">
            <a:extLst>
              <a:ext uri="{FF2B5EF4-FFF2-40B4-BE49-F238E27FC236}">
                <a16:creationId xmlns:a16="http://schemas.microsoft.com/office/drawing/2014/main" id="{51DC8848-2F69-6637-3EEB-2EA3FA367E49}"/>
              </a:ext>
            </a:extLst>
          </p:cNvPr>
          <p:cNvSpPr txBox="1"/>
          <p:nvPr/>
        </p:nvSpPr>
        <p:spPr>
          <a:xfrm>
            <a:off x="4328664" y="7774312"/>
            <a:ext cx="3006672" cy="584775"/>
          </a:xfrm>
          <a:prstGeom prst="rect">
            <a:avLst/>
          </a:prstGeom>
          <a:noFill/>
        </p:spPr>
        <p:txBody>
          <a:bodyPr wrap="square">
            <a:spAutoFit/>
          </a:bodyPr>
          <a:lstStyle/>
          <a:p>
            <a:pPr algn="ctr">
              <a:defRPr sz="2000" b="1">
                <a:solidFill>
                  <a:srgbClr val="5B0F00"/>
                </a:solidFill>
                <a:latin typeface="Montserrat"/>
              </a:defRPr>
            </a:pPr>
            <a:r>
              <a:rPr lang="es-MX" sz="1600" dirty="0"/>
              <a:t>Incremento de 21 consultorios en</a:t>
            </a:r>
          </a:p>
        </p:txBody>
      </p:sp>
      <p:sp>
        <p:nvSpPr>
          <p:cNvPr id="7" name="CuadroTexto 6">
            <a:extLst>
              <a:ext uri="{FF2B5EF4-FFF2-40B4-BE49-F238E27FC236}">
                <a16:creationId xmlns:a16="http://schemas.microsoft.com/office/drawing/2014/main" id="{EA95639D-70C0-CF3C-D31A-B9BB4767D461}"/>
              </a:ext>
            </a:extLst>
          </p:cNvPr>
          <p:cNvSpPr txBox="1"/>
          <p:nvPr/>
        </p:nvSpPr>
        <p:spPr>
          <a:xfrm>
            <a:off x="4517249" y="8305461"/>
            <a:ext cx="3006672" cy="1223412"/>
          </a:xfrm>
          <a:prstGeom prst="rect">
            <a:avLst/>
          </a:prstGeom>
          <a:noFill/>
        </p:spPr>
        <p:txBody>
          <a:bodyPr wrap="square">
            <a:spAutoFit/>
          </a:bodyPr>
          <a:lstStyle/>
          <a:p>
            <a:pPr marL="342900" indent="-342900">
              <a:buFont typeface="+mj-lt"/>
              <a:buAutoNum type="arabicParenR"/>
            </a:pPr>
            <a:r>
              <a:rPr lang="es-MX" sz="1050" dirty="0">
                <a:latin typeface="Montserrat" panose="00000500000000000000" pitchFamily="2" charset="0"/>
              </a:rPr>
              <a:t>UMF 93 Cerro Gordo</a:t>
            </a:r>
          </a:p>
          <a:p>
            <a:pPr marL="342900" indent="-342900">
              <a:buFont typeface="+mj-lt"/>
              <a:buAutoNum type="arabicParenR"/>
            </a:pPr>
            <a:r>
              <a:rPr lang="es-MX" sz="1050" dirty="0">
                <a:latin typeface="Montserrat" panose="00000500000000000000" pitchFamily="2" charset="0"/>
              </a:rPr>
              <a:t>UMF 193 Chalco</a:t>
            </a:r>
          </a:p>
          <a:p>
            <a:pPr marL="342900" indent="-342900">
              <a:buFont typeface="+mj-lt"/>
              <a:buAutoNum type="arabicParenR"/>
            </a:pPr>
            <a:r>
              <a:rPr lang="es-MX" sz="1050" dirty="0">
                <a:latin typeface="Montserrat" panose="00000500000000000000" pitchFamily="2" charset="0"/>
              </a:rPr>
              <a:t>UMF 63 San Ildefonso</a:t>
            </a:r>
          </a:p>
          <a:p>
            <a:pPr marL="342900" indent="-342900">
              <a:buFont typeface="+mj-lt"/>
              <a:buAutoNum type="arabicParenR"/>
            </a:pPr>
            <a:r>
              <a:rPr lang="es-MX" sz="1050" dirty="0">
                <a:latin typeface="Montserrat" panose="00000500000000000000" pitchFamily="2" charset="0"/>
              </a:rPr>
              <a:t>UMF 224 Zinacantepec</a:t>
            </a:r>
          </a:p>
          <a:p>
            <a:pPr marL="342900" indent="-342900">
              <a:buFont typeface="+mj-lt"/>
              <a:buAutoNum type="arabicParenR"/>
            </a:pPr>
            <a:r>
              <a:rPr lang="es-MX" sz="1050" dirty="0">
                <a:latin typeface="Montserrat" panose="00000500000000000000" pitchFamily="2" charset="0"/>
              </a:rPr>
              <a:t>UMF 223 Lerma</a:t>
            </a:r>
          </a:p>
          <a:p>
            <a:pPr marL="342900" indent="-342900">
              <a:buFont typeface="+mj-lt"/>
              <a:buAutoNum type="arabicParenR"/>
            </a:pPr>
            <a:r>
              <a:rPr lang="es-MX" sz="1050" dirty="0">
                <a:latin typeface="Montserrat" panose="00000500000000000000" pitchFamily="2" charset="0"/>
              </a:rPr>
              <a:t>UMF 222 Toluca</a:t>
            </a:r>
          </a:p>
          <a:p>
            <a:pPr marL="342900" indent="-342900">
              <a:buFont typeface="+mj-lt"/>
              <a:buAutoNum type="arabicParenR"/>
            </a:pPr>
            <a:r>
              <a:rPr lang="es-MX" sz="1050" dirty="0">
                <a:latin typeface="Montserrat" panose="00000500000000000000" pitchFamily="2" charset="0"/>
              </a:rPr>
              <a:t>UMF 220 Toluca</a:t>
            </a:r>
          </a:p>
        </p:txBody>
      </p:sp>
      <p:sp>
        <p:nvSpPr>
          <p:cNvPr id="8" name="CuadroTexto 7">
            <a:extLst>
              <a:ext uri="{FF2B5EF4-FFF2-40B4-BE49-F238E27FC236}">
                <a16:creationId xmlns:a16="http://schemas.microsoft.com/office/drawing/2014/main" id="{D3753BE7-39D0-5C34-A248-748461D4BBBD}"/>
              </a:ext>
            </a:extLst>
          </p:cNvPr>
          <p:cNvSpPr txBox="1"/>
          <p:nvPr/>
        </p:nvSpPr>
        <p:spPr>
          <a:xfrm>
            <a:off x="4139742" y="5294468"/>
            <a:ext cx="3481458" cy="830997"/>
          </a:xfrm>
          <a:prstGeom prst="rect">
            <a:avLst/>
          </a:prstGeom>
          <a:noFill/>
        </p:spPr>
        <p:txBody>
          <a:bodyPr wrap="square">
            <a:spAutoFit/>
          </a:bodyPr>
          <a:lstStyle/>
          <a:p>
            <a:pPr algn="ctr">
              <a:defRPr sz="2000" b="1">
                <a:solidFill>
                  <a:srgbClr val="5B0F00"/>
                </a:solidFill>
                <a:latin typeface="Montserrat"/>
              </a:defRPr>
            </a:pPr>
            <a:r>
              <a:rPr lang="es-MX" sz="1600" dirty="0"/>
              <a:t>Proyectos 2026</a:t>
            </a:r>
          </a:p>
          <a:p>
            <a:pPr algn="ctr">
              <a:defRPr sz="2000" b="1">
                <a:solidFill>
                  <a:srgbClr val="5B0F00"/>
                </a:solidFill>
                <a:latin typeface="Montserrat"/>
              </a:defRPr>
            </a:pPr>
            <a:r>
              <a:rPr lang="es-MX" sz="1600" dirty="0"/>
              <a:t>10 Nuevas UMTC con</a:t>
            </a:r>
            <a:br>
              <a:rPr lang="es-MX" sz="1600" dirty="0"/>
            </a:br>
            <a:r>
              <a:rPr lang="es-MX" sz="1600" dirty="0"/>
              <a:t>37 consultorios</a:t>
            </a:r>
          </a:p>
        </p:txBody>
      </p:sp>
      <p:sp>
        <p:nvSpPr>
          <p:cNvPr id="9" name="CuadroTexto 8">
            <a:extLst>
              <a:ext uri="{FF2B5EF4-FFF2-40B4-BE49-F238E27FC236}">
                <a16:creationId xmlns:a16="http://schemas.microsoft.com/office/drawing/2014/main" id="{7F890880-289B-6C29-9C39-77E7ABC39093}"/>
              </a:ext>
            </a:extLst>
          </p:cNvPr>
          <p:cNvSpPr txBox="1"/>
          <p:nvPr/>
        </p:nvSpPr>
        <p:spPr>
          <a:xfrm>
            <a:off x="4517249" y="6097299"/>
            <a:ext cx="3394128" cy="1708160"/>
          </a:xfrm>
          <a:prstGeom prst="rect">
            <a:avLst/>
          </a:prstGeom>
          <a:noFill/>
        </p:spPr>
        <p:txBody>
          <a:bodyPr wrap="square">
            <a:spAutoFit/>
          </a:bodyPr>
          <a:lstStyle/>
          <a:p>
            <a:pPr marL="342900" indent="-342900">
              <a:buFont typeface="+mj-lt"/>
              <a:buAutoNum type="arabicParenR"/>
            </a:pPr>
            <a:r>
              <a:rPr lang="es-MX" sz="1050" dirty="0">
                <a:latin typeface="Montserrat" panose="00000500000000000000" pitchFamily="2" charset="0"/>
              </a:rPr>
              <a:t>HGOMF 60 Tlanepantla</a:t>
            </a:r>
          </a:p>
          <a:p>
            <a:pPr marL="342900" indent="-342900">
              <a:buFont typeface="+mj-lt"/>
              <a:buAutoNum type="arabicParenR"/>
            </a:pPr>
            <a:r>
              <a:rPr lang="es-MX" sz="1050" dirty="0">
                <a:latin typeface="Montserrat" panose="00000500000000000000" pitchFamily="2" charset="0"/>
              </a:rPr>
              <a:t>UMF 77 San Agustín</a:t>
            </a:r>
          </a:p>
          <a:p>
            <a:pPr marL="342900" indent="-342900">
              <a:buFont typeface="+mj-lt"/>
              <a:buAutoNum type="arabicParenR"/>
            </a:pPr>
            <a:r>
              <a:rPr lang="es-MX" sz="1050" dirty="0">
                <a:latin typeface="Montserrat" panose="00000500000000000000" pitchFamily="2" charset="0"/>
              </a:rPr>
              <a:t>UMF 75 Netzahualcóyotl</a:t>
            </a:r>
          </a:p>
          <a:p>
            <a:pPr marL="342900" indent="-342900">
              <a:buFont typeface="+mj-lt"/>
              <a:buAutoNum type="arabicParenR"/>
            </a:pPr>
            <a:r>
              <a:rPr lang="es-MX" sz="1050" dirty="0">
                <a:latin typeface="Montserrat" panose="00000500000000000000" pitchFamily="2" charset="0"/>
              </a:rPr>
              <a:t>UMF 78 Netzahualcóyotl</a:t>
            </a:r>
          </a:p>
          <a:p>
            <a:pPr marL="342900" indent="-342900">
              <a:buFont typeface="+mj-lt"/>
              <a:buAutoNum type="arabicParenR"/>
            </a:pPr>
            <a:r>
              <a:rPr lang="es-MX" sz="1050" dirty="0">
                <a:latin typeface="Montserrat" panose="00000500000000000000" pitchFamily="2" charset="0"/>
              </a:rPr>
              <a:t>UMF 228 Santiago</a:t>
            </a:r>
          </a:p>
          <a:p>
            <a:pPr marL="342900" indent="-342900">
              <a:buFont typeface="+mj-lt"/>
              <a:buAutoNum type="arabicParenR"/>
            </a:pPr>
            <a:r>
              <a:rPr lang="es-MX" sz="1050" dirty="0">
                <a:latin typeface="Montserrat" panose="00000500000000000000" pitchFamily="2" charset="0"/>
              </a:rPr>
              <a:t>UMF 242 Tenango</a:t>
            </a:r>
          </a:p>
          <a:p>
            <a:pPr marL="342900" indent="-342900">
              <a:buFont typeface="+mj-lt"/>
              <a:buAutoNum type="arabicParenR"/>
            </a:pPr>
            <a:r>
              <a:rPr lang="es-MX" sz="1050" dirty="0">
                <a:latin typeface="Montserrat" panose="00000500000000000000" pitchFamily="2" charset="0"/>
              </a:rPr>
              <a:t>UMF 235 Atlacomulco</a:t>
            </a:r>
          </a:p>
          <a:p>
            <a:pPr marL="342900" indent="-342900">
              <a:buFont typeface="+mj-lt"/>
              <a:buAutoNum type="arabicParenR"/>
            </a:pPr>
            <a:r>
              <a:rPr lang="es-MX" sz="1050" dirty="0">
                <a:latin typeface="Montserrat" panose="00000500000000000000" pitchFamily="2" charset="0"/>
              </a:rPr>
              <a:t>UMF-UMAA 231 Metepec</a:t>
            </a:r>
          </a:p>
          <a:p>
            <a:pPr marL="342900" indent="-342900">
              <a:buFont typeface="+mj-lt"/>
              <a:buAutoNum type="arabicParenR"/>
            </a:pPr>
            <a:r>
              <a:rPr lang="es-MX" sz="1050" dirty="0">
                <a:latin typeface="Montserrat" panose="00000500000000000000" pitchFamily="2" charset="0"/>
              </a:rPr>
              <a:t>UMF 250 La Magdalena</a:t>
            </a:r>
          </a:p>
          <a:p>
            <a:pPr marL="342900" indent="-342900">
              <a:buFont typeface="+mj-lt"/>
              <a:buAutoNum type="arabicParenR"/>
            </a:pPr>
            <a:r>
              <a:rPr lang="es-MX" sz="1050" dirty="0">
                <a:latin typeface="Montserrat" panose="00000500000000000000" pitchFamily="2" charset="0"/>
              </a:rPr>
              <a:t>UMF 58 Las Margaritas</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11" name="TextBox 10"/>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12" name="TextBox 11"/>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41 Unidades Médicas de tiempo completo (183 consultorios)</a:t>
            </a:r>
          </a:p>
        </p:txBody>
      </p:sp>
      <p:sp>
        <p:nvSpPr>
          <p:cNvPr id="13" name="TextBox 12"/>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4" name="Connector 13"/>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16" name="TextBox 15"/>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(905,889 consultas)</a:t>
            </a:r>
          </a:p>
        </p:txBody>
      </p:sp>
      <p:graphicFrame>
        <p:nvGraphicFramePr>
          <p:cNvPr id="17" name="Table 16"/>
          <p:cNvGraphicFramePr>
            <a:graphicFrameLocks noGrp="1"/>
          </p:cNvGraphicFramePr>
          <p:nvPr/>
        </p:nvGraphicFramePr>
        <p:xfrm>
          <a:off x="151200" y="1695600"/>
          <a:ext cx="7473599" cy="3477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66 Progreso</a:t>
                      </a:r>
                    </a:p>
                  </a:txBody>
                  <a:tcPr marL="0" marR="0" marT="0" marB="0">
                    <a:solidFill>
                      <a:srgbClr val="FFFFFF"/>
                    </a:solidFill>
                  </a:tcPr>
                </a:tc>
                <a:tc>
                  <a:txBody>
                    <a:bodyPr/>
                    <a:lstStyle/>
                    <a:p>
                      <a:pPr algn="ctr">
                        <a:defRPr sz="1000">
                          <a:solidFill>
                            <a:srgbClr val="000000"/>
                          </a:solidFill>
                          <a:latin typeface="Montserrat"/>
                        </a:defRPr>
                      </a:pPr>
                      <a:r>
                        <a:t>87,744</a:t>
                      </a:r>
                    </a:p>
                  </a:txBody>
                  <a:tcPr marL="0" marR="0" marT="0" marB="0">
                    <a:solidFill>
                      <a:srgbClr val="FFFFFF"/>
                    </a:solidFill>
                  </a:tcPr>
                </a:tc>
                <a:tc>
                  <a:txBody>
                    <a:bodyPr/>
                    <a:lstStyle/>
                    <a:p>
                      <a:pPr algn="ctr">
                        <a:defRPr sz="1000">
                          <a:solidFill>
                            <a:srgbClr val="000000"/>
                          </a:solidFill>
                          <a:latin typeface="Montserrat"/>
                        </a:defRPr>
                      </a:pPr>
                      <a:r>
                        <a:t>18,389</a:t>
                      </a:r>
                    </a:p>
                  </a:txBody>
                  <a:tcPr marL="0" marR="0" marT="0" marB="0">
                    <a:solidFill>
                      <a:srgbClr val="FFFFFF"/>
                    </a:solidFill>
                  </a:tcPr>
                </a:tc>
                <a:tc>
                  <a:txBody>
                    <a:bodyPr/>
                    <a:lstStyle/>
                    <a:p>
                      <a:pPr algn="ctr">
                        <a:defRPr sz="1000">
                          <a:solidFill>
                            <a:srgbClr val="000000"/>
                          </a:solidFill>
                          <a:latin typeface="Montserrat"/>
                        </a:defRPr>
                      </a:pPr>
                      <a:r>
                        <a:t>30,742</a:t>
                      </a:r>
                    </a:p>
                  </a:txBody>
                  <a:tcPr marL="0" marR="0" marT="0" marB="0">
                    <a:solidFill>
                      <a:srgbClr val="ECD3D9"/>
                    </a:solidFill>
                  </a:tcPr>
                </a:tc>
                <a:tc>
                  <a:txBody>
                    <a:bodyPr/>
                    <a:lstStyle/>
                    <a:p>
                      <a:pPr algn="ctr">
                        <a:defRPr sz="1000">
                          <a:solidFill>
                            <a:srgbClr val="000000"/>
                          </a:solidFill>
                          <a:latin typeface="Montserrat"/>
                        </a:defRPr>
                      </a:pPr>
                      <a:r>
                        <a:t>85,000</a:t>
                      </a:r>
                    </a:p>
                  </a:txBody>
                  <a:tcPr marL="0" marR="0" marT="0" marB="0">
                    <a:solidFill>
                      <a:srgbClr val="ECD3D9"/>
                    </a:solidFill>
                  </a:tcPr>
                </a:tc>
                <a:tc>
                  <a:txBody>
                    <a:bodyPr/>
                    <a:lstStyle/>
                    <a:p>
                      <a:pPr algn="ctr">
                        <a:defRPr sz="1000">
                          <a:solidFill>
                            <a:srgbClr val="000000"/>
                          </a:solidFill>
                          <a:latin typeface="Montserrat"/>
                        </a:defRPr>
                      </a:pPr>
                      <a:r>
                        <a:t>36.2%</a:t>
                      </a:r>
                    </a:p>
                  </a:txBody>
                  <a:tcPr marL="0" marR="0" marT="0" marB="0">
                    <a:solidFill>
                      <a:srgbClr val="ECD3D9"/>
                    </a:solidFill>
                  </a:tcPr>
                </a:tc>
              </a:tr>
              <a:tr h="151200">
                <a:tc>
                  <a:txBody>
                    <a:bodyPr/>
                    <a:lstStyle/>
                    <a:p>
                      <a:pPr algn="l">
                        <a:defRPr sz="1000">
                          <a:solidFill>
                            <a:srgbClr val="000000"/>
                          </a:solidFill>
                          <a:latin typeface="Montserrat"/>
                        </a:defRPr>
                      </a:pPr>
                      <a:r>
                        <a:t>UMF 69 Texcoco</a:t>
                      </a:r>
                    </a:p>
                  </a:txBody>
                  <a:tcPr marL="0" marR="0" marT="0" marB="0">
                    <a:solidFill>
                      <a:srgbClr val="EFEFEF"/>
                    </a:solidFill>
                  </a:tcPr>
                </a:tc>
                <a:tc>
                  <a:txBody>
                    <a:bodyPr/>
                    <a:lstStyle/>
                    <a:p>
                      <a:pPr algn="ctr">
                        <a:defRPr sz="1000">
                          <a:solidFill>
                            <a:srgbClr val="000000"/>
                          </a:solidFill>
                          <a:latin typeface="Montserrat"/>
                        </a:defRPr>
                      </a:pPr>
                      <a:r>
                        <a:t>243,613</a:t>
                      </a:r>
                    </a:p>
                  </a:txBody>
                  <a:tcPr marL="0" marR="0" marT="0" marB="0">
                    <a:solidFill>
                      <a:srgbClr val="EFEFEF"/>
                    </a:solidFill>
                  </a:tcPr>
                </a:tc>
                <a:tc>
                  <a:txBody>
                    <a:bodyPr/>
                    <a:lstStyle/>
                    <a:p>
                      <a:pPr algn="ctr">
                        <a:defRPr sz="1000">
                          <a:solidFill>
                            <a:srgbClr val="000000"/>
                          </a:solidFill>
                          <a:latin typeface="Montserrat"/>
                        </a:defRPr>
                      </a:pPr>
                      <a:r>
                        <a:t>37,986</a:t>
                      </a:r>
                    </a:p>
                  </a:txBody>
                  <a:tcPr marL="0" marR="0" marT="0" marB="0">
                    <a:solidFill>
                      <a:srgbClr val="EFEFEF"/>
                    </a:solidFill>
                  </a:tcPr>
                </a:tc>
                <a:tc>
                  <a:txBody>
                    <a:bodyPr/>
                    <a:lstStyle/>
                    <a:p>
                      <a:pPr algn="ctr">
                        <a:defRPr sz="1000">
                          <a:solidFill>
                            <a:srgbClr val="000000"/>
                          </a:solidFill>
                          <a:latin typeface="Montserrat"/>
                        </a:defRPr>
                      </a:pPr>
                      <a:r>
                        <a:t>83,970</a:t>
                      </a:r>
                    </a:p>
                  </a:txBody>
                  <a:tcPr marL="0" marR="0" marT="0" marB="0">
                    <a:solidFill>
                      <a:srgbClr val="ECD3D9"/>
                    </a:solidFill>
                  </a:tcPr>
                </a:tc>
                <a:tc>
                  <a:txBody>
                    <a:bodyPr/>
                    <a:lstStyle/>
                    <a:p>
                      <a:pPr algn="ctr">
                        <a:defRPr sz="1000">
                          <a:solidFill>
                            <a:srgbClr val="000000"/>
                          </a:solidFill>
                          <a:latin typeface="Montserrat"/>
                        </a:defRPr>
                      </a:pPr>
                      <a:r>
                        <a:t>250,560</a:t>
                      </a:r>
                    </a:p>
                  </a:txBody>
                  <a:tcPr marL="0" marR="0" marT="0" marB="0">
                    <a:solidFill>
                      <a:srgbClr val="ECD3D9"/>
                    </a:solidFill>
                  </a:tcPr>
                </a:tc>
                <a:tc>
                  <a:txBody>
                    <a:bodyPr/>
                    <a:lstStyle/>
                    <a:p>
                      <a:pPr algn="ctr">
                        <a:defRPr sz="1000">
                          <a:solidFill>
                            <a:srgbClr val="000000"/>
                          </a:solidFill>
                          <a:latin typeface="Montserrat"/>
                        </a:defRPr>
                      </a:pPr>
                      <a:r>
                        <a:t>33.5%</a:t>
                      </a:r>
                    </a:p>
                  </a:txBody>
                  <a:tcPr marL="0" marR="0" marT="0" marB="0">
                    <a:solidFill>
                      <a:srgbClr val="ECD3D9"/>
                    </a:solidFill>
                  </a:tcPr>
                </a:tc>
              </a:tr>
              <a:tr h="151200">
                <a:tc>
                  <a:txBody>
                    <a:bodyPr/>
                    <a:lstStyle/>
                    <a:p>
                      <a:pPr algn="l">
                        <a:defRPr sz="1000">
                          <a:solidFill>
                            <a:srgbClr val="000000"/>
                          </a:solidFill>
                          <a:latin typeface="Montserrat"/>
                        </a:defRPr>
                      </a:pPr>
                      <a:r>
                        <a:t>UMF 62 Cuautitlán</a:t>
                      </a:r>
                    </a:p>
                  </a:txBody>
                  <a:tcPr marL="0" marR="0" marT="0" marB="0">
                    <a:solidFill>
                      <a:srgbClr val="FFFFFF"/>
                    </a:solidFill>
                  </a:tcPr>
                </a:tc>
                <a:tc>
                  <a:txBody>
                    <a:bodyPr/>
                    <a:lstStyle/>
                    <a:p>
                      <a:pPr algn="ctr">
                        <a:defRPr sz="1000">
                          <a:solidFill>
                            <a:srgbClr val="000000"/>
                          </a:solidFill>
                          <a:latin typeface="Montserrat"/>
                        </a:defRPr>
                      </a:pPr>
                      <a:r>
                        <a:t>414,411</a:t>
                      </a:r>
                    </a:p>
                  </a:txBody>
                  <a:tcPr marL="0" marR="0" marT="0" marB="0">
                    <a:solidFill>
                      <a:srgbClr val="FFFFFF"/>
                    </a:solidFill>
                  </a:tcPr>
                </a:tc>
                <a:tc>
                  <a:txBody>
                    <a:bodyPr/>
                    <a:lstStyle/>
                    <a:p>
                      <a:pPr algn="ctr">
                        <a:defRPr sz="1000">
                          <a:solidFill>
                            <a:srgbClr val="000000"/>
                          </a:solidFill>
                          <a:latin typeface="Montserrat"/>
                        </a:defRPr>
                      </a:pPr>
                      <a:r>
                        <a:t>37,247</a:t>
                      </a:r>
                    </a:p>
                  </a:txBody>
                  <a:tcPr marL="0" marR="0" marT="0" marB="0">
                    <a:solidFill>
                      <a:srgbClr val="FFFFFF"/>
                    </a:solidFill>
                  </a:tcPr>
                </a:tc>
                <a:tc>
                  <a:txBody>
                    <a:bodyPr/>
                    <a:lstStyle/>
                    <a:p>
                      <a:pPr algn="ctr">
                        <a:defRPr sz="1000">
                          <a:solidFill>
                            <a:srgbClr val="000000"/>
                          </a:solidFill>
                          <a:latin typeface="Montserrat"/>
                        </a:defRPr>
                      </a:pPr>
                      <a:r>
                        <a:t>129,144</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29.3%</a:t>
                      </a:r>
                    </a:p>
                  </a:txBody>
                  <a:tcPr marL="0" marR="0" marT="0" marB="0">
                    <a:solidFill>
                      <a:srgbClr val="ECD3D9"/>
                    </a:solidFill>
                  </a:tcPr>
                </a:tc>
              </a:tr>
              <a:tr h="151200">
                <a:tc>
                  <a:txBody>
                    <a:bodyPr/>
                    <a:lstStyle/>
                    <a:p>
                      <a:pPr algn="l">
                        <a:defRPr sz="1000">
                          <a:solidFill>
                            <a:srgbClr val="000000"/>
                          </a:solidFill>
                          <a:latin typeface="Montserrat"/>
                        </a:defRPr>
                      </a:pPr>
                      <a:r>
                        <a:t>UMF 65 Río Hondo</a:t>
                      </a:r>
                    </a:p>
                  </a:txBody>
                  <a:tcPr marL="0" marR="0" marT="0" marB="0">
                    <a:solidFill>
                      <a:srgbClr val="EFEFEF"/>
                    </a:solidFill>
                  </a:tcPr>
                </a:tc>
                <a:tc>
                  <a:txBody>
                    <a:bodyPr/>
                    <a:lstStyle/>
                    <a:p>
                      <a:pPr algn="ctr">
                        <a:defRPr sz="1000">
                          <a:solidFill>
                            <a:srgbClr val="000000"/>
                          </a:solidFill>
                          <a:latin typeface="Montserrat"/>
                        </a:defRPr>
                      </a:pPr>
                      <a:r>
                        <a:t>139,614</a:t>
                      </a:r>
                    </a:p>
                  </a:txBody>
                  <a:tcPr marL="0" marR="0" marT="0" marB="0">
                    <a:solidFill>
                      <a:srgbClr val="EFEFEF"/>
                    </a:solidFill>
                  </a:tcPr>
                </a:tc>
                <a:tc>
                  <a:txBody>
                    <a:bodyPr/>
                    <a:lstStyle/>
                    <a:p>
                      <a:pPr algn="ctr">
                        <a:defRPr sz="1000">
                          <a:solidFill>
                            <a:srgbClr val="000000"/>
                          </a:solidFill>
                          <a:latin typeface="Montserrat"/>
                        </a:defRPr>
                      </a:pPr>
                      <a:r>
                        <a:t>23,645</a:t>
                      </a:r>
                    </a:p>
                  </a:txBody>
                  <a:tcPr marL="0" marR="0" marT="0" marB="0">
                    <a:solidFill>
                      <a:srgbClr val="EFEFEF"/>
                    </a:solidFill>
                  </a:tcPr>
                </a:tc>
                <a:tc>
                  <a:txBody>
                    <a:bodyPr/>
                    <a:lstStyle/>
                    <a:p>
                      <a:pPr algn="ctr">
                        <a:defRPr sz="1000">
                          <a:solidFill>
                            <a:srgbClr val="000000"/>
                          </a:solidFill>
                          <a:latin typeface="Montserrat"/>
                        </a:defRPr>
                      </a:pPr>
                      <a:r>
                        <a:t>48,156</a:t>
                      </a:r>
                    </a:p>
                  </a:txBody>
                  <a:tcPr marL="0" marR="0" marT="0" marB="0">
                    <a:solidFill>
                      <a:srgbClr val="ECD3D9"/>
                    </a:solidFill>
                  </a:tcPr>
                </a:tc>
                <a:tc>
                  <a:txBody>
                    <a:bodyPr/>
                    <a:lstStyle/>
                    <a:p>
                      <a:pPr algn="ctr">
                        <a:defRPr sz="1000">
                          <a:solidFill>
                            <a:srgbClr val="000000"/>
                          </a:solidFill>
                          <a:latin typeface="Montserrat"/>
                        </a:defRPr>
                      </a:pPr>
                      <a:r>
                        <a:t>137,760</a:t>
                      </a:r>
                    </a:p>
                  </a:txBody>
                  <a:tcPr marL="0" marR="0" marT="0" marB="0">
                    <a:solidFill>
                      <a:srgbClr val="ECD3D9"/>
                    </a:solidFill>
                  </a:tcPr>
                </a:tc>
                <a:tc>
                  <a:txBody>
                    <a:bodyPr/>
                    <a:lstStyle/>
                    <a:p>
                      <a:pPr algn="ctr">
                        <a:defRPr sz="1000">
                          <a:solidFill>
                            <a:srgbClr val="000000"/>
                          </a:solidFill>
                          <a:latin typeface="Montserrat"/>
                        </a:defRPr>
                      </a:pPr>
                      <a:r>
                        <a:t>35.0%</a:t>
                      </a:r>
                    </a:p>
                  </a:txBody>
                  <a:tcPr marL="0" marR="0" marT="0" marB="0">
                    <a:solidFill>
                      <a:srgbClr val="ECD3D9"/>
                    </a:solidFill>
                  </a:tcPr>
                </a:tc>
              </a:tr>
              <a:tr h="151200">
                <a:tc>
                  <a:txBody>
                    <a:bodyPr/>
                    <a:lstStyle/>
                    <a:p>
                      <a:pPr algn="l">
                        <a:defRPr sz="1000">
                          <a:solidFill>
                            <a:srgbClr val="000000"/>
                          </a:solidFill>
                          <a:latin typeface="Montserrat"/>
                        </a:defRPr>
                      </a:pPr>
                      <a:r>
                        <a:t>UMF 63 San Ildefonso</a:t>
                      </a:r>
                    </a:p>
                  </a:txBody>
                  <a:tcPr marL="0" marR="0" marT="0" marB="0">
                    <a:solidFill>
                      <a:srgbClr val="FFFFFF"/>
                    </a:solidFill>
                  </a:tcPr>
                </a:tc>
                <a:tc>
                  <a:txBody>
                    <a:bodyPr/>
                    <a:lstStyle/>
                    <a:p>
                      <a:pPr algn="ctr">
                        <a:defRPr sz="1000">
                          <a:solidFill>
                            <a:srgbClr val="000000"/>
                          </a:solidFill>
                          <a:latin typeface="Montserrat"/>
                        </a:defRPr>
                      </a:pPr>
                      <a:r>
                        <a:t>320,274</a:t>
                      </a:r>
                    </a:p>
                  </a:txBody>
                  <a:tcPr marL="0" marR="0" marT="0" marB="0">
                    <a:solidFill>
                      <a:srgbClr val="FFFFFF"/>
                    </a:solidFill>
                  </a:tcPr>
                </a:tc>
                <a:tc>
                  <a:txBody>
                    <a:bodyPr/>
                    <a:lstStyle/>
                    <a:p>
                      <a:pPr algn="ctr">
                        <a:defRPr sz="1000">
                          <a:solidFill>
                            <a:srgbClr val="000000"/>
                          </a:solidFill>
                          <a:latin typeface="Montserrat"/>
                        </a:defRPr>
                      </a:pPr>
                      <a:r>
                        <a:t>10,858</a:t>
                      </a:r>
                    </a:p>
                  </a:txBody>
                  <a:tcPr marL="0" marR="0" marT="0" marB="0">
                    <a:solidFill>
                      <a:srgbClr val="FFFFFF"/>
                    </a:solidFill>
                  </a:tcPr>
                </a:tc>
                <a:tc>
                  <a:txBody>
                    <a:bodyPr/>
                    <a:lstStyle/>
                    <a:p>
                      <a:pPr algn="ctr">
                        <a:defRPr sz="1000">
                          <a:solidFill>
                            <a:srgbClr val="000000"/>
                          </a:solidFill>
                          <a:latin typeface="Montserrat"/>
                        </a:defRPr>
                      </a:pPr>
                      <a:r>
                        <a:t>108,616</a:t>
                      </a:r>
                    </a:p>
                  </a:txBody>
                  <a:tcPr marL="0" marR="0" marT="0" marB="0">
                    <a:solidFill>
                      <a:srgbClr val="ECD3D9"/>
                    </a:solidFill>
                  </a:tcPr>
                </a:tc>
                <a:tc>
                  <a:txBody>
                    <a:bodyPr/>
                    <a:lstStyle/>
                    <a:p>
                      <a:pPr algn="ctr">
                        <a:defRPr sz="1000">
                          <a:solidFill>
                            <a:srgbClr val="000000"/>
                          </a:solidFill>
                          <a:latin typeface="Montserrat"/>
                        </a:defRPr>
                      </a:pPr>
                      <a:r>
                        <a:t>316,848</a:t>
                      </a:r>
                    </a:p>
                  </a:txBody>
                  <a:tcPr marL="0" marR="0" marT="0" marB="0">
                    <a:solidFill>
                      <a:srgbClr val="ECD3D9"/>
                    </a:solidFill>
                  </a:tcPr>
                </a:tc>
                <a:tc>
                  <a:txBody>
                    <a:bodyPr/>
                    <a:lstStyle/>
                    <a:p>
                      <a:pPr algn="ctr">
                        <a:defRPr sz="1000">
                          <a:solidFill>
                            <a:srgbClr val="000000"/>
                          </a:solidFill>
                          <a:latin typeface="Montserrat"/>
                        </a:defRPr>
                      </a:pPr>
                      <a:r>
                        <a:t>34.3%</a:t>
                      </a:r>
                    </a:p>
                  </a:txBody>
                  <a:tcPr marL="0" marR="0" marT="0" marB="0">
                    <a:solidFill>
                      <a:srgbClr val="ECD3D9"/>
                    </a:solidFill>
                  </a:tcPr>
                </a:tc>
              </a:tr>
              <a:tr h="151200">
                <a:tc>
                  <a:txBody>
                    <a:bodyPr/>
                    <a:lstStyle/>
                    <a:p>
                      <a:pPr algn="l">
                        <a:defRPr sz="1000">
                          <a:solidFill>
                            <a:srgbClr val="000000"/>
                          </a:solidFill>
                          <a:latin typeface="Montserrat"/>
                        </a:defRPr>
                      </a:pPr>
                      <a:r>
                        <a:t>UMF 64 Tequesquinahuac</a:t>
                      </a:r>
                    </a:p>
                  </a:txBody>
                  <a:tcPr marL="0" marR="0" marT="0" marB="0">
                    <a:solidFill>
                      <a:srgbClr val="EFEFEF"/>
                    </a:solidFill>
                  </a:tcPr>
                </a:tc>
                <a:tc>
                  <a:txBody>
                    <a:bodyPr/>
                    <a:lstStyle/>
                    <a:p>
                      <a:pPr algn="ctr">
                        <a:defRPr sz="1000">
                          <a:solidFill>
                            <a:srgbClr val="000000"/>
                          </a:solidFill>
                          <a:latin typeface="Montserrat"/>
                        </a:defRPr>
                      </a:pPr>
                      <a:r>
                        <a:t>474,869</a:t>
                      </a:r>
                    </a:p>
                  </a:txBody>
                  <a:tcPr marL="0" marR="0" marT="0" marB="0">
                    <a:solidFill>
                      <a:srgbClr val="EFEFEF"/>
                    </a:solidFill>
                  </a:tcPr>
                </a:tc>
                <a:tc>
                  <a:txBody>
                    <a:bodyPr/>
                    <a:lstStyle/>
                    <a:p>
                      <a:pPr algn="ctr">
                        <a:defRPr sz="1000">
                          <a:solidFill>
                            <a:srgbClr val="000000"/>
                          </a:solidFill>
                          <a:latin typeface="Montserrat"/>
                        </a:defRPr>
                      </a:pPr>
                      <a:r>
                        <a:t>10,670</a:t>
                      </a:r>
                    </a:p>
                  </a:txBody>
                  <a:tcPr marL="0" marR="0" marT="0" marB="0">
                    <a:solidFill>
                      <a:srgbClr val="EFEFEF"/>
                    </a:solidFill>
                  </a:tcPr>
                </a:tc>
                <a:tc>
                  <a:txBody>
                    <a:bodyPr/>
                    <a:lstStyle/>
                    <a:p>
                      <a:pPr algn="ctr">
                        <a:defRPr sz="1000">
                          <a:solidFill>
                            <a:srgbClr val="000000"/>
                          </a:solidFill>
                          <a:latin typeface="Montserrat"/>
                        </a:defRPr>
                      </a:pPr>
                      <a:r>
                        <a:t>156,560</a:t>
                      </a:r>
                    </a:p>
                  </a:txBody>
                  <a:tcPr marL="0" marR="0" marT="0" marB="0">
                    <a:solidFill>
                      <a:srgbClr val="ECD3D9"/>
                    </a:solidFill>
                  </a:tcPr>
                </a:tc>
                <a:tc>
                  <a:txBody>
                    <a:bodyPr/>
                    <a:lstStyle/>
                    <a:p>
                      <a:pPr algn="ctr">
                        <a:defRPr sz="1000">
                          <a:solidFill>
                            <a:srgbClr val="000000"/>
                          </a:solidFill>
                          <a:latin typeface="Montserrat"/>
                        </a:defRPr>
                      </a:pPr>
                      <a:r>
                        <a:t>488,592</a:t>
                      </a:r>
                    </a:p>
                  </a:txBody>
                  <a:tcPr marL="0" marR="0" marT="0" marB="0">
                    <a:solidFill>
                      <a:srgbClr val="ECD3D9"/>
                    </a:solidFill>
                  </a:tcPr>
                </a:tc>
                <a:tc>
                  <a:txBody>
                    <a:bodyPr/>
                    <a:lstStyle/>
                    <a:p>
                      <a:pPr algn="ctr">
                        <a:defRPr sz="1000">
                          <a:solidFill>
                            <a:srgbClr val="000000"/>
                          </a:solidFill>
                          <a:latin typeface="Montserrat"/>
                        </a:defRPr>
                      </a:pPr>
                      <a:r>
                        <a:t>32.0%</a:t>
                      </a:r>
                    </a:p>
                  </a:txBody>
                  <a:tcPr marL="0" marR="0" marT="0" marB="0">
                    <a:solidFill>
                      <a:srgbClr val="ECD3D9"/>
                    </a:solidFill>
                  </a:tcPr>
                </a:tc>
              </a:tr>
              <a:tr h="151200">
                <a:tc>
                  <a:txBody>
                    <a:bodyPr/>
                    <a:lstStyle/>
                    <a:p>
                      <a:pPr algn="l">
                        <a:defRPr sz="1000">
                          <a:solidFill>
                            <a:srgbClr val="000000"/>
                          </a:solidFill>
                          <a:latin typeface="Montserrat"/>
                        </a:defRPr>
                      </a:pPr>
                      <a:r>
                        <a:t>UMF 61 Naucalpan</a:t>
                      </a:r>
                    </a:p>
                  </a:txBody>
                  <a:tcPr marL="0" marR="0" marT="0" marB="0">
                    <a:solidFill>
                      <a:srgbClr val="FFFFFF"/>
                    </a:solidFill>
                  </a:tcPr>
                </a:tc>
                <a:tc>
                  <a:txBody>
                    <a:bodyPr/>
                    <a:lstStyle/>
                    <a:p>
                      <a:pPr algn="ctr">
                        <a:defRPr sz="1000">
                          <a:solidFill>
                            <a:srgbClr val="000000"/>
                          </a:solidFill>
                          <a:latin typeface="Montserrat"/>
                        </a:defRPr>
                      </a:pPr>
                      <a:r>
                        <a:t>464,730</a:t>
                      </a:r>
                    </a:p>
                  </a:txBody>
                  <a:tcPr marL="0" marR="0" marT="0" marB="0">
                    <a:solidFill>
                      <a:srgbClr val="FFFFFF"/>
                    </a:solidFill>
                  </a:tcPr>
                </a:tc>
                <a:tc>
                  <a:txBody>
                    <a:bodyPr/>
                    <a:lstStyle/>
                    <a:p>
                      <a:pPr algn="ctr">
                        <a:defRPr sz="1000">
                          <a:solidFill>
                            <a:srgbClr val="000000"/>
                          </a:solidFill>
                          <a:latin typeface="Montserrat"/>
                        </a:defRPr>
                      </a:pPr>
                      <a:r>
                        <a:t>57,129</a:t>
                      </a:r>
                    </a:p>
                  </a:txBody>
                  <a:tcPr marL="0" marR="0" marT="0" marB="0">
                    <a:solidFill>
                      <a:srgbClr val="FFFFFF"/>
                    </a:solidFill>
                  </a:tcPr>
                </a:tc>
                <a:tc>
                  <a:txBody>
                    <a:bodyPr/>
                    <a:lstStyle/>
                    <a:p>
                      <a:pPr algn="ctr">
                        <a:defRPr sz="1000">
                          <a:solidFill>
                            <a:srgbClr val="000000"/>
                          </a:solidFill>
                          <a:latin typeface="Montserrat"/>
                        </a:defRPr>
                      </a:pPr>
                      <a:r>
                        <a:t>143,513</a:t>
                      </a:r>
                    </a:p>
                  </a:txBody>
                  <a:tcPr marL="0" marR="0" marT="0" marB="0">
                    <a:solidFill>
                      <a:srgbClr val="ECD3D9"/>
                    </a:solidFill>
                  </a:tcPr>
                </a:tc>
                <a:tc>
                  <a:txBody>
                    <a:bodyPr/>
                    <a:lstStyle/>
                    <a:p>
                      <a:pPr algn="ctr">
                        <a:defRPr sz="1000">
                          <a:solidFill>
                            <a:srgbClr val="000000"/>
                          </a:solidFill>
                          <a:latin typeface="Montserrat"/>
                        </a:defRPr>
                      </a:pPr>
                      <a:r>
                        <a:t>454,608</a:t>
                      </a:r>
                    </a:p>
                  </a:txBody>
                  <a:tcPr marL="0" marR="0" marT="0" marB="0">
                    <a:solidFill>
                      <a:srgbClr val="ECD3D9"/>
                    </a:solidFill>
                  </a:tcPr>
                </a:tc>
                <a:tc>
                  <a:txBody>
                    <a:bodyPr/>
                    <a:lstStyle/>
                    <a:p>
                      <a:pPr algn="ctr">
                        <a:defRPr sz="1000">
                          <a:solidFill>
                            <a:srgbClr val="000000"/>
                          </a:solidFill>
                          <a:latin typeface="Montserrat"/>
                        </a:defRPr>
                      </a:pPr>
                      <a:r>
                        <a:t>31.6%</a:t>
                      </a:r>
                    </a:p>
                  </a:txBody>
                  <a:tcPr marL="0" marR="0" marT="0" marB="0">
                    <a:solidFill>
                      <a:srgbClr val="ECD3D9"/>
                    </a:solidFill>
                  </a:tcPr>
                </a:tc>
              </a:tr>
              <a:tr h="151200">
                <a:tc>
                  <a:txBody>
                    <a:bodyPr/>
                    <a:lstStyle/>
                    <a:p>
                      <a:pPr algn="l">
                        <a:defRPr sz="1000">
                          <a:solidFill>
                            <a:srgbClr val="000000"/>
                          </a:solidFill>
                          <a:latin typeface="Montserrat"/>
                        </a:defRPr>
                      </a:pPr>
                      <a:r>
                        <a:t>UMF 222 Toluca</a:t>
                      </a:r>
                    </a:p>
                  </a:txBody>
                  <a:tcPr marL="0" marR="0" marT="0" marB="0">
                    <a:solidFill>
                      <a:srgbClr val="EFEFEF"/>
                    </a:solidFill>
                  </a:tcPr>
                </a:tc>
                <a:tc>
                  <a:txBody>
                    <a:bodyPr/>
                    <a:lstStyle/>
                    <a:p>
                      <a:pPr algn="ctr">
                        <a:defRPr sz="1000">
                          <a:solidFill>
                            <a:srgbClr val="000000"/>
                          </a:solidFill>
                          <a:latin typeface="Montserrat"/>
                        </a:defRPr>
                      </a:pPr>
                      <a:r>
                        <a:t>350,845</a:t>
                      </a:r>
                    </a:p>
                  </a:txBody>
                  <a:tcPr marL="0" marR="0" marT="0" marB="0">
                    <a:solidFill>
                      <a:srgbClr val="EFEFEF"/>
                    </a:solidFill>
                  </a:tcPr>
                </a:tc>
                <a:tc>
                  <a:txBody>
                    <a:bodyPr/>
                    <a:lstStyle/>
                    <a:p>
                      <a:pPr algn="ctr">
                        <a:defRPr sz="1000">
                          <a:solidFill>
                            <a:srgbClr val="000000"/>
                          </a:solidFill>
                          <a:latin typeface="Montserrat"/>
                        </a:defRPr>
                      </a:pPr>
                      <a:r>
                        <a:t>54,300</a:t>
                      </a:r>
                    </a:p>
                  </a:txBody>
                  <a:tcPr marL="0" marR="0" marT="0" marB="0">
                    <a:solidFill>
                      <a:srgbClr val="EFEFEF"/>
                    </a:solidFill>
                  </a:tcPr>
                </a:tc>
                <a:tc>
                  <a:txBody>
                    <a:bodyPr/>
                    <a:lstStyle/>
                    <a:p>
                      <a:pPr algn="ctr">
                        <a:defRPr sz="1000">
                          <a:solidFill>
                            <a:srgbClr val="000000"/>
                          </a:solidFill>
                          <a:latin typeface="Montserrat"/>
                        </a:defRPr>
                      </a:pPr>
                      <a:r>
                        <a:t>117,704</a:t>
                      </a:r>
                    </a:p>
                  </a:txBody>
                  <a:tcPr marL="0" marR="0" marT="0" marB="0">
                    <a:solidFill>
                      <a:srgbClr val="ECD3D9"/>
                    </a:solidFill>
                  </a:tcPr>
                </a:tc>
                <a:tc>
                  <a:txBody>
                    <a:bodyPr/>
                    <a:lstStyle/>
                    <a:p>
                      <a:pPr algn="ctr">
                        <a:defRPr sz="1000">
                          <a:solidFill>
                            <a:srgbClr val="000000"/>
                          </a:solidFill>
                          <a:latin typeface="Montserrat"/>
                        </a:defRPr>
                      </a:pPr>
                      <a:r>
                        <a:t>341,000</a:t>
                      </a:r>
                    </a:p>
                  </a:txBody>
                  <a:tcPr marL="0" marR="0" marT="0" marB="0">
                    <a:solidFill>
                      <a:srgbClr val="ECD3D9"/>
                    </a:solidFill>
                  </a:tcPr>
                </a:tc>
                <a:tc>
                  <a:txBody>
                    <a:bodyPr/>
                    <a:lstStyle/>
                    <a:p>
                      <a:pPr algn="ctr">
                        <a:defRPr sz="1000">
                          <a:solidFill>
                            <a:srgbClr val="000000"/>
                          </a:solidFill>
                          <a:latin typeface="Montserrat"/>
                        </a:defRPr>
                      </a:pPr>
                      <a:r>
                        <a:t>34.5%</a:t>
                      </a:r>
                    </a:p>
                  </a:txBody>
                  <a:tcPr marL="0" marR="0" marT="0" marB="0">
                    <a:solidFill>
                      <a:srgbClr val="ECD3D9"/>
                    </a:solidFill>
                  </a:tcPr>
                </a:tc>
              </a:tr>
              <a:tr h="151200">
                <a:tc>
                  <a:txBody>
                    <a:bodyPr/>
                    <a:lstStyle/>
                    <a:p>
                      <a:pPr algn="l">
                        <a:defRPr sz="1000">
                          <a:solidFill>
                            <a:srgbClr val="000000"/>
                          </a:solidFill>
                          <a:latin typeface="Montserrat"/>
                        </a:defRPr>
                      </a:pPr>
                      <a:r>
                        <a:t>UMF 70 Ayotla</a:t>
                      </a:r>
                    </a:p>
                  </a:txBody>
                  <a:tcPr marL="0" marR="0" marT="0" marB="0">
                    <a:solidFill>
                      <a:srgbClr val="FFFFFF"/>
                    </a:solidFill>
                  </a:tcPr>
                </a:tc>
                <a:tc>
                  <a:txBody>
                    <a:bodyPr/>
                    <a:lstStyle/>
                    <a:p>
                      <a:pPr algn="ctr">
                        <a:defRPr sz="1000">
                          <a:solidFill>
                            <a:srgbClr val="000000"/>
                          </a:solidFill>
                          <a:latin typeface="Montserrat"/>
                        </a:defRPr>
                      </a:pPr>
                      <a:r>
                        <a:t>185,267</a:t>
                      </a:r>
                    </a:p>
                  </a:txBody>
                  <a:tcPr marL="0" marR="0" marT="0" marB="0">
                    <a:solidFill>
                      <a:srgbClr val="FFFFFF"/>
                    </a:solidFill>
                  </a:tcPr>
                </a:tc>
                <a:tc>
                  <a:txBody>
                    <a:bodyPr/>
                    <a:lstStyle/>
                    <a:p>
                      <a:pPr algn="ctr">
                        <a:defRPr sz="1000">
                          <a:solidFill>
                            <a:srgbClr val="000000"/>
                          </a:solidFill>
                          <a:latin typeface="Montserrat"/>
                        </a:defRPr>
                      </a:pPr>
                      <a:r>
                        <a:t>7,836</a:t>
                      </a:r>
                    </a:p>
                  </a:txBody>
                  <a:tcPr marL="0" marR="0" marT="0" marB="0">
                    <a:solidFill>
                      <a:srgbClr val="FFFFFF"/>
                    </a:solidFill>
                  </a:tcPr>
                </a:tc>
                <a:tc>
                  <a:txBody>
                    <a:bodyPr/>
                    <a:lstStyle/>
                    <a:p>
                      <a:pPr algn="ctr">
                        <a:defRPr sz="1000">
                          <a:solidFill>
                            <a:srgbClr val="000000"/>
                          </a:solidFill>
                          <a:latin typeface="Montserrat"/>
                        </a:defRPr>
                      </a:pPr>
                      <a:r>
                        <a:t>63,214</a:t>
                      </a:r>
                    </a:p>
                  </a:txBody>
                  <a:tcPr marL="0" marR="0" marT="0" marB="0">
                    <a:solidFill>
                      <a:srgbClr val="ECD3D9"/>
                    </a:solidFill>
                  </a:tcPr>
                </a:tc>
                <a:tc>
                  <a:txBody>
                    <a:bodyPr/>
                    <a:lstStyle/>
                    <a:p>
                      <a:pPr algn="ctr">
                        <a:defRPr sz="1000">
                          <a:solidFill>
                            <a:srgbClr val="000000"/>
                          </a:solidFill>
                          <a:latin typeface="Montserrat"/>
                        </a:defRPr>
                      </a:pPr>
                      <a:r>
                        <a:t>187,920</a:t>
                      </a:r>
                    </a:p>
                  </a:txBody>
                  <a:tcPr marL="0" marR="0" marT="0" marB="0">
                    <a:solidFill>
                      <a:srgbClr val="ECD3D9"/>
                    </a:solidFill>
                  </a:tcPr>
                </a:tc>
                <a:tc>
                  <a:txBody>
                    <a:bodyPr/>
                    <a:lstStyle/>
                    <a:p>
                      <a:pPr algn="ctr">
                        <a:defRPr sz="1000">
                          <a:solidFill>
                            <a:srgbClr val="000000"/>
                          </a:solidFill>
                          <a:latin typeface="Montserrat"/>
                        </a:defRPr>
                      </a:pPr>
                      <a:r>
                        <a:t>33.6%</a:t>
                      </a:r>
                    </a:p>
                  </a:txBody>
                  <a:tcPr marL="0" marR="0" marT="0" marB="0">
                    <a:solidFill>
                      <a:srgbClr val="ECD3D9"/>
                    </a:solidFill>
                  </a:tcPr>
                </a:tc>
              </a:tr>
              <a:tr h="151200">
                <a:tc>
                  <a:txBody>
                    <a:bodyPr/>
                    <a:lstStyle/>
                    <a:p>
                      <a:pPr algn="l">
                        <a:defRPr sz="1000">
                          <a:solidFill>
                            <a:srgbClr val="000000"/>
                          </a:solidFill>
                          <a:latin typeface="Montserrat"/>
                        </a:defRPr>
                      </a:pPr>
                      <a:r>
                        <a:t>UMF 68 Tulpetlac</a:t>
                      </a:r>
                    </a:p>
                  </a:txBody>
                  <a:tcPr marL="0" marR="0" marT="0" marB="0">
                    <a:solidFill>
                      <a:srgbClr val="EFEFEF"/>
                    </a:solidFill>
                  </a:tcPr>
                </a:tc>
                <a:tc>
                  <a:txBody>
                    <a:bodyPr/>
                    <a:lstStyle/>
                    <a:p>
                      <a:pPr algn="ctr">
                        <a:defRPr sz="1000">
                          <a:solidFill>
                            <a:srgbClr val="000000"/>
                          </a:solidFill>
                          <a:latin typeface="Montserrat"/>
                        </a:defRPr>
                      </a:pPr>
                      <a:r>
                        <a:t>320,264</a:t>
                      </a:r>
                    </a:p>
                  </a:txBody>
                  <a:tcPr marL="0" marR="0" marT="0" marB="0">
                    <a:solidFill>
                      <a:srgbClr val="EFEFEF"/>
                    </a:solidFill>
                  </a:tcPr>
                </a:tc>
                <a:tc>
                  <a:txBody>
                    <a:bodyPr/>
                    <a:lstStyle/>
                    <a:p>
                      <a:pPr algn="ctr">
                        <a:defRPr sz="1000">
                          <a:solidFill>
                            <a:srgbClr val="000000"/>
                          </a:solidFill>
                          <a:latin typeface="Montserrat"/>
                        </a:defRPr>
                      </a:pPr>
                      <a:r>
                        <a:t>19,213</a:t>
                      </a:r>
                    </a:p>
                  </a:txBody>
                  <a:tcPr marL="0" marR="0" marT="0" marB="0">
                    <a:solidFill>
                      <a:srgbClr val="EFEFEF"/>
                    </a:solidFill>
                  </a:tcPr>
                </a:tc>
                <a:tc>
                  <a:txBody>
                    <a:bodyPr/>
                    <a:lstStyle/>
                    <a:p>
                      <a:pPr algn="ctr">
                        <a:defRPr sz="1000">
                          <a:solidFill>
                            <a:srgbClr val="000000"/>
                          </a:solidFill>
                          <a:latin typeface="Montserrat"/>
                        </a:defRPr>
                      </a:pPr>
                      <a:r>
                        <a:t>104,650</a:t>
                      </a:r>
                    </a:p>
                  </a:txBody>
                  <a:tcPr marL="0" marR="0" marT="0" marB="0">
                    <a:solidFill>
                      <a:srgbClr val="ECD3D9"/>
                    </a:solidFill>
                  </a:tcPr>
                </a:tc>
                <a:tc>
                  <a:txBody>
                    <a:bodyPr/>
                    <a:lstStyle/>
                    <a:p>
                      <a:pPr algn="ctr">
                        <a:defRPr sz="1000">
                          <a:solidFill>
                            <a:srgbClr val="000000"/>
                          </a:solidFill>
                          <a:latin typeface="Montserrat"/>
                        </a:defRPr>
                      </a:pPr>
                      <a:r>
                        <a:t>344,400</a:t>
                      </a:r>
                    </a:p>
                  </a:txBody>
                  <a:tcPr marL="0" marR="0" marT="0" marB="0">
                    <a:solidFill>
                      <a:srgbClr val="ECD3D9"/>
                    </a:solidFill>
                  </a:tcPr>
                </a:tc>
                <a:tc>
                  <a:txBody>
                    <a:bodyPr/>
                    <a:lstStyle/>
                    <a:p>
                      <a:pPr algn="ctr">
                        <a:defRPr sz="1000">
                          <a:solidFill>
                            <a:srgbClr val="000000"/>
                          </a:solidFill>
                          <a:latin typeface="Montserrat"/>
                        </a:defRPr>
                      </a:pPr>
                      <a:r>
                        <a:t>30.4%</a:t>
                      </a:r>
                    </a:p>
                  </a:txBody>
                  <a:tcPr marL="0" marR="0" marT="0" marB="0">
                    <a:solidFill>
                      <a:srgbClr val="ECD3D9"/>
                    </a:solidFill>
                  </a:tcPr>
                </a:tc>
              </a:tr>
              <a:tr h="151200">
                <a:tc>
                  <a:txBody>
                    <a:bodyPr/>
                    <a:lstStyle/>
                    <a:p>
                      <a:pPr algn="l">
                        <a:defRPr sz="1000">
                          <a:solidFill>
                            <a:srgbClr val="000000"/>
                          </a:solidFill>
                          <a:latin typeface="Montserrat"/>
                        </a:defRPr>
                      </a:pPr>
                      <a:r>
                        <a:t>UMF 67 Santa Clara</a:t>
                      </a:r>
                    </a:p>
                  </a:txBody>
                  <a:tcPr marL="0" marR="0" marT="0" marB="0">
                    <a:solidFill>
                      <a:srgbClr val="FFFFFF"/>
                    </a:solidFill>
                  </a:tcPr>
                </a:tc>
                <a:tc>
                  <a:txBody>
                    <a:bodyPr/>
                    <a:lstStyle/>
                    <a:p>
                      <a:pPr algn="ctr">
                        <a:defRPr sz="1000">
                          <a:solidFill>
                            <a:srgbClr val="000000"/>
                          </a:solidFill>
                          <a:latin typeface="Montserrat"/>
                        </a:defRPr>
                      </a:pPr>
                      <a:r>
                        <a:t>200,089</a:t>
                      </a:r>
                    </a:p>
                  </a:txBody>
                  <a:tcPr marL="0" marR="0" marT="0" marB="0">
                    <a:solidFill>
                      <a:srgbClr val="FFFFFF"/>
                    </a:solidFill>
                  </a:tcPr>
                </a:tc>
                <a:tc>
                  <a:txBody>
                    <a:bodyPr/>
                    <a:lstStyle/>
                    <a:p>
                      <a:pPr algn="ctr">
                        <a:defRPr sz="1000">
                          <a:solidFill>
                            <a:srgbClr val="000000"/>
                          </a:solidFill>
                          <a:latin typeface="Montserrat"/>
                        </a:defRPr>
                      </a:pPr>
                      <a:r>
                        <a:t>25,102</a:t>
                      </a:r>
                    </a:p>
                  </a:txBody>
                  <a:tcPr marL="0" marR="0" marT="0" marB="0">
                    <a:solidFill>
                      <a:srgbClr val="FFFFFF"/>
                    </a:solidFill>
                  </a:tcPr>
                </a:tc>
                <a:tc>
                  <a:txBody>
                    <a:bodyPr/>
                    <a:lstStyle/>
                    <a:p>
                      <a:pPr algn="ctr">
                        <a:defRPr sz="1000">
                          <a:solidFill>
                            <a:srgbClr val="000000"/>
                          </a:solidFill>
                          <a:latin typeface="Montserrat"/>
                        </a:defRPr>
                      </a:pPr>
                      <a:r>
                        <a:t>62,347</a:t>
                      </a:r>
                    </a:p>
                  </a:txBody>
                  <a:tcPr marL="0" marR="0" marT="0" marB="0">
                    <a:solidFill>
                      <a:srgbClr val="ECD3D9"/>
                    </a:solidFill>
                  </a:tcPr>
                </a:tc>
                <a:tc>
                  <a:txBody>
                    <a:bodyPr/>
                    <a:lstStyle/>
                    <a:p>
                      <a:pPr algn="ctr">
                        <a:defRPr sz="1000">
                          <a:solidFill>
                            <a:srgbClr val="000000"/>
                          </a:solidFill>
                          <a:latin typeface="Montserrat"/>
                        </a:defRPr>
                      </a:pPr>
                      <a:r>
                        <a:t>194,000</a:t>
                      </a:r>
                    </a:p>
                  </a:txBody>
                  <a:tcPr marL="0" marR="0" marT="0" marB="0">
                    <a:solidFill>
                      <a:srgbClr val="ECD3D9"/>
                    </a:solidFill>
                  </a:tcPr>
                </a:tc>
                <a:tc>
                  <a:txBody>
                    <a:bodyPr/>
                    <a:lstStyle/>
                    <a:p>
                      <a:pPr algn="ctr">
                        <a:defRPr sz="1000">
                          <a:solidFill>
                            <a:srgbClr val="000000"/>
                          </a:solidFill>
                          <a:latin typeface="Montserrat"/>
                        </a:defRPr>
                      </a:pPr>
                      <a:r>
                        <a:t>32.1%</a:t>
                      </a:r>
                    </a:p>
                  </a:txBody>
                  <a:tcPr marL="0" marR="0" marT="0" marB="0">
                    <a:solidFill>
                      <a:srgbClr val="ECD3D9"/>
                    </a:solidFill>
                  </a:tcPr>
                </a:tc>
              </a:tr>
              <a:tr h="151200">
                <a:tc>
                  <a:txBody>
                    <a:bodyPr/>
                    <a:lstStyle/>
                    <a:p>
                      <a:pPr algn="l">
                        <a:defRPr sz="1000">
                          <a:solidFill>
                            <a:srgbClr val="000000"/>
                          </a:solidFill>
                          <a:latin typeface="Montserrat"/>
                        </a:defRPr>
                      </a:pPr>
                      <a:r>
                        <a:t>UMF 224 Zinacatepec</a:t>
                      </a:r>
                    </a:p>
                  </a:txBody>
                  <a:tcPr marL="0" marR="0" marT="0" marB="0">
                    <a:solidFill>
                      <a:srgbClr val="EFEFEF"/>
                    </a:solidFill>
                  </a:tcPr>
                </a:tc>
                <a:tc>
                  <a:txBody>
                    <a:bodyPr/>
                    <a:lstStyle/>
                    <a:p>
                      <a:pPr algn="ctr">
                        <a:defRPr sz="1000">
                          <a:solidFill>
                            <a:srgbClr val="000000"/>
                          </a:solidFill>
                          <a:latin typeface="Montserrat"/>
                        </a:defRPr>
                      </a:pPr>
                      <a:r>
                        <a:t>147,634</a:t>
                      </a:r>
                    </a:p>
                  </a:txBody>
                  <a:tcPr marL="0" marR="0" marT="0" marB="0">
                    <a:solidFill>
                      <a:srgbClr val="EFEFEF"/>
                    </a:solidFill>
                  </a:tcPr>
                </a:tc>
                <a:tc>
                  <a:txBody>
                    <a:bodyPr/>
                    <a:lstStyle/>
                    <a:p>
                      <a:pPr algn="ctr">
                        <a:defRPr sz="1000">
                          <a:solidFill>
                            <a:srgbClr val="000000"/>
                          </a:solidFill>
                          <a:latin typeface="Montserrat"/>
                        </a:defRPr>
                      </a:pPr>
                      <a:r>
                        <a:t>22,985</a:t>
                      </a:r>
                    </a:p>
                  </a:txBody>
                  <a:tcPr marL="0" marR="0" marT="0" marB="0">
                    <a:solidFill>
                      <a:srgbClr val="EFEFEF"/>
                    </a:solidFill>
                  </a:tcPr>
                </a:tc>
                <a:tc>
                  <a:txBody>
                    <a:bodyPr/>
                    <a:lstStyle/>
                    <a:p>
                      <a:pPr algn="ctr">
                        <a:defRPr sz="1000">
                          <a:solidFill>
                            <a:srgbClr val="000000"/>
                          </a:solidFill>
                          <a:latin typeface="Montserrat"/>
                        </a:defRPr>
                      </a:pPr>
                      <a:r>
                        <a:t>53,052</a:t>
                      </a:r>
                    </a:p>
                  </a:txBody>
                  <a:tcPr marL="0" marR="0" marT="0" marB="0">
                    <a:solidFill>
                      <a:srgbClr val="ECD3D9"/>
                    </a:solidFill>
                  </a:tcPr>
                </a:tc>
                <a:tc>
                  <a:txBody>
                    <a:bodyPr/>
                    <a:lstStyle/>
                    <a:p>
                      <a:pPr algn="ctr">
                        <a:defRPr sz="1000">
                          <a:solidFill>
                            <a:srgbClr val="000000"/>
                          </a:solidFill>
                          <a:latin typeface="Montserrat"/>
                        </a:defRPr>
                      </a:pPr>
                      <a:r>
                        <a:t>143,000</a:t>
                      </a:r>
                    </a:p>
                  </a:txBody>
                  <a:tcPr marL="0" marR="0" marT="0" marB="0">
                    <a:solidFill>
                      <a:srgbClr val="ECD3D9"/>
                    </a:solidFill>
                  </a:tcPr>
                </a:tc>
                <a:tc>
                  <a:txBody>
                    <a:bodyPr/>
                    <a:lstStyle/>
                    <a:p>
                      <a:pPr algn="ctr">
                        <a:defRPr sz="1000">
                          <a:solidFill>
                            <a:srgbClr val="000000"/>
                          </a:solidFill>
                          <a:latin typeface="Montserrat"/>
                        </a:defRPr>
                      </a:pPr>
                      <a:r>
                        <a:t>37.1%</a:t>
                      </a:r>
                    </a:p>
                  </a:txBody>
                  <a:tcPr marL="0" marR="0" marT="0" marB="0">
                    <a:solidFill>
                      <a:srgbClr val="ECD3D9"/>
                    </a:solidFill>
                  </a:tcPr>
                </a:tc>
              </a:tr>
              <a:tr h="151200">
                <a:tc>
                  <a:txBody>
                    <a:bodyPr/>
                    <a:lstStyle/>
                    <a:p>
                      <a:pPr algn="l">
                        <a:defRPr sz="1000">
                          <a:solidFill>
                            <a:srgbClr val="000000"/>
                          </a:solidFill>
                          <a:latin typeface="Montserrat"/>
                        </a:defRPr>
                      </a:pPr>
                      <a:r>
                        <a:t>UMF 223 Lerma</a:t>
                      </a:r>
                    </a:p>
                  </a:txBody>
                  <a:tcPr marL="0" marR="0" marT="0" marB="0">
                    <a:solidFill>
                      <a:srgbClr val="FFFFFF"/>
                    </a:solidFill>
                  </a:tcPr>
                </a:tc>
                <a:tc>
                  <a:txBody>
                    <a:bodyPr/>
                    <a:lstStyle/>
                    <a:p>
                      <a:pPr algn="ctr">
                        <a:defRPr sz="1000">
                          <a:solidFill>
                            <a:srgbClr val="000000"/>
                          </a:solidFill>
                          <a:latin typeface="Montserrat"/>
                        </a:defRPr>
                      </a:pPr>
                      <a:r>
                        <a:t>176,053</a:t>
                      </a:r>
                    </a:p>
                  </a:txBody>
                  <a:tcPr marL="0" marR="0" marT="0" marB="0">
                    <a:solidFill>
                      <a:srgbClr val="FFFFFF"/>
                    </a:solidFill>
                  </a:tcPr>
                </a:tc>
                <a:tc>
                  <a:txBody>
                    <a:bodyPr/>
                    <a:lstStyle/>
                    <a:p>
                      <a:pPr algn="ctr">
                        <a:defRPr sz="1000">
                          <a:solidFill>
                            <a:srgbClr val="000000"/>
                          </a:solidFill>
                          <a:latin typeface="Montserrat"/>
                        </a:defRPr>
                      </a:pPr>
                      <a:r>
                        <a:t>29,309</a:t>
                      </a:r>
                    </a:p>
                  </a:txBody>
                  <a:tcPr marL="0" marR="0" marT="0" marB="0">
                    <a:solidFill>
                      <a:srgbClr val="FFFFFF"/>
                    </a:solidFill>
                  </a:tcPr>
                </a:tc>
                <a:tc>
                  <a:txBody>
                    <a:bodyPr/>
                    <a:lstStyle/>
                    <a:p>
                      <a:pPr algn="ctr">
                        <a:defRPr sz="1000">
                          <a:solidFill>
                            <a:srgbClr val="000000"/>
                          </a:solidFill>
                          <a:latin typeface="Montserrat"/>
                        </a:defRPr>
                      </a:pPr>
                      <a:r>
                        <a:t>58,229</a:t>
                      </a:r>
                    </a:p>
                  </a:txBody>
                  <a:tcPr marL="0" marR="0" marT="0" marB="0">
                    <a:solidFill>
                      <a:srgbClr val="ECD3D9"/>
                    </a:solidFill>
                  </a:tcPr>
                </a:tc>
                <a:tc>
                  <a:txBody>
                    <a:bodyPr/>
                    <a:lstStyle/>
                    <a:p>
                      <a:pPr algn="ctr">
                        <a:defRPr sz="1000">
                          <a:solidFill>
                            <a:srgbClr val="000000"/>
                          </a:solidFill>
                          <a:latin typeface="Montserrat"/>
                        </a:defRPr>
                      </a:pPr>
                      <a:r>
                        <a:t>171,000</a:t>
                      </a:r>
                    </a:p>
                  </a:txBody>
                  <a:tcPr marL="0" marR="0" marT="0" marB="0">
                    <a:solidFill>
                      <a:srgbClr val="ECD3D9"/>
                    </a:solidFill>
                  </a:tcPr>
                </a:tc>
                <a:tc>
                  <a:txBody>
                    <a:bodyPr/>
                    <a:lstStyle/>
                    <a:p>
                      <a:pPr algn="ctr">
                        <a:defRPr sz="1000">
                          <a:solidFill>
                            <a:srgbClr val="000000"/>
                          </a:solidFill>
                          <a:latin typeface="Montserrat"/>
                        </a:defRPr>
                      </a:pPr>
                      <a:r>
                        <a:t>34.1%</a:t>
                      </a:r>
                    </a:p>
                  </a:txBody>
                  <a:tcPr marL="0" marR="0" marT="0" marB="0">
                    <a:solidFill>
                      <a:srgbClr val="ECD3D9"/>
                    </a:solidFill>
                  </a:tcPr>
                </a:tc>
              </a:tr>
              <a:tr h="151200">
                <a:tc>
                  <a:txBody>
                    <a:bodyPr/>
                    <a:lstStyle/>
                    <a:p>
                      <a:pPr algn="l">
                        <a:defRPr sz="1000">
                          <a:solidFill>
                            <a:srgbClr val="000000"/>
                          </a:solidFill>
                          <a:latin typeface="Montserrat"/>
                        </a:defRPr>
                      </a:pPr>
                      <a:r>
                        <a:t>UMF 55 Zumpango</a:t>
                      </a:r>
                    </a:p>
                  </a:txBody>
                  <a:tcPr marL="0" marR="0" marT="0" marB="0">
                    <a:solidFill>
                      <a:srgbClr val="EFEFEF"/>
                    </a:solidFill>
                  </a:tcPr>
                </a:tc>
                <a:tc>
                  <a:txBody>
                    <a:bodyPr/>
                    <a:lstStyle/>
                    <a:p>
                      <a:pPr algn="ctr">
                        <a:defRPr sz="1000">
                          <a:solidFill>
                            <a:srgbClr val="000000"/>
                          </a:solidFill>
                          <a:latin typeface="Montserrat"/>
                        </a:defRPr>
                      </a:pPr>
                      <a:r>
                        <a:t>182,243</a:t>
                      </a:r>
                    </a:p>
                  </a:txBody>
                  <a:tcPr marL="0" marR="0" marT="0" marB="0">
                    <a:solidFill>
                      <a:srgbClr val="EFEFEF"/>
                    </a:solidFill>
                  </a:tcPr>
                </a:tc>
                <a:tc>
                  <a:txBody>
                    <a:bodyPr/>
                    <a:lstStyle/>
                    <a:p>
                      <a:pPr algn="ctr">
                        <a:defRPr sz="1000">
                          <a:solidFill>
                            <a:srgbClr val="000000"/>
                          </a:solidFill>
                          <a:latin typeface="Montserrat"/>
                        </a:defRPr>
                      </a:pPr>
                      <a:r>
                        <a:t>8,944</a:t>
                      </a:r>
                    </a:p>
                  </a:txBody>
                  <a:tcPr marL="0" marR="0" marT="0" marB="0">
                    <a:solidFill>
                      <a:srgbClr val="EFEFEF"/>
                    </a:solidFill>
                  </a:tcPr>
                </a:tc>
                <a:tc>
                  <a:txBody>
                    <a:bodyPr/>
                    <a:lstStyle/>
                    <a:p>
                      <a:pPr algn="ctr">
                        <a:defRPr sz="1000">
                          <a:solidFill>
                            <a:srgbClr val="000000"/>
                          </a:solidFill>
                          <a:latin typeface="Montserrat"/>
                        </a:defRPr>
                      </a:pPr>
                      <a:r>
                        <a:t>58,999</a:t>
                      </a:r>
                    </a:p>
                  </a:txBody>
                  <a:tcPr marL="0" marR="0" marT="0" marB="0">
                    <a:solidFill>
                      <a:srgbClr val="ECD3D9"/>
                    </a:solidFill>
                  </a:tcPr>
                </a:tc>
                <a:tc>
                  <a:txBody>
                    <a:bodyPr/>
                    <a:lstStyle/>
                    <a:p>
                      <a:pPr algn="ctr">
                        <a:defRPr sz="1000">
                          <a:solidFill>
                            <a:srgbClr val="000000"/>
                          </a:solidFill>
                          <a:latin typeface="Montserrat"/>
                        </a:defRPr>
                      </a:pPr>
                      <a:r>
                        <a:t>179,088</a:t>
                      </a:r>
                    </a:p>
                  </a:txBody>
                  <a:tcPr marL="0" marR="0" marT="0" marB="0">
                    <a:solidFill>
                      <a:srgbClr val="ECD3D9"/>
                    </a:solidFill>
                  </a:tcPr>
                </a:tc>
                <a:tc>
                  <a:txBody>
                    <a:bodyPr/>
                    <a:lstStyle/>
                    <a:p>
                      <a:pPr algn="ctr">
                        <a:defRPr sz="1000">
                          <a:solidFill>
                            <a:srgbClr val="000000"/>
                          </a:solidFill>
                          <a:latin typeface="Montserrat"/>
                        </a:defRPr>
                      </a:pPr>
                      <a:r>
                        <a:t>32.9%</a:t>
                      </a:r>
                    </a:p>
                  </a:txBody>
                  <a:tcPr marL="0" marR="0" marT="0" marB="0">
                    <a:solidFill>
                      <a:srgbClr val="ECD3D9"/>
                    </a:solidFill>
                  </a:tcPr>
                </a:tc>
              </a:tr>
              <a:tr h="151200">
                <a:tc>
                  <a:txBody>
                    <a:bodyPr/>
                    <a:lstStyle/>
                    <a:p>
                      <a:pPr algn="l">
                        <a:defRPr sz="1000">
                          <a:solidFill>
                            <a:srgbClr val="000000"/>
                          </a:solidFill>
                          <a:latin typeface="Montserrat"/>
                        </a:defRPr>
                      </a:pPr>
                      <a:r>
                        <a:t>UMF 220 Toluca</a:t>
                      </a:r>
                    </a:p>
                  </a:txBody>
                  <a:tcPr marL="0" marR="0" marT="0" marB="0">
                    <a:solidFill>
                      <a:srgbClr val="FFFFFF"/>
                    </a:solidFill>
                  </a:tcPr>
                </a:tc>
                <a:tc>
                  <a:txBody>
                    <a:bodyPr/>
                    <a:lstStyle/>
                    <a:p>
                      <a:pPr algn="ctr">
                        <a:defRPr sz="1000">
                          <a:solidFill>
                            <a:srgbClr val="000000"/>
                          </a:solidFill>
                          <a:latin typeface="Montserrat"/>
                        </a:defRPr>
                      </a:pPr>
                      <a:r>
                        <a:t>339,192</a:t>
                      </a:r>
                    </a:p>
                  </a:txBody>
                  <a:tcPr marL="0" marR="0" marT="0" marB="0">
                    <a:solidFill>
                      <a:srgbClr val="FFFFFF"/>
                    </a:solidFill>
                  </a:tcPr>
                </a:tc>
                <a:tc>
                  <a:txBody>
                    <a:bodyPr/>
                    <a:lstStyle/>
                    <a:p>
                      <a:pPr algn="ctr">
                        <a:defRPr sz="1000">
                          <a:solidFill>
                            <a:srgbClr val="000000"/>
                          </a:solidFill>
                          <a:latin typeface="Montserrat"/>
                        </a:defRPr>
                      </a:pPr>
                      <a:r>
                        <a:t>51,835</a:t>
                      </a:r>
                    </a:p>
                  </a:txBody>
                  <a:tcPr marL="0" marR="0" marT="0" marB="0">
                    <a:solidFill>
                      <a:srgbClr val="FFFFFF"/>
                    </a:solidFill>
                  </a:tcPr>
                </a:tc>
                <a:tc>
                  <a:txBody>
                    <a:bodyPr/>
                    <a:lstStyle/>
                    <a:p>
                      <a:pPr algn="ctr">
                        <a:defRPr sz="1000">
                          <a:solidFill>
                            <a:srgbClr val="000000"/>
                          </a:solidFill>
                          <a:latin typeface="Montserrat"/>
                        </a:defRPr>
                      </a:pPr>
                      <a:r>
                        <a:t>112,650</a:t>
                      </a:r>
                    </a:p>
                  </a:txBody>
                  <a:tcPr marL="0" marR="0" marT="0" marB="0">
                    <a:solidFill>
                      <a:srgbClr val="ECD3D9"/>
                    </a:solidFill>
                  </a:tcPr>
                </a:tc>
                <a:tc>
                  <a:txBody>
                    <a:bodyPr/>
                    <a:lstStyle/>
                    <a:p>
                      <a:pPr algn="ctr">
                        <a:defRPr sz="1000">
                          <a:solidFill>
                            <a:srgbClr val="000000"/>
                          </a:solidFill>
                          <a:latin typeface="Montserrat"/>
                        </a:defRPr>
                      </a:pPr>
                      <a:r>
                        <a:t>328,000</a:t>
                      </a:r>
                    </a:p>
                  </a:txBody>
                  <a:tcPr marL="0" marR="0" marT="0" marB="0">
                    <a:solidFill>
                      <a:srgbClr val="ECD3D9"/>
                    </a:solidFill>
                  </a:tcPr>
                </a:tc>
                <a:tc>
                  <a:txBody>
                    <a:bodyPr/>
                    <a:lstStyle/>
                    <a:p>
                      <a:pPr algn="ctr">
                        <a:defRPr sz="1000">
                          <a:solidFill>
                            <a:srgbClr val="000000"/>
                          </a:solidFill>
                          <a:latin typeface="Montserrat"/>
                        </a:defRPr>
                      </a:pPr>
                      <a:r>
                        <a:t>34.3%</a:t>
                      </a:r>
                    </a:p>
                  </a:txBody>
                  <a:tcPr marL="0" marR="0" marT="0" marB="0">
                    <a:solidFill>
                      <a:srgbClr val="ECD3D9"/>
                    </a:solidFill>
                  </a:tcPr>
                </a:tc>
              </a:tr>
              <a:tr h="151200">
                <a:tc>
                  <a:txBody>
                    <a:bodyPr/>
                    <a:lstStyle/>
                    <a:p>
                      <a:pPr algn="l">
                        <a:defRPr sz="1000">
                          <a:solidFill>
                            <a:srgbClr val="000000"/>
                          </a:solidFill>
                          <a:latin typeface="Montserrat"/>
                        </a:defRPr>
                      </a:pPr>
                      <a:r>
                        <a:t>UMF 89 Otumba</a:t>
                      </a:r>
                    </a:p>
                  </a:txBody>
                  <a:tcPr marL="0" marR="0" marT="0" marB="0">
                    <a:solidFill>
                      <a:srgbClr val="EFEFEF"/>
                    </a:solidFill>
                  </a:tcPr>
                </a:tc>
                <a:tc>
                  <a:txBody>
                    <a:bodyPr/>
                    <a:lstStyle/>
                    <a:p>
                      <a:pPr algn="ctr">
                        <a:defRPr sz="1000">
                          <a:solidFill>
                            <a:srgbClr val="000000"/>
                          </a:solidFill>
                          <a:latin typeface="Montserrat"/>
                        </a:defRPr>
                      </a:pPr>
                      <a:r>
                        <a:t>72,366</a:t>
                      </a:r>
                    </a:p>
                  </a:txBody>
                  <a:tcPr marL="0" marR="0" marT="0" marB="0">
                    <a:solidFill>
                      <a:srgbClr val="EFEFEF"/>
                    </a:solidFill>
                  </a:tcPr>
                </a:tc>
                <a:tc>
                  <a:txBody>
                    <a:bodyPr/>
                    <a:lstStyle/>
                    <a:p>
                      <a:pPr algn="ctr">
                        <a:defRPr sz="1000">
                          <a:solidFill>
                            <a:srgbClr val="000000"/>
                          </a:solidFill>
                          <a:latin typeface="Montserrat"/>
                        </a:defRPr>
                      </a:pPr>
                      <a:r>
                        <a:t>13,987</a:t>
                      </a:r>
                    </a:p>
                  </a:txBody>
                  <a:tcPr marL="0" marR="0" marT="0" marB="0">
                    <a:solidFill>
                      <a:srgbClr val="EFEFEF"/>
                    </a:solidFill>
                  </a:tcPr>
                </a:tc>
                <a:tc>
                  <a:txBody>
                    <a:bodyPr/>
                    <a:lstStyle/>
                    <a:p>
                      <a:pPr algn="ctr">
                        <a:defRPr sz="1000">
                          <a:solidFill>
                            <a:srgbClr val="000000"/>
                          </a:solidFill>
                          <a:latin typeface="Montserrat"/>
                        </a:defRPr>
                      </a:pPr>
                      <a:r>
                        <a:t>24,696</a:t>
                      </a:r>
                    </a:p>
                  </a:txBody>
                  <a:tcPr marL="0" marR="0" marT="0" marB="0">
                    <a:solidFill>
                      <a:srgbClr val="ECD3D9"/>
                    </a:solidFill>
                  </a:tcPr>
                </a:tc>
                <a:tc>
                  <a:txBody>
                    <a:bodyPr/>
                    <a:lstStyle/>
                    <a:p>
                      <a:pPr algn="ctr">
                        <a:defRPr sz="1000">
                          <a:solidFill>
                            <a:srgbClr val="000000"/>
                          </a:solidFill>
                          <a:latin typeface="Montserrat"/>
                        </a:defRPr>
                      </a:pPr>
                      <a:r>
                        <a:t>70,000</a:t>
                      </a:r>
                    </a:p>
                  </a:txBody>
                  <a:tcPr marL="0" marR="0" marT="0" marB="0">
                    <a:solidFill>
                      <a:srgbClr val="ECD3D9"/>
                    </a:solidFill>
                  </a:tcPr>
                </a:tc>
                <a:tc>
                  <a:txBody>
                    <a:bodyPr/>
                    <a:lstStyle/>
                    <a:p>
                      <a:pPr algn="ctr">
                        <a:defRPr sz="1000">
                          <a:solidFill>
                            <a:srgbClr val="000000"/>
                          </a:solidFill>
                          <a:latin typeface="Montserrat"/>
                        </a:defRPr>
                      </a:pPr>
                      <a:r>
                        <a:t>35.3%</a:t>
                      </a:r>
                    </a:p>
                  </a:txBody>
                  <a:tcPr marL="0" marR="0" marT="0" marB="0">
                    <a:solidFill>
                      <a:srgbClr val="ECD3D9"/>
                    </a:solidFill>
                  </a:tcPr>
                </a:tc>
              </a:tr>
              <a:tr h="151200">
                <a:tc>
                  <a:txBody>
                    <a:bodyPr/>
                    <a:lstStyle/>
                    <a:p>
                      <a:pPr algn="l">
                        <a:defRPr sz="1000">
                          <a:solidFill>
                            <a:srgbClr val="000000"/>
                          </a:solidFill>
                          <a:latin typeface="Montserrat"/>
                        </a:defRPr>
                      </a:pPr>
                      <a:r>
                        <a:t>UMF 84 Chimalhuacán</a:t>
                      </a:r>
                    </a:p>
                  </a:txBody>
                  <a:tcPr marL="0" marR="0" marT="0" marB="0">
                    <a:solidFill>
                      <a:srgbClr val="FFFFFF"/>
                    </a:solidFill>
                  </a:tcPr>
                </a:tc>
                <a:tc>
                  <a:txBody>
                    <a:bodyPr/>
                    <a:lstStyle/>
                    <a:p>
                      <a:pPr algn="ctr">
                        <a:defRPr sz="1000">
                          <a:solidFill>
                            <a:srgbClr val="000000"/>
                          </a:solidFill>
                          <a:latin typeface="Montserrat"/>
                        </a:defRPr>
                      </a:pPr>
                      <a:r>
                        <a:t>162,507</a:t>
                      </a:r>
                    </a:p>
                  </a:txBody>
                  <a:tcPr marL="0" marR="0" marT="0" marB="0">
                    <a:solidFill>
                      <a:srgbClr val="FFFFFF"/>
                    </a:solidFill>
                  </a:tcPr>
                </a:tc>
                <a:tc>
                  <a:txBody>
                    <a:bodyPr/>
                    <a:lstStyle/>
                    <a:p>
                      <a:pPr algn="ctr">
                        <a:defRPr sz="1000">
                          <a:solidFill>
                            <a:srgbClr val="000000"/>
                          </a:solidFill>
                          <a:latin typeface="Montserrat"/>
                        </a:defRPr>
                      </a:pPr>
                      <a:r>
                        <a:t>19,066</a:t>
                      </a:r>
                    </a:p>
                  </a:txBody>
                  <a:tcPr marL="0" marR="0" marT="0" marB="0">
                    <a:solidFill>
                      <a:srgbClr val="FFFFFF"/>
                    </a:solidFill>
                  </a:tcPr>
                </a:tc>
                <a:tc>
                  <a:txBody>
                    <a:bodyPr/>
                    <a:lstStyle/>
                    <a:p>
                      <a:pPr algn="ctr">
                        <a:defRPr sz="1000">
                          <a:solidFill>
                            <a:srgbClr val="000000"/>
                          </a:solidFill>
                          <a:latin typeface="Montserrat"/>
                        </a:defRPr>
                      </a:pPr>
                      <a:r>
                        <a:t>55,411</a:t>
                      </a:r>
                    </a:p>
                  </a:txBody>
                  <a:tcPr marL="0" marR="0" marT="0" marB="0">
                    <a:solidFill>
                      <a:srgbClr val="ECD3D9"/>
                    </a:solidFill>
                  </a:tcPr>
                </a:tc>
                <a:tc>
                  <a:txBody>
                    <a:bodyPr/>
                    <a:lstStyle/>
                    <a:p>
                      <a:pPr algn="ctr">
                        <a:defRPr sz="1000">
                          <a:solidFill>
                            <a:srgbClr val="000000"/>
                          </a:solidFill>
                          <a:latin typeface="Montserrat"/>
                        </a:defRPr>
                      </a:pPr>
                      <a:r>
                        <a:t>158,000</a:t>
                      </a:r>
                    </a:p>
                  </a:txBody>
                  <a:tcPr marL="0" marR="0" marT="0" marB="0">
                    <a:solidFill>
                      <a:srgbClr val="ECD3D9"/>
                    </a:solidFill>
                  </a:tcPr>
                </a:tc>
                <a:tc>
                  <a:txBody>
                    <a:bodyPr/>
                    <a:lstStyle/>
                    <a:p>
                      <a:pPr algn="ctr">
                        <a:defRPr sz="1000">
                          <a:solidFill>
                            <a:srgbClr val="000000"/>
                          </a:solidFill>
                          <a:latin typeface="Montserrat"/>
                        </a:defRPr>
                      </a:pPr>
                      <a:r>
                        <a:t>35.1%</a:t>
                      </a:r>
                    </a:p>
                  </a:txBody>
                  <a:tcPr marL="0" marR="0" marT="0" marB="0">
                    <a:solidFill>
                      <a:srgbClr val="ECD3D9"/>
                    </a:solidFill>
                  </a:tcPr>
                </a:tc>
              </a:tr>
              <a:tr h="151200">
                <a:tc>
                  <a:txBody>
                    <a:bodyPr/>
                    <a:lstStyle/>
                    <a:p>
                      <a:pPr algn="l">
                        <a:defRPr sz="1000">
                          <a:solidFill>
                            <a:srgbClr val="000000"/>
                          </a:solidFill>
                          <a:latin typeface="Montserrat"/>
                        </a:defRPr>
                      </a:pPr>
                      <a:r>
                        <a:t>UMF 83 Chicoloapan</a:t>
                      </a:r>
                    </a:p>
                  </a:txBody>
                  <a:tcPr marL="0" marR="0" marT="0" marB="0">
                    <a:solidFill>
                      <a:srgbClr val="EFEFEF"/>
                    </a:solidFill>
                  </a:tcPr>
                </a:tc>
                <a:tc>
                  <a:txBody>
                    <a:bodyPr/>
                    <a:lstStyle/>
                    <a:p>
                      <a:pPr algn="ctr">
                        <a:defRPr sz="1000">
                          <a:solidFill>
                            <a:srgbClr val="000000"/>
                          </a:solidFill>
                          <a:latin typeface="Montserrat"/>
                        </a:defRPr>
                      </a:pPr>
                      <a:r>
                        <a:t>159,300</a:t>
                      </a:r>
                    </a:p>
                  </a:txBody>
                  <a:tcPr marL="0" marR="0" marT="0" marB="0">
                    <a:solidFill>
                      <a:srgbClr val="EFEFEF"/>
                    </a:solidFill>
                  </a:tcPr>
                </a:tc>
                <a:tc>
                  <a:txBody>
                    <a:bodyPr/>
                    <a:lstStyle/>
                    <a:p>
                      <a:pPr algn="ctr">
                        <a:defRPr sz="1000">
                          <a:solidFill>
                            <a:srgbClr val="000000"/>
                          </a:solidFill>
                          <a:latin typeface="Montserrat"/>
                        </a:defRPr>
                      </a:pPr>
                      <a:r>
                        <a:t>14,620</a:t>
                      </a:r>
                    </a:p>
                  </a:txBody>
                  <a:tcPr marL="0" marR="0" marT="0" marB="0">
                    <a:solidFill>
                      <a:srgbClr val="EFEFEF"/>
                    </a:solidFill>
                  </a:tcPr>
                </a:tc>
                <a:tc>
                  <a:txBody>
                    <a:bodyPr/>
                    <a:lstStyle/>
                    <a:p>
                      <a:pPr algn="ctr">
                        <a:defRPr sz="1000">
                          <a:solidFill>
                            <a:srgbClr val="000000"/>
                          </a:solidFill>
                          <a:latin typeface="Montserrat"/>
                        </a:defRPr>
                      </a:pPr>
                      <a:r>
                        <a:t>54,467</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35.1%</a:t>
                      </a:r>
                    </a:p>
                  </a:txBody>
                  <a:tcPr marL="0" marR="0" marT="0" marB="0">
                    <a:solidFill>
                      <a:srgbClr val="ECD3D9"/>
                    </a:solidFill>
                  </a:tcPr>
                </a:tc>
              </a:tr>
              <a:tr h="151200">
                <a:tc>
                  <a:txBody>
                    <a:bodyPr/>
                    <a:lstStyle/>
                    <a:p>
                      <a:pPr algn="l">
                        <a:defRPr sz="1000">
                          <a:solidFill>
                            <a:srgbClr val="000000"/>
                          </a:solidFill>
                          <a:latin typeface="Montserrat"/>
                        </a:defRPr>
                      </a:pPr>
                      <a:r>
                        <a:t>UMF 82 Atenco</a:t>
                      </a:r>
                    </a:p>
                  </a:txBody>
                  <a:tcPr marL="0" marR="0" marT="0" marB="0">
                    <a:solidFill>
                      <a:srgbClr val="FFFFFF"/>
                    </a:solidFill>
                  </a:tcPr>
                </a:tc>
                <a:tc>
                  <a:txBody>
                    <a:bodyPr/>
                    <a:lstStyle/>
                    <a:p>
                      <a:pPr algn="ctr">
                        <a:defRPr sz="1000">
                          <a:solidFill>
                            <a:srgbClr val="000000"/>
                          </a:solidFill>
                          <a:latin typeface="Montserrat"/>
                        </a:defRPr>
                      </a:pPr>
                      <a:r>
                        <a:t>36,145</a:t>
                      </a:r>
                    </a:p>
                  </a:txBody>
                  <a:tcPr marL="0" marR="0" marT="0" marB="0">
                    <a:solidFill>
                      <a:srgbClr val="FFFFFF"/>
                    </a:solidFill>
                  </a:tcPr>
                </a:tc>
                <a:tc>
                  <a:txBody>
                    <a:bodyPr/>
                    <a:lstStyle/>
                    <a:p>
                      <a:pPr algn="ctr">
                        <a:defRPr sz="1000">
                          <a:solidFill>
                            <a:srgbClr val="000000"/>
                          </a:solidFill>
                          <a:latin typeface="Montserrat"/>
                        </a:defRPr>
                      </a:pPr>
                      <a:r>
                        <a:t>3,030</a:t>
                      </a:r>
                    </a:p>
                  </a:txBody>
                  <a:tcPr marL="0" marR="0" marT="0" marB="0">
                    <a:solidFill>
                      <a:srgbClr val="FFFFFF"/>
                    </a:solidFill>
                  </a:tcPr>
                </a:tc>
                <a:tc>
                  <a:txBody>
                    <a:bodyPr/>
                    <a:lstStyle/>
                    <a:p>
                      <a:pPr algn="ctr">
                        <a:defRPr sz="1000">
                          <a:solidFill>
                            <a:srgbClr val="000000"/>
                          </a:solidFill>
                          <a:latin typeface="Montserrat"/>
                        </a:defRPr>
                      </a:pPr>
                      <a:r>
                        <a:t>12,507</a:t>
                      </a:r>
                    </a:p>
                  </a:txBody>
                  <a:tcPr marL="0" marR="0" marT="0" marB="0">
                    <a:solidFill>
                      <a:srgbClr val="ECD3D9"/>
                    </a:solidFill>
                  </a:tcPr>
                </a:tc>
                <a:tc>
                  <a:txBody>
                    <a:bodyPr/>
                    <a:lstStyle/>
                    <a:p>
                      <a:pPr algn="ctr">
                        <a:defRPr sz="1000">
                          <a:solidFill>
                            <a:srgbClr val="000000"/>
                          </a:solidFill>
                          <a:latin typeface="Montserrat"/>
                        </a:defRPr>
                      </a:pPr>
                      <a:r>
                        <a:t>37,584</a:t>
                      </a:r>
                    </a:p>
                  </a:txBody>
                  <a:tcPr marL="0" marR="0" marT="0" marB="0">
                    <a:solidFill>
                      <a:srgbClr val="ECD3D9"/>
                    </a:solidFill>
                  </a:tcPr>
                </a:tc>
                <a:tc>
                  <a:txBody>
                    <a:bodyPr/>
                    <a:lstStyle/>
                    <a:p>
                      <a:pPr algn="ctr">
                        <a:defRPr sz="1000">
                          <a:solidFill>
                            <a:srgbClr val="000000"/>
                          </a:solidFill>
                          <a:latin typeface="Montserrat"/>
                        </a:defRPr>
                      </a:pPr>
                      <a:r>
                        <a:t>33.3%</a:t>
                      </a:r>
                    </a:p>
                  </a:txBody>
                  <a:tcPr marL="0" marR="0" marT="0" marB="0">
                    <a:solidFill>
                      <a:srgbClr val="ECD3D9"/>
                    </a:solidFill>
                  </a:tcPr>
                </a:tc>
              </a:tr>
              <a:tr h="151200">
                <a:tc>
                  <a:txBody>
                    <a:bodyPr/>
                    <a:lstStyle/>
                    <a:p>
                      <a:pPr algn="l">
                        <a:defRPr sz="1000">
                          <a:solidFill>
                            <a:srgbClr val="000000"/>
                          </a:solidFill>
                          <a:latin typeface="Montserrat"/>
                        </a:defRPr>
                      </a:pPr>
                      <a:r>
                        <a:t>UMF 86 Ixtapaluca</a:t>
                      </a:r>
                    </a:p>
                  </a:txBody>
                  <a:tcPr marL="0" marR="0" marT="0" marB="0">
                    <a:solidFill>
                      <a:srgbClr val="EFEFEF"/>
                    </a:solidFill>
                  </a:tcPr>
                </a:tc>
                <a:tc>
                  <a:txBody>
                    <a:bodyPr/>
                    <a:lstStyle/>
                    <a:p>
                      <a:pPr algn="ctr">
                        <a:defRPr sz="1000">
                          <a:solidFill>
                            <a:srgbClr val="000000"/>
                          </a:solidFill>
                          <a:latin typeface="Montserrat"/>
                        </a:defRPr>
                      </a:pPr>
                      <a:r>
                        <a:t>153,170</a:t>
                      </a:r>
                    </a:p>
                  </a:txBody>
                  <a:tcPr marL="0" marR="0" marT="0" marB="0">
                    <a:solidFill>
                      <a:srgbClr val="EFEFEF"/>
                    </a:solidFill>
                  </a:tcPr>
                </a:tc>
                <a:tc>
                  <a:txBody>
                    <a:bodyPr/>
                    <a:lstStyle/>
                    <a:p>
                      <a:pPr algn="ctr">
                        <a:defRPr sz="1000">
                          <a:solidFill>
                            <a:srgbClr val="000000"/>
                          </a:solidFill>
                          <a:latin typeface="Montserrat"/>
                        </a:defRPr>
                      </a:pPr>
                      <a:r>
                        <a:t>10,753</a:t>
                      </a:r>
                    </a:p>
                  </a:txBody>
                  <a:tcPr marL="0" marR="0" marT="0" marB="0">
                    <a:solidFill>
                      <a:srgbClr val="EFEFEF"/>
                    </a:solidFill>
                  </a:tcPr>
                </a:tc>
                <a:tc>
                  <a:txBody>
                    <a:bodyPr/>
                    <a:lstStyle/>
                    <a:p>
                      <a:pPr algn="ctr">
                        <a:defRPr sz="1000">
                          <a:solidFill>
                            <a:srgbClr val="000000"/>
                          </a:solidFill>
                          <a:latin typeface="Montserrat"/>
                        </a:defRPr>
                      </a:pPr>
                      <a:r>
                        <a:t>50,816</a:t>
                      </a:r>
                    </a:p>
                  </a:txBody>
                  <a:tcPr marL="0" marR="0" marT="0" marB="0">
                    <a:solidFill>
                      <a:srgbClr val="ECD3D9"/>
                    </a:solidFill>
                  </a:tcPr>
                </a:tc>
                <a:tc>
                  <a:txBody>
                    <a:bodyPr/>
                    <a:lstStyle/>
                    <a:p>
                      <a:pPr algn="ctr">
                        <a:defRPr sz="1000">
                          <a:solidFill>
                            <a:srgbClr val="000000"/>
                          </a:solidFill>
                          <a:latin typeface="Montserrat"/>
                        </a:defRPr>
                      </a:pPr>
                      <a:r>
                        <a:t>149,000</a:t>
                      </a:r>
                    </a:p>
                  </a:txBody>
                  <a:tcPr marL="0" marR="0" marT="0" marB="0">
                    <a:solidFill>
                      <a:srgbClr val="ECD3D9"/>
                    </a:solidFill>
                  </a:tcPr>
                </a:tc>
                <a:tc>
                  <a:txBody>
                    <a:bodyPr/>
                    <a:lstStyle/>
                    <a:p>
                      <a:pPr algn="ctr">
                        <a:defRPr sz="1000">
                          <a:solidFill>
                            <a:srgbClr val="000000"/>
                          </a:solidFill>
                          <a:latin typeface="Montserrat"/>
                        </a:defRPr>
                      </a:pPr>
                      <a:r>
                        <a:t>34.1%</a:t>
                      </a:r>
                    </a:p>
                  </a:txBody>
                  <a:tcPr marL="0" marR="0" marT="0" marB="0">
                    <a:solidFill>
                      <a:srgbClr val="ECD3D9"/>
                    </a:solidFill>
                  </a:tcPr>
                </a:tc>
              </a:tr>
              <a:tr h="151200">
                <a:tc>
                  <a:txBody>
                    <a:bodyPr/>
                    <a:lstStyle/>
                    <a:p>
                      <a:pPr algn="l">
                        <a:defRPr sz="1000">
                          <a:solidFill>
                            <a:srgbClr val="000000"/>
                          </a:solidFill>
                          <a:latin typeface="Montserrat"/>
                        </a:defRPr>
                      </a:pPr>
                      <a:r>
                        <a:t>UMF 93 Cerro Gordo</a:t>
                      </a:r>
                    </a:p>
                  </a:txBody>
                  <a:tcPr marL="0" marR="0" marT="0" marB="0">
                    <a:solidFill>
                      <a:srgbClr val="FFFFFF"/>
                    </a:solidFill>
                  </a:tcPr>
                </a:tc>
                <a:tc>
                  <a:txBody>
                    <a:bodyPr/>
                    <a:lstStyle/>
                    <a:p>
                      <a:pPr algn="ctr">
                        <a:defRPr sz="1000">
                          <a:solidFill>
                            <a:srgbClr val="000000"/>
                          </a:solidFill>
                          <a:latin typeface="Montserrat"/>
                        </a:defRPr>
                      </a:pPr>
                      <a:r>
                        <a:t>411,568</a:t>
                      </a:r>
                    </a:p>
                  </a:txBody>
                  <a:tcPr marL="0" marR="0" marT="0" marB="0">
                    <a:solidFill>
                      <a:srgbClr val="FFFFFF"/>
                    </a:solidFill>
                  </a:tcPr>
                </a:tc>
                <a:tc>
                  <a:txBody>
                    <a:bodyPr/>
                    <a:lstStyle/>
                    <a:p>
                      <a:pPr algn="ctr">
                        <a:defRPr sz="1000">
                          <a:solidFill>
                            <a:srgbClr val="000000"/>
                          </a:solidFill>
                          <a:latin typeface="Montserrat"/>
                        </a:defRPr>
                      </a:pPr>
                      <a:r>
                        <a:t>23,790</a:t>
                      </a:r>
                    </a:p>
                  </a:txBody>
                  <a:tcPr marL="0" marR="0" marT="0" marB="0">
                    <a:solidFill>
                      <a:srgbClr val="FFFFFF"/>
                    </a:solidFill>
                  </a:tcPr>
                </a:tc>
                <a:tc>
                  <a:txBody>
                    <a:bodyPr/>
                    <a:lstStyle/>
                    <a:p>
                      <a:pPr algn="ctr">
                        <a:defRPr sz="1000">
                          <a:solidFill>
                            <a:srgbClr val="000000"/>
                          </a:solidFill>
                          <a:latin typeface="Montserrat"/>
                        </a:defRPr>
                      </a:pPr>
                      <a:r>
                        <a:t>137,890</a:t>
                      </a:r>
                    </a:p>
                  </a:txBody>
                  <a:tcPr marL="0" marR="0" marT="0" marB="0">
                    <a:solidFill>
                      <a:srgbClr val="ECD3D9"/>
                    </a:solidFill>
                  </a:tcPr>
                </a:tc>
                <a:tc>
                  <a:txBody>
                    <a:bodyPr/>
                    <a:lstStyle/>
                    <a:p>
                      <a:pPr algn="ctr">
                        <a:defRPr sz="1000">
                          <a:solidFill>
                            <a:srgbClr val="000000"/>
                          </a:solidFill>
                          <a:latin typeface="Montserrat"/>
                        </a:defRPr>
                      </a:pPr>
                      <a:r>
                        <a:t>425,952</a:t>
                      </a:r>
                    </a:p>
                  </a:txBody>
                  <a:tcPr marL="0" marR="0" marT="0" marB="0">
                    <a:solidFill>
                      <a:srgbClr val="ECD3D9"/>
                    </a:solidFill>
                  </a:tcPr>
                </a:tc>
                <a:tc>
                  <a:txBody>
                    <a:bodyPr/>
                    <a:lstStyle/>
                    <a:p>
                      <a:pPr algn="ctr">
                        <a:defRPr sz="1000">
                          <a:solidFill>
                            <a:srgbClr val="000000"/>
                          </a:solidFill>
                          <a:latin typeface="Montserrat"/>
                        </a:defRPr>
                      </a:pPr>
                      <a:r>
                        <a:t>32.4%</a:t>
                      </a:r>
                    </a:p>
                  </a:txBody>
                  <a:tcPr marL="0" marR="0" marT="0" marB="0">
                    <a:solidFill>
                      <a:srgbClr val="ECD3D9"/>
                    </a:solidFill>
                  </a:tcPr>
                </a:tc>
              </a:tr>
              <a:tr h="151200">
                <a:tc>
                  <a:txBody>
                    <a:bodyPr/>
                    <a:lstStyle/>
                    <a:p>
                      <a:pPr algn="l">
                        <a:defRPr sz="1000">
                          <a:solidFill>
                            <a:srgbClr val="000000"/>
                          </a:solidFill>
                          <a:latin typeface="Montserrat"/>
                        </a:defRPr>
                      </a:pPr>
                      <a:r>
                        <a:t>UMF 91 Villa de las Flores</a:t>
                      </a:r>
                    </a:p>
                  </a:txBody>
                  <a:tcPr marL="0" marR="0" marT="0" marB="0">
                    <a:solidFill>
                      <a:srgbClr val="EFEFEF"/>
                    </a:solidFill>
                  </a:tcPr>
                </a:tc>
                <a:tc>
                  <a:txBody>
                    <a:bodyPr/>
                    <a:lstStyle/>
                    <a:p>
                      <a:pPr algn="ctr">
                        <a:defRPr sz="1000">
                          <a:solidFill>
                            <a:srgbClr val="000000"/>
                          </a:solidFill>
                          <a:latin typeface="Montserrat"/>
                        </a:defRPr>
                      </a:pPr>
                      <a:r>
                        <a:t>264,142</a:t>
                      </a:r>
                    </a:p>
                  </a:txBody>
                  <a:tcPr marL="0" marR="0" marT="0" marB="0">
                    <a:solidFill>
                      <a:srgbClr val="EFEFEF"/>
                    </a:solidFill>
                  </a:tcPr>
                </a:tc>
                <a:tc>
                  <a:txBody>
                    <a:bodyPr/>
                    <a:lstStyle/>
                    <a:p>
                      <a:pPr algn="ctr">
                        <a:defRPr sz="1000">
                          <a:solidFill>
                            <a:srgbClr val="000000"/>
                          </a:solidFill>
                          <a:latin typeface="Montserrat"/>
                        </a:defRPr>
                      </a:pPr>
                      <a:r>
                        <a:t>17,483</a:t>
                      </a:r>
                    </a:p>
                  </a:txBody>
                  <a:tcPr marL="0" marR="0" marT="0" marB="0">
                    <a:solidFill>
                      <a:srgbClr val="EFEFEF"/>
                    </a:solidFill>
                  </a:tcPr>
                </a:tc>
                <a:tc>
                  <a:txBody>
                    <a:bodyPr/>
                    <a:lstStyle/>
                    <a:p>
                      <a:pPr algn="ctr">
                        <a:defRPr sz="1000">
                          <a:solidFill>
                            <a:srgbClr val="000000"/>
                          </a:solidFill>
                          <a:latin typeface="Montserrat"/>
                        </a:defRPr>
                      </a:pPr>
                      <a:r>
                        <a:t>87,471</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31.7%</a:t>
                      </a:r>
                    </a:p>
                  </a:txBody>
                  <a:tcPr marL="0" marR="0" marT="0" marB="0">
                    <a:solidFill>
                      <a:srgbClr val="ECD3D9"/>
                    </a:solidFill>
                  </a:tcPr>
                </a:tc>
              </a:tr>
            </a:tbl>
          </a:graphicData>
        </a:graphic>
      </p:graphicFrame>
      <p:graphicFrame>
        <p:nvGraphicFramePr>
          <p:cNvPr id="18" name="Chart 17"/>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19" name="TextBox 18"/>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9911139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HGOMF 60 Tlanepantla</a:t>
                      </a:r>
                    </a:p>
                  </a:txBody>
                  <a:tcPr>
                    <a:solidFill>
                      <a:srgbClr val="FFFFFF"/>
                    </a:solidFill>
                  </a:tcPr>
                </a:tc>
                <a:tc>
                  <a:txBody>
                    <a:bodyPr/>
                    <a:lstStyle/>
                    <a:p>
                      <a:pPr algn="ctr">
                        <a:defRPr sz="1000">
                          <a:latin typeface="Montserrat"/>
                        </a:defRPr>
                      </a:pPr>
                      <a:r>
                        <a:t>21,451</a:t>
                      </a:r>
                    </a:p>
                  </a:txBody>
                  <a:tcPr>
                    <a:solidFill>
                      <a:srgbClr val="FFFFFF"/>
                    </a:solidFill>
                  </a:tcPr>
                </a:tc>
                <a:tc>
                  <a:txBody>
                    <a:bodyPr/>
                    <a:lstStyle/>
                    <a:p>
                      <a:pPr algn="ctr">
                        <a:defRPr sz="1000">
                          <a:latin typeface="Montserrat"/>
                        </a:defRPr>
                      </a:pPr>
                      <a:r>
                        <a:t>2,320</a:t>
                      </a:r>
                    </a:p>
                  </a:txBody>
                  <a:tcPr>
                    <a:solidFill>
                      <a:srgbClr val="FFFFFF"/>
                    </a:solidFill>
                  </a:tcPr>
                </a:tc>
                <a:tc>
                  <a:txBody>
                    <a:bodyPr/>
                    <a:lstStyle/>
                    <a:p>
                      <a:pPr algn="ctr">
                        <a:defRPr sz="1000">
                          <a:latin typeface="Montserrat"/>
                        </a:defRPr>
                      </a:pPr>
                      <a:r>
                        <a:t>9,982</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38.0%</a:t>
                      </a:r>
                    </a:p>
                  </a:txBody>
                  <a:tcPr>
                    <a:solidFill>
                      <a:srgbClr val="ECD3D9"/>
                    </a:solidFill>
                  </a:tcPr>
                </a:tc>
              </a:tr>
              <a:tr h="284400">
                <a:tc>
                  <a:txBody>
                    <a:bodyPr/>
                    <a:lstStyle/>
                    <a:p>
                      <a:pPr algn="l">
                        <a:defRPr sz="1000">
                          <a:latin typeface="Montserrat"/>
                        </a:defRPr>
                      </a:pPr>
                      <a:r>
                        <a:t>HGZ 194 El Molinito</a:t>
                      </a:r>
                    </a:p>
                  </a:txBody>
                  <a:tcPr>
                    <a:solidFill>
                      <a:srgbClr val="EFEFEF"/>
                    </a:solidFill>
                  </a:tcPr>
                </a:tc>
                <a:tc>
                  <a:txBody>
                    <a:bodyPr/>
                    <a:lstStyle/>
                    <a:p>
                      <a:pPr algn="ctr">
                        <a:defRPr sz="1000">
                          <a:latin typeface="Montserrat"/>
                        </a:defRPr>
                      </a:pPr>
                      <a:r>
                        <a:t>111,693</a:t>
                      </a:r>
                    </a:p>
                  </a:txBody>
                  <a:tcPr>
                    <a:solidFill>
                      <a:srgbClr val="EFEFEF"/>
                    </a:solidFill>
                  </a:tcPr>
                </a:tc>
                <a:tc>
                  <a:txBody>
                    <a:bodyPr/>
                    <a:lstStyle/>
                    <a:p>
                      <a:pPr algn="ctr">
                        <a:defRPr sz="1000">
                          <a:latin typeface="Montserrat"/>
                        </a:defRPr>
                      </a:pPr>
                      <a:r>
                        <a:t>27,278</a:t>
                      </a:r>
                    </a:p>
                  </a:txBody>
                  <a:tcPr>
                    <a:solidFill>
                      <a:srgbClr val="EFEFEF"/>
                    </a:solidFill>
                  </a:tcPr>
                </a:tc>
                <a:tc>
                  <a:txBody>
                    <a:bodyPr/>
                    <a:lstStyle/>
                    <a:p>
                      <a:pPr algn="ctr">
                        <a:defRPr sz="1000">
                          <a:latin typeface="Montserrat"/>
                        </a:defRPr>
                      </a:pPr>
                      <a:r>
                        <a:t>40,356</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36.1%</a:t>
                      </a:r>
                    </a:p>
                  </a:txBody>
                  <a:tcPr>
                    <a:solidFill>
                      <a:srgbClr val="ECD3D9"/>
                    </a:solidFill>
                  </a:tcPr>
                </a:tc>
              </a:tr>
              <a:tr h="284400">
                <a:tc>
                  <a:txBody>
                    <a:bodyPr/>
                    <a:lstStyle/>
                    <a:p>
                      <a:pPr algn="l">
                        <a:defRPr sz="1000">
                          <a:latin typeface="Montserrat"/>
                        </a:defRPr>
                      </a:pPr>
                      <a:r>
                        <a:t>HGR 251 Metepec</a:t>
                      </a:r>
                    </a:p>
                  </a:txBody>
                  <a:tcPr>
                    <a:solidFill>
                      <a:srgbClr val="FFFFFF"/>
                    </a:solidFill>
                  </a:tcPr>
                </a:tc>
                <a:tc>
                  <a:txBody>
                    <a:bodyPr/>
                    <a:lstStyle/>
                    <a:p>
                      <a:pPr algn="ctr">
                        <a:defRPr sz="1000">
                          <a:latin typeface="Montserrat"/>
                        </a:defRPr>
                      </a:pPr>
                      <a:r>
                        <a:t>224,256</a:t>
                      </a:r>
                    </a:p>
                  </a:txBody>
                  <a:tcPr>
                    <a:solidFill>
                      <a:srgbClr val="FFFFFF"/>
                    </a:solidFill>
                  </a:tcPr>
                </a:tc>
                <a:tc>
                  <a:txBody>
                    <a:bodyPr/>
                    <a:lstStyle/>
                    <a:p>
                      <a:pPr algn="ctr">
                        <a:defRPr sz="1000">
                          <a:latin typeface="Montserrat"/>
                        </a:defRPr>
                      </a:pPr>
                      <a:r>
                        <a:t>41,878</a:t>
                      </a:r>
                    </a:p>
                  </a:txBody>
                  <a:tcPr>
                    <a:solidFill>
                      <a:srgbClr val="FFFFFF"/>
                    </a:solidFill>
                  </a:tcPr>
                </a:tc>
                <a:tc>
                  <a:txBody>
                    <a:bodyPr/>
                    <a:lstStyle/>
                    <a:p>
                      <a:pPr algn="ctr">
                        <a:defRPr sz="1000">
                          <a:latin typeface="Montserrat"/>
                        </a:defRPr>
                      </a:pPr>
                      <a:r>
                        <a:t>80,205</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35.9%</a:t>
                      </a:r>
                    </a:p>
                  </a:txBody>
                  <a:tcPr>
                    <a:solidFill>
                      <a:srgbClr val="ECD3D9"/>
                    </a:solidFill>
                  </a:tcPr>
                </a:tc>
              </a:tr>
              <a:tr h="284400">
                <a:tc>
                  <a:txBody>
                    <a:bodyPr/>
                    <a:lstStyle/>
                    <a:p>
                      <a:pPr algn="l">
                        <a:defRPr sz="1000">
                          <a:latin typeface="Montserrat"/>
                        </a:defRPr>
                      </a:pPr>
                      <a:r>
                        <a:t>HGZ 57 La Quebrada</a:t>
                      </a:r>
                    </a:p>
                  </a:txBody>
                  <a:tcPr>
                    <a:solidFill>
                      <a:srgbClr val="EFEFEF"/>
                    </a:solidFill>
                  </a:tcPr>
                </a:tc>
                <a:tc>
                  <a:txBody>
                    <a:bodyPr/>
                    <a:lstStyle/>
                    <a:p>
                      <a:pPr algn="ctr">
                        <a:defRPr sz="1000">
                          <a:latin typeface="Montserrat"/>
                        </a:defRPr>
                      </a:pPr>
                      <a:r>
                        <a:t>126,197</a:t>
                      </a:r>
                    </a:p>
                  </a:txBody>
                  <a:tcPr>
                    <a:solidFill>
                      <a:srgbClr val="EFEFEF"/>
                    </a:solidFill>
                  </a:tcPr>
                </a:tc>
                <a:tc>
                  <a:txBody>
                    <a:bodyPr/>
                    <a:lstStyle/>
                    <a:p>
                      <a:pPr algn="ctr">
                        <a:defRPr sz="1000">
                          <a:latin typeface="Montserrat"/>
                        </a:defRPr>
                      </a:pPr>
                      <a:r>
                        <a:t>24,114</a:t>
                      </a:r>
                    </a:p>
                  </a:txBody>
                  <a:tcPr>
                    <a:solidFill>
                      <a:srgbClr val="EFEFEF"/>
                    </a:solidFill>
                  </a:tcPr>
                </a:tc>
                <a:tc>
                  <a:txBody>
                    <a:bodyPr/>
                    <a:lstStyle/>
                    <a:p>
                      <a:pPr algn="ctr">
                        <a:defRPr sz="1000">
                          <a:latin typeface="Montserrat"/>
                        </a:defRPr>
                      </a:pPr>
                      <a:r>
                        <a:t>46,540</a:t>
                      </a:r>
                    </a:p>
                  </a:txBody>
                  <a:tcPr>
                    <a:solidFill>
                      <a:srgbClr val="ECD3D9"/>
                    </a:solidFill>
                  </a:tcPr>
                </a:tc>
                <a:tc>
                  <a:txBody>
                    <a:bodyPr/>
                    <a:lstStyle/>
                    <a:p>
                      <a:pPr algn="ctr">
                        <a:defRPr sz="1000">
                          <a:latin typeface="Montserrat"/>
                        </a:defRPr>
                      </a:pPr>
                      <a:r>
                        <a:t>131,400</a:t>
                      </a:r>
                    </a:p>
                  </a:txBody>
                  <a:tcPr>
                    <a:solidFill>
                      <a:srgbClr val="ECD3D9"/>
                    </a:solidFill>
                  </a:tcPr>
                </a:tc>
                <a:tc>
                  <a:txBody>
                    <a:bodyPr/>
                    <a:lstStyle/>
                    <a:p>
                      <a:pPr algn="ctr">
                        <a:defRPr sz="1000">
                          <a:latin typeface="Montserrat"/>
                        </a:defRPr>
                      </a:pPr>
                      <a:r>
                        <a:t>35.4%</a:t>
                      </a:r>
                    </a:p>
                  </a:txBody>
                  <a:tcPr>
                    <a:solidFill>
                      <a:srgbClr val="ECD3D9"/>
                    </a:solidFill>
                  </a:tcPr>
                </a:tc>
              </a:tr>
              <a:tr h="284400">
                <a:tc>
                  <a:txBody>
                    <a:bodyPr/>
                    <a:lstStyle/>
                    <a:p>
                      <a:pPr algn="l">
                        <a:defRPr sz="1000">
                          <a:latin typeface="Montserrat"/>
                        </a:defRPr>
                      </a:pPr>
                      <a:r>
                        <a:t>HGR 220 Toluca</a:t>
                      </a:r>
                    </a:p>
                  </a:txBody>
                  <a:tcPr>
                    <a:solidFill>
                      <a:srgbClr val="FFFFFF"/>
                    </a:solidFill>
                  </a:tcPr>
                </a:tc>
                <a:tc>
                  <a:txBody>
                    <a:bodyPr/>
                    <a:lstStyle/>
                    <a:p>
                      <a:pPr algn="ctr">
                        <a:defRPr sz="1000">
                          <a:latin typeface="Montserrat"/>
                        </a:defRPr>
                      </a:pPr>
                      <a:r>
                        <a:t>225,051</a:t>
                      </a:r>
                    </a:p>
                  </a:txBody>
                  <a:tcPr>
                    <a:solidFill>
                      <a:srgbClr val="FFFFFF"/>
                    </a:solidFill>
                  </a:tcPr>
                </a:tc>
                <a:tc>
                  <a:txBody>
                    <a:bodyPr/>
                    <a:lstStyle/>
                    <a:p>
                      <a:pPr algn="ctr">
                        <a:defRPr sz="1000">
                          <a:latin typeface="Montserrat"/>
                        </a:defRPr>
                      </a:pPr>
                      <a:r>
                        <a:t>37,966</a:t>
                      </a:r>
                    </a:p>
                  </a:txBody>
                  <a:tcPr>
                    <a:solidFill>
                      <a:srgbClr val="FFFFFF"/>
                    </a:solidFill>
                  </a:tcPr>
                </a:tc>
                <a:tc>
                  <a:txBody>
                    <a:bodyPr/>
                    <a:lstStyle/>
                    <a:p>
                      <a:pPr algn="ctr">
                        <a:defRPr sz="1000">
                          <a:latin typeface="Montserrat"/>
                        </a:defRPr>
                      </a:pPr>
                      <a:r>
                        <a:t>75,325</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33.7%</a:t>
                      </a:r>
                    </a:p>
                  </a:txBody>
                  <a:tcPr>
                    <a:solidFill>
                      <a:srgbClr val="ECD3D9"/>
                    </a:solidFill>
                  </a:tcPr>
                </a:tc>
              </a:tr>
              <a:tr h="284400">
                <a:tc>
                  <a:txBody>
                    <a:bodyPr/>
                    <a:lstStyle/>
                    <a:p>
                      <a:pPr algn="l">
                        <a:defRPr sz="1000">
                          <a:latin typeface="Montserrat"/>
                        </a:defRPr>
                      </a:pPr>
                      <a:r>
                        <a:t>HGZ 58 Las Margaritas</a:t>
                      </a:r>
                    </a:p>
                  </a:txBody>
                  <a:tcPr>
                    <a:solidFill>
                      <a:srgbClr val="EFEFEF"/>
                    </a:solidFill>
                  </a:tcPr>
                </a:tc>
                <a:tc>
                  <a:txBody>
                    <a:bodyPr/>
                    <a:lstStyle/>
                    <a:p>
                      <a:pPr algn="ctr">
                        <a:defRPr sz="1000">
                          <a:latin typeface="Montserrat"/>
                        </a:defRPr>
                      </a:pPr>
                      <a:r>
                        <a:t>124,177</a:t>
                      </a:r>
                    </a:p>
                  </a:txBody>
                  <a:tcPr>
                    <a:solidFill>
                      <a:srgbClr val="EFEFEF"/>
                    </a:solidFill>
                  </a:tcPr>
                </a:tc>
                <a:tc>
                  <a:txBody>
                    <a:bodyPr/>
                    <a:lstStyle/>
                    <a:p>
                      <a:pPr algn="ctr">
                        <a:defRPr sz="1000">
                          <a:latin typeface="Montserrat"/>
                        </a:defRPr>
                      </a:pPr>
                      <a:r>
                        <a:t>13,813</a:t>
                      </a:r>
                    </a:p>
                  </a:txBody>
                  <a:tcPr>
                    <a:solidFill>
                      <a:srgbClr val="EFEFEF"/>
                    </a:solidFill>
                  </a:tcPr>
                </a:tc>
                <a:tc>
                  <a:txBody>
                    <a:bodyPr/>
                    <a:lstStyle/>
                    <a:p>
                      <a:pPr algn="ctr">
                        <a:defRPr sz="1000">
                          <a:latin typeface="Montserrat"/>
                        </a:defRPr>
                      </a:pPr>
                      <a:r>
                        <a:t>42,007</a:t>
                      </a:r>
                    </a:p>
                  </a:txBody>
                  <a:tcPr>
                    <a:solidFill>
                      <a:srgbClr val="ECD3D9"/>
                    </a:solidFill>
                  </a:tcPr>
                </a:tc>
                <a:tc>
                  <a:txBody>
                    <a:bodyPr/>
                    <a:lstStyle/>
                    <a:p>
                      <a:pPr algn="ctr">
                        <a:defRPr sz="1000">
                          <a:latin typeface="Montserrat"/>
                        </a:defRPr>
                      </a:pPr>
                      <a:r>
                        <a:t>124,830</a:t>
                      </a:r>
                    </a:p>
                  </a:txBody>
                  <a:tcPr>
                    <a:solidFill>
                      <a:srgbClr val="ECD3D9"/>
                    </a:solidFill>
                  </a:tcPr>
                </a:tc>
                <a:tc>
                  <a:txBody>
                    <a:bodyPr/>
                    <a:lstStyle/>
                    <a:p>
                      <a:pPr algn="ctr">
                        <a:defRPr sz="1000">
                          <a:latin typeface="Montserrat"/>
                        </a:defRPr>
                      </a:pPr>
                      <a:r>
                        <a:t>33.6%</a:t>
                      </a:r>
                    </a:p>
                  </a:txBody>
                  <a:tcPr>
                    <a:solidFill>
                      <a:srgbClr val="ECD3D9"/>
                    </a:solidFill>
                  </a:tcPr>
                </a:tc>
              </a:tr>
              <a:tr h="284400">
                <a:tc>
                  <a:txBody>
                    <a:bodyPr/>
                    <a:lstStyle/>
                    <a:p>
                      <a:pPr algn="l">
                        <a:defRPr sz="1000">
                          <a:latin typeface="Montserrat"/>
                        </a:defRPr>
                      </a:pPr>
                      <a:r>
                        <a:t>HGZ 68 Tulpetlac</a:t>
                      </a:r>
                    </a:p>
                  </a:txBody>
                  <a:tcPr>
                    <a:solidFill>
                      <a:srgbClr val="FFFFFF"/>
                    </a:solidFill>
                  </a:tcPr>
                </a:tc>
                <a:tc>
                  <a:txBody>
                    <a:bodyPr/>
                    <a:lstStyle/>
                    <a:p>
                      <a:pPr algn="ctr">
                        <a:defRPr sz="1000">
                          <a:latin typeface="Montserrat"/>
                        </a:defRPr>
                      </a:pPr>
                      <a:r>
                        <a:t>85,949</a:t>
                      </a:r>
                    </a:p>
                  </a:txBody>
                  <a:tcPr>
                    <a:solidFill>
                      <a:srgbClr val="FFFFFF"/>
                    </a:solidFill>
                  </a:tcPr>
                </a:tc>
                <a:tc>
                  <a:txBody>
                    <a:bodyPr/>
                    <a:lstStyle/>
                    <a:p>
                      <a:pPr algn="ctr">
                        <a:defRPr sz="1000">
                          <a:latin typeface="Montserrat"/>
                        </a:defRPr>
                      </a:pPr>
                      <a:r>
                        <a:t>20,259</a:t>
                      </a:r>
                    </a:p>
                  </a:txBody>
                  <a:tcPr>
                    <a:solidFill>
                      <a:srgbClr val="FFFFFF"/>
                    </a:solidFill>
                  </a:tcPr>
                </a:tc>
                <a:tc>
                  <a:txBody>
                    <a:bodyPr/>
                    <a:lstStyle/>
                    <a:p>
                      <a:pPr algn="ctr">
                        <a:defRPr sz="1000">
                          <a:latin typeface="Montserrat"/>
                        </a:defRPr>
                      </a:pPr>
                      <a:r>
                        <a:t>30,433</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33.1%</a:t>
                      </a:r>
                    </a:p>
                  </a:txBody>
                  <a:tcPr>
                    <a:solidFill>
                      <a:srgbClr val="ECD3D9"/>
                    </a:solidFill>
                  </a:tcPr>
                </a:tc>
              </a:tr>
              <a:tr h="284400">
                <a:tc>
                  <a:txBody>
                    <a:bodyPr/>
                    <a:lstStyle/>
                    <a:p>
                      <a:pPr algn="l">
                        <a:defRPr sz="1000">
                          <a:latin typeface="Montserrat"/>
                        </a:defRPr>
                      </a:pPr>
                      <a:r>
                        <a:t>HGO 221 Toluca</a:t>
                      </a:r>
                    </a:p>
                  </a:txBody>
                  <a:tcPr>
                    <a:solidFill>
                      <a:srgbClr val="EFEFEF"/>
                    </a:solidFill>
                  </a:tcPr>
                </a:tc>
                <a:tc>
                  <a:txBody>
                    <a:bodyPr/>
                    <a:lstStyle/>
                    <a:p>
                      <a:pPr algn="ctr">
                        <a:defRPr sz="1000">
                          <a:latin typeface="Montserrat"/>
                        </a:defRPr>
                      </a:pPr>
                      <a:r>
                        <a:t>41,490</a:t>
                      </a:r>
                    </a:p>
                  </a:txBody>
                  <a:tcPr>
                    <a:solidFill>
                      <a:srgbClr val="EFEFEF"/>
                    </a:solidFill>
                  </a:tcPr>
                </a:tc>
                <a:tc>
                  <a:txBody>
                    <a:bodyPr/>
                    <a:lstStyle/>
                    <a:p>
                      <a:pPr algn="ctr">
                        <a:defRPr sz="1000">
                          <a:latin typeface="Montserrat"/>
                        </a:defRPr>
                      </a:pPr>
                      <a:r>
                        <a:t>-4,698</a:t>
                      </a:r>
                    </a:p>
                  </a:txBody>
                  <a:tcPr>
                    <a:solidFill>
                      <a:srgbClr val="EFEFEF"/>
                    </a:solidFill>
                  </a:tcPr>
                </a:tc>
                <a:tc>
                  <a:txBody>
                    <a:bodyPr/>
                    <a:lstStyle/>
                    <a:p>
                      <a:pPr algn="ctr">
                        <a:defRPr sz="1000">
                          <a:latin typeface="Montserrat"/>
                        </a:defRPr>
                      </a:pPr>
                      <a:r>
                        <a:t>15,200</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33.0%</a:t>
                      </a:r>
                    </a:p>
                  </a:txBody>
                  <a:tcPr>
                    <a:solidFill>
                      <a:srgbClr val="ECD3D9"/>
                    </a:solidFill>
                  </a:tcPr>
                </a:tc>
              </a:tr>
              <a:tr h="284400">
                <a:tc>
                  <a:txBody>
                    <a:bodyPr/>
                    <a:lstStyle/>
                    <a:p>
                      <a:pPr algn="l">
                        <a:defRPr sz="1000">
                          <a:latin typeface="Montserrat"/>
                        </a:defRPr>
                      </a:pPr>
                      <a:r>
                        <a:t>HGR 72 Gustavo Baz</a:t>
                      </a:r>
                    </a:p>
                  </a:txBody>
                  <a:tcPr>
                    <a:solidFill>
                      <a:srgbClr val="FFFFFF"/>
                    </a:solidFill>
                  </a:tcPr>
                </a:tc>
                <a:tc>
                  <a:txBody>
                    <a:bodyPr/>
                    <a:lstStyle/>
                    <a:p>
                      <a:pPr algn="ctr">
                        <a:defRPr sz="1000">
                          <a:latin typeface="Montserrat"/>
                        </a:defRPr>
                      </a:pPr>
                      <a:r>
                        <a:t>222,576</a:t>
                      </a:r>
                    </a:p>
                  </a:txBody>
                  <a:tcPr>
                    <a:solidFill>
                      <a:srgbClr val="FFFFFF"/>
                    </a:solidFill>
                  </a:tcPr>
                </a:tc>
                <a:tc>
                  <a:txBody>
                    <a:bodyPr/>
                    <a:lstStyle/>
                    <a:p>
                      <a:pPr algn="ctr">
                        <a:defRPr sz="1000">
                          <a:latin typeface="Montserrat"/>
                        </a:defRPr>
                      </a:pPr>
                      <a:r>
                        <a:t>30,796</a:t>
                      </a:r>
                    </a:p>
                  </a:txBody>
                  <a:tcPr>
                    <a:solidFill>
                      <a:srgbClr val="FFFFFF"/>
                    </a:solidFill>
                  </a:tcPr>
                </a:tc>
                <a:tc>
                  <a:txBody>
                    <a:bodyPr/>
                    <a:lstStyle/>
                    <a:p>
                      <a:pPr algn="ctr">
                        <a:defRPr sz="1000">
                          <a:latin typeface="Montserrat"/>
                        </a:defRPr>
                      </a:pPr>
                      <a:r>
                        <a:t>70,080</a:t>
                      </a:r>
                    </a:p>
                  </a:txBody>
                  <a:tcPr>
                    <a:solidFill>
                      <a:srgbClr val="ECD3D9"/>
                    </a:solidFill>
                  </a:tcPr>
                </a:tc>
                <a:tc>
                  <a:txBody>
                    <a:bodyPr/>
                    <a:lstStyle/>
                    <a:p>
                      <a:pPr algn="ctr">
                        <a:defRPr sz="1000">
                          <a:latin typeface="Montserrat"/>
                        </a:defRPr>
                      </a:pPr>
                      <a:r>
                        <a:t>229,950</a:t>
                      </a:r>
                    </a:p>
                  </a:txBody>
                  <a:tcPr>
                    <a:solidFill>
                      <a:srgbClr val="ECD3D9"/>
                    </a:solidFill>
                  </a:tcPr>
                </a:tc>
                <a:tc>
                  <a:txBody>
                    <a:bodyPr/>
                    <a:lstStyle/>
                    <a:p>
                      <a:pPr algn="ctr">
                        <a:defRPr sz="1000">
                          <a:latin typeface="Montserrat"/>
                        </a:defRPr>
                      </a:pPr>
                      <a:r>
                        <a:t>30.5%</a:t>
                      </a:r>
                    </a:p>
                  </a:txBody>
                  <a:tcPr>
                    <a:solidFill>
                      <a:srgbClr val="ECD3D9"/>
                    </a:solidFill>
                  </a:tcPr>
                </a:tc>
              </a:tr>
              <a:tr h="284400">
                <a:tc>
                  <a:txBody>
                    <a:bodyPr/>
                    <a:lstStyle/>
                    <a:p>
                      <a:pPr algn="l">
                        <a:defRPr sz="1000">
                          <a:latin typeface="Montserrat"/>
                        </a:defRPr>
                      </a:pPr>
                      <a:r>
                        <a:t>HGZ 53 Los Reyes Paz</a:t>
                      </a:r>
                    </a:p>
                  </a:txBody>
                  <a:tcPr>
                    <a:solidFill>
                      <a:srgbClr val="EFEFEF"/>
                    </a:solidFill>
                  </a:tcPr>
                </a:tc>
                <a:tc>
                  <a:txBody>
                    <a:bodyPr/>
                    <a:lstStyle/>
                    <a:p>
                      <a:pPr algn="ctr">
                        <a:defRPr sz="1000">
                          <a:latin typeface="Montserrat"/>
                        </a:defRPr>
                      </a:pPr>
                      <a:r>
                        <a:t>99,015</a:t>
                      </a:r>
                    </a:p>
                  </a:txBody>
                  <a:tcPr>
                    <a:solidFill>
                      <a:srgbClr val="EFEFEF"/>
                    </a:solidFill>
                  </a:tcPr>
                </a:tc>
                <a:tc>
                  <a:txBody>
                    <a:bodyPr/>
                    <a:lstStyle/>
                    <a:p>
                      <a:pPr algn="ctr">
                        <a:defRPr sz="1000">
                          <a:latin typeface="Montserrat"/>
                        </a:defRPr>
                      </a:pPr>
                      <a:r>
                        <a:t>20,868</a:t>
                      </a:r>
                    </a:p>
                  </a:txBody>
                  <a:tcPr>
                    <a:solidFill>
                      <a:srgbClr val="EFEFEF"/>
                    </a:solidFill>
                  </a:tcPr>
                </a:tc>
                <a:tc>
                  <a:txBody>
                    <a:bodyPr/>
                    <a:lstStyle/>
                    <a:p>
                      <a:pPr algn="ctr">
                        <a:defRPr sz="1000">
                          <a:latin typeface="Montserrat"/>
                        </a:defRPr>
                      </a:pPr>
                      <a:r>
                        <a:t>35,366</a:t>
                      </a:r>
                    </a:p>
                  </a:txBody>
                  <a:tcPr>
                    <a:solidFill>
                      <a:srgbClr val="ECD3D9"/>
                    </a:solidFill>
                  </a:tcPr>
                </a:tc>
                <a:tc>
                  <a:txBody>
                    <a:bodyPr/>
                    <a:lstStyle/>
                    <a:p>
                      <a:pPr algn="ctr">
                        <a:defRPr sz="1000">
                          <a:latin typeface="Montserrat"/>
                        </a:defRPr>
                      </a:pPr>
                      <a:r>
                        <a:t>118,260</a:t>
                      </a:r>
                    </a:p>
                  </a:txBody>
                  <a:tcPr>
                    <a:solidFill>
                      <a:srgbClr val="ECD3D9"/>
                    </a:solidFill>
                  </a:tcPr>
                </a:tc>
                <a:tc>
                  <a:txBody>
                    <a:bodyPr/>
                    <a:lstStyle/>
                    <a:p>
                      <a:pPr algn="ctr">
                        <a:defRPr sz="1000">
                          <a:latin typeface="Montserrat"/>
                        </a:defRPr>
                      </a:pPr>
                      <a:r>
                        <a:t>29.9%</a:t>
                      </a:r>
                    </a:p>
                  </a:txBody>
                  <a:tcPr>
                    <a:solidFill>
                      <a:srgbClr val="ECD3D9"/>
                    </a:solidFill>
                  </a:tcPr>
                </a:tc>
              </a:tr>
              <a:tr h="284400">
                <a:tc>
                  <a:txBody>
                    <a:bodyPr/>
                    <a:lstStyle/>
                    <a:p>
                      <a:pPr algn="l">
                        <a:defRPr sz="1000">
                          <a:latin typeface="Montserrat"/>
                        </a:defRPr>
                      </a:pPr>
                      <a:r>
                        <a:t>HGR 200 Tecamac</a:t>
                      </a:r>
                    </a:p>
                  </a:txBody>
                  <a:tcPr>
                    <a:solidFill>
                      <a:srgbClr val="FFFFFF"/>
                    </a:solidFill>
                  </a:tcPr>
                </a:tc>
                <a:tc>
                  <a:txBody>
                    <a:bodyPr/>
                    <a:lstStyle/>
                    <a:p>
                      <a:pPr algn="ctr">
                        <a:defRPr sz="1000">
                          <a:latin typeface="Montserrat"/>
                        </a:defRPr>
                      </a:pPr>
                      <a:r>
                        <a:t>170,958</a:t>
                      </a:r>
                    </a:p>
                  </a:txBody>
                  <a:tcPr>
                    <a:solidFill>
                      <a:srgbClr val="FFFFFF"/>
                    </a:solidFill>
                  </a:tcPr>
                </a:tc>
                <a:tc>
                  <a:txBody>
                    <a:bodyPr/>
                    <a:lstStyle/>
                    <a:p>
                      <a:pPr algn="ctr">
                        <a:defRPr sz="1000">
                          <a:latin typeface="Montserrat"/>
                        </a:defRPr>
                      </a:pPr>
                      <a:r>
                        <a:t>32,567</a:t>
                      </a:r>
                    </a:p>
                  </a:txBody>
                  <a:tcPr>
                    <a:solidFill>
                      <a:srgbClr val="FFFFFF"/>
                    </a:solidFill>
                  </a:tcPr>
                </a:tc>
                <a:tc>
                  <a:txBody>
                    <a:bodyPr/>
                    <a:lstStyle/>
                    <a:p>
                      <a:pPr algn="ctr">
                        <a:defRPr sz="1000">
                          <a:latin typeface="Montserrat"/>
                        </a:defRPr>
                      </a:pPr>
                      <a:r>
                        <a:t>60,131</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29.5%</a:t>
                      </a:r>
                    </a:p>
                  </a:txBody>
                  <a:tcPr>
                    <a:solidFill>
                      <a:srgbClr val="ECD3D9"/>
                    </a:solidFill>
                  </a:tcPr>
                </a:tc>
              </a:tr>
              <a:tr h="284400">
                <a:tc>
                  <a:txBody>
                    <a:bodyPr/>
                    <a:lstStyle/>
                    <a:p>
                      <a:pPr algn="l">
                        <a:defRPr sz="1000">
                          <a:latin typeface="Montserrat"/>
                        </a:defRPr>
                      </a:pPr>
                      <a:r>
                        <a:t>HGZ 197 Texcoco</a:t>
                      </a:r>
                    </a:p>
                  </a:txBody>
                  <a:tcPr>
                    <a:solidFill>
                      <a:srgbClr val="EFEFEF"/>
                    </a:solidFill>
                  </a:tcPr>
                </a:tc>
                <a:tc>
                  <a:txBody>
                    <a:bodyPr/>
                    <a:lstStyle/>
                    <a:p>
                      <a:pPr algn="ctr">
                        <a:defRPr sz="1000">
                          <a:latin typeface="Montserrat"/>
                        </a:defRPr>
                      </a:pPr>
                      <a:r>
                        <a:t>125,602</a:t>
                      </a:r>
                    </a:p>
                  </a:txBody>
                  <a:tcPr>
                    <a:solidFill>
                      <a:srgbClr val="EFEFEF"/>
                    </a:solidFill>
                  </a:tcPr>
                </a:tc>
                <a:tc>
                  <a:txBody>
                    <a:bodyPr/>
                    <a:lstStyle/>
                    <a:p>
                      <a:pPr algn="ctr">
                        <a:defRPr sz="1000">
                          <a:latin typeface="Montserrat"/>
                        </a:defRPr>
                      </a:pPr>
                      <a:r>
                        <a:t>16,154</a:t>
                      </a:r>
                    </a:p>
                  </a:txBody>
                  <a:tcPr>
                    <a:solidFill>
                      <a:srgbClr val="EFEFEF"/>
                    </a:solidFill>
                  </a:tcPr>
                </a:tc>
                <a:tc>
                  <a:txBody>
                    <a:bodyPr/>
                    <a:lstStyle/>
                    <a:p>
                      <a:pPr algn="ctr">
                        <a:defRPr sz="1000">
                          <a:latin typeface="Montserrat"/>
                        </a:defRPr>
                      </a:pPr>
                      <a:r>
                        <a:t>42,029</a:t>
                      </a:r>
                    </a:p>
                  </a:txBody>
                  <a:tcPr>
                    <a:solidFill>
                      <a:srgbClr val="ECD3D9"/>
                    </a:solidFill>
                  </a:tcPr>
                </a:tc>
                <a:tc>
                  <a:txBody>
                    <a:bodyPr/>
                    <a:lstStyle/>
                    <a:p>
                      <a:pPr algn="ctr">
                        <a:defRPr sz="1000">
                          <a:latin typeface="Montserrat"/>
                        </a:defRPr>
                      </a:pPr>
                      <a:r>
                        <a:t>142,715</a:t>
                      </a:r>
                    </a:p>
                  </a:txBody>
                  <a:tcPr>
                    <a:solidFill>
                      <a:srgbClr val="ECD3D9"/>
                    </a:solidFill>
                  </a:tcPr>
                </a:tc>
                <a:tc>
                  <a:txBody>
                    <a:bodyPr/>
                    <a:lstStyle/>
                    <a:p>
                      <a:pPr algn="ctr">
                        <a:defRPr sz="1000">
                          <a:latin typeface="Montserrat"/>
                        </a:defRPr>
                      </a:pPr>
                      <a:r>
                        <a:t>29.4%</a:t>
                      </a:r>
                    </a:p>
                  </a:txBody>
                  <a:tcPr>
                    <a:solidFill>
                      <a:srgbClr val="ECD3D9"/>
                    </a:solidFill>
                  </a:tcPr>
                </a:tc>
              </a:tr>
              <a:tr h="284400">
                <a:tc>
                  <a:txBody>
                    <a:bodyPr/>
                    <a:lstStyle/>
                    <a:p>
                      <a:pPr algn="l">
                        <a:defRPr sz="1000">
                          <a:latin typeface="Montserrat"/>
                        </a:defRPr>
                      </a:pPr>
                      <a:r>
                        <a:t>HGR 196 Fidel Velázquez</a:t>
                      </a:r>
                    </a:p>
                  </a:txBody>
                  <a:tcPr>
                    <a:solidFill>
                      <a:srgbClr val="FFFFFF"/>
                    </a:solidFill>
                  </a:tcPr>
                </a:tc>
                <a:tc>
                  <a:txBody>
                    <a:bodyPr/>
                    <a:lstStyle/>
                    <a:p>
                      <a:pPr algn="ctr">
                        <a:defRPr sz="1000">
                          <a:latin typeface="Montserrat"/>
                        </a:defRPr>
                      </a:pPr>
                      <a:r>
                        <a:t>137,445</a:t>
                      </a:r>
                    </a:p>
                  </a:txBody>
                  <a:tcPr>
                    <a:solidFill>
                      <a:srgbClr val="FFFFFF"/>
                    </a:solidFill>
                  </a:tcPr>
                </a:tc>
                <a:tc>
                  <a:txBody>
                    <a:bodyPr/>
                    <a:lstStyle/>
                    <a:p>
                      <a:pPr algn="ctr">
                        <a:defRPr sz="1000">
                          <a:latin typeface="Montserrat"/>
                        </a:defRPr>
                      </a:pPr>
                      <a:r>
                        <a:t>22,417</a:t>
                      </a:r>
                    </a:p>
                  </a:txBody>
                  <a:tcPr>
                    <a:solidFill>
                      <a:srgbClr val="FFFFFF"/>
                    </a:solidFill>
                  </a:tcPr>
                </a:tc>
                <a:tc>
                  <a:txBody>
                    <a:bodyPr/>
                    <a:lstStyle/>
                    <a:p>
                      <a:pPr algn="ctr">
                        <a:defRPr sz="1000">
                          <a:latin typeface="Montserrat"/>
                        </a:defRPr>
                      </a:pPr>
                      <a:r>
                        <a:t>47,297</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28.8%</a:t>
                      </a:r>
                    </a:p>
                  </a:txBody>
                  <a:tcPr>
                    <a:solidFill>
                      <a:srgbClr val="ECD3D9"/>
                    </a:solidFill>
                  </a:tcPr>
                </a:tc>
              </a:tr>
              <a:tr h="284400">
                <a:tc>
                  <a:txBody>
                    <a:bodyPr/>
                    <a:lstStyle/>
                    <a:p>
                      <a:pPr algn="l">
                        <a:defRPr sz="1000">
                          <a:latin typeface="Montserrat"/>
                        </a:defRPr>
                      </a:pPr>
                      <a:r>
                        <a:t>HGZMF 76 Xalostoc</a:t>
                      </a:r>
                    </a:p>
                  </a:txBody>
                  <a:tcPr>
                    <a:solidFill>
                      <a:srgbClr val="EFEFEF"/>
                    </a:solidFill>
                  </a:tcPr>
                </a:tc>
                <a:tc>
                  <a:txBody>
                    <a:bodyPr/>
                    <a:lstStyle/>
                    <a:p>
                      <a:pPr algn="ctr">
                        <a:defRPr sz="1000">
                          <a:latin typeface="Montserrat"/>
                        </a:defRPr>
                      </a:pPr>
                      <a:r>
                        <a:t>123,391</a:t>
                      </a:r>
                    </a:p>
                  </a:txBody>
                  <a:tcPr>
                    <a:solidFill>
                      <a:srgbClr val="EFEFEF"/>
                    </a:solidFill>
                  </a:tcPr>
                </a:tc>
                <a:tc>
                  <a:txBody>
                    <a:bodyPr/>
                    <a:lstStyle/>
                    <a:p>
                      <a:pPr algn="ctr">
                        <a:defRPr sz="1000">
                          <a:latin typeface="Montserrat"/>
                        </a:defRPr>
                      </a:pPr>
                      <a:r>
                        <a:t>8,090</a:t>
                      </a:r>
                    </a:p>
                  </a:txBody>
                  <a:tcPr>
                    <a:solidFill>
                      <a:srgbClr val="EFEFEF"/>
                    </a:solidFill>
                  </a:tcPr>
                </a:tc>
                <a:tc>
                  <a:txBody>
                    <a:bodyPr/>
                    <a:lstStyle/>
                    <a:p>
                      <a:pPr algn="ctr">
                        <a:defRPr sz="1000">
                          <a:latin typeface="Montserrat"/>
                        </a:defRPr>
                      </a:pPr>
                      <a:r>
                        <a:t>34,796</a:t>
                      </a:r>
                    </a:p>
                  </a:txBody>
                  <a:tcPr>
                    <a:solidFill>
                      <a:srgbClr val="ECD3D9"/>
                    </a:solidFill>
                  </a:tcPr>
                </a:tc>
                <a:tc>
                  <a:txBody>
                    <a:bodyPr/>
                    <a:lstStyle/>
                    <a:p>
                      <a:pPr algn="ctr">
                        <a:defRPr sz="1000">
                          <a:latin typeface="Montserrat"/>
                        </a:defRPr>
                      </a:pPr>
                      <a:r>
                        <a:t>131,400</a:t>
                      </a:r>
                    </a:p>
                  </a:txBody>
                  <a:tcPr>
                    <a:solidFill>
                      <a:srgbClr val="ECD3D9"/>
                    </a:solidFill>
                  </a:tcPr>
                </a:tc>
                <a:tc>
                  <a:txBody>
                    <a:bodyPr/>
                    <a:lstStyle/>
                    <a:p>
                      <a:pPr algn="ctr">
                        <a:defRPr sz="1000">
                          <a:latin typeface="Montserrat"/>
                        </a:defRPr>
                      </a:pPr>
                      <a:r>
                        <a:t>26.5%</a:t>
                      </a:r>
                    </a:p>
                  </a:txBody>
                  <a:tcPr>
                    <a:solidFill>
                      <a:srgbClr val="ECD3D9"/>
                    </a:solidFill>
                  </a:tcPr>
                </a:tc>
              </a:tr>
              <a:tr h="284400">
                <a:tc>
                  <a:txBody>
                    <a:bodyPr/>
                    <a:lstStyle/>
                    <a:p>
                      <a:pPr algn="l">
                        <a:defRPr sz="1000">
                          <a:latin typeface="Montserrat"/>
                        </a:defRPr>
                      </a:pPr>
                      <a:r>
                        <a:t>HGZ 98 Coacalco</a:t>
                      </a:r>
                    </a:p>
                  </a:txBody>
                  <a:tcPr>
                    <a:solidFill>
                      <a:srgbClr val="FFFFFF"/>
                    </a:solidFill>
                  </a:tcPr>
                </a:tc>
                <a:tc>
                  <a:txBody>
                    <a:bodyPr/>
                    <a:lstStyle/>
                    <a:p>
                      <a:pPr algn="ctr">
                        <a:defRPr sz="1000">
                          <a:latin typeface="Montserrat"/>
                        </a:defRPr>
                      </a:pPr>
                      <a:r>
                        <a:t>85,125</a:t>
                      </a:r>
                    </a:p>
                  </a:txBody>
                  <a:tcPr>
                    <a:solidFill>
                      <a:srgbClr val="FFFFFF"/>
                    </a:solidFill>
                  </a:tcPr>
                </a:tc>
                <a:tc>
                  <a:txBody>
                    <a:bodyPr/>
                    <a:lstStyle/>
                    <a:p>
                      <a:pPr algn="ctr">
                        <a:defRPr sz="1000">
                          <a:latin typeface="Montserrat"/>
                        </a:defRPr>
                      </a:pPr>
                      <a:r>
                        <a:t>15,013</a:t>
                      </a:r>
                    </a:p>
                  </a:txBody>
                  <a:tcPr>
                    <a:solidFill>
                      <a:srgbClr val="FFFFFF"/>
                    </a:solidFill>
                  </a:tcPr>
                </a:tc>
                <a:tc>
                  <a:txBody>
                    <a:bodyPr/>
                    <a:lstStyle/>
                    <a:p>
                      <a:pPr algn="ctr">
                        <a:defRPr sz="1000">
                          <a:latin typeface="Montserrat"/>
                        </a:defRPr>
                      </a:pPr>
                      <a:r>
                        <a:t>29,574</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26.5%</a:t>
                      </a:r>
                    </a:p>
                  </a:txBody>
                  <a:tcPr>
                    <a:solidFill>
                      <a:srgbClr val="ECD3D9"/>
                    </a:solidFill>
                  </a:tcPr>
                </a:tc>
              </a:tr>
              <a:tr h="2844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66,650</a:t>
                      </a:r>
                    </a:p>
                  </a:txBody>
                  <a:tcPr>
                    <a:solidFill>
                      <a:srgbClr val="EFEFEF"/>
                    </a:solidFill>
                  </a:tcPr>
                </a:tc>
                <a:tc>
                  <a:txBody>
                    <a:bodyPr/>
                    <a:lstStyle/>
                    <a:p>
                      <a:pPr algn="ctr">
                        <a:defRPr sz="1000">
                          <a:latin typeface="Montserrat"/>
                        </a:defRPr>
                      </a:pPr>
                      <a:r>
                        <a:t>8,435</a:t>
                      </a:r>
                    </a:p>
                  </a:txBody>
                  <a:tcPr>
                    <a:solidFill>
                      <a:srgbClr val="EFEFEF"/>
                    </a:solidFill>
                  </a:tcPr>
                </a:tc>
                <a:tc>
                  <a:txBody>
                    <a:bodyPr/>
                    <a:lstStyle/>
                    <a:p>
                      <a:pPr algn="ctr">
                        <a:defRPr sz="1000">
                          <a:latin typeface="Montserrat"/>
                        </a:defRPr>
                      </a:pPr>
                      <a:r>
                        <a:t>23,583</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23.8%</a:t>
                      </a:r>
                    </a:p>
                  </a:txBody>
                  <a:tcPr>
                    <a:solidFill>
                      <a:srgbClr val="ECD3D9"/>
                    </a:solidFill>
                  </a:tcPr>
                </a:tc>
              </a:tr>
              <a:tr h="284400">
                <a:tc>
                  <a:txBody>
                    <a:bodyPr/>
                    <a:lstStyle/>
                    <a:p>
                      <a:pPr algn="l">
                        <a:defRPr sz="1000">
                          <a:latin typeface="Montserrat"/>
                        </a:defRPr>
                      </a:pPr>
                      <a:r>
                        <a:t>UMAA 199 Tlalnepantla (Aut)</a:t>
                      </a:r>
                    </a:p>
                  </a:txBody>
                  <a:tcPr>
                    <a:solidFill>
                      <a:srgbClr val="FFFFFF"/>
                    </a:solidFill>
                  </a:tcPr>
                </a:tc>
                <a:tc>
                  <a:txBody>
                    <a:bodyPr/>
                    <a:lstStyle/>
                    <a:p>
                      <a:pPr algn="ctr">
                        <a:defRPr sz="1000">
                          <a:latin typeface="Montserrat"/>
                        </a:defRPr>
                      </a:pPr>
                      <a:r>
                        <a:t>36,866</a:t>
                      </a:r>
                    </a:p>
                  </a:txBody>
                  <a:tcPr>
                    <a:solidFill>
                      <a:srgbClr val="FFFFFF"/>
                    </a:solidFill>
                  </a:tcPr>
                </a:tc>
                <a:tc>
                  <a:txBody>
                    <a:bodyPr/>
                    <a:lstStyle/>
                    <a:p>
                      <a:pPr algn="ctr">
                        <a:defRPr sz="1000">
                          <a:latin typeface="Montserrat"/>
                        </a:defRPr>
                      </a:pPr>
                      <a:r>
                        <a:t>-1,090</a:t>
                      </a:r>
                    </a:p>
                  </a:txBody>
                  <a:tcPr>
                    <a:solidFill>
                      <a:srgbClr val="FFFFFF"/>
                    </a:solidFill>
                  </a:tcPr>
                </a:tc>
                <a:tc>
                  <a:txBody>
                    <a:bodyPr/>
                    <a:lstStyle/>
                    <a:p>
                      <a:pPr algn="ctr">
                        <a:defRPr sz="1000">
                          <a:latin typeface="Montserrat"/>
                        </a:defRPr>
                      </a:pPr>
                      <a:r>
                        <a:t>10,103</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22.0%</a:t>
                      </a:r>
                    </a:p>
                  </a:txBody>
                  <a:tcPr>
                    <a:solidFill>
                      <a:srgbClr val="ECD3D9"/>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240708780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200 Tecamac</a:t>
                      </a:r>
                    </a:p>
                  </a:txBody>
                  <a:tcPr>
                    <a:solidFill>
                      <a:srgbClr val="FFFFFF"/>
                    </a:solidFill>
                  </a:tcPr>
                </a:tc>
                <a:tc>
                  <a:txBody>
                    <a:bodyPr/>
                    <a:lstStyle/>
                    <a:p>
                      <a:pPr algn="ctr">
                        <a:defRPr sz="1000">
                          <a:latin typeface="Montserrat"/>
                        </a:defRPr>
                      </a:pPr>
                      <a:r>
                        <a:t>12,012</a:t>
                      </a:r>
                    </a:p>
                  </a:txBody>
                  <a:tcPr>
                    <a:solidFill>
                      <a:srgbClr val="FFFFFF"/>
                    </a:solidFill>
                  </a:tcPr>
                </a:tc>
                <a:tc>
                  <a:txBody>
                    <a:bodyPr/>
                    <a:lstStyle/>
                    <a:p>
                      <a:pPr algn="ctr">
                        <a:defRPr sz="1000">
                          <a:latin typeface="Montserrat"/>
                        </a:defRPr>
                      </a:pPr>
                      <a:r>
                        <a:t>2,976</a:t>
                      </a:r>
                    </a:p>
                  </a:txBody>
                  <a:tcPr>
                    <a:solidFill>
                      <a:srgbClr val="FFFFFF"/>
                    </a:solidFill>
                  </a:tcPr>
                </a:tc>
                <a:tc>
                  <a:txBody>
                    <a:bodyPr/>
                    <a:lstStyle/>
                    <a:p>
                      <a:pPr algn="ctr">
                        <a:defRPr sz="1000">
                          <a:latin typeface="Montserrat"/>
                        </a:defRPr>
                      </a:pPr>
                      <a:r>
                        <a:t>5,227</a:t>
                      </a:r>
                    </a:p>
                  </a:txBody>
                  <a:tcPr>
                    <a:solidFill>
                      <a:srgbClr val="ECD3D9"/>
                    </a:solidFill>
                  </a:tcPr>
                </a:tc>
                <a:tc>
                  <a:txBody>
                    <a:bodyPr/>
                    <a:lstStyle/>
                    <a:p>
                      <a:pPr algn="ctr">
                        <a:defRPr sz="1000">
                          <a:latin typeface="Montserrat"/>
                        </a:defRPr>
                      </a:pPr>
                      <a:r>
                        <a:t>13,800</a:t>
                      </a:r>
                    </a:p>
                  </a:txBody>
                  <a:tcPr>
                    <a:solidFill>
                      <a:srgbClr val="ECD3D9"/>
                    </a:solidFill>
                  </a:tcPr>
                </a:tc>
                <a:tc>
                  <a:txBody>
                    <a:bodyPr/>
                    <a:lstStyle/>
                    <a:p>
                      <a:pPr algn="ctr">
                        <a:defRPr sz="1000">
                          <a:latin typeface="Montserrat"/>
                        </a:defRPr>
                      </a:pPr>
                      <a:r>
                        <a:t>37.9%</a:t>
                      </a:r>
                    </a:p>
                  </a:txBody>
                  <a:tcPr>
                    <a:solidFill>
                      <a:srgbClr val="ECD3D9"/>
                    </a:solidFill>
                  </a:tcPr>
                </a:tc>
              </a:tr>
              <a:tr h="2844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6,138</a:t>
                      </a:r>
                    </a:p>
                  </a:txBody>
                  <a:tcPr>
                    <a:solidFill>
                      <a:srgbClr val="EFEFEF"/>
                    </a:solidFill>
                  </a:tcPr>
                </a:tc>
                <a:tc>
                  <a:txBody>
                    <a:bodyPr/>
                    <a:lstStyle/>
                    <a:p>
                      <a:pPr algn="ctr">
                        <a:defRPr sz="1000">
                          <a:latin typeface="Montserrat"/>
                        </a:defRPr>
                      </a:pPr>
                      <a:r>
                        <a:t>1,306</a:t>
                      </a:r>
                    </a:p>
                  </a:txBody>
                  <a:tcPr>
                    <a:solidFill>
                      <a:srgbClr val="EFEFEF"/>
                    </a:solidFill>
                  </a:tcPr>
                </a:tc>
                <a:tc>
                  <a:txBody>
                    <a:bodyPr/>
                    <a:lstStyle/>
                    <a:p>
                      <a:pPr algn="ctr">
                        <a:defRPr sz="1000">
                          <a:latin typeface="Montserrat"/>
                        </a:defRPr>
                      </a:pPr>
                      <a:r>
                        <a:t>2,233</a:t>
                      </a:r>
                    </a:p>
                  </a:txBody>
                  <a:tcPr>
                    <a:solidFill>
                      <a:srgbClr val="ECD3D9"/>
                    </a:solidFill>
                  </a:tcPr>
                </a:tc>
                <a:tc>
                  <a:txBody>
                    <a:bodyPr/>
                    <a:lstStyle/>
                    <a:p>
                      <a:pPr algn="ctr">
                        <a:defRPr sz="1000">
                          <a:latin typeface="Montserrat"/>
                        </a:defRPr>
                      </a:pPr>
                      <a:r>
                        <a:t>6,273</a:t>
                      </a:r>
                    </a:p>
                  </a:txBody>
                  <a:tcPr>
                    <a:solidFill>
                      <a:srgbClr val="ECD3D9"/>
                    </a:solidFill>
                  </a:tcPr>
                </a:tc>
                <a:tc>
                  <a:txBody>
                    <a:bodyPr/>
                    <a:lstStyle/>
                    <a:p>
                      <a:pPr algn="ctr">
                        <a:defRPr sz="1000">
                          <a:latin typeface="Montserrat"/>
                        </a:defRPr>
                      </a:pPr>
                      <a:r>
                        <a:t>35.6%</a:t>
                      </a:r>
                    </a:p>
                  </a:txBody>
                  <a:tcPr>
                    <a:solidFill>
                      <a:srgbClr val="ECD3D9"/>
                    </a:solidFill>
                  </a:tcPr>
                </a:tc>
              </a:tr>
              <a:tr h="284400">
                <a:tc>
                  <a:txBody>
                    <a:bodyPr/>
                    <a:lstStyle/>
                    <a:p>
                      <a:pPr algn="l">
                        <a:defRPr sz="1000">
                          <a:latin typeface="Montserrat"/>
                        </a:defRPr>
                      </a:pPr>
                      <a:r>
                        <a:t>HGR 196 Fidel Velázquez</a:t>
                      </a:r>
                    </a:p>
                  </a:txBody>
                  <a:tcPr>
                    <a:solidFill>
                      <a:srgbClr val="FFFFFF"/>
                    </a:solidFill>
                  </a:tcPr>
                </a:tc>
                <a:tc>
                  <a:txBody>
                    <a:bodyPr/>
                    <a:lstStyle/>
                    <a:p>
                      <a:pPr algn="ctr">
                        <a:defRPr sz="1000">
                          <a:latin typeface="Montserrat"/>
                        </a:defRPr>
                      </a:pPr>
                      <a:r>
                        <a:t>6,476</a:t>
                      </a:r>
                    </a:p>
                  </a:txBody>
                  <a:tcPr>
                    <a:solidFill>
                      <a:srgbClr val="FFFFFF"/>
                    </a:solidFill>
                  </a:tcPr>
                </a:tc>
                <a:tc>
                  <a:txBody>
                    <a:bodyPr/>
                    <a:lstStyle/>
                    <a:p>
                      <a:pPr algn="ctr">
                        <a:defRPr sz="1000">
                          <a:latin typeface="Montserrat"/>
                        </a:defRPr>
                      </a:pPr>
                      <a:r>
                        <a:t>451</a:t>
                      </a:r>
                    </a:p>
                  </a:txBody>
                  <a:tcPr>
                    <a:solidFill>
                      <a:srgbClr val="FFFFFF"/>
                    </a:solidFill>
                  </a:tcPr>
                </a:tc>
                <a:tc>
                  <a:txBody>
                    <a:bodyPr/>
                    <a:lstStyle/>
                    <a:p>
                      <a:pPr algn="ctr">
                        <a:defRPr sz="1000">
                          <a:latin typeface="Montserrat"/>
                        </a:defRPr>
                      </a:pPr>
                      <a:r>
                        <a:t>2,281</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33.1%</a:t>
                      </a:r>
                    </a:p>
                  </a:txBody>
                  <a:tcPr>
                    <a:solidFill>
                      <a:srgbClr val="ECD3D9"/>
                    </a:solidFill>
                  </a:tcPr>
                </a:tc>
              </a:tr>
              <a:tr h="284400">
                <a:tc>
                  <a:txBody>
                    <a:bodyPr/>
                    <a:lstStyle/>
                    <a:p>
                      <a:pPr algn="l">
                        <a:defRPr sz="1000">
                          <a:latin typeface="Montserrat"/>
                        </a:defRPr>
                      </a:pPr>
                      <a:r>
                        <a:t>HGR 251 Metepec</a:t>
                      </a:r>
                    </a:p>
                  </a:txBody>
                  <a:tcPr>
                    <a:solidFill>
                      <a:srgbClr val="EFEFEF"/>
                    </a:solidFill>
                  </a:tcPr>
                </a:tc>
                <a:tc>
                  <a:txBody>
                    <a:bodyPr/>
                    <a:lstStyle/>
                    <a:p>
                      <a:pPr algn="ctr">
                        <a:defRPr sz="1000">
                          <a:latin typeface="Montserrat"/>
                        </a:defRPr>
                      </a:pPr>
                      <a:r>
                        <a:t>14,072</a:t>
                      </a:r>
                    </a:p>
                  </a:txBody>
                  <a:tcPr>
                    <a:solidFill>
                      <a:srgbClr val="EFEFEF"/>
                    </a:solidFill>
                  </a:tcPr>
                </a:tc>
                <a:tc>
                  <a:txBody>
                    <a:bodyPr/>
                    <a:lstStyle/>
                    <a:p>
                      <a:pPr algn="ctr">
                        <a:defRPr sz="1000">
                          <a:latin typeface="Montserrat"/>
                        </a:defRPr>
                      </a:pPr>
                      <a:r>
                        <a:t>3,523</a:t>
                      </a:r>
                    </a:p>
                  </a:txBody>
                  <a:tcPr>
                    <a:solidFill>
                      <a:srgbClr val="EFEFEF"/>
                    </a:solidFill>
                  </a:tcPr>
                </a:tc>
                <a:tc>
                  <a:txBody>
                    <a:bodyPr/>
                    <a:lstStyle/>
                    <a:p>
                      <a:pPr algn="ctr">
                        <a:defRPr sz="1000">
                          <a:latin typeface="Montserrat"/>
                        </a:defRPr>
                      </a:pPr>
                      <a:r>
                        <a:t>5,568</a:t>
                      </a:r>
                    </a:p>
                  </a:txBody>
                  <a:tcPr>
                    <a:solidFill>
                      <a:srgbClr val="ECD3D9"/>
                    </a:solidFill>
                  </a:tcPr>
                </a:tc>
                <a:tc>
                  <a:txBody>
                    <a:bodyPr/>
                    <a:lstStyle/>
                    <a:p>
                      <a:pPr algn="ctr">
                        <a:defRPr sz="1000">
                          <a:latin typeface="Montserrat"/>
                        </a:defRPr>
                      </a:pPr>
                      <a:r>
                        <a:t>17,615</a:t>
                      </a:r>
                    </a:p>
                  </a:txBody>
                  <a:tcPr>
                    <a:solidFill>
                      <a:srgbClr val="ECD3D9"/>
                    </a:solidFill>
                  </a:tcPr>
                </a:tc>
                <a:tc>
                  <a:txBody>
                    <a:bodyPr/>
                    <a:lstStyle/>
                    <a:p>
                      <a:pPr algn="ctr">
                        <a:defRPr sz="1000">
                          <a:latin typeface="Montserrat"/>
                        </a:defRPr>
                      </a:pPr>
                      <a:r>
                        <a:t>31.6%</a:t>
                      </a:r>
                    </a:p>
                  </a:txBody>
                  <a:tcPr>
                    <a:solidFill>
                      <a:srgbClr val="ECD3D9"/>
                    </a:solidFill>
                  </a:tcPr>
                </a:tc>
              </a:tr>
              <a:tr h="284400">
                <a:tc>
                  <a:txBody>
                    <a:bodyPr/>
                    <a:lstStyle/>
                    <a:p>
                      <a:pPr algn="l">
                        <a:defRPr sz="1000">
                          <a:latin typeface="Montserrat"/>
                        </a:defRPr>
                      </a:pPr>
                      <a:r>
                        <a:t>HGO 221 Toluca</a:t>
                      </a:r>
                    </a:p>
                  </a:txBody>
                  <a:tcPr>
                    <a:solidFill>
                      <a:srgbClr val="FFFFFF"/>
                    </a:solidFill>
                  </a:tcPr>
                </a:tc>
                <a:tc>
                  <a:txBody>
                    <a:bodyPr/>
                    <a:lstStyle/>
                    <a:p>
                      <a:pPr algn="ctr">
                        <a:defRPr sz="1000">
                          <a:latin typeface="Montserrat"/>
                        </a:defRPr>
                      </a:pPr>
                      <a:r>
                        <a:t>7,080</a:t>
                      </a:r>
                    </a:p>
                  </a:txBody>
                  <a:tcPr>
                    <a:solidFill>
                      <a:srgbClr val="FFFFFF"/>
                    </a:solidFill>
                  </a:tcPr>
                </a:tc>
                <a:tc>
                  <a:txBody>
                    <a:bodyPr/>
                    <a:lstStyle/>
                    <a:p>
                      <a:pPr algn="ctr">
                        <a:defRPr sz="1000">
                          <a:latin typeface="Montserrat"/>
                        </a:defRPr>
                      </a:pPr>
                      <a:r>
                        <a:t>1,726</a:t>
                      </a:r>
                    </a:p>
                  </a:txBody>
                  <a:tcPr>
                    <a:solidFill>
                      <a:srgbClr val="FFFFFF"/>
                    </a:solidFill>
                  </a:tcPr>
                </a:tc>
                <a:tc>
                  <a:txBody>
                    <a:bodyPr/>
                    <a:lstStyle/>
                    <a:p>
                      <a:pPr algn="ctr">
                        <a:defRPr sz="1000">
                          <a:latin typeface="Montserrat"/>
                        </a:defRPr>
                      </a:pPr>
                      <a:r>
                        <a:t>2,659</a:t>
                      </a:r>
                    </a:p>
                  </a:txBody>
                  <a:tcPr>
                    <a:solidFill>
                      <a:srgbClr val="ECD3D9"/>
                    </a:solidFill>
                  </a:tcPr>
                </a:tc>
                <a:tc>
                  <a:txBody>
                    <a:bodyPr/>
                    <a:lstStyle/>
                    <a:p>
                      <a:pPr algn="ctr">
                        <a:defRPr sz="1000">
                          <a:latin typeface="Montserrat"/>
                        </a:defRPr>
                      </a:pPr>
                      <a:r>
                        <a:t>8,625</a:t>
                      </a:r>
                    </a:p>
                  </a:txBody>
                  <a:tcPr>
                    <a:solidFill>
                      <a:srgbClr val="ECD3D9"/>
                    </a:solidFill>
                  </a:tcPr>
                </a:tc>
                <a:tc>
                  <a:txBody>
                    <a:bodyPr/>
                    <a:lstStyle/>
                    <a:p>
                      <a:pPr algn="ctr">
                        <a:defRPr sz="1000">
                          <a:latin typeface="Montserrat"/>
                        </a:defRPr>
                      </a:pPr>
                      <a:r>
                        <a:t>30.8%</a:t>
                      </a:r>
                    </a:p>
                  </a:txBody>
                  <a:tcPr>
                    <a:solidFill>
                      <a:srgbClr val="ECD3D9"/>
                    </a:solidFill>
                  </a:tcPr>
                </a:tc>
              </a:tr>
              <a:tr h="284400">
                <a:tc>
                  <a:txBody>
                    <a:bodyPr/>
                    <a:lstStyle/>
                    <a:p>
                      <a:pPr algn="l">
                        <a:defRPr sz="1000">
                          <a:latin typeface="Montserrat"/>
                        </a:defRPr>
                      </a:pPr>
                      <a:r>
                        <a:t>HGZ 194 El Molinito</a:t>
                      </a:r>
                    </a:p>
                  </a:txBody>
                  <a:tcPr>
                    <a:solidFill>
                      <a:srgbClr val="EFEFEF"/>
                    </a:solidFill>
                  </a:tcPr>
                </a:tc>
                <a:tc>
                  <a:txBody>
                    <a:bodyPr/>
                    <a:lstStyle/>
                    <a:p>
                      <a:pPr algn="ctr">
                        <a:defRPr sz="1000">
                          <a:latin typeface="Montserrat"/>
                        </a:defRPr>
                      </a:pPr>
                      <a:r>
                        <a:t>7,000</a:t>
                      </a:r>
                    </a:p>
                  </a:txBody>
                  <a:tcPr>
                    <a:solidFill>
                      <a:srgbClr val="EFEFEF"/>
                    </a:solidFill>
                  </a:tcPr>
                </a:tc>
                <a:tc>
                  <a:txBody>
                    <a:bodyPr/>
                    <a:lstStyle/>
                    <a:p>
                      <a:pPr algn="ctr">
                        <a:defRPr sz="1000">
                          <a:latin typeface="Montserrat"/>
                        </a:defRPr>
                      </a:pPr>
                      <a:r>
                        <a:t>686</a:t>
                      </a:r>
                    </a:p>
                  </a:txBody>
                  <a:tcPr>
                    <a:solidFill>
                      <a:srgbClr val="EFEFEF"/>
                    </a:solidFill>
                  </a:tcPr>
                </a:tc>
                <a:tc>
                  <a:txBody>
                    <a:bodyPr/>
                    <a:lstStyle/>
                    <a:p>
                      <a:pPr algn="ctr">
                        <a:defRPr sz="1000">
                          <a:latin typeface="Montserrat"/>
                        </a:defRPr>
                      </a:pPr>
                      <a:r>
                        <a:t>2,246</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30.7%</a:t>
                      </a:r>
                    </a:p>
                  </a:txBody>
                  <a:tcPr>
                    <a:solidFill>
                      <a:srgbClr val="ECD3D9"/>
                    </a:solidFill>
                  </a:tcPr>
                </a:tc>
              </a:tr>
              <a:tr h="284400">
                <a:tc>
                  <a:txBody>
                    <a:bodyPr/>
                    <a:lstStyle/>
                    <a:p>
                      <a:pPr algn="l">
                        <a:defRPr sz="1000">
                          <a:latin typeface="Montserrat"/>
                        </a:defRPr>
                      </a:pPr>
                      <a:r>
                        <a:t>HGZ 57 La Quebrada</a:t>
                      </a:r>
                    </a:p>
                  </a:txBody>
                  <a:tcPr>
                    <a:solidFill>
                      <a:srgbClr val="FFFFFF"/>
                    </a:solidFill>
                  </a:tcPr>
                </a:tc>
                <a:tc>
                  <a:txBody>
                    <a:bodyPr/>
                    <a:lstStyle/>
                    <a:p>
                      <a:pPr algn="ctr">
                        <a:defRPr sz="1000">
                          <a:latin typeface="Montserrat"/>
                        </a:defRPr>
                      </a:pPr>
                      <a:r>
                        <a:t>5,589</a:t>
                      </a:r>
                    </a:p>
                  </a:txBody>
                  <a:tcPr>
                    <a:solidFill>
                      <a:srgbClr val="FFFFFF"/>
                    </a:solidFill>
                  </a:tcPr>
                </a:tc>
                <a:tc>
                  <a:txBody>
                    <a:bodyPr/>
                    <a:lstStyle/>
                    <a:p>
                      <a:pPr algn="ctr">
                        <a:defRPr sz="1000">
                          <a:latin typeface="Montserrat"/>
                        </a:defRPr>
                      </a:pPr>
                      <a:r>
                        <a:t>857</a:t>
                      </a:r>
                    </a:p>
                  </a:txBody>
                  <a:tcPr>
                    <a:solidFill>
                      <a:srgbClr val="FFFFFF"/>
                    </a:solidFill>
                  </a:tcPr>
                </a:tc>
                <a:tc>
                  <a:txBody>
                    <a:bodyPr/>
                    <a:lstStyle/>
                    <a:p>
                      <a:pPr algn="ctr">
                        <a:defRPr sz="1000">
                          <a:latin typeface="Montserrat"/>
                        </a:defRPr>
                      </a:pPr>
                      <a:r>
                        <a:t>2,070</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30.5%</a:t>
                      </a:r>
                    </a:p>
                  </a:txBody>
                  <a:tcPr>
                    <a:solidFill>
                      <a:srgbClr val="ECD3D9"/>
                    </a:solidFill>
                  </a:tcPr>
                </a:tc>
              </a:tr>
              <a:tr h="284400">
                <a:tc>
                  <a:txBody>
                    <a:bodyPr/>
                    <a:lstStyle/>
                    <a:p>
                      <a:pPr algn="l">
                        <a:defRPr sz="1000">
                          <a:latin typeface="Montserrat"/>
                        </a:defRPr>
                      </a:pPr>
                      <a:r>
                        <a:t>HGZ 53 Los Reyes Paz</a:t>
                      </a:r>
                    </a:p>
                  </a:txBody>
                  <a:tcPr>
                    <a:solidFill>
                      <a:srgbClr val="EFEFEF"/>
                    </a:solidFill>
                  </a:tcPr>
                </a:tc>
                <a:tc>
                  <a:txBody>
                    <a:bodyPr/>
                    <a:lstStyle/>
                    <a:p>
                      <a:pPr algn="ctr">
                        <a:defRPr sz="1000">
                          <a:latin typeface="Montserrat"/>
                        </a:defRPr>
                      </a:pPr>
                      <a:r>
                        <a:t>6,555</a:t>
                      </a:r>
                    </a:p>
                  </a:txBody>
                  <a:tcPr>
                    <a:solidFill>
                      <a:srgbClr val="EFEFEF"/>
                    </a:solidFill>
                  </a:tcPr>
                </a:tc>
                <a:tc>
                  <a:txBody>
                    <a:bodyPr/>
                    <a:lstStyle/>
                    <a:p>
                      <a:pPr algn="ctr">
                        <a:defRPr sz="1000">
                          <a:latin typeface="Montserrat"/>
                        </a:defRPr>
                      </a:pPr>
                      <a:r>
                        <a:t>533</a:t>
                      </a:r>
                    </a:p>
                  </a:txBody>
                  <a:tcPr>
                    <a:solidFill>
                      <a:srgbClr val="EFEFEF"/>
                    </a:solidFill>
                  </a:tcPr>
                </a:tc>
                <a:tc>
                  <a:txBody>
                    <a:bodyPr/>
                    <a:lstStyle/>
                    <a:p>
                      <a:pPr algn="ctr">
                        <a:defRPr sz="1000">
                          <a:latin typeface="Montserrat"/>
                        </a:defRPr>
                      </a:pPr>
                      <a:r>
                        <a:t>2,169</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29.6%</a:t>
                      </a:r>
                    </a:p>
                  </a:txBody>
                  <a:tcPr>
                    <a:solidFill>
                      <a:srgbClr val="ECD3D9"/>
                    </a:solidFill>
                  </a:tcPr>
                </a:tc>
              </a:tr>
              <a:tr h="284400">
                <a:tc>
                  <a:txBody>
                    <a:bodyPr/>
                    <a:lstStyle/>
                    <a:p>
                      <a:pPr algn="l">
                        <a:defRPr sz="1000">
                          <a:latin typeface="Montserrat"/>
                        </a:defRPr>
                      </a:pPr>
                      <a:r>
                        <a:t>HGZ 58 Las Margaritas</a:t>
                      </a:r>
                    </a:p>
                  </a:txBody>
                  <a:tcPr>
                    <a:solidFill>
                      <a:srgbClr val="FFFFFF"/>
                    </a:solidFill>
                  </a:tcPr>
                </a:tc>
                <a:tc>
                  <a:txBody>
                    <a:bodyPr/>
                    <a:lstStyle/>
                    <a:p>
                      <a:pPr algn="ctr">
                        <a:defRPr sz="1000">
                          <a:latin typeface="Montserrat"/>
                        </a:defRPr>
                      </a:pPr>
                      <a:r>
                        <a:t>5,998</a:t>
                      </a:r>
                    </a:p>
                  </a:txBody>
                  <a:tcPr>
                    <a:solidFill>
                      <a:srgbClr val="FFFFFF"/>
                    </a:solidFill>
                  </a:tcPr>
                </a:tc>
                <a:tc>
                  <a:txBody>
                    <a:bodyPr/>
                    <a:lstStyle/>
                    <a:p>
                      <a:pPr algn="ctr">
                        <a:defRPr sz="1000">
                          <a:latin typeface="Montserrat"/>
                        </a:defRPr>
                      </a:pPr>
                      <a:r>
                        <a:t>1,763</a:t>
                      </a:r>
                    </a:p>
                  </a:txBody>
                  <a:tcPr>
                    <a:solidFill>
                      <a:srgbClr val="FFFFFF"/>
                    </a:solidFill>
                  </a:tcPr>
                </a:tc>
                <a:tc>
                  <a:txBody>
                    <a:bodyPr/>
                    <a:lstStyle/>
                    <a:p>
                      <a:pPr algn="ctr">
                        <a:defRPr sz="1000">
                          <a:latin typeface="Montserrat"/>
                        </a:defRPr>
                      </a:pPr>
                      <a:r>
                        <a:t>1,985</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28.8%</a:t>
                      </a:r>
                    </a:p>
                  </a:txBody>
                  <a:tcPr>
                    <a:solidFill>
                      <a:srgbClr val="ECD3D9"/>
                    </a:solidFill>
                  </a:tcPr>
                </a:tc>
              </a:tr>
              <a:tr h="284400">
                <a:tc>
                  <a:txBody>
                    <a:bodyPr/>
                    <a:lstStyle/>
                    <a:p>
                      <a:pPr algn="l">
                        <a:defRPr sz="1000">
                          <a:latin typeface="Montserrat"/>
                        </a:defRPr>
                      </a:pPr>
                      <a:r>
                        <a:t>HGR 220 Toluca</a:t>
                      </a:r>
                    </a:p>
                  </a:txBody>
                  <a:tcPr>
                    <a:solidFill>
                      <a:srgbClr val="EFEFEF"/>
                    </a:solidFill>
                  </a:tcPr>
                </a:tc>
                <a:tc>
                  <a:txBody>
                    <a:bodyPr/>
                    <a:lstStyle/>
                    <a:p>
                      <a:pPr algn="ctr">
                        <a:defRPr sz="1000">
                          <a:latin typeface="Montserrat"/>
                        </a:defRPr>
                      </a:pPr>
                      <a:r>
                        <a:t>13,563</a:t>
                      </a:r>
                    </a:p>
                  </a:txBody>
                  <a:tcPr>
                    <a:solidFill>
                      <a:srgbClr val="EFEFEF"/>
                    </a:solidFill>
                  </a:tcPr>
                </a:tc>
                <a:tc>
                  <a:txBody>
                    <a:bodyPr/>
                    <a:lstStyle/>
                    <a:p>
                      <a:pPr algn="ctr">
                        <a:defRPr sz="1000">
                          <a:latin typeface="Montserrat"/>
                        </a:defRPr>
                      </a:pPr>
                      <a:r>
                        <a:t>3,370</a:t>
                      </a:r>
                    </a:p>
                  </a:txBody>
                  <a:tcPr>
                    <a:solidFill>
                      <a:srgbClr val="EFEFEF"/>
                    </a:solidFill>
                  </a:tcPr>
                </a:tc>
                <a:tc>
                  <a:txBody>
                    <a:bodyPr/>
                    <a:lstStyle/>
                    <a:p>
                      <a:pPr algn="ctr">
                        <a:defRPr sz="1000">
                          <a:latin typeface="Montserrat"/>
                        </a:defRPr>
                      </a:pPr>
                      <a:r>
                        <a:t>4,378</a:t>
                      </a:r>
                    </a:p>
                  </a:txBody>
                  <a:tcPr>
                    <a:solidFill>
                      <a:srgbClr val="ECD3D9"/>
                    </a:solidFill>
                  </a:tcPr>
                </a:tc>
                <a:tc>
                  <a:txBody>
                    <a:bodyPr/>
                    <a:lstStyle/>
                    <a:p>
                      <a:pPr algn="ctr">
                        <a:defRPr sz="1000">
                          <a:latin typeface="Montserrat"/>
                        </a:defRPr>
                      </a:pPr>
                      <a:r>
                        <a:t>15,525</a:t>
                      </a:r>
                    </a:p>
                  </a:txBody>
                  <a:tcPr>
                    <a:solidFill>
                      <a:srgbClr val="ECD3D9"/>
                    </a:solidFill>
                  </a:tcPr>
                </a:tc>
                <a:tc>
                  <a:txBody>
                    <a:bodyPr/>
                    <a:lstStyle/>
                    <a:p>
                      <a:pPr algn="ctr">
                        <a:defRPr sz="1000">
                          <a:latin typeface="Montserrat"/>
                        </a:defRPr>
                      </a:pPr>
                      <a:r>
                        <a:t>28.2%</a:t>
                      </a:r>
                    </a:p>
                  </a:txBody>
                  <a:tcPr>
                    <a:solidFill>
                      <a:srgbClr val="ECD3D9"/>
                    </a:solidFill>
                  </a:tcPr>
                </a:tc>
              </a:tr>
              <a:tr h="284400">
                <a:tc>
                  <a:txBody>
                    <a:bodyPr/>
                    <a:lstStyle/>
                    <a:p>
                      <a:pPr algn="l">
                        <a:defRPr sz="1000">
                          <a:latin typeface="Montserrat"/>
                        </a:defRPr>
                      </a:pPr>
                      <a:r>
                        <a:t>HGR 72 Gustavo Baz</a:t>
                      </a:r>
                    </a:p>
                  </a:txBody>
                  <a:tcPr>
                    <a:solidFill>
                      <a:srgbClr val="FFFFFF"/>
                    </a:solidFill>
                  </a:tcPr>
                </a:tc>
                <a:tc>
                  <a:txBody>
                    <a:bodyPr/>
                    <a:lstStyle/>
                    <a:p>
                      <a:pPr algn="ctr">
                        <a:defRPr sz="1000">
                          <a:latin typeface="Montserrat"/>
                        </a:defRPr>
                      </a:pPr>
                      <a:r>
                        <a:t>8,786</a:t>
                      </a:r>
                    </a:p>
                  </a:txBody>
                  <a:tcPr>
                    <a:solidFill>
                      <a:srgbClr val="FFFFFF"/>
                    </a:solidFill>
                  </a:tcPr>
                </a:tc>
                <a:tc>
                  <a:txBody>
                    <a:bodyPr/>
                    <a:lstStyle/>
                    <a:p>
                      <a:pPr algn="ctr">
                        <a:defRPr sz="1000">
                          <a:latin typeface="Montserrat"/>
                        </a:defRPr>
                      </a:pPr>
                      <a:r>
                        <a:t>478</a:t>
                      </a:r>
                    </a:p>
                  </a:txBody>
                  <a:tcPr>
                    <a:solidFill>
                      <a:srgbClr val="FFFFFF"/>
                    </a:solidFill>
                  </a:tcPr>
                </a:tc>
                <a:tc>
                  <a:txBody>
                    <a:bodyPr/>
                    <a:lstStyle/>
                    <a:p>
                      <a:pPr algn="ctr">
                        <a:defRPr sz="1000">
                          <a:latin typeface="Montserrat"/>
                        </a:defRPr>
                      </a:pPr>
                      <a:r>
                        <a:t>2,846</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27.5%</a:t>
                      </a:r>
                    </a:p>
                  </a:txBody>
                  <a:tcPr>
                    <a:solidFill>
                      <a:srgbClr val="ECD3D9"/>
                    </a:solidFill>
                  </a:tcPr>
                </a:tc>
              </a:tr>
              <a:tr h="284400">
                <a:tc>
                  <a:txBody>
                    <a:bodyPr/>
                    <a:lstStyle/>
                    <a:p>
                      <a:pPr algn="l">
                        <a:defRPr sz="1000">
                          <a:latin typeface="Montserrat"/>
                        </a:defRPr>
                      </a:pPr>
                      <a:r>
                        <a:t>HGOMF 60 Tlanepantla</a:t>
                      </a:r>
                    </a:p>
                  </a:txBody>
                  <a:tcPr>
                    <a:solidFill>
                      <a:srgbClr val="EFEFEF"/>
                    </a:solidFill>
                  </a:tcPr>
                </a:tc>
                <a:tc>
                  <a:txBody>
                    <a:bodyPr/>
                    <a:lstStyle/>
                    <a:p>
                      <a:pPr algn="ctr">
                        <a:defRPr sz="1000">
                          <a:latin typeface="Montserrat"/>
                        </a:defRPr>
                      </a:pPr>
                      <a:r>
                        <a:t>2,567</a:t>
                      </a:r>
                    </a:p>
                  </a:txBody>
                  <a:tcPr>
                    <a:solidFill>
                      <a:srgbClr val="EFEFEF"/>
                    </a:solidFill>
                  </a:tcPr>
                </a:tc>
                <a:tc>
                  <a:txBody>
                    <a:bodyPr/>
                    <a:lstStyle/>
                    <a:p>
                      <a:pPr algn="ctr">
                        <a:defRPr sz="1000">
                          <a:latin typeface="Montserrat"/>
                        </a:defRPr>
                      </a:pPr>
                      <a:r>
                        <a:t>299</a:t>
                      </a:r>
                    </a:p>
                  </a:txBody>
                  <a:tcPr>
                    <a:solidFill>
                      <a:srgbClr val="EFEFEF"/>
                    </a:solidFill>
                  </a:tcPr>
                </a:tc>
                <a:tc>
                  <a:txBody>
                    <a:bodyPr/>
                    <a:lstStyle/>
                    <a:p>
                      <a:pPr algn="ctr">
                        <a:defRPr sz="1000">
                          <a:latin typeface="Montserrat"/>
                        </a:defRPr>
                      </a:pPr>
                      <a:r>
                        <a:t>915</a:t>
                      </a:r>
                    </a:p>
                  </a:txBody>
                  <a:tcPr>
                    <a:solidFill>
                      <a:srgbClr val="ECD3D9"/>
                    </a:solidFill>
                  </a:tcPr>
                </a:tc>
                <a:tc>
                  <a:txBody>
                    <a:bodyPr/>
                    <a:lstStyle/>
                    <a:p>
                      <a:pPr algn="ctr">
                        <a:defRPr sz="1000">
                          <a:latin typeface="Montserrat"/>
                        </a:defRPr>
                      </a:pPr>
                      <a:r>
                        <a:t>3,450</a:t>
                      </a:r>
                    </a:p>
                  </a:txBody>
                  <a:tcPr>
                    <a:solidFill>
                      <a:srgbClr val="ECD3D9"/>
                    </a:solidFill>
                  </a:tcPr>
                </a:tc>
                <a:tc>
                  <a:txBody>
                    <a:bodyPr/>
                    <a:lstStyle/>
                    <a:p>
                      <a:pPr algn="ctr">
                        <a:defRPr sz="1000">
                          <a:latin typeface="Montserrat"/>
                        </a:defRPr>
                      </a:pPr>
                      <a:r>
                        <a:t>26.5%</a:t>
                      </a:r>
                    </a:p>
                  </a:txBody>
                  <a:tcPr>
                    <a:solidFill>
                      <a:srgbClr val="ECD3D9"/>
                    </a:solidFill>
                  </a:tcPr>
                </a:tc>
              </a:tr>
              <a:tr h="284400">
                <a:tc>
                  <a:txBody>
                    <a:bodyPr/>
                    <a:lstStyle/>
                    <a:p>
                      <a:pPr algn="l">
                        <a:defRPr sz="1000">
                          <a:latin typeface="Montserrat"/>
                        </a:defRPr>
                      </a:pPr>
                      <a:r>
                        <a:t>HGZ 197 Texcoco</a:t>
                      </a:r>
                    </a:p>
                  </a:txBody>
                  <a:tcPr>
                    <a:solidFill>
                      <a:srgbClr val="FFFFFF"/>
                    </a:solidFill>
                  </a:tcPr>
                </a:tc>
                <a:tc>
                  <a:txBody>
                    <a:bodyPr/>
                    <a:lstStyle/>
                    <a:p>
                      <a:pPr algn="ctr">
                        <a:defRPr sz="1000">
                          <a:latin typeface="Montserrat"/>
                        </a:defRPr>
                      </a:pPr>
                      <a:r>
                        <a:t>8,678</a:t>
                      </a:r>
                    </a:p>
                  </a:txBody>
                  <a:tcPr>
                    <a:solidFill>
                      <a:srgbClr val="FFFFFF"/>
                    </a:solidFill>
                  </a:tcPr>
                </a:tc>
                <a:tc>
                  <a:txBody>
                    <a:bodyPr/>
                    <a:lstStyle/>
                    <a:p>
                      <a:pPr algn="ctr">
                        <a:defRPr sz="1000">
                          <a:latin typeface="Montserrat"/>
                        </a:defRPr>
                      </a:pPr>
                      <a:r>
                        <a:t>566</a:t>
                      </a:r>
                    </a:p>
                  </a:txBody>
                  <a:tcPr>
                    <a:solidFill>
                      <a:srgbClr val="FFFFFF"/>
                    </a:solidFill>
                  </a:tcPr>
                </a:tc>
                <a:tc>
                  <a:txBody>
                    <a:bodyPr/>
                    <a:lstStyle/>
                    <a:p>
                      <a:pPr algn="ctr">
                        <a:defRPr sz="1000">
                          <a:latin typeface="Montserrat"/>
                        </a:defRPr>
                      </a:pPr>
                      <a:r>
                        <a:t>2,970</a:t>
                      </a:r>
                    </a:p>
                  </a:txBody>
                  <a:tcPr>
                    <a:solidFill>
                      <a:srgbClr val="ECD3D9"/>
                    </a:solidFill>
                  </a:tcPr>
                </a:tc>
                <a:tc>
                  <a:txBody>
                    <a:bodyPr/>
                    <a:lstStyle/>
                    <a:p>
                      <a:pPr algn="ctr">
                        <a:defRPr sz="1000">
                          <a:latin typeface="Montserrat"/>
                        </a:defRPr>
                      </a:pPr>
                      <a:r>
                        <a:t>11,237</a:t>
                      </a:r>
                    </a:p>
                  </a:txBody>
                  <a:tcPr>
                    <a:solidFill>
                      <a:srgbClr val="ECD3D9"/>
                    </a:solidFill>
                  </a:tcPr>
                </a:tc>
                <a:tc>
                  <a:txBody>
                    <a:bodyPr/>
                    <a:lstStyle/>
                    <a:p>
                      <a:pPr algn="ctr">
                        <a:defRPr sz="1000">
                          <a:latin typeface="Montserrat"/>
                        </a:defRPr>
                      </a:pPr>
                      <a:r>
                        <a:t>26.4%</a:t>
                      </a:r>
                    </a:p>
                  </a:txBody>
                  <a:tcPr>
                    <a:solidFill>
                      <a:srgbClr val="ECD3D9"/>
                    </a:solidFill>
                  </a:tcPr>
                </a:tc>
              </a:tr>
              <a:tr h="284400">
                <a:tc>
                  <a:txBody>
                    <a:bodyPr/>
                    <a:lstStyle/>
                    <a:p>
                      <a:pPr algn="l">
                        <a:defRPr sz="1000">
                          <a:latin typeface="Montserrat"/>
                        </a:defRPr>
                      </a:pPr>
                      <a:r>
                        <a:t>HGZMF 76 Xalostoc</a:t>
                      </a:r>
                    </a:p>
                  </a:txBody>
                  <a:tcPr>
                    <a:solidFill>
                      <a:srgbClr val="EFEFEF"/>
                    </a:solidFill>
                  </a:tcPr>
                </a:tc>
                <a:tc>
                  <a:txBody>
                    <a:bodyPr/>
                    <a:lstStyle/>
                    <a:p>
                      <a:pPr algn="ctr">
                        <a:defRPr sz="1000">
                          <a:latin typeface="Montserrat"/>
                        </a:defRPr>
                      </a:pPr>
                      <a:r>
                        <a:t>6,457</a:t>
                      </a:r>
                    </a:p>
                  </a:txBody>
                  <a:tcPr>
                    <a:solidFill>
                      <a:srgbClr val="EFEFEF"/>
                    </a:solidFill>
                  </a:tcPr>
                </a:tc>
                <a:tc>
                  <a:txBody>
                    <a:bodyPr/>
                    <a:lstStyle/>
                    <a:p>
                      <a:pPr algn="ctr">
                        <a:defRPr sz="1000">
                          <a:latin typeface="Montserrat"/>
                        </a:defRPr>
                      </a:pPr>
                      <a:r>
                        <a:t>304</a:t>
                      </a:r>
                    </a:p>
                  </a:txBody>
                  <a:tcPr>
                    <a:solidFill>
                      <a:srgbClr val="EFEFEF"/>
                    </a:solidFill>
                  </a:tcPr>
                </a:tc>
                <a:tc>
                  <a:txBody>
                    <a:bodyPr/>
                    <a:lstStyle/>
                    <a:p>
                      <a:pPr algn="ctr">
                        <a:defRPr sz="1000">
                          <a:latin typeface="Montserrat"/>
                        </a:defRPr>
                      </a:pPr>
                      <a:r>
                        <a:t>2,125</a:t>
                      </a:r>
                    </a:p>
                  </a:txBody>
                  <a:tcPr>
                    <a:solidFill>
                      <a:srgbClr val="ECD3D9"/>
                    </a:solidFill>
                  </a:tcPr>
                </a:tc>
                <a:tc>
                  <a:txBody>
                    <a:bodyPr/>
                    <a:lstStyle/>
                    <a:p>
                      <a:pPr algn="ctr">
                        <a:defRPr sz="1000">
                          <a:latin typeface="Montserrat"/>
                        </a:defRPr>
                      </a:pPr>
                      <a:r>
                        <a:t>8,154</a:t>
                      </a:r>
                    </a:p>
                  </a:txBody>
                  <a:tcPr>
                    <a:solidFill>
                      <a:srgbClr val="ECD3D9"/>
                    </a:solidFill>
                  </a:tcPr>
                </a:tc>
                <a:tc>
                  <a:txBody>
                    <a:bodyPr/>
                    <a:lstStyle/>
                    <a:p>
                      <a:pPr algn="ctr">
                        <a:defRPr sz="1000">
                          <a:latin typeface="Montserrat"/>
                        </a:defRPr>
                      </a:pPr>
                      <a:r>
                        <a:t>26.1%</a:t>
                      </a:r>
                    </a:p>
                  </a:txBody>
                  <a:tcPr>
                    <a:solidFill>
                      <a:srgbClr val="ECD3D9"/>
                    </a:solidFill>
                  </a:tcPr>
                </a:tc>
              </a:tr>
              <a:tr h="284400">
                <a:tc>
                  <a:txBody>
                    <a:bodyPr/>
                    <a:lstStyle/>
                    <a:p>
                      <a:pPr algn="l">
                        <a:defRPr sz="1000">
                          <a:latin typeface="Montserrat"/>
                        </a:defRPr>
                      </a:pPr>
                      <a:r>
                        <a:t>HGZ 98 Coacalco</a:t>
                      </a:r>
                    </a:p>
                  </a:txBody>
                  <a:tcPr>
                    <a:solidFill>
                      <a:srgbClr val="FFFFFF"/>
                    </a:solidFill>
                  </a:tcPr>
                </a:tc>
                <a:tc>
                  <a:txBody>
                    <a:bodyPr/>
                    <a:lstStyle/>
                    <a:p>
                      <a:pPr algn="ctr">
                        <a:defRPr sz="1000">
                          <a:latin typeface="Montserrat"/>
                        </a:defRPr>
                      </a:pPr>
                      <a:r>
                        <a:t>3,096</a:t>
                      </a:r>
                    </a:p>
                  </a:txBody>
                  <a:tcPr>
                    <a:solidFill>
                      <a:srgbClr val="FFFFFF"/>
                    </a:solidFill>
                  </a:tcPr>
                </a:tc>
                <a:tc>
                  <a:txBody>
                    <a:bodyPr/>
                    <a:lstStyle/>
                    <a:p>
                      <a:pPr algn="ctr">
                        <a:defRPr sz="1000">
                          <a:latin typeface="Montserrat"/>
                        </a:defRPr>
                      </a:pPr>
                      <a:r>
                        <a:t>-379</a:t>
                      </a:r>
                    </a:p>
                  </a:txBody>
                  <a:tcPr>
                    <a:solidFill>
                      <a:srgbClr val="FFFFFF"/>
                    </a:solidFill>
                  </a:tcPr>
                </a:tc>
                <a:tc>
                  <a:txBody>
                    <a:bodyPr/>
                    <a:lstStyle/>
                    <a:p>
                      <a:pPr algn="ctr">
                        <a:defRPr sz="1000">
                          <a:latin typeface="Montserrat"/>
                        </a:defRPr>
                      </a:pPr>
                      <a:r>
                        <a:t>1,042</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25.6%</a:t>
                      </a:r>
                    </a:p>
                  </a:txBody>
                  <a:tcPr>
                    <a:solidFill>
                      <a:srgbClr val="ECD3D9"/>
                    </a:solidFill>
                  </a:tcPr>
                </a:tc>
              </a:tr>
              <a:tr h="284400">
                <a:tc>
                  <a:txBody>
                    <a:bodyPr/>
                    <a:lstStyle/>
                    <a:p>
                      <a:pPr algn="l">
                        <a:defRPr sz="1000">
                          <a:latin typeface="Montserrat"/>
                        </a:defRPr>
                      </a:pPr>
                      <a:r>
                        <a:t>HGZ 68 Tulpetlac</a:t>
                      </a:r>
                    </a:p>
                  </a:txBody>
                  <a:tcPr>
                    <a:solidFill>
                      <a:srgbClr val="EFEFEF"/>
                    </a:solidFill>
                  </a:tcPr>
                </a:tc>
                <a:tc>
                  <a:txBody>
                    <a:bodyPr/>
                    <a:lstStyle/>
                    <a:p>
                      <a:pPr algn="ctr">
                        <a:defRPr sz="1000">
                          <a:latin typeface="Montserrat"/>
                        </a:defRPr>
                      </a:pPr>
                      <a:r>
                        <a:t>5,265</a:t>
                      </a:r>
                    </a:p>
                  </a:txBody>
                  <a:tcPr>
                    <a:solidFill>
                      <a:srgbClr val="EFEFEF"/>
                    </a:solidFill>
                  </a:tcPr>
                </a:tc>
                <a:tc>
                  <a:txBody>
                    <a:bodyPr/>
                    <a:lstStyle/>
                    <a:p>
                      <a:pPr algn="ctr">
                        <a:defRPr sz="1000">
                          <a:latin typeface="Montserrat"/>
                        </a:defRPr>
                      </a:pPr>
                      <a:r>
                        <a:t>731</a:t>
                      </a:r>
                    </a:p>
                  </a:txBody>
                  <a:tcPr>
                    <a:solidFill>
                      <a:srgbClr val="EFEFEF"/>
                    </a:solidFill>
                  </a:tcPr>
                </a:tc>
                <a:tc>
                  <a:txBody>
                    <a:bodyPr/>
                    <a:lstStyle/>
                    <a:p>
                      <a:pPr algn="ctr">
                        <a:defRPr sz="1000">
                          <a:latin typeface="Montserrat"/>
                        </a:defRPr>
                      </a:pPr>
                      <a:r>
                        <a:t>1,719</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25.3%</a:t>
                      </a:r>
                    </a:p>
                  </a:txBody>
                  <a:tcPr>
                    <a:solidFill>
                      <a:srgbClr val="ECD3D9"/>
                    </a:solidFill>
                  </a:tcPr>
                </a:tc>
              </a:tr>
              <a:tr h="2844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4,811</a:t>
                      </a:r>
                    </a:p>
                  </a:txBody>
                  <a:tcPr>
                    <a:solidFill>
                      <a:srgbClr val="FFFFFF"/>
                    </a:solidFill>
                  </a:tcPr>
                </a:tc>
                <a:tc>
                  <a:txBody>
                    <a:bodyPr/>
                    <a:lstStyle/>
                    <a:p>
                      <a:pPr algn="ctr">
                        <a:defRPr sz="1000">
                          <a:latin typeface="Montserrat"/>
                        </a:defRPr>
                      </a:pPr>
                      <a:r>
                        <a:t>193</a:t>
                      </a:r>
                    </a:p>
                  </a:txBody>
                  <a:tcPr>
                    <a:solidFill>
                      <a:srgbClr val="FFFFFF"/>
                    </a:solidFill>
                  </a:tcPr>
                </a:tc>
                <a:tc>
                  <a:txBody>
                    <a:bodyPr/>
                    <a:lstStyle/>
                    <a:p>
                      <a:pPr algn="ctr">
                        <a:defRPr sz="1000">
                          <a:latin typeface="Montserrat"/>
                        </a:defRPr>
                      </a:pPr>
                      <a:r>
                        <a:t>1,443</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21.2%</a:t>
                      </a:r>
                    </a:p>
                  </a:txBody>
                  <a:tcPr>
                    <a:solidFill>
                      <a:srgbClr val="ECD3D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462 en Hospitales, 6 en sede, 105 en UMF y 550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196</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Regional 200</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0839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Regional 220</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60839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Regional 251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Coloproctología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Tree>
    <p:extLst>
      <p:ext uri="{BB962C8B-B14F-4D97-AF65-F5344CB8AC3E}">
        <p14:creationId xmlns:p14="http://schemas.microsoft.com/office/powerpoint/2010/main" val="281078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550</a:t>
                      </a:r>
                    </a:p>
                  </a:txBody>
                  <a:tcPr anchor="ctr" marL="45720" marR="45720" marT="45720" marB="45720">
                    <a:solidFill>
                      <a:srgbClr val="FFFFFF"/>
                    </a:solidFill>
                  </a:tcPr>
                </a:tc>
                <a:tc>
                  <a:txBody>
                    <a:bodyPr/>
                    <a:lstStyle/>
                    <a:p>
                      <a:pPr algn="ctr">
                        <a:defRPr sz="1100" b="1">
                          <a:solidFill>
                            <a:srgbClr val="000000"/>
                          </a:solidFill>
                          <a:latin typeface="Montserrat"/>
                        </a:defRPr>
                      </a:pPr>
                      <a:r>
                        <a:t>48.9%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Oncológico Pediátrico "Ecatepec"</a:t>
                      </a:r>
                    </a:p>
                  </a:txBody>
                  <a:tcPr anchor="ctr" marL="45720" marR="45720" marT="45720" marB="45720">
                    <a:solidFill>
                      <a:srgbClr val="D9D9D9"/>
                    </a:solidFill>
                  </a:tcPr>
                </a:tc>
                <a:tc>
                  <a:txBody>
                    <a:bodyPr/>
                    <a:lstStyle/>
                    <a:p>
                      <a:pPr algn="ctr">
                        <a:defRPr sz="1100" b="0">
                          <a:solidFill>
                            <a:srgbClr val="000000"/>
                          </a:solidFill>
                          <a:latin typeface="Montserrat"/>
                        </a:defRPr>
                      </a:pPr>
                      <a:r>
                        <a:t>78</a:t>
                      </a:r>
                    </a:p>
                  </a:txBody>
                  <a:tcPr anchor="ctr" marL="45720" marR="45720" marT="45720" marB="45720">
                    <a:solidFill>
                      <a:srgbClr val="D9D9D9"/>
                    </a:solidFill>
                  </a:tcPr>
                </a:tc>
                <a:tc>
                  <a:txBody>
                    <a:bodyPr/>
                    <a:lstStyle/>
                    <a:p>
                      <a:pPr algn="ctr">
                        <a:defRPr sz="1100" b="1">
                          <a:solidFill>
                            <a:srgbClr val="000000"/>
                          </a:solidFill>
                          <a:latin typeface="Montserrat"/>
                        </a:defRPr>
                      </a:pPr>
                      <a:r>
                        <a:t>55.9%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252</a:t>
                      </a:r>
                    </a:p>
                  </a:txBody>
                  <a:tcPr anchor="ctr" marL="45720" marR="45720" marT="45720" marB="45720">
                    <a:solidFill>
                      <a:srgbClr val="FFFFFF"/>
                    </a:solidFill>
                  </a:tcPr>
                </a:tc>
                <a:tc>
                  <a:txBody>
                    <a:bodyPr/>
                    <a:lstStyle/>
                    <a:p>
                      <a:pPr algn="ctr">
                        <a:defRPr sz="1100" b="0">
                          <a:solidFill>
                            <a:srgbClr val="000000"/>
                          </a:solidFill>
                          <a:latin typeface="Montserrat"/>
                        </a:defRPr>
                      </a:pPr>
                      <a:r>
                        <a:t>33</a:t>
                      </a:r>
                    </a:p>
                  </a:txBody>
                  <a:tcPr anchor="ctr" marL="45720" marR="45720" marT="45720" marB="45720">
                    <a:solidFill>
                      <a:srgbClr val="FFFFFF"/>
                    </a:solidFill>
                  </a:tcPr>
                </a:tc>
                <a:tc>
                  <a:txBody>
                    <a:bodyPr/>
                    <a:lstStyle/>
                    <a:p>
                      <a:pPr algn="ctr">
                        <a:defRPr sz="1100" b="1">
                          <a:solidFill>
                            <a:srgbClr val="000000"/>
                          </a:solidFill>
                          <a:latin typeface="Montserrat"/>
                        </a:defRPr>
                      </a:pPr>
                      <a:r>
                        <a:t>58.8%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98</a:t>
                      </a:r>
                    </a:p>
                  </a:txBody>
                  <a:tcPr anchor="ctr" marL="45720" marR="45720" marT="45720" marB="45720">
                    <a:solidFill>
                      <a:srgbClr val="D9D9D9"/>
                    </a:solidFill>
                  </a:tcPr>
                </a:tc>
                <a:tc>
                  <a:txBody>
                    <a:bodyPr/>
                    <a:lstStyle/>
                    <a:p>
                      <a:pPr algn="ctr">
                        <a:defRPr sz="1100" b="0">
                          <a:solidFill>
                            <a:srgbClr val="000000"/>
                          </a:solidFill>
                          <a:latin typeface="Montserrat"/>
                        </a:defRPr>
                      </a:pPr>
                      <a:r>
                        <a:t>29</a:t>
                      </a:r>
                    </a:p>
                  </a:txBody>
                  <a:tcPr anchor="ctr" marL="45720" marR="45720" marT="45720" marB="45720">
                    <a:solidFill>
                      <a:srgbClr val="D9D9D9"/>
                    </a:solidFill>
                  </a:tcPr>
                </a:tc>
                <a:tc>
                  <a:txBody>
                    <a:bodyPr/>
                    <a:lstStyle/>
                    <a:p>
                      <a:pPr algn="ctr">
                        <a:defRPr sz="1100" b="1">
                          <a:solidFill>
                            <a:srgbClr val="000000"/>
                          </a:solidFill>
                          <a:latin typeface="Montserrat"/>
                        </a:defRPr>
                      </a:pPr>
                      <a:r>
                        <a:t>61.4%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Amanalco</a:t>
                      </a:r>
                    </a:p>
                  </a:txBody>
                  <a:tcPr anchor="ctr" marL="45720" marR="45720" marT="45720" marB="45720">
                    <a:solidFill>
                      <a:srgbClr val="FFFFFF"/>
                    </a:solidFill>
                  </a:tcPr>
                </a:tc>
                <a:tc>
                  <a:txBody>
                    <a:bodyPr/>
                    <a:lstStyle/>
                    <a:p>
                      <a:pPr algn="ctr">
                        <a:defRPr sz="1100" b="0">
                          <a:solidFill>
                            <a:srgbClr val="000000"/>
                          </a:solidFill>
                          <a:latin typeface="Montserrat"/>
                        </a:defRPr>
                      </a:pPr>
                      <a:r>
                        <a:t>28</a:t>
                      </a:r>
                    </a:p>
                  </a:txBody>
                  <a:tcPr anchor="ctr" marL="45720" marR="45720" marT="45720" marB="45720">
                    <a:solidFill>
                      <a:srgbClr val="FFFFFF"/>
                    </a:solidFill>
                  </a:tcPr>
                </a:tc>
                <a:tc>
                  <a:txBody>
                    <a:bodyPr/>
                    <a:lstStyle/>
                    <a:p>
                      <a:pPr algn="ctr">
                        <a:defRPr sz="1100" b="1">
                          <a:solidFill>
                            <a:srgbClr val="000000"/>
                          </a:solidFill>
                          <a:latin typeface="Montserrat"/>
                        </a:defRPr>
                      </a:pPr>
                      <a:r>
                        <a:t>63.9%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Regional 72</a:t>
                      </a:r>
                    </a:p>
                  </a:txBody>
                  <a:tcPr anchor="ctr" marL="45720" marR="45720" marT="45720" marB="45720">
                    <a:solidFill>
                      <a:srgbClr val="D9D9D9"/>
                    </a:solidFill>
                  </a:tcPr>
                </a:tc>
                <a:tc>
                  <a:txBody>
                    <a:bodyPr/>
                    <a:lstStyle/>
                    <a:p>
                      <a:pPr algn="ctr">
                        <a:defRPr sz="1100" b="0">
                          <a:solidFill>
                            <a:srgbClr val="000000"/>
                          </a:solidFill>
                          <a:latin typeface="Montserrat"/>
                        </a:defRPr>
                      </a:pPr>
                      <a:r>
                        <a:t>28</a:t>
                      </a:r>
                    </a:p>
                  </a:txBody>
                  <a:tcPr anchor="ctr" marL="45720" marR="45720" marT="45720" marB="45720">
                    <a:solidFill>
                      <a:srgbClr val="D9D9D9"/>
                    </a:solidFill>
                  </a:tcPr>
                </a:tc>
                <a:tc>
                  <a:txBody>
                    <a:bodyPr/>
                    <a:lstStyle/>
                    <a:p>
                      <a:pPr algn="ctr">
                        <a:defRPr sz="1100" b="1">
                          <a:solidFill>
                            <a:srgbClr val="000000"/>
                          </a:solidFill>
                          <a:latin typeface="Montserrat"/>
                        </a:defRPr>
                      </a:pPr>
                      <a:r>
                        <a:t>66.4%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197</a:t>
                      </a:r>
                    </a:p>
                  </a:txBody>
                  <a:tcPr anchor="ctr" marL="45720" marR="45720" marT="45720" marB="45720">
                    <a:solidFill>
                      <a:srgbClr val="FFFFFF"/>
                    </a:solidFill>
                  </a:tcPr>
                </a:tc>
                <a:tc>
                  <a:txBody>
                    <a:bodyPr/>
                    <a:lstStyle/>
                    <a:p>
                      <a:pPr algn="ctr">
                        <a:defRPr sz="1100" b="0">
                          <a:solidFill>
                            <a:srgbClr val="000000"/>
                          </a:solidFill>
                          <a:latin typeface="Montserrat"/>
                        </a:defRPr>
                      </a:pPr>
                      <a:r>
                        <a:t>25</a:t>
                      </a:r>
                    </a:p>
                  </a:txBody>
                  <a:tcPr anchor="ctr" marL="45720" marR="45720" marT="45720" marB="45720">
                    <a:solidFill>
                      <a:srgbClr val="FFFFFF"/>
                    </a:solidFill>
                  </a:tcPr>
                </a:tc>
                <a:tc>
                  <a:txBody>
                    <a:bodyPr/>
                    <a:lstStyle/>
                    <a:p>
                      <a:pPr algn="ctr">
                        <a:defRPr sz="1100" b="1">
                          <a:solidFill>
                            <a:srgbClr val="000000"/>
                          </a:solidFill>
                          <a:latin typeface="Montserrat"/>
                        </a:defRPr>
                      </a:pPr>
                      <a:r>
                        <a:t>68.6%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Regional 196</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70.7%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Regional 200</a:t>
                      </a:r>
                    </a:p>
                  </a:txBody>
                  <a:tcPr anchor="ctr" marL="45720" marR="45720" marT="45720" marB="45720">
                    <a:solidFill>
                      <a:srgbClr val="FFFFFF"/>
                    </a:solidFill>
                  </a:tcPr>
                </a:tc>
                <a:tc>
                  <a:txBody>
                    <a:bodyPr/>
                    <a:lstStyle/>
                    <a:p>
                      <a:pPr algn="ctr">
                        <a:defRPr sz="1100" b="0">
                          <a:solidFill>
                            <a:srgbClr val="000000"/>
                          </a:solidFill>
                          <a:latin typeface="Montserrat"/>
                        </a:defRPr>
                      </a:pPr>
                      <a:r>
                        <a:t>23</a:t>
                      </a:r>
                    </a:p>
                  </a:txBody>
                  <a:tcPr anchor="ctr" marL="45720" marR="45720" marT="45720" marB="45720">
                    <a:solidFill>
                      <a:srgbClr val="FFFFFF"/>
                    </a:solidFill>
                  </a:tcPr>
                </a:tc>
                <a:tc>
                  <a:txBody>
                    <a:bodyPr/>
                    <a:lstStyle/>
                    <a:p>
                      <a:pPr algn="ctr">
                        <a:defRPr sz="1100" b="1">
                          <a:solidFill>
                            <a:srgbClr val="000000"/>
                          </a:solidFill>
                          <a:latin typeface="Montserrat"/>
                        </a:defRPr>
                      </a:pPr>
                      <a:r>
                        <a:t>72.7%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76</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74.7%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76.7%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68</a:t>
                      </a:r>
                    </a:p>
                  </a:txBody>
                  <a:tcPr anchor="ctr" marL="45720" marR="45720" marT="45720" marB="45720">
                    <a:solidFill>
                      <a:srgbClr val="D9D9D9"/>
                    </a:solidFill>
                  </a:tcPr>
                </a:tc>
                <a:tc>
                  <a:txBody>
                    <a:bodyPr/>
                    <a:lstStyle/>
                    <a:p>
                      <a:pPr algn="ctr">
                        <a:defRPr sz="1100" b="0">
                          <a:solidFill>
                            <a:srgbClr val="000000"/>
                          </a:solidFill>
                          <a:latin typeface="Montserrat"/>
                        </a:defRPr>
                      </a:pPr>
                      <a:r>
                        <a:t>17</a:t>
                      </a:r>
                    </a:p>
                  </a:txBody>
                  <a:tcPr anchor="ctr" marL="45720" marR="45720" marT="45720" marB="45720">
                    <a:solidFill>
                      <a:srgbClr val="D9D9D9"/>
                    </a:solidFill>
                  </a:tcPr>
                </a:tc>
                <a:tc>
                  <a:txBody>
                    <a:bodyPr/>
                    <a:lstStyle/>
                    <a:p>
                      <a:pPr algn="ctr">
                        <a:defRPr sz="1100" b="1">
                          <a:solidFill>
                            <a:srgbClr val="000000"/>
                          </a:solidFill>
                          <a:latin typeface="Montserrat"/>
                        </a:defRPr>
                      </a:pPr>
                      <a:r>
                        <a:t>78.2%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58</a:t>
                      </a:r>
                    </a:p>
                  </a:txBody>
                  <a:tcPr anchor="ctr" marL="45720" marR="45720" marT="45720" marB="45720">
                    <a:solidFill>
                      <a:srgbClr val="FFFFFF"/>
                    </a:solidFill>
                  </a:tcPr>
                </a:tc>
                <a:tc>
                  <a:txBody>
                    <a:bodyPr/>
                    <a:lstStyle/>
                    <a:p>
                      <a:pPr algn="ctr">
                        <a:defRPr sz="1100" b="0">
                          <a:solidFill>
                            <a:srgbClr val="000000"/>
                          </a:solidFill>
                          <a:latin typeface="Montserrat"/>
                        </a:defRPr>
                      </a:pPr>
                      <a:r>
                        <a:t>17</a:t>
                      </a:r>
                    </a:p>
                  </a:txBody>
                  <a:tcPr anchor="ctr" marL="45720" marR="45720" marT="45720" marB="45720">
                    <a:solidFill>
                      <a:srgbClr val="FFFFFF"/>
                    </a:solidFill>
                  </a:tcPr>
                </a:tc>
                <a:tc>
                  <a:txBody>
                    <a:bodyPr/>
                    <a:lstStyle/>
                    <a:p>
                      <a:pPr algn="ctr">
                        <a:defRPr sz="1100" b="1">
                          <a:solidFill>
                            <a:srgbClr val="000000"/>
                          </a:solidFill>
                          <a:latin typeface="Montserrat"/>
                        </a:defRPr>
                      </a:pPr>
                      <a:r>
                        <a:t>79.7%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57</a:t>
                      </a:r>
                    </a:p>
                  </a:txBody>
                  <a:tcPr anchor="ctr" marL="45720" marR="45720" marT="45720" marB="45720">
                    <a:solidFill>
                      <a:srgbClr val="D9D9D9"/>
                    </a:solidFill>
                  </a:tcPr>
                </a:tc>
                <a:tc>
                  <a:txBody>
                    <a:bodyPr/>
                    <a:lstStyle/>
                    <a:p>
                      <a:pPr algn="ctr">
                        <a:defRPr sz="1100" b="0">
                          <a:solidFill>
                            <a:srgbClr val="000000"/>
                          </a:solidFill>
                          <a:latin typeface="Montserrat"/>
                        </a:defRPr>
                      </a:pPr>
                      <a:r>
                        <a:t>16</a:t>
                      </a:r>
                    </a:p>
                  </a:txBody>
                  <a:tcPr anchor="ctr" marL="45720" marR="45720" marT="45720" marB="45720">
                    <a:solidFill>
                      <a:srgbClr val="D9D9D9"/>
                    </a:solidFill>
                  </a:tcPr>
                </a:tc>
                <a:tc>
                  <a:txBody>
                    <a:bodyPr/>
                    <a:lstStyle/>
                    <a:p>
                      <a:pPr algn="ctr">
                        <a:defRPr sz="1100" b="1">
                          <a:solidFill>
                            <a:srgbClr val="000000"/>
                          </a:solidFill>
                          <a:latin typeface="Montserrat"/>
                        </a:defRPr>
                      </a:pPr>
                      <a:r>
                        <a:t>81.2%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194</a:t>
                      </a:r>
                    </a:p>
                  </a:txBody>
                  <a:tcPr anchor="ctr" marL="45720" marR="45720" marT="45720" marB="45720">
                    <a:solidFill>
                      <a:srgbClr val="FFFFFF"/>
                    </a:solidFill>
                  </a:tcPr>
                </a:tc>
                <a:tc>
                  <a:txBody>
                    <a:bodyPr/>
                    <a:lstStyle/>
                    <a:p>
                      <a:pPr algn="ctr">
                        <a:defRPr sz="1100" b="0">
                          <a:solidFill>
                            <a:srgbClr val="000000"/>
                          </a:solidFill>
                          <a:latin typeface="Montserrat"/>
                        </a:defRPr>
                      </a:pPr>
                      <a:r>
                        <a:t>16</a:t>
                      </a:r>
                    </a:p>
                  </a:txBody>
                  <a:tcPr anchor="ctr" marL="45720" marR="45720" marT="45720" marB="45720">
                    <a:solidFill>
                      <a:srgbClr val="FFFFFF"/>
                    </a:solidFill>
                  </a:tcPr>
                </a:tc>
                <a:tc>
                  <a:txBody>
                    <a:bodyPr/>
                    <a:lstStyle/>
                    <a:p>
                      <a:pPr algn="ctr">
                        <a:defRPr sz="1100" b="1">
                          <a:solidFill>
                            <a:srgbClr val="000000"/>
                          </a:solidFill>
                          <a:latin typeface="Montserrat"/>
                        </a:defRPr>
                      </a:pPr>
                      <a:r>
                        <a:t>82.6%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71</a:t>
                      </a:r>
                    </a:p>
                  </a:txBody>
                  <a:tcPr anchor="ctr" marL="45720" marR="45720" marT="45720" marB="45720">
                    <a:solidFill>
                      <a:srgbClr val="D9D9D9"/>
                    </a:solidFill>
                  </a:tcPr>
                </a:tc>
                <a:tc>
                  <a:txBody>
                    <a:bodyPr/>
                    <a:lstStyle/>
                    <a:p>
                      <a:pPr algn="ctr">
                        <a:defRPr sz="1100" b="0">
                          <a:solidFill>
                            <a:srgbClr val="000000"/>
                          </a:solidFill>
                          <a:latin typeface="Montserrat"/>
                        </a:defRPr>
                      </a:pPr>
                      <a:r>
                        <a:t>15</a:t>
                      </a:r>
                    </a:p>
                  </a:txBody>
                  <a:tcPr anchor="ctr" marL="45720" marR="45720" marT="45720" marB="45720">
                    <a:solidFill>
                      <a:srgbClr val="D9D9D9"/>
                    </a:solidFill>
                  </a:tcPr>
                </a:tc>
                <a:tc>
                  <a:txBody>
                    <a:bodyPr/>
                    <a:lstStyle/>
                    <a:p>
                      <a:pPr algn="ctr">
                        <a:defRPr sz="1100" b="1">
                          <a:solidFill>
                            <a:srgbClr val="000000"/>
                          </a:solidFill>
                          <a:latin typeface="Montserrat"/>
                        </a:defRPr>
                      </a:pPr>
                      <a:r>
                        <a:t>83.9%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"Chicoloapan"</a:t>
                      </a:r>
                    </a:p>
                  </a:txBody>
                  <a:tcPr anchor="ctr" marL="45720" marR="45720" marT="45720" marB="45720">
                    <a:solidFill>
                      <a:srgbClr val="FFFFFF"/>
                    </a:solidFill>
                  </a:tcPr>
                </a:tc>
                <a:tc>
                  <a:txBody>
                    <a:bodyPr/>
                    <a:lstStyle/>
                    <a:p>
                      <a:pPr algn="ctr">
                        <a:defRPr sz="1100" b="0">
                          <a:solidFill>
                            <a:srgbClr val="000000"/>
                          </a:solidFill>
                          <a:latin typeface="Montserrat"/>
                        </a:defRPr>
                      </a:pPr>
                      <a:r>
                        <a:t>15</a:t>
                      </a:r>
                    </a:p>
                  </a:txBody>
                  <a:tcPr anchor="ctr" marL="45720" marR="45720" marT="45720" marB="45720">
                    <a:solidFill>
                      <a:srgbClr val="FFFFFF"/>
                    </a:solidFill>
                  </a:tcPr>
                </a:tc>
                <a:tc>
                  <a:txBody>
                    <a:bodyPr/>
                    <a:lstStyle/>
                    <a:p>
                      <a:pPr algn="ctr">
                        <a:defRPr sz="1100" b="1">
                          <a:solidFill>
                            <a:srgbClr val="000000"/>
                          </a:solidFill>
                          <a:latin typeface="Montserrat"/>
                        </a:defRPr>
                      </a:pPr>
                      <a:r>
                        <a:t>85.3%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Regional 251</a:t>
                      </a:r>
                    </a:p>
                  </a:txBody>
                  <a:tcPr anchor="ctr" marL="45720" marR="45720" marT="45720" marB="45720">
                    <a:solidFill>
                      <a:srgbClr val="D9D9D9"/>
                    </a:solidFill>
                  </a:tcPr>
                </a:tc>
                <a:tc>
                  <a:txBody>
                    <a:bodyPr/>
                    <a:lstStyle/>
                    <a:p>
                      <a:pPr algn="ctr">
                        <a:defRPr sz="1100" b="0">
                          <a:solidFill>
                            <a:srgbClr val="000000"/>
                          </a:solidFill>
                          <a:latin typeface="Montserrat"/>
                        </a:defRPr>
                      </a:pPr>
                      <a:r>
                        <a:t>13</a:t>
                      </a:r>
                    </a:p>
                  </a:txBody>
                  <a:tcPr anchor="ctr" marL="45720" marR="45720" marT="45720" marB="45720">
                    <a:solidFill>
                      <a:srgbClr val="D9D9D9"/>
                    </a:solidFill>
                  </a:tcPr>
                </a:tc>
                <a:tc>
                  <a:txBody>
                    <a:bodyPr/>
                    <a:lstStyle/>
                    <a:p>
                      <a:pPr algn="ctr">
                        <a:defRPr sz="1100" b="1">
                          <a:solidFill>
                            <a:srgbClr val="000000"/>
                          </a:solidFill>
                          <a:latin typeface="Montserrat"/>
                        </a:defRPr>
                      </a:pPr>
                      <a:r>
                        <a:t>86.4%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Regional 220</a:t>
                      </a:r>
                    </a:p>
                  </a:txBody>
                  <a:tcPr anchor="ctr" marL="45720" marR="45720" marT="45720" marB="45720">
                    <a:solidFill>
                      <a:srgbClr val="FFFFFF"/>
                    </a:solidFill>
                  </a:tcPr>
                </a:tc>
                <a:tc>
                  <a:txBody>
                    <a:bodyPr/>
                    <a:lstStyle/>
                    <a:p>
                      <a:pPr algn="ctr">
                        <a:defRPr sz="1100" b="0">
                          <a:solidFill>
                            <a:srgbClr val="000000"/>
                          </a:solidFill>
                          <a:latin typeface="Montserrat"/>
                        </a:defRPr>
                      </a:pPr>
                      <a:r>
                        <a:t>12</a:t>
                      </a:r>
                    </a:p>
                  </a:txBody>
                  <a:tcPr anchor="ctr" marL="45720" marR="45720" marT="45720" marB="45720">
                    <a:solidFill>
                      <a:srgbClr val="FFFFFF"/>
                    </a:solidFill>
                  </a:tcPr>
                </a:tc>
                <a:tc>
                  <a:txBody>
                    <a:bodyPr/>
                    <a:lstStyle/>
                    <a:p>
                      <a:pPr algn="ctr">
                        <a:defRPr sz="1100" b="1">
                          <a:solidFill>
                            <a:srgbClr val="000000"/>
                          </a:solidFill>
                          <a:latin typeface="Montserrat"/>
                        </a:defRPr>
                      </a:pPr>
                      <a:r>
                        <a:t>87.5%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93</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88.4%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Sn José Rincón</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89.2%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53</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89.9%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68</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90.4%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Sede Delegación</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91.0%</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Unidad de Medicina Familiar 63</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91.4%</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48533EBB-A0AA-06F1-FB10-87CB61CA7AEC}"/>
              </a:ext>
            </a:extLst>
          </p:cNvPr>
          <p:cNvGraphicFramePr/>
          <p:nvPr>
            <p:extLst>
              <p:ext uri="{D42A27DB-BD31-4B8C-83A1-F6EECF244321}">
                <p14:modId xmlns:p14="http://schemas.microsoft.com/office/powerpoint/2010/main" val="3975346502"/>
              </p:ext>
            </p:extLst>
          </p:nvPr>
        </p:nvGraphicFramePr>
        <p:xfrm>
          <a:off x="287050" y="95818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ESTADO DE MÉXICO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6,041</a:t>
                      </a:r>
                    </a:p>
                  </a:txBody>
                  <a:tcPr anchor="ctr">
                    <a:solidFill>
                      <a:srgbClr val="FFFFFF"/>
                    </a:solidFill>
                  </a:tcPr>
                </a:tc>
                <a:tc>
                  <a:txBody>
                    <a:bodyPr/>
                    <a:lstStyle/>
                    <a:p>
                      <a:pPr algn="ctr">
                        <a:defRPr sz="1000">
                          <a:latin typeface="Montserrat"/>
                        </a:defRPr>
                      </a:pPr>
                      <a:r>
                        <a:t>40.7%</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2,564</a:t>
                      </a:r>
                    </a:p>
                  </a:txBody>
                  <a:tcPr anchor="ctr">
                    <a:solidFill>
                      <a:srgbClr val="D9D9D9"/>
                    </a:solidFill>
                  </a:tcPr>
                </a:tc>
                <a:tc>
                  <a:txBody>
                    <a:bodyPr/>
                    <a:lstStyle/>
                    <a:p>
                      <a:pPr algn="ctr">
                        <a:defRPr sz="1000">
                          <a:latin typeface="Montserrat"/>
                        </a:defRPr>
                      </a:pPr>
                      <a:r>
                        <a:t>58.0%</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1,692</a:t>
                      </a:r>
                    </a:p>
                  </a:txBody>
                  <a:tcPr anchor="ctr">
                    <a:solidFill>
                      <a:srgbClr val="FFFFFF"/>
                    </a:solidFill>
                  </a:tcPr>
                </a:tc>
                <a:tc>
                  <a:txBody>
                    <a:bodyPr/>
                    <a:lstStyle/>
                    <a:p>
                      <a:pPr algn="ctr">
                        <a:defRPr sz="1000">
                          <a:latin typeface="Montserrat"/>
                        </a:defRPr>
                      </a:pPr>
                      <a:r>
                        <a:t>69.4%</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1,393</a:t>
                      </a:r>
                    </a:p>
                  </a:txBody>
                  <a:tcPr anchor="ctr">
                    <a:solidFill>
                      <a:srgbClr val="D9D9D9"/>
                    </a:solidFill>
                  </a:tcPr>
                </a:tc>
                <a:tc>
                  <a:txBody>
                    <a:bodyPr/>
                    <a:lstStyle/>
                    <a:p>
                      <a:pPr algn="ctr">
                        <a:defRPr sz="1000">
                          <a:latin typeface="Montserrat"/>
                        </a:defRPr>
                      </a:pPr>
                      <a:r>
                        <a:t>78.8%</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1,171</a:t>
                      </a:r>
                    </a:p>
                  </a:txBody>
                  <a:tcPr anchor="ctr">
                    <a:solidFill>
                      <a:srgbClr val="FFFFFF"/>
                    </a:solidFill>
                  </a:tcPr>
                </a:tc>
                <a:tc>
                  <a:txBody>
                    <a:bodyPr/>
                    <a:lstStyle/>
                    <a:p>
                      <a:pPr algn="ctr">
                        <a:defRPr sz="1000">
                          <a:latin typeface="Montserrat"/>
                        </a:defRPr>
                      </a:pPr>
                      <a:r>
                        <a:t>86.7%</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974</a:t>
                      </a:r>
                    </a:p>
                  </a:txBody>
                  <a:tcPr anchor="ctr">
                    <a:solidFill>
                      <a:srgbClr val="D9D9D9"/>
                    </a:solidFill>
                  </a:tcPr>
                </a:tc>
                <a:tc>
                  <a:txBody>
                    <a:bodyPr/>
                    <a:lstStyle/>
                    <a:p>
                      <a:pPr algn="ctr">
                        <a:defRPr sz="1000">
                          <a:latin typeface="Montserrat"/>
                        </a:defRPr>
                      </a:pPr>
                      <a:r>
                        <a:t>93.3%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291</a:t>
                      </a:r>
                    </a:p>
                  </a:txBody>
                  <a:tcPr anchor="ctr">
                    <a:solidFill>
                      <a:srgbClr val="FFFFFF"/>
                    </a:solidFill>
                  </a:tcPr>
                </a:tc>
                <a:tc>
                  <a:txBody>
                    <a:bodyPr/>
                    <a:lstStyle/>
                    <a:p>
                      <a:pPr algn="ctr">
                        <a:defRPr sz="1000">
                          <a:latin typeface="Montserrat"/>
                        </a:defRPr>
                      </a:pPr>
                      <a:r>
                        <a:t>95.3%</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261</a:t>
                      </a:r>
                    </a:p>
                  </a:txBody>
                  <a:tcPr anchor="ctr">
                    <a:solidFill>
                      <a:srgbClr val="D9D9D9"/>
                    </a:solidFill>
                  </a:tcPr>
                </a:tc>
                <a:tc>
                  <a:txBody>
                    <a:bodyPr/>
                    <a:lstStyle/>
                    <a:p>
                      <a:pPr algn="ctr">
                        <a:defRPr sz="1000">
                          <a:latin typeface="Montserrat"/>
                        </a:defRPr>
                      </a:pPr>
                      <a:r>
                        <a:t>97.0%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238</a:t>
                      </a:r>
                    </a:p>
                  </a:txBody>
                  <a:tcPr anchor="ctr">
                    <a:solidFill>
                      <a:srgbClr val="FFFFFF"/>
                    </a:solidFill>
                  </a:tcPr>
                </a:tc>
                <a:tc>
                  <a:txBody>
                    <a:bodyPr/>
                    <a:lstStyle/>
                    <a:p>
                      <a:pPr algn="ctr">
                        <a:defRPr sz="1000">
                          <a:latin typeface="Montserrat"/>
                        </a:defRPr>
                      </a:pPr>
                      <a:r>
                        <a:t>98.6%</a:t>
                      </a:r>
                    </a:p>
                  </a:txBody>
                  <a:tcPr anchor="ctr">
                    <a:solidFill>
                      <a:srgbClr val="FFFFFF"/>
                    </a:solidFill>
                  </a:tcPr>
                </a:tc>
              </a:tr>
              <a:tr h="216000">
                <a:tc>
                  <a:txBody>
                    <a:bodyPr/>
                    <a:lstStyle/>
                    <a:p>
                      <a:pPr algn="l">
                        <a:defRPr sz="1000">
                          <a:latin typeface="Montserrat"/>
                        </a:defRPr>
                      </a:pPr>
                      <a:r>
                        <a:t>Medicina Interna  </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14,829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1,287</a:t>
                      </a:r>
                    </a:p>
                  </a:txBody>
                  <a:tcPr anchor="ctr">
                    <a:solidFill>
                      <a:srgbClr val="FFFFFF"/>
                    </a:solidFill>
                  </a:tcPr>
                </a:tc>
                <a:tc>
                  <a:txBody>
                    <a:bodyPr/>
                    <a:lstStyle/>
                    <a:p>
                      <a:pPr algn="ctr">
                        <a:defRPr sz="1000">
                          <a:latin typeface="Montserrat"/>
                        </a:defRPr>
                      </a:pPr>
                      <a:r>
                        <a:t>32.5%</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1,268</a:t>
                      </a:r>
                    </a:p>
                  </a:txBody>
                  <a:tcPr anchor="ctr">
                    <a:solidFill>
                      <a:srgbClr val="D9D9D9"/>
                    </a:solidFill>
                  </a:tcPr>
                </a:tc>
                <a:tc>
                  <a:txBody>
                    <a:bodyPr/>
                    <a:lstStyle/>
                    <a:p>
                      <a:pPr algn="ctr">
                        <a:defRPr sz="1000">
                          <a:latin typeface="Montserrat"/>
                        </a:defRPr>
                      </a:pPr>
                      <a:r>
                        <a:t>64.6%</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727</a:t>
                      </a:r>
                    </a:p>
                  </a:txBody>
                  <a:tcPr anchor="ctr">
                    <a:solidFill>
                      <a:srgbClr val="FFFFFF"/>
                    </a:solidFill>
                  </a:tcPr>
                </a:tc>
                <a:tc>
                  <a:txBody>
                    <a:bodyPr/>
                    <a:lstStyle/>
                    <a:p>
                      <a:pPr algn="ctr">
                        <a:defRPr sz="1000">
                          <a:latin typeface="Montserrat"/>
                        </a:defRPr>
                      </a:pPr>
                      <a:r>
                        <a:t>83.0%</a:t>
                      </a:r>
                    </a:p>
                  </a:txBody>
                  <a:tcPr anchor="ctr">
                    <a:solidFill>
                      <a:srgbClr val="FFFFFF"/>
                    </a:solidFill>
                  </a:tcPr>
                </a:tc>
              </a:tr>
              <a:tr h="216000">
                <a:tc>
                  <a:txBody>
                    <a:bodyPr/>
                    <a:lstStyle/>
                    <a:p>
                      <a:pPr algn="l">
                        <a:defRPr sz="1000">
                          <a:latin typeface="Montserrat"/>
                        </a:defRPr>
                      </a:pPr>
                      <a:r>
                        <a:t>Histerectomías</a:t>
                      </a:r>
                    </a:p>
                  </a:txBody>
                  <a:tcPr anchor="ctr">
                    <a:solidFill>
                      <a:srgbClr val="D9D9D9"/>
                    </a:solidFill>
                  </a:tcPr>
                </a:tc>
                <a:tc>
                  <a:txBody>
                    <a:bodyPr/>
                    <a:lstStyle/>
                    <a:p>
                      <a:pPr algn="ctr">
                        <a:defRPr sz="1000">
                          <a:latin typeface="Montserrat"/>
                        </a:defRPr>
                      </a:pPr>
                      <a:r>
                        <a:t>332</a:t>
                      </a:r>
                    </a:p>
                  </a:txBody>
                  <a:tcPr anchor="ctr">
                    <a:solidFill>
                      <a:srgbClr val="D9D9D9"/>
                    </a:solidFill>
                  </a:tcPr>
                </a:tc>
                <a:tc>
                  <a:txBody>
                    <a:bodyPr/>
                    <a:lstStyle/>
                    <a:p>
                      <a:pPr algn="ctr">
                        <a:defRPr sz="1000">
                          <a:latin typeface="Montserrat"/>
                        </a:defRPr>
                      </a:pPr>
                      <a:r>
                        <a:t>91.4%</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154</a:t>
                      </a:r>
                    </a:p>
                  </a:txBody>
                  <a:tcPr anchor="ctr">
                    <a:solidFill>
                      <a:srgbClr val="FFFFFF"/>
                    </a:solidFill>
                  </a:tcPr>
                </a:tc>
                <a:tc>
                  <a:txBody>
                    <a:bodyPr/>
                    <a:lstStyle/>
                    <a:p>
                      <a:pPr algn="ctr">
                        <a:defRPr sz="1000">
                          <a:latin typeface="Montserrat"/>
                        </a:defRPr>
                      </a:pPr>
                      <a:r>
                        <a:t>95.2%</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100</a:t>
                      </a:r>
                    </a:p>
                  </a:txBody>
                  <a:tcPr anchor="ctr">
                    <a:solidFill>
                      <a:srgbClr val="D9D9D9"/>
                    </a:solidFill>
                  </a:tcPr>
                </a:tc>
                <a:tc>
                  <a:txBody>
                    <a:bodyPr/>
                    <a:lstStyle/>
                    <a:p>
                      <a:pPr algn="ctr">
                        <a:defRPr sz="1000">
                          <a:latin typeface="Montserrat"/>
                        </a:defRPr>
                      </a:pPr>
                      <a:r>
                        <a:t>97.8%</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88</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3,956</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45,973	 Personal de Salud: 31,199</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+96.4%</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169</a:t>
                      </a:r>
                    </a:p>
                  </a:txBody>
                  <a:tcPr marL="0" marR="0" marT="0" marB="0">
                    <a:noFill/>
                  </a:tcPr>
                </a:tc>
                <a:tc>
                  <a:txBody>
                    <a:bodyPr/>
                    <a:lstStyle/>
                    <a:p>
                      <a:pPr algn="ctr">
                        <a:defRPr b="1" sz="1500">
                          <a:solidFill>
                            <a:srgbClr val="B4975A"/>
                          </a:solidFill>
                          <a:latin typeface="Montserrat"/>
                        </a:defRPr>
                      </a:pPr>
                      <a:r>
                        <a:t>332</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+31.3%</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5,780</a:t>
                      </a:r>
                    </a:p>
                  </a:txBody>
                  <a:tcPr marL="0" marR="0" marT="0" marB="0">
                    <a:noFill/>
                  </a:tcPr>
                </a:tc>
                <a:tc>
                  <a:txBody>
                    <a:bodyPr/>
                    <a:lstStyle/>
                    <a:p>
                      <a:pPr algn="ctr">
                        <a:defRPr b="1" sz="1500">
                          <a:solidFill>
                            <a:srgbClr val="B4975A"/>
                          </a:solidFill>
                          <a:latin typeface="Montserrat"/>
                        </a:defRPr>
                      </a:pPr>
                      <a:r>
                        <a:t>7,590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+16.3%</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9,847</a:t>
                      </a:r>
                    </a:p>
                  </a:txBody>
                  <a:tcPr marL="0" marR="0" marT="0" marB="0">
                    <a:noFill/>
                  </a:tcPr>
                </a:tc>
                <a:tc>
                  <a:txBody>
                    <a:bodyPr/>
                    <a:lstStyle/>
                    <a:p>
                      <a:pPr algn="ctr">
                        <a:defRPr b="1" sz="1500">
                          <a:solidFill>
                            <a:srgbClr val="B4975A"/>
                          </a:solidFill>
                          <a:latin typeface="Montserrat"/>
                        </a:defRPr>
                      </a:pPr>
                      <a:r>
                        <a:t>11,450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+12.5%</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7,965</a:t>
                      </a:r>
                    </a:p>
                  </a:txBody>
                  <a:tcPr marL="0" marR="0" marT="0" marB="0">
                    <a:noFill/>
                  </a:tcPr>
                </a:tc>
                <a:tc>
                  <a:txBody>
                    <a:bodyPr/>
                    <a:lstStyle/>
                    <a:p>
                      <a:pPr algn="ctr">
                        <a:defRPr b="1" sz="1500">
                          <a:solidFill>
                            <a:srgbClr val="B4975A"/>
                          </a:solidFill>
                          <a:latin typeface="Montserrat"/>
                        </a:defRPr>
                      </a:pPr>
                      <a:r>
                        <a:t>8,958</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+105.7%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703</a:t>
                      </a:r>
                    </a:p>
                  </a:txBody>
                  <a:tcPr marL="0" marR="0" marT="0" marB="0">
                    <a:noFill/>
                  </a:tcPr>
                </a:tc>
                <a:tc>
                  <a:txBody>
                    <a:bodyPr/>
                    <a:lstStyle/>
                    <a:p>
                      <a:pPr algn="ctr">
                        <a:defRPr b="1" sz="1500">
                          <a:solidFill>
                            <a:srgbClr val="B4975A"/>
                          </a:solidFill>
                          <a:latin typeface="Montserrat"/>
                        </a:defRPr>
                      </a:pPr>
                      <a:r>
                        <a:t>1,446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-12.6%</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1,628</a:t>
                      </a:r>
                    </a:p>
                  </a:txBody>
                  <a:tcPr marL="0" marR="0" marT="0" marB="0">
                    <a:noFill/>
                  </a:tcPr>
                </a:tc>
                <a:tc>
                  <a:txBody>
                    <a:bodyPr/>
                    <a:lstStyle/>
                    <a:p>
                      <a:pPr algn="ctr">
                        <a:defRPr b="1" sz="1500">
                          <a:solidFill>
                            <a:srgbClr val="B4975A"/>
                          </a:solidFill>
                          <a:latin typeface="Montserrat"/>
                        </a:defRPr>
                      </a:pPr>
                      <a:r>
                        <a:t>1,423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182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125</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38</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31</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120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114</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50</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45</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41</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441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512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1,122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722</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2,797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49,087</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3,256</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455</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590</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9,646</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3,721</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71</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65,710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(699,859)</a:t>
                      </a:r>
                    </a:p>
                  </a:txBody>
                  <a:tcPr>
                    <a:solidFill>
                      <a:srgbClr val="FFFFFF"/>
                    </a:solidFill>
                  </a:tcPr>
                </a:tc>
                <a:tc>
                  <a:txBody>
                    <a:bodyPr/>
                    <a:lstStyle/>
                    <a:p>
                      <a:pPr algn="ctr"/>
                      <a:r>
                        <a:rPr sz="900" b="0">
                          <a:latin typeface="Montserrat"/>
                        </a:rPr>
                        <a:t>Traumatismos e intoxicaciones
(42,598)</a:t>
                      </a:r>
                    </a:p>
                  </a:txBody>
                  <a:tcPr>
                    <a:solidFill>
                      <a:srgbClr val="FFFFFF"/>
                    </a:solidFill>
                  </a:tcPr>
                </a:tc>
                <a:tc>
                  <a:txBody>
                    <a:bodyPr/>
                    <a:lstStyle/>
                    <a:p>
                      <a:pPr algn="ctr"/>
                      <a:r>
                        <a:rPr sz="900" b="0">
                          <a:latin typeface="Montserrat"/>
                        </a:rPr>
                        <a:t>Cesárea
(7,327)</a:t>
                      </a:r>
                    </a:p>
                  </a:txBody>
                  <a:tcPr>
                    <a:solidFill>
                      <a:srgbClr val="FFFFFF"/>
                    </a:solidFill>
                  </a:tcPr>
                </a:tc>
                <a:tc>
                  <a:txBody>
                    <a:bodyPr/>
                    <a:lstStyle/>
                    <a:p>
                      <a:pPr algn="ctr"/>
                      <a:r>
                        <a:rPr sz="900" b="0">
                          <a:latin typeface="Montserrat"/>
                        </a:rPr>
                        <a:t>Embarazo, parto y puerperio
(14,320)</a:t>
                      </a:r>
                    </a:p>
                  </a:txBody>
                  <a:tcPr>
                    <a:solidFill>
                      <a:srgbClr val="FFFFFF"/>
                    </a:solidFill>
                  </a:tcPr>
                </a:tc>
                <a:tc>
                  <a:txBody>
                    <a:bodyPr/>
                    <a:lstStyle/>
                    <a:p>
                      <a:pPr algn="ctr"/>
                      <a:r>
                        <a:rPr sz="900" b="0">
                          <a:latin typeface="Montserrat"/>
                        </a:rPr>
                        <a:t>Neumonía e influenza
(566)</a:t>
                      </a:r>
                    </a:p>
                  </a:txBody>
                  <a:tcPr>
                    <a:solidFill>
                      <a:srgbClr val="FFFFFF"/>
                    </a:solidFill>
                  </a:tcPr>
                </a:tc>
              </a:tr>
              <a:tr h="489600">
                <a:tc>
                  <a:txBody>
                    <a:bodyPr/>
                    <a:lstStyle/>
                    <a:p>
                      <a:pPr algn="ctr"/>
                      <a:r>
                        <a:rPr sz="900" b="0">
                          <a:latin typeface="Montserrat"/>
                        </a:rPr>
                        <a:t>Enfermedades del corazón
(559,703)</a:t>
                      </a:r>
                    </a:p>
                  </a:txBody>
                  <a:tcPr>
                    <a:solidFill>
                      <a:srgbClr val="EFEFEF"/>
                    </a:solidFill>
                  </a:tcPr>
                </a:tc>
                <a:tc>
                  <a:txBody>
                    <a:bodyPr/>
                    <a:lstStyle/>
                    <a:p>
                      <a:pPr algn="ctr"/>
                      <a:r>
                        <a:rPr sz="900" b="0">
                          <a:latin typeface="Montserrat"/>
                        </a:rPr>
                        <a:t>Tumores malignos
(36,043)</a:t>
                      </a:r>
                    </a:p>
                  </a:txBody>
                  <a:tcPr>
                    <a:solidFill>
                      <a:srgbClr val="EFEFEF"/>
                    </a:solidFill>
                  </a:tcPr>
                </a:tc>
                <a:tc>
                  <a:txBody>
                    <a:bodyPr/>
                    <a:lstStyle/>
                    <a:p>
                      <a:pPr algn="ctr"/>
                      <a:r>
                        <a:rPr sz="900" b="0">
                          <a:latin typeface="Montserrat"/>
                        </a:rPr>
                        <a:t>Traumatismos y envenenamientos
(5,809)</a:t>
                      </a:r>
                    </a:p>
                  </a:txBody>
                  <a:tcPr>
                    <a:solidFill>
                      <a:srgbClr val="EFEFEF"/>
                    </a:solidFill>
                  </a:tcPr>
                </a:tc>
                <a:tc>
                  <a:txBody>
                    <a:bodyPr/>
                    <a:lstStyle/>
                    <a:p>
                      <a:pPr algn="ctr"/>
                      <a:r>
                        <a:rPr sz="900" b="0">
                          <a:latin typeface="Montserrat"/>
                        </a:rPr>
                        <a:t>Traumatismos e intoxicaciones
(7,628)</a:t>
                      </a:r>
                    </a:p>
                  </a:txBody>
                  <a:tcPr>
                    <a:solidFill>
                      <a:srgbClr val="EFEFEF"/>
                    </a:solidFill>
                  </a:tcPr>
                </a:tc>
                <a:tc>
                  <a:txBody>
                    <a:bodyPr/>
                    <a:lstStyle/>
                    <a:p>
                      <a:pPr algn="ctr"/>
                      <a:r>
                        <a:rPr sz="900" b="0">
                          <a:latin typeface="Montserrat"/>
                        </a:rPr>
                        <a:t>Enfermedades del corazón
(503)</a:t>
                      </a:r>
                    </a:p>
                  </a:txBody>
                  <a:tcPr>
                    <a:solidFill>
                      <a:srgbClr val="EFEFEF"/>
                    </a:solidFill>
                  </a:tcPr>
                </a:tc>
              </a:tr>
              <a:tr h="489600">
                <a:tc>
                  <a:txBody>
                    <a:bodyPr/>
                    <a:lstStyle/>
                    <a:p>
                      <a:pPr algn="ctr"/>
                      <a:r>
                        <a:rPr sz="900" b="0">
                          <a:latin typeface="Montserrat"/>
                        </a:rPr>
                        <a:t>traumatismos e intoxicaciones
(168,188)</a:t>
                      </a:r>
                    </a:p>
                  </a:txBody>
                  <a:tcPr>
                    <a:solidFill>
                      <a:srgbClr val="FFFFFF"/>
                    </a:solidFill>
                  </a:tcPr>
                </a:tc>
                <a:tc>
                  <a:txBody>
                    <a:bodyPr/>
                    <a:lstStyle/>
                    <a:p>
                      <a:pPr algn="ctr"/>
                      <a:r>
                        <a:rPr sz="900" b="0">
                          <a:latin typeface="Montserrat"/>
                        </a:rPr>
                        <a:t>Enfermedades y trastornos de las articulaciones
(35,692)</a:t>
                      </a:r>
                    </a:p>
                  </a:txBody>
                  <a:tcPr>
                    <a:solidFill>
                      <a:srgbClr val="FFFFFF"/>
                    </a:solidFill>
                  </a:tcPr>
                </a:tc>
                <a:tc>
                  <a:txBody>
                    <a:bodyPr/>
                    <a:lstStyle/>
                    <a:p>
                      <a:pPr algn="ctr"/>
                      <a:r>
                        <a:rPr sz="900" b="0">
                          <a:latin typeface="Montserrat"/>
                        </a:rPr>
                        <a:t>Cirugía de Hernias (Hernioplastía)
(4,246)</a:t>
                      </a:r>
                    </a:p>
                  </a:txBody>
                  <a:tcPr>
                    <a:solidFill>
                      <a:srgbClr val="FFFFFF"/>
                    </a:solidFill>
                  </a:tcPr>
                </a:tc>
                <a:tc>
                  <a:txBody>
                    <a:bodyPr/>
                    <a:lstStyle/>
                    <a:p>
                      <a:pPr algn="ctr"/>
                      <a:r>
                        <a:rPr sz="900" b="0">
                          <a:latin typeface="Montserrat"/>
                        </a:rPr>
                        <a:t>Insuficiencia renal
(6,095)</a:t>
                      </a:r>
                    </a:p>
                  </a:txBody>
                  <a:tcPr>
                    <a:solidFill>
                      <a:srgbClr val="FFFFFF"/>
                    </a:solidFill>
                  </a:tcPr>
                </a:tc>
                <a:tc>
                  <a:txBody>
                    <a:bodyPr/>
                    <a:lstStyle/>
                    <a:p>
                      <a:pPr algn="ctr"/>
                      <a:r>
                        <a:rPr sz="900" b="0">
                          <a:latin typeface="Montserrat"/>
                        </a:rPr>
                        <a:t>Otras enfermedades respiratorias
(386)</a:t>
                      </a:r>
                    </a:p>
                  </a:txBody>
                  <a:tcPr>
                    <a:solidFill>
                      <a:srgbClr val="FFFFFF"/>
                    </a:solidFill>
                  </a:tcPr>
                </a:tc>
              </a:tr>
              <a:tr h="489600">
                <a:tc>
                  <a:txBody>
                    <a:bodyPr/>
                    <a:lstStyle/>
                    <a:p>
                      <a:pPr algn="ctr"/>
                      <a:r>
                        <a:rPr sz="900" b="0">
                          <a:latin typeface="Montserrat"/>
                        </a:rPr>
                        <a:t>Infecciones respiratorias agudas
(160,461)</a:t>
                      </a:r>
                    </a:p>
                  </a:txBody>
                  <a:tcPr>
                    <a:solidFill>
                      <a:srgbClr val="EFEFEF"/>
                    </a:solidFill>
                  </a:tcPr>
                </a:tc>
                <a:tc>
                  <a:txBody>
                    <a:bodyPr/>
                    <a:lstStyle/>
                    <a:p>
                      <a:pPr algn="ctr"/>
                      <a:r>
                        <a:rPr sz="900" b="0">
                          <a:latin typeface="Montserrat"/>
                        </a:rPr>
                        <a:t>Insuficiencia renal
(24,352)</a:t>
                      </a:r>
                    </a:p>
                  </a:txBody>
                  <a:tcPr>
                    <a:solidFill>
                      <a:srgbClr val="EFEFEF"/>
                    </a:solidFill>
                  </a:tcPr>
                </a:tc>
                <a:tc>
                  <a:txBody>
                    <a:bodyPr/>
                    <a:lstStyle/>
                    <a:p>
                      <a:pPr algn="ctr"/>
                      <a:r>
                        <a:rPr sz="900" b="0">
                          <a:latin typeface="Montserrat"/>
                        </a:rPr>
                        <a:t>Cirugía de vesicula biliar (Colecistectomía)
(3,153)</a:t>
                      </a:r>
                    </a:p>
                  </a:txBody>
                  <a:tcPr>
                    <a:solidFill>
                      <a:srgbClr val="EFEFEF"/>
                    </a:solidFill>
                  </a:tcPr>
                </a:tc>
                <a:tc>
                  <a:txBody>
                    <a:bodyPr/>
                    <a:lstStyle/>
                    <a:p>
                      <a:pPr algn="ctr"/>
                      <a:r>
                        <a:rPr sz="900" b="0">
                          <a:latin typeface="Montserrat"/>
                        </a:rPr>
                        <a:t>Hernias
(4,874)</a:t>
                      </a:r>
                    </a:p>
                  </a:txBody>
                  <a:tcPr>
                    <a:solidFill>
                      <a:srgbClr val="EFEFEF"/>
                    </a:solidFill>
                  </a:tcPr>
                </a:tc>
                <a:tc>
                  <a:txBody>
                    <a:bodyPr/>
                    <a:lstStyle/>
                    <a:p>
                      <a:pPr algn="ctr"/>
                      <a:r>
                        <a:rPr sz="900" b="0">
                          <a:latin typeface="Montserrat"/>
                        </a:rPr>
                        <a:t>Insuficiencia renal
(376)</a:t>
                      </a:r>
                    </a:p>
                  </a:txBody>
                  <a:tcPr>
                    <a:solidFill>
                      <a:srgbClr val="EFEFEF"/>
                    </a:solidFill>
                  </a:tcPr>
                </a:tc>
              </a:tr>
              <a:tr h="489600">
                <a:tc>
                  <a:txBody>
                    <a:bodyPr/>
                    <a:lstStyle/>
                    <a:p>
                      <a:pPr algn="ctr"/>
                      <a:r>
                        <a:rPr sz="900" b="0">
                          <a:latin typeface="Montserrat"/>
                        </a:rPr>
                        <a:t>Enfermedades y trastornos de las articulaciones
(100,566)</a:t>
                      </a:r>
                    </a:p>
                  </a:txBody>
                  <a:tcPr>
                    <a:solidFill>
                      <a:srgbClr val="FFFFFF"/>
                    </a:solidFill>
                  </a:tcPr>
                </a:tc>
                <a:tc>
                  <a:txBody>
                    <a:bodyPr/>
                    <a:lstStyle/>
                    <a:p>
                      <a:pPr algn="ctr"/>
                      <a:r>
                        <a:rPr sz="900" b="0">
                          <a:latin typeface="Montserrat"/>
                        </a:rPr>
                        <a:t>Enfermedades del corazón
(23,179)</a:t>
                      </a:r>
                    </a:p>
                  </a:txBody>
                  <a:tcPr>
                    <a:solidFill>
                      <a:srgbClr val="FFFFFF"/>
                    </a:solidFill>
                  </a:tcPr>
                </a:tc>
                <a:tc>
                  <a:txBody>
                    <a:bodyPr/>
                    <a:lstStyle/>
                    <a:p>
                      <a:pPr algn="ctr"/>
                      <a:r>
                        <a:rPr sz="900" b="0">
                          <a:latin typeface="Montserrat"/>
                        </a:rPr>
                        <a:t>Artropatias
(2,739)</a:t>
                      </a:r>
                    </a:p>
                  </a:txBody>
                  <a:tcPr>
                    <a:solidFill>
                      <a:srgbClr val="FFFFFF"/>
                    </a:solidFill>
                  </a:tcPr>
                </a:tc>
                <a:tc>
                  <a:txBody>
                    <a:bodyPr/>
                    <a:lstStyle/>
                    <a:p>
                      <a:pPr algn="ctr"/>
                      <a:r>
                        <a:rPr sz="900" b="0">
                          <a:latin typeface="Montserrat"/>
                        </a:rPr>
                        <a:t>Enfermedades de la vesicula biliar
(4,282)</a:t>
                      </a:r>
                    </a:p>
                  </a:txBody>
                  <a:tcPr>
                    <a:solidFill>
                      <a:srgbClr val="FFFFFF"/>
                    </a:solidFill>
                  </a:tcPr>
                </a:tc>
                <a:tc>
                  <a:txBody>
                    <a:bodyPr/>
                    <a:lstStyle/>
                    <a:p>
                      <a:pPr algn="ctr"/>
                      <a:r>
                        <a:rPr sz="900" b="0">
                          <a:latin typeface="Montserrat"/>
                        </a:rPr>
                        <a:t>Diabetes mellitus
(329)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ESTADO DE MÉXICO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1,152,457</a:t>
                      </a:r>
                    </a:p>
                  </a:txBody>
                  <a:tcPr>
                    <a:solidFill>
                      <a:srgbClr val="FFFFFF"/>
                    </a:solidFill>
                  </a:tcPr>
                </a:tc>
                <a:tc>
                  <a:txBody>
                    <a:bodyPr/>
                    <a:lstStyle/>
                    <a:p>
                      <a:pPr algn="ctr"/>
                      <a:r>
                        <a:rPr sz="1100" b="0">
                          <a:solidFill>
                            <a:srgbClr val="434343"/>
                          </a:solidFill>
                          <a:latin typeface="Montserrat"/>
                        </a:rPr>
                        <a:t>6,925,623</a:t>
                      </a:r>
                    </a:p>
                  </a:txBody>
                  <a:tcPr>
                    <a:solidFill>
                      <a:srgbClr val="FFFFFF"/>
                    </a:solidFill>
                  </a:tcPr>
                </a:tc>
                <a:tc>
                  <a:txBody>
                    <a:bodyPr/>
                    <a:lstStyle/>
                    <a:p>
                      <a:pPr algn="ctr"/>
                      <a:r>
                        <a:rPr sz="1100" b="0">
                          <a:solidFill>
                            <a:srgbClr val="434343"/>
                          </a:solidFill>
                          <a:latin typeface="Montserrat"/>
                        </a:rPr>
                        <a:t>85.7%</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556,876</a:t>
                      </a:r>
                    </a:p>
                  </a:txBody>
                  <a:tcPr>
                    <a:solidFill>
                      <a:srgbClr val="D9D9D9"/>
                    </a:solidFill>
                  </a:tcPr>
                </a:tc>
                <a:tc>
                  <a:txBody>
                    <a:bodyPr/>
                    <a:lstStyle/>
                    <a:p>
                      <a:pPr algn="ctr"/>
                      <a:r>
                        <a:rPr sz="1100" b="1">
                          <a:solidFill>
                            <a:srgbClr val="006455"/>
                          </a:solidFill>
                          <a:latin typeface="Montserrat"/>
                        </a:rPr>
                        <a:t>7,895,998</a:t>
                      </a:r>
                    </a:p>
                  </a:txBody>
                  <a:tcPr>
                    <a:solidFill>
                      <a:srgbClr val="D9D9D9"/>
                    </a:solidFill>
                  </a:tcPr>
                </a:tc>
                <a:tc>
                  <a:txBody>
                    <a:bodyPr/>
                    <a:lstStyle/>
                    <a:p>
                      <a:pPr algn="ctr"/>
                      <a:r>
                        <a:rPr sz="1100" b="1">
                          <a:solidFill>
                            <a:srgbClr val="006455"/>
                          </a:solidFill>
                          <a:latin typeface="Montserrat"/>
                        </a:rPr>
                        <a:t>93.4%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4DF-241E-4FFE-716A-5A71478EBED9}"/>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ESTADO DE MÉXICO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5.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1,433,626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858,481</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739,953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560,846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551,610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525,860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488,590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457,663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Albendazol, suspensión oral (antiparasitario)</a:t>
                      </a:r>
                    </a:p>
                  </a:txBody>
                  <a:tcPr marL="18000" marR="18000" marT="18000" marB="18000" anchor="ctr">
                    <a:solidFill>
                      <a:srgbClr val="F2F2F2"/>
                    </a:solidFill>
                  </a:tcPr>
                </a:tc>
                <a:tc>
                  <a:txBody>
                    <a:bodyPr/>
                    <a:lstStyle/>
                    <a:p>
                      <a:pPr algn="ctr">
                        <a:defRPr sz="900" b="0">
                          <a:solidFill>
                            <a:srgbClr val="333333"/>
                          </a:solidFill>
                          <a:latin typeface="Montserrat"/>
                        </a:defRPr>
                      </a:pPr>
                      <a:r>
                        <a:t>450,835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426,363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650410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42122"/>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8</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3</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43505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Resonancias</a:t>
            </a:r>
          </a:p>
          <a:p>
            <a:pPr algn="ctr"/>
            <a:r>
              <a:rPr lang="en-US" sz="700" b="1" dirty="0" err="1">
                <a:solidFill>
                  <a:srgbClr val="BC955C"/>
                </a:solidFill>
                <a:latin typeface="Montserrat"/>
              </a:rPr>
              <a:t>Magnéticas</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7" name="Table 16"/>
          <p:cNvGraphicFramePr>
            <a:graphicFrameLocks noGrp="1"/>
          </p:cNvGraphicFramePr>
          <p:nvPr/>
        </p:nvGraphicFramePr>
        <p:xfrm>
          <a:off x="1785600" y="1584000"/>
          <a:ext cx="5295600" cy="4140000"/>
        </p:xfrm>
        <a:graphic>
          <a:graphicData uri="http://schemas.openxmlformats.org/drawingml/2006/table">
            <a:tbl>
              <a:tblPr firstRow="1" bandRow="1">
                <a:tableStyleId>{5C22544A-7EE6-4342-B048-85BDC9FD1C3A}</a:tableStyleId>
              </a:tblPr>
              <a:tblGrid>
                <a:gridCol w="4176000"/>
                <a:gridCol w="1119600"/>
              </a:tblGrid>
              <a:tr h="414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4000">
                <a:tc>
                  <a:txBody>
                    <a:bodyPr/>
                    <a:lstStyle/>
                    <a:p>
                      <a:pPr algn="l">
                        <a:lnSpc>
                          <a:spcPct val="100000"/>
                        </a:lnSpc>
                      </a:pPr>
                      <a:r>
                        <a:rPr sz="1000">
                          <a:latin typeface="Montserrat"/>
                        </a:rPr>
                        <a:t>Reestructuración de edificio principal y edificio del área de gobierno del HGZ No. 98, Coacalco</a:t>
                      </a:r>
                    </a:p>
                  </a:txBody>
                  <a:tcPr marL="3600" marR="3600" marT="3600" marB="3600">
                    <a:solidFill>
                      <a:srgbClr val="FFFFFF"/>
                    </a:solidFill>
                  </a:tcPr>
                </a:tc>
                <a:tc>
                  <a:txBody>
                    <a:bodyPr/>
                    <a:lstStyle/>
                    <a:p>
                      <a:pPr algn="ctr">
                        <a:lnSpc>
                          <a:spcPct val="100000"/>
                        </a:lnSpc>
                      </a:pPr>
                      <a:r>
                        <a:rPr sz="1000">
                          <a:latin typeface="Montserrat"/>
                        </a:rPr>
                        <a:t>$634.7</a:t>
                      </a:r>
                    </a:p>
                  </a:txBody>
                  <a:tcPr marL="3600" marR="3600" marT="3600" marB="3600">
                    <a:solidFill>
                      <a:srgbClr val="FFFFFF"/>
                    </a:solidFill>
                  </a:tcPr>
                </a:tc>
              </a:tr>
              <a:tr h="414000">
                <a:tc>
                  <a:txBody>
                    <a:bodyPr/>
                    <a:lstStyle/>
                    <a:p>
                      <a:pPr algn="l">
                        <a:lnSpc>
                          <a:spcPct val="100000"/>
                        </a:lnSpc>
                      </a:pPr>
                      <a:r>
                        <a:rPr sz="1000">
                          <a:latin typeface="Montserrat"/>
                        </a:rPr>
                        <a:t>UMF 93 Cerro Gordo</a:t>
                      </a:r>
                    </a:p>
                  </a:txBody>
                  <a:tcPr marL="3600" marR="3600" marT="3600" marB="3600">
                    <a:solidFill>
                      <a:srgbClr val="D9D9D9"/>
                    </a:solidFill>
                  </a:tcPr>
                </a:tc>
                <a:tc>
                  <a:txBody>
                    <a:bodyPr/>
                    <a:lstStyle/>
                    <a:p>
                      <a:pPr algn="ctr">
                        <a:lnSpc>
                          <a:spcPct val="100000"/>
                        </a:lnSpc>
                      </a:pPr>
                      <a:r>
                        <a:rPr sz="1000">
                          <a:latin typeface="Montserrat"/>
                        </a:rPr>
                        <a:t>$532.7</a:t>
                      </a:r>
                    </a:p>
                  </a:txBody>
                  <a:tcPr marL="3600" marR="3600" marT="3600" marB="3600">
                    <a:solidFill>
                      <a:srgbClr val="D9D9D9"/>
                    </a:solidFill>
                  </a:tcPr>
                </a:tc>
              </a:tr>
              <a:tr h="414000">
                <a:tc>
                  <a:txBody>
                    <a:bodyPr/>
                    <a:lstStyle/>
                    <a:p>
                      <a:pPr algn="l">
                        <a:lnSpc>
                          <a:spcPct val="100000"/>
                        </a:lnSpc>
                      </a:pPr>
                      <a:r>
                        <a:rPr sz="1000">
                          <a:latin typeface="Montserrat"/>
                        </a:rPr>
                        <a:t>Construcción y Equipamiento del Centro Oncológico en Hospital de Metepec</a:t>
                      </a:r>
                    </a:p>
                  </a:txBody>
                  <a:tcPr marL="3600" marR="3600" marT="3600" marB="3600">
                    <a:solidFill>
                      <a:srgbClr val="FFFFFF"/>
                    </a:solidFill>
                  </a:tcPr>
                </a:tc>
                <a:tc>
                  <a:txBody>
                    <a:bodyPr/>
                    <a:lstStyle/>
                    <a:p>
                      <a:pPr algn="ctr">
                        <a:lnSpc>
                          <a:spcPct val="100000"/>
                        </a:lnSpc>
                      </a:pPr>
                      <a:r>
                        <a:rPr sz="1000">
                          <a:latin typeface="Montserrat"/>
                        </a:rPr>
                        <a:t>$250.0</a:t>
                      </a:r>
                    </a:p>
                  </a:txBody>
                  <a:tcPr marL="3600" marR="3600" marT="3600" marB="3600">
                    <a:solidFill>
                      <a:srgbClr val="FFFFFF"/>
                    </a:solidFill>
                  </a:tcPr>
                </a:tc>
              </a:tr>
              <a:tr h="414000">
                <a:tc>
                  <a:txBody>
                    <a:bodyPr/>
                    <a:lstStyle/>
                    <a:p>
                      <a:pPr algn="l">
                        <a:lnSpc>
                          <a:spcPct val="100000"/>
                        </a:lnSpc>
                      </a:pPr>
                      <a:r>
                        <a:rPr sz="1000">
                          <a:latin typeface="Montserrat"/>
                        </a:rPr>
                        <a:t>Instalación de dispositivos de control en pilotes de 5 edificios del HGR No. 196, Ecatepec</a:t>
                      </a:r>
                    </a:p>
                  </a:txBody>
                  <a:tcPr marL="3600" marR="3600" marT="3600" marB="3600">
                    <a:solidFill>
                      <a:srgbClr val="D9D9D9"/>
                    </a:solidFill>
                  </a:tcPr>
                </a:tc>
                <a:tc>
                  <a:txBody>
                    <a:bodyPr/>
                    <a:lstStyle/>
                    <a:p>
                      <a:pPr algn="ctr">
                        <a:lnSpc>
                          <a:spcPct val="100000"/>
                        </a:lnSpc>
                      </a:pPr>
                      <a:r>
                        <a:rPr sz="1000">
                          <a:latin typeface="Montserrat"/>
                        </a:rPr>
                        <a:t>$70.5</a:t>
                      </a:r>
                    </a:p>
                  </a:txBody>
                  <a:tcPr marL="3600" marR="3600" marT="3600" marB="3600">
                    <a:solidFill>
                      <a:srgbClr val="D9D9D9"/>
                    </a:solidFill>
                  </a:tcPr>
                </a:tc>
              </a:tr>
              <a:tr h="414000">
                <a:tc>
                  <a:txBody>
                    <a:bodyPr/>
                    <a:lstStyle/>
                    <a:p>
                      <a:pPr algn="l">
                        <a:lnSpc>
                          <a:spcPct val="100000"/>
                        </a:lnSpc>
                      </a:pPr>
                      <a:r>
                        <a:rPr sz="1000">
                          <a:latin typeface="Montserrat"/>
                        </a:rPr>
                        <a:t>Nuevas Salas de Hemodinamia en el HGR 251 Metepec (Etapa 2)  y HGZ N° 197  Texcoco</a:t>
                      </a:r>
                    </a:p>
                  </a:txBody>
                  <a:tcPr marL="3600" marR="3600" marT="3600" marB="3600">
                    <a:solidFill>
                      <a:srgbClr val="FFFFFF"/>
                    </a:solidFill>
                  </a:tcPr>
                </a:tc>
                <a:tc>
                  <a:txBody>
                    <a:bodyPr/>
                    <a:lstStyle/>
                    <a:p>
                      <a:pPr algn="ctr">
                        <a:lnSpc>
                          <a:spcPct val="100000"/>
                        </a:lnSpc>
                      </a:pPr>
                      <a:r>
                        <a:rPr sz="1000">
                          <a:latin typeface="Montserrat"/>
                        </a:rPr>
                        <a:t>$66.7</a:t>
                      </a:r>
                    </a:p>
                  </a:txBody>
                  <a:tcPr marL="3600" marR="3600" marT="3600" marB="3600">
                    <a:solidFill>
                      <a:srgbClr val="FFFFFF"/>
                    </a:solidFill>
                  </a:tcPr>
                </a:tc>
              </a:tr>
              <a:tr h="414000">
                <a:tc>
                  <a:txBody>
                    <a:bodyPr/>
                    <a:lstStyle/>
                    <a:p>
                      <a:pPr algn="l">
                        <a:lnSpc>
                          <a:spcPct val="100000"/>
                        </a:lnSpc>
                      </a:pPr>
                      <a:r>
                        <a:rPr sz="1000">
                          <a:latin typeface="Montserrat"/>
                        </a:rPr>
                        <a:t>Velatorio de 4 capillas, Santiago Tlaxomulco, Toluca</a:t>
                      </a:r>
                    </a:p>
                  </a:txBody>
                  <a:tcPr marL="3600" marR="3600" marT="3600" marB="3600">
                    <a:solidFill>
                      <a:srgbClr val="D9D9D9"/>
                    </a:solidFill>
                  </a:tcPr>
                </a:tc>
                <a:tc>
                  <a:txBody>
                    <a:bodyPr/>
                    <a:lstStyle/>
                    <a:p>
                      <a:pPr algn="ctr">
                        <a:lnSpc>
                          <a:spcPct val="100000"/>
                        </a:lnSpc>
                      </a:pPr>
                      <a:r>
                        <a:rPr sz="1000">
                          <a:latin typeface="Montserrat"/>
                        </a:rPr>
                        <a:t>$45.8</a:t>
                      </a:r>
                    </a:p>
                  </a:txBody>
                  <a:tcPr marL="3600" marR="3600" marT="3600" marB="3600">
                    <a:solidFill>
                      <a:srgbClr val="D9D9D9"/>
                    </a:solidFill>
                  </a:tcPr>
                </a:tc>
              </a:tr>
              <a:tr h="414000">
                <a:tc>
                  <a:txBody>
                    <a:bodyPr/>
                    <a:lstStyle/>
                    <a:p>
                      <a:pPr algn="l">
                        <a:lnSpc>
                          <a:spcPct val="100000"/>
                        </a:lnSpc>
                      </a:pPr>
                      <a:r>
                        <a:rPr sz="1000">
                          <a:latin typeface="Montserrat"/>
                        </a:rPr>
                        <a:t>Nuevas Sala de Hemodinamia en el HGZ No. 2, Irapuato.</a:t>
                      </a:r>
                    </a:p>
                  </a:txBody>
                  <a:tcPr marL="3600" marR="3600" marT="3600" marB="3600">
                    <a:solidFill>
                      <a:srgbClr val="FFFFFF"/>
                    </a:solidFill>
                  </a:tcPr>
                </a:tc>
                <a:tc>
                  <a:txBody>
                    <a:bodyPr/>
                    <a:lstStyle/>
                    <a:p>
                      <a:pPr algn="ctr">
                        <a:lnSpc>
                          <a:spcPct val="100000"/>
                        </a:lnSpc>
                      </a:pPr>
                      <a:r>
                        <a:rPr sz="1000">
                          <a:latin typeface="Montserrat"/>
                        </a:rPr>
                        <a:t>$35.0</a:t>
                      </a:r>
                    </a:p>
                  </a:txBody>
                  <a:tcPr marL="3600" marR="3600" marT="3600" marB="3600">
                    <a:solidFill>
                      <a:srgbClr val="FFFFFF"/>
                    </a:solidFill>
                  </a:tcPr>
                </a:tc>
              </a:tr>
              <a:tr h="414000">
                <a:tc>
                  <a:txBody>
                    <a:bodyPr/>
                    <a:lstStyle/>
                    <a:p>
                      <a:pPr algn="l">
                        <a:lnSpc>
                          <a:spcPct val="100000"/>
                        </a:lnSpc>
                      </a:pPr>
                      <a:r>
                        <a:rPr sz="1000">
                          <a:latin typeface="Montserrat"/>
                        </a:rPr>
                        <a:t>Demolición del edificio del área de farmacia HGZ/MF No. 68, Ecatepec</a:t>
                      </a:r>
                    </a:p>
                  </a:txBody>
                  <a:tcPr marL="3600" marR="3600" marT="3600" marB="3600">
                    <a:solidFill>
                      <a:srgbClr val="D9D9D9"/>
                    </a:solidFill>
                  </a:tcPr>
                </a:tc>
                <a:tc>
                  <a:txBody>
                    <a:bodyPr/>
                    <a:lstStyle/>
                    <a:p>
                      <a:pPr algn="ctr">
                        <a:lnSpc>
                          <a:spcPct val="100000"/>
                        </a:lnSpc>
                      </a:pPr>
                      <a:r>
                        <a:rPr sz="1000">
                          <a:latin typeface="Montserrat"/>
                        </a:rPr>
                        <a:t>$1.4</a:t>
                      </a:r>
                    </a:p>
                  </a:txBody>
                  <a:tcPr marL="3600" marR="3600" marT="3600" marB="3600">
                    <a:solidFill>
                      <a:srgbClr val="D9D9D9"/>
                    </a:solidFill>
                  </a:tcPr>
                </a:tc>
              </a:tr>
              <a:tr h="414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$1,636.8</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5904000"/>
          <a:ext cx="5295600" cy="5760000"/>
        </p:xfrm>
        <a:graphic>
          <a:graphicData uri="http://schemas.openxmlformats.org/drawingml/2006/table">
            <a:tbl>
              <a:tblPr firstRow="1" bandRow="1">
                <a:tableStyleId>{5C22544A-7EE6-4342-B048-85BDC9FD1C3A}</a:tableStyleId>
              </a:tblPr>
              <a:tblGrid>
                <a:gridCol w="4176000"/>
                <a:gridCol w="1119600"/>
              </a:tblGrid>
              <a:tr h="523636">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23636">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$1,248.6</a:t>
                      </a:r>
                    </a:p>
                  </a:txBody>
                  <a:tcPr marL="3600" marR="3600" marT="3600" marB="3600">
                    <a:solidFill>
                      <a:srgbClr val="FFFFFF"/>
                    </a:solidFill>
                  </a:tcPr>
                </a:tc>
              </a:tr>
              <a:tr h="523636">
                <a:tc>
                  <a:txBody>
                    <a:bodyPr/>
                    <a:lstStyle/>
                    <a:p>
                      <a:pPr algn="l">
                        <a:lnSpc>
                          <a:spcPct val="100000"/>
                        </a:lnSpc>
                      </a:pPr>
                      <a:r>
                        <a:rPr sz="1000">
                          <a:latin typeface="Montserrat"/>
                        </a:rPr>
                        <a:t>Remodelación y mejora de imagen en el HGZ No. 68 Tultepac y HGZMF No. 76 Xalostoc</a:t>
                      </a:r>
                    </a:p>
                  </a:txBody>
                  <a:tcPr marL="3600" marR="3600" marT="3600" marB="3600">
                    <a:solidFill>
                      <a:srgbClr val="D9D9D9"/>
                    </a:solidFill>
                  </a:tcPr>
                </a:tc>
                <a:tc>
                  <a:txBody>
                    <a:bodyPr/>
                    <a:lstStyle/>
                    <a:p>
                      <a:pPr algn="ctr">
                        <a:lnSpc>
                          <a:spcPct val="100000"/>
                        </a:lnSpc>
                      </a:pPr>
                      <a:r>
                        <a:rPr sz="1000">
                          <a:latin typeface="Montserrat"/>
                        </a:rPr>
                        <a:t>$157.7</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residencias médicas en 29 unidades, Estado de México</a:t>
                      </a:r>
                    </a:p>
                  </a:txBody>
                  <a:tcPr marL="3600" marR="3600" marT="3600" marB="3600">
                    <a:solidFill>
                      <a:srgbClr val="FFFFFF"/>
                    </a:solidFill>
                  </a:tcPr>
                </a:tc>
                <a:tc>
                  <a:txBody>
                    <a:bodyPr/>
                    <a:lstStyle/>
                    <a:p>
                      <a:pPr algn="ctr">
                        <a:lnSpc>
                          <a:spcPct val="100000"/>
                        </a:lnSpc>
                      </a:pPr>
                      <a:r>
                        <a:rPr sz="1000">
                          <a:latin typeface="Montserrat"/>
                        </a:rPr>
                        <a:t>$149.6</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terapia intensiva en 8 unidades (HGR  No.196 Ecatepec de Morelos, HGR No. 200 Tecámac, HGR No.72 Tlalnepantla, HGZ No.194 Naucalpan, HGZ No. 58 Tlalnepantla, HGR No. 251 Metepec, HGR No. 220 Toluca, H. de Traum. y Ortopedia. L. Verdes Naucalpan)</a:t>
                      </a:r>
                    </a:p>
                  </a:txBody>
                  <a:tcPr marL="3600" marR="3600" marT="3600" marB="3600">
                    <a:solidFill>
                      <a:srgbClr val="D9D9D9"/>
                    </a:solidFill>
                  </a:tcPr>
                </a:tc>
                <a:tc>
                  <a:txBody>
                    <a:bodyPr/>
                    <a:lstStyle/>
                    <a:p>
                      <a:pPr algn="ctr">
                        <a:lnSpc>
                          <a:spcPct val="100000"/>
                        </a:lnSpc>
                      </a:pPr>
                      <a:r>
                        <a:rPr sz="1000">
                          <a:latin typeface="Montserrat"/>
                        </a:rPr>
                        <a:t>$131.1</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accesibilidad (rampas) en 18 unidades, Estado de México</a:t>
                      </a:r>
                    </a:p>
                  </a:txBody>
                  <a:tcPr marL="3600" marR="3600" marT="3600" marB="3600">
                    <a:solidFill>
                      <a:srgbClr val="FFFFFF"/>
                    </a:solidFill>
                  </a:tcPr>
                </a:tc>
                <a:tc>
                  <a:txBody>
                    <a:bodyPr/>
                    <a:lstStyle/>
                    <a:p>
                      <a:pPr algn="ctr">
                        <a:lnSpc>
                          <a:spcPct val="100000"/>
                        </a:lnSpc>
                      </a:pPr>
                      <a:r>
                        <a:rPr sz="1000">
                          <a:latin typeface="Montserrat"/>
                        </a:rPr>
                        <a:t>$39.0</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Atención Médica Continua en 4 unidades (UMF No.55 Zumpango, UMF No.70 Ixtapaluca, UMF No.74 Tlalmanalco, UMF No.84 Chimalhuacán)</a:t>
                      </a:r>
                    </a:p>
                  </a:txBody>
                  <a:tcPr marL="3600" marR="3600" marT="3600" marB="3600">
                    <a:solidFill>
                      <a:srgbClr val="D9D9D9"/>
                    </a:solidFill>
                  </a:tcPr>
                </a:tc>
                <a:tc>
                  <a:txBody>
                    <a:bodyPr/>
                    <a:lstStyle/>
                    <a:p>
                      <a:pPr algn="ctr">
                        <a:lnSpc>
                          <a:spcPct val="100000"/>
                        </a:lnSpc>
                      </a:pPr>
                      <a:r>
                        <a:rPr sz="1000">
                          <a:latin typeface="Montserrat"/>
                        </a:rPr>
                        <a:t>$17.9</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mejora en Subdelegacion Toluca</a:t>
                      </a:r>
                    </a:p>
                  </a:txBody>
                  <a:tcPr marL="3600" marR="3600" marT="3600" marB="3600">
                    <a:solidFill>
                      <a:srgbClr val="FFFFFF"/>
                    </a:solidFill>
                  </a:tcPr>
                </a:tc>
                <a:tc>
                  <a:txBody>
                    <a:bodyPr/>
                    <a:lstStyle/>
                    <a:p>
                      <a:pPr algn="ctr">
                        <a:lnSpc>
                          <a:spcPct val="100000"/>
                        </a:lnSpc>
                      </a:pPr>
                      <a:r>
                        <a:rPr sz="1000">
                          <a:latin typeface="Montserrat"/>
                        </a:rPr>
                        <a:t>$10.9</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hemodiálisis interna en 3 unidades (UMAA  No.199 Tlalnepantla, HGR No.251 Metepec, UMAA No. 231 Metepec)</a:t>
                      </a:r>
                    </a:p>
                  </a:txBody>
                  <a:tcPr marL="3600" marR="3600" marT="3600" marB="3600">
                    <a:solidFill>
                      <a:srgbClr val="D9D9D9"/>
                    </a:solidFill>
                  </a:tcPr>
                </a:tc>
                <a:tc>
                  <a:txBody>
                    <a:bodyPr/>
                    <a:lstStyle/>
                    <a:p>
                      <a:pPr algn="ctr">
                        <a:lnSpc>
                          <a:spcPct val="100000"/>
                        </a:lnSpc>
                      </a:pPr>
                      <a:r>
                        <a:rPr sz="1000">
                          <a:latin typeface="Montserrat"/>
                        </a:rPr>
                        <a:t>$8.5</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salud mental en UMAE HTO Lomas Verdes</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r h="52364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$1,763.9</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1844000"/>
          <a:ext cx="5295600" cy="1800000"/>
        </p:xfrm>
        <a:graphic>
          <a:graphicData uri="http://schemas.openxmlformats.org/drawingml/2006/table">
            <a:tbl>
              <a:tblPr firstRow="1" bandRow="1">
                <a:tableStyleId>{5C22544A-7EE6-4342-B048-85BDC9FD1C3A}</a:tableStyleId>
              </a:tblPr>
              <a:tblGrid>
                <a:gridCol w="4176000"/>
                <a:gridCol w="1119600"/>
              </a:tblGrid>
              <a:tr h="90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00000">
                <a:tc>
                  <a:txBody>
                    <a:bodyPr/>
                    <a:lstStyle/>
                    <a:p>
                      <a:pPr algn="l">
                        <a:lnSpc>
                          <a:spcPct val="100000"/>
                        </a:lnSpc>
                      </a:pPr>
                      <a:r>
                        <a:rPr sz="1000">
                          <a:latin typeface="Montserrat"/>
                        </a:rPr>
                        <a:t>Adquisición de 37  piezas de equipo médico: 2 congeladores horizontales de refrigerantes para vacunas, 8 refrigeradores para vacunas, 14 refrigeradores congeladores de 5.4 pies cúbicos, 2 monitores de signos vitales para el traslado del paciente (con protección antimagnética), 2 unidades de anestesia básica (con protección antimagnética), 2 resonancias magneticas, 4 tomógrafos axiales computarizados de alta resolución, 3 mastógrafos</a:t>
                      </a:r>
                    </a:p>
                  </a:txBody>
                  <a:tcPr marL="3600" marR="3600" marT="3600" marB="3600">
                    <a:solidFill>
                      <a:srgbClr val="FFFFFF"/>
                    </a:solidFill>
                  </a:tcPr>
                </a:tc>
                <a:tc>
                  <a:txBody>
                    <a:bodyPr/>
                    <a:lstStyle/>
                    <a:p>
                      <a:pPr algn="ctr">
                        <a:lnSpc>
                          <a:spcPct val="100000"/>
                        </a:lnSpc>
                      </a:pPr>
                      <a:r>
                        <a:rPr sz="1000">
                          <a:latin typeface="Montserrat"/>
                        </a:rPr>
                        <a:t>$216.4</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38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$92.7</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3,709.8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55374"/>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dirty="0" err="1">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2982101"/>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rPr>
              <a:t>Hospitales</a:t>
            </a:r>
            <a:r>
              <a:rPr lang="en-US" sz="800" b="1" dirty="0">
                <a:solidFill>
                  <a:srgbClr val="A42145"/>
                </a:solidFill>
                <a:latin typeface="Montserrat"/>
              </a:rPr>
              <a:t> </a:t>
            </a:r>
          </a:p>
          <a:p>
            <a:pPr algn="ctr"/>
            <a:r>
              <a:rPr lang="en-US" sz="800" b="1" dirty="0">
                <a:solidFill>
                  <a:srgbClr val="A42145"/>
                </a:solidFill>
                <a:latin typeface="Montserrat"/>
              </a:rPr>
              <a:t>de </a:t>
            </a:r>
            <a:r>
              <a:rPr lang="en-US" sz="800" b="1" dirty="0" err="1">
                <a:solidFill>
                  <a:srgbClr val="A42145"/>
                </a:solidFill>
                <a:latin typeface="Montserrat"/>
              </a:rPr>
              <a:t>Rescate</a:t>
            </a:r>
            <a:endParaRPr lang="en-US" dirty="0" err="1"/>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76683" y="3864913"/>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26437" y="398779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7</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UMF Plus</a:t>
            </a:r>
            <a:endParaRPr lang="en-US"/>
          </a:p>
        </p:txBody>
      </p:sp>
      <p:pic>
        <p:nvPicPr>
          <p:cNvPr id="12" name="Imagen 11" descr="Forma, Círculo&#10;&#10;El contenido generado por IA puede ser incorrecto.">
            <a:extLst>
              <a:ext uri="{FF2B5EF4-FFF2-40B4-BE49-F238E27FC236}">
                <a16:creationId xmlns:a16="http://schemas.microsoft.com/office/drawing/2014/main" id="{3EB238C3-5060-D10D-CC98-8FDAAA6A1C4D}"/>
              </a:ext>
            </a:extLst>
          </p:cNvPr>
          <p:cNvPicPr>
            <a:picLocks noChangeAspect="1"/>
          </p:cNvPicPr>
          <p:nvPr/>
        </p:nvPicPr>
        <p:blipFill>
          <a:blip r:embed="rId5"/>
          <a:stretch>
            <a:fillRect/>
          </a:stretch>
        </p:blipFill>
        <p:spPr>
          <a:xfrm>
            <a:off x="301719" y="4799682"/>
            <a:ext cx="872667" cy="849944"/>
          </a:xfrm>
          <a:prstGeom prst="rect">
            <a:avLst/>
          </a:prstGeom>
        </p:spPr>
      </p:pic>
      <p:sp>
        <p:nvSpPr>
          <p:cNvPr id="13" name="CuadroTexto 11">
            <a:extLst>
              <a:ext uri="{FF2B5EF4-FFF2-40B4-BE49-F238E27FC236}">
                <a16:creationId xmlns:a16="http://schemas.microsoft.com/office/drawing/2014/main" id="{BB4AECBC-F01A-1186-A589-94289AC5A2ED}"/>
              </a:ext>
            </a:extLst>
          </p:cNvPr>
          <p:cNvSpPr txBox="1"/>
          <p:nvPr/>
        </p:nvSpPr>
        <p:spPr>
          <a:xfrm>
            <a:off x="-1200910" y="4922561"/>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4</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CECI</a:t>
            </a:r>
            <a:endParaRPr lang="en-US" sz="800" b="1" dirty="0">
              <a:solidFill>
                <a:srgbClr val="A42145"/>
              </a:solidFill>
              <a:latin typeface="Montserrat"/>
            </a:endParaRPr>
          </a:p>
        </p:txBody>
      </p:sp>
      <p:sp>
        <p:nvSpPr>
          <p:cNvPr id="14" name="TextBox 1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5" name="Table 14"/>
          <p:cNvGraphicFramePr>
            <a:graphicFrameLocks noGrp="1"/>
          </p:cNvGraphicFramePr>
          <p:nvPr/>
        </p:nvGraphicFramePr>
        <p:xfrm>
          <a:off x="1785600" y="1584000"/>
          <a:ext cx="5396400" cy="7307971"/>
        </p:xfrm>
        <a:graphic>
          <a:graphicData uri="http://schemas.openxmlformats.org/drawingml/2006/table">
            <a:tbl>
              <a:tblPr firstRow="1" bandRow="1">
                <a:tableStyleId>{5C22544A-7EE6-4342-B048-85BDC9FD1C3A}</a:tableStyleId>
              </a:tblPr>
              <a:tblGrid>
                <a:gridCol w="4255200"/>
                <a:gridCol w="1141200"/>
              </a:tblGrid>
              <a:tr h="45674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456748">
                <a:tc>
                  <a:txBody>
                    <a:bodyPr/>
                    <a:lstStyle/>
                    <a:p>
                      <a:pPr algn="l">
                        <a:lnSpc>
                          <a:spcPct val="100000"/>
                        </a:lnSpc>
                      </a:pPr>
                      <a:r>
                        <a:rPr sz="1000">
                          <a:latin typeface="Montserrat"/>
                        </a:rPr>
                        <a:t>HGR 260 camas, Chimalhuacán</a:t>
                      </a:r>
                    </a:p>
                  </a:txBody>
                  <a:tcPr marL="3600" marR="3600" marT="3600" marB="3600">
                    <a:solidFill>
                      <a:srgbClr val="FFFFFF"/>
                    </a:solidFill>
                  </a:tcPr>
                </a:tc>
                <a:tc>
                  <a:txBody>
                    <a:bodyPr/>
                    <a:lstStyle/>
                    <a:p>
                      <a:pPr algn="ctr">
                        <a:lnSpc>
                          <a:spcPct val="100000"/>
                        </a:lnSpc>
                      </a:pPr>
                      <a:r>
                        <a:rPr sz="1000">
                          <a:latin typeface="Montserrat"/>
                        </a:rPr>
                        <a:t>$3,690.0</a:t>
                      </a:r>
                    </a:p>
                  </a:txBody>
                  <a:tcPr marL="3600" marR="3600" marT="3600" marB="3600">
                    <a:solidFill>
                      <a:srgbClr val="FFFFFF"/>
                    </a:solidFill>
                  </a:tcPr>
                </a:tc>
              </a:tr>
              <a:tr h="456748">
                <a:tc>
                  <a:txBody>
                    <a:bodyPr/>
                    <a:lstStyle/>
                    <a:p>
                      <a:pPr algn="l">
                        <a:lnSpc>
                          <a:spcPct val="100000"/>
                        </a:lnSpc>
                      </a:pPr>
                      <a:r>
                        <a:rPr sz="1000">
                          <a:latin typeface="Montserrat"/>
                        </a:rPr>
                        <a:t>HGZ 144 camas, Nezahualcóyotl</a:t>
                      </a:r>
                    </a:p>
                  </a:txBody>
                  <a:tcPr marL="3600" marR="3600" marT="3600" marB="3600">
                    <a:solidFill>
                      <a:srgbClr val="D9D9D9"/>
                    </a:solidFill>
                  </a:tcPr>
                </a:tc>
                <a:tc>
                  <a:txBody>
                    <a:bodyPr/>
                    <a:lstStyle/>
                    <a:p>
                      <a:pPr algn="ctr">
                        <a:lnSpc>
                          <a:spcPct val="100000"/>
                        </a:lnSpc>
                      </a:pPr>
                      <a:r>
                        <a:rPr sz="1000">
                          <a:latin typeface="Montserrat"/>
                        </a:rPr>
                        <a:t>$2,128.0</a:t>
                      </a:r>
                    </a:p>
                  </a:txBody>
                  <a:tcPr marL="3600" marR="3600" marT="3600" marB="3600">
                    <a:solidFill>
                      <a:srgbClr val="D9D9D9"/>
                    </a:solidFill>
                  </a:tcPr>
                </a:tc>
              </a:tr>
              <a:tr h="456748">
                <a:tc>
                  <a:txBody>
                    <a:bodyPr/>
                    <a:lstStyle/>
                    <a:p>
                      <a:pPr algn="l">
                        <a:lnSpc>
                          <a:spcPct val="100000"/>
                        </a:lnSpc>
                      </a:pPr>
                      <a:r>
                        <a:rPr sz="1000">
                          <a:latin typeface="Montserrat"/>
                        </a:rPr>
                        <a:t>Hospital Oncológico de Ecatepec, 40 camas (Rescate)</a:t>
                      </a:r>
                    </a:p>
                  </a:txBody>
                  <a:tcPr marL="3600" marR="3600" marT="3600" marB="3600">
                    <a:solidFill>
                      <a:srgbClr val="FFFFFF"/>
                    </a:solidFill>
                  </a:tcPr>
                </a:tc>
                <a:tc>
                  <a:txBody>
                    <a:bodyPr/>
                    <a:lstStyle/>
                    <a:p>
                      <a:pPr algn="ctr">
                        <a:lnSpc>
                          <a:spcPct val="100000"/>
                        </a:lnSpc>
                      </a:pPr>
                      <a:r>
                        <a:rPr sz="1000">
                          <a:latin typeface="Montserrat"/>
                        </a:rPr>
                        <a:t>$1,500.0</a:t>
                      </a:r>
                    </a:p>
                  </a:txBody>
                  <a:tcPr marL="3600" marR="3600" marT="3600" marB="3600">
                    <a:solidFill>
                      <a:srgbClr val="FFFFFF"/>
                    </a:solidFill>
                  </a:tcPr>
                </a:tc>
              </a:tr>
              <a:tr h="456748">
                <a:tc>
                  <a:txBody>
                    <a:bodyPr/>
                    <a:lstStyle/>
                    <a:p>
                      <a:pPr algn="l">
                        <a:lnSpc>
                          <a:spcPct val="100000"/>
                        </a:lnSpc>
                      </a:pPr>
                      <a:r>
                        <a:rPr sz="1000">
                          <a:latin typeface="Montserrat"/>
                        </a:rPr>
                        <a:t>UMF Tequesquinahuac/Tlalnepantla (60 CMF + 20 Enfermería + Urgencias + 8 Especialidades + MFR + Hemodiálisis)</a:t>
                      </a:r>
                    </a:p>
                  </a:txBody>
                  <a:tcPr marL="3600" marR="3600" marT="3600" marB="3600">
                    <a:solidFill>
                      <a:srgbClr val="D9D9D9"/>
                    </a:solidFill>
                  </a:tcPr>
                </a:tc>
                <a:tc>
                  <a:txBody>
                    <a:bodyPr/>
                    <a:lstStyle/>
                    <a:p>
                      <a:pPr algn="ctr">
                        <a:lnSpc>
                          <a:spcPct val="100000"/>
                        </a:lnSpc>
                      </a:pPr>
                      <a:r>
                        <a:rPr sz="1000">
                          <a:latin typeface="Montserrat"/>
                        </a:rPr>
                        <a:t>$705.6</a:t>
                      </a:r>
                    </a:p>
                  </a:txBody>
                  <a:tcPr marL="3600" marR="3600" marT="3600" marB="3600">
                    <a:solidFill>
                      <a:srgbClr val="D9D9D9"/>
                    </a:solidFill>
                  </a:tcPr>
                </a:tc>
              </a:tr>
              <a:tr h="456748">
                <a:tc>
                  <a:txBody>
                    <a:bodyPr/>
                    <a:lstStyle/>
                    <a:p>
                      <a:pPr algn="l">
                        <a:lnSpc>
                          <a:spcPct val="100000"/>
                        </a:lnSpc>
                      </a:pPr>
                      <a:r>
                        <a:rPr sz="1000">
                          <a:latin typeface="Montserrat"/>
                        </a:rPr>
                        <a:t>UMF Texcoco (60 CMF + 20 Enfermería + Urgencias + 8 Especialidades + MFR + Hemodiálisis)</a:t>
                      </a:r>
                    </a:p>
                  </a:txBody>
                  <a:tcPr marL="3600" marR="3600" marT="3600" marB="3600">
                    <a:solidFill>
                      <a:srgbClr val="FFFFFF"/>
                    </a:solidFill>
                  </a:tcPr>
                </a:tc>
                <a:tc>
                  <a:txBody>
                    <a:bodyPr/>
                    <a:lstStyle/>
                    <a:p>
                      <a:pPr algn="ctr">
                        <a:lnSpc>
                          <a:spcPct val="100000"/>
                        </a:lnSpc>
                      </a:pPr>
                      <a:r>
                        <a:rPr sz="1000">
                          <a:latin typeface="Montserrat"/>
                        </a:rPr>
                        <a:t>$705.6</a:t>
                      </a:r>
                    </a:p>
                  </a:txBody>
                  <a:tcPr marL="3600" marR="3600" marT="3600" marB="3600">
                    <a:solidFill>
                      <a:srgbClr val="FFFFFF"/>
                    </a:solidFill>
                  </a:tcPr>
                </a:tc>
              </a:tr>
              <a:tr h="456748">
                <a:tc>
                  <a:txBody>
                    <a:bodyPr/>
                    <a:lstStyle/>
                    <a:p>
                      <a:pPr algn="l">
                        <a:lnSpc>
                          <a:spcPct val="100000"/>
                        </a:lnSpc>
                      </a:pPr>
                      <a:r>
                        <a:rPr sz="1000">
                          <a:latin typeface="Montserrat"/>
                        </a:rPr>
                        <a:t>UMF Valle de Chalco (40 CMF + 15 EEMF + Urgencias + 8 Especialidades + MFR + Hemodiálisis)</a:t>
                      </a:r>
                    </a:p>
                  </a:txBody>
                  <a:tcPr marL="3600" marR="3600" marT="3600" marB="3600">
                    <a:solidFill>
                      <a:srgbClr val="D9D9D9"/>
                    </a:solidFill>
                  </a:tcPr>
                </a:tc>
                <a:tc>
                  <a:txBody>
                    <a:bodyPr/>
                    <a:lstStyle/>
                    <a:p>
                      <a:pPr algn="ctr">
                        <a:lnSpc>
                          <a:spcPct val="100000"/>
                        </a:lnSpc>
                      </a:pPr>
                      <a:r>
                        <a:rPr sz="1000">
                          <a:latin typeface="Montserrat"/>
                        </a:rPr>
                        <a:t>$657.9</a:t>
                      </a:r>
                    </a:p>
                  </a:txBody>
                  <a:tcPr marL="3600" marR="3600" marT="3600" marB="3600">
                    <a:solidFill>
                      <a:srgbClr val="D9D9D9"/>
                    </a:solidFill>
                  </a:tcPr>
                </a:tc>
              </a:tr>
              <a:tr h="456748">
                <a:tc>
                  <a:txBody>
                    <a:bodyPr/>
                    <a:lstStyle/>
                    <a:p>
                      <a:pPr algn="l">
                        <a:lnSpc>
                          <a:spcPct val="100000"/>
                        </a:lnSpc>
                      </a:pPr>
                      <a:r>
                        <a:rPr sz="1000">
                          <a:latin typeface="Montserrat"/>
                        </a:rPr>
                        <a:t>UMF Nezahualcoyotl ( 20 CMF + 8 Enfermería + Urgencias + 4 Especialidades + MFR + Hemodiálisis)</a:t>
                      </a:r>
                    </a:p>
                  </a:txBody>
                  <a:tcPr marL="3600" marR="3600" marT="3600" marB="3600">
                    <a:solidFill>
                      <a:srgbClr val="FFFFFF"/>
                    </a:solidFill>
                  </a:tcPr>
                </a:tc>
                <a:tc>
                  <a:txBody>
                    <a:bodyPr/>
                    <a:lstStyle/>
                    <a:p>
                      <a:pPr algn="ctr">
                        <a:lnSpc>
                          <a:spcPct val="100000"/>
                        </a:lnSpc>
                      </a:pPr>
                      <a:r>
                        <a:rPr sz="1000">
                          <a:latin typeface="Montserrat"/>
                        </a:rPr>
                        <a:t>$610.3</a:t>
                      </a:r>
                    </a:p>
                  </a:txBody>
                  <a:tcPr marL="3600" marR="3600" marT="3600" marB="3600">
                    <a:solidFill>
                      <a:srgbClr val="FFFFFF"/>
                    </a:solidFill>
                  </a:tcPr>
                </a:tc>
              </a:tr>
              <a:tr h="456748">
                <a:tc>
                  <a:txBody>
                    <a:bodyPr/>
                    <a:lstStyle/>
                    <a:p>
                      <a:pPr algn="l">
                        <a:lnSpc>
                          <a:spcPct val="100000"/>
                        </a:lnSpc>
                      </a:pPr>
                      <a:r>
                        <a:rPr sz="1000">
                          <a:latin typeface="Montserrat"/>
                        </a:rPr>
                        <a:t>UMF Los Reyes la Paz (20 CMF + 8 Enfermería + Urgencias + 4 Especialidades + MFR + Hemodiálisis)</a:t>
                      </a:r>
                    </a:p>
                  </a:txBody>
                  <a:tcPr marL="3600" marR="3600" marT="3600" marB="3600">
                    <a:solidFill>
                      <a:srgbClr val="D9D9D9"/>
                    </a:solidFill>
                  </a:tcPr>
                </a:tc>
                <a:tc>
                  <a:txBody>
                    <a:bodyPr/>
                    <a:lstStyle/>
                    <a:p>
                      <a:pPr algn="ctr">
                        <a:lnSpc>
                          <a:spcPct val="100000"/>
                        </a:lnSpc>
                      </a:pPr>
                      <a:r>
                        <a:rPr sz="1000">
                          <a:latin typeface="Montserrat"/>
                        </a:rPr>
                        <a:t>$610.3</a:t>
                      </a:r>
                    </a:p>
                  </a:txBody>
                  <a:tcPr marL="3600" marR="3600" marT="3600" marB="3600">
                    <a:solidFill>
                      <a:srgbClr val="D9D9D9"/>
                    </a:solidFill>
                  </a:tcPr>
                </a:tc>
              </a:tr>
              <a:tr h="456748">
                <a:tc>
                  <a:txBody>
                    <a:bodyPr/>
                    <a:lstStyle/>
                    <a:p>
                      <a:pPr algn="l">
                        <a:lnSpc>
                          <a:spcPct val="100000"/>
                        </a:lnSpc>
                      </a:pPr>
                      <a:r>
                        <a:rPr sz="1000">
                          <a:latin typeface="Montserrat"/>
                        </a:rPr>
                        <a:t>UMF Chalco (20 CMF + 8 Enfermería + Urgencias + 4 Especialidades)</a:t>
                      </a:r>
                    </a:p>
                  </a:txBody>
                  <a:tcPr marL="3600" marR="3600" marT="3600" marB="3600">
                    <a:solidFill>
                      <a:srgbClr val="FFFFFF"/>
                    </a:solidFill>
                  </a:tcPr>
                </a:tc>
                <a:tc>
                  <a:txBody>
                    <a:bodyPr/>
                    <a:lstStyle/>
                    <a:p>
                      <a:pPr algn="ctr">
                        <a:lnSpc>
                          <a:spcPct val="100000"/>
                        </a:lnSpc>
                      </a:pPr>
                      <a:r>
                        <a:rPr sz="1000">
                          <a:latin typeface="Montserrat"/>
                        </a:rPr>
                        <a:t>$490.5</a:t>
                      </a:r>
                    </a:p>
                  </a:txBody>
                  <a:tcPr marL="3600" marR="3600" marT="3600" marB="3600">
                    <a:solidFill>
                      <a:srgbClr val="FFFFFF"/>
                    </a:solidFill>
                  </a:tcPr>
                </a:tc>
              </a:tr>
              <a:tr h="456748">
                <a:tc>
                  <a:txBody>
                    <a:bodyPr/>
                    <a:lstStyle/>
                    <a:p>
                      <a:pPr algn="l">
                        <a:lnSpc>
                          <a:spcPct val="100000"/>
                        </a:lnSpc>
                      </a:pPr>
                      <a:r>
                        <a:rPr sz="1000">
                          <a:latin typeface="Montserrat"/>
                        </a:rPr>
                        <a:t>UMF Ixtapaluca (10 CMF + 5 Enfermería + Urgencias + 4 Especialidades)</a:t>
                      </a:r>
                    </a:p>
                  </a:txBody>
                  <a:tcPr marL="3600" marR="3600" marT="3600" marB="3600">
                    <a:solidFill>
                      <a:srgbClr val="D9D9D9"/>
                    </a:solidFill>
                  </a:tcPr>
                </a:tc>
                <a:tc>
                  <a:txBody>
                    <a:bodyPr/>
                    <a:lstStyle/>
                    <a:p>
                      <a:pPr algn="ctr">
                        <a:lnSpc>
                          <a:spcPct val="100000"/>
                        </a:lnSpc>
                      </a:pPr>
                      <a:r>
                        <a:rPr sz="1000">
                          <a:latin typeface="Montserrat"/>
                        </a:rPr>
                        <a:t>$444.5</a:t>
                      </a:r>
                    </a:p>
                  </a:txBody>
                  <a:tcPr marL="3600" marR="3600" marT="3600" marB="3600">
                    <a:solidFill>
                      <a:srgbClr val="D9D9D9"/>
                    </a:solidFill>
                  </a:tcPr>
                </a:tc>
              </a:tr>
              <a:tr h="456748">
                <a:tc>
                  <a:txBody>
                    <a:bodyPr/>
                    <a:lstStyle/>
                    <a:p>
                      <a:pPr algn="l">
                        <a:lnSpc>
                          <a:spcPct val="100000"/>
                        </a:lnSpc>
                      </a:pPr>
                      <a:r>
                        <a:rPr sz="1000">
                          <a:latin typeface="Montserrat"/>
                        </a:rPr>
                        <a:t>Hospital General de Subzona, Chicoloapan (Rescate)</a:t>
                      </a:r>
                    </a:p>
                  </a:txBody>
                  <a:tcPr marL="3600" marR="3600" marT="3600" marB="3600">
                    <a:solidFill>
                      <a:srgbClr val="FFFFFF"/>
                    </a:solidFill>
                  </a:tcPr>
                </a:tc>
                <a:tc>
                  <a:txBody>
                    <a:bodyPr/>
                    <a:lstStyle/>
                    <a:p>
                      <a:pPr algn="ctr">
                        <a:lnSpc>
                          <a:spcPct val="100000"/>
                        </a:lnSpc>
                      </a:pPr>
                      <a:r>
                        <a:rPr sz="1000">
                          <a:latin typeface="Montserrat"/>
                        </a:rPr>
                        <a:t>$326.3</a:t>
                      </a:r>
                    </a:p>
                  </a:txBody>
                  <a:tcPr marL="3600" marR="3600" marT="3600" marB="3600">
                    <a:solidFill>
                      <a:srgbClr val="FFFFFF"/>
                    </a:solidFill>
                  </a:tcPr>
                </a:tc>
              </a:tr>
              <a:tr h="456748">
                <a:tc>
                  <a:txBody>
                    <a:bodyPr/>
                    <a:lstStyle/>
                    <a:p>
                      <a:pPr algn="l">
                        <a:lnSpc>
                          <a:spcPct val="100000"/>
                        </a:lnSpc>
                      </a:pPr>
                      <a:r>
                        <a:rPr sz="1000">
                          <a:latin typeface="Montserrat"/>
                        </a:rPr>
                        <a:t>CECI 110 Chalco, CECI 150 Nezahualcóyotl, CECI 150 Tlalnepantla, CECI 250 Valle de Chalco</a:t>
                      </a:r>
                    </a:p>
                  </a:txBody>
                  <a:tcPr marL="3600" marR="3600" marT="3600" marB="3600">
                    <a:solidFill>
                      <a:srgbClr val="D9D9D9"/>
                    </a:solidFill>
                  </a:tcPr>
                </a:tc>
                <a:tc>
                  <a:txBody>
                    <a:bodyPr/>
                    <a:lstStyle/>
                    <a:p>
                      <a:pPr algn="ctr">
                        <a:lnSpc>
                          <a:spcPct val="100000"/>
                        </a:lnSpc>
                      </a:pPr>
                      <a:r>
                        <a:rPr sz="1000">
                          <a:latin typeface="Montserrat"/>
                        </a:rPr>
                        <a:t>$205.5</a:t>
                      </a:r>
                    </a:p>
                  </a:txBody>
                  <a:tcPr marL="3600" marR="3600" marT="3600" marB="3600">
                    <a:solidFill>
                      <a:srgbClr val="D9D9D9"/>
                    </a:solidFill>
                  </a:tcPr>
                </a:tc>
              </a:tr>
              <a:tr h="456748">
                <a:tc>
                  <a:txBody>
                    <a:bodyPr/>
                    <a:lstStyle/>
                    <a:p>
                      <a:pPr algn="l">
                        <a:lnSpc>
                          <a:spcPct val="100000"/>
                        </a:lnSpc>
                      </a:pPr>
                      <a:r>
                        <a:rPr sz="1000">
                          <a:latin typeface="Montserrat"/>
                        </a:rPr>
                        <a:t>Clínica de Hemodiálisis Ecatepec de Morelos (40 sillones)</a:t>
                      </a:r>
                    </a:p>
                  </a:txBody>
                  <a:tcPr marL="3600" marR="3600" marT="3600" marB="3600">
                    <a:solidFill>
                      <a:srgbClr val="FFFFFF"/>
                    </a:solidFill>
                  </a:tcPr>
                </a:tc>
                <a:tc>
                  <a:txBody>
                    <a:bodyPr/>
                    <a:lstStyle/>
                    <a:p>
                      <a:pPr algn="ctr">
                        <a:lnSpc>
                          <a:spcPct val="100000"/>
                        </a:lnSpc>
                      </a:pPr>
                      <a:r>
                        <a:rPr sz="1000">
                          <a:latin typeface="Montserrat"/>
                        </a:rPr>
                        <a:t>$190.0</a:t>
                      </a:r>
                    </a:p>
                  </a:txBody>
                  <a:tcPr marL="3600" marR="3600" marT="3600" marB="3600">
                    <a:solidFill>
                      <a:srgbClr val="FFFFFF"/>
                    </a:solidFill>
                  </a:tcPr>
                </a:tc>
              </a:tr>
              <a:tr h="456748">
                <a:tc>
                  <a:txBody>
                    <a:bodyPr/>
                    <a:lstStyle/>
                    <a:p>
                      <a:pPr algn="l">
                        <a:lnSpc>
                          <a:spcPct val="100000"/>
                        </a:lnSpc>
                      </a:pPr>
                      <a:r>
                        <a:rPr sz="1000">
                          <a:latin typeface="Montserrat"/>
                        </a:rPr>
                        <a:t>Centro de Capacitación para la Diálisis Ambulatoria/ Unidad de Control Metabólico Ambulatorio/ Centro de Atención a la Diabetes (En definición)</a:t>
                      </a:r>
                    </a:p>
                  </a:txBody>
                  <a:tcPr marL="3600" marR="3600" marT="3600" marB="3600">
                    <a:solidFill>
                      <a:srgbClr val="D9D9D9"/>
                    </a:solidFill>
                  </a:tcPr>
                </a:tc>
                <a:tc>
                  <a:txBody>
                    <a:bodyPr/>
                    <a:lstStyle/>
                    <a:p>
                      <a:pPr algn="ctr">
                        <a:lnSpc>
                          <a:spcPct val="100000"/>
                        </a:lnSpc>
                      </a:pPr>
                      <a:r>
                        <a:rPr sz="1000">
                          <a:latin typeface="Montserrat"/>
                        </a:rPr>
                        <a:t>$96.0</a:t>
                      </a:r>
                    </a:p>
                  </a:txBody>
                  <a:tcPr marL="3600" marR="3600" marT="3600" marB="3600">
                    <a:solidFill>
                      <a:srgbClr val="D9D9D9"/>
                    </a:solidFill>
                  </a:tcPr>
                </a:tc>
              </a:tr>
              <a:tr h="45675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$12,360.5</a:t>
                      </a:r>
                    </a:p>
                  </a:txBody>
                  <a:tcPr marL="3600" marR="3600" marT="3600" marB="3600">
                    <a:solidFill>
                      <a:srgbClr val="9F2241"/>
                    </a:solidFill>
                  </a:tcPr>
                </a:tc>
              </a:tr>
            </a:tbl>
          </a:graphicData>
        </a:graphic>
      </p:graphicFrame>
      <p:graphicFrame>
        <p:nvGraphicFramePr>
          <p:cNvPr id="16" name="Table 15"/>
          <p:cNvGraphicFramePr>
            <a:graphicFrameLocks noGrp="1"/>
          </p:cNvGraphicFramePr>
          <p:nvPr/>
        </p:nvGraphicFramePr>
        <p:xfrm>
          <a:off x="1785600" y="9071971"/>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$561.6</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HGZ 197 Texcoco, HGR 196 Fidel Velázquez, HGR 251 Metepec</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$561.6</a:t>
                      </a:r>
                    </a:p>
                  </a:txBody>
                  <a:tcPr marL="3600" marR="3600" marT="3600" marB="3600">
                    <a:solidFill>
                      <a:srgbClr val="9F2241"/>
                    </a:solidFill>
                  </a:tcPr>
                </a:tc>
              </a:tr>
            </a:tbl>
          </a:graphicData>
        </a:graphic>
      </p:graphicFrame>
      <p:graphicFrame>
        <p:nvGraphicFramePr>
          <p:cNvPr id="17" name="Table 16"/>
          <p:cNvGraphicFramePr>
            <a:graphicFrameLocks noGrp="1"/>
          </p:cNvGraphicFramePr>
          <p:nvPr/>
        </p:nvGraphicFramePr>
        <p:xfrm>
          <a:off x="1785600" y="10259967"/>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21 Equipos electromecánicos para 8 unidades; 8 elevadores, 7 equipos para casa de máquinas, 4 lavadoras y 2 secadoras.</a:t>
                      </a:r>
                    </a:p>
                  </a:txBody>
                  <a:tcPr marL="3600" marR="3600" marT="3600" marB="3600">
                    <a:solidFill>
                      <a:srgbClr val="FFFFFF"/>
                    </a:solidFill>
                  </a:tcPr>
                </a:tc>
                <a:tc>
                  <a:txBody>
                    <a:bodyPr/>
                    <a:lstStyle/>
                    <a:p>
                      <a:pPr algn="ctr">
                        <a:lnSpc>
                          <a:spcPct val="100000"/>
                        </a:lnSpc>
                      </a:pPr>
                      <a:r>
                        <a:rPr sz="1000">
                          <a:latin typeface="Montserrat"/>
                        </a:rPr>
                        <a:t>$194.8</a:t>
                      </a:r>
                    </a:p>
                  </a:txBody>
                  <a:tcPr marL="3600" marR="3600" marT="3600" marB="3600">
                    <a:solidFill>
                      <a:srgbClr val="FFFFFF"/>
                    </a:solidFill>
                  </a:tcPr>
                </a:tc>
              </a:tr>
            </a:tbl>
          </a:graphicData>
        </a:graphic>
      </p:graphicFrame>
      <p:sp>
        <p:nvSpPr>
          <p:cNvPr id="18" name="TextBox 17"/>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13,116.9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14 Donación</a:t>
                      </a:r>
                    </a:p>
                  </a:txBody>
                  <a:tcPr marL="72000" marR="72000" anchor="ctr">
                    <a:noFill/>
                  </a:tcPr>
                </a:tc>
                <a:tc>
                  <a:txBody>
                    <a:bodyPr/>
                    <a:lstStyle/>
                    <a:p>
                      <a:pPr algn="ctr">
                        <a:defRPr sz="1200" b="0">
                          <a:solidFill>
                            <a:srgbClr val="FFFFFF"/>
                          </a:solidFill>
                          <a:latin typeface="Montserrat"/>
                        </a:defRPr>
                      </a:pPr>
                      <a:r>
                        <a:t>Chalco, Nezahualcóyotl, Tlalnepantla de Baz, Valle de Chalco, Chimalhuacán, Ixtapaluca, Texcoco, Chicoloapan, La Paz, Ecatepec (2), Mexicaltzingo, Almoloya de Juárez, Naucalpan de Juárez, Toluca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75</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75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4 en Chalco, Valle de Chalco, Nezahualcóyotl y Tlalnepantla de Baz.</a:t>
            </a:r>
            <a:br/>
            <a:r>
              <a:t>En integración de expediente para donación: 9 en Almoloya, Naucalpan, Ecatepec, Toluca, Chicoloapan, Chimalhuacán, La Paz y Mexicaltzingo.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ESTADO DE MÉXICO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83 </a:t>
                      </a:r>
                      <a:r>
                        <a:rPr b="1" sz="1000">
                          <a:latin typeface="Montserrat"/>
                        </a:rPr>
                        <a:t>unidades</a:t>
                      </a:r>
                    </a:p>
                    <a:p>
                      <a:pPr algn="ctr">
                        <a:defRPr sz="1000">
                          <a:solidFill>
                            <a:srgbClr val="505050"/>
                          </a:solidFill>
                          <a:latin typeface="Montserrat"/>
                        </a:defRPr>
                      </a:pPr>
                      <a:r>
                        <a:t>8 directas</a:t>
                      </a:r>
                    </a:p>
                    <a:p>
                      <a:pPr algn="ctr">
                        <a:defRPr sz="1000">
                          <a:solidFill>
                            <a:srgbClr val="505050"/>
                          </a:solidFill>
                          <a:latin typeface="Montserrat"/>
                        </a:defRPr>
                      </a:pPr>
                      <a:r>
                        <a:t>75 indirectas</a:t>
                      </a:r>
                    </a:p>
                  </a:txBody>
                  <a:tcPr anchor="ctr">
                    <a:solidFill>
                      <a:srgbClr val="FFFFFF"/>
                    </a:solidFill>
                  </a:tcPr>
                </a:tc>
                <a:tc>
                  <a:txBody>
                    <a:bodyPr/>
                    <a:lstStyle/>
                    <a:p>
                      <a:pPr algn="ctr"/>
                      <a:r>
                        <a:rPr b="1" sz="1000">
                          <a:latin typeface="Montserrat"/>
                        </a:rPr>
                        <a:t>10,892 </a:t>
                      </a:r>
                      <a:r>
                        <a:rPr b="1" sz="1000">
                          <a:latin typeface="Montserrat"/>
                        </a:rPr>
                        <a:t>inscritos</a:t>
                      </a:r>
                    </a:p>
                    <a:p>
                      <a:pPr algn="ctr">
                        <a:defRPr sz="1000">
                          <a:solidFill>
                            <a:srgbClr val="505050"/>
                          </a:solidFill>
                          <a:latin typeface="Montserrat"/>
                        </a:defRPr>
                      </a:pPr>
                      <a:r>
                        <a:t>959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2987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298799">
                <a:tc>
                  <a:txBody>
                    <a:bodyPr/>
                    <a:lstStyle/>
                    <a:p>
                      <a:pPr algn="ctr">
                        <a:defRPr sz="800" b="1">
                          <a:latin typeface="Montserrat"/>
                        </a:defRPr>
                      </a:pPr>
                      <a:r>
                        <a:t>1 Centro de Artesanias</a:t>
                      </a:r>
                    </a:p>
                  </a:txBody>
                  <a:tcPr anchor="ctr" marL="28800" marR="28800" marT="0" marB="0">
                    <a:solidFill>
                      <a:srgbClr val="FFFFFF"/>
                    </a:solidFill>
                  </a:tcPr>
                </a:tc>
                <a:tc>
                  <a:txBody>
                    <a:bodyPr/>
                    <a:lstStyle/>
                    <a:p>
                      <a:pPr algn="ctr">
                        <a:defRPr sz="800">
                          <a:latin typeface="Montserrat"/>
                        </a:defRPr>
                      </a:pPr>
                      <a:r>
                        <a:t>Cuauhtémoc</a:t>
                      </a:r>
                    </a:p>
                  </a:txBody>
                  <a:tcPr anchor="ctr" marL="28800" marR="28800" marT="0" marB="0">
                    <a:solidFill>
                      <a:srgbClr val="FFFFFF"/>
                    </a:solidFill>
                  </a:tcPr>
                </a:tc>
              </a:tr>
              <a:tr h="298799">
                <a:tc>
                  <a:txBody>
                    <a:bodyPr/>
                    <a:lstStyle/>
                    <a:p>
                      <a:pPr algn="ctr">
                        <a:defRPr sz="800" b="1">
                          <a:latin typeface="Montserrat"/>
                        </a:defRPr>
                      </a:pPr>
                      <a:r>
                        <a:t>1 CRESTCAP</a:t>
                      </a:r>
                    </a:p>
                  </a:txBody>
                  <a:tcPr anchor="ctr" marL="28800" marR="28800" marT="0" marB="0">
                    <a:solidFill>
                      <a:srgbClr val="EFEFEF"/>
                    </a:solidFill>
                  </a:tcPr>
                </a:tc>
                <a:tc>
                  <a:txBody>
                    <a:bodyPr/>
                    <a:lstStyle/>
                    <a:p>
                      <a:pPr algn="ctr">
                        <a:defRPr sz="800">
                          <a:latin typeface="Montserrat"/>
                        </a:defRPr>
                      </a:pPr>
                      <a:r>
                        <a:t>Naucalpan, Edo. Mex.</a:t>
                      </a:r>
                    </a:p>
                  </a:txBody>
                  <a:tcPr anchor="ctr" marL="28800" marR="28800" marT="0" marB="0">
                    <a:solidFill>
                      <a:srgbClr val="EFEFEF"/>
                    </a:solidFill>
                  </a:tcPr>
                </a:tc>
              </a:tr>
              <a:tr h="298799">
                <a:tc>
                  <a:txBody>
                    <a:bodyPr/>
                    <a:lstStyle/>
                    <a:p>
                      <a:pPr algn="ctr">
                        <a:defRPr sz="800" b="1">
                          <a:latin typeface="Montserrat"/>
                        </a:defRPr>
                      </a:pPr>
                      <a:r>
                        <a:t>3 CEBIS</a:t>
                      </a:r>
                    </a:p>
                  </a:txBody>
                  <a:tcPr anchor="ctr" marL="28800" marR="28800" marT="0" marB="0">
                    <a:solidFill>
                      <a:srgbClr val="FFFFFF"/>
                    </a:solidFill>
                  </a:tcPr>
                </a:tc>
                <a:tc>
                  <a:txBody>
                    <a:bodyPr/>
                    <a:lstStyle/>
                    <a:p>
                      <a:pPr algn="ctr">
                        <a:defRPr sz="800">
                          <a:latin typeface="Montserrat"/>
                        </a:defRPr>
                      </a:pPr>
                      <a:r>
                        <a:t>CEBIS 3 Chalco Alfredo Barandas, CEBIS 2 Culturas de México y Chimalhuacán</a:t>
                      </a:r>
                    </a:p>
                  </a:txBody>
                  <a:tcPr anchor="ctr" marL="28800" marR="28800" marT="0" marB="0">
                    <a:solidFill>
                      <a:srgbClr val="FFFFFF"/>
                    </a:solidFill>
                  </a:tcPr>
                </a:tc>
              </a:tr>
              <a:tr h="298799">
                <a:tc>
                  <a:txBody>
                    <a:bodyPr/>
                    <a:lstStyle/>
                    <a:p>
                      <a:pPr algn="ctr">
                        <a:defRPr sz="800" b="1">
                          <a:latin typeface="Montserrat"/>
                        </a:defRPr>
                      </a:pPr>
                      <a:r>
                        <a:t>11  Centros de Seguridad Social</a:t>
                      </a:r>
                    </a:p>
                  </a:txBody>
                  <a:tcPr anchor="ctr" marL="28800" marR="28800" marT="0" marB="0">
                    <a:solidFill>
                      <a:srgbClr val="EFEFEF"/>
                    </a:solidFill>
                  </a:tcPr>
                </a:tc>
                <a:tc>
                  <a:txBody>
                    <a:bodyPr/>
                    <a:lstStyle/>
                    <a:p>
                      <a:pPr algn="ctr">
                        <a:defRPr sz="800">
                          <a:latin typeface="Montserrat"/>
                        </a:defRPr>
                      </a:pPr>
                      <a:r>
                        <a:t>Toluca, Progreso Industrial, San Ildefonso, Tejavanes, Tequesquináhuac, Santa Clara, Netzahualcóyotl, Texcoco, Chalco, San Rafael y Cuauhtémoc</a:t>
                      </a:r>
                    </a:p>
                  </a:txBody>
                  <a:tcPr anchor="ctr" marL="28800" marR="28800" marT="0" marB="0">
                    <a:solidFill>
                      <a:srgbClr val="EFEFEF"/>
                    </a:solidFill>
                  </a:tcPr>
                </a:tc>
              </a:tr>
              <a:tr h="298799">
                <a:tc>
                  <a:txBody>
                    <a:bodyPr/>
                    <a:lstStyle/>
                    <a:p>
                      <a:pPr algn="ctr">
                        <a:defRPr sz="800" b="1">
                          <a:latin typeface="Montserrat"/>
                        </a:defRPr>
                      </a:pPr>
                      <a:r>
                        <a:t>2 Teatro</a:t>
                      </a:r>
                    </a:p>
                  </a:txBody>
                  <a:tcPr anchor="ctr" marL="28800" marR="28800" marT="0" marB="0">
                    <a:solidFill>
                      <a:srgbClr val="FFFFFF"/>
                    </a:solidFill>
                  </a:tcPr>
                </a:tc>
                <a:tc>
                  <a:txBody>
                    <a:bodyPr/>
                    <a:lstStyle/>
                    <a:p>
                      <a:pPr algn="ctr">
                        <a:defRPr sz="800">
                          <a:latin typeface="Montserrat"/>
                        </a:defRPr>
                      </a:pPr>
                      <a:r>
                        <a:t>Cuauhtémoc y Toluca</a:t>
                      </a:r>
                    </a:p>
                  </a:txBody>
                  <a:tcPr anchor="ctr" marL="28800" marR="28800" marT="0" marB="0">
                    <a:solidFill>
                      <a:srgbClr val="FFFFFF"/>
                    </a:solidFill>
                  </a:tcPr>
                </a:tc>
              </a:tr>
              <a:tr h="298805">
                <a:tc>
                  <a:txBody>
                    <a:bodyPr/>
                    <a:lstStyle/>
                    <a:p>
                      <a:pPr algn="ctr">
                        <a:defRPr sz="800" b="1">
                          <a:latin typeface="Montserrat"/>
                        </a:defRPr>
                      </a:pPr>
                      <a:r>
                        <a:t>2 Unidades Deportivas</a:t>
                      </a:r>
                    </a:p>
                  </a:txBody>
                  <a:tcPr anchor="ctr" marL="28800" marR="28800" marT="0" marB="0">
                    <a:solidFill>
                      <a:srgbClr val="EFEFEF"/>
                    </a:solidFill>
                  </a:tcPr>
                </a:tc>
                <a:tc>
                  <a:txBody>
                    <a:bodyPr/>
                    <a:lstStyle/>
                    <a:p>
                      <a:pPr algn="ctr">
                        <a:defRPr sz="800">
                          <a:latin typeface="Montserrat"/>
                        </a:defRPr>
                      </a:pPr>
                      <a:r>
                        <a:t>Nezahualcóyotl y Cuauhtémoc</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26 Toluca y No. 64 Tequesquinahuac</a:t>
                      </a:r>
                    </a:p>
                  </a:txBody>
                  <a:tcPr anchor="ctr" marL="28800" marR="28800" marT="0" marB="0">
                    <a:solidFill>
                      <a:srgbClr val="FFFFFF"/>
                    </a:solidFill>
                  </a:tcPr>
                </a:tc>
              </a:tr>
              <a:tr h="272400">
                <a:tc>
                  <a:txBody>
                    <a:bodyPr/>
                    <a:lstStyle/>
                    <a:p>
                      <a:pPr algn="ctr">
                        <a:defRPr sz="800" b="1">
                          <a:latin typeface="Montserrat"/>
                        </a:defRPr>
                      </a:pPr>
                      <a:r>
                        <a:t>3 Velatorios</a:t>
                      </a:r>
                    </a:p>
                  </a:txBody>
                  <a:tcPr anchor="ctr" marL="28800" marR="28800" marT="0" marB="0">
                    <a:solidFill>
                      <a:srgbClr val="EFEFEF"/>
                    </a:solidFill>
                  </a:tcPr>
                </a:tc>
                <a:tc>
                  <a:txBody>
                    <a:bodyPr/>
                    <a:lstStyle/>
                    <a:p>
                      <a:pPr algn="ctr">
                        <a:defRPr sz="800">
                          <a:latin typeface="Montserrat"/>
                        </a:defRPr>
                      </a:pPr>
                      <a:r>
                        <a:t>Tequesquináhuac, Ecatepec y Toluca</a:t>
                      </a:r>
                    </a:p>
                  </a:txBody>
                  <a:tcPr anchor="ctr" marL="28800" marR="28800" marT="0" marB="0">
                    <a:solidFill>
                      <a:srgbClr val="EFEFEF"/>
                    </a:solidFill>
                  </a:tcPr>
                </a:tc>
              </a:tr>
            </a:tbl>
          </a:graphicData>
        </a:graphic>
      </p:graphicFrame>
      <p:pic>
        <p:nvPicPr>
          <p:cNvPr id="470" name="Picture 469" descr="map_tipo2_15_mex.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83</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rowSpan="3">
                  <a:txBody>
                    <a:bodyPr/>
                    <a:lstStyle/>
                    <a:p>
                      <a:pPr algn="ctr">
                        <a:defRPr sz="850">
                          <a:latin typeface="Montserrat"/>
                        </a:defRPr>
                      </a:pPr>
                      <a:r>
                        <a:t>Instituto Mexicano del Seguro Social</a:t>
                      </a:r>
                    </a:p>
                  </a:txBody>
                  <a:tcPr anchor="ctr">
                    <a:solidFill>
                      <a:srgbClr val="FFFFFF"/>
                    </a:solidFill>
                  </a:tcPr>
                </a:tc>
                <a:tc rowSpan="3">
                  <a:txBody>
                    <a:bodyPr/>
                    <a:lstStyle/>
                    <a:p>
                      <a:pPr algn="ctr">
                        <a:defRPr sz="850">
                          <a:latin typeface="Montserrat"/>
                        </a:defRPr>
                      </a:pPr>
                      <a:r>
                        <a:t>45,675</a:t>
                      </a:r>
                    </a:p>
                  </a:txBody>
                  <a:tcPr anchor="ctr">
                    <a:solidFill>
                      <a:srgbClr val="FFFFFF"/>
                    </a:solidFill>
                  </a:tcPr>
                </a:tc>
                <a:tc rowSpan="3">
                  <a:txBody>
                    <a:bodyPr/>
                    <a:lstStyle/>
                    <a:p>
                      <a:pPr algn="ctr">
                        <a:defRPr sz="850">
                          <a:latin typeface="Montserrat"/>
                        </a:defRPr>
                      </a:pPr>
                      <a:r>
                        <a:t>45,973</a:t>
                      </a:r>
                    </a:p>
                  </a:txBody>
                  <a:tcPr anchor="ctr">
                    <a:solidFill>
                      <a:srgbClr val="FFFFFF"/>
                    </a:solidFill>
                  </a:tcPr>
                </a:tc>
                <a:tc rowSpan="3">
                  <a:txBody>
                    <a:bodyPr/>
                    <a:lstStyle/>
                    <a:p>
                      <a:pPr algn="ctr">
                        <a:defRPr sz="850" b="1">
                          <a:solidFill>
                            <a:srgbClr val="006455"/>
                          </a:solidFill>
                          <a:latin typeface="Montserrat"/>
                        </a:defRPr>
                      </a:pPr>
                      <a:r>
                        <a:t>0.7%</a:t>
                      </a:r>
                    </a:p>
                  </a:txBody>
                  <a:tcPr anchor="ctr">
                    <a:solidFill>
                      <a:srgbClr val="FFFFFF"/>
                    </a:solidFill>
                  </a:tcPr>
                </a:tc>
                <a:tc>
                  <a:txBody>
                    <a:bodyPr/>
                    <a:lstStyle/>
                    <a:p>
                      <a:pPr algn="ctr">
                        <a:defRPr sz="850">
                          <a:latin typeface="Montserrat"/>
                        </a:defRPr>
                      </a:pPr>
                      <a:r>
                        <a:t>Itelevate Solutions S.A. de C.V.</a:t>
                      </a:r>
                    </a:p>
                  </a:txBody>
                  <a:tcPr anchor="ctr">
                    <a:solidFill>
                      <a:srgbClr val="FFFFFF"/>
                    </a:solidFill>
                  </a:tcPr>
                </a:tc>
                <a:tc>
                  <a:txBody>
                    <a:bodyPr/>
                    <a:lstStyle/>
                    <a:p>
                      <a:pPr algn="ctr">
                        <a:defRPr sz="850">
                          <a:latin typeface="Montserrat"/>
                        </a:defRPr>
                      </a:pPr>
                      <a:r>
                        <a:t>62,478</a:t>
                      </a:r>
                    </a:p>
                  </a:txBody>
                  <a:tcPr anchor="ctr">
                    <a:solidFill>
                      <a:srgbClr val="FFFFFF"/>
                    </a:solidFill>
                  </a:tcPr>
                </a:tc>
                <a:tc>
                  <a:txBody>
                    <a:bodyPr/>
                    <a:lstStyle/>
                    <a:p>
                      <a:pPr algn="ctr">
                        <a:defRPr sz="850">
                          <a:latin typeface="Montserrat"/>
                        </a:defRPr>
                      </a:pPr>
                      <a:r>
                        <a:t>66,439</a:t>
                      </a:r>
                    </a:p>
                  </a:txBody>
                  <a:tcPr anchor="ctr">
                    <a:solidFill>
                      <a:srgbClr val="FFFFFF"/>
                    </a:solidFill>
                  </a:tcPr>
                </a:tc>
                <a:tc>
                  <a:txBody>
                    <a:bodyPr/>
                    <a:lstStyle/>
                    <a:p>
                      <a:pPr algn="ctr">
                        <a:defRPr sz="850" b="1">
                          <a:solidFill>
                            <a:srgbClr val="006455"/>
                          </a:solidFill>
                          <a:latin typeface="Montserrat"/>
                        </a:defRPr>
                      </a:pPr>
                      <a:r>
                        <a:t>6.3%</a:t>
                      </a:r>
                    </a:p>
                  </a:txBody>
                  <a:tcPr anchor="ctr">
                    <a:solidFill>
                      <a:srgbClr val="FFFFFF"/>
                    </a:solidFill>
                  </a:tcPr>
                </a:tc>
              </a:tr>
              <a:tr h="490320">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a:txBody>
                    <a:bodyPr/>
                    <a:lstStyle/>
                    <a:p>
                      <a:pPr algn="ctr">
                        <a:defRPr sz="850">
                          <a:latin typeface="Montserrat"/>
                        </a:defRPr>
                      </a:pPr>
                      <a:r>
                        <a:t>Nueva Wal Mart de México S. de R.L. de C.V.</a:t>
                      </a:r>
                    </a:p>
                  </a:txBody>
                  <a:tcPr anchor="ctr">
                    <a:solidFill>
                      <a:srgbClr val="D9D9D9"/>
                    </a:solidFill>
                  </a:tcPr>
                </a:tc>
                <a:tc>
                  <a:txBody>
                    <a:bodyPr/>
                    <a:lstStyle/>
                    <a:p>
                      <a:pPr algn="ctr">
                        <a:defRPr sz="850">
                          <a:latin typeface="Montserrat"/>
                        </a:defRPr>
                      </a:pPr>
                      <a:r>
                        <a:t>33,087</a:t>
                      </a:r>
                    </a:p>
                  </a:txBody>
                  <a:tcPr anchor="ctr">
                    <a:solidFill>
                      <a:srgbClr val="D9D9D9"/>
                    </a:solidFill>
                  </a:tcPr>
                </a:tc>
                <a:tc>
                  <a:txBody>
                    <a:bodyPr/>
                    <a:lstStyle/>
                    <a:p>
                      <a:pPr algn="ctr">
                        <a:defRPr sz="850">
                          <a:latin typeface="Montserrat"/>
                        </a:defRPr>
                      </a:pPr>
                      <a:r>
                        <a:t>33,364</a:t>
                      </a:r>
                    </a:p>
                  </a:txBody>
                  <a:tcPr anchor="ctr">
                    <a:solidFill>
                      <a:srgbClr val="D9D9D9"/>
                    </a:solidFill>
                  </a:tcPr>
                </a:tc>
                <a:tc>
                  <a:txBody>
                    <a:bodyPr/>
                    <a:lstStyle/>
                    <a:p>
                      <a:pPr algn="ctr">
                        <a:defRPr sz="850" b="1">
                          <a:solidFill>
                            <a:srgbClr val="006455"/>
                          </a:solidFill>
                          <a:latin typeface="Montserrat"/>
                        </a:defRPr>
                      </a:pPr>
                      <a:r>
                        <a:t>0.8%</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Comercializadora  Sumentar SA DE CV</a:t>
                      </a:r>
                    </a:p>
                  </a:txBody>
                  <a:tcPr anchor="ctr">
                    <a:solidFill>
                      <a:srgbClr val="FFFFFF"/>
                    </a:solidFill>
                  </a:tcPr>
                </a:tc>
                <a:tc>
                  <a:txBody>
                    <a:bodyPr/>
                    <a:lstStyle/>
                    <a:p>
                      <a:pPr algn="ctr">
                        <a:defRPr sz="850">
                          <a:latin typeface="Montserrat"/>
                        </a:defRPr>
                      </a:pPr>
                      <a:r>
                        <a:t>2,352</a:t>
                      </a:r>
                    </a:p>
                  </a:txBody>
                  <a:tcPr anchor="ctr">
                    <a:solidFill>
                      <a:srgbClr val="FFFFFF"/>
                    </a:solidFill>
                  </a:tcPr>
                </a:tc>
                <a:tc>
                  <a:txBody>
                    <a:bodyPr/>
                    <a:lstStyle/>
                    <a:p>
                      <a:pPr algn="ctr">
                        <a:defRPr sz="850">
                          <a:latin typeface="Montserrat"/>
                        </a:defRPr>
                      </a:pPr>
                      <a:r>
                        <a:t>20,182</a:t>
                      </a:r>
                    </a:p>
                  </a:txBody>
                  <a:tcPr anchor="ctr">
                    <a:solidFill>
                      <a:srgbClr val="FFFFFF"/>
                    </a:solidFill>
                  </a:tcPr>
                </a:tc>
                <a:tc>
                  <a:txBody>
                    <a:bodyPr/>
                    <a:lstStyle/>
                    <a:p>
                      <a:pPr algn="ctr">
                        <a:defRPr sz="850" b="1">
                          <a:solidFill>
                            <a:srgbClr val="006455"/>
                          </a:solidFill>
                          <a:latin typeface="Montserrat"/>
                        </a:defRPr>
                      </a:pPr>
                      <a:r>
                        <a:t>758.1%</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-4.65%</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-4.52%</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-2.81%</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-1.91%</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-1.08%</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+7.84%</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+16.16%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+35.76%</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1,630,345</a:t>
                      </a:r>
                    </a:p>
                  </a:txBody>
                  <a:tcPr>
                    <a:solidFill>
                      <a:srgbClr val="FFFFFF"/>
                    </a:solidFill>
                  </a:tcPr>
                </a:tc>
                <a:tc>
                  <a:txBody>
                    <a:bodyPr/>
                    <a:lstStyle/>
                    <a:p>
                      <a:pPr algn="ctr">
                        <a:defRPr sz="900">
                          <a:latin typeface="Montserrat"/>
                        </a:defRPr>
                      </a:pPr>
                      <a:r>
                        <a:t>4,415</a:t>
                      </a:r>
                    </a:p>
                  </a:txBody>
                  <a:tcPr>
                    <a:solidFill>
                      <a:srgbClr val="FFFFFF"/>
                    </a:solidFill>
                  </a:tcPr>
                </a:tc>
                <a:tc>
                  <a:txBody>
                    <a:bodyPr/>
                    <a:lstStyle/>
                    <a:p>
                      <a:pPr algn="ctr">
                        <a:defRPr sz="900">
                          <a:latin typeface="Montserrat"/>
                        </a:defRPr>
                      </a:pPr>
                      <a:r>
                        <a:t>271,660</a:t>
                      </a:r>
                    </a:p>
                  </a:txBody>
                  <a:tcPr>
                    <a:solidFill>
                      <a:srgbClr val="FFFFFF"/>
                    </a:solidFill>
                  </a:tcPr>
                </a:tc>
                <a:tc>
                  <a:txBody>
                    <a:bodyPr/>
                    <a:lstStyle/>
                    <a:p>
                      <a:pPr algn="ctr">
                        <a:defRPr sz="900">
                          <a:latin typeface="Montserrat"/>
                        </a:defRPr>
                      </a:pPr>
                      <a:r>
                        <a:t>1,043</a:t>
                      </a:r>
                    </a:p>
                  </a:txBody>
                  <a:tcPr>
                    <a:solidFill>
                      <a:srgbClr val="FFFFFF"/>
                    </a:solidFill>
                  </a:tcPr>
                </a:tc>
                <a:tc>
                  <a:txBody>
                    <a:bodyPr/>
                    <a:lstStyle/>
                    <a:p>
                      <a:pPr algn="ctr">
                        <a:defRPr sz="900">
                          <a:latin typeface="Montserrat"/>
                        </a:defRPr>
                      </a:pPr>
                      <a:r>
                        <a:t>1,907,463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1,712,705</a:t>
                      </a:r>
                    </a:p>
                  </a:txBody>
                  <a:tcPr>
                    <a:solidFill>
                      <a:srgbClr val="D9D9D9"/>
                    </a:solidFill>
                  </a:tcPr>
                </a:tc>
                <a:tc>
                  <a:txBody>
                    <a:bodyPr/>
                    <a:lstStyle/>
                    <a:p>
                      <a:pPr algn="ctr">
                        <a:defRPr sz="900">
                          <a:latin typeface="Montserrat"/>
                        </a:defRPr>
                      </a:pPr>
                      <a:r>
                        <a:t>4,288</a:t>
                      </a:r>
                    </a:p>
                  </a:txBody>
                  <a:tcPr>
                    <a:solidFill>
                      <a:srgbClr val="D9D9D9"/>
                    </a:solidFill>
                  </a:tcPr>
                </a:tc>
                <a:tc>
                  <a:txBody>
                    <a:bodyPr/>
                    <a:lstStyle/>
                    <a:p>
                      <a:pPr algn="ctr">
                        <a:defRPr sz="900">
                          <a:latin typeface="Montserrat"/>
                        </a:defRPr>
                      </a:pPr>
                      <a:r>
                        <a:t>343,685</a:t>
                      </a:r>
                    </a:p>
                  </a:txBody>
                  <a:tcPr>
                    <a:solidFill>
                      <a:srgbClr val="D9D9D9"/>
                    </a:solidFill>
                  </a:tcPr>
                </a:tc>
                <a:tc>
                  <a:txBody>
                    <a:bodyPr/>
                    <a:lstStyle/>
                    <a:p>
                      <a:pPr algn="ctr">
                        <a:defRPr sz="900">
                          <a:latin typeface="Montserrat"/>
                        </a:defRPr>
                      </a:pPr>
                      <a:r>
                        <a:t>947</a:t>
                      </a:r>
                    </a:p>
                  </a:txBody>
                  <a:tcPr>
                    <a:solidFill>
                      <a:srgbClr val="D9D9D9"/>
                    </a:solidFill>
                  </a:tcPr>
                </a:tc>
                <a:tc>
                  <a:txBody>
                    <a:bodyPr/>
                    <a:lstStyle/>
                    <a:p>
                      <a:pPr algn="ctr">
                        <a:defRPr sz="900">
                          <a:latin typeface="Montserrat"/>
                        </a:defRPr>
                      </a:pPr>
                      <a:r>
                        <a:t>2,061,625</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+5.1%</a:t>
                      </a:r>
                    </a:p>
                  </a:txBody>
                  <a:tcPr>
                    <a:solidFill>
                      <a:srgbClr val="FFFFFF"/>
                    </a:solidFill>
                  </a:tcPr>
                </a:tc>
                <a:tc>
                  <a:txBody>
                    <a:bodyPr/>
                    <a:lstStyle/>
                    <a:p>
                      <a:pPr algn="ctr">
                        <a:defRPr sz="900" b="0">
                          <a:solidFill>
                            <a:srgbClr val="691C32"/>
                          </a:solidFill>
                          <a:latin typeface="Montserrat"/>
                        </a:defRPr>
                      </a:pPr>
                      <a:r>
                        <a:t>-2.9%</a:t>
                      </a:r>
                    </a:p>
                  </a:txBody>
                  <a:tcPr>
                    <a:solidFill>
                      <a:srgbClr val="FFFFFF"/>
                    </a:solidFill>
                  </a:tcPr>
                </a:tc>
                <a:tc>
                  <a:txBody>
                    <a:bodyPr/>
                    <a:lstStyle/>
                    <a:p>
                      <a:pPr algn="ctr">
                        <a:defRPr sz="900" b="1">
                          <a:solidFill>
                            <a:srgbClr val="006455"/>
                          </a:solidFill>
                          <a:latin typeface="Montserrat"/>
                        </a:defRPr>
                      </a:pPr>
                      <a:r>
                        <a:t>+26.5%</a:t>
                      </a:r>
                    </a:p>
                  </a:txBody>
                  <a:tcPr>
                    <a:solidFill>
                      <a:srgbClr val="FFFFFF"/>
                    </a:solidFill>
                  </a:tcPr>
                </a:tc>
                <a:tc>
                  <a:txBody>
                    <a:bodyPr/>
                    <a:lstStyle/>
                    <a:p>
                      <a:pPr algn="ctr">
                        <a:defRPr sz="900" b="0">
                          <a:solidFill>
                            <a:srgbClr val="691C32"/>
                          </a:solidFill>
                          <a:latin typeface="Montserrat"/>
                        </a:defRPr>
                      </a:pPr>
                      <a:r>
                        <a:t>-9.2%</a:t>
                      </a:r>
                    </a:p>
                  </a:txBody>
                  <a:tcPr>
                    <a:solidFill>
                      <a:srgbClr val="FFFFFF"/>
                    </a:solidFill>
                  </a:tcPr>
                </a:tc>
                <a:tc>
                  <a:txBody>
                    <a:bodyPr/>
                    <a:lstStyle/>
                    <a:p>
                      <a:pPr algn="ctr">
                        <a:defRPr sz="900" b="1">
                          <a:solidFill>
                            <a:srgbClr val="006455"/>
                          </a:solidFill>
                          <a:latin typeface="Montserrat"/>
                        </a:defRPr>
                      </a:pPr>
                      <a:r>
                        <a:t>+8.1%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75DC7414-44CC-7FA8-BFE8-B4876438CDE7}"/>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$600.61</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$341.64</a:t>
                      </a:r>
                    </a:p>
                  </a:txBody>
                  <a:tcPr anchor="ctr">
                    <a:solidFill>
                      <a:srgbClr val="EEEEEE"/>
                    </a:solidFill>
                  </a:tcPr>
                </a:tc>
                <a:tc>
                  <a:txBody>
                    <a:bodyPr/>
                    <a:lstStyle/>
                    <a:p>
                      <a:pPr algn="ctr">
                        <a:defRPr sz="1100" b="1">
                          <a:latin typeface="Montserrat"/>
                        </a:defRPr>
                      </a:pPr>
                      <a:r>
                        <a:t>$600.61</a:t>
                      </a:r>
                    </a:p>
                  </a:txBody>
                  <a:tcPr anchor="ctr">
                    <a:solidFill>
                      <a:srgbClr val="EEEEEE"/>
                    </a:solidFill>
                  </a:tcPr>
                </a:tc>
                <a:tc>
                  <a:txBody>
                    <a:bodyPr/>
                    <a:lstStyle/>
                    <a:p>
                      <a:pPr algn="ctr">
                        <a:defRPr sz="1100">
                          <a:latin typeface="Montserrat"/>
                        </a:defRPr>
                      </a:pPr>
                      <a:r>
                        <a:t>24.2%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$18,018.3</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051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2">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Comisión Pro Agua Potable de la Colmena A.C.</a:t>
                      </a:r>
                    </a:p>
                  </a:txBody>
                  <a:tcPr>
                    <a:solidFill>
                      <a:srgbClr val="FFFFFF"/>
                    </a:solidFill>
                  </a:tcPr>
                </a:tc>
                <a:tc>
                  <a:txBody>
                    <a:bodyPr/>
                    <a:lstStyle/>
                    <a:p>
                      <a:pPr algn="ctr">
                        <a:defRPr sz="900">
                          <a:latin typeface="Montserrat"/>
                        </a:defRPr>
                      </a:pPr>
                      <a:r>
                        <a:t>$0.00</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EDUCAL S.A. de C. V.</a:t>
                      </a:r>
                    </a:p>
                  </a:txBody>
                  <a:tcPr>
                    <a:solidFill>
                      <a:srgbClr val="EEEEEE"/>
                    </a:solidFill>
                  </a:tcPr>
                </a:tc>
                <a:tc>
                  <a:txBody>
                    <a:bodyPr/>
                    <a:lstStyle/>
                    <a:p>
                      <a:pPr algn="ctr">
                        <a:defRPr sz="900">
                          <a:latin typeface="Montserrat"/>
                        </a:defRPr>
                      </a:pPr>
                      <a:r>
                        <a:t>$0.00</a:t>
                      </a:r>
                    </a:p>
                  </a:txBody>
                  <a:tcPr>
                    <a:solidFill>
                      <a:srgbClr val="EEEEEE"/>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Madoc Productos Médicos SA de CV</a:t>
                      </a:r>
                    </a:p>
                  </a:txBody>
                  <a:tcPr>
                    <a:solidFill>
                      <a:srgbClr val="FFFFFF"/>
                    </a:solidFill>
                  </a:tcPr>
                </a:tc>
                <a:tc>
                  <a:txBody>
                    <a:bodyPr/>
                    <a:lstStyle/>
                    <a:p>
                      <a:pPr algn="ctr">
                        <a:defRPr sz="900">
                          <a:latin typeface="Montserrat"/>
                        </a:defRPr>
                      </a:pPr>
                      <a:r>
                        <a:t>$59.19</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Máxima Guía SA de CV</a:t>
                      </a:r>
                    </a:p>
                  </a:txBody>
                  <a:tcPr>
                    <a:solidFill>
                      <a:srgbClr val="EEEEEE"/>
                    </a:solidFill>
                  </a:tcPr>
                </a:tc>
                <a:tc>
                  <a:txBody>
                    <a:bodyPr/>
                    <a:lstStyle/>
                    <a:p>
                      <a:pPr algn="ctr">
                        <a:defRPr sz="900">
                          <a:latin typeface="Montserrat"/>
                        </a:defRPr>
                      </a:pPr>
                      <a:r>
                        <a:t>$48.48</a:t>
                      </a:r>
                    </a:p>
                  </a:txBody>
                  <a:tcPr>
                    <a:solidFill>
                      <a:srgbClr val="EEEEEE"/>
                    </a:solidFill>
                  </a:tcPr>
                </a:tc>
              </a:tr>
              <a:tr h="288000">
                <a:tc vMerge="1">
                  <a:txBody>
                    <a:bodyPr/>
                    <a:lstStyle/>
                    <a:p/>
                  </a:txBody>
                  <a:tcPr>
                    <a:solidFill>
                      <a:srgbClr val="006455"/>
                    </a:solidFill>
                  </a:tcPr>
                </a:tc>
                <a:tc>
                  <a:txBody>
                    <a:bodyPr/>
                    <a:lstStyle/>
                    <a:p>
                      <a:pPr algn="ctr">
                        <a:defRPr sz="900">
                          <a:latin typeface="Montserrat"/>
                        </a:defRPr>
                      </a:pPr>
                      <a:r>
                        <a:t>LGC Global FM de México S de RL de CV</a:t>
                      </a:r>
                    </a:p>
                  </a:txBody>
                  <a:tcPr>
                    <a:solidFill>
                      <a:srgbClr val="FFFFFF"/>
                    </a:solidFill>
                  </a:tcPr>
                </a:tc>
                <a:tc>
                  <a:txBody>
                    <a:bodyPr/>
                    <a:lstStyle/>
                    <a:p>
                      <a:pPr algn="ctr">
                        <a:defRPr sz="900">
                          <a:latin typeface="Montserrat"/>
                        </a:defRPr>
                      </a:pPr>
                      <a:r>
                        <a:t>$36.28</a:t>
                      </a:r>
                    </a:p>
                  </a:txBody>
                  <a:tcPr>
                    <a:solidFill>
                      <a:srgbClr val="FFFFFF"/>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ESTADO DE MÉXICO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32</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97,111</a:t>
                      </a:r>
                    </a:p>
                  </a:txBody>
                  <a:tcPr anchor="ctr" marL="73152" marR="73152" marT="0" marB="0">
                    <a:solidFill>
                      <a:srgbClr val="D3E9E7"/>
                    </a:solidFill>
                  </a:tcPr>
                </a:tc>
                <a:tc>
                  <a:txBody>
                    <a:bodyPr/>
                    <a:lstStyle/>
                    <a:p>
                      <a:pPr algn="ctr">
                        <a:defRPr b="1" sz="1000">
                          <a:solidFill>
                            <a:srgbClr val="006455"/>
                          </a:solidFill>
                          <a:latin typeface="Montserrat"/>
                        </a:defRPr>
                      </a:pPr>
                      <a:r>
                        <a:t>361</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68,820</a:t>
                      </a:r>
                    </a:p>
                  </a:txBody>
                  <a:tcPr anchor="ctr" marL="73152" marR="73152" marT="0" marB="0">
                    <a:solidFill>
                      <a:srgbClr val="FFFFFF"/>
                    </a:solidFill>
                  </a:tcPr>
                </a:tc>
                <a:tc>
                  <a:txBody>
                    <a:bodyPr/>
                    <a:lstStyle/>
                    <a:p>
                      <a:pPr algn="ctr">
                        <a:defRPr b="0" sz="1000">
                          <a:solidFill>
                            <a:srgbClr val="000000"/>
                          </a:solidFill>
                          <a:latin typeface="Montserrat"/>
                        </a:defRPr>
                      </a:pPr>
                      <a:r>
                        <a:t>264</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5,787</a:t>
                      </a:r>
                    </a:p>
                  </a:txBody>
                  <a:tcPr anchor="ctr" marL="73152" marR="73152" marT="0" marB="0">
                    <a:solidFill>
                      <a:srgbClr val="EFEFEF"/>
                    </a:solidFill>
                  </a:tcPr>
                </a:tc>
                <a:tc>
                  <a:txBody>
                    <a:bodyPr/>
                    <a:lstStyle/>
                    <a:p>
                      <a:pPr algn="ctr">
                        <a:defRPr b="0" sz="1000">
                          <a:solidFill>
                            <a:srgbClr val="000000"/>
                          </a:solidFill>
                          <a:latin typeface="Montserrat"/>
                        </a:defRPr>
                      </a:pPr>
                      <a:r>
                        <a:t>23</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10,259</a:t>
                      </a:r>
                    </a:p>
                  </a:txBody>
                  <a:tcPr anchor="ctr" marL="73152" marR="73152" marT="0" marB="0">
                    <a:solidFill>
                      <a:srgbClr val="FFFFFF"/>
                    </a:solidFill>
                  </a:tcPr>
                </a:tc>
                <a:tc>
                  <a:txBody>
                    <a:bodyPr/>
                    <a:lstStyle/>
                    <a:p>
                      <a:pPr algn="ctr">
                        <a:defRPr b="0" sz="1000">
                          <a:solidFill>
                            <a:srgbClr val="000000"/>
                          </a:solidFill>
                          <a:latin typeface="Montserrat"/>
                        </a:defRPr>
                      </a:pPr>
                      <a:r>
                        <a:t>29</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12,245</a:t>
                      </a:r>
                    </a:p>
                  </a:txBody>
                  <a:tcPr anchor="ctr" marL="73152" marR="73152" marT="0" marB="0">
                    <a:solidFill>
                      <a:srgbClr val="EFEFEF"/>
                    </a:solidFill>
                  </a:tcPr>
                </a:tc>
                <a:tc>
                  <a:txBody>
                    <a:bodyPr/>
                    <a:lstStyle/>
                    <a:p>
                      <a:pPr algn="ctr">
                        <a:defRPr b="0" sz="1000">
                          <a:solidFill>
                            <a:srgbClr val="000000"/>
                          </a:solidFill>
                          <a:latin typeface="Montserrat"/>
                        </a:defRPr>
                      </a:pPr>
                      <a:r>
                        <a:t>47</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1,667</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1,303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2,754</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63</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1" sz="1000">
                          <a:solidFill>
                            <a:srgbClr val="006455"/>
                          </a:solidFill>
                          <a:latin typeface="Montserrat"/>
                        </a:defRPr>
                      </a:pPr>
                      <a:r>
                        <a:t>79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116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66</a:t>
                      </a:r>
                    </a:p>
                  </a:txBody>
                  <a:tcPr anchor="ctr" marL="73152" marR="73152" marT="0" marB="0">
                    <a:solidFill>
                      <a:srgbClr val="EFEFEF"/>
                    </a:solidFill>
                  </a:tcPr>
                </a:tc>
                <a:tc>
                  <a:txBody>
                    <a:bodyPr/>
                    <a:lstStyle/>
                    <a:p>
                      <a:pPr algn="ctr">
                        <a:defRPr b="1" sz="1000">
                          <a:solidFill>
                            <a:srgbClr val="006455"/>
                          </a:solidFill>
                          <a:latin typeface="Montserrat"/>
                        </a:defRPr>
                      </a:pPr>
                      <a:r>
                        <a:t>185</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34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18</a:t>
                      </a:r>
                    </a:p>
                  </a:txBody>
                  <a:tcPr anchor="ctr" marL="73152" marR="73152" marT="0" marB="0">
                    <a:solidFill>
                      <a:srgbClr val="EFEFEF"/>
                    </a:solidFill>
                  </a:tcPr>
                </a:tc>
                <a:tc>
                  <a:txBody>
                    <a:bodyPr/>
                    <a:lstStyle/>
                    <a:p>
                      <a:pPr algn="ctr">
                        <a:defRPr b="0" sz="1000">
                          <a:solidFill>
                            <a:srgbClr val="000000"/>
                          </a:solidFill>
                          <a:latin typeface="Montserrat"/>
                        </a:defRPr>
                      </a:pPr>
                      <a:r>
                        <a:t>8</a:t>
                      </a:r>
                    </a:p>
                  </a:txBody>
                  <a:tcPr anchor="ctr" marL="73152" marR="73152" marT="0" marB="0">
                    <a:solidFill>
                      <a:srgbClr val="EFEFEF"/>
                    </a:solidFill>
                  </a:tcPr>
                </a:tc>
                <a:tc>
                  <a:txBody>
                    <a:bodyPr/>
                    <a:lstStyle/>
                    <a:p>
                      <a:pPr algn="ctr">
                        <a:defRPr b="0" sz="1000">
                          <a:solidFill>
                            <a:srgbClr val="000000"/>
                          </a:solidFill>
                          <a:latin typeface="Montserrat"/>
                        </a:defRPr>
                      </a:pPr>
                      <a:r>
                        <a:t>12</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c>
                  <a:txBody>
                    <a:bodyPr/>
                    <a:lstStyle/>
                    <a:p>
                      <a:pPr algn="ctr">
                        <a:defRPr b="1" sz="1000">
                          <a:solidFill>
                            <a:srgbClr val="006455"/>
                          </a:solidFill>
                          <a:latin typeface="Montserrat"/>
                        </a:defRPr>
                      </a:pPr>
                      <a:r>
                        <a:t>43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57</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1" sz="1000">
                          <a:solidFill>
                            <a:srgbClr val="006455"/>
                          </a:solidFill>
                          <a:latin typeface="Montserrat"/>
                        </a:defRPr>
                      </a:pPr>
                      <a:r>
                        <a:t>81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288</a:t>
                      </a:r>
                    </a:p>
                  </a:txBody>
                  <a:tcPr anchor="ctr" marL="73152" marR="73152" marT="0" marB="0">
                    <a:solidFill>
                      <a:srgbClr val="D3E9E7"/>
                    </a:solidFill>
                  </a:tcPr>
                </a:tc>
                <a:tc>
                  <a:txBody>
                    <a:bodyPr/>
                    <a:lstStyle/>
                    <a:p>
                      <a:pPr algn="ctr">
                        <a:defRPr b="1" sz="1000">
                          <a:solidFill>
                            <a:srgbClr val="006455"/>
                          </a:solidFill>
                          <a:latin typeface="Montserrat"/>
                        </a:defRPr>
                      </a:pPr>
                      <a:r>
                        <a:t>17</a:t>
                      </a:r>
                    </a:p>
                  </a:txBody>
                  <a:tcPr anchor="ctr" marL="73152" marR="73152" marT="0" marB="0">
                    <a:solidFill>
                      <a:srgbClr val="D3E9E7"/>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c>
                  <a:txBody>
                    <a:bodyPr/>
                    <a:lstStyle/>
                    <a:p>
                      <a:pPr algn="ctr">
                        <a:defRPr b="1" sz="1000">
                          <a:solidFill>
                            <a:srgbClr val="006455"/>
                          </a:solidFill>
                          <a:latin typeface="Montserrat"/>
                        </a:defRPr>
                      </a:pPr>
                      <a:r>
                        <a:t>98</a:t>
                      </a:r>
                    </a:p>
                  </a:txBody>
                  <a:tcPr anchor="ctr" marL="73152" marR="73152" marT="0" marB="0">
                    <a:solidFill>
                      <a:srgbClr val="D3E9E7"/>
                    </a:solidFill>
                  </a:tcPr>
                </a:tc>
                <a:tc>
                  <a:txBody>
                    <a:bodyPr/>
                    <a:lstStyle/>
                    <a:p>
                      <a:pPr algn="ctr">
                        <a:defRPr b="1" sz="1000">
                          <a:solidFill>
                            <a:srgbClr val="006455"/>
                          </a:solidFill>
                          <a:latin typeface="Montserrat"/>
                        </a:defRPr>
                      </a:pPr>
                      <a:r>
                        <a:t>432</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c>
                  <a:txBody>
                    <a:bodyPr/>
                    <a:lstStyle/>
                    <a:p>
                      <a:pPr algn="ctr">
                        <a:defRPr b="1" sz="1000">
                          <a:solidFill>
                            <a:srgbClr val="006455"/>
                          </a:solidFill>
                          <a:latin typeface="Montserrat"/>
                        </a:defRPr>
                      </a:pPr>
                      <a:r>
                        <a:t>53</a:t>
                      </a:r>
                    </a:p>
                  </a:txBody>
                  <a:tcPr anchor="ctr" marL="73152" marR="73152" marT="0" marB="0">
                    <a:solidFill>
                      <a:srgbClr val="D3E9E7"/>
                    </a:solidFill>
                  </a:tcPr>
                </a:tc>
                <a:tc>
                  <a:txBody>
                    <a:bodyPr/>
                    <a:lstStyle/>
                    <a:p>
                      <a:pPr algn="ctr">
                        <a:defRPr b="1" sz="1000">
                          <a:solidFill>
                            <a:srgbClr val="006455"/>
                          </a:solidFill>
                          <a:latin typeface="Montserrat"/>
                        </a:defRPr>
                      </a:pPr>
                      <a:r>
                        <a:t>362</a:t>
                      </a:r>
                    </a:p>
                  </a:txBody>
                  <a:tcPr anchor="ctr" marL="73152" marR="73152" marT="0" marB="0">
                    <a:solidFill>
                      <a:srgbClr val="D3E9E7"/>
                    </a:solidFill>
                  </a:tcPr>
                </a:tc>
                <a:tc>
                  <a:txBody>
                    <a:bodyPr/>
                    <a:lstStyle/>
                    <a:p>
                      <a:pPr algn="ctr">
                        <a:defRPr b="1" sz="1000">
                          <a:solidFill>
                            <a:srgbClr val="006455"/>
                          </a:solidFill>
                          <a:latin typeface="Montserrat"/>
                        </a:defRPr>
                      </a:pPr>
                      <a:r>
                        <a:t>537</a:t>
                      </a:r>
                    </a:p>
                  </a:txBody>
                  <a:tcPr anchor="ctr" marL="73152" marR="73152" marT="0" marB="0">
                    <a:solidFill>
                      <a:srgbClr val="D3E9E7"/>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66,902</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13,291</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53,611</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14,353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97,111</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1,667</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304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71 Chalco</a:t>
                      </a:r>
                    </a:p>
                  </a:txBody>
                  <a:tcPr anchor="ctr">
                    <a:solidFill>
                      <a:srgbClr val="FFFFFF"/>
                    </a:solidFill>
                  </a:tcPr>
                </a:tc>
                <a:tc>
                  <a:txBody>
                    <a:bodyPr/>
                    <a:lstStyle/>
                    <a:p>
                      <a:pPr algn="ctr">
                        <a:defRPr sz="900">
                          <a:latin typeface="Montserrat"/>
                        </a:defRPr>
                      </a:pPr>
                      <a:r>
                        <a:t>Junio de 1997</a:t>
                      </a:r>
                    </a:p>
                  </a:txBody>
                  <a:tcPr anchor="ctr">
                    <a:solidFill>
                      <a:srgbClr val="FFFFFF"/>
                    </a:solidFill>
                  </a:tcPr>
                </a:tc>
                <a:tc>
                  <a:txBody>
                    <a:bodyPr/>
                    <a:lstStyle/>
                    <a:p>
                      <a:pPr algn="ctr">
                        <a:defRPr sz="900">
                          <a:latin typeface="Montserrat"/>
                        </a:defRPr>
                      </a:pPr>
                      <a:r>
                        <a:t>113</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22</a:t>
                      </a:r>
                    </a:p>
                  </a:txBody>
                  <a:tcPr anchor="ctr">
                    <a:solidFill>
                      <a:srgbClr val="FFFFFF"/>
                    </a:solidFill>
                  </a:tcPr>
                </a:tc>
              </a:tr>
              <a:tr h="230400">
                <a:tc>
                  <a:txBody>
                    <a:bodyPr/>
                    <a:lstStyle/>
                    <a:p>
                      <a:pPr algn="l">
                        <a:defRPr sz="900">
                          <a:latin typeface="Montserrat"/>
                        </a:defRPr>
                      </a:pPr>
                      <a:r>
                        <a:t>HGR 196 Fidel Velázquez</a:t>
                      </a:r>
                    </a:p>
                  </a:txBody>
                  <a:tcPr anchor="ctr">
                    <a:solidFill>
                      <a:srgbClr val="EFEFEF"/>
                    </a:solidFill>
                  </a:tcPr>
                </a:tc>
                <a:tc>
                  <a:txBody>
                    <a:bodyPr/>
                    <a:lstStyle/>
                    <a:p>
                      <a:pPr algn="ctr">
                        <a:defRPr sz="900">
                          <a:latin typeface="Montserrat"/>
                        </a:defRPr>
                      </a:pPr>
                      <a:r>
                        <a:t>Abril de 1998</a:t>
                      </a:r>
                    </a:p>
                  </a:txBody>
                  <a:tcPr anchor="ctr">
                    <a:solidFill>
                      <a:srgbClr val="EFEFEF"/>
                    </a:solidFill>
                  </a:tcPr>
                </a:tc>
                <a:tc>
                  <a:txBody>
                    <a:bodyPr/>
                    <a:lstStyle/>
                    <a:p>
                      <a:pPr algn="ctr">
                        <a:defRPr sz="900">
                          <a:latin typeface="Montserrat"/>
                        </a:defRPr>
                      </a:pPr>
                      <a:r>
                        <a:t>214</a:t>
                      </a:r>
                    </a:p>
                  </a:txBody>
                  <a:tcPr anchor="ctr">
                    <a:solidFill>
                      <a:srgbClr val="EFEFEF"/>
                    </a:solidFill>
                  </a:tcPr>
                </a:tc>
                <a:tc>
                  <a:txBody>
                    <a:bodyPr/>
                    <a:lstStyle/>
                    <a:p>
                      <a:pPr algn="ctr">
                        <a:defRPr sz="900">
                          <a:latin typeface="Montserrat"/>
                        </a:defRPr>
                      </a:pPr>
                      <a:r>
                        <a:t>90</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38</a:t>
                      </a:r>
                    </a:p>
                  </a:txBody>
                  <a:tcPr anchor="ctr">
                    <a:solidFill>
                      <a:srgbClr val="EFEFEF"/>
                    </a:solidFill>
                  </a:tcPr>
                </a:tc>
              </a:tr>
              <a:tr h="230400">
                <a:tc>
                  <a:txBody>
                    <a:bodyPr/>
                    <a:lstStyle/>
                    <a:p>
                      <a:pPr algn="l">
                        <a:defRPr sz="900">
                          <a:latin typeface="Montserrat"/>
                        </a:defRPr>
                      </a:pPr>
                      <a:r>
                        <a:t>HGZ 194 El Molinito</a:t>
                      </a:r>
                    </a:p>
                  </a:txBody>
                  <a:tcPr anchor="ctr">
                    <a:solidFill>
                      <a:srgbClr val="FFFFFF"/>
                    </a:solidFill>
                  </a:tcPr>
                </a:tc>
                <a:tc>
                  <a:txBody>
                    <a:bodyPr/>
                    <a:lstStyle/>
                    <a:p>
                      <a:pPr algn="ctr">
                        <a:defRPr sz="900">
                          <a:latin typeface="Montserrat"/>
                        </a:defRPr>
                      </a:pPr>
                      <a:r>
                        <a:t>Noviembre de 1998</a:t>
                      </a:r>
                    </a:p>
                  </a:txBody>
                  <a:tcPr anchor="ctr">
                    <a:solidFill>
                      <a:srgbClr val="FFFFFF"/>
                    </a:solidFill>
                  </a:tcPr>
                </a:tc>
                <a:tc>
                  <a:txBody>
                    <a:bodyPr/>
                    <a:lstStyle/>
                    <a:p>
                      <a:pPr algn="ctr">
                        <a:defRPr sz="900">
                          <a:latin typeface="Montserrat"/>
                        </a:defRPr>
                      </a:pPr>
                      <a:r>
                        <a:t>212</a:t>
                      </a:r>
                    </a:p>
                  </a:txBody>
                  <a:tcPr anchor="ctr">
                    <a:solidFill>
                      <a:srgbClr val="FFFFFF"/>
                    </a:solidFill>
                  </a:tcPr>
                </a:tc>
                <a:tc>
                  <a:txBody>
                    <a:bodyPr/>
                    <a:lstStyle/>
                    <a:p>
                      <a:pPr algn="ctr">
                        <a:defRPr sz="900">
                          <a:latin typeface="Montserrat"/>
                        </a:defRPr>
                      </a:pPr>
                      <a:r>
                        <a:t>77</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HGZ 197 Texcoco</a:t>
                      </a:r>
                    </a:p>
                  </a:txBody>
                  <a:tcPr anchor="ctr">
                    <a:solidFill>
                      <a:srgbClr val="EFEFEF"/>
                    </a:solidFill>
                  </a:tcPr>
                </a:tc>
                <a:tc>
                  <a:txBody>
                    <a:bodyPr/>
                    <a:lstStyle/>
                    <a:p>
                      <a:pPr algn="ctr">
                        <a:defRPr sz="900">
                          <a:latin typeface="Montserrat"/>
                        </a:defRPr>
                      </a:pPr>
                      <a:r>
                        <a:t>Marzo de 2004</a:t>
                      </a:r>
                    </a:p>
                  </a:txBody>
                  <a:tcPr anchor="ctr">
                    <a:solidFill>
                      <a:srgbClr val="EFEFEF"/>
                    </a:solidFill>
                  </a:tcPr>
                </a:tc>
                <a:tc>
                  <a:txBody>
                    <a:bodyPr/>
                    <a:lstStyle/>
                    <a:p>
                      <a:pPr algn="ctr">
                        <a:defRPr sz="900">
                          <a:latin typeface="Montserrat"/>
                        </a:defRPr>
                      </a:pPr>
                      <a:r>
                        <a:t>215</a:t>
                      </a:r>
                    </a:p>
                  </a:txBody>
                  <a:tcPr anchor="ctr">
                    <a:solidFill>
                      <a:srgbClr val="EFEFEF"/>
                    </a:solidFill>
                  </a:tcPr>
                </a:tc>
                <a:tc>
                  <a:txBody>
                    <a:bodyPr/>
                    <a:lstStyle/>
                    <a:p>
                      <a:pPr algn="ctr">
                        <a:defRPr sz="900">
                          <a:latin typeface="Montserrat"/>
                        </a:defRPr>
                      </a:pPr>
                      <a:r>
                        <a:t>102</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32</a:t>
                      </a:r>
                    </a:p>
                  </a:txBody>
                  <a:tcPr anchor="ctr">
                    <a:solidFill>
                      <a:srgbClr val="EFEFEF"/>
                    </a:solidFill>
                  </a:tcPr>
                </a:tc>
              </a:tr>
              <a:tr h="230400">
                <a:tc>
                  <a:txBody>
                    <a:bodyPr/>
                    <a:lstStyle/>
                    <a:p>
                      <a:pPr algn="l">
                        <a:defRPr sz="900">
                          <a:latin typeface="Montserrat"/>
                        </a:defRPr>
                      </a:pPr>
                      <a:r>
                        <a:t>UMAA 199 Tlalnepantla (Aut)</a:t>
                      </a:r>
                    </a:p>
                  </a:txBody>
                  <a:tcPr anchor="ctr">
                    <a:solidFill>
                      <a:srgbClr val="FFFFFF"/>
                    </a:solidFill>
                  </a:tcPr>
                </a:tc>
                <a:tc>
                  <a:txBody>
                    <a:bodyPr/>
                    <a:lstStyle/>
                    <a:p>
                      <a:pPr algn="ctr">
                        <a:defRPr sz="900">
                          <a:latin typeface="Montserrat"/>
                        </a:defRPr>
                      </a:pPr>
                      <a:r>
                        <a:t>Septiembre de 2008</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HGR 200 Tecamac</a:t>
                      </a:r>
                    </a:p>
                  </a:txBody>
                  <a:tcPr anchor="ctr">
                    <a:solidFill>
                      <a:srgbClr val="EFEFEF"/>
                    </a:solidFill>
                  </a:tcPr>
                </a:tc>
                <a:tc>
                  <a:txBody>
                    <a:bodyPr/>
                    <a:lstStyle/>
                    <a:p>
                      <a:pPr algn="ctr">
                        <a:defRPr sz="900">
                          <a:latin typeface="Montserrat"/>
                        </a:defRPr>
                      </a:pPr>
                      <a:r>
                        <a:t>Diciembre de 2011</a:t>
                      </a:r>
                    </a:p>
                  </a:txBody>
                  <a:tcPr anchor="ctr">
                    <a:solidFill>
                      <a:srgbClr val="EFEFEF"/>
                    </a:solidFill>
                  </a:tcPr>
                </a:tc>
                <a:tc>
                  <a:txBody>
                    <a:bodyPr/>
                    <a:lstStyle/>
                    <a:p>
                      <a:pPr algn="ctr">
                        <a:defRPr sz="900">
                          <a:latin typeface="Montserrat"/>
                        </a:defRPr>
                      </a:pPr>
                      <a:r>
                        <a:t>268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43</a:t>
                      </a:r>
                    </a:p>
                  </a:txBody>
                  <a:tcPr anchor="ctr">
                    <a:solidFill>
                      <a:srgbClr val="EFEFEF"/>
                    </a:solidFill>
                  </a:tcPr>
                </a:tc>
              </a:tr>
              <a:tr h="230400">
                <a:tc>
                  <a:txBody>
                    <a:bodyPr/>
                    <a:lstStyle/>
                    <a:p>
                      <a:pPr algn="l">
                        <a:defRPr sz="900">
                          <a:latin typeface="Montserrat"/>
                        </a:defRPr>
                      </a:pPr>
                      <a:r>
                        <a:t>HGR 251 Metepec</a:t>
                      </a:r>
                    </a:p>
                  </a:txBody>
                  <a:tcPr anchor="ctr">
                    <a:solidFill>
                      <a:srgbClr val="FFFFFF"/>
                    </a:solidFill>
                  </a:tcPr>
                </a:tc>
                <a:tc>
                  <a:txBody>
                    <a:bodyPr/>
                    <a:lstStyle/>
                    <a:p>
                      <a:pPr algn="ctr">
                        <a:defRPr sz="900">
                          <a:latin typeface="Montserrat"/>
                        </a:defRPr>
                      </a:pPr>
                      <a:r>
                        <a:t>Marzo de 2012</a:t>
                      </a:r>
                    </a:p>
                  </a:txBody>
                  <a:tcPr anchor="ctr">
                    <a:solidFill>
                      <a:srgbClr val="FFFFFF"/>
                    </a:solidFill>
                  </a:tcPr>
                </a:tc>
                <a:tc>
                  <a:txBody>
                    <a:bodyPr/>
                    <a:lstStyle/>
                    <a:p>
                      <a:pPr algn="ctr">
                        <a:defRPr sz="900">
                          <a:latin typeface="Montserrat"/>
                        </a:defRPr>
                      </a:pPr>
                      <a:r>
                        <a:t>271</a:t>
                      </a:r>
                    </a:p>
                  </a:txBody>
                  <a:tcPr anchor="ctr">
                    <a:solidFill>
                      <a:srgbClr val="FFFFFF"/>
                    </a:solidFill>
                  </a:tcPr>
                </a:tc>
                <a:tc>
                  <a:txBody>
                    <a:bodyPr/>
                    <a:lstStyle/>
                    <a:p>
                      <a:pPr algn="ctr">
                        <a:defRPr sz="900">
                          <a:latin typeface="Montserrat"/>
                        </a:defRPr>
                      </a:pPr>
                      <a:r>
                        <a:t>128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36</a:t>
                      </a:r>
                    </a:p>
                  </a:txBody>
                  <a:tcPr anchor="ctr">
                    <a:solidFill>
                      <a:srgbClr val="FFFFFF"/>
                    </a:solidFill>
                  </a:tcPr>
                </a:tc>
              </a:tr>
              <a:tr h="230400">
                <a:tc>
                  <a:txBody>
                    <a:bodyPr/>
                    <a:lstStyle/>
                    <a:p>
                      <a:pPr algn="l">
                        <a:defRPr sz="900">
                          <a:latin typeface="Montserrat"/>
                        </a:defRPr>
                      </a:pPr>
                      <a:r>
                        <a:t>HGZ 252 Atlacomulco</a:t>
                      </a:r>
                    </a:p>
                  </a:txBody>
                  <a:tcPr anchor="ctr">
                    <a:solidFill>
                      <a:srgbClr val="EFEFEF"/>
                    </a:solidFill>
                  </a:tcPr>
                </a:tc>
                <a:tc>
                  <a:txBody>
                    <a:bodyPr/>
                    <a:lstStyle/>
                    <a:p>
                      <a:pPr algn="ctr">
                        <a:defRPr sz="900">
                          <a:latin typeface="Montserrat"/>
                        </a:defRPr>
                      </a:pPr>
                      <a:r>
                        <a:t>Mayo de 2020</a:t>
                      </a:r>
                    </a:p>
                  </a:txBody>
                  <a:tcPr anchor="ctr">
                    <a:solidFill>
                      <a:srgbClr val="EFEFEF"/>
                    </a:solidFill>
                  </a:tcPr>
                </a:tc>
                <a:tc>
                  <a:txBody>
                    <a:bodyPr/>
                    <a:lstStyle/>
                    <a:p>
                      <a:pPr algn="ctr">
                        <a:defRPr sz="900">
                          <a:latin typeface="Montserrat"/>
                        </a:defRPr>
                      </a:pPr>
                      <a:r>
                        <a:t>106</a:t>
                      </a:r>
                    </a:p>
                  </a:txBody>
                  <a:tcPr anchor="ctr">
                    <a:solidFill>
                      <a:srgbClr val="EFEFEF"/>
                    </a:solidFill>
                  </a:tcPr>
                </a:tc>
                <a:tc>
                  <a:txBody>
                    <a:bodyPr/>
                    <a:lstStyle/>
                    <a:p>
                      <a:pPr algn="ctr">
                        <a:defRPr sz="900">
                          <a:latin typeface="Montserrat"/>
                        </a:defRPr>
                      </a:pPr>
                      <a:r>
                        <a:t>74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3,322</a:t>
                      </a:r>
                    </a:p>
                  </a:txBody>
                  <a:tcPr anchor="ctr">
                    <a:solidFill>
                      <a:srgbClr val="D3E9E7"/>
                    </a:solidFill>
                  </a:tcPr>
                </a:tc>
                <a:tc>
                  <a:txBody>
                    <a:bodyPr/>
                    <a:lstStyle/>
                    <a:p>
                      <a:pPr algn="ctr">
                        <a:defRPr sz="900" b="1">
                          <a:solidFill>
                            <a:srgbClr val="006556"/>
                          </a:solidFill>
                          <a:latin typeface="Montserrat"/>
                        </a:defRPr>
                      </a:pPr>
                      <a:r>
                        <a:t>1,349</a:t>
                      </a:r>
                    </a:p>
                  </a:txBody>
                  <a:tcPr anchor="ctr">
                    <a:solidFill>
                      <a:srgbClr val="D3E9E7"/>
                    </a:solidFill>
                  </a:tcPr>
                </a:tc>
                <a:tc>
                  <a:txBody>
                    <a:bodyPr/>
                    <a:lstStyle/>
                    <a:p>
                      <a:pPr algn="ctr">
                        <a:defRPr sz="900" b="1">
                          <a:solidFill>
                            <a:srgbClr val="006556"/>
                          </a:solidFill>
                          <a:latin typeface="Montserrat"/>
                        </a:defRPr>
                      </a:pPr>
                      <a:r>
                        <a:t>146</a:t>
                      </a:r>
                    </a:p>
                  </a:txBody>
                  <a:tcPr anchor="ctr">
                    <a:solidFill>
                      <a:srgbClr val="D3E9E7"/>
                    </a:solidFill>
                  </a:tcPr>
                </a:tc>
                <a:tc>
                  <a:txBody>
                    <a:bodyPr/>
                    <a:lstStyle/>
                    <a:p>
                      <a:pPr algn="ctr">
                        <a:defRPr sz="900" b="1">
                          <a:solidFill>
                            <a:srgbClr val="006556"/>
                          </a:solidFill>
                          <a:latin typeface="Montserrat"/>
                        </a:defRPr>
                      </a:pPr>
                      <a:r>
                        <a:t>85</a:t>
                      </a:r>
                    </a:p>
                  </a:txBody>
                  <a:tcPr anchor="ctr">
                    <a:solidFill>
                      <a:srgbClr val="D3E9E7"/>
                    </a:solidFill>
                  </a:tcPr>
                </a:tc>
                <a:tc>
                  <a:txBody>
                    <a:bodyPr/>
                    <a:lstStyle/>
                    <a:p>
                      <a:pPr algn="ctr">
                        <a:defRPr sz="900" b="1">
                          <a:solidFill>
                            <a:srgbClr val="006556"/>
                          </a:solidFill>
                          <a:latin typeface="Montserrat"/>
                        </a:defRPr>
                      </a:pPr>
                      <a:r>
                        <a:t>480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8988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Amanalco</a:t>
                      </a:r>
                    </a:p>
                  </a:txBody>
                  <a:tcPr anchor="ctr">
                    <a:solidFill>
                      <a:srgbClr val="FFFFFF"/>
                    </a:solidFill>
                  </a:tcPr>
                </a:tc>
                <a:tc>
                  <a:txBody>
                    <a:bodyPr/>
                    <a:lstStyle/>
                    <a:p>
                      <a:pPr algn="ctr">
                        <a:defRPr sz="900">
                          <a:latin typeface="Montserrat"/>
                        </a:defRPr>
                      </a:pPr>
                      <a:r>
                        <a:t>Mayo de 2010</a:t>
                      </a:r>
                    </a:p>
                  </a:txBody>
                  <a:tcPr anchor="ctr">
                    <a:solidFill>
                      <a:srgbClr val="FFFFFF"/>
                    </a:solidFill>
                  </a:tcPr>
                </a:tc>
                <a:tc>
                  <a:txBody>
                    <a:bodyPr/>
                    <a:lstStyle/>
                    <a:p>
                      <a:pPr algn="ctr">
                        <a:defRPr sz="900">
                          <a:latin typeface="Montserrat"/>
                        </a:defRPr>
                      </a:pPr>
                      <a:r>
                        <a:t>28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HR San Jose del Rincon</a:t>
                      </a:r>
                    </a:p>
                  </a:txBody>
                  <a:tcPr anchor="ctr">
                    <a:solidFill>
                      <a:srgbClr val="EFEFEF"/>
                    </a:solidFill>
                  </a:tcPr>
                </a:tc>
                <a:tc>
                  <a:txBody>
                    <a:bodyPr/>
                    <a:lstStyle/>
                    <a:p>
                      <a:pPr algn="ctr">
                        <a:defRPr sz="900">
                          <a:latin typeface="Montserrat"/>
                        </a:defRPr>
                      </a:pPr>
                      <a:r>
                        <a:t>Octubre de 2010</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13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7</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56</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2</a:t>
                      </a:r>
                    </a:p>
                  </a:txBody>
                  <a:tcPr anchor="ctr">
                    <a:solidFill>
                      <a:srgbClr val="D3E9E7"/>
                    </a:solidFill>
                  </a:tcPr>
                </a:tc>
                <a:tc>
                  <a:txBody>
                    <a:bodyPr/>
                    <a:lstStyle/>
                    <a:p>
                      <a:pPr algn="ctr">
                        <a:defRPr sz="900" b="1">
                          <a:solidFill>
                            <a:srgbClr val="006556"/>
                          </a:solidFill>
                          <a:latin typeface="Montserrat"/>
                        </a:defRPr>
                      </a:pPr>
                      <a:r>
                        <a:t>14</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51804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HTO Lomas Verdes</a:t>
                      </a:r>
                    </a:p>
                  </a:txBody>
                  <a:tcPr anchor="ctr">
                    <a:solidFill>
                      <a:srgbClr val="FFFFFF"/>
                    </a:solidFill>
                  </a:tcPr>
                </a:tc>
                <a:tc>
                  <a:txBody>
                    <a:bodyPr/>
                    <a:lstStyle/>
                    <a:p>
                      <a:pPr algn="ctr">
                        <a:defRPr sz="900">
                          <a:latin typeface="Montserrat"/>
                        </a:defRPr>
                      </a:pPr>
                      <a:r>
                        <a:t>Junio de 1998</a:t>
                      </a:r>
                    </a:p>
                  </a:txBody>
                  <a:tcPr anchor="ctr">
                    <a:solidFill>
                      <a:srgbClr val="FFFFFF"/>
                    </a:solidFill>
                  </a:tcPr>
                </a:tc>
                <a:tc>
                  <a:txBody>
                    <a:bodyPr/>
                    <a:lstStyle/>
                    <a:p>
                      <a:pPr algn="ctr">
                        <a:defRPr sz="900">
                          <a:latin typeface="Montserrat"/>
                        </a:defRPr>
                      </a:pPr>
                      <a:r>
                        <a:t>316</a:t>
                      </a:r>
                    </a:p>
                  </a:txBody>
                  <a:tcPr anchor="ctr">
                    <a:solidFill>
                      <a:srgbClr val="FFFFFF"/>
                    </a:solidFill>
                  </a:tcPr>
                </a:tc>
                <a:tc>
                  <a:txBody>
                    <a:bodyPr/>
                    <a:lstStyle/>
                    <a:p>
                      <a:pPr algn="ctr">
                        <a:defRPr sz="900">
                          <a:latin typeface="Montserrat"/>
                        </a:defRPr>
                      </a:pPr>
                      <a:r>
                        <a:t>160</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316</a:t>
                      </a:r>
                    </a:p>
                  </a:txBody>
                  <a:tcPr anchor="ctr">
                    <a:solidFill>
                      <a:srgbClr val="D3E9E7"/>
                    </a:solidFill>
                  </a:tcPr>
                </a:tc>
                <a:tc>
                  <a:txBody>
                    <a:bodyPr/>
                    <a:lstStyle/>
                    <a:p>
                      <a:pPr algn="ctr">
                        <a:defRPr sz="900" b="1">
                          <a:solidFill>
                            <a:srgbClr val="006556"/>
                          </a:solidFill>
                          <a:latin typeface="Montserrat"/>
                        </a:defRPr>
                      </a:pPr>
                      <a:r>
                        <a:t>160</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16</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3,694</a:t>
                      </a:r>
                    </a:p>
                  </a:txBody>
                  <a:tcPr anchor="ctr">
                    <a:solidFill>
                      <a:srgbClr val="D3E9E7"/>
                    </a:solidFill>
                  </a:tcPr>
                </a:tc>
                <a:tc>
                  <a:txBody>
                    <a:bodyPr/>
                    <a:lstStyle/>
                    <a:p>
                      <a:pPr algn="ctr">
                        <a:defRPr sz="900" b="1">
                          <a:solidFill>
                            <a:srgbClr val="006556"/>
                          </a:solidFill>
                          <a:latin typeface="Montserrat"/>
                        </a:defRPr>
                      </a:pPr>
                      <a:r>
                        <a:t>1,538</a:t>
                      </a:r>
                    </a:p>
                  </a:txBody>
                  <a:tcPr anchor="ctr">
                    <a:solidFill>
                      <a:srgbClr val="D3E9E7"/>
                    </a:solidFill>
                  </a:tcPr>
                </a:tc>
                <a:tc>
                  <a:txBody>
                    <a:bodyPr/>
                    <a:lstStyle/>
                    <a:p>
                      <a:pPr algn="ctr">
                        <a:defRPr sz="900" b="1">
                          <a:solidFill>
                            <a:srgbClr val="006556"/>
                          </a:solidFill>
                          <a:latin typeface="Montserrat"/>
                        </a:defRPr>
                      </a:pPr>
                      <a:r>
                        <a:t>164</a:t>
                      </a:r>
                    </a:p>
                  </a:txBody>
                  <a:tcPr anchor="ctr">
                    <a:solidFill>
                      <a:srgbClr val="D3E9E7"/>
                    </a:solidFill>
                  </a:tcPr>
                </a:tc>
                <a:tc>
                  <a:txBody>
                    <a:bodyPr/>
                    <a:lstStyle/>
                    <a:p>
                      <a:pPr algn="ctr">
                        <a:defRPr sz="900" b="1">
                          <a:solidFill>
                            <a:srgbClr val="006556"/>
                          </a:solidFill>
                          <a:latin typeface="Montserrat"/>
                        </a:defRPr>
                      </a:pPr>
                      <a:r>
                        <a:t>103</a:t>
                      </a:r>
                    </a:p>
                  </a:txBody>
                  <a:tcPr anchor="ctr">
                    <a:solidFill>
                      <a:srgbClr val="D3E9E7"/>
                    </a:solidFill>
                  </a:tcPr>
                </a:tc>
                <a:tc>
                  <a:txBody>
                    <a:bodyPr/>
                    <a:lstStyle/>
                    <a:p>
                      <a:pPr algn="ctr">
                        <a:defRPr sz="900" b="1">
                          <a:solidFill>
                            <a:srgbClr val="006556"/>
                          </a:solidFill>
                          <a:latin typeface="Montserrat"/>
                        </a:defRPr>
                      </a:pPr>
                      <a:r>
                        <a:t>523</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21</a:t>
                      </a:r>
                    </a:p>
                  </a:txBody>
                  <a:tcPr>
                    <a:solidFill>
                      <a:srgbClr val="D3E9E7"/>
                    </a:solidFill>
                  </a:tcPr>
                </a:tc>
                <a:tc>
                  <a:txBody>
                    <a:bodyPr/>
                    <a:lstStyle/>
                    <a:p>
                      <a:pPr algn="ctr">
                        <a:defRPr sz="1000" b="1">
                          <a:solidFill>
                            <a:srgbClr val="006556"/>
                          </a:solidFill>
                          <a:latin typeface="Montserrat"/>
                        </a:defRPr>
                      </a:pPr>
                      <a:r>
                        <a:t>77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44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1209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243 V. Victoria</a:t>
                      </a:r>
                    </a:p>
                  </a:txBody>
                  <a:tcPr marL="0" marR="0" marT="0" marB="0">
                    <a:solidFill>
                      <a:srgbClr val="FFFFFF"/>
                    </a:solidFill>
                  </a:tcPr>
                </a:tc>
                <a:tc>
                  <a:txBody>
                    <a:bodyPr/>
                    <a:lstStyle/>
                    <a:p>
                      <a:pPr algn="ctr">
                        <a:defRPr sz="1000">
                          <a:latin typeface="Montserrat"/>
                        </a:defRPr>
                      </a:pPr>
                      <a:r>
                        <a:t>17,036</a:t>
                      </a:r>
                    </a:p>
                  </a:txBody>
                  <a:tcPr marL="0" marR="0" marT="0" marB="0">
                    <a:solidFill>
                      <a:srgbClr val="FFFFFF"/>
                    </a:solidFill>
                  </a:tcPr>
                </a:tc>
                <a:tc>
                  <a:txBody>
                    <a:bodyPr/>
                    <a:lstStyle/>
                    <a:p>
                      <a:pPr algn="ctr">
                        <a:defRPr sz="1000">
                          <a:latin typeface="Montserrat"/>
                        </a:defRPr>
                      </a:pPr>
                      <a:r>
                        <a:t>4,285</a:t>
                      </a:r>
                    </a:p>
                  </a:txBody>
                  <a:tcPr marL="0" marR="0" marT="0" marB="0">
                    <a:solidFill>
                      <a:srgbClr val="FFFFFF"/>
                    </a:solidFill>
                  </a:tcPr>
                </a:tc>
                <a:tc>
                  <a:txBody>
                    <a:bodyPr/>
                    <a:lstStyle/>
                    <a:p>
                      <a:pPr algn="ctr">
                        <a:defRPr sz="1000">
                          <a:latin typeface="Montserrat"/>
                        </a:defRPr>
                      </a:pPr>
                      <a:r>
                        <a:t>6,163</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34.2%</a:t>
                      </a:r>
                    </a:p>
                  </a:txBody>
                  <a:tcPr marL="0" marR="0" marT="0" marB="0">
                    <a:solidFill>
                      <a:srgbClr val="ECD3D9"/>
                    </a:solidFill>
                  </a:tcPr>
                </a:tc>
              </a:tr>
              <a:tr h="151200">
                <a:tc>
                  <a:txBody>
                    <a:bodyPr/>
                    <a:lstStyle/>
                    <a:p>
                      <a:pPr algn="l">
                        <a:defRPr sz="1000">
                          <a:latin typeface="Montserrat"/>
                        </a:defRPr>
                      </a:pPr>
                      <a:r>
                        <a:t>UMF 190 Huixquilucan</a:t>
                      </a:r>
                    </a:p>
                  </a:txBody>
                  <a:tcPr marL="0" marR="0" marT="0" marB="0">
                    <a:solidFill>
                      <a:srgbClr val="EFEFEF"/>
                    </a:solidFill>
                  </a:tcPr>
                </a:tc>
                <a:tc>
                  <a:txBody>
                    <a:bodyPr/>
                    <a:lstStyle/>
                    <a:p>
                      <a:pPr algn="ctr">
                        <a:defRPr sz="1000">
                          <a:latin typeface="Montserrat"/>
                        </a:defRPr>
                      </a:pPr>
                      <a:r>
                        <a:t>95,377</a:t>
                      </a:r>
                    </a:p>
                  </a:txBody>
                  <a:tcPr marL="0" marR="0" marT="0" marB="0">
                    <a:solidFill>
                      <a:srgbClr val="EFEFEF"/>
                    </a:solidFill>
                  </a:tcPr>
                </a:tc>
                <a:tc>
                  <a:txBody>
                    <a:bodyPr/>
                    <a:lstStyle/>
                    <a:p>
                      <a:pPr algn="ctr">
                        <a:defRPr sz="1000">
                          <a:latin typeface="Montserrat"/>
                        </a:defRPr>
                      </a:pPr>
                      <a:r>
                        <a:t>4,655</a:t>
                      </a:r>
                    </a:p>
                  </a:txBody>
                  <a:tcPr marL="0" marR="0" marT="0" marB="0">
                    <a:solidFill>
                      <a:srgbClr val="EFEFEF"/>
                    </a:solidFill>
                  </a:tcPr>
                </a:tc>
                <a:tc>
                  <a:txBody>
                    <a:bodyPr/>
                    <a:lstStyle/>
                    <a:p>
                      <a:pPr algn="ctr">
                        <a:defRPr sz="1000">
                          <a:latin typeface="Montserrat"/>
                        </a:defRPr>
                      </a:pPr>
                      <a:r>
                        <a:t>32,090</a:t>
                      </a:r>
                    </a:p>
                  </a:txBody>
                  <a:tcPr marL="0" marR="0" marT="0" marB="0">
                    <a:solidFill>
                      <a:srgbClr val="ECD3D9"/>
                    </a:solidFill>
                  </a:tcPr>
                </a:tc>
                <a:tc>
                  <a:txBody>
                    <a:bodyPr/>
                    <a:lstStyle/>
                    <a:p>
                      <a:pPr algn="ctr">
                        <a:defRPr sz="1000">
                          <a:latin typeface="Montserrat"/>
                        </a:defRPr>
                      </a:pPr>
                      <a:r>
                        <a:t>93,000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246 Jocotitlán</a:t>
                      </a:r>
                    </a:p>
                  </a:txBody>
                  <a:tcPr marL="0" marR="0" marT="0" marB="0">
                    <a:solidFill>
                      <a:srgbClr val="FFFFFF"/>
                    </a:solidFill>
                  </a:tcPr>
                </a:tc>
                <a:tc>
                  <a:txBody>
                    <a:bodyPr/>
                    <a:lstStyle/>
                    <a:p>
                      <a:pPr algn="ctr">
                        <a:defRPr sz="1000">
                          <a:latin typeface="Montserrat"/>
                        </a:defRPr>
                      </a:pPr>
                      <a:r>
                        <a:t>24,994</a:t>
                      </a:r>
                    </a:p>
                  </a:txBody>
                  <a:tcPr marL="0" marR="0" marT="0" marB="0">
                    <a:solidFill>
                      <a:srgbClr val="FFFFFF"/>
                    </a:solidFill>
                  </a:tcPr>
                </a:tc>
                <a:tc>
                  <a:txBody>
                    <a:bodyPr/>
                    <a:lstStyle/>
                    <a:p>
                      <a:pPr algn="ctr">
                        <a:defRPr sz="1000">
                          <a:latin typeface="Montserrat"/>
                        </a:defRPr>
                      </a:pPr>
                      <a:r>
                        <a:t>4,981</a:t>
                      </a:r>
                    </a:p>
                  </a:txBody>
                  <a:tcPr marL="0" marR="0" marT="0" marB="0">
                    <a:solidFill>
                      <a:srgbClr val="FFFFFF"/>
                    </a:solidFill>
                  </a:tcPr>
                </a:tc>
                <a:tc>
                  <a:txBody>
                    <a:bodyPr/>
                    <a:lstStyle/>
                    <a:p>
                      <a:pPr algn="ctr">
                        <a:defRPr sz="1000">
                          <a:latin typeface="Montserrat"/>
                        </a:defRPr>
                      </a:pPr>
                      <a:r>
                        <a:t>7,676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30.6%</a:t>
                      </a:r>
                    </a:p>
                  </a:txBody>
                  <a:tcPr marL="0" marR="0" marT="0" marB="0">
                    <a:solidFill>
                      <a:srgbClr val="ECD3D9"/>
                    </a:solidFill>
                  </a:tcPr>
                </a:tc>
              </a:tr>
              <a:tr h="151200">
                <a:tc>
                  <a:txBody>
                    <a:bodyPr/>
                    <a:lstStyle/>
                    <a:p>
                      <a:pPr algn="l">
                        <a:defRPr sz="1000">
                          <a:latin typeface="Montserrat"/>
                        </a:defRPr>
                      </a:pPr>
                      <a:r>
                        <a:t>UMF 247 Zictepec</a:t>
                      </a:r>
                    </a:p>
                  </a:txBody>
                  <a:tcPr marL="0" marR="0" marT="0" marB="0">
                    <a:solidFill>
                      <a:srgbClr val="EFEFEF"/>
                    </a:solidFill>
                  </a:tcPr>
                </a:tc>
                <a:tc>
                  <a:txBody>
                    <a:bodyPr/>
                    <a:lstStyle/>
                    <a:p>
                      <a:pPr algn="ctr">
                        <a:defRPr sz="1000">
                          <a:latin typeface="Montserrat"/>
                        </a:defRPr>
                      </a:pPr>
                      <a:r>
                        <a:t>13,037</a:t>
                      </a:r>
                    </a:p>
                  </a:txBody>
                  <a:tcPr marL="0" marR="0" marT="0" marB="0">
                    <a:solidFill>
                      <a:srgbClr val="EFEFEF"/>
                    </a:solidFill>
                  </a:tcPr>
                </a:tc>
                <a:tc>
                  <a:txBody>
                    <a:bodyPr/>
                    <a:lstStyle/>
                    <a:p>
                      <a:pPr algn="ctr">
                        <a:defRPr sz="1000">
                          <a:latin typeface="Montserrat"/>
                        </a:defRPr>
                      </a:pPr>
                      <a:r>
                        <a:t>2,250</a:t>
                      </a:r>
                    </a:p>
                  </a:txBody>
                  <a:tcPr marL="0" marR="0" marT="0" marB="0">
                    <a:solidFill>
                      <a:srgbClr val="EFEFEF"/>
                    </a:solidFill>
                  </a:tcPr>
                </a:tc>
                <a:tc>
                  <a:txBody>
                    <a:bodyPr/>
                    <a:lstStyle/>
                    <a:p>
                      <a:pPr algn="ctr">
                        <a:defRPr sz="1000">
                          <a:latin typeface="Montserrat"/>
                        </a:defRPr>
                      </a:pPr>
                      <a:r>
                        <a:t>3,995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30.7%</a:t>
                      </a:r>
                    </a:p>
                  </a:txBody>
                  <a:tcPr marL="0" marR="0" marT="0" marB="0">
                    <a:solidFill>
                      <a:srgbClr val="ECD3D9"/>
                    </a:solidFill>
                  </a:tcPr>
                </a:tc>
              </a:tr>
              <a:tr h="151200">
                <a:tc>
                  <a:txBody>
                    <a:bodyPr/>
                    <a:lstStyle/>
                    <a:p>
                      <a:pPr algn="l">
                        <a:defRPr sz="1000">
                          <a:latin typeface="Montserrat"/>
                        </a:defRPr>
                      </a:pPr>
                      <a:r>
                        <a:t>UMF 244 Toluca</a:t>
                      </a:r>
                    </a:p>
                  </a:txBody>
                  <a:tcPr marL="0" marR="0" marT="0" marB="0">
                    <a:solidFill>
                      <a:srgbClr val="FFFFFF"/>
                    </a:solidFill>
                  </a:tcPr>
                </a:tc>
                <a:tc>
                  <a:txBody>
                    <a:bodyPr/>
                    <a:lstStyle/>
                    <a:p>
                      <a:pPr algn="ctr">
                        <a:defRPr sz="1000">
                          <a:latin typeface="Montserrat"/>
                        </a:defRPr>
                      </a:pPr>
                      <a:r>
                        <a:t>69,107</a:t>
                      </a:r>
                    </a:p>
                  </a:txBody>
                  <a:tcPr marL="0" marR="0" marT="0" marB="0">
                    <a:solidFill>
                      <a:srgbClr val="FFFFFF"/>
                    </a:solidFill>
                  </a:tcPr>
                </a:tc>
                <a:tc>
                  <a:txBody>
                    <a:bodyPr/>
                    <a:lstStyle/>
                    <a:p>
                      <a:pPr algn="ctr">
                        <a:defRPr sz="1000">
                          <a:latin typeface="Montserrat"/>
                        </a:defRPr>
                      </a:pPr>
                      <a:r>
                        <a:t>23,241</a:t>
                      </a:r>
                    </a:p>
                  </a:txBody>
                  <a:tcPr marL="0" marR="0" marT="0" marB="0">
                    <a:solidFill>
                      <a:srgbClr val="FFFFFF"/>
                    </a:solidFill>
                  </a:tcPr>
                </a:tc>
                <a:tc>
                  <a:txBody>
                    <a:bodyPr/>
                    <a:lstStyle/>
                    <a:p>
                      <a:pPr algn="ctr">
                        <a:defRPr sz="1000">
                          <a:latin typeface="Montserrat"/>
                        </a:defRPr>
                      </a:pPr>
                      <a:r>
                        <a:t>23,695</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250 La Magdalena</a:t>
                      </a:r>
                    </a:p>
                  </a:txBody>
                  <a:tcPr marL="0" marR="0" marT="0" marB="0">
                    <a:solidFill>
                      <a:srgbClr val="EFEFEF"/>
                    </a:solidFill>
                  </a:tcPr>
                </a:tc>
                <a:tc>
                  <a:txBody>
                    <a:bodyPr/>
                    <a:lstStyle/>
                    <a:p>
                      <a:pPr algn="ctr">
                        <a:defRPr sz="1000">
                          <a:latin typeface="Montserrat"/>
                        </a:defRPr>
                      </a:pPr>
                      <a:r>
                        <a:t>156,668</a:t>
                      </a:r>
                    </a:p>
                  </a:txBody>
                  <a:tcPr marL="0" marR="0" marT="0" marB="0">
                    <a:solidFill>
                      <a:srgbClr val="EFEFEF"/>
                    </a:solidFill>
                  </a:tcPr>
                </a:tc>
                <a:tc>
                  <a:txBody>
                    <a:bodyPr/>
                    <a:lstStyle/>
                    <a:p>
                      <a:pPr algn="ctr">
                        <a:defRPr sz="1000">
                          <a:latin typeface="Montserrat"/>
                        </a:defRPr>
                      </a:pPr>
                      <a:r>
                        <a:t>14,619</a:t>
                      </a:r>
                    </a:p>
                  </a:txBody>
                  <a:tcPr marL="0" marR="0" marT="0" marB="0">
                    <a:solidFill>
                      <a:srgbClr val="EFEFEF"/>
                    </a:solidFill>
                  </a:tcPr>
                </a:tc>
                <a:tc>
                  <a:txBody>
                    <a:bodyPr/>
                    <a:lstStyle/>
                    <a:p>
                      <a:pPr algn="ctr">
                        <a:defRPr sz="1000">
                          <a:latin typeface="Montserrat"/>
                        </a:defRPr>
                      </a:pPr>
                      <a:r>
                        <a:t>50,408</a:t>
                      </a:r>
                    </a:p>
                  </a:txBody>
                  <a:tcPr marL="0" marR="0" marT="0" marB="0">
                    <a:solidFill>
                      <a:srgbClr val="ECD3D9"/>
                    </a:solidFill>
                  </a:tcPr>
                </a:tc>
                <a:tc>
                  <a:txBody>
                    <a:bodyPr/>
                    <a:lstStyle/>
                    <a:p>
                      <a:pPr algn="ctr">
                        <a:defRPr sz="1000">
                          <a:latin typeface="Montserrat"/>
                        </a:defRPr>
                      </a:pPr>
                      <a:r>
                        <a:t>152,000</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3,131,277</a:t>
                      </a:r>
                    </a:p>
                  </a:txBody>
                  <a:tcPr marL="0" marR="0" marT="0" marB="0">
                    <a:solidFill>
                      <a:srgbClr val="D3E9E7"/>
                    </a:solidFill>
                  </a:tcPr>
                </a:tc>
                <a:tc>
                  <a:txBody>
                    <a:bodyPr/>
                    <a:lstStyle/>
                    <a:p>
                      <a:pPr algn="ctr">
                        <a:defRPr sz="1000" b="1">
                          <a:solidFill>
                            <a:srgbClr val="006556"/>
                          </a:solidFill>
                          <a:latin typeface="Montserrat"/>
                        </a:defRPr>
                      </a:pPr>
                      <a:r>
                        <a:t>303,584</a:t>
                      </a:r>
                    </a:p>
                  </a:txBody>
                  <a:tcPr marL="0" marR="0" marT="0" marB="0">
                    <a:solidFill>
                      <a:srgbClr val="D3E9E7"/>
                    </a:solidFill>
                  </a:tcPr>
                </a:tc>
                <a:tc>
                  <a:txBody>
                    <a:bodyPr/>
                    <a:lstStyle/>
                    <a:p>
                      <a:pPr algn="ctr">
                        <a:defRPr sz="1000" b="1">
                          <a:solidFill>
                            <a:srgbClr val="FFFFFF"/>
                          </a:solidFill>
                          <a:latin typeface="Montserrat"/>
                        </a:defRPr>
                      </a:pPr>
                      <a:r>
                        <a:t>1,040,202</a:t>
                      </a:r>
                    </a:p>
                  </a:txBody>
                  <a:tcPr marL="0" marR="0" marT="0" marB="0">
                    <a:solidFill>
                      <a:srgbClr val="9F2241"/>
                    </a:solidFill>
                  </a:tcPr>
                </a:tc>
                <a:tc>
                  <a:txBody>
                    <a:bodyPr/>
                    <a:lstStyle/>
                    <a:p>
                      <a:pPr algn="ctr">
                        <a:defRPr sz="1000" b="1">
                          <a:solidFill>
                            <a:srgbClr val="FFFFFF"/>
                          </a:solidFill>
                          <a:latin typeface="Montserrat"/>
                        </a:defRPr>
                      </a:pPr>
                      <a:r>
                        <a:t>3,265,880</a:t>
                      </a:r>
                    </a:p>
                  </a:txBody>
                  <a:tcPr marL="0" marR="0" marT="0" marB="0">
                    <a:solidFill>
                      <a:srgbClr val="9F2241"/>
                    </a:solidFill>
                  </a:tcPr>
                </a:tc>
                <a:tc>
                  <a:txBody>
                    <a:bodyPr/>
                    <a:lstStyle/>
                    <a:p>
                      <a:pPr algn="ctr">
                        <a:defRPr sz="1000" b="1">
                          <a:solidFill>
                            <a:srgbClr val="FFFFFF"/>
                          </a:solidFill>
                          <a:latin typeface="Montserrat"/>
                        </a:defRPr>
                      </a:pPr>
                      <a:r>
                        <a:t>31.9%</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36216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4341600"/>
            <a:ext cx="1800000" cy="360000"/>
          </a:xfrm>
          <a:prstGeom prst="rect">
            <a:avLst/>
          </a:prstGeom>
          <a:noFill/>
        </p:spPr>
        <p:txBody>
          <a:bodyPr wrap="none">
            <a:spAutoFit/>
          </a:bodyPr>
          <a:lstStyle/>
          <a:p>
            <a:pPr algn="ctr"/>
            <a:r>
              <a:rPr sz="2400" b="1">
                <a:solidFill>
                  <a:srgbClr val="9F2241"/>
                </a:solidFill>
                <a:latin typeface="Montserrat"/>
              </a:rPr>
              <a:t>31.9%</a:t>
            </a:r>
          </a:p>
        </p:txBody>
      </p:sp>
      <p:sp>
        <p:nvSpPr>
          <p:cNvPr id="10" name="TextBox 9"/>
          <p:cNvSpPr txBox="1"/>
          <p:nvPr/>
        </p:nvSpPr>
        <p:spPr>
          <a:xfrm>
            <a:off x="4780800" y="524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3621600"/>
            <a:ext cx="2854800" cy="1198800"/>
          </a:xfrm>
          <a:prstGeom prst="rect">
            <a:avLst/>
          </a:prstGeom>
          <a:noFill/>
        </p:spPr>
        <p:txBody>
          <a:bodyPr wrap="square">
            <a:spAutoFit/>
          </a:bodyPr>
          <a:lstStyle/>
          <a:p>
            <a:pPr algn="ctr">
              <a:defRPr sz="3600" b="1">
                <a:solidFill>
                  <a:srgbClr val="9F2241"/>
                </a:solidFill>
                <a:latin typeface="Montserrat"/>
              </a:defRPr>
            </a:pPr>
            <a:r>
              <a:t>3,265,880 </a:t>
            </a:r>
            <a:br/>
            <a:r>
              <a:t>Meta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cxnSp>
        <p:nvCxnSpPr>
          <p:cNvPr id="3" name="Connector 2"/>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41 Unidades Médicas de tiempo completo (183 consultorios)</a:t>
            </a:r>
          </a:p>
        </p:txBody>
      </p:sp>
      <p:sp>
        <p:nvSpPr>
          <p:cNvPr id="6" name="TextBox 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7" name="TextBox 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graphicFrame>
        <p:nvGraphicFramePr>
          <p:cNvPr id="8" name="Table 7"/>
          <p:cNvGraphicFramePr>
            <a:graphicFrameLocks noGrp="1"/>
          </p:cNvGraphicFramePr>
          <p:nvPr/>
        </p:nvGraphicFramePr>
        <p:xfrm>
          <a:off x="151200" y="1695600"/>
          <a:ext cx="7473599" cy="3175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79 Valle de Ceylan</a:t>
                      </a:r>
                    </a:p>
                  </a:txBody>
                  <a:tcPr marL="0" marR="0" marT="0" marB="0">
                    <a:solidFill>
                      <a:srgbClr val="FFFFFF"/>
                    </a:solidFill>
                  </a:tcPr>
                </a:tc>
                <a:tc>
                  <a:txBody>
                    <a:bodyPr/>
                    <a:lstStyle/>
                    <a:p>
                      <a:pPr algn="ctr">
                        <a:defRPr sz="1000">
                          <a:solidFill>
                            <a:srgbClr val="000000"/>
                          </a:solidFill>
                          <a:latin typeface="Montserrat"/>
                        </a:defRPr>
                      </a:pPr>
                      <a:r>
                        <a:t>138,659</a:t>
                      </a:r>
                    </a:p>
                  </a:txBody>
                  <a:tcPr marL="0" marR="0" marT="0" marB="0">
                    <a:solidFill>
                      <a:srgbClr val="FFFFFF"/>
                    </a:solidFill>
                  </a:tcPr>
                </a:tc>
                <a:tc>
                  <a:txBody>
                    <a:bodyPr/>
                    <a:lstStyle/>
                    <a:p>
                      <a:pPr algn="ctr">
                        <a:defRPr sz="1000">
                          <a:solidFill>
                            <a:srgbClr val="000000"/>
                          </a:solidFill>
                          <a:latin typeface="Montserrat"/>
                        </a:defRPr>
                      </a:pPr>
                      <a:r>
                        <a:t>14,024</a:t>
                      </a:r>
                    </a:p>
                  </a:txBody>
                  <a:tcPr marL="0" marR="0" marT="0" marB="0">
                    <a:solidFill>
                      <a:srgbClr val="FFFFFF"/>
                    </a:solidFill>
                  </a:tcPr>
                </a:tc>
                <a:tc>
                  <a:txBody>
                    <a:bodyPr/>
                    <a:lstStyle/>
                    <a:p>
                      <a:pPr algn="ctr">
                        <a:defRPr sz="1000">
                          <a:solidFill>
                            <a:srgbClr val="000000"/>
                          </a:solidFill>
                          <a:latin typeface="Montserrat"/>
                        </a:defRPr>
                      </a:pPr>
                      <a:r>
                        <a:t>48,729</a:t>
                      </a:r>
                    </a:p>
                  </a:txBody>
                  <a:tcPr marL="0" marR="0" marT="0" marB="0">
                    <a:solidFill>
                      <a:srgbClr val="ECD3D9"/>
                    </a:solidFill>
                  </a:tcPr>
                </a:tc>
                <a:tc>
                  <a:txBody>
                    <a:bodyPr/>
                    <a:lstStyle/>
                    <a:p>
                      <a:pPr algn="ctr">
                        <a:defRPr sz="1000">
                          <a:solidFill>
                            <a:srgbClr val="000000"/>
                          </a:solidFill>
                          <a:latin typeface="Montserrat"/>
                        </a:defRPr>
                      </a:pPr>
                      <a:r>
                        <a:t>137,808</a:t>
                      </a:r>
                    </a:p>
                  </a:txBody>
                  <a:tcPr marL="0" marR="0" marT="0" marB="0">
                    <a:solidFill>
                      <a:srgbClr val="ECD3D9"/>
                    </a:solidFill>
                  </a:tcPr>
                </a:tc>
                <a:tc>
                  <a:txBody>
                    <a:bodyPr/>
                    <a:lstStyle/>
                    <a:p>
                      <a:pPr algn="ctr">
                        <a:defRPr sz="1000">
                          <a:solidFill>
                            <a:srgbClr val="000000"/>
                          </a:solidFill>
                          <a:latin typeface="Montserrat"/>
                        </a:defRPr>
                      </a:pPr>
                      <a:r>
                        <a:t>35.4%</a:t>
                      </a:r>
                    </a:p>
                  </a:txBody>
                  <a:tcPr marL="0" marR="0" marT="0" marB="0">
                    <a:solidFill>
                      <a:srgbClr val="ECD3D9"/>
                    </a:solidFill>
                  </a:tcPr>
                </a:tc>
              </a:tr>
              <a:tr h="151200">
                <a:tc>
                  <a:txBody>
                    <a:bodyPr/>
                    <a:lstStyle/>
                    <a:p>
                      <a:pPr algn="l">
                        <a:defRPr sz="1000">
                          <a:solidFill>
                            <a:srgbClr val="000000"/>
                          </a:solidFill>
                          <a:latin typeface="Montserrat"/>
                        </a:defRPr>
                      </a:pPr>
                      <a:r>
                        <a:t>UMF 52 Cuautitlán Izcalli</a:t>
                      </a:r>
                    </a:p>
                  </a:txBody>
                  <a:tcPr marL="0" marR="0" marT="0" marB="0">
                    <a:solidFill>
                      <a:srgbClr val="EFEFEF"/>
                    </a:solidFill>
                  </a:tcPr>
                </a:tc>
                <a:tc>
                  <a:txBody>
                    <a:bodyPr/>
                    <a:lstStyle/>
                    <a:p>
                      <a:pPr algn="ctr">
                        <a:defRPr sz="1000">
                          <a:solidFill>
                            <a:srgbClr val="000000"/>
                          </a:solidFill>
                          <a:latin typeface="Montserrat"/>
                        </a:defRPr>
                      </a:pPr>
                      <a:r>
                        <a:t>431,482</a:t>
                      </a:r>
                    </a:p>
                  </a:txBody>
                  <a:tcPr marL="0" marR="0" marT="0" marB="0">
                    <a:solidFill>
                      <a:srgbClr val="EFEFEF"/>
                    </a:solidFill>
                  </a:tcPr>
                </a:tc>
                <a:tc>
                  <a:txBody>
                    <a:bodyPr/>
                    <a:lstStyle/>
                    <a:p>
                      <a:pPr algn="ctr">
                        <a:defRPr sz="1000">
                          <a:solidFill>
                            <a:srgbClr val="000000"/>
                          </a:solidFill>
                          <a:latin typeface="Montserrat"/>
                        </a:defRPr>
                      </a:pPr>
                      <a:r>
                        <a:t>20,423</a:t>
                      </a:r>
                    </a:p>
                  </a:txBody>
                  <a:tcPr marL="0" marR="0" marT="0" marB="0">
                    <a:solidFill>
                      <a:srgbClr val="EFEFEF"/>
                    </a:solidFill>
                  </a:tcPr>
                </a:tc>
                <a:tc>
                  <a:txBody>
                    <a:bodyPr/>
                    <a:lstStyle/>
                    <a:p>
                      <a:pPr algn="ctr">
                        <a:defRPr sz="1000">
                          <a:solidFill>
                            <a:srgbClr val="000000"/>
                          </a:solidFill>
                          <a:latin typeface="Montserrat"/>
                        </a:defRPr>
                      </a:pPr>
                      <a:r>
                        <a:t>136,575</a:t>
                      </a:r>
                    </a:p>
                  </a:txBody>
                  <a:tcPr marL="0" marR="0" marT="0" marB="0">
                    <a:solidFill>
                      <a:srgbClr val="ECD3D9"/>
                    </a:solidFill>
                  </a:tcPr>
                </a:tc>
                <a:tc>
                  <a:txBody>
                    <a:bodyPr/>
                    <a:lstStyle/>
                    <a:p>
                      <a:pPr algn="ctr">
                        <a:defRPr sz="1000">
                          <a:solidFill>
                            <a:srgbClr val="000000"/>
                          </a:solidFill>
                          <a:latin typeface="Montserrat"/>
                        </a:defRPr>
                      </a:pPr>
                      <a:r>
                        <a:t>468,384</a:t>
                      </a:r>
                    </a:p>
                  </a:txBody>
                  <a:tcPr marL="0" marR="0" marT="0" marB="0">
                    <a:solidFill>
                      <a:srgbClr val="ECD3D9"/>
                    </a:solidFill>
                  </a:tcPr>
                </a:tc>
                <a:tc>
                  <a:txBody>
                    <a:bodyPr/>
                    <a:lstStyle/>
                    <a:p>
                      <a:pPr algn="ctr">
                        <a:defRPr sz="1000">
                          <a:solidFill>
                            <a:srgbClr val="000000"/>
                          </a:solidFill>
                          <a:latin typeface="Montserrat"/>
                        </a:defRPr>
                      </a:pPr>
                      <a:r>
                        <a:t>29.2%</a:t>
                      </a:r>
                    </a:p>
                  </a:txBody>
                  <a:tcPr marL="0" marR="0" marT="0" marB="0">
                    <a:solidFill>
                      <a:srgbClr val="ECD3D9"/>
                    </a:solidFill>
                  </a:tcPr>
                </a:tc>
              </a:tr>
              <a:tr h="151200">
                <a:tc>
                  <a:txBody>
                    <a:bodyPr/>
                    <a:lstStyle/>
                    <a:p>
                      <a:pPr algn="l">
                        <a:defRPr sz="1000">
                          <a:solidFill>
                            <a:srgbClr val="000000"/>
                          </a:solidFill>
                          <a:latin typeface="Montserrat"/>
                        </a:defRPr>
                      </a:pPr>
                      <a:r>
                        <a:t>UMF 92 Cd. Azteca</a:t>
                      </a:r>
                    </a:p>
                  </a:txBody>
                  <a:tcPr marL="0" marR="0" marT="0" marB="0">
                    <a:solidFill>
                      <a:srgbClr val="FFFFFF"/>
                    </a:solidFill>
                  </a:tcPr>
                </a:tc>
                <a:tc>
                  <a:txBody>
                    <a:bodyPr/>
                    <a:lstStyle/>
                    <a:p>
                      <a:pPr algn="ctr">
                        <a:defRPr sz="1000">
                          <a:solidFill>
                            <a:srgbClr val="000000"/>
                          </a:solidFill>
                          <a:latin typeface="Montserrat"/>
                        </a:defRPr>
                      </a:pPr>
                      <a:r>
                        <a:t>417,187</a:t>
                      </a:r>
                    </a:p>
                  </a:txBody>
                  <a:tcPr marL="0" marR="0" marT="0" marB="0">
                    <a:solidFill>
                      <a:srgbClr val="FFFFFF"/>
                    </a:solidFill>
                  </a:tcPr>
                </a:tc>
                <a:tc>
                  <a:txBody>
                    <a:bodyPr/>
                    <a:lstStyle/>
                    <a:p>
                      <a:pPr algn="ctr">
                        <a:defRPr sz="1000">
                          <a:solidFill>
                            <a:srgbClr val="000000"/>
                          </a:solidFill>
                          <a:latin typeface="Montserrat"/>
                        </a:defRPr>
                      </a:pPr>
                      <a:r>
                        <a:t>48,052</a:t>
                      </a:r>
                    </a:p>
                  </a:txBody>
                  <a:tcPr marL="0" marR="0" marT="0" marB="0">
                    <a:solidFill>
                      <a:srgbClr val="FFFFFF"/>
                    </a:solidFill>
                  </a:tcPr>
                </a:tc>
                <a:tc>
                  <a:txBody>
                    <a:bodyPr/>
                    <a:lstStyle/>
                    <a:p>
                      <a:pPr algn="ctr">
                        <a:defRPr sz="1000">
                          <a:solidFill>
                            <a:srgbClr val="000000"/>
                          </a:solidFill>
                          <a:latin typeface="Montserrat"/>
                        </a:defRPr>
                      </a:pPr>
                      <a:r>
                        <a:t>136,845</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31.0%</a:t>
                      </a:r>
                    </a:p>
                  </a:txBody>
                  <a:tcPr marL="0" marR="0" marT="0" marB="0">
                    <a:solidFill>
                      <a:srgbClr val="ECD3D9"/>
                    </a:solidFill>
                  </a:tcPr>
                </a:tc>
              </a:tr>
              <a:tr h="151200">
                <a:tc>
                  <a:txBody>
                    <a:bodyPr/>
                    <a:lstStyle/>
                    <a:p>
                      <a:pPr algn="l">
                        <a:defRPr sz="1000">
                          <a:solidFill>
                            <a:srgbClr val="000000"/>
                          </a:solidFill>
                          <a:latin typeface="Montserrat"/>
                        </a:defRPr>
                      </a:pPr>
                      <a:r>
                        <a:t>UMF 51 Sta. Mónica</a:t>
                      </a:r>
                    </a:p>
                  </a:txBody>
                  <a:tcPr marL="0" marR="0" marT="0" marB="0">
                    <a:solidFill>
                      <a:srgbClr val="EFEFEF"/>
                    </a:solidFill>
                  </a:tcPr>
                </a:tc>
                <a:tc>
                  <a:txBody>
                    <a:bodyPr/>
                    <a:lstStyle/>
                    <a:p>
                      <a:pPr algn="ctr">
                        <a:defRPr sz="1000">
                          <a:solidFill>
                            <a:srgbClr val="000000"/>
                          </a:solidFill>
                          <a:latin typeface="Montserrat"/>
                        </a:defRPr>
                      </a:pPr>
                      <a:r>
                        <a:t>158,447</a:t>
                      </a:r>
                    </a:p>
                  </a:txBody>
                  <a:tcPr marL="0" marR="0" marT="0" marB="0">
                    <a:solidFill>
                      <a:srgbClr val="EFEFEF"/>
                    </a:solidFill>
                  </a:tcPr>
                </a:tc>
                <a:tc>
                  <a:txBody>
                    <a:bodyPr/>
                    <a:lstStyle/>
                    <a:p>
                      <a:pPr algn="ctr">
                        <a:defRPr sz="1000">
                          <a:solidFill>
                            <a:srgbClr val="000000"/>
                          </a:solidFill>
                          <a:latin typeface="Montserrat"/>
                        </a:defRPr>
                      </a:pPr>
                      <a:r>
                        <a:t>26,665</a:t>
                      </a:r>
                    </a:p>
                  </a:txBody>
                  <a:tcPr marL="0" marR="0" marT="0" marB="0">
                    <a:solidFill>
                      <a:srgbClr val="EFEFEF"/>
                    </a:solidFill>
                  </a:tcPr>
                </a:tc>
                <a:tc>
                  <a:txBody>
                    <a:bodyPr/>
                    <a:lstStyle/>
                    <a:p>
                      <a:pPr algn="ctr">
                        <a:defRPr sz="1000">
                          <a:solidFill>
                            <a:srgbClr val="000000"/>
                          </a:solidFill>
                          <a:latin typeface="Montserrat"/>
                        </a:defRPr>
                      </a:pPr>
                      <a:r>
                        <a:t>51,461</a:t>
                      </a:r>
                    </a:p>
                  </a:txBody>
                  <a:tcPr marL="0" marR="0" marT="0" marB="0">
                    <a:solidFill>
                      <a:srgbClr val="ECD3D9"/>
                    </a:solidFill>
                  </a:tcPr>
                </a:tc>
                <a:tc>
                  <a:txBody>
                    <a:bodyPr/>
                    <a:lstStyle/>
                    <a:p>
                      <a:pPr algn="ctr">
                        <a:defRPr sz="1000">
                          <a:solidFill>
                            <a:srgbClr val="000000"/>
                          </a:solidFill>
                          <a:latin typeface="Montserrat"/>
                        </a:defRPr>
                      </a:pPr>
                      <a:r>
                        <a:t>154,000</a:t>
                      </a:r>
                    </a:p>
                  </a:txBody>
                  <a:tcPr marL="0" marR="0" marT="0" marB="0">
                    <a:solidFill>
                      <a:srgbClr val="ECD3D9"/>
                    </a:solidFill>
                  </a:tcPr>
                </a:tc>
                <a:tc>
                  <a:txBody>
                    <a:bodyPr/>
                    <a:lstStyle/>
                    <a:p>
                      <a:pPr algn="ctr">
                        <a:defRPr sz="1000">
                          <a:solidFill>
                            <a:srgbClr val="000000"/>
                          </a:solidFill>
                          <a:latin typeface="Montserrat"/>
                        </a:defRPr>
                      </a:pPr>
                      <a:r>
                        <a:t>33.4%</a:t>
                      </a:r>
                    </a:p>
                  </a:txBody>
                  <a:tcPr marL="0" marR="0" marT="0" marB="0">
                    <a:solidFill>
                      <a:srgbClr val="ECD3D9"/>
                    </a:solidFill>
                  </a:tcPr>
                </a:tc>
              </a:tr>
              <a:tr h="151200">
                <a:tc>
                  <a:txBody>
                    <a:bodyPr/>
                    <a:lstStyle/>
                    <a:p>
                      <a:pPr algn="l">
                        <a:defRPr sz="1000">
                          <a:solidFill>
                            <a:srgbClr val="000000"/>
                          </a:solidFill>
                          <a:latin typeface="Montserrat"/>
                        </a:defRPr>
                      </a:pPr>
                      <a:r>
                        <a:t>UMF 187 La Higuera</a:t>
                      </a:r>
                    </a:p>
                  </a:txBody>
                  <a:tcPr marL="0" marR="0" marT="0" marB="0">
                    <a:solidFill>
                      <a:srgbClr val="FFFFFF"/>
                    </a:solidFill>
                  </a:tcPr>
                </a:tc>
                <a:tc>
                  <a:txBody>
                    <a:bodyPr/>
                    <a:lstStyle/>
                    <a:p>
                      <a:pPr algn="ctr">
                        <a:defRPr sz="1000">
                          <a:solidFill>
                            <a:srgbClr val="000000"/>
                          </a:solidFill>
                          <a:latin typeface="Montserrat"/>
                        </a:defRPr>
                      </a:pPr>
                      <a:r>
                        <a:t>143,642</a:t>
                      </a:r>
                    </a:p>
                  </a:txBody>
                  <a:tcPr marL="0" marR="0" marT="0" marB="0">
                    <a:solidFill>
                      <a:srgbClr val="FFFFFF"/>
                    </a:solidFill>
                  </a:tcPr>
                </a:tc>
                <a:tc>
                  <a:txBody>
                    <a:bodyPr/>
                    <a:lstStyle/>
                    <a:p>
                      <a:pPr algn="ctr">
                        <a:defRPr sz="1000">
                          <a:solidFill>
                            <a:srgbClr val="000000"/>
                          </a:solidFill>
                          <a:latin typeface="Montserrat"/>
                        </a:defRPr>
                      </a:pPr>
                      <a:r>
                        <a:t>8,750</a:t>
                      </a:r>
                    </a:p>
                  </a:txBody>
                  <a:tcPr marL="0" marR="0" marT="0" marB="0">
                    <a:solidFill>
                      <a:srgbClr val="FFFFFF"/>
                    </a:solidFill>
                  </a:tcPr>
                </a:tc>
                <a:tc>
                  <a:txBody>
                    <a:bodyPr/>
                    <a:lstStyle/>
                    <a:p>
                      <a:pPr algn="ctr">
                        <a:defRPr sz="1000">
                          <a:solidFill>
                            <a:srgbClr val="000000"/>
                          </a:solidFill>
                          <a:latin typeface="Montserrat"/>
                        </a:defRPr>
                      </a:pPr>
                      <a:r>
                        <a:t>49,442</a:t>
                      </a:r>
                    </a:p>
                  </a:txBody>
                  <a:tcPr marL="0" marR="0" marT="0" marB="0">
                    <a:solidFill>
                      <a:srgbClr val="ECD3D9"/>
                    </a:solidFill>
                  </a:tcPr>
                </a:tc>
                <a:tc>
                  <a:txBody>
                    <a:bodyPr/>
                    <a:lstStyle/>
                    <a:p>
                      <a:pPr algn="ctr">
                        <a:defRPr sz="1000">
                          <a:solidFill>
                            <a:srgbClr val="000000"/>
                          </a:solidFill>
                          <a:latin typeface="Montserrat"/>
                        </a:defRPr>
                      </a:pPr>
                      <a:r>
                        <a:t>140,000</a:t>
                      </a:r>
                    </a:p>
                  </a:txBody>
                  <a:tcPr marL="0" marR="0" marT="0" marB="0">
                    <a:solidFill>
                      <a:srgbClr val="ECD3D9"/>
                    </a:solidFill>
                  </a:tcPr>
                </a:tc>
                <a:tc>
                  <a:txBody>
                    <a:bodyPr/>
                    <a:lstStyle/>
                    <a:p>
                      <a:pPr algn="ctr">
                        <a:defRPr sz="1000">
                          <a:solidFill>
                            <a:srgbClr val="000000"/>
                          </a:solidFill>
                          <a:latin typeface="Montserrat"/>
                        </a:defRPr>
                      </a:pPr>
                      <a:r>
                        <a:t>35.3%</a:t>
                      </a:r>
                    </a:p>
                  </a:txBody>
                  <a:tcPr marL="0" marR="0" marT="0" marB="0">
                    <a:solidFill>
                      <a:srgbClr val="ECD3D9"/>
                    </a:solidFill>
                  </a:tcPr>
                </a:tc>
              </a:tr>
              <a:tr h="151200">
                <a:tc>
                  <a:txBody>
                    <a:bodyPr/>
                    <a:lstStyle/>
                    <a:p>
                      <a:pPr algn="l">
                        <a:defRPr sz="1000">
                          <a:solidFill>
                            <a:srgbClr val="000000"/>
                          </a:solidFill>
                          <a:latin typeface="Montserrat"/>
                        </a:defRPr>
                      </a:pPr>
                      <a:r>
                        <a:t>UMF 184 Infonavit Sur</a:t>
                      </a:r>
                    </a:p>
                  </a:txBody>
                  <a:tcPr marL="0" marR="0" marT="0" marB="0">
                    <a:solidFill>
                      <a:srgbClr val="EFEFEF"/>
                    </a:solidFill>
                  </a:tcPr>
                </a:tc>
                <a:tc>
                  <a:txBody>
                    <a:bodyPr/>
                    <a:lstStyle/>
                    <a:p>
                      <a:pPr algn="ctr">
                        <a:defRPr sz="1000">
                          <a:solidFill>
                            <a:srgbClr val="000000"/>
                          </a:solidFill>
                          <a:latin typeface="Montserrat"/>
                        </a:defRPr>
                      </a:pPr>
                      <a:r>
                        <a:t>93,843</a:t>
                      </a:r>
                    </a:p>
                  </a:txBody>
                  <a:tcPr marL="0" marR="0" marT="0" marB="0">
                    <a:solidFill>
                      <a:srgbClr val="EFEFEF"/>
                    </a:solidFill>
                  </a:tcPr>
                </a:tc>
                <a:tc>
                  <a:txBody>
                    <a:bodyPr/>
                    <a:lstStyle/>
                    <a:p>
                      <a:pPr algn="ctr">
                        <a:defRPr sz="1000">
                          <a:solidFill>
                            <a:srgbClr val="000000"/>
                          </a:solidFill>
                          <a:latin typeface="Montserrat"/>
                        </a:defRPr>
                      </a:pPr>
                      <a:r>
                        <a:t>6,347</a:t>
                      </a:r>
                    </a:p>
                  </a:txBody>
                  <a:tcPr marL="0" marR="0" marT="0" marB="0">
                    <a:solidFill>
                      <a:srgbClr val="EFEFEF"/>
                    </a:solidFill>
                  </a:tcPr>
                </a:tc>
                <a:tc>
                  <a:txBody>
                    <a:bodyPr/>
                    <a:lstStyle/>
                    <a:p>
                      <a:pPr algn="ctr">
                        <a:defRPr sz="1000">
                          <a:solidFill>
                            <a:srgbClr val="000000"/>
                          </a:solidFill>
                          <a:latin typeface="Montserrat"/>
                        </a:defRPr>
                      </a:pPr>
                      <a:r>
                        <a:t>30,489</a:t>
                      </a:r>
                    </a:p>
                  </a:txBody>
                  <a:tcPr marL="0" marR="0" marT="0" marB="0">
                    <a:solidFill>
                      <a:srgbClr val="ECD3D9"/>
                    </a:solidFill>
                  </a:tcPr>
                </a:tc>
                <a:tc>
                  <a:txBody>
                    <a:bodyPr/>
                    <a:lstStyle/>
                    <a:p>
                      <a:pPr algn="ctr">
                        <a:defRPr sz="1000">
                          <a:solidFill>
                            <a:srgbClr val="000000"/>
                          </a:solidFill>
                          <a:latin typeface="Montserrat"/>
                        </a:defRPr>
                      </a:pPr>
                      <a:r>
                        <a:t>100,224</a:t>
                      </a:r>
                    </a:p>
                  </a:txBody>
                  <a:tcPr marL="0" marR="0" marT="0" marB="0">
                    <a:solidFill>
                      <a:srgbClr val="ECD3D9"/>
                    </a:solidFill>
                  </a:tcPr>
                </a:tc>
                <a:tc>
                  <a:txBody>
                    <a:bodyPr/>
                    <a:lstStyle/>
                    <a:p>
                      <a:pPr algn="ctr">
                        <a:defRPr sz="1000">
                          <a:solidFill>
                            <a:srgbClr val="000000"/>
                          </a:solidFill>
                          <a:latin typeface="Montserrat"/>
                        </a:defRPr>
                      </a:pPr>
                      <a:r>
                        <a:t>30.4%</a:t>
                      </a:r>
                    </a:p>
                  </a:txBody>
                  <a:tcPr marL="0" marR="0" marT="0" marB="0">
                    <a:solidFill>
                      <a:srgbClr val="ECD3D9"/>
                    </a:solidFill>
                  </a:tcPr>
                </a:tc>
              </a:tr>
              <a:tr h="151200">
                <a:tc>
                  <a:txBody>
                    <a:bodyPr/>
                    <a:lstStyle/>
                    <a:p>
                      <a:pPr algn="l">
                        <a:defRPr sz="1000">
                          <a:solidFill>
                            <a:srgbClr val="000000"/>
                          </a:solidFill>
                          <a:latin typeface="Montserrat"/>
                        </a:defRPr>
                      </a:pPr>
                      <a:r>
                        <a:t>UMF-UMAA 180 Chalco I</a:t>
                      </a:r>
                    </a:p>
                  </a:txBody>
                  <a:tcPr marL="0" marR="0" marT="0" marB="0">
                    <a:solidFill>
                      <a:srgbClr val="FFFFFF"/>
                    </a:solidFill>
                  </a:tcPr>
                </a:tc>
                <a:tc>
                  <a:txBody>
                    <a:bodyPr/>
                    <a:lstStyle/>
                    <a:p>
                      <a:pPr algn="ctr">
                        <a:defRPr sz="1000">
                          <a:solidFill>
                            <a:srgbClr val="000000"/>
                          </a:solidFill>
                          <a:latin typeface="Montserrat"/>
                        </a:defRPr>
                      </a:pPr>
                      <a:r>
                        <a:t>131,150</a:t>
                      </a:r>
                    </a:p>
                  </a:txBody>
                  <a:tcPr marL="0" marR="0" marT="0" marB="0">
                    <a:solidFill>
                      <a:srgbClr val="FFFFFF"/>
                    </a:solidFill>
                  </a:tcPr>
                </a:tc>
                <a:tc>
                  <a:txBody>
                    <a:bodyPr/>
                    <a:lstStyle/>
                    <a:p>
                      <a:pPr algn="ctr">
                        <a:defRPr sz="1000">
                          <a:solidFill>
                            <a:srgbClr val="000000"/>
                          </a:solidFill>
                          <a:latin typeface="Montserrat"/>
                        </a:defRPr>
                      </a:pPr>
                      <a:r>
                        <a:t>11,770</a:t>
                      </a:r>
                    </a:p>
                  </a:txBody>
                  <a:tcPr marL="0" marR="0" marT="0" marB="0">
                    <a:solidFill>
                      <a:srgbClr val="FFFFFF"/>
                    </a:solidFill>
                  </a:tcPr>
                </a:tc>
                <a:tc>
                  <a:txBody>
                    <a:bodyPr/>
                    <a:lstStyle/>
                    <a:p>
                      <a:pPr algn="ctr">
                        <a:defRPr sz="1000">
                          <a:solidFill>
                            <a:srgbClr val="000000"/>
                          </a:solidFill>
                          <a:latin typeface="Montserrat"/>
                        </a:defRPr>
                      </a:pPr>
                      <a:r>
                        <a:t>45,592</a:t>
                      </a:r>
                    </a:p>
                  </a:txBody>
                  <a:tcPr marL="0" marR="0" marT="0" marB="0">
                    <a:solidFill>
                      <a:srgbClr val="ECD3D9"/>
                    </a:solidFill>
                  </a:tcPr>
                </a:tc>
                <a:tc>
                  <a:txBody>
                    <a:bodyPr/>
                    <a:lstStyle/>
                    <a:p>
                      <a:pPr algn="ctr">
                        <a:defRPr sz="1000">
                          <a:solidFill>
                            <a:srgbClr val="000000"/>
                          </a:solidFill>
                          <a:latin typeface="Montserrat"/>
                        </a:defRPr>
                      </a:pPr>
                      <a:r>
                        <a:t>128,000</a:t>
                      </a:r>
                    </a:p>
                  </a:txBody>
                  <a:tcPr marL="0" marR="0" marT="0" marB="0">
                    <a:solidFill>
                      <a:srgbClr val="ECD3D9"/>
                    </a:solidFill>
                  </a:tcPr>
                </a:tc>
                <a:tc>
                  <a:txBody>
                    <a:bodyPr/>
                    <a:lstStyle/>
                    <a:p>
                      <a:pPr algn="ctr">
                        <a:defRPr sz="1000">
                          <a:solidFill>
                            <a:srgbClr val="000000"/>
                          </a:solidFill>
                          <a:latin typeface="Montserrat"/>
                        </a:defRPr>
                      </a:pPr>
                      <a:r>
                        <a:t>35.6%</a:t>
                      </a:r>
                    </a:p>
                  </a:txBody>
                  <a:tcPr marL="0" marR="0" marT="0" marB="0">
                    <a:solidFill>
                      <a:srgbClr val="ECD3D9"/>
                    </a:solidFill>
                  </a:tcPr>
                </a:tc>
              </a:tr>
              <a:tr h="151200">
                <a:tc>
                  <a:txBody>
                    <a:bodyPr/>
                    <a:lstStyle/>
                    <a:p>
                      <a:pPr algn="l">
                        <a:defRPr sz="1000">
                          <a:solidFill>
                            <a:srgbClr val="000000"/>
                          </a:solidFill>
                          <a:latin typeface="Montserrat"/>
                        </a:defRPr>
                      </a:pPr>
                      <a:r>
                        <a:t>UMF 181 Chalco II</a:t>
                      </a:r>
                    </a:p>
                  </a:txBody>
                  <a:tcPr marL="0" marR="0" marT="0" marB="0">
                    <a:solidFill>
                      <a:srgbClr val="EFEFEF"/>
                    </a:solidFill>
                  </a:tcPr>
                </a:tc>
                <a:tc>
                  <a:txBody>
                    <a:bodyPr/>
                    <a:lstStyle/>
                    <a:p>
                      <a:pPr algn="ctr">
                        <a:defRPr sz="1000">
                          <a:solidFill>
                            <a:srgbClr val="000000"/>
                          </a:solidFill>
                          <a:latin typeface="Montserrat"/>
                        </a:defRPr>
                      </a:pPr>
                      <a:r>
                        <a:t>145,243</a:t>
                      </a:r>
                    </a:p>
                  </a:txBody>
                  <a:tcPr marL="0" marR="0" marT="0" marB="0">
                    <a:solidFill>
                      <a:srgbClr val="EFEFEF"/>
                    </a:solidFill>
                  </a:tcPr>
                </a:tc>
                <a:tc>
                  <a:txBody>
                    <a:bodyPr/>
                    <a:lstStyle/>
                    <a:p>
                      <a:pPr algn="ctr">
                        <a:defRPr sz="1000">
                          <a:solidFill>
                            <a:srgbClr val="000000"/>
                          </a:solidFill>
                          <a:latin typeface="Montserrat"/>
                        </a:defRPr>
                      </a:pPr>
                      <a:r>
                        <a:t>16,848</a:t>
                      </a:r>
                    </a:p>
                  </a:txBody>
                  <a:tcPr marL="0" marR="0" marT="0" marB="0">
                    <a:solidFill>
                      <a:srgbClr val="EFEFEF"/>
                    </a:solidFill>
                  </a:tcPr>
                </a:tc>
                <a:tc>
                  <a:txBody>
                    <a:bodyPr/>
                    <a:lstStyle/>
                    <a:p>
                      <a:pPr algn="ctr">
                        <a:defRPr sz="1000">
                          <a:solidFill>
                            <a:srgbClr val="000000"/>
                          </a:solidFill>
                          <a:latin typeface="Montserrat"/>
                        </a:defRPr>
                      </a:pPr>
                      <a:r>
                        <a:t>50,041</a:t>
                      </a:r>
                    </a:p>
                  </a:txBody>
                  <a:tcPr marL="0" marR="0" marT="0" marB="0">
                    <a:solidFill>
                      <a:srgbClr val="ECD3D9"/>
                    </a:solidFill>
                  </a:tcPr>
                </a:tc>
                <a:tc>
                  <a:txBody>
                    <a:bodyPr/>
                    <a:lstStyle/>
                    <a:p>
                      <a:pPr algn="ctr">
                        <a:defRPr sz="1000">
                          <a:solidFill>
                            <a:srgbClr val="000000"/>
                          </a:solidFill>
                          <a:latin typeface="Montserrat"/>
                        </a:defRPr>
                      </a:pPr>
                      <a:r>
                        <a:t>141,000</a:t>
                      </a:r>
                    </a:p>
                  </a:txBody>
                  <a:tcPr marL="0" marR="0" marT="0" marB="0">
                    <a:solidFill>
                      <a:srgbClr val="ECD3D9"/>
                    </a:solidFill>
                  </a:tcPr>
                </a:tc>
                <a:tc>
                  <a:txBody>
                    <a:bodyPr/>
                    <a:lstStyle/>
                    <a:p>
                      <a:pPr algn="ctr">
                        <a:defRPr sz="1000">
                          <a:solidFill>
                            <a:srgbClr val="000000"/>
                          </a:solidFill>
                          <a:latin typeface="Montserrat"/>
                        </a:defRPr>
                      </a:pPr>
                      <a:r>
                        <a:t>35.5%</a:t>
                      </a:r>
                    </a:p>
                  </a:txBody>
                  <a:tcPr marL="0" marR="0" marT="0" marB="0">
                    <a:solidFill>
                      <a:srgbClr val="ECD3D9"/>
                    </a:solidFill>
                  </a:tcPr>
                </a:tc>
              </a:tr>
              <a:tr h="151200">
                <a:tc>
                  <a:txBody>
                    <a:bodyPr/>
                    <a:lstStyle/>
                    <a:p>
                      <a:pPr algn="l">
                        <a:defRPr sz="1000">
                          <a:solidFill>
                            <a:srgbClr val="000000"/>
                          </a:solidFill>
                          <a:latin typeface="Montserrat"/>
                        </a:defRPr>
                      </a:pPr>
                      <a:r>
                        <a:t>UMF 183 Rey Neza</a:t>
                      </a:r>
                    </a:p>
                  </a:txBody>
                  <a:tcPr marL="0" marR="0" marT="0" marB="0">
                    <a:solidFill>
                      <a:srgbClr val="FFFFFF"/>
                    </a:solidFill>
                  </a:tcPr>
                </a:tc>
                <a:tc>
                  <a:txBody>
                    <a:bodyPr/>
                    <a:lstStyle/>
                    <a:p>
                      <a:pPr algn="ctr">
                        <a:defRPr sz="1000">
                          <a:solidFill>
                            <a:srgbClr val="000000"/>
                          </a:solidFill>
                          <a:latin typeface="Montserrat"/>
                        </a:defRPr>
                      </a:pPr>
                      <a:r>
                        <a:t>91,178</a:t>
                      </a:r>
                    </a:p>
                  </a:txBody>
                  <a:tcPr marL="0" marR="0" marT="0" marB="0">
                    <a:solidFill>
                      <a:srgbClr val="FFFFFF"/>
                    </a:solidFill>
                  </a:tcPr>
                </a:tc>
                <a:tc>
                  <a:txBody>
                    <a:bodyPr/>
                    <a:lstStyle/>
                    <a:p>
                      <a:pPr algn="ctr">
                        <a:defRPr sz="1000">
                          <a:solidFill>
                            <a:srgbClr val="000000"/>
                          </a:solidFill>
                          <a:latin typeface="Montserrat"/>
                        </a:defRPr>
                      </a:pPr>
                      <a:r>
                        <a:t>10,981</a:t>
                      </a:r>
                    </a:p>
                  </a:txBody>
                  <a:tcPr marL="0" marR="0" marT="0" marB="0">
                    <a:solidFill>
                      <a:srgbClr val="FFFFFF"/>
                    </a:solidFill>
                  </a:tcPr>
                </a:tc>
                <a:tc>
                  <a:txBody>
                    <a:bodyPr/>
                    <a:lstStyle/>
                    <a:p>
                      <a:pPr algn="ctr">
                        <a:defRPr sz="1000">
                          <a:solidFill>
                            <a:srgbClr val="000000"/>
                          </a:solidFill>
                          <a:latin typeface="Montserrat"/>
                        </a:defRPr>
                      </a:pPr>
                      <a:r>
                        <a:t>31,997</a:t>
                      </a:r>
                    </a:p>
                  </a:txBody>
                  <a:tcPr marL="0" marR="0" marT="0" marB="0">
                    <a:solidFill>
                      <a:srgbClr val="ECD3D9"/>
                    </a:solidFill>
                  </a:tcPr>
                </a:tc>
                <a:tc>
                  <a:txBody>
                    <a:bodyPr/>
                    <a:lstStyle/>
                    <a:p>
                      <a:pPr algn="ctr">
                        <a:defRPr sz="1000">
                          <a:solidFill>
                            <a:srgbClr val="000000"/>
                          </a:solidFill>
                          <a:latin typeface="Montserrat"/>
                        </a:defRPr>
                      </a:pPr>
                      <a:r>
                        <a:t>89,000</a:t>
                      </a:r>
                    </a:p>
                  </a:txBody>
                  <a:tcPr marL="0" marR="0" marT="0" marB="0">
                    <a:solidFill>
                      <a:srgbClr val="ECD3D9"/>
                    </a:solidFill>
                  </a:tcPr>
                </a:tc>
                <a:tc>
                  <a:txBody>
                    <a:bodyPr/>
                    <a:lstStyle/>
                    <a:p>
                      <a:pPr algn="ctr">
                        <a:defRPr sz="1000">
                          <a:solidFill>
                            <a:srgbClr val="000000"/>
                          </a:solidFill>
                          <a:latin typeface="Montserrat"/>
                        </a:defRPr>
                      </a:pPr>
                      <a:r>
                        <a:t>36.0%</a:t>
                      </a:r>
                    </a:p>
                  </a:txBody>
                  <a:tcPr marL="0" marR="0" marT="0" marB="0">
                    <a:solidFill>
                      <a:srgbClr val="ECD3D9"/>
                    </a:solidFill>
                  </a:tcPr>
                </a:tc>
              </a:tr>
              <a:tr h="151200">
                <a:tc>
                  <a:txBody>
                    <a:bodyPr/>
                    <a:lstStyle/>
                    <a:p>
                      <a:pPr algn="l">
                        <a:defRPr sz="1000">
                          <a:solidFill>
                            <a:srgbClr val="000000"/>
                          </a:solidFill>
                          <a:latin typeface="Montserrat"/>
                        </a:defRPr>
                      </a:pPr>
                      <a:r>
                        <a:t>UMF 188 Tepalcapa</a:t>
                      </a:r>
                    </a:p>
                  </a:txBody>
                  <a:tcPr marL="0" marR="0" marT="0" marB="0">
                    <a:solidFill>
                      <a:srgbClr val="EFEFEF"/>
                    </a:solidFill>
                  </a:tcPr>
                </a:tc>
                <a:tc>
                  <a:txBody>
                    <a:bodyPr/>
                    <a:lstStyle/>
                    <a:p>
                      <a:pPr algn="ctr">
                        <a:defRPr sz="1000">
                          <a:solidFill>
                            <a:srgbClr val="000000"/>
                          </a:solidFill>
                          <a:latin typeface="Montserrat"/>
                        </a:defRPr>
                      </a:pPr>
                      <a:r>
                        <a:t>94,682</a:t>
                      </a:r>
                    </a:p>
                  </a:txBody>
                  <a:tcPr marL="0" marR="0" marT="0" marB="0">
                    <a:solidFill>
                      <a:srgbClr val="EFEFEF"/>
                    </a:solidFill>
                  </a:tcPr>
                </a:tc>
                <a:tc>
                  <a:txBody>
                    <a:bodyPr/>
                    <a:lstStyle/>
                    <a:p>
                      <a:pPr algn="ctr">
                        <a:defRPr sz="1000">
                          <a:solidFill>
                            <a:srgbClr val="000000"/>
                          </a:solidFill>
                          <a:latin typeface="Montserrat"/>
                        </a:defRPr>
                      </a:pPr>
                      <a:r>
                        <a:t>7,493</a:t>
                      </a:r>
                    </a:p>
                  </a:txBody>
                  <a:tcPr marL="0" marR="0" marT="0" marB="0">
                    <a:solidFill>
                      <a:srgbClr val="EFEFEF"/>
                    </a:solidFill>
                  </a:tcPr>
                </a:tc>
                <a:tc>
                  <a:txBody>
                    <a:bodyPr/>
                    <a:lstStyle/>
                    <a:p>
                      <a:pPr algn="ctr">
                        <a:defRPr sz="1000">
                          <a:solidFill>
                            <a:srgbClr val="000000"/>
                          </a:solidFill>
                          <a:latin typeface="Montserrat"/>
                        </a:defRPr>
                      </a:pPr>
                      <a:r>
                        <a:t>29,243</a:t>
                      </a:r>
                    </a:p>
                  </a:txBody>
                  <a:tcPr marL="0" marR="0" marT="0" marB="0">
                    <a:solidFill>
                      <a:srgbClr val="ECD3D9"/>
                    </a:solidFill>
                  </a:tcPr>
                </a:tc>
                <a:tc>
                  <a:txBody>
                    <a:bodyPr/>
                    <a:lstStyle/>
                    <a:p>
                      <a:pPr algn="ctr">
                        <a:defRPr sz="1000">
                          <a:solidFill>
                            <a:srgbClr val="000000"/>
                          </a:solidFill>
                          <a:latin typeface="Montserrat"/>
                        </a:defRPr>
                      </a:pPr>
                      <a:r>
                        <a:t>100,224</a:t>
                      </a:r>
                    </a:p>
                  </a:txBody>
                  <a:tcPr marL="0" marR="0" marT="0" marB="0">
                    <a:solidFill>
                      <a:srgbClr val="ECD3D9"/>
                    </a:solidFill>
                  </a:tcPr>
                </a:tc>
                <a:tc>
                  <a:txBody>
                    <a:bodyPr/>
                    <a:lstStyle/>
                    <a:p>
                      <a:pPr algn="ctr">
                        <a:defRPr sz="1000">
                          <a:solidFill>
                            <a:srgbClr val="000000"/>
                          </a:solidFill>
                          <a:latin typeface="Montserrat"/>
                        </a:defRPr>
                      </a:pPr>
                      <a:r>
                        <a:t>29.2%</a:t>
                      </a:r>
                    </a:p>
                  </a:txBody>
                  <a:tcPr marL="0" marR="0" marT="0" marB="0">
                    <a:solidFill>
                      <a:srgbClr val="ECD3D9"/>
                    </a:solidFill>
                  </a:tcPr>
                </a:tc>
              </a:tr>
              <a:tr h="151200">
                <a:tc>
                  <a:txBody>
                    <a:bodyPr/>
                    <a:lstStyle/>
                    <a:p>
                      <a:pPr algn="l">
                        <a:defRPr sz="1000">
                          <a:solidFill>
                            <a:srgbClr val="000000"/>
                          </a:solidFill>
                          <a:latin typeface="Montserrat"/>
                        </a:defRPr>
                      </a:pPr>
                      <a:r>
                        <a:t>UMF 182 El Sol</a:t>
                      </a:r>
                    </a:p>
                  </a:txBody>
                  <a:tcPr marL="0" marR="0" marT="0" marB="0">
                    <a:solidFill>
                      <a:srgbClr val="FFFFFF"/>
                    </a:solidFill>
                  </a:tcPr>
                </a:tc>
                <a:tc>
                  <a:txBody>
                    <a:bodyPr/>
                    <a:lstStyle/>
                    <a:p>
                      <a:pPr algn="ctr">
                        <a:defRPr sz="1000">
                          <a:solidFill>
                            <a:srgbClr val="000000"/>
                          </a:solidFill>
                          <a:latin typeface="Montserrat"/>
                        </a:defRPr>
                      </a:pPr>
                      <a:r>
                        <a:t>85,780</a:t>
                      </a:r>
                    </a:p>
                  </a:txBody>
                  <a:tcPr marL="0" marR="0" marT="0" marB="0">
                    <a:solidFill>
                      <a:srgbClr val="FFFFFF"/>
                    </a:solidFill>
                  </a:tcPr>
                </a:tc>
                <a:tc>
                  <a:txBody>
                    <a:bodyPr/>
                    <a:lstStyle/>
                    <a:p>
                      <a:pPr algn="ctr">
                        <a:defRPr sz="1000">
                          <a:solidFill>
                            <a:srgbClr val="000000"/>
                          </a:solidFill>
                          <a:latin typeface="Montserrat"/>
                        </a:defRPr>
                      </a:pPr>
                      <a:r>
                        <a:t>6,247</a:t>
                      </a:r>
                    </a:p>
                  </a:txBody>
                  <a:tcPr marL="0" marR="0" marT="0" marB="0">
                    <a:solidFill>
                      <a:srgbClr val="FFFFFF"/>
                    </a:solidFill>
                  </a:tcPr>
                </a:tc>
                <a:tc>
                  <a:txBody>
                    <a:bodyPr/>
                    <a:lstStyle/>
                    <a:p>
                      <a:pPr algn="ctr">
                        <a:defRPr sz="1000">
                          <a:solidFill>
                            <a:srgbClr val="000000"/>
                          </a:solidFill>
                          <a:latin typeface="Montserrat"/>
                        </a:defRPr>
                      </a:pPr>
                      <a:r>
                        <a:t>29,839</a:t>
                      </a:r>
                    </a:p>
                  </a:txBody>
                  <a:tcPr marL="0" marR="0" marT="0" marB="0">
                    <a:solidFill>
                      <a:srgbClr val="ECD3D9"/>
                    </a:solidFill>
                  </a:tcPr>
                </a:tc>
                <a:tc>
                  <a:txBody>
                    <a:bodyPr/>
                    <a:lstStyle/>
                    <a:p>
                      <a:pPr algn="ctr">
                        <a:defRPr sz="1000">
                          <a:solidFill>
                            <a:srgbClr val="000000"/>
                          </a:solidFill>
                          <a:latin typeface="Montserrat"/>
                        </a:defRPr>
                      </a:pPr>
                      <a:r>
                        <a:t>87,696</a:t>
                      </a:r>
                    </a:p>
                  </a:txBody>
                  <a:tcPr marL="0" marR="0" marT="0" marB="0">
                    <a:solidFill>
                      <a:srgbClr val="ECD3D9"/>
                    </a:solidFill>
                  </a:tcPr>
                </a:tc>
                <a:tc>
                  <a:txBody>
                    <a:bodyPr/>
                    <a:lstStyle/>
                    <a:p>
                      <a:pPr algn="ctr">
                        <a:defRPr sz="1000">
                          <a:solidFill>
                            <a:srgbClr val="000000"/>
                          </a:solidFill>
                          <a:latin typeface="Montserrat"/>
                        </a:defRPr>
                      </a:pPr>
                      <a:r>
                        <a:t>34.0%</a:t>
                      </a:r>
                    </a:p>
                  </a:txBody>
                  <a:tcPr marL="0" marR="0" marT="0" marB="0">
                    <a:solidFill>
                      <a:srgbClr val="ECD3D9"/>
                    </a:solidFill>
                  </a:tcPr>
                </a:tc>
              </a:tr>
              <a:tr h="151200">
                <a:tc>
                  <a:txBody>
                    <a:bodyPr/>
                    <a:lstStyle/>
                    <a:p>
                      <a:pPr algn="l">
                        <a:defRPr sz="1000">
                          <a:solidFill>
                            <a:srgbClr val="000000"/>
                          </a:solidFill>
                          <a:latin typeface="Montserrat"/>
                        </a:defRPr>
                      </a:pPr>
                      <a:r>
                        <a:t>UMF 189 Chimalhuacán</a:t>
                      </a:r>
                    </a:p>
                  </a:txBody>
                  <a:tcPr marL="0" marR="0" marT="0" marB="0">
                    <a:solidFill>
                      <a:srgbClr val="EFEFEF"/>
                    </a:solidFill>
                  </a:tcPr>
                </a:tc>
                <a:tc>
                  <a:txBody>
                    <a:bodyPr/>
                    <a:lstStyle/>
                    <a:p>
                      <a:pPr algn="ctr">
                        <a:defRPr sz="1000">
                          <a:solidFill>
                            <a:srgbClr val="000000"/>
                          </a:solidFill>
                          <a:latin typeface="Montserrat"/>
                        </a:defRPr>
                      </a:pPr>
                      <a:r>
                        <a:t>95,524</a:t>
                      </a:r>
                    </a:p>
                  </a:txBody>
                  <a:tcPr marL="0" marR="0" marT="0" marB="0">
                    <a:solidFill>
                      <a:srgbClr val="EFEFEF"/>
                    </a:solidFill>
                  </a:tcPr>
                </a:tc>
                <a:tc>
                  <a:txBody>
                    <a:bodyPr/>
                    <a:lstStyle/>
                    <a:p>
                      <a:pPr algn="ctr">
                        <a:defRPr sz="1000">
                          <a:solidFill>
                            <a:srgbClr val="000000"/>
                          </a:solidFill>
                          <a:latin typeface="Montserrat"/>
                        </a:defRPr>
                      </a:pPr>
                      <a:r>
                        <a:t>9,518</a:t>
                      </a:r>
                    </a:p>
                  </a:txBody>
                  <a:tcPr marL="0" marR="0" marT="0" marB="0">
                    <a:solidFill>
                      <a:srgbClr val="EFEFEF"/>
                    </a:solidFill>
                  </a:tcPr>
                </a:tc>
                <a:tc>
                  <a:txBody>
                    <a:bodyPr/>
                    <a:lstStyle/>
                    <a:p>
                      <a:pPr algn="ctr">
                        <a:defRPr sz="1000">
                          <a:solidFill>
                            <a:srgbClr val="000000"/>
                          </a:solidFill>
                          <a:latin typeface="Montserrat"/>
                        </a:defRPr>
                      </a:pPr>
                      <a:r>
                        <a:t>31,912</a:t>
                      </a:r>
                    </a:p>
                  </a:txBody>
                  <a:tcPr marL="0" marR="0" marT="0" marB="0">
                    <a:solidFill>
                      <a:srgbClr val="ECD3D9"/>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34.3%</a:t>
                      </a:r>
                    </a:p>
                  </a:txBody>
                  <a:tcPr marL="0" marR="0" marT="0" marB="0">
                    <a:solidFill>
                      <a:srgbClr val="ECD3D9"/>
                    </a:solidFill>
                  </a:tcPr>
                </a:tc>
              </a:tr>
              <a:tr h="151200">
                <a:tc>
                  <a:txBody>
                    <a:bodyPr/>
                    <a:lstStyle/>
                    <a:p>
                      <a:pPr algn="l">
                        <a:defRPr sz="1000">
                          <a:solidFill>
                            <a:srgbClr val="000000"/>
                          </a:solidFill>
                          <a:latin typeface="Montserrat"/>
                        </a:defRPr>
                      </a:pPr>
                      <a:r>
                        <a:t>UMF 191 Ecatepec</a:t>
                      </a:r>
                    </a:p>
                  </a:txBody>
                  <a:tcPr marL="0" marR="0" marT="0" marB="0">
                    <a:solidFill>
                      <a:srgbClr val="FFFFFF"/>
                    </a:solidFill>
                  </a:tcPr>
                </a:tc>
                <a:tc>
                  <a:txBody>
                    <a:bodyPr/>
                    <a:lstStyle/>
                    <a:p>
                      <a:pPr algn="ctr">
                        <a:defRPr sz="1000">
                          <a:solidFill>
                            <a:srgbClr val="000000"/>
                          </a:solidFill>
                          <a:latin typeface="Montserrat"/>
                        </a:defRPr>
                      </a:pPr>
                      <a:r>
                        <a:t>112,659</a:t>
                      </a:r>
                    </a:p>
                  </a:txBody>
                  <a:tcPr marL="0" marR="0" marT="0" marB="0">
                    <a:solidFill>
                      <a:srgbClr val="FFFFFF"/>
                    </a:solidFill>
                  </a:tcPr>
                </a:tc>
                <a:tc>
                  <a:txBody>
                    <a:bodyPr/>
                    <a:lstStyle/>
                    <a:p>
                      <a:pPr algn="ctr">
                        <a:defRPr sz="1000">
                          <a:solidFill>
                            <a:srgbClr val="000000"/>
                          </a:solidFill>
                          <a:latin typeface="Montserrat"/>
                        </a:defRPr>
                      </a:pPr>
                      <a:r>
                        <a:t>8,395</a:t>
                      </a:r>
                    </a:p>
                  </a:txBody>
                  <a:tcPr marL="0" marR="0" marT="0" marB="0">
                    <a:solidFill>
                      <a:srgbClr val="FFFFFF"/>
                    </a:solidFill>
                  </a:tcPr>
                </a:tc>
                <a:tc>
                  <a:txBody>
                    <a:bodyPr/>
                    <a:lstStyle/>
                    <a:p>
                      <a:pPr algn="ctr">
                        <a:defRPr sz="1000">
                          <a:solidFill>
                            <a:srgbClr val="000000"/>
                          </a:solidFill>
                          <a:latin typeface="Montserrat"/>
                        </a:defRPr>
                      </a:pPr>
                      <a:r>
                        <a:t>38,090</a:t>
                      </a:r>
                    </a:p>
                  </a:txBody>
                  <a:tcPr marL="0" marR="0" marT="0" marB="0">
                    <a:solidFill>
                      <a:srgbClr val="ECD3D9"/>
                    </a:solidFill>
                  </a:tcPr>
                </a:tc>
                <a:tc>
                  <a:txBody>
                    <a:bodyPr/>
                    <a:lstStyle/>
                    <a:p>
                      <a:pPr algn="ctr">
                        <a:defRPr sz="1000">
                          <a:solidFill>
                            <a:srgbClr val="000000"/>
                          </a:solidFill>
                          <a:latin typeface="Montserrat"/>
                        </a:defRPr>
                      </a:pPr>
                      <a:r>
                        <a:t>112,752</a:t>
                      </a:r>
                    </a:p>
                  </a:txBody>
                  <a:tcPr marL="0" marR="0" marT="0" marB="0">
                    <a:solidFill>
                      <a:srgbClr val="ECD3D9"/>
                    </a:solidFill>
                  </a:tcPr>
                </a:tc>
                <a:tc>
                  <a:txBody>
                    <a:bodyPr/>
                    <a:lstStyle/>
                    <a:p>
                      <a:pPr algn="ctr">
                        <a:defRPr sz="1000">
                          <a:solidFill>
                            <a:srgbClr val="000000"/>
                          </a:solidFill>
                          <a:latin typeface="Montserrat"/>
                        </a:defRPr>
                      </a:pPr>
                      <a:r>
                        <a:t>33.8%</a:t>
                      </a:r>
                    </a:p>
                  </a:txBody>
                  <a:tcPr marL="0" marR="0" marT="0" marB="0">
                    <a:solidFill>
                      <a:srgbClr val="ECD3D9"/>
                    </a:solidFill>
                  </a:tcPr>
                </a:tc>
              </a:tr>
              <a:tr h="151200">
                <a:tc>
                  <a:txBody>
                    <a:bodyPr/>
                    <a:lstStyle/>
                    <a:p>
                      <a:pPr algn="l">
                        <a:defRPr sz="1000">
                          <a:solidFill>
                            <a:srgbClr val="000000"/>
                          </a:solidFill>
                          <a:latin typeface="Montserrat"/>
                        </a:defRPr>
                      </a:pPr>
                      <a:r>
                        <a:t>UMF 193 Chalco</a:t>
                      </a:r>
                    </a:p>
                  </a:txBody>
                  <a:tcPr marL="0" marR="0" marT="0" marB="0">
                    <a:solidFill>
                      <a:srgbClr val="EFEFEF"/>
                    </a:solidFill>
                  </a:tcPr>
                </a:tc>
                <a:tc>
                  <a:txBody>
                    <a:bodyPr/>
                    <a:lstStyle/>
                    <a:p>
                      <a:pPr algn="ctr">
                        <a:defRPr sz="1000">
                          <a:solidFill>
                            <a:srgbClr val="000000"/>
                          </a:solidFill>
                          <a:latin typeface="Montserrat"/>
                        </a:defRPr>
                      </a:pPr>
                      <a:r>
                        <a:t>159,231</a:t>
                      </a:r>
                    </a:p>
                  </a:txBody>
                  <a:tcPr marL="0" marR="0" marT="0" marB="0">
                    <a:solidFill>
                      <a:srgbClr val="EFEFEF"/>
                    </a:solidFill>
                  </a:tcPr>
                </a:tc>
                <a:tc>
                  <a:txBody>
                    <a:bodyPr/>
                    <a:lstStyle/>
                    <a:p>
                      <a:pPr algn="ctr">
                        <a:defRPr sz="1000">
                          <a:solidFill>
                            <a:srgbClr val="000000"/>
                          </a:solidFill>
                          <a:latin typeface="Montserrat"/>
                        </a:defRPr>
                      </a:pPr>
                      <a:r>
                        <a:t>6,887</a:t>
                      </a:r>
                    </a:p>
                  </a:txBody>
                  <a:tcPr marL="0" marR="0" marT="0" marB="0">
                    <a:solidFill>
                      <a:srgbClr val="EFEFEF"/>
                    </a:solidFill>
                  </a:tcPr>
                </a:tc>
                <a:tc>
                  <a:txBody>
                    <a:bodyPr/>
                    <a:lstStyle/>
                    <a:p>
                      <a:pPr algn="ctr">
                        <a:defRPr sz="1000">
                          <a:solidFill>
                            <a:srgbClr val="000000"/>
                          </a:solidFill>
                          <a:latin typeface="Montserrat"/>
                        </a:defRPr>
                      </a:pPr>
                      <a:r>
                        <a:t>52,189</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33.7%</a:t>
                      </a:r>
                    </a:p>
                  </a:txBody>
                  <a:tcPr marL="0" marR="0" marT="0" marB="0">
                    <a:solidFill>
                      <a:srgbClr val="ECD3D9"/>
                    </a:solidFill>
                  </a:tcPr>
                </a:tc>
              </a:tr>
              <a:tr h="151200">
                <a:tc>
                  <a:txBody>
                    <a:bodyPr/>
                    <a:lstStyle/>
                    <a:p>
                      <a:pPr algn="l">
                        <a:defRPr sz="1000">
                          <a:solidFill>
                            <a:srgbClr val="000000"/>
                          </a:solidFill>
                          <a:latin typeface="Montserrat"/>
                        </a:defRPr>
                      </a:pPr>
                      <a:r>
                        <a:t>UMF 185 Lomas de Cartagena</a:t>
                      </a:r>
                    </a:p>
                  </a:txBody>
                  <a:tcPr marL="0" marR="0" marT="0" marB="0">
                    <a:solidFill>
                      <a:srgbClr val="FFFFFF"/>
                    </a:solidFill>
                  </a:tcPr>
                </a:tc>
                <a:tc>
                  <a:txBody>
                    <a:bodyPr/>
                    <a:lstStyle/>
                    <a:p>
                      <a:pPr algn="ctr">
                        <a:defRPr sz="1000">
                          <a:solidFill>
                            <a:srgbClr val="000000"/>
                          </a:solidFill>
                          <a:latin typeface="Montserrat"/>
                        </a:defRPr>
                      </a:pPr>
                      <a:r>
                        <a:t>107,631</a:t>
                      </a:r>
                    </a:p>
                  </a:txBody>
                  <a:tcPr marL="0" marR="0" marT="0" marB="0">
                    <a:solidFill>
                      <a:srgbClr val="FFFFFF"/>
                    </a:solidFill>
                  </a:tcPr>
                </a:tc>
                <a:tc>
                  <a:txBody>
                    <a:bodyPr/>
                    <a:lstStyle/>
                    <a:p>
                      <a:pPr algn="ctr">
                        <a:defRPr sz="1000">
                          <a:solidFill>
                            <a:srgbClr val="000000"/>
                          </a:solidFill>
                          <a:latin typeface="Montserrat"/>
                        </a:defRPr>
                      </a:pPr>
                      <a:r>
                        <a:t>13,740</a:t>
                      </a:r>
                    </a:p>
                  </a:txBody>
                  <a:tcPr marL="0" marR="0" marT="0" marB="0">
                    <a:solidFill>
                      <a:srgbClr val="FFFFFF"/>
                    </a:solidFill>
                  </a:tcPr>
                </a:tc>
                <a:tc>
                  <a:txBody>
                    <a:bodyPr/>
                    <a:lstStyle/>
                    <a:p>
                      <a:pPr algn="ctr">
                        <a:defRPr sz="1000">
                          <a:solidFill>
                            <a:srgbClr val="000000"/>
                          </a:solidFill>
                          <a:latin typeface="Montserrat"/>
                        </a:defRPr>
                      </a:pPr>
                      <a:r>
                        <a:t>38,148</a:t>
                      </a:r>
                    </a:p>
                  </a:txBody>
                  <a:tcPr marL="0" marR="0" marT="0" marB="0">
                    <a:solidFill>
                      <a:srgbClr val="ECD3D9"/>
                    </a:solidFill>
                  </a:tcPr>
                </a:tc>
                <a:tc>
                  <a:txBody>
                    <a:bodyPr/>
                    <a:lstStyle/>
                    <a:p>
                      <a:pPr algn="ctr">
                        <a:defRPr sz="1000">
                          <a:solidFill>
                            <a:srgbClr val="000000"/>
                          </a:solidFill>
                          <a:latin typeface="Montserrat"/>
                        </a:defRPr>
                      </a:pPr>
                      <a:r>
                        <a:t>105,000</a:t>
                      </a:r>
                    </a:p>
                  </a:txBody>
                  <a:tcPr marL="0" marR="0" marT="0" marB="0">
                    <a:solidFill>
                      <a:srgbClr val="ECD3D9"/>
                    </a:solidFill>
                  </a:tcPr>
                </a:tc>
                <a:tc>
                  <a:txBody>
                    <a:bodyPr/>
                    <a:lstStyle/>
                    <a:p>
                      <a:pPr algn="ctr">
                        <a:defRPr sz="1000">
                          <a:solidFill>
                            <a:srgbClr val="000000"/>
                          </a:solidFill>
                          <a:latin typeface="Montserrat"/>
                        </a:defRPr>
                      </a:pPr>
                      <a:r>
                        <a:t>36.3%</a:t>
                      </a:r>
                    </a:p>
                  </a:txBody>
                  <a:tcPr marL="0" marR="0" marT="0" marB="0">
                    <a:solidFill>
                      <a:srgbClr val="ECD3D9"/>
                    </a:solidFill>
                  </a:tcPr>
                </a:tc>
              </a:tr>
              <a:tr h="151200">
                <a:tc>
                  <a:txBody>
                    <a:bodyPr/>
                    <a:lstStyle/>
                    <a:p>
                      <a:pPr algn="l">
                        <a:defRPr sz="1000">
                          <a:solidFill>
                            <a:srgbClr val="000000"/>
                          </a:solidFill>
                          <a:latin typeface="Montserrat"/>
                        </a:defRPr>
                      </a:pPr>
                      <a:r>
                        <a:t>UMF 195 Chalco</a:t>
                      </a:r>
                    </a:p>
                  </a:txBody>
                  <a:tcPr marL="0" marR="0" marT="0" marB="0">
                    <a:solidFill>
                      <a:srgbClr val="EFEFEF"/>
                    </a:solidFill>
                  </a:tcPr>
                </a:tc>
                <a:tc>
                  <a:txBody>
                    <a:bodyPr/>
                    <a:lstStyle/>
                    <a:p>
                      <a:pPr algn="ctr">
                        <a:defRPr sz="1000">
                          <a:solidFill>
                            <a:srgbClr val="000000"/>
                          </a:solidFill>
                          <a:latin typeface="Montserrat"/>
                        </a:defRPr>
                      </a:pPr>
                      <a:r>
                        <a:t>206,863</a:t>
                      </a:r>
                    </a:p>
                  </a:txBody>
                  <a:tcPr marL="0" marR="0" marT="0" marB="0">
                    <a:solidFill>
                      <a:srgbClr val="EFEFEF"/>
                    </a:solidFill>
                  </a:tcPr>
                </a:tc>
                <a:tc>
                  <a:txBody>
                    <a:bodyPr/>
                    <a:lstStyle/>
                    <a:p>
                      <a:pPr algn="ctr">
                        <a:defRPr sz="1000">
                          <a:solidFill>
                            <a:srgbClr val="000000"/>
                          </a:solidFill>
                          <a:latin typeface="Montserrat"/>
                        </a:defRPr>
                      </a:pPr>
                      <a:r>
                        <a:t>11,944</a:t>
                      </a:r>
                    </a:p>
                  </a:txBody>
                  <a:tcPr marL="0" marR="0" marT="0" marB="0">
                    <a:solidFill>
                      <a:srgbClr val="EFEFEF"/>
                    </a:solidFill>
                  </a:tcPr>
                </a:tc>
                <a:tc>
                  <a:txBody>
                    <a:bodyPr/>
                    <a:lstStyle/>
                    <a:p>
                      <a:pPr algn="ctr">
                        <a:defRPr sz="1000">
                          <a:solidFill>
                            <a:srgbClr val="000000"/>
                          </a:solidFill>
                          <a:latin typeface="Montserrat"/>
                        </a:defRPr>
                      </a:pPr>
                      <a:r>
                        <a:t>69,783</a:t>
                      </a:r>
                    </a:p>
                  </a:txBody>
                  <a:tcPr marL="0" marR="0" marT="0" marB="0">
                    <a:solidFill>
                      <a:srgbClr val="ECD3D9"/>
                    </a:solidFill>
                  </a:tcPr>
                </a:tc>
                <a:tc>
                  <a:txBody>
                    <a:bodyPr/>
                    <a:lstStyle/>
                    <a:p>
                      <a:pPr algn="ctr">
                        <a:defRPr sz="1000">
                          <a:solidFill>
                            <a:srgbClr val="000000"/>
                          </a:solidFill>
                          <a:latin typeface="Montserrat"/>
                        </a:defRPr>
                      </a:pPr>
                      <a:r>
                        <a:t>212,976</a:t>
                      </a:r>
                    </a:p>
                  </a:txBody>
                  <a:tcPr marL="0" marR="0" marT="0" marB="0">
                    <a:solidFill>
                      <a:srgbClr val="ECD3D9"/>
                    </a:solidFill>
                  </a:tcPr>
                </a:tc>
                <a:tc>
                  <a:txBody>
                    <a:bodyPr/>
                    <a:lstStyle/>
                    <a:p>
                      <a:pPr algn="ctr">
                        <a:defRPr sz="1000">
                          <a:solidFill>
                            <a:srgbClr val="000000"/>
                          </a:solidFill>
                          <a:latin typeface="Montserrat"/>
                        </a:defRPr>
                      </a:pPr>
                      <a:r>
                        <a:t>32.8%</a:t>
                      </a:r>
                    </a:p>
                  </a:txBody>
                  <a:tcPr marL="0" marR="0" marT="0" marB="0">
                    <a:solidFill>
                      <a:srgbClr val="ECD3D9"/>
                    </a:solidFill>
                  </a:tcPr>
                </a:tc>
              </a:tr>
              <a:tr h="151200">
                <a:tc>
                  <a:txBody>
                    <a:bodyPr/>
                    <a:lstStyle/>
                    <a:p>
                      <a:pPr algn="l">
                        <a:defRPr sz="1000">
                          <a:solidFill>
                            <a:srgbClr val="000000"/>
                          </a:solidFill>
                          <a:latin typeface="Montserrat"/>
                        </a:defRPr>
                      </a:pPr>
                      <a:r>
                        <a:t>UMF-UMAA 198 San Rafael</a:t>
                      </a:r>
                    </a:p>
                  </a:txBody>
                  <a:tcPr marL="0" marR="0" marT="0" marB="0">
                    <a:solidFill>
                      <a:srgbClr val="FFFFFF"/>
                    </a:solidFill>
                  </a:tcPr>
                </a:tc>
                <a:tc>
                  <a:txBody>
                    <a:bodyPr/>
                    <a:lstStyle/>
                    <a:p>
                      <a:pPr algn="ctr">
                        <a:defRPr sz="1000">
                          <a:solidFill>
                            <a:srgbClr val="000000"/>
                          </a:solidFill>
                          <a:latin typeface="Montserrat"/>
                        </a:defRPr>
                      </a:pPr>
                      <a:r>
                        <a:t>166,767</a:t>
                      </a:r>
                    </a:p>
                  </a:txBody>
                  <a:tcPr marL="0" marR="0" marT="0" marB="0">
                    <a:solidFill>
                      <a:srgbClr val="FFFFFF"/>
                    </a:solidFill>
                  </a:tcPr>
                </a:tc>
                <a:tc>
                  <a:txBody>
                    <a:bodyPr/>
                    <a:lstStyle/>
                    <a:p>
                      <a:pPr algn="ctr">
                        <a:defRPr sz="1000">
                          <a:solidFill>
                            <a:srgbClr val="000000"/>
                          </a:solidFill>
                          <a:latin typeface="Montserrat"/>
                        </a:defRPr>
                      </a:pPr>
                      <a:r>
                        <a:t>14,732</a:t>
                      </a:r>
                    </a:p>
                  </a:txBody>
                  <a:tcPr marL="0" marR="0" marT="0" marB="0">
                    <a:solidFill>
                      <a:srgbClr val="FFFFFF"/>
                    </a:solidFill>
                  </a:tcPr>
                </a:tc>
                <a:tc>
                  <a:txBody>
                    <a:bodyPr/>
                    <a:lstStyle/>
                    <a:p>
                      <a:pPr algn="ctr">
                        <a:defRPr sz="1000">
                          <a:solidFill>
                            <a:srgbClr val="000000"/>
                          </a:solidFill>
                          <a:latin typeface="Montserrat"/>
                        </a:defRPr>
                      </a:pPr>
                      <a:r>
                        <a:t>57,523</a:t>
                      </a:r>
                    </a:p>
                  </a:txBody>
                  <a:tcPr marL="0" marR="0" marT="0" marB="0">
                    <a:solidFill>
                      <a:srgbClr val="ECD3D9"/>
                    </a:solidFill>
                  </a:tcPr>
                </a:tc>
                <a:tc>
                  <a:txBody>
                    <a:bodyPr/>
                    <a:lstStyle/>
                    <a:p>
                      <a:pPr algn="ctr">
                        <a:defRPr sz="1000">
                          <a:solidFill>
                            <a:srgbClr val="000000"/>
                          </a:solidFill>
                          <a:latin typeface="Montserrat"/>
                        </a:defRPr>
                      </a:pPr>
                      <a:r>
                        <a:t>162,000</a:t>
                      </a:r>
                    </a:p>
                  </a:txBody>
                  <a:tcPr marL="0" marR="0" marT="0" marB="0">
                    <a:solidFill>
                      <a:srgbClr val="ECD3D9"/>
                    </a:solidFill>
                  </a:tcPr>
                </a:tc>
                <a:tc>
                  <a:txBody>
                    <a:bodyPr/>
                    <a:lstStyle/>
                    <a:p>
                      <a:pPr algn="ctr">
                        <a:defRPr sz="1000">
                          <a:solidFill>
                            <a:srgbClr val="000000"/>
                          </a:solidFill>
                          <a:latin typeface="Montserrat"/>
                        </a:defRPr>
                      </a:pPr>
                      <a:r>
                        <a:t>35.5%</a:t>
                      </a:r>
                    </a:p>
                  </a:txBody>
                  <a:tcPr marL="0" marR="0" marT="0" marB="0">
                    <a:solidFill>
                      <a:srgbClr val="ECD3D9"/>
                    </a:solidFill>
                  </a:tcPr>
                </a:tc>
              </a:tr>
              <a:tr h="151200">
                <a:tc>
                  <a:txBody>
                    <a:bodyPr/>
                    <a:lstStyle/>
                    <a:p>
                      <a:pPr algn="l">
                        <a:defRPr sz="1000">
                          <a:solidFill>
                            <a:srgbClr val="000000"/>
                          </a:solidFill>
                          <a:latin typeface="Montserrat"/>
                        </a:defRPr>
                      </a:pPr>
                      <a:r>
                        <a:t>UMF 248 Sn Mateo Atenco</a:t>
                      </a:r>
                    </a:p>
                  </a:txBody>
                  <a:tcPr marL="0" marR="0" marT="0" marB="0">
                    <a:solidFill>
                      <a:srgbClr val="EFEFEF"/>
                    </a:solidFill>
                  </a:tcPr>
                </a:tc>
                <a:tc>
                  <a:txBody>
                    <a:bodyPr/>
                    <a:lstStyle/>
                    <a:p>
                      <a:pPr algn="ctr">
                        <a:defRPr sz="1000">
                          <a:solidFill>
                            <a:srgbClr val="000000"/>
                          </a:solidFill>
                          <a:latin typeface="Montserrat"/>
                        </a:defRPr>
                      </a:pPr>
                      <a:r>
                        <a:t>143,421</a:t>
                      </a:r>
                    </a:p>
                  </a:txBody>
                  <a:tcPr marL="0" marR="0" marT="0" marB="0">
                    <a:solidFill>
                      <a:srgbClr val="EFEFEF"/>
                    </a:solidFill>
                  </a:tcPr>
                </a:tc>
                <a:tc>
                  <a:txBody>
                    <a:bodyPr/>
                    <a:lstStyle/>
                    <a:p>
                      <a:pPr algn="ctr">
                        <a:defRPr sz="1000">
                          <a:solidFill>
                            <a:srgbClr val="000000"/>
                          </a:solidFill>
                          <a:latin typeface="Montserrat"/>
                        </a:defRPr>
                      </a:pPr>
                      <a:r>
                        <a:t>28,484</a:t>
                      </a:r>
                    </a:p>
                  </a:txBody>
                  <a:tcPr marL="0" marR="0" marT="0" marB="0">
                    <a:solidFill>
                      <a:srgbClr val="EFEFEF"/>
                    </a:solidFill>
                  </a:tcPr>
                </a:tc>
                <a:tc>
                  <a:txBody>
                    <a:bodyPr/>
                    <a:lstStyle/>
                    <a:p>
                      <a:pPr algn="ctr">
                        <a:defRPr sz="1000">
                          <a:solidFill>
                            <a:srgbClr val="000000"/>
                          </a:solidFill>
                          <a:latin typeface="Montserrat"/>
                        </a:defRPr>
                      </a:pPr>
                      <a:r>
                        <a:t>48,935</a:t>
                      </a:r>
                    </a:p>
                  </a:txBody>
                  <a:tcPr marL="0" marR="0" marT="0" marB="0">
                    <a:solidFill>
                      <a:srgbClr val="ECD3D9"/>
                    </a:solidFill>
                  </a:tcPr>
                </a:tc>
                <a:tc>
                  <a:txBody>
                    <a:bodyPr/>
                    <a:lstStyle/>
                    <a:p>
                      <a:pPr algn="ctr">
                        <a:defRPr sz="1000">
                          <a:solidFill>
                            <a:srgbClr val="000000"/>
                          </a:solidFill>
                          <a:latin typeface="Montserrat"/>
                        </a:defRPr>
                      </a:pPr>
                      <a:r>
                        <a:t>139,000</a:t>
                      </a:r>
                    </a:p>
                  </a:txBody>
                  <a:tcPr marL="0" marR="0" marT="0" marB="0">
                    <a:solidFill>
                      <a:srgbClr val="ECD3D9"/>
                    </a:solidFill>
                  </a:tcPr>
                </a:tc>
                <a:tc>
                  <a:txBody>
                    <a:bodyPr/>
                    <a:lstStyle/>
                    <a:p>
                      <a:pPr algn="ctr">
                        <a:defRPr sz="1000">
                          <a:solidFill>
                            <a:srgbClr val="000000"/>
                          </a:solidFill>
                          <a:latin typeface="Montserrat"/>
                        </a:defRPr>
                      </a:pPr>
                      <a:r>
                        <a:t>35.2%</a:t>
                      </a:r>
                    </a:p>
                  </a:txBody>
                  <a:tcPr marL="0" marR="0" marT="0" marB="0">
                    <a:solidFill>
                      <a:srgbClr val="ECD3D9"/>
                    </a:solidFill>
                  </a:tcPr>
                </a:tc>
              </a:tr>
              <a:tr h="151200">
                <a:tc>
                  <a:txBody>
                    <a:bodyPr/>
                    <a:lstStyle/>
                    <a:p>
                      <a:pPr algn="l">
                        <a:defRPr sz="1000">
                          <a:solidFill>
                            <a:srgbClr val="000000"/>
                          </a:solidFill>
                          <a:latin typeface="Montserrat"/>
                        </a:defRPr>
                      </a:pPr>
                      <a:r>
                        <a:t>UMF 249 Santiago Tlaxomulco</a:t>
                      </a:r>
                    </a:p>
                  </a:txBody>
                  <a:tcPr marL="0" marR="0" marT="0" marB="0">
                    <a:solidFill>
                      <a:srgbClr val="FFFFFF"/>
                    </a:solidFill>
                  </a:tcPr>
                </a:tc>
                <a:tc>
                  <a:txBody>
                    <a:bodyPr/>
                    <a:lstStyle/>
                    <a:p>
                      <a:pPr algn="ctr">
                        <a:defRPr sz="1000">
                          <a:solidFill>
                            <a:srgbClr val="000000"/>
                          </a:solidFill>
                          <a:latin typeface="Montserrat"/>
                        </a:defRPr>
                      </a:pPr>
                      <a:r>
                        <a:t>168,172</a:t>
                      </a:r>
                    </a:p>
                  </a:txBody>
                  <a:tcPr marL="0" marR="0" marT="0" marB="0">
                    <a:solidFill>
                      <a:srgbClr val="FFFFFF"/>
                    </a:solidFill>
                  </a:tcPr>
                </a:tc>
                <a:tc>
                  <a:txBody>
                    <a:bodyPr/>
                    <a:lstStyle/>
                    <a:p>
                      <a:pPr algn="ctr">
                        <a:defRPr sz="1000">
                          <a:solidFill>
                            <a:srgbClr val="000000"/>
                          </a:solidFill>
                          <a:latin typeface="Montserrat"/>
                        </a:defRPr>
                      </a:pPr>
                      <a:r>
                        <a:t>32,233</a:t>
                      </a:r>
                    </a:p>
                  </a:txBody>
                  <a:tcPr marL="0" marR="0" marT="0" marB="0">
                    <a:solidFill>
                      <a:srgbClr val="FFFFFF"/>
                    </a:solidFill>
                  </a:tcPr>
                </a:tc>
                <a:tc>
                  <a:txBody>
                    <a:bodyPr/>
                    <a:lstStyle/>
                    <a:p>
                      <a:pPr algn="ctr">
                        <a:defRPr sz="1000">
                          <a:solidFill>
                            <a:srgbClr val="000000"/>
                          </a:solidFill>
                          <a:latin typeface="Montserrat"/>
                        </a:defRPr>
                      </a:pPr>
                      <a:r>
                        <a:t>58,281</a:t>
                      </a:r>
                    </a:p>
                  </a:txBody>
                  <a:tcPr marL="0" marR="0" marT="0" marB="0">
                    <a:solidFill>
                      <a:srgbClr val="ECD3D9"/>
                    </a:solidFill>
                  </a:tcPr>
                </a:tc>
                <a:tc>
                  <a:txBody>
                    <a:bodyPr/>
                    <a:lstStyle/>
                    <a:p>
                      <a:pPr algn="ctr">
                        <a:defRPr sz="1000">
                          <a:solidFill>
                            <a:srgbClr val="000000"/>
                          </a:solidFill>
                          <a:latin typeface="Montserrat"/>
                        </a:defRPr>
                      </a:pPr>
                      <a:r>
                        <a:t>164,000</a:t>
                      </a:r>
                    </a:p>
                  </a:txBody>
                  <a:tcPr marL="0" marR="0" marT="0" marB="0">
                    <a:solidFill>
                      <a:srgbClr val="ECD3D9"/>
                    </a:solidFill>
                  </a:tcPr>
                </a:tc>
                <a:tc>
                  <a:txBody>
                    <a:bodyPr/>
                    <a:lstStyle/>
                    <a:p>
                      <a:pPr algn="ctr">
                        <a:defRPr sz="1000">
                          <a:solidFill>
                            <a:srgbClr val="000000"/>
                          </a:solidFill>
                          <a:latin typeface="Montserrat"/>
                        </a:defRPr>
                      </a:pPr>
                      <a:r>
                        <a:t>35.5%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8,397,601</a:t>
                      </a:r>
                    </a:p>
                  </a:txBody>
                  <a:tcPr marL="0" marR="0" marT="0" marB="0">
                    <a:solidFill>
                      <a:srgbClr val="D3E9E7"/>
                    </a:solidFill>
                  </a:tcPr>
                </a:tc>
                <a:tc>
                  <a:txBody>
                    <a:bodyPr/>
                    <a:lstStyle/>
                    <a:p>
                      <a:pPr algn="ctr">
                        <a:defRPr sz="1000" b="1">
                          <a:solidFill>
                            <a:srgbClr val="006556"/>
                          </a:solidFill>
                          <a:latin typeface="Montserrat"/>
                        </a:defRPr>
                      </a:pPr>
                      <a:r>
                        <a:t>821,710</a:t>
                      </a:r>
                    </a:p>
                  </a:txBody>
                  <a:tcPr marL="0" marR="0" marT="0" marB="0">
                    <a:solidFill>
                      <a:srgbClr val="D3E9E7"/>
                    </a:solidFill>
                  </a:tcPr>
                </a:tc>
                <a:tc>
                  <a:txBody>
                    <a:bodyPr/>
                    <a:lstStyle/>
                    <a:p>
                      <a:pPr algn="ctr">
                        <a:defRPr sz="1000" b="1">
                          <a:solidFill>
                            <a:srgbClr val="FFFFFF"/>
                          </a:solidFill>
                          <a:latin typeface="Montserrat"/>
                        </a:defRPr>
                      </a:pPr>
                      <a:r>
                        <a:t>2,789,918</a:t>
                      </a:r>
                    </a:p>
                  </a:txBody>
                  <a:tcPr marL="0" marR="0" marT="0" marB="0">
                    <a:solidFill>
                      <a:srgbClr val="9F2241"/>
                    </a:solidFill>
                  </a:tcPr>
                </a:tc>
                <a:tc>
                  <a:txBody>
                    <a:bodyPr/>
                    <a:lstStyle/>
                    <a:p>
                      <a:pPr algn="ctr">
                        <a:defRPr sz="1000" b="1">
                          <a:solidFill>
                            <a:srgbClr val="FFFFFF"/>
                          </a:solidFill>
                          <a:latin typeface="Montserrat"/>
                        </a:defRPr>
                      </a:pPr>
                      <a:r>
                        <a:t>8,464,560</a:t>
                      </a:r>
                    </a:p>
                  </a:txBody>
                  <a:tcPr marL="0" marR="0" marT="0" marB="0">
                    <a:solidFill>
                      <a:srgbClr val="9F2241"/>
                    </a:solidFill>
                  </a:tcPr>
                </a:tc>
                <a:tc>
                  <a:txBody>
                    <a:bodyPr/>
                    <a:lstStyle/>
                    <a:p>
                      <a:pPr algn="ctr">
                        <a:defRPr sz="1000" b="1">
                          <a:solidFill>
                            <a:srgbClr val="FFFFFF"/>
                          </a:solidFill>
                          <a:latin typeface="Montserrat"/>
                        </a:defRPr>
                      </a:pPr>
                      <a:r>
                        <a:t>33.0%</a:t>
                      </a:r>
                    </a:p>
                  </a:txBody>
                  <a:tcPr marL="0" marR="0" marT="0" marB="0">
                    <a:solidFill>
                      <a:srgbClr val="9F2241"/>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7" name="Table 6"/>
          <p:cNvGraphicFramePr>
            <a:graphicFrameLocks noGrp="1"/>
          </p:cNvGraphicFramePr>
          <p:nvPr/>
        </p:nvGraphicFramePr>
        <p:xfrm>
          <a:off x="144000" y="1494000"/>
          <a:ext cx="7340399" cy="853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69,891</a:t>
                      </a:r>
                    </a:p>
                  </a:txBody>
                  <a:tcPr>
                    <a:solidFill>
                      <a:srgbClr val="FFFFFF"/>
                    </a:solidFill>
                  </a:tcPr>
                </a:tc>
                <a:tc>
                  <a:txBody>
                    <a:bodyPr/>
                    <a:lstStyle/>
                    <a:p>
                      <a:pPr algn="ctr">
                        <a:defRPr sz="1000">
                          <a:latin typeface="Montserrat"/>
                        </a:defRPr>
                      </a:pPr>
                      <a:r>
                        <a:t>16,172</a:t>
                      </a:r>
                    </a:p>
                  </a:txBody>
                  <a:tcPr>
                    <a:solidFill>
                      <a:srgbClr val="FFFFFF"/>
                    </a:solidFill>
                  </a:tcPr>
                </a:tc>
                <a:tc>
                  <a:txBody>
                    <a:bodyPr/>
                    <a:lstStyle/>
                    <a:p>
                      <a:pPr algn="ctr">
                        <a:defRPr sz="1000">
                          <a:latin typeface="Montserrat"/>
                        </a:defRPr>
                      </a:pPr>
                      <a:r>
                        <a:t>20,129</a:t>
                      </a:r>
                    </a:p>
                  </a:txBody>
                  <a:tcPr>
                    <a:solidFill>
                      <a:srgbClr val="ECD3D9"/>
                    </a:solidFill>
                  </a:tcPr>
                </a:tc>
                <a:tc>
                  <a:txBody>
                    <a:bodyPr/>
                    <a:lstStyle/>
                    <a:p>
                      <a:pPr algn="ctr">
                        <a:defRPr sz="1000">
                          <a:latin typeface="Montserrat"/>
                        </a:defRPr>
                      </a:pPr>
                      <a:r>
                        <a:t>124,100</a:t>
                      </a:r>
                    </a:p>
                  </a:txBody>
                  <a:tcPr>
                    <a:solidFill>
                      <a:srgbClr val="ECD3D9"/>
                    </a:solidFill>
                  </a:tcPr>
                </a:tc>
                <a:tc>
                  <a:txBody>
                    <a:bodyPr/>
                    <a:lstStyle/>
                    <a:p>
                      <a:pPr algn="ctr">
                        <a:defRPr sz="1000">
                          <a:latin typeface="Montserrat"/>
                        </a:defRPr>
                      </a:pPr>
                      <a:r>
                        <a:t>16.2%</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2,097,783</a:t>
                      </a:r>
                    </a:p>
                  </a:txBody>
                  <a:tcPr>
                    <a:solidFill>
                      <a:srgbClr val="D3E9E7"/>
                    </a:solidFill>
                  </a:tcPr>
                </a:tc>
                <a:tc>
                  <a:txBody>
                    <a:bodyPr/>
                    <a:lstStyle/>
                    <a:p>
                      <a:pPr algn="ctr">
                        <a:defRPr sz="1000" b="1">
                          <a:solidFill>
                            <a:srgbClr val="006556"/>
                          </a:solidFill>
                          <a:latin typeface="Montserrat"/>
                        </a:defRPr>
                      </a:pPr>
                      <a:r>
                        <a:t>332,352</a:t>
                      </a:r>
                    </a:p>
                  </a:txBody>
                  <a:tcPr>
                    <a:solidFill>
                      <a:srgbClr val="D3E9E7"/>
                    </a:solidFill>
                  </a:tcPr>
                </a:tc>
                <a:tc>
                  <a:txBody>
                    <a:bodyPr/>
                    <a:lstStyle/>
                    <a:p>
                      <a:pPr algn="ctr">
                        <a:defRPr sz="1000" b="1">
                          <a:solidFill>
                            <a:srgbClr val="FFFFFF"/>
                          </a:solidFill>
                          <a:latin typeface="Montserrat"/>
                        </a:defRPr>
                      </a:pPr>
                      <a:r>
                        <a:t>713,136</a:t>
                      </a:r>
                    </a:p>
                  </a:txBody>
                  <a:tcPr>
                    <a:solidFill>
                      <a:srgbClr val="9F2241"/>
                    </a:solidFill>
                  </a:tcPr>
                </a:tc>
                <a:tc>
                  <a:txBody>
                    <a:bodyPr/>
                    <a:lstStyle/>
                    <a:p>
                      <a:pPr algn="ctr">
                        <a:defRPr sz="1000" b="1">
                          <a:solidFill>
                            <a:srgbClr val="FFFFFF"/>
                          </a:solidFill>
                          <a:latin typeface="Montserrat"/>
                        </a:defRPr>
                      </a:pPr>
                      <a:r>
                        <a:t>2,350,235</a:t>
                      </a:r>
                    </a:p>
                  </a:txBody>
                  <a:tcPr>
                    <a:solidFill>
                      <a:srgbClr val="9F2241"/>
                    </a:solidFill>
                  </a:tcPr>
                </a:tc>
                <a:tc>
                  <a:txBody>
                    <a:bodyPr/>
                    <a:lstStyle/>
                    <a:p>
                      <a:pPr algn="ctr">
                        <a:defRPr sz="1000" b="1">
                          <a:solidFill>
                            <a:srgbClr val="FFFFFF"/>
                          </a:solidFill>
                          <a:latin typeface="Montserrat"/>
                        </a:defRPr>
                      </a:pPr>
                      <a:r>
                        <a:t>30.3%</a:t>
                      </a:r>
                    </a:p>
                  </a:txBody>
                  <a:tcPr>
                    <a:solidFill>
                      <a:srgbClr val="9F2241"/>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7" name="Table 6"/>
          <p:cNvGraphicFramePr>
            <a:graphicFrameLocks noGrp="1"/>
          </p:cNvGraphicFramePr>
          <p:nvPr/>
        </p:nvGraphicFramePr>
        <p:xfrm>
          <a:off x="144000" y="1494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80,309</a:t>
                      </a:r>
                    </a:p>
                  </a:txBody>
                  <a:tcPr>
                    <a:solidFill>
                      <a:srgbClr val="FFFFFF"/>
                    </a:solidFill>
                  </a:tcPr>
                </a:tc>
                <a:tc>
                  <a:txBody>
                    <a:bodyPr/>
                    <a:lstStyle/>
                    <a:p>
                      <a:pPr algn="ctr">
                        <a:defRPr sz="1000">
                          <a:latin typeface="Montserrat"/>
                        </a:defRPr>
                      </a:pPr>
                      <a:r>
                        <a:t>4,239</a:t>
                      </a:r>
                    </a:p>
                  </a:txBody>
                  <a:tcPr>
                    <a:solidFill>
                      <a:srgbClr val="FFFFFF"/>
                    </a:solidFill>
                  </a:tcPr>
                </a:tc>
                <a:tc>
                  <a:txBody>
                    <a:bodyPr/>
                    <a:lstStyle/>
                    <a:p>
                      <a:pPr algn="ctr">
                        <a:defRPr sz="1000">
                          <a:latin typeface="Montserrat"/>
                        </a:defRPr>
                      </a:pPr>
                      <a:r>
                        <a:t>32,174</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80,309</a:t>
                      </a:r>
                    </a:p>
                  </a:txBody>
                  <a:tcPr>
                    <a:solidFill>
                      <a:srgbClr val="D3E9E7"/>
                    </a:solidFill>
                  </a:tcPr>
                </a:tc>
                <a:tc>
                  <a:txBody>
                    <a:bodyPr/>
                    <a:lstStyle/>
                    <a:p>
                      <a:pPr algn="ctr">
                        <a:defRPr sz="1000" b="1">
                          <a:solidFill>
                            <a:srgbClr val="006556"/>
                          </a:solidFill>
                          <a:latin typeface="Montserrat"/>
                        </a:defRPr>
                      </a:pPr>
                      <a:r>
                        <a:t>4,239</a:t>
                      </a:r>
                    </a:p>
                  </a:txBody>
                  <a:tcPr>
                    <a:solidFill>
                      <a:srgbClr val="D3E9E7"/>
                    </a:solidFill>
                  </a:tcPr>
                </a:tc>
                <a:tc>
                  <a:txBody>
                    <a:bodyPr/>
                    <a:lstStyle/>
                    <a:p>
                      <a:pPr algn="ctr">
                        <a:defRPr sz="1000" b="1">
                          <a:solidFill>
                            <a:srgbClr val="FFFFFF"/>
                          </a:solidFill>
                          <a:latin typeface="Montserrat"/>
                        </a:defRPr>
                      </a:pPr>
                      <a:r>
                        <a:t>32,174</a:t>
                      </a:r>
                    </a:p>
                  </a:txBody>
                  <a:tcPr>
                    <a:solidFill>
                      <a:srgbClr val="9F2241"/>
                    </a:solidFill>
                  </a:tcPr>
                </a:tc>
                <a:tc>
                  <a:txBody>
                    <a:bodyPr/>
                    <a:lstStyle/>
                    <a:p>
                      <a:pPr algn="ctr">
                        <a:defRPr sz="1000" b="1">
                          <a:solidFill>
                            <a:srgbClr val="FFFFFF"/>
                          </a:solidFill>
                          <a:latin typeface="Montserrat"/>
                        </a:defRPr>
                      </a:pPr>
                      <a:r>
                        <a:t>91,980</a:t>
                      </a:r>
                    </a:p>
                  </a:txBody>
                  <a:tcPr>
                    <a:solidFill>
                      <a:srgbClr val="9F2241"/>
                    </a:solidFill>
                  </a:tcPr>
                </a:tc>
                <a:tc>
                  <a:txBody>
                    <a:bodyPr/>
                    <a:lstStyle/>
                    <a:p>
                      <a:pPr algn="ctr">
                        <a:defRPr sz="1000" b="1">
                          <a:solidFill>
                            <a:srgbClr val="FFFFFF"/>
                          </a:solidFill>
                          <a:latin typeface="Montserrat"/>
                        </a:defRPr>
                      </a:pPr>
                      <a:r>
                        <a:t>35.0%</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2,178,092</a:t>
                      </a:r>
                    </a:p>
                  </a:txBody>
                  <a:tcPr>
                    <a:solidFill>
                      <a:srgbClr val="D3E9E7"/>
                    </a:solidFill>
                  </a:tcPr>
                </a:tc>
                <a:tc>
                  <a:txBody>
                    <a:bodyPr/>
                    <a:lstStyle/>
                    <a:p>
                      <a:pPr algn="ctr">
                        <a:defRPr sz="1000" b="1">
                          <a:solidFill>
                            <a:srgbClr val="006556"/>
                          </a:solidFill>
                          <a:latin typeface="Montserrat"/>
                        </a:defRPr>
                      </a:pPr>
                      <a:r>
                        <a:t>336,591</a:t>
                      </a:r>
                    </a:p>
                  </a:txBody>
                  <a:tcPr>
                    <a:solidFill>
                      <a:srgbClr val="D3E9E7"/>
                    </a:solidFill>
                  </a:tcPr>
                </a:tc>
                <a:tc>
                  <a:txBody>
                    <a:bodyPr/>
                    <a:lstStyle/>
                    <a:p>
                      <a:pPr algn="ctr">
                        <a:defRPr sz="1000" b="1">
                          <a:solidFill>
                            <a:srgbClr val="FFFFFF"/>
                          </a:solidFill>
                          <a:latin typeface="Montserrat"/>
                        </a:defRPr>
                      </a:pPr>
                      <a:r>
                        <a:t>745,310</a:t>
                      </a:r>
                    </a:p>
                  </a:txBody>
                  <a:tcPr>
                    <a:solidFill>
                      <a:srgbClr val="9F2241"/>
                    </a:solidFill>
                  </a:tcPr>
                </a:tc>
                <a:tc>
                  <a:txBody>
                    <a:bodyPr/>
                    <a:lstStyle/>
                    <a:p>
                      <a:pPr algn="ctr">
                        <a:defRPr sz="1000" b="1">
                          <a:solidFill>
                            <a:srgbClr val="FFFFFF"/>
                          </a:solidFill>
                          <a:latin typeface="Montserrat"/>
                        </a:defRPr>
                      </a:pPr>
                      <a:r>
                        <a:t>2,442,215</a:t>
                      </a:r>
                    </a:p>
                  </a:txBody>
                  <a:tcPr>
                    <a:solidFill>
                      <a:srgbClr val="9F2241"/>
                    </a:solidFill>
                  </a:tcPr>
                </a:tc>
                <a:tc>
                  <a:txBody>
                    <a:bodyPr/>
                    <a:lstStyle/>
                    <a:p>
                      <a:pPr algn="ctr">
                        <a:defRPr sz="1000" b="1">
                          <a:solidFill>
                            <a:srgbClr val="FFFFFF"/>
                          </a:solidFill>
                          <a:latin typeface="Montserrat"/>
                        </a:defRPr>
                      </a:pPr>
                      <a:r>
                        <a:t>30.5%</a:t>
                      </a:r>
                    </a:p>
                  </a:txBody>
                  <a:tcPr>
                    <a:solidFill>
                      <a:srgbClr val="9F2241"/>
                    </a:solidFill>
                  </a:tcPr>
                </a:tc>
              </a:tr>
            </a:tbl>
          </a:graphicData>
        </a:graphic>
      </p:graphicFrame>
      <p:graphicFrame>
        <p:nvGraphicFramePr>
          <p:cNvPr id="8" name="Chart 7"/>
          <p:cNvGraphicFramePr>
            <a:graphicFrameLocks noGrp="1"/>
          </p:cNvGraphicFramePr>
          <p:nvPr/>
        </p:nvGraphicFramePr>
        <p:xfrm>
          <a:off x="4780800" y="30060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3726000"/>
            <a:ext cx="1800000" cy="360000"/>
          </a:xfrm>
          <a:prstGeom prst="rect">
            <a:avLst/>
          </a:prstGeom>
          <a:noFill/>
        </p:spPr>
        <p:txBody>
          <a:bodyPr wrap="none">
            <a:spAutoFit/>
          </a:bodyPr>
          <a:lstStyle/>
          <a:p>
            <a:pPr algn="ctr"/>
            <a:r>
              <a:rPr sz="2400" b="1">
                <a:solidFill>
                  <a:srgbClr val="9F2241"/>
                </a:solidFill>
                <a:latin typeface="Montserrat"/>
              </a:rPr>
              <a:t>30.5%</a:t>
            </a:r>
          </a:p>
        </p:txBody>
      </p:sp>
      <p:sp>
        <p:nvSpPr>
          <p:cNvPr id="10" name="TextBox 9"/>
          <p:cNvSpPr txBox="1"/>
          <p:nvPr/>
        </p:nvSpPr>
        <p:spPr>
          <a:xfrm>
            <a:off x="4780800" y="462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3006000"/>
            <a:ext cx="2854800" cy="1198800"/>
          </a:xfrm>
          <a:prstGeom prst="rect">
            <a:avLst/>
          </a:prstGeom>
          <a:noFill/>
        </p:spPr>
        <p:txBody>
          <a:bodyPr wrap="square">
            <a:spAutoFit/>
          </a:bodyPr>
          <a:lstStyle/>
          <a:p>
            <a:pPr algn="ctr">
              <a:defRPr sz="3600" b="1">
                <a:solidFill>
                  <a:srgbClr val="9F2241"/>
                </a:solidFill>
                <a:latin typeface="Montserrat"/>
              </a:defRPr>
            </a:pPr>
            <a:r>
              <a:t>2,442,215 </a:t>
            </a:r>
            <a:br/>
            <a:r>
              <a:t>Meta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6" name="Table 5"/>
          <p:cNvGraphicFramePr>
            <a:graphicFrameLocks noGrp="1"/>
          </p:cNvGraphicFramePr>
          <p:nvPr/>
        </p:nvGraphicFramePr>
        <p:xfrm>
          <a:off x="144000" y="1137600"/>
          <a:ext cx="7340399" cy="853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UMAA 199 Tlalnepantla (Aut)</a:t>
                      </a:r>
                    </a:p>
                  </a:txBody>
                  <a:tcPr>
                    <a:solidFill>
                      <a:srgbClr val="FFFFFF"/>
                    </a:solidFill>
                  </a:tcPr>
                </a:tc>
                <a:tc>
                  <a:txBody>
                    <a:bodyPr/>
                    <a:lstStyle/>
                    <a:p>
                      <a:pPr algn="ctr">
                        <a:defRPr sz="1000">
                          <a:latin typeface="Montserrat"/>
                        </a:defRPr>
                      </a:pPr>
                      <a:r>
                        <a:t>4,507</a:t>
                      </a:r>
                    </a:p>
                  </a:txBody>
                  <a:tcPr>
                    <a:solidFill>
                      <a:srgbClr val="FFFFFF"/>
                    </a:solidFill>
                  </a:tcPr>
                </a:tc>
                <a:tc>
                  <a:txBody>
                    <a:bodyPr/>
                    <a:lstStyle/>
                    <a:p>
                      <a:pPr algn="ctr">
                        <a:defRPr sz="1000">
                          <a:latin typeface="Montserrat"/>
                        </a:defRPr>
                      </a:pPr>
                      <a:r>
                        <a:t>-39</a:t>
                      </a:r>
                    </a:p>
                  </a:txBody>
                  <a:tcPr>
                    <a:solidFill>
                      <a:srgbClr val="FFFFFF"/>
                    </a:solidFill>
                  </a:tcPr>
                </a:tc>
                <a:tc>
                  <a:txBody>
                    <a:bodyPr/>
                    <a:lstStyle/>
                    <a:p>
                      <a:pPr algn="ctr">
                        <a:defRPr sz="1000">
                          <a:latin typeface="Montserrat"/>
                        </a:defRPr>
                      </a:pPr>
                      <a:r>
                        <a:t>680</a:t>
                      </a:r>
                    </a:p>
                  </a:txBody>
                  <a:tcPr>
                    <a:solidFill>
                      <a:srgbClr val="ECD3D9"/>
                    </a:solidFill>
                  </a:tcPr>
                </a:tc>
                <a:tc>
                  <a:txBody>
                    <a:bodyPr/>
                    <a:lstStyle/>
                    <a:p>
                      <a:pPr algn="ctr">
                        <a:defRPr sz="1000">
                          <a:latin typeface="Montserrat"/>
                        </a:defRPr>
                      </a:pPr>
                      <a:r>
                        <a:t>5,481</a:t>
                      </a:r>
                    </a:p>
                  </a:txBody>
                  <a:tcPr>
                    <a:solidFill>
                      <a:srgbClr val="ECD3D9"/>
                    </a:solidFill>
                  </a:tcPr>
                </a:tc>
                <a:tc>
                  <a:txBody>
                    <a:bodyPr/>
                    <a:lstStyle/>
                    <a:p>
                      <a:pPr algn="ctr">
                        <a:defRPr sz="1000">
                          <a:latin typeface="Montserrat"/>
                        </a:defRPr>
                      </a:pPr>
                      <a:r>
                        <a:t>12.4%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128,650</a:t>
                      </a:r>
                    </a:p>
                  </a:txBody>
                  <a:tcPr>
                    <a:solidFill>
                      <a:srgbClr val="D3E9E7"/>
                    </a:solidFill>
                  </a:tcPr>
                </a:tc>
                <a:tc>
                  <a:txBody>
                    <a:bodyPr/>
                    <a:lstStyle/>
                    <a:p>
                      <a:pPr algn="ctr">
                        <a:defRPr sz="1000" b="1">
                          <a:solidFill>
                            <a:srgbClr val="006556"/>
                          </a:solidFill>
                          <a:latin typeface="Montserrat"/>
                        </a:defRPr>
                      </a:pPr>
                      <a:r>
                        <a:t>19,344</a:t>
                      </a:r>
                    </a:p>
                  </a:txBody>
                  <a:tcPr>
                    <a:solidFill>
                      <a:srgbClr val="D3E9E7"/>
                    </a:solidFill>
                  </a:tcPr>
                </a:tc>
                <a:tc>
                  <a:txBody>
                    <a:bodyPr/>
                    <a:lstStyle/>
                    <a:p>
                      <a:pPr algn="ctr">
                        <a:defRPr sz="1000" b="1">
                          <a:solidFill>
                            <a:srgbClr val="FFFFFF"/>
                          </a:solidFill>
                          <a:latin typeface="Montserrat"/>
                        </a:defRPr>
                      </a:pPr>
                      <a:r>
                        <a:t>44,556</a:t>
                      </a:r>
                    </a:p>
                  </a:txBody>
                  <a:tcPr>
                    <a:solidFill>
                      <a:srgbClr val="9F2241"/>
                    </a:solidFill>
                  </a:tcPr>
                </a:tc>
                <a:tc>
                  <a:txBody>
                    <a:bodyPr/>
                    <a:lstStyle/>
                    <a:p>
                      <a:pPr algn="ctr">
                        <a:defRPr sz="1000" b="1">
                          <a:solidFill>
                            <a:srgbClr val="FFFFFF"/>
                          </a:solidFill>
                          <a:latin typeface="Montserrat"/>
                        </a:defRPr>
                      </a:pPr>
                      <a:r>
                        <a:t>153,412</a:t>
                      </a:r>
                    </a:p>
                  </a:txBody>
                  <a:tcPr>
                    <a:solidFill>
                      <a:srgbClr val="9F2241"/>
                    </a:solidFill>
                  </a:tcPr>
                </a:tc>
                <a:tc>
                  <a:txBody>
                    <a:bodyPr/>
                    <a:lstStyle/>
                    <a:p>
                      <a:pPr algn="ctr">
                        <a:defRPr sz="1000" b="1">
                          <a:solidFill>
                            <a:srgbClr val="FFFFFF"/>
                          </a:solidFill>
                          <a:latin typeface="Montserrat"/>
                        </a:defRPr>
                      </a:pPr>
                      <a:r>
                        <a:t>29.0%</a:t>
                      </a:r>
                    </a:p>
                  </a:txBody>
                  <a:tcPr>
                    <a:solidFill>
                      <a:srgbClr val="9F2241"/>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6" name="Table 5"/>
          <p:cNvGraphicFramePr>
            <a:graphicFrameLocks noGrp="1"/>
          </p:cNvGraphicFramePr>
          <p:nvPr/>
        </p:nvGraphicFramePr>
        <p:xfrm>
          <a:off x="144000" y="1137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17,725</a:t>
                      </a:r>
                    </a:p>
                  </a:txBody>
                  <a:tcPr>
                    <a:solidFill>
                      <a:srgbClr val="FFFFFF"/>
                    </a:solidFill>
                  </a:tcPr>
                </a:tc>
                <a:tc>
                  <a:txBody>
                    <a:bodyPr/>
                    <a:lstStyle/>
                    <a:p>
                      <a:pPr algn="ctr">
                        <a:defRPr sz="1000">
                          <a:latin typeface="Montserrat"/>
                        </a:defRPr>
                      </a:pPr>
                      <a:r>
                        <a:t>2,701</a:t>
                      </a:r>
                    </a:p>
                  </a:txBody>
                  <a:tcPr>
                    <a:solidFill>
                      <a:srgbClr val="FFFFFF"/>
                    </a:solidFill>
                  </a:tcPr>
                </a:tc>
                <a:tc>
                  <a:txBody>
                    <a:bodyPr/>
                    <a:lstStyle/>
                    <a:p>
                      <a:pPr algn="ctr">
                        <a:defRPr sz="1000">
                          <a:latin typeface="Montserrat"/>
                        </a:defRPr>
                      </a:pPr>
                      <a:r>
                        <a:t>6,103</a:t>
                      </a:r>
                    </a:p>
                  </a:txBody>
                  <a:tcPr>
                    <a:solidFill>
                      <a:srgbClr val="ECD3D9"/>
                    </a:solidFill>
                  </a:tcPr>
                </a:tc>
                <a:tc>
                  <a:txBody>
                    <a:bodyPr/>
                    <a:lstStyle/>
                    <a:p>
                      <a:pPr algn="ctr">
                        <a:defRPr sz="1000">
                          <a:latin typeface="Montserrat"/>
                        </a:defRPr>
                      </a:pPr>
                      <a:r>
                        <a:t>27,600</a:t>
                      </a:r>
                    </a:p>
                  </a:txBody>
                  <a:tcPr>
                    <a:solidFill>
                      <a:srgbClr val="ECD3D9"/>
                    </a:solidFill>
                  </a:tcPr>
                </a:tc>
                <a:tc>
                  <a:txBody>
                    <a:bodyPr/>
                    <a:lstStyle/>
                    <a:p>
                      <a:pPr algn="ctr">
                        <a:defRPr sz="1000">
                          <a:latin typeface="Montserrat"/>
                        </a:defRPr>
                      </a:pPr>
                      <a:r>
                        <a:t>22.1%</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17,725</a:t>
                      </a:r>
                    </a:p>
                  </a:txBody>
                  <a:tcPr>
                    <a:solidFill>
                      <a:srgbClr val="D3E9E7"/>
                    </a:solidFill>
                  </a:tcPr>
                </a:tc>
                <a:tc>
                  <a:txBody>
                    <a:bodyPr/>
                    <a:lstStyle/>
                    <a:p>
                      <a:pPr algn="ctr">
                        <a:defRPr sz="1000" b="1">
                          <a:solidFill>
                            <a:srgbClr val="006556"/>
                          </a:solidFill>
                          <a:latin typeface="Montserrat"/>
                        </a:defRPr>
                      </a:pPr>
                      <a:r>
                        <a:t>2,701</a:t>
                      </a:r>
                    </a:p>
                  </a:txBody>
                  <a:tcPr>
                    <a:solidFill>
                      <a:srgbClr val="D3E9E7"/>
                    </a:solidFill>
                  </a:tcPr>
                </a:tc>
                <a:tc>
                  <a:txBody>
                    <a:bodyPr/>
                    <a:lstStyle/>
                    <a:p>
                      <a:pPr algn="ctr">
                        <a:defRPr sz="1000" b="1">
                          <a:solidFill>
                            <a:srgbClr val="FFFFFF"/>
                          </a:solidFill>
                          <a:latin typeface="Montserrat"/>
                        </a:defRPr>
                      </a:pPr>
                      <a:r>
                        <a:t>6,103</a:t>
                      </a:r>
                    </a:p>
                  </a:txBody>
                  <a:tcPr>
                    <a:solidFill>
                      <a:srgbClr val="9F2241"/>
                    </a:solidFill>
                  </a:tcPr>
                </a:tc>
                <a:tc>
                  <a:txBody>
                    <a:bodyPr/>
                    <a:lstStyle/>
                    <a:p>
                      <a:pPr algn="ctr">
                        <a:defRPr sz="1000" b="1">
                          <a:solidFill>
                            <a:srgbClr val="FFFFFF"/>
                          </a:solidFill>
                          <a:latin typeface="Montserrat"/>
                        </a:defRPr>
                      </a:pPr>
                      <a:r>
                        <a:t>27,600</a:t>
                      </a:r>
                    </a:p>
                  </a:txBody>
                  <a:tcPr>
                    <a:solidFill>
                      <a:srgbClr val="9F2241"/>
                    </a:solidFill>
                  </a:tcPr>
                </a:tc>
                <a:tc>
                  <a:txBody>
                    <a:bodyPr/>
                    <a:lstStyle/>
                    <a:p>
                      <a:pPr algn="ctr">
                        <a:defRPr sz="1000" b="1">
                          <a:solidFill>
                            <a:srgbClr val="FFFFFF"/>
                          </a:solidFill>
                          <a:latin typeface="Montserrat"/>
                        </a:defRPr>
                      </a:pPr>
                      <a:r>
                        <a:t>22.1%</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146,375</a:t>
                      </a:r>
                    </a:p>
                  </a:txBody>
                  <a:tcPr>
                    <a:solidFill>
                      <a:srgbClr val="D3E9E7"/>
                    </a:solidFill>
                  </a:tcPr>
                </a:tc>
                <a:tc>
                  <a:txBody>
                    <a:bodyPr/>
                    <a:lstStyle/>
                    <a:p>
                      <a:pPr algn="ctr">
                        <a:defRPr sz="1000" b="1">
                          <a:solidFill>
                            <a:srgbClr val="006556"/>
                          </a:solidFill>
                          <a:latin typeface="Montserrat"/>
                        </a:defRPr>
                      </a:pPr>
                      <a:r>
                        <a:t>22,045</a:t>
                      </a:r>
                    </a:p>
                  </a:txBody>
                  <a:tcPr>
                    <a:solidFill>
                      <a:srgbClr val="D3E9E7"/>
                    </a:solidFill>
                  </a:tcPr>
                </a:tc>
                <a:tc>
                  <a:txBody>
                    <a:bodyPr/>
                    <a:lstStyle/>
                    <a:p>
                      <a:pPr algn="ctr">
                        <a:defRPr sz="1000" b="1">
                          <a:solidFill>
                            <a:srgbClr val="FFFFFF"/>
                          </a:solidFill>
                          <a:latin typeface="Montserrat"/>
                        </a:defRPr>
                      </a:pPr>
                      <a:r>
                        <a:t>50,659</a:t>
                      </a:r>
                    </a:p>
                  </a:txBody>
                  <a:tcPr>
                    <a:solidFill>
                      <a:srgbClr val="9F2241"/>
                    </a:solidFill>
                  </a:tcPr>
                </a:tc>
                <a:tc>
                  <a:txBody>
                    <a:bodyPr/>
                    <a:lstStyle/>
                    <a:p>
                      <a:pPr algn="ctr">
                        <a:defRPr sz="1000" b="1">
                          <a:solidFill>
                            <a:srgbClr val="FFFFFF"/>
                          </a:solidFill>
                          <a:latin typeface="Montserrat"/>
                        </a:defRPr>
                      </a:pPr>
                      <a:r>
                        <a:t>181,012</a:t>
                      </a:r>
                    </a:p>
                  </a:txBody>
                  <a:tcPr>
                    <a:solidFill>
                      <a:srgbClr val="9F2241"/>
                    </a:solidFill>
                  </a:tcPr>
                </a:tc>
                <a:tc>
                  <a:txBody>
                    <a:bodyPr/>
                    <a:lstStyle/>
                    <a:p>
                      <a:pPr algn="ctr">
                        <a:defRPr sz="1000" b="1">
                          <a:solidFill>
                            <a:srgbClr val="FFFFFF"/>
                          </a:solidFill>
                          <a:latin typeface="Montserrat"/>
                        </a:defRPr>
                      </a:pPr>
                      <a:r>
                        <a:t>28.0%</a:t>
                      </a:r>
                    </a:p>
                  </a:txBody>
                  <a:tcPr>
                    <a:solidFill>
                      <a:srgbClr val="9F2241"/>
                    </a:solidFill>
                  </a:tcPr>
                </a:tc>
              </a:tr>
            </a:tbl>
          </a:graphicData>
        </a:graphic>
      </p:graphicFrame>
      <p:graphicFrame>
        <p:nvGraphicFramePr>
          <p:cNvPr id="7" name="Chart 6"/>
          <p:cNvGraphicFramePr>
            <a:graphicFrameLocks noGrp="1"/>
          </p:cNvGraphicFramePr>
          <p:nvPr/>
        </p:nvGraphicFramePr>
        <p:xfrm>
          <a:off x="4780800" y="2649600"/>
          <a:ext cx="1800000" cy="1800000"/>
        </p:xfrm>
        <a:graphic>
          <a:graphicData uri="http://schemas.openxmlformats.org/drawingml/2006/chart">
            <c:chart xmlns:c="http://schemas.openxmlformats.org/drawingml/2006/chart" r:id="rId2"/>
          </a:graphicData>
        </a:graphic>
      </p:graphicFrame>
      <p:sp>
        <p:nvSpPr>
          <p:cNvPr id="8" name="TextBox 7"/>
          <p:cNvSpPr txBox="1"/>
          <p:nvPr/>
        </p:nvSpPr>
        <p:spPr>
          <a:xfrm>
            <a:off x="4780800" y="3369600"/>
            <a:ext cx="1800000" cy="360000"/>
          </a:xfrm>
          <a:prstGeom prst="rect">
            <a:avLst/>
          </a:prstGeom>
          <a:noFill/>
        </p:spPr>
        <p:txBody>
          <a:bodyPr wrap="none">
            <a:spAutoFit/>
          </a:bodyPr>
          <a:lstStyle/>
          <a:p>
            <a:pPr algn="ctr"/>
            <a:r>
              <a:rPr sz="2400" b="1">
                <a:solidFill>
                  <a:srgbClr val="9F2241"/>
                </a:solidFill>
                <a:latin typeface="Montserrat"/>
              </a:rPr>
              <a:t>28.0%</a:t>
            </a:r>
          </a:p>
        </p:txBody>
      </p:sp>
      <p:sp>
        <p:nvSpPr>
          <p:cNvPr id="9" name="TextBox 8"/>
          <p:cNvSpPr txBox="1"/>
          <p:nvPr/>
        </p:nvSpPr>
        <p:spPr>
          <a:xfrm>
            <a:off x="4780800" y="426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0" name="TextBox 9"/>
          <p:cNvSpPr txBox="1"/>
          <p:nvPr/>
        </p:nvSpPr>
        <p:spPr>
          <a:xfrm>
            <a:off x="730799" y="2649600"/>
            <a:ext cx="2854800" cy="1198800"/>
          </a:xfrm>
          <a:prstGeom prst="rect">
            <a:avLst/>
          </a:prstGeom>
          <a:noFill/>
        </p:spPr>
        <p:txBody>
          <a:bodyPr wrap="square">
            <a:spAutoFit/>
          </a:bodyPr>
          <a:lstStyle/>
          <a:p>
            <a:pPr algn="ctr">
              <a:defRPr sz="3600" b="1">
                <a:solidFill>
                  <a:srgbClr val="9F2241"/>
                </a:solidFill>
                <a:latin typeface="Montserrat"/>
              </a:defRPr>
            </a:pPr>
            <a:r>
              <a:t>181,012 </a:t>
            </a:r>
            <a:br/>
            <a:r>
              <a:t>Meta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72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72 (Parte 2)</a:t>
                      </a:r>
                    </a:p>
                  </a:txBody>
                  <a:tcPr anchor="ctr">
                    <a:no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No. 72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Subzona "Chicoloapan"</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Endoscopia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194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Dermatología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de Zona 197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252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53</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57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58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71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98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C/MF 76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866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No. 53</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8661598"/>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Oncológico Pediátrico "Ecatepec"</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 Infantil y de la Adolescencia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78</a:t>
                      </a:r>
                    </a:p>
                  </a:txBody>
                  <a:tcPr>
                    <a:solidFill>
                      <a:srgbClr val="D3E9E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Amanalco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28</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Sn José Rincón</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Gineco Obstetricia 221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Gineco Obstetricia C/mf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133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Traumatología y Ortopedia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14</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513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Traumatología y Ortopedia Lomas Verdes</a:t>
                      </a:r>
                    </a:p>
                  </a:txBody>
                  <a:tcPr anchor="ctr">
                    <a:no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6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
        <p:nvSpPr>
          <p:cNvPr id="7" name="TextBox 6"/>
          <p:cNvSpPr txBox="1"/>
          <p:nvPr/>
        </p:nvSpPr>
        <p:spPr>
          <a:xfrm>
            <a:off x="360000" y="3405599"/>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a:t>
            </a:r>
          </a:p>
        </p:txBody>
      </p:sp>
      <p:cxnSp>
        <p:nvCxnSpPr>
          <p:cNvPr id="8" name="Connector 7"/>
          <p:cNvCxnSpPr/>
          <p:nvPr/>
        </p:nvCxnSpPr>
        <p:spPr>
          <a:xfrm>
            <a:off x="360000" y="3801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Coordinación Clínica de Medicina</a:t>
                      </a:r>
                    </a:p>
                  </a:txBody>
                  <a:tcPr anchor="ctr">
                    <a:no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Detección y Diagnóstico 1</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7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7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185</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67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187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6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825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825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192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977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220</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977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222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226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469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621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249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77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592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592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7725594"/>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12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2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2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177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177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329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329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93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180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198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227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457598"/>
            <a:ext cx="6840000" cy="360000"/>
          </a:xfrm>
          <a:prstGeom prst="rect">
            <a:avLst/>
          </a:prstGeom>
          <a:noFill/>
        </p:spPr>
        <p:txBody>
          <a:bodyPr wrap="none" anchor="ctr">
            <a:spAutoFit/>
          </a:bodyPr>
          <a:lstStyle/>
          <a:p>
            <a:pPr algn="l">
              <a:defRPr sz="2000" b="1">
                <a:solidFill>
                  <a:srgbClr val="BC955C"/>
                </a:solidFill>
                <a:latin typeface="Montserrat"/>
              </a:defRPr>
            </a:pPr>
            <a:r>
              <a:t>550 especialistas (sustitutos)</a:t>
            </a:r>
          </a:p>
        </p:txBody>
      </p:sp>
      <p:cxnSp>
        <p:nvCxnSpPr>
          <p:cNvPr id="14" name="Connector 13"/>
          <p:cNvCxnSpPr/>
          <p:nvPr/>
        </p:nvCxnSpPr>
        <p:spPr>
          <a:xfrm>
            <a:off x="360000" y="585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360000" y="5925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94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Audiología Otoneurología y Foniatría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72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65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69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16" name="Table 15"/>
          <p:cNvGraphicFramePr>
            <a:graphicFrameLocks noGrp="1"/>
          </p:cNvGraphicFramePr>
          <p:nvPr/>
        </p:nvGraphicFramePr>
        <p:xfrm>
          <a:off x="3960000" y="5925598"/>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Radioncología Directa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550</a:t>
                      </a:r>
                    </a:p>
                  </a:txBody>
                  <a:tcPr>
                    <a:solidFill>
                      <a:srgbClr val="D3E9E7"/>
                    </a:solidFill>
                  </a:tcPr>
                </a:tc>
              </a:tr>
            </a:tbl>
          </a:graphicData>
        </a:graphic>
      </p:graphicFrame>
      <p:sp>
        <p:nvSpPr>
          <p:cNvPr id="17" name="TextBox 16"/>
          <p:cNvSpPr txBox="1"/>
          <p:nvPr/>
        </p:nvSpPr>
        <p:spPr>
          <a:xfrm>
            <a:off x="270000" y="11001597"/>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Hospital de Gineco Obstetricia C/mf 60</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91.8%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52</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92.3%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235</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61</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93.0%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249</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93.4%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75</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93.6%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62</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Gineco Obstetricia 221</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94.2%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191</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94.4%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190</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187</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95.0%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65</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95.2%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56</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95.5%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77</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95.8%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243</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91</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C/UMAA 198</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220</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192</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222</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Traumatología y Ortopedia Lomas Verdes</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C/hosp 227</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C/UMAA 180</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97</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Unidad de Medicina Familiar 78</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97.8%</a:t>
                      </a:r>
                    </a:p>
                  </a:txBody>
                  <a:tcPr anchor="ctr" marL="45720" marR="45720" marT="45720" marB="45720">
                    <a:solidFill>
                      <a:srgbClr val="D9D9D9"/>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200057">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00057">
                <a:tc>
                  <a:txBody>
                    <a:bodyPr/>
                    <a:lstStyle/>
                    <a:p>
                      <a:pPr algn="l">
                        <a:defRPr sz="1100" b="0">
                          <a:solidFill>
                            <a:srgbClr val="000000"/>
                          </a:solidFill>
                          <a:latin typeface="Montserrat"/>
                        </a:defRPr>
                      </a:pPr>
                      <a:r>
                        <a:t>Unidad de Medicina Familiar 55</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Unidad de Medicina Familiar 245</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98.2%</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250</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Unidad de Medicina Familiar 66</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98.5%</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70</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98.7%</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Coordinación Clínica de Medicina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98.8%</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185</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98.9%</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Hospital General Regional No. 72</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182</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99.1%</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Unidad de Detección y Diagnóstico 1</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Hospital General de Zona No. 53</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Unidad de Medicina Familiar 64</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99.3%</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58</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99.4%</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Unidad de Medicina Familiar 226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248</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99.6%</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Unidad de Medicina Familiar 86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99.7%</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74</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99.8%</a:t>
                      </a:r>
                    </a:p>
                  </a:txBody>
                  <a:tcPr anchor="ctr" marL="45720" marR="45720" marT="45720" marB="45720">
                    <a:solidFill>
                      <a:srgbClr val="FFFFFF"/>
                    </a:solidFill>
                  </a:tcPr>
                </a:tc>
              </a:tr>
              <a:tr h="200057">
                <a:tc>
                  <a:txBody>
                    <a:bodyPr/>
                    <a:lstStyle/>
                    <a:p>
                      <a:pPr algn="l">
                        <a:defRPr sz="1100" b="0">
                          <a:solidFill>
                            <a:srgbClr val="000000"/>
                          </a:solidFill>
                          <a:latin typeface="Montserrat"/>
                        </a:defRPr>
                      </a:pPr>
                      <a:r>
                        <a:t>Unidad de Medicina Familiar 95</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r h="200057">
                <a:tc>
                  <a:txBody>
                    <a:bodyPr/>
                    <a:lstStyle/>
                    <a:p>
                      <a:pPr algn="l">
                        <a:defRPr sz="1100" b="0">
                          <a:solidFill>
                            <a:srgbClr val="000000"/>
                          </a:solidFill>
                          <a:latin typeface="Montserrat"/>
                        </a:defRPr>
                      </a:pPr>
                      <a:r>
                        <a:t>Unidad de Medicina Familiar 92</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20006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1,123</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382</TotalTime>
  <Words>441</Words>
  <Application>Microsoft Office PowerPoint</Application>
  <PresentationFormat>Personalizado</PresentationFormat>
  <Paragraphs>116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117</cp:revision>
  <dcterms:modified xsi:type="dcterms:W3CDTF">2026-05-12T22:55:20Z</dcterms:modified>
</cp:coreProperties>
</file>