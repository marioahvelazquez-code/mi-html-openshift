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0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7"/>
    <p:sldId id="302" r:id="rId48"/>
    <p:sldId id="303" r:id="rId49"/>
    <p:sldId id="281" r:id="rId14"/>
    <p:sldId id="304" r:id="rId50"/>
    <p:sldId id="288" r:id="rId15"/>
    <p:sldId id="270" r:id="rId16"/>
    <p:sldId id="271" r:id="rId17"/>
    <p:sldId id="272" r:id="rId18"/>
    <p:sldId id="299" r:id="rId19"/>
    <p:sldId id="297" r:id="rId20"/>
    <p:sldId id="284" r:id="rId21"/>
    <p:sldId id="290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1EDD13-8EA2-A783-EAEA-D90E844A7295}" v="18" dt="2026-05-13T00:08:56.67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9:12.388" v="0"/>
      <pc:docMkLst>
        <pc:docMk/>
      </pc:docMkLst>
      <pc:sldChg chg="add">
        <pc:chgData name="Carlos Esponda Rosales" userId="08a2b2cc-6d12-4dea-90fe-c484bece8186" providerId="ADAL" clId="{6846A1DD-3EC1-5A12-B3C5-9C410579EE4F}" dt="2026-05-08T17:39:12.388" v="0"/>
        <pc:sldMkLst>
          <pc:docMk/>
          <pc:sldMk cId="2446341868" sldId="299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29:38.398" v="108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20:17.548" v="98" actId="103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20:17.548" v="98" actId="1035"/>
          <ac:spMkLst>
            <pc:docMk/>
            <pc:sldMk cId="0" sldId="260"/>
            <ac:spMk id="9" creationId="{888CF927-22CC-1978-2CC6-FB6E6686FD2B}"/>
          </ac:spMkLst>
        </pc:spChg>
        <pc:graphicFrameChg chg="add mod">
          <ac:chgData name="Edgar Rosales Ortega" userId="d1d54fc2-1570-4978-babc-e22e1526833f" providerId="ADAL" clId="{66BE7C30-C669-4152-AC74-10076FC0590C}" dt="2026-04-30T23:20:10.225" v="31" actId="1076"/>
          <ac:graphicFrameMkLst>
            <pc:docMk/>
            <pc:sldMk cId="0" sldId="260"/>
            <ac:graphicFrameMk id="6" creationId="{EB165E63-6EC5-B758-228E-C9E62DDEF0D4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20:17.548" v="98" actId="1035"/>
          <ac:picMkLst>
            <pc:docMk/>
            <pc:sldMk cId="0" sldId="260"/>
            <ac:picMk id="7" creationId="{553F638D-7C35-0C3D-D8E5-3A590F49FAE1}"/>
          </ac:picMkLst>
        </pc:picChg>
        <pc:picChg chg="add mod">
          <ac:chgData name="Edgar Rosales Ortega" userId="d1d54fc2-1570-4978-babc-e22e1526833f" providerId="ADAL" clId="{66BE7C30-C669-4152-AC74-10076FC0590C}" dt="2026-04-30T23:20:17.548" v="98" actId="1035"/>
          <ac:picMkLst>
            <pc:docMk/>
            <pc:sldMk cId="0" sldId="260"/>
            <ac:picMk id="8" creationId="{4E794BF8-F659-A24F-347D-A37E6B48B9DC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8:36.956" v="99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12" creationId="{4099ECEE-CA2B-3467-61C4-6A649D527590}"/>
          </ac:spMkLst>
        </pc:spChg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15" creationId="{25056006-9C7A-3BD4-691B-1B2930282CA4}"/>
          </ac:spMkLst>
        </pc:spChg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16" creationId="{A2C5704C-4D69-F614-74F0-DB54C6CDAEBC}"/>
          </ac:spMkLst>
        </pc:spChg>
        <pc:spChg chg="mod">
          <ac:chgData name="Edgar Rosales Ortega" userId="d1d54fc2-1570-4978-babc-e22e1526833f" providerId="ADAL" clId="{66BE7C30-C669-4152-AC74-10076FC0590C}" dt="2026-04-23T17:05:42.134" v="14"/>
          <ac:spMkLst>
            <pc:docMk/>
            <pc:sldMk cId="0" sldId="261"/>
            <ac:spMk id="18" creationId="{5D986733-EA2A-EFA0-E9C0-8ECE61030497}"/>
          </ac:spMkLst>
        </pc:spChg>
        <pc:spChg chg="mod">
          <ac:chgData name="Edgar Rosales Ortega" userId="d1d54fc2-1570-4978-babc-e22e1526833f" providerId="ADAL" clId="{66BE7C30-C669-4152-AC74-10076FC0590C}" dt="2026-04-23T17:05:42.134" v="14"/>
          <ac:spMkLst>
            <pc:docMk/>
            <pc:sldMk cId="0" sldId="261"/>
            <ac:spMk id="19" creationId="{80341C5B-121C-D685-7ABB-80A5D331C3EF}"/>
          </ac:spMkLst>
        </pc:spChg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20" creationId="{94A61D35-0809-A076-642C-1CB057FF1274}"/>
          </ac:spMkLst>
        </pc:spChg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21" creationId="{C7FA3192-4F51-4390-4900-C3A33CD6F567}"/>
          </ac:spMkLst>
        </pc:spChg>
        <pc:grpChg chg="add mod">
          <ac:chgData name="Edgar Rosales Ortega" userId="d1d54fc2-1570-4978-babc-e22e1526833f" providerId="ADAL" clId="{66BE7C30-C669-4152-AC74-10076FC0590C}" dt="2026-05-05T18:08:36.956" v="99" actId="164"/>
          <ac:grpSpMkLst>
            <pc:docMk/>
            <pc:sldMk cId="0" sldId="261"/>
            <ac:grpSpMk id="2" creationId="{432CC8F6-1F48-B352-9169-DEAC38BF6498}"/>
          </ac:grpSpMkLst>
        </pc:grpChg>
        <pc:grpChg chg="add mod">
          <ac:chgData name="Edgar Rosales Ortega" userId="d1d54fc2-1570-4978-babc-e22e1526833f" providerId="ADAL" clId="{66BE7C30-C669-4152-AC74-10076FC0590C}" dt="2026-05-05T18:08:36.956" v="99" actId="164"/>
          <ac:grpSpMkLst>
            <pc:docMk/>
            <pc:sldMk cId="0" sldId="261"/>
            <ac:grpSpMk id="17" creationId="{975FAAF8-7E0B-802D-3233-E60AFEE9FDEA}"/>
          </ac:grpSpMkLst>
        </pc:grpChg>
        <pc:picChg chg="add mod">
          <ac:chgData name="Edgar Rosales Ortega" userId="d1d54fc2-1570-4978-babc-e22e1526833f" providerId="ADAL" clId="{66BE7C30-C669-4152-AC74-10076FC0590C}" dt="2026-05-05T18:08:36.956" v="99" actId="164"/>
          <ac:picMkLst>
            <pc:docMk/>
            <pc:sldMk cId="0" sldId="261"/>
            <ac:picMk id="13" creationId="{E5926295-9B71-CEC4-5AFA-CABB72194384}"/>
          </ac:picMkLst>
        </pc:picChg>
        <pc:picChg chg="add mod">
          <ac:chgData name="Edgar Rosales Ortega" userId="d1d54fc2-1570-4978-babc-e22e1526833f" providerId="ADAL" clId="{66BE7C30-C669-4152-AC74-10076FC0590C}" dt="2026-05-05T18:08:36.956" v="99" actId="164"/>
          <ac:picMkLst>
            <pc:docMk/>
            <pc:sldMk cId="0" sldId="261"/>
            <ac:picMk id="14" creationId="{D2E068D1-B463-5D57-C021-4FC5A596066D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9:03.478" v="102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9:08.926" v="104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8:35.287" v="2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5:40.849" v="15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9:28.393" v="106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9:28.393" v="106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8:56.887" v="101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32:26.500" v="27" actId="1076"/>
          <ac:spMkLst>
            <pc:docMk/>
            <pc:sldMk cId="0" sldId="279"/>
            <ac:spMk id="2" creationId="{BC6A8556-2D5B-E902-8A99-E1DABE429C97}"/>
          </ac:spMkLst>
        </pc:spChg>
        <pc:spChg chg="mod">
          <ac:chgData name="Edgar Rosales Ortega" userId="d1d54fc2-1570-4978-babc-e22e1526833f" providerId="ADAL" clId="{66BE7C30-C669-4152-AC74-10076FC0590C}" dt="2026-05-05T18:08:56.887" v="101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8:32.723" v="2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5:44.382" v="16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8:43.398" v="100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9:38.398" v="108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9:38.398" v="108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8:25.994" v="2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5:47.775" v="17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9:32.998" v="107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9:32.998" v="107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mod ord chgLayout">
        <pc:chgData name="Edgar Rosales Ortega" userId="d1d54fc2-1570-4978-babc-e22e1526833f" providerId="ADAL" clId="{66BE7C30-C669-4152-AC74-10076FC0590C}" dt="2026-05-07T19:29:17.879" v="105" actId="700"/>
        <pc:sldMkLst>
          <pc:docMk/>
          <pc:sldMk cId="2132586223" sldId="298"/>
        </pc:sldMkLst>
      </pc:sldChg>
    </pc:docChg>
  </pc:docChgLst>
  <pc:docChgLst>
    <pc:chgData name="Gerardo Jahir Lara Garcia" userId="S::gerardo.larag@imss.gob.mx::84d5cd65-4601-4e92-b448-a9da4809e012" providerId="AD" clId="Web-{3D1EDD13-8EA2-A783-EAEA-D90E844A7295}"/>
    <pc:docChg chg="modSld">
      <pc:chgData name="Gerardo Jahir Lara Garcia" userId="S::gerardo.larag@imss.gob.mx::84d5cd65-4601-4e92-b448-a9da4809e012" providerId="AD" clId="Web-{3D1EDD13-8EA2-A783-EAEA-D90E844A7295}" dt="2026-05-13T00:08:56.675" v="11" actId="14100"/>
      <pc:docMkLst>
        <pc:docMk/>
      </pc:docMkLst>
      <pc:sldChg chg="addSp modSp">
        <pc:chgData name="Gerardo Jahir Lara Garcia" userId="S::gerardo.larag@imss.gob.mx::84d5cd65-4601-4e92-b448-a9da4809e012" providerId="AD" clId="Web-{3D1EDD13-8EA2-A783-EAEA-D90E844A7295}" dt="2026-05-13T00:08:36.737" v="9" actId="20577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3D1EDD13-8EA2-A783-EAEA-D90E844A7295}" dt="2026-05-13T00:08:16.252" v="5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3D1EDD13-8EA2-A783-EAEA-D90E844A7295}" dt="2026-05-13T00:08:35.831" v="7" actId="20577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3D1EDD13-8EA2-A783-EAEA-D90E844A7295}" dt="2026-05-13T00:08:36.737" v="9" actId="20577"/>
          <ac:spMkLst>
            <pc:docMk/>
            <pc:sldMk cId="364733940" sldId="284"/>
            <ac:spMk id="9" creationId="{907F7F6F-8FF8-56A0-795F-B2A127C97D4D}"/>
          </ac:spMkLst>
        </pc:spChg>
        <pc:spChg chg="add">
          <ac:chgData name="Gerardo Jahir Lara Garcia" userId="S::gerardo.larag@imss.gob.mx::84d5cd65-4601-4e92-b448-a9da4809e012" providerId="AD" clId="Web-{3D1EDD13-8EA2-A783-EAEA-D90E844A7295}" dt="2026-05-13T00:08:16.252" v="5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3D1EDD13-8EA2-A783-EAEA-D90E844A7295}" dt="2026-05-13T00:08:16.252" v="5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3D1EDD13-8EA2-A783-EAEA-D90E844A7295}" dt="2026-05-13T00:08:16.252" v="5"/>
          <ac:picMkLst>
            <pc:docMk/>
            <pc:sldMk cId="364733940" sldId="284"/>
            <ac:picMk id="8" creationId="{4F2E1097-3694-6090-CBA5-667DCD67E48E}"/>
          </ac:picMkLst>
        </pc:picChg>
        <pc:picChg chg="add">
          <ac:chgData name="Gerardo Jahir Lara Garcia" userId="S::gerardo.larag@imss.gob.mx::84d5cd65-4601-4e92-b448-a9da4809e012" providerId="AD" clId="Web-{3D1EDD13-8EA2-A783-EAEA-D90E844A7295}" dt="2026-05-13T00:08:16.252" v="5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modSp">
        <pc:chgData name="Gerardo Jahir Lara Garcia" userId="S::gerardo.larag@imss.gob.mx::84d5cd65-4601-4e92-b448-a9da4809e012" providerId="AD" clId="Web-{3D1EDD13-8EA2-A783-EAEA-D90E844A7295}" dt="2026-05-13T00:08:56.675" v="11" actId="14100"/>
        <pc:sldMkLst>
          <pc:docMk/>
          <pc:sldMk cId="3240565764" sldId="297"/>
        </pc:sldMkLst>
        <pc:picChg chg="add mod">
          <ac:chgData name="Gerardo Jahir Lara Garcia" userId="S::gerardo.larag@imss.gob.mx::84d5cd65-4601-4e92-b448-a9da4809e012" providerId="AD" clId="Web-{3D1EDD13-8EA2-A783-EAEA-D90E844A7295}" dt="2026-05-13T00:08:56.675" v="11" actId="14100"/>
          <ac:picMkLst>
            <pc:docMk/>
            <pc:sldMk cId="3240565764" sldId="297"/>
            <ac:picMk id="3" creationId="{DEEABBF8-7431-013D-041D-F560940198B7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1319882.0</c:v>
                </c:pt>
                <c:pt idx="1">
                  <c:v>458392.0</c:v>
                </c:pt>
                <c:pt idx="2">
                  <c:v>221617.0</c:v>
                </c:pt>
                <c:pt idx="3">
                  <c:v>519508.0</c:v>
                </c:pt>
                <c:pt idx="4">
                  <c:v>23137.0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36.95071726052753</c:v>
                </c:pt>
                <c:pt idx="1">
                  <c:v>63.04928273947247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9.2882114298</c:v>
                </c:pt>
                <c:pt idx="1">
                  <c:v>90.7117885702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36.71</c:v>
                </c:pt>
                <c:pt idx="1">
                  <c:v>63.29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33.23</c:v>
                </c:pt>
                <c:pt idx="1">
                  <c:v>66.77000000000001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</c:v>
                </c:pt>
                <c:pt idx="1">
                  <c:v>250</c:v>
                </c:pt>
                <c:pt idx="2">
                  <c:v>222</c:v>
                </c:pt>
                <c:pt idx="3">
                  <c:v>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Industrias de la Transformación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Servicios para Empresas, Personas y el Hogar</c:v>
                </c:pt>
                <c:pt idx="7">
                  <c:v>Comercio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44725</c:v>
                </c:pt>
                <c:pt idx="1">
                  <c:v>87590</c:v>
                </c:pt>
                <c:pt idx="2">
                  <c:v>25703</c:v>
                </c:pt>
                <c:pt idx="3">
                  <c:v>13332</c:v>
                </c:pt>
                <c:pt idx="4">
                  <c:v>3766</c:v>
                </c:pt>
                <c:pt idx="5">
                  <c:v>92623</c:v>
                </c:pt>
                <c:pt idx="6">
                  <c:v>76996</c:v>
                </c:pt>
                <c:pt idx="7">
                  <c:v>92922</c:v>
                </c:pt>
                <c:pt idx="8">
                  <c:v>1555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Industrias de la Transformación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Servicios para Empresas, Personas y el Hogar</c:v>
                </c:pt>
                <c:pt idx="7">
                  <c:v>Comercio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39302</c:v>
                </c:pt>
                <c:pt idx="1">
                  <c:v>83958</c:v>
                </c:pt>
                <c:pt idx="2">
                  <c:v>24696</c:v>
                </c:pt>
                <c:pt idx="3">
                  <c:v>13275</c:v>
                </c:pt>
                <c:pt idx="4">
                  <c:v>3811</c:v>
                </c:pt>
                <c:pt idx="5">
                  <c:v>94583</c:v>
                </c:pt>
                <c:pt idx="6">
                  <c:v>78714</c:v>
                </c:pt>
                <c:pt idx="7">
                  <c:v>95094</c:v>
                </c:pt>
                <c:pt idx="8">
                  <c:v>1737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364483</c:v>
                </c:pt>
                <c:pt idx="1">
                  <c:v>381107</c:v>
                </c:pt>
                <c:pt idx="2">
                  <c:v>373047</c:v>
                </c:pt>
                <c:pt idx="3">
                  <c:v>372085</c:v>
                </c:pt>
                <c:pt idx="4">
                  <c:v>401534</c:v>
                </c:pt>
                <c:pt idx="5">
                  <c:v>421816</c:v>
                </c:pt>
                <c:pt idx="6">
                  <c:v>437516</c:v>
                </c:pt>
                <c:pt idx="7">
                  <c:v>439212</c:v>
                </c:pt>
                <c:pt idx="8">
                  <c:v>435170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jpg"/><Relationship Id="rId6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Yucatán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_Yucatá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70%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1,319,882</a:t>
            </a:r>
            <a:br/>
            <a:r>
              <a:t>52%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458,392</a:t>
            </a:r>
            <a:br/>
            <a:r>
              <a:t>18%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221,617</a:t>
            </a:r>
            <a:br/>
            <a:r>
              <a:t>9%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519,508</a:t>
            </a:r>
            <a:br/>
            <a:r>
              <a:t>20%</a:t>
            </a:r>
          </a:p>
        </p:txBody>
      </p:sp>
      <p:pic>
        <p:nvPicPr>
          <p:cNvPr id="128" name="Picture 127" descr="3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904118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23,137</a:t>
            </a:r>
            <a:br/>
            <a:r>
              <a:t>0.91%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2,542,536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1,090,589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1,319,882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588,759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757,166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374,432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435,170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126,103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116,592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157,868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501,830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562,716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224,922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1,905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1,620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6,359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8,512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31_yu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659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268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176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796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367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4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952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95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23 UMF, 4 UMFH y no incluye 27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274;g3d0b4d3c5c9_2_20">
            <a:extLst>
              <a:ext uri="{FF2B5EF4-FFF2-40B4-BE49-F238E27FC236}">
                <a16:creationId xmlns:a16="http://schemas.microsoft.com/office/drawing/2014/main" id="{EB165E63-6EC5-B758-228E-C9E62DDEF0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291363"/>
              </p:ext>
            </p:extLst>
          </p:nvPr>
        </p:nvGraphicFramePr>
        <p:xfrm>
          <a:off x="288000" y="1191600"/>
          <a:ext cx="7448050" cy="487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4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6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Regional No. 1, Yucatán</a:t>
                      </a:r>
                      <a:endParaRPr sz="16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275;g3d0b4d3c5c9_2_20">
            <a:extLst>
              <a:ext uri="{FF2B5EF4-FFF2-40B4-BE49-F238E27FC236}">
                <a16:creationId xmlns:a16="http://schemas.microsoft.com/office/drawing/2014/main" id="{553F638D-7C35-0C3D-D8E5-3A590F49FA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0011" y="3311663"/>
            <a:ext cx="1933397" cy="1315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77;g3d0b4d3c5c9_2_20" descr="La casa Palomeque">
            <a:extLst>
              <a:ext uri="{FF2B5EF4-FFF2-40B4-BE49-F238E27FC236}">
                <a16:creationId xmlns:a16="http://schemas.microsoft.com/office/drawing/2014/main" id="{4E794BF8-F659-A24F-347D-A37E6B48B9D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1578" t="14718" r="20158" b="13767"/>
          <a:stretch/>
        </p:blipFill>
        <p:spPr>
          <a:xfrm>
            <a:off x="549044" y="1916723"/>
            <a:ext cx="1944364" cy="13227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88CF927-22CC-1978-2CC6-FB6E6686FD2B}"/>
              </a:ext>
            </a:extLst>
          </p:cNvPr>
          <p:cNvSpPr txBox="1"/>
          <p:nvPr/>
        </p:nvSpPr>
        <p:spPr>
          <a:xfrm>
            <a:off x="2697462" y="1847446"/>
            <a:ext cx="4909930" cy="280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Los servicios sociales de la entidad iniciaron el 1 de septiembre de 1957, en 1958 se inauguró la UMF 52 conocida como “Casa Palomeque” dando inicio la atención médica en la entidad. </a:t>
            </a:r>
          </a:p>
          <a:p>
            <a:pPr algn="just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HGR 1 fue el primer Hospital del IMSS en el estado. El 18 de enero de 1962 el presidente López Mateos, y el director general del IMSS Benito </a:t>
            </a:r>
            <a:r>
              <a:rPr lang="es-ES" sz="11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Coquet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lo inauguraron junto con el Centro de Seguridad Social. </a:t>
            </a:r>
          </a:p>
          <a:p>
            <a:pPr algn="just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 consolidó como Hospital General Regional de segundo nivel de atención, ofreciendo consulta externa, especialidades médicas, hospitalización, servicios de laboratorio y farmacia.</a:t>
            </a:r>
          </a:p>
          <a:p>
            <a:pPr algn="just" rtl="0" fontAlgn="base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A lo largo del tiempo se ha modernizado y ampliado su infraestructura, alcanzando 336 camas hospitalarias (censables y no censables).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31_YUCATÁ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8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2006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432CC8F6-1F48-B352-9169-DEAC38BF6498}"/>
              </a:ext>
            </a:extLst>
          </p:cNvPr>
          <p:cNvGrpSpPr/>
          <p:nvPr/>
        </p:nvGrpSpPr>
        <p:grpSpPr>
          <a:xfrm>
            <a:off x="0" y="5264411"/>
            <a:ext cx="7772400" cy="3757385"/>
            <a:chOff x="0" y="5264411"/>
            <a:chExt cx="7772400" cy="3757385"/>
          </a:xfrm>
        </p:grpSpPr>
        <p:sp>
          <p:nvSpPr>
            <p:cNvPr id="12" name="Google Shape;371;g3d62d805bc0_1_0">
              <a:extLst>
                <a:ext uri="{FF2B5EF4-FFF2-40B4-BE49-F238E27FC236}">
                  <a16:creationId xmlns:a16="http://schemas.microsoft.com/office/drawing/2014/main" id="{4099ECEE-CA2B-3467-61C4-6A649D527590}"/>
                </a:ext>
              </a:extLst>
            </p:cNvPr>
            <p:cNvSpPr txBox="1"/>
            <p:nvPr/>
          </p:nvSpPr>
          <p:spPr>
            <a:xfrm>
              <a:off x="0" y="5264411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" name="Google Shape;373;g3d62d805bc0_1_0">
              <a:extLst>
                <a:ext uri="{FF2B5EF4-FFF2-40B4-BE49-F238E27FC236}">
                  <a16:creationId xmlns:a16="http://schemas.microsoft.com/office/drawing/2014/main" id="{E5926295-9B71-CEC4-5AFA-CABB7219438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4375" y="5926459"/>
              <a:ext cx="2745151" cy="19202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374;g3d62d805bc0_1_0">
              <a:extLst>
                <a:ext uri="{FF2B5EF4-FFF2-40B4-BE49-F238E27FC236}">
                  <a16:creationId xmlns:a16="http://schemas.microsoft.com/office/drawing/2014/main" id="{D2E068D1-B463-5D57-C021-4FC5A596066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97024" y="5993134"/>
              <a:ext cx="3000000" cy="18464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375;g3d62d805bc0_1_0">
              <a:extLst>
                <a:ext uri="{FF2B5EF4-FFF2-40B4-BE49-F238E27FC236}">
                  <a16:creationId xmlns:a16="http://schemas.microsoft.com/office/drawing/2014/main" id="{25056006-9C7A-3BD4-691B-1B2930282CA4}"/>
                </a:ext>
              </a:extLst>
            </p:cNvPr>
            <p:cNvSpPr/>
            <p:nvPr/>
          </p:nvSpPr>
          <p:spPr>
            <a:xfrm>
              <a:off x="801107" y="7735413"/>
              <a:ext cx="514800" cy="4821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103650" tIns="103650" rIns="103650" bIns="1036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87"/>
                <a:buFont typeface="Arial"/>
                <a:buNone/>
              </a:pPr>
              <a:r>
                <a:rPr lang="es" sz="1587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sz="1587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6" name="Google Shape;376;g3d62d805bc0_1_0">
              <a:extLst>
                <a:ext uri="{FF2B5EF4-FFF2-40B4-BE49-F238E27FC236}">
                  <a16:creationId xmlns:a16="http://schemas.microsoft.com/office/drawing/2014/main" id="{A2C5704C-4D69-F614-74F0-DB54C6CDAEBC}"/>
                </a:ext>
              </a:extLst>
            </p:cNvPr>
            <p:cNvSpPr/>
            <p:nvPr/>
          </p:nvSpPr>
          <p:spPr>
            <a:xfrm>
              <a:off x="1316056" y="7732549"/>
              <a:ext cx="2087400" cy="4821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103650" tIns="103650" rIns="103650" bIns="1036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4"/>
                <a:buFont typeface="Arial"/>
                <a:buNone/>
              </a:pPr>
              <a:r>
                <a:rPr lang="es" sz="1474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24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" name="Google Shape;377;g3d62d805bc0_1_0">
              <a:extLst>
                <a:ext uri="{FF2B5EF4-FFF2-40B4-BE49-F238E27FC236}">
                  <a16:creationId xmlns:a16="http://schemas.microsoft.com/office/drawing/2014/main" id="{975FAAF8-7E0B-802D-3233-E60AFEE9FDEA}"/>
                </a:ext>
              </a:extLst>
            </p:cNvPr>
            <p:cNvGrpSpPr/>
            <p:nvPr/>
          </p:nvGrpSpPr>
          <p:grpSpPr>
            <a:xfrm>
              <a:off x="4089965" y="7744001"/>
              <a:ext cx="2747758" cy="439407"/>
              <a:chOff x="4538448" y="7426607"/>
              <a:chExt cx="2097525" cy="381000"/>
            </a:xfrm>
          </p:grpSpPr>
          <p:sp>
            <p:nvSpPr>
              <p:cNvPr id="18" name="Google Shape;378;g3d62d805bc0_1_0">
                <a:extLst>
                  <a:ext uri="{FF2B5EF4-FFF2-40B4-BE49-F238E27FC236}">
                    <a16:creationId xmlns:a16="http://schemas.microsoft.com/office/drawing/2014/main" id="{5D986733-EA2A-EFA0-E9C0-8ECE61030497}"/>
                  </a:ext>
                </a:extLst>
              </p:cNvPr>
              <p:cNvSpPr/>
              <p:nvPr/>
            </p:nvSpPr>
            <p:spPr>
              <a:xfrm>
                <a:off x="4538448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105425" tIns="105425" rIns="105425" bIns="105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5"/>
                  <a:buFont typeface="Arial"/>
                  <a:buNone/>
                </a:pPr>
                <a:r>
                  <a:rPr lang="es" sz="1615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615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9" name="Google Shape;379;g3d62d805bc0_1_0">
                <a:extLst>
                  <a:ext uri="{FF2B5EF4-FFF2-40B4-BE49-F238E27FC236}">
                    <a16:creationId xmlns:a16="http://schemas.microsoft.com/office/drawing/2014/main" id="{80341C5B-121C-D685-7ABB-80A5D331C3EF}"/>
                  </a:ext>
                </a:extLst>
              </p:cNvPr>
              <p:cNvSpPr/>
              <p:nvPr/>
            </p:nvSpPr>
            <p:spPr>
              <a:xfrm>
                <a:off x="5002173" y="7426607"/>
                <a:ext cx="16338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105425" tIns="105425" rIns="105425" bIns="105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9"/>
                  <a:buFont typeface="Arial"/>
                  <a:buNone/>
                </a:pPr>
                <a:r>
                  <a:rPr lang="es" sz="1499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Mastógrafos</a:t>
                </a:r>
                <a:endParaRPr sz="1269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" name="Google Shape;380;g3d62d805bc0_1_0">
              <a:extLst>
                <a:ext uri="{FF2B5EF4-FFF2-40B4-BE49-F238E27FC236}">
                  <a16:creationId xmlns:a16="http://schemas.microsoft.com/office/drawing/2014/main" id="{94A61D35-0809-A076-642C-1CB057FF1274}"/>
                </a:ext>
              </a:extLst>
            </p:cNvPr>
            <p:cNvSpPr txBox="1"/>
            <p:nvPr/>
          </p:nvSpPr>
          <p:spPr>
            <a:xfrm>
              <a:off x="3987375" y="8342372"/>
              <a:ext cx="3000000" cy="6447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Mérida</a:t>
              </a:r>
            </a:p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$4.3 mdp</a:t>
              </a:r>
              <a:endParaRPr sz="13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" name="Google Shape;381;g3d62d805bc0_1_0">
              <a:extLst>
                <a:ext uri="{FF2B5EF4-FFF2-40B4-BE49-F238E27FC236}">
                  <a16:creationId xmlns:a16="http://schemas.microsoft.com/office/drawing/2014/main" id="{C7FA3192-4F51-4390-4900-C3A33CD6F567}"/>
                </a:ext>
              </a:extLst>
            </p:cNvPr>
            <p:cNvSpPr txBox="1"/>
            <p:nvPr/>
          </p:nvSpPr>
          <p:spPr>
            <a:xfrm>
              <a:off x="644100" y="8377034"/>
              <a:ext cx="3000000" cy="6447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Mérida 256 cortes (2)</a:t>
              </a:r>
            </a:p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$59.3 mdp</a:t>
              </a:r>
              <a:endParaRPr sz="13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  <p:graphicFrame>
        <p:nvGraphicFramePr>
          <p:cNvPr id="157" name="Table 156"/>
          <p:cNvGraphicFramePr>
            <a:graphicFrameLocks noGrp="1"/>
          </p:cNvGraphicFramePr>
          <p:nvPr/>
        </p:nvGraphicFramePr>
        <p:xfrm>
          <a:off x="93600" y="3816000"/>
          <a:ext cx="7534799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571165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49FBB8E-D68B-04A2-96B7-7D867BADF4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79E2961-2CD7-B3A9-ACAF-4AFC2343771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B37CF9C-09C6-EA32-C0C5-48F15C6268EB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26E85C6-274D-8DB9-5D86-13CC1C6D30D3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FCD24445-8711-7B51-F674-E6A67A7D2843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152F47-DF89-478D-2185-84B9E0B152BF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21D6FF3-045A-A265-B7FA-FB2837AD4DED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+5,049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+184,401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+63,005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2,424,712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184,401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946,367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2,442,072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622,708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63,005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251,076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684,010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34,107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5,049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14,169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42,642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Tzucacab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Col. Yucatán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Coloradas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4 Valladolid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54,370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Maxcanu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-2,249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Samahil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Komchen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Tekax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Acanceh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60,765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Los Héroes de la Salud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163,689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40,476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65,650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Kinchil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Halachó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13,576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399,513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60,274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159,701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432,200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528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52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1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528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432,200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90FE4BFB-8BE3-AF66-1A78-9C430F5AE792}"/>
              </a:ext>
            </a:extLst>
          </p:cNvPr>
          <p:cNvSpPr txBox="1"/>
          <p:nvPr/>
        </p:nvSpPr>
        <p:spPr>
          <a:xfrm>
            <a:off x="4324657" y="5250087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1 consultorio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2FA7FA-58AF-6970-72A6-0F89AC3C630E}"/>
              </a:ext>
            </a:extLst>
          </p:cNvPr>
          <p:cNvSpPr txBox="1"/>
          <p:nvPr/>
        </p:nvSpPr>
        <p:spPr>
          <a:xfrm>
            <a:off x="4840606" y="6628183"/>
            <a:ext cx="2280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4 Valladolid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15 Unidades Médicas de tiempo completo (31 consultorios)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(170,886 consultas)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51200" y="1695600"/>
          <a:ext cx="7473599" cy="25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 Progreso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57,424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19 Hunucma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43,466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17,702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50 Conkal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31,743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13,325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Kanasin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76,183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29,796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Chuburna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78,481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30,438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82,656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54 Ticul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29,699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11,383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52 Mérida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158,096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20,174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60,152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57 La Ceiba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204,681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80,155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200,448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Mérida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96,131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6,717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37,852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58 Mérida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276,886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12,819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108,332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59 Mérida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311,965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-536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117,767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303,072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31 Izamal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67,600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25,257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49 Tixkokob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45,860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17,756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60 Poniente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140,630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55,510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Caucel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166,601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16,409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65,029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1,785,446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112,966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694,846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1,776,760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444011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302,263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122,447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302,220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155,352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60,516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15,371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46,720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536,321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50,697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213,827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572,320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144000" y="3798000"/>
          <a:ext cx="7340399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37,249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86,387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12,308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37,249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622,708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63,005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251,076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684,010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/>
        </p:nvGraphicFramePr>
        <p:xfrm>
          <a:off x="4780800" y="5670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780800" y="639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36.7%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80800" y="729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0799" y="5670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684,010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83932809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30,823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4,278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12,597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35,742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3441600"/>
          <a:ext cx="7340399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3,284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1,572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22.8%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34,107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5,049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14,169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42,642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/>
        </p:nvGraphicFramePr>
        <p:xfrm>
          <a:off x="4780800" y="5313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80800" y="603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33.2%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80800" y="693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30799" y="5313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42,642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133 en Hospitales, 2 en sede, 6 en UMF y 137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133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823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8239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975998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975998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Acanceh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586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9BE5060-9A5C-EA0B-3D94-0F77483F46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1594766"/>
              </p:ext>
            </p:extLst>
          </p:nvPr>
        </p:nvGraphicFramePr>
        <p:xfrm>
          <a:off x="287050" y="940437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Reemplazos Articulares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Columna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5,158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11,690	 Personal de Salud: 7,572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+26.0%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131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+40.8%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1,836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+13.4%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2,374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2,693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+16.2%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1,565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1,819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+58.1%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506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800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-10.9%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163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9,952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827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2,735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947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14,461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(160,789)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(21,341)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(1,550)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(2,866)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(154,970)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(13,486)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(1,494)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Cataratas
(1,663)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(133)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(34,361)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(12,166)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(1,050)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(1,634)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(21,238)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(7,654)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(764)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(1,375)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(106)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(16,749)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(7,342)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(643)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(1,143)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145,515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1,500,720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111,040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1,644,947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0B5A3-E51B-8765-B18C-8ED099BB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294,840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290,617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216,954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213,671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188,401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172,543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141,592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135,202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Loratadina, tableta o gragea (antihistamínico)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133,597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124,622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341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28870"/>
            <a:ext cx="1599000" cy="7583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magen que contiene firmar, parada, camión, tráfico&#10;&#10;El contenido generado por IA puede ser incorrecto.">
            <a:extLst>
              <a:ext uri="{FF2B5EF4-FFF2-40B4-BE49-F238E27FC236}">
                <a16:creationId xmlns:a16="http://schemas.microsoft.com/office/drawing/2014/main" id="{DEEABBF8-7431-013D-041D-F56094019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50" y="1592066"/>
            <a:ext cx="1384416" cy="3694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85600" y="1584000"/>
          <a:ext cx="52956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ampliación del área de Urgencias,HGR No.12 "Benito Juárez",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$67.5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de UCIA y UCIP en HGR No. 12.”Benito Juárez”, Mérida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$102.2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3204000"/>
          <a:ext cx="52956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0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$416.5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7 unidades (H. de Especialidades No.1, HGR No.1 , HGR No.12, UMF No. 20, UMF No.58, UMF No.59, UMF No. 60 en Mérida)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$54.6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HGR 12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UMAE HE 1 Mérida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UMAE HE No. 1 Yucatán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$564.6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6624000"/>
          <a:ext cx="52956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9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18 piezas de equipo médico: 1 monitor de radiación de pared,1 monitor de signos vitales para el traslado del paciente. (con protección antimagnética), 1 equipo de anestesia básica (con protección antimagnética), 1 congelador horizontal  para vacunas, 8 refrigeradores para vacunas, 3 refrigeradores con congelador de 5.4 pies cúbicos, 1 mastógrafo digital con estereotaxia y tomosíntesis, 2 tomógrafos axiales computarizados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$68.0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86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$24.8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759.6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938439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306557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UMF</a:t>
            </a:r>
            <a:endParaRPr lang="en-US"/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A24C0E7-282C-9B96-A7B5-7554B2C6E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96" y="3874532"/>
            <a:ext cx="872667" cy="849944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2C157DF6-A7FD-940D-19DA-323ACD68454D}"/>
              </a:ext>
            </a:extLst>
          </p:cNvPr>
          <p:cNvSpPr txBox="1"/>
          <p:nvPr/>
        </p:nvSpPr>
        <p:spPr>
          <a:xfrm>
            <a:off x="-1216824" y="3934807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</a:rPr>
              <a:t>Centro de </a:t>
            </a:r>
            <a:endParaRPr lang="en-US" dirty="0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Mezclas</a:t>
            </a:r>
            <a:endParaRPr lang="en-US" dirty="0" err="1"/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1584000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Zona Ticul 2da Etapa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$400.0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10+5 con AMC, Francisco de Montejo, Mérida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$198.5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2 CECI, Ciudad Caucel y Serapio Rendón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$690.5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302399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015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UMU No. 12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HGR 1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$200.6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4211991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2026, Instalación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Programa para la Adquisición de Equipo CeSiECQ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5147988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4 Equipos electromecánicos para casas de máquinas en el HGR No. 12 y el HE de la UMAE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$59.4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982.5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Mérida (2), Valladolid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Caucel, Halachó, Hunucmá, Izamal, Kanasín (2), Kinchil, Maxcanú, Mérida (2), Tizimín (2), Tzucacab, Umán (2)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28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Mérida (Ciudad Caucel) y Mérida (Serapio Rendon). En validación o en integración de expediente para donación: 11 en Mérida, Tzucacab, Tizimín, Kanasín, Umán, Hunucmá e Izamal.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25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24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3,194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856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127 Mérida El Fènix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31_yu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25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Libre y Soberano de Yucatán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52,529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52,430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Embotelladoras Bepensa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11,589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Comercializadora Porcícola Mexicana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5,622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5,627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Mérida del Estado de Yucatán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7,672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7,713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Bachoco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-12.13%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-4.15%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-3.92%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-0.43%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+1.19%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+2.12%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+2.23%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+2.34%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+11.70%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395,281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39,432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439,212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398,219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3,576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32,841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435,170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BC6A8556-2D5B-E902-8A99-E1DABE429C97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$555.33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$304.05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$555.33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$16,659.9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electoral y de Participación Ciudadana de Yucatán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Central de Abasto de Mérida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Banca Serfin S.A. Fid Rancho Hobonil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Cesar Raya Solis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$8.71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Air Temp de México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Miscelaneas Hersaco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$6.28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560,831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2,115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500,593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10,812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30,832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18,594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3,160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1,694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6,646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8,023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458,392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182,168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276,224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418,222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560,831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3,160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Oxkutzcab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Acanceh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Izamal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Maxcanú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977200"/>
          <a:ext cx="7650000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133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Izamal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Maxcanú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233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Oxkutzcab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233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90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29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5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5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421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137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897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21115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3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372</Words>
  <Application>Microsoft Office PowerPoint</Application>
  <PresentationFormat>Personalizado</PresentationFormat>
  <Paragraphs>91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111</cp:revision>
  <dcterms:modified xsi:type="dcterms:W3CDTF">2026-05-13T00:09:01Z</dcterms:modified>
</cp:coreProperties>
</file>