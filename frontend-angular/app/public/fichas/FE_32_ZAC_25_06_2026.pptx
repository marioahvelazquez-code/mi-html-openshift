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2.xml" ContentType="application/vnd.openxmlformats-officedocument.drawingml.chart+xml"/>
  <Override PartName="/ppt/notesSlides/notesSlide7.xml" ContentType="application/vnd.openxmlformats-officedocument.presentationml.notesSlide+xml"/>
  <Override PartName="/ppt/charts/chart3.xml" ContentType="application/vnd.openxmlformats-officedocument.drawingml.chart+xml"/>
  <Override PartName="/ppt/notesSlides/notesSlide8.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7.xml" ContentType="application/vnd.openxmlformats-officedocument.drawingml.chart+xml"/>
  <Override PartName="/ppt/notesSlides/notesSlide18.xml" ContentType="application/vnd.openxmlformats-officedocument.presentationml.notesSlide+xml"/>
  <Override PartName="/ppt/charts/chart8.xml" ContentType="application/vnd.openxmlformats-officedocument.drawingml.chart+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89" r:id="rId3"/>
    <p:sldId id="258" r:id="rId4"/>
    <p:sldId id="259" r:id="rId5"/>
    <p:sldId id="260" r:id="rId6"/>
    <p:sldId id="300" r:id="rId7"/>
    <p:sldId id="287" r:id="rId8"/>
    <p:sldId id="262" r:id="rId9"/>
    <p:sldId id="263" r:id="rId10"/>
    <p:sldId id="280" r:id="rId11"/>
    <p:sldId id="298" r:id="rId12"/>
    <p:sldId id="301" r:id="rId13"/>
    <p:sldId id="302" r:id="rId14"/>
    <p:sldId id="281" r:id="rId15"/>
    <p:sldId id="288" r:id="rId16"/>
    <p:sldId id="270" r:id="rId17"/>
    <p:sldId id="271" r:id="rId18"/>
    <p:sldId id="272" r:id="rId19"/>
    <p:sldId id="299" r:id="rId20"/>
    <p:sldId id="297" r:id="rId21"/>
    <p:sldId id="284" r:id="rId22"/>
    <p:sldId id="277" r:id="rId23"/>
    <p:sldId id="278" r:id="rId24"/>
    <p:sldId id="279" r:id="rId25"/>
    <p:sldId id="282" r:id="rId26"/>
  </p:sldIdLst>
  <p:sldSz cx="7772400" cy="10058400"/>
  <p:notesSz cx="6858000" cy="9144000"/>
  <p:embeddedFontLst>
    <p:embeddedFont>
      <p:font typeface="Montserrat" panose="00000500000000000000" pitchFamily="2" charset="0"/>
      <p:regular r:id="rId28"/>
      <p:bold r:id="rId29"/>
      <p:italic r:id="rId30"/>
      <p:boldItalic r:id="rId31"/>
    </p:embeddedFont>
    <p:embeddedFont>
      <p:font typeface="Noto Sans" panose="020B0502040504020204" pitchFamily="34" charset="0"/>
      <p:regular r:id="rId32"/>
      <p:bold r:id="rId33"/>
      <p:italic r:id="rId34"/>
      <p:boldItalic r:id="rId35"/>
    </p:embeddedFont>
    <p:embeddedFont>
      <p:font typeface="Noto Sans Black" panose="020B0502040504020204" pitchFamily="34" charset="0"/>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3E9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E27C8D-886B-40E9-9FC3-C32B2937DC98}" v="2" dt="2026-07-02T18:17:58.02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41" autoAdjust="0"/>
    <p:restoredTop sz="94759"/>
  </p:normalViewPr>
  <p:slideViewPr>
    <p:cSldViewPr snapToGrid="0">
      <p:cViewPr>
        <p:scale>
          <a:sx n="66" d="100"/>
          <a:sy n="66" d="100"/>
        </p:scale>
        <p:origin x="1926" y="-216"/>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7.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5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Patricia Galvan Chavez" userId="S::laura.galvan@imss.gob.mx::6b13af50-ce8b-483e-8fc4-f994efaf3289" providerId="AD" clId="Web-{7125D650-CA3E-95F8-C1EC-BBF532FD0AA6}"/>
    <pc:docChg chg="modSld">
      <pc:chgData name="Laura Patricia Galvan Chavez" userId="S::laura.galvan@imss.gob.mx::6b13af50-ce8b-483e-8fc4-f994efaf3289" providerId="AD" clId="Web-{7125D650-CA3E-95F8-C1EC-BBF532FD0AA6}" dt="2026-06-23T23:45:03.522" v="38" actId="1076"/>
      <pc:docMkLst>
        <pc:docMk/>
      </pc:docMkLst>
      <pc:sldChg chg="delSp modSp">
        <pc:chgData name="Laura Patricia Galvan Chavez" userId="S::laura.galvan@imss.gob.mx::6b13af50-ce8b-483e-8fc4-f994efaf3289" providerId="AD" clId="Web-{7125D650-CA3E-95F8-C1EC-BBF532FD0AA6}" dt="2026-06-23T23:45:03.522" v="38" actId="1076"/>
        <pc:sldMkLst>
          <pc:docMk/>
          <pc:sldMk cId="364733940" sldId="284"/>
        </pc:sldMkLst>
      </pc:sldChg>
      <pc:sldChg chg="delSp modSp">
        <pc:chgData name="Laura Patricia Galvan Chavez" userId="S::laura.galvan@imss.gob.mx::6b13af50-ce8b-483e-8fc4-f994efaf3289" providerId="AD" clId="Web-{7125D650-CA3E-95F8-C1EC-BBF532FD0AA6}" dt="2026-06-23T23:44:31.584" v="34" actId="1076"/>
        <pc:sldMkLst>
          <pc:docMk/>
          <pc:sldMk cId="3240565764" sldId="297"/>
        </pc:sldMkLst>
      </pc:sldChg>
    </pc:docChg>
  </pc:docChgLst>
  <pc:docChgLst>
    <pc:chgData name="Gerardo Jahir Lara Garcia" userId="84d5cd65-4601-4e92-b448-a9da4809e012" providerId="ADAL" clId="{848F2E50-180B-4DB9-9EF6-4803D25AC9EC}"/>
    <pc:docChg chg="undo custSel modSld">
      <pc:chgData name="Gerardo Jahir Lara Garcia" userId="84d5cd65-4601-4e92-b448-a9da4809e012" providerId="ADAL" clId="{848F2E50-180B-4DB9-9EF6-4803D25AC9EC}" dt="2026-07-02T18:30:07.921" v="278" actId="313"/>
      <pc:docMkLst>
        <pc:docMk/>
      </pc:docMkLst>
      <pc:sldChg chg="modSp mod">
        <pc:chgData name="Gerardo Jahir Lara Garcia" userId="84d5cd65-4601-4e92-b448-a9da4809e012" providerId="ADAL" clId="{848F2E50-180B-4DB9-9EF6-4803D25AC9EC}" dt="2026-07-02T18:12:58.030" v="83" actId="2062"/>
        <pc:sldMkLst>
          <pc:docMk/>
          <pc:sldMk cId="0" sldId="262"/>
        </pc:sldMkLst>
        <pc:spChg chg="mod">
          <ac:chgData name="Gerardo Jahir Lara Garcia" userId="84d5cd65-4601-4e92-b448-a9da4809e012" providerId="ADAL" clId="{848F2E50-180B-4DB9-9EF6-4803D25AC9EC}" dt="2026-07-02T18:12:50.070" v="81" actId="1036"/>
          <ac:spMkLst>
            <pc:docMk/>
            <pc:sldMk cId="0" sldId="262"/>
            <ac:spMk id="10" creationId="{00000000-0000-0000-0000-000000000000}"/>
          </ac:spMkLst>
        </pc:spChg>
        <pc:spChg chg="mod">
          <ac:chgData name="Gerardo Jahir Lara Garcia" userId="84d5cd65-4601-4e92-b448-a9da4809e012" providerId="ADAL" clId="{848F2E50-180B-4DB9-9EF6-4803D25AC9EC}" dt="2026-07-02T18:12:50.070" v="81" actId="1036"/>
          <ac:spMkLst>
            <pc:docMk/>
            <pc:sldMk cId="0" sldId="262"/>
            <ac:spMk id="11" creationId="{00000000-0000-0000-0000-000000000000}"/>
          </ac:spMkLst>
        </pc:spChg>
        <pc:spChg chg="mod">
          <ac:chgData name="Gerardo Jahir Lara Garcia" userId="84d5cd65-4601-4e92-b448-a9da4809e012" providerId="ADAL" clId="{848F2E50-180B-4DB9-9EF6-4803D25AC9EC}" dt="2026-07-02T18:12:50.070" v="81" actId="1036"/>
          <ac:spMkLst>
            <pc:docMk/>
            <pc:sldMk cId="0" sldId="262"/>
            <ac:spMk id="12" creationId="{00000000-0000-0000-0000-000000000000}"/>
          </ac:spMkLst>
        </pc:spChg>
        <pc:graphicFrameChg chg="mod modGraphic">
          <ac:chgData name="Gerardo Jahir Lara Garcia" userId="84d5cd65-4601-4e92-b448-a9da4809e012" providerId="ADAL" clId="{848F2E50-180B-4DB9-9EF6-4803D25AC9EC}" dt="2026-07-02T18:12:58.030" v="83" actId="2062"/>
          <ac:graphicFrameMkLst>
            <pc:docMk/>
            <pc:sldMk cId="0" sldId="262"/>
            <ac:graphicFrameMk id="8" creationId="{00000000-0000-0000-0000-000000000000}"/>
          </ac:graphicFrameMkLst>
        </pc:graphicFrameChg>
        <pc:graphicFrameChg chg="mod">
          <ac:chgData name="Gerardo Jahir Lara Garcia" userId="84d5cd65-4601-4e92-b448-a9da4809e012" providerId="ADAL" clId="{848F2E50-180B-4DB9-9EF6-4803D25AC9EC}" dt="2026-07-02T18:12:50.070" v="81" actId="1036"/>
          <ac:graphicFrameMkLst>
            <pc:docMk/>
            <pc:sldMk cId="0" sldId="262"/>
            <ac:graphicFrameMk id="9" creationId="{00000000-0000-0000-0000-000000000000}"/>
          </ac:graphicFrameMkLst>
        </pc:graphicFrameChg>
      </pc:sldChg>
      <pc:sldChg chg="modSp mod">
        <pc:chgData name="Gerardo Jahir Lara Garcia" userId="84d5cd65-4601-4e92-b448-a9da4809e012" providerId="ADAL" clId="{848F2E50-180B-4DB9-9EF6-4803D25AC9EC}" dt="2026-07-02T18:13:18.676" v="85" actId="403"/>
        <pc:sldMkLst>
          <pc:docMk/>
          <pc:sldMk cId="0" sldId="263"/>
        </pc:sldMkLst>
        <pc:spChg chg="mod">
          <ac:chgData name="Gerardo Jahir Lara Garcia" userId="84d5cd65-4601-4e92-b448-a9da4809e012" providerId="ADAL" clId="{848F2E50-180B-4DB9-9EF6-4803D25AC9EC}" dt="2026-07-02T18:13:18.676" v="85" actId="403"/>
          <ac:spMkLst>
            <pc:docMk/>
            <pc:sldMk cId="0" sldId="263"/>
            <ac:spMk id="20" creationId="{00000000-0000-0000-0000-000000000000}"/>
          </ac:spMkLst>
        </pc:spChg>
        <pc:graphicFrameChg chg="modGraphic">
          <ac:chgData name="Gerardo Jahir Lara Garcia" userId="84d5cd65-4601-4e92-b448-a9da4809e012" providerId="ADAL" clId="{848F2E50-180B-4DB9-9EF6-4803D25AC9EC}" dt="2026-07-02T18:13:05.435" v="84" actId="2062"/>
          <ac:graphicFrameMkLst>
            <pc:docMk/>
            <pc:sldMk cId="0" sldId="263"/>
            <ac:graphicFrameMk id="25" creationId="{00000000-0000-0000-0000-000000000000}"/>
          </ac:graphicFrameMkLst>
        </pc:graphicFrameChg>
      </pc:sldChg>
      <pc:sldChg chg="modSp mod">
        <pc:chgData name="Gerardo Jahir Lara Garcia" userId="84d5cd65-4601-4e92-b448-a9da4809e012" providerId="ADAL" clId="{848F2E50-180B-4DB9-9EF6-4803D25AC9EC}" dt="2026-07-02T18:13:32.633" v="87" actId="2062"/>
        <pc:sldMkLst>
          <pc:docMk/>
          <pc:sldMk cId="540716406" sldId="280"/>
        </pc:sldMkLst>
        <pc:graphicFrameChg chg="modGraphic">
          <ac:chgData name="Gerardo Jahir Lara Garcia" userId="84d5cd65-4601-4e92-b448-a9da4809e012" providerId="ADAL" clId="{848F2E50-180B-4DB9-9EF6-4803D25AC9EC}" dt="2026-07-02T18:13:32.633" v="87" actId="2062"/>
          <ac:graphicFrameMkLst>
            <pc:docMk/>
            <pc:sldMk cId="540716406" sldId="280"/>
            <ac:graphicFrameMk id="5" creationId="{58E9713F-FEEB-EB9C-BCC7-3DB19FA0B002}"/>
          </ac:graphicFrameMkLst>
        </pc:graphicFrameChg>
        <pc:graphicFrameChg chg="modGraphic">
          <ac:chgData name="Gerardo Jahir Lara Garcia" userId="84d5cd65-4601-4e92-b448-a9da4809e012" providerId="ADAL" clId="{848F2E50-180B-4DB9-9EF6-4803D25AC9EC}" dt="2026-07-02T18:13:29.574" v="86" actId="2062"/>
          <ac:graphicFrameMkLst>
            <pc:docMk/>
            <pc:sldMk cId="540716406" sldId="280"/>
            <ac:graphicFrameMk id="236" creationId="{00000000-0000-0000-0000-000000000000}"/>
          </ac:graphicFrameMkLst>
        </pc:graphicFrameChg>
      </pc:sldChg>
      <pc:sldChg chg="modSp mod">
        <pc:chgData name="Gerardo Jahir Lara Garcia" userId="84d5cd65-4601-4e92-b448-a9da4809e012" providerId="ADAL" clId="{848F2E50-180B-4DB9-9EF6-4803D25AC9EC}" dt="2026-07-02T18:30:07.921" v="278" actId="313"/>
        <pc:sldMkLst>
          <pc:docMk/>
          <pc:sldMk cId="364733940" sldId="284"/>
        </pc:sldMkLst>
        <pc:spChg chg="mod">
          <ac:chgData name="Gerardo Jahir Lara Garcia" userId="84d5cd65-4601-4e92-b448-a9da4809e012" providerId="ADAL" clId="{848F2E50-180B-4DB9-9EF6-4803D25AC9EC}" dt="2026-07-02T00:33:23.135" v="60" actId="1076"/>
          <ac:spMkLst>
            <pc:docMk/>
            <pc:sldMk cId="364733940" sldId="284"/>
            <ac:spMk id="48" creationId="{86812AFB-664A-617F-F7E3-A471E68A17CA}"/>
          </ac:spMkLst>
        </pc:spChg>
        <pc:spChg chg="mod">
          <ac:chgData name="Gerardo Jahir Lara Garcia" userId="84d5cd65-4601-4e92-b448-a9da4809e012" providerId="ADAL" clId="{848F2E50-180B-4DB9-9EF6-4803D25AC9EC}" dt="2026-07-02T18:17:43.323" v="212" actId="1035"/>
          <ac:spMkLst>
            <pc:docMk/>
            <pc:sldMk cId="364733940" sldId="284"/>
            <ac:spMk id="56" creationId="{E34F531C-5D9D-2302-A5EA-5EEAA5710159}"/>
          </ac:spMkLst>
        </pc:spChg>
        <pc:spChg chg="mod">
          <ac:chgData name="Gerardo Jahir Lara Garcia" userId="84d5cd65-4601-4e92-b448-a9da4809e012" providerId="ADAL" clId="{848F2E50-180B-4DB9-9EF6-4803D25AC9EC}" dt="2026-07-02T18:30:07.921" v="278" actId="313"/>
          <ac:spMkLst>
            <pc:docMk/>
            <pc:sldMk cId="364733940" sldId="284"/>
            <ac:spMk id="64" creationId="{A7F9AE37-84C2-8A9A-EA4B-FA37BE636B1B}"/>
          </ac:spMkLst>
        </pc:spChg>
        <pc:graphicFrameChg chg="mod modGraphic">
          <ac:chgData name="Gerardo Jahir Lara Garcia" userId="84d5cd65-4601-4e92-b448-a9da4809e012" providerId="ADAL" clId="{848F2E50-180B-4DB9-9EF6-4803D25AC9EC}" dt="2026-07-02T18:17:22.653" v="187" actId="2165"/>
          <ac:graphicFrameMkLst>
            <pc:docMk/>
            <pc:sldMk cId="364733940" sldId="284"/>
            <ac:graphicFrameMk id="58" creationId="{F28C06A2-9D46-00BC-F710-33DB231B53C6}"/>
          </ac:graphicFrameMkLst>
        </pc:graphicFrameChg>
      </pc:sldChg>
      <pc:sldChg chg="addSp modSp mod">
        <pc:chgData name="Gerardo Jahir Lara Garcia" userId="84d5cd65-4601-4e92-b448-a9da4809e012" providerId="ADAL" clId="{848F2E50-180B-4DB9-9EF6-4803D25AC9EC}" dt="2026-07-02T18:14:23.805" v="90" actId="1076"/>
        <pc:sldMkLst>
          <pc:docMk/>
          <pc:sldMk cId="0" sldId="301"/>
        </pc:sldMkLst>
        <pc:graphicFrameChg chg="add mod">
          <ac:chgData name="Gerardo Jahir Lara Garcia" userId="84d5cd65-4601-4e92-b448-a9da4809e012" providerId="ADAL" clId="{848F2E50-180B-4DB9-9EF6-4803D25AC9EC}" dt="2026-07-02T18:14:23.805" v="90" actId="1076"/>
          <ac:graphicFrameMkLst>
            <pc:docMk/>
            <pc:sldMk cId="0" sldId="301"/>
            <ac:graphicFrameMk id="20" creationId="{00000000-0000-0000-0000-000000000000}"/>
          </ac:graphicFrameMkLst>
        </pc:graphicFrameChg>
      </pc:sldChg>
      <pc:sldChg chg="delSp modSp mod">
        <pc:chgData name="Gerardo Jahir Lara Garcia" userId="84d5cd65-4601-4e92-b448-a9da4809e012" providerId="ADAL" clId="{848F2E50-180B-4DB9-9EF6-4803D25AC9EC}" dt="2026-07-02T18:15:06.447" v="157" actId="1076"/>
        <pc:sldMkLst>
          <pc:docMk/>
          <pc:sldMk cId="0" sldId="302"/>
        </pc:sldMkLst>
        <pc:spChg chg="del">
          <ac:chgData name="Gerardo Jahir Lara Garcia" userId="84d5cd65-4601-4e92-b448-a9da4809e012" providerId="ADAL" clId="{848F2E50-180B-4DB9-9EF6-4803D25AC9EC}" dt="2026-07-02T18:14:35.288" v="91" actId="478"/>
          <ac:spMkLst>
            <pc:docMk/>
            <pc:sldMk cId="0" sldId="302"/>
            <ac:spMk id="5" creationId="{00000000-0000-0000-0000-000000000000}"/>
          </ac:spMkLst>
        </pc:spChg>
        <pc:spChg chg="mod">
          <ac:chgData name="Gerardo Jahir Lara Garcia" userId="84d5cd65-4601-4e92-b448-a9da4809e012" providerId="ADAL" clId="{848F2E50-180B-4DB9-9EF6-4803D25AC9EC}" dt="2026-07-02T18:14:55.069" v="149" actId="20577"/>
          <ac:spMkLst>
            <pc:docMk/>
            <pc:sldMk cId="0" sldId="302"/>
            <ac:spMk id="8" creationId="{00000000-0000-0000-0000-000000000000}"/>
          </ac:spMkLst>
        </pc:spChg>
        <pc:spChg chg="mod">
          <ac:chgData name="Gerardo Jahir Lara Garcia" userId="84d5cd65-4601-4e92-b448-a9da4809e012" providerId="ADAL" clId="{848F2E50-180B-4DB9-9EF6-4803D25AC9EC}" dt="2026-07-02T18:14:42.408" v="136" actId="1035"/>
          <ac:spMkLst>
            <pc:docMk/>
            <pc:sldMk cId="0" sldId="302"/>
            <ac:spMk id="12" creationId="{00000000-0000-0000-0000-000000000000}"/>
          </ac:spMkLst>
        </pc:spChg>
        <pc:graphicFrameChg chg="del">
          <ac:chgData name="Gerardo Jahir Lara Garcia" userId="84d5cd65-4601-4e92-b448-a9da4809e012" providerId="ADAL" clId="{848F2E50-180B-4DB9-9EF6-4803D25AC9EC}" dt="2026-07-02T18:14:12.811" v="88" actId="21"/>
          <ac:graphicFrameMkLst>
            <pc:docMk/>
            <pc:sldMk cId="0" sldId="302"/>
            <ac:graphicFrameMk id="7" creationId="{00000000-0000-0000-0000-000000000000}"/>
          </ac:graphicFrameMkLst>
        </pc:graphicFrameChg>
        <pc:graphicFrameChg chg="mod">
          <ac:chgData name="Gerardo Jahir Lara Garcia" userId="84d5cd65-4601-4e92-b448-a9da4809e012" providerId="ADAL" clId="{848F2E50-180B-4DB9-9EF6-4803D25AC9EC}" dt="2026-07-02T18:15:06.447" v="157" actId="1076"/>
          <ac:graphicFrameMkLst>
            <pc:docMk/>
            <pc:sldMk cId="0" sldId="302"/>
            <ac:graphicFrameMk id="10" creationId="{00000000-0000-0000-0000-000000000000}"/>
          </ac:graphicFrameMkLst>
        </pc:graphicFrameChg>
        <pc:cxnChg chg="del">
          <ac:chgData name="Gerardo Jahir Lara Garcia" userId="84d5cd65-4601-4e92-b448-a9da4809e012" providerId="ADAL" clId="{848F2E50-180B-4DB9-9EF6-4803D25AC9EC}" dt="2026-07-02T18:14:35.288" v="91" actId="478"/>
          <ac:cxnSpMkLst>
            <pc:docMk/>
            <pc:sldMk cId="0" sldId="302"/>
            <ac:cxnSpMk id="6" creationId="{00000000-0000-0000-0000-000000000000}"/>
          </ac:cxnSpMkLst>
        </pc:cxnChg>
        <pc:cxnChg chg="mod">
          <ac:chgData name="Gerardo Jahir Lara Garcia" userId="84d5cd65-4601-4e92-b448-a9da4809e012" providerId="ADAL" clId="{848F2E50-180B-4DB9-9EF6-4803D25AC9EC}" dt="2026-07-02T18:14:42.408" v="136" actId="1035"/>
          <ac:cxnSpMkLst>
            <pc:docMk/>
            <pc:sldMk cId="0" sldId="302"/>
            <ac:cxnSpMk id="9" creationId="{00000000-0000-0000-0000-000000000000}"/>
          </ac:cxnSpMkLst>
        </pc:cxnChg>
      </pc:sldChg>
    </pc:docChg>
  </pc:docChgLst>
  <pc:docChgLst>
    <pc:chgData name="Laura Patricia Galvan Chavez" userId="6b13af50-ce8b-483e-8fc4-f994efaf3289" providerId="ADAL" clId="{655D084B-7DF1-4C24-9447-417D7DC498B8}"/>
    <pc:docChg chg="modSld">
      <pc:chgData name="Laura Patricia Galvan Chavez" userId="6b13af50-ce8b-483e-8fc4-f994efaf3289" providerId="ADAL" clId="{655D084B-7DF1-4C24-9447-417D7DC498B8}" dt="2026-06-29T19:53:53.598" v="14" actId="20577"/>
      <pc:docMkLst>
        <pc:docMk/>
      </pc:docMkLst>
      <pc:sldChg chg="modSp mod">
        <pc:chgData name="Laura Patricia Galvan Chavez" userId="6b13af50-ce8b-483e-8fc4-f994efaf3289" providerId="ADAL" clId="{655D084B-7DF1-4C24-9447-417D7DC498B8}" dt="2026-06-29T19:52:11.322" v="2" actId="1076"/>
        <pc:sldMkLst>
          <pc:docMk/>
          <pc:sldMk cId="0" sldId="263"/>
        </pc:sldMkLst>
        <pc:spChg chg="mod">
          <ac:chgData name="Laura Patricia Galvan Chavez" userId="6b13af50-ce8b-483e-8fc4-f994efaf3289" providerId="ADAL" clId="{655D084B-7DF1-4C24-9447-417D7DC498B8}" dt="2026-06-29T19:52:11.322" v="2" actId="1076"/>
          <ac:spMkLst>
            <pc:docMk/>
            <pc:sldMk cId="0" sldId="263"/>
            <ac:spMk id="16" creationId="{D8E6FE26-E3D6-2FE1-3614-28AED108C910}"/>
          </ac:spMkLst>
        </pc:spChg>
        <pc:spChg chg="mod">
          <ac:chgData name="Laura Patricia Galvan Chavez" userId="6b13af50-ce8b-483e-8fc4-f994efaf3289" providerId="ADAL" clId="{655D084B-7DF1-4C24-9447-417D7DC498B8}" dt="2026-06-29T19:52:11.322" v="2" actId="1076"/>
          <ac:spMkLst>
            <pc:docMk/>
            <pc:sldMk cId="0" sldId="263"/>
            <ac:spMk id="17" creationId="{165E3FD0-F29E-073F-F5F4-0BC9710BF7A9}"/>
          </ac:spMkLst>
        </pc:spChg>
        <pc:spChg chg="mod">
          <ac:chgData name="Laura Patricia Galvan Chavez" userId="6b13af50-ce8b-483e-8fc4-f994efaf3289" providerId="ADAL" clId="{655D084B-7DF1-4C24-9447-417D7DC498B8}" dt="2026-06-29T19:52:11.322" v="2" actId="1076"/>
          <ac:spMkLst>
            <pc:docMk/>
            <pc:sldMk cId="0" sldId="263"/>
            <ac:spMk id="24" creationId="{00000000-0000-0000-0000-000000000000}"/>
          </ac:spMkLst>
        </pc:spChg>
        <pc:spChg chg="mod">
          <ac:chgData name="Laura Patricia Galvan Chavez" userId="6b13af50-ce8b-483e-8fc4-f994efaf3289" providerId="ADAL" clId="{655D084B-7DF1-4C24-9447-417D7DC498B8}" dt="2026-06-29T19:52:11.322" v="2" actId="1076"/>
          <ac:spMkLst>
            <pc:docMk/>
            <pc:sldMk cId="0" sldId="263"/>
            <ac:spMk id="27" creationId="{00000000-0000-0000-0000-000000000000}"/>
          </ac:spMkLst>
        </pc:spChg>
        <pc:graphicFrameChg chg="mod modGraphic">
          <ac:chgData name="Laura Patricia Galvan Chavez" userId="6b13af50-ce8b-483e-8fc4-f994efaf3289" providerId="ADAL" clId="{655D084B-7DF1-4C24-9447-417D7DC498B8}" dt="2026-06-29T19:52:01.702" v="1" actId="14100"/>
          <ac:graphicFrameMkLst>
            <pc:docMk/>
            <pc:sldMk cId="0" sldId="263"/>
            <ac:graphicFrameMk id="25" creationId="{00000000-0000-0000-0000-000000000000}"/>
          </ac:graphicFrameMkLst>
        </pc:graphicFrameChg>
        <pc:graphicFrameChg chg="mod">
          <ac:chgData name="Laura Patricia Galvan Chavez" userId="6b13af50-ce8b-483e-8fc4-f994efaf3289" providerId="ADAL" clId="{655D084B-7DF1-4C24-9447-417D7DC498B8}" dt="2026-06-29T19:52:11.322" v="2" actId="1076"/>
          <ac:graphicFrameMkLst>
            <pc:docMk/>
            <pc:sldMk cId="0" sldId="263"/>
            <ac:graphicFrameMk id="26" creationId="{00000000-0000-0000-0000-000000000000}"/>
          </ac:graphicFrameMkLst>
        </pc:graphicFrameChg>
      </pc:sldChg>
      <pc:sldChg chg="modSp mod">
        <pc:chgData name="Laura Patricia Galvan Chavez" userId="6b13af50-ce8b-483e-8fc4-f994efaf3289" providerId="ADAL" clId="{655D084B-7DF1-4C24-9447-417D7DC498B8}" dt="2026-06-29T19:53:53.598" v="14" actId="20577"/>
        <pc:sldMkLst>
          <pc:docMk/>
          <pc:sldMk cId="0" sldId="279"/>
        </pc:sldMkLst>
        <pc:graphicFrameChg chg="modGraphic">
          <ac:chgData name="Laura Patricia Galvan Chavez" userId="6b13af50-ce8b-483e-8fc4-f994efaf3289" providerId="ADAL" clId="{655D084B-7DF1-4C24-9447-417D7DC498B8}" dt="2026-06-29T19:53:53.598" v="14" actId="20577"/>
          <ac:graphicFrameMkLst>
            <pc:docMk/>
            <pc:sldMk cId="0" sldId="279"/>
            <ac:graphicFrameMk id="514" creationId="{00000000-0000-0000-0000-000000000000}"/>
          </ac:graphicFrameMkLst>
        </pc:graphicFrameChg>
      </pc:sldChg>
      <pc:sldChg chg="modSp mod">
        <pc:chgData name="Laura Patricia Galvan Chavez" userId="6b13af50-ce8b-483e-8fc4-f994efaf3289" providerId="ADAL" clId="{655D084B-7DF1-4C24-9447-417D7DC498B8}" dt="2026-06-29T19:52:36.459" v="4" actId="1076"/>
        <pc:sldMkLst>
          <pc:docMk/>
          <pc:sldMk cId="3805655920" sldId="288"/>
        </pc:sldMkLst>
        <pc:spChg chg="mod">
          <ac:chgData name="Laura Patricia Galvan Chavez" userId="6b13af50-ce8b-483e-8fc4-f994efaf3289" providerId="ADAL" clId="{655D084B-7DF1-4C24-9447-417D7DC498B8}" dt="2026-06-29T19:52:36.459" v="4" actId="1076"/>
          <ac:spMkLst>
            <pc:docMk/>
            <pc:sldMk cId="3805655920" sldId="288"/>
            <ac:spMk id="4" creationId="{00000000-0000-0000-0000-000000000000}"/>
          </ac:spMkLst>
        </pc:spChg>
      </pc:sldChg>
    </pc:docChg>
  </pc:docChgLst>
  <pc:docChgLst>
    <pc:chgData name="Rohan Myron Oprisko" userId="a7c52ab4-f8b1-4d15-aaf6-6388cc510347" providerId="ADAL" clId="{97C26823-81C0-4343-94EC-E87AB1317939}"/>
    <pc:docChg chg="custSel modSld">
      <pc:chgData name="Rohan Myron Oprisko" userId="a7c52ab4-f8b1-4d15-aaf6-6388cc510347" providerId="ADAL" clId="{97C26823-81C0-4343-94EC-E87AB1317939}" dt="2026-06-24T15:56:16.369" v="2" actId="22"/>
      <pc:docMkLst>
        <pc:docMk/>
      </pc:docMkLst>
      <pc:sldChg chg="addSp delSp mod">
        <pc:chgData name="Rohan Myron Oprisko" userId="a7c52ab4-f8b1-4d15-aaf6-6388cc510347" providerId="ADAL" clId="{97C26823-81C0-4343-94EC-E87AB1317939}" dt="2026-06-24T15:56:16.369" v="2" actId="22"/>
        <pc:sldMkLst>
          <pc:docMk/>
          <pc:sldMk cId="748044913" sldId="287"/>
        </pc:sldMkLst>
        <pc:spChg chg="add">
          <ac:chgData name="Rohan Myron Oprisko" userId="a7c52ab4-f8b1-4d15-aaf6-6388cc510347" providerId="ADAL" clId="{97C26823-81C0-4343-94EC-E87AB1317939}" dt="2026-06-24T15:56:16.369" v="2" actId="22"/>
          <ac:spMkLst>
            <pc:docMk/>
            <pc:sldMk cId="748044913" sldId="287"/>
            <ac:spMk id="10" creationId="{725CF474-6B8E-8033-812C-788F8124101B}"/>
          </ac:spMkLst>
        </pc:spChg>
        <pc:spChg chg="add">
          <ac:chgData name="Rohan Myron Oprisko" userId="a7c52ab4-f8b1-4d15-aaf6-6388cc510347" providerId="ADAL" clId="{97C26823-81C0-4343-94EC-E87AB1317939}" dt="2026-06-24T15:56:16.369" v="2" actId="22"/>
          <ac:spMkLst>
            <pc:docMk/>
            <pc:sldMk cId="748044913" sldId="287"/>
            <ac:spMk id="12" creationId="{E7E9822B-0D58-9A9E-6484-33ED8BC8E61A}"/>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006455"/>
              </a:solidFill>
            </c:spPr>
            <c:extLst>
              <c:ext xmlns:c16="http://schemas.microsoft.com/office/drawing/2014/chart" uri="{C3380CC4-5D6E-409C-BE32-E72D297353CC}">
                <c16:uniqueId val="{00000001-4D71-43D5-87CC-5A236AE8496F}"/>
              </c:ext>
            </c:extLst>
          </c:dPt>
          <c:dPt>
            <c:idx val="1"/>
            <c:bubble3D val="0"/>
            <c:spPr>
              <a:solidFill>
                <a:schemeClr val="tx2"/>
              </a:solidFill>
            </c:spPr>
            <c:extLst>
              <c:ext xmlns:c16="http://schemas.microsoft.com/office/drawing/2014/chart" uri="{C3380CC4-5D6E-409C-BE32-E72D297353CC}">
                <c16:uniqueId val="{00000003-4D71-43D5-87CC-5A236AE8496F}"/>
              </c:ext>
            </c:extLst>
          </c:dPt>
          <c:dPt>
            <c:idx val="2"/>
            <c:bubble3D val="0"/>
            <c:spPr>
              <a:solidFill>
                <a:srgbClr val="691C32"/>
              </a:solidFill>
            </c:spPr>
            <c:extLst>
              <c:ext xmlns:c16="http://schemas.microsoft.com/office/drawing/2014/chart" uri="{C3380CC4-5D6E-409C-BE32-E72D297353CC}">
                <c16:uniqueId val="{00000005-4D71-43D5-87CC-5A236AE8496F}"/>
              </c:ext>
            </c:extLst>
          </c:dPt>
          <c:dPt>
            <c:idx val="3"/>
            <c:bubble3D val="0"/>
            <c:spPr>
              <a:solidFill>
                <a:srgbClr val="BC955C"/>
              </a:solidFill>
            </c:spPr>
            <c:extLst>
              <c:ext xmlns:c16="http://schemas.microsoft.com/office/drawing/2014/chart" uri="{C3380CC4-5D6E-409C-BE32-E72D297353CC}">
                <c16:uniqueId val="{00000007-4D71-43D5-87CC-5A236AE8496F}"/>
              </c:ext>
            </c:extLst>
          </c:dPt>
          <c:dPt>
            <c:idx val="4"/>
            <c:bubble3D val="0"/>
            <c:spPr>
              <a:solidFill>
                <a:srgbClr val="9E9E9E"/>
              </a:solidFill>
            </c:spPr>
            <c:extLst>
              <c:ext xmlns:c16="http://schemas.microsoft.com/office/drawing/2014/chart" uri="{C3380CC4-5D6E-409C-BE32-E72D297353CC}">
                <c16:uniqueId val="{00000009-4D71-43D5-87CC-5A236AE8496F}"/>
              </c:ext>
            </c:extLst>
          </c:dPt>
          <c:cat>
            <c:strRef>
              <c:f>Sheet1!$A$2:$A$6</c:f>
              <c:strCache>
                <c:ptCount val="5"/>
                <c:pt idx="0">
                  <c:v>IMSS</c:v>
                </c:pt>
                <c:pt idx="1">
                  <c:v>IMSS Coplamar</c:v>
                </c:pt>
                <c:pt idx="2">
                  <c:v>ISSSTE</c:v>
                </c:pt>
                <c:pt idx="3">
                  <c:v>IMSS-BIENESTAR</c:v>
                </c:pt>
                <c:pt idx="4">
                  <c:v>Otros</c:v>
                </c:pt>
              </c:strCache>
            </c:strRef>
          </c:cat>
          <c:val>
            <c:numRef>
              <c:f>Sheet1!$B$2:$B$6</c:f>
              <c:numCache>
                <c:formatCode>General</c:formatCode>
                <c:ptCount val="5"/>
                <c:pt idx="0">
                  <c:v>692554</c:v>
                </c:pt>
                <c:pt idx="1">
                  <c:v>409391</c:v>
                </c:pt>
                <c:pt idx="2">
                  <c:v>229210</c:v>
                </c:pt>
                <c:pt idx="3">
                  <c:v>391707</c:v>
                </c:pt>
                <c:pt idx="4">
                  <c:v>4036</c:v>
                </c:pt>
              </c:numCache>
            </c:numRef>
          </c:val>
          <c:extLst>
            <c:ext xmlns:c16="http://schemas.microsoft.com/office/drawing/2014/chart" uri="{C3380CC4-5D6E-409C-BE32-E72D297353CC}">
              <c16:uniqueId val="{0000000A-4D71-43D5-87CC-5A236AE8496F}"/>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s-MX"/>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CF96-4170-8FC8-84CBA21E6D11}"/>
              </c:ext>
            </c:extLst>
          </c:dPt>
          <c:dPt>
            <c:idx val="1"/>
            <c:bubble3D val="0"/>
            <c:spPr>
              <a:solidFill>
                <a:srgbClr val="EBE0D2"/>
              </a:solidFill>
              <a:ln>
                <a:noFill/>
              </a:ln>
            </c:spPr>
            <c:extLst>
              <c:ext xmlns:c16="http://schemas.microsoft.com/office/drawing/2014/chart" uri="{C3380CC4-5D6E-409C-BE32-E72D297353CC}">
                <c16:uniqueId val="{00000003-CF96-4170-8FC8-84CBA21E6D11}"/>
              </c:ext>
            </c:extLst>
          </c:dPt>
          <c:cat>
            <c:strRef>
              <c:f>Sheet1!$A$2:$A$3</c:f>
              <c:strCache>
                <c:ptCount val="2"/>
                <c:pt idx="0">
                  <c:v>Avance</c:v>
                </c:pt>
                <c:pt idx="1">
                  <c:v>Restante</c:v>
                </c:pt>
              </c:strCache>
            </c:strRef>
          </c:cat>
          <c:val>
            <c:numRef>
              <c:f>Sheet1!$B$2:$B$3</c:f>
              <c:numCache>
                <c:formatCode>General</c:formatCode>
                <c:ptCount val="2"/>
                <c:pt idx="0">
                  <c:v>44.554485424852118</c:v>
                </c:pt>
                <c:pt idx="1">
                  <c:v>55.445514575147882</c:v>
                </c:pt>
              </c:numCache>
            </c:numRef>
          </c:val>
          <c:extLst>
            <c:ext xmlns:c16="http://schemas.microsoft.com/office/drawing/2014/chart" uri="{C3380CC4-5D6E-409C-BE32-E72D297353CC}">
              <c16:uniqueId val="{00000004-CF96-4170-8FC8-84CBA21E6D11}"/>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title>
      <c:overlay val="0"/>
    </c:title>
    <c:autoTitleDeleted val="0"/>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84AA-4459-97C5-60C45C9FF57C}"/>
              </c:ext>
            </c:extLst>
          </c:dPt>
          <c:dPt>
            <c:idx val="1"/>
            <c:bubble3D val="0"/>
            <c:spPr>
              <a:solidFill>
                <a:srgbClr val="EBE0D2"/>
              </a:solidFill>
              <a:ln>
                <a:noFill/>
              </a:ln>
            </c:spPr>
            <c:extLst>
              <c:ext xmlns:c16="http://schemas.microsoft.com/office/drawing/2014/chart" uri="{C3380CC4-5D6E-409C-BE32-E72D297353CC}">
                <c16:uniqueId val="{00000003-84AA-4459-97C5-60C45C9FF57C}"/>
              </c:ext>
            </c:extLst>
          </c:dPt>
          <c:cat>
            <c:strRef>
              <c:f>Sheet1!$A$2:$A$3</c:f>
              <c:strCache>
                <c:ptCount val="2"/>
                <c:pt idx="0">
                  <c:v>Avance</c:v>
                </c:pt>
                <c:pt idx="1">
                  <c:v>Restante</c:v>
                </c:pt>
              </c:strCache>
            </c:strRef>
          </c:cat>
          <c:val>
            <c:numRef>
              <c:f>Sheet1!$B$2:$B$3</c:f>
              <c:numCache>
                <c:formatCode>General</c:formatCode>
                <c:ptCount val="2"/>
                <c:pt idx="0">
                  <c:v>6.8173843859999996</c:v>
                </c:pt>
                <c:pt idx="1">
                  <c:v>93.182615613999999</c:v>
                </c:pt>
              </c:numCache>
            </c:numRef>
          </c:val>
          <c:extLst>
            <c:ext xmlns:c16="http://schemas.microsoft.com/office/drawing/2014/chart" uri="{C3380CC4-5D6E-409C-BE32-E72D297353CC}">
              <c16:uniqueId val="{00000004-84AA-4459-97C5-60C45C9FF57C}"/>
            </c:ext>
          </c:extLst>
        </c:ser>
        <c:dLbls>
          <c:showLegendKey val="0"/>
          <c:showVal val="0"/>
          <c:showCatName val="0"/>
          <c:showSerName val="0"/>
          <c:showPercent val="0"/>
          <c:showBubbleSize val="0"/>
          <c:showLeaderLines val="1"/>
        </c:dLbls>
        <c:firstSliceAng val="0"/>
        <c:holeSize val="70"/>
      </c:doughnutChart>
    </c:plotArea>
    <c:plotVisOnly val="1"/>
    <c:dispBlanksAs val="zero"/>
    <c:showDLblsOverMax val="1"/>
  </c:char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c:style val="2"/>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EB99-4C1D-B893-078E089DF184}"/>
              </c:ext>
            </c:extLst>
          </c:dPt>
          <c:dPt>
            <c:idx val="1"/>
            <c:bubble3D val="0"/>
            <c:spPr>
              <a:solidFill>
                <a:srgbClr val="EBE0D2"/>
              </a:solidFill>
              <a:ln>
                <a:noFill/>
              </a:ln>
            </c:spPr>
            <c:extLst>
              <c:ext xmlns:c16="http://schemas.microsoft.com/office/drawing/2014/chart" uri="{C3380CC4-5D6E-409C-BE32-E72D297353CC}">
                <c16:uniqueId val="{00000003-EB99-4C1D-B893-078E089DF184}"/>
              </c:ext>
            </c:extLst>
          </c:dPt>
          <c:cat>
            <c:strRef>
              <c:f>Sheet1!$A$2:$A$3</c:f>
              <c:strCache>
                <c:ptCount val="2"/>
                <c:pt idx="0">
                  <c:v>Avance</c:v>
                </c:pt>
                <c:pt idx="1">
                  <c:v>Restante</c:v>
                </c:pt>
              </c:strCache>
            </c:strRef>
          </c:cat>
          <c:val>
            <c:numRef>
              <c:f>Sheet1!$B$2:$B$3</c:f>
              <c:numCache>
                <c:formatCode>General</c:formatCode>
                <c:ptCount val="2"/>
                <c:pt idx="0">
                  <c:v>44.310220200631164</c:v>
                </c:pt>
                <c:pt idx="1">
                  <c:v>55.689779799368836</c:v>
                </c:pt>
              </c:numCache>
            </c:numRef>
          </c:val>
          <c:extLst>
            <c:ext xmlns:c16="http://schemas.microsoft.com/office/drawing/2014/chart" uri="{C3380CC4-5D6E-409C-BE32-E72D297353CC}">
              <c16:uniqueId val="{00000004-EB99-4C1D-B893-078E089DF184}"/>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strCache>
            </c:strRef>
          </c:tx>
          <c:dPt>
            <c:idx val="0"/>
            <c:bubble3D val="0"/>
            <c:spPr>
              <a:solidFill>
                <a:srgbClr val="641C34"/>
              </a:solidFill>
              <a:ln>
                <a:noFill/>
              </a:ln>
            </c:spPr>
            <c:extLst>
              <c:ext xmlns:c16="http://schemas.microsoft.com/office/drawing/2014/chart" uri="{C3380CC4-5D6E-409C-BE32-E72D297353CC}">
                <c16:uniqueId val="{00000001-5DE9-4D12-B45A-43CC2FFDEDC4}"/>
              </c:ext>
            </c:extLst>
          </c:dPt>
          <c:dPt>
            <c:idx val="1"/>
            <c:bubble3D val="0"/>
            <c:spPr>
              <a:solidFill>
                <a:srgbClr val="EBE0D2"/>
              </a:solidFill>
              <a:ln>
                <a:noFill/>
              </a:ln>
            </c:spPr>
            <c:extLst>
              <c:ext xmlns:c16="http://schemas.microsoft.com/office/drawing/2014/chart" uri="{C3380CC4-5D6E-409C-BE32-E72D297353CC}">
                <c16:uniqueId val="{00000003-5DE9-4D12-B45A-43CC2FFDEDC4}"/>
              </c:ext>
            </c:extLst>
          </c:dPt>
          <c:cat>
            <c:strRef>
              <c:f>Sheet1!$A$2:$A$3</c:f>
              <c:strCache>
                <c:ptCount val="2"/>
                <c:pt idx="0">
                  <c:v>Avance</c:v>
                </c:pt>
                <c:pt idx="1">
                  <c:v>Restante</c:v>
                </c:pt>
              </c:strCache>
            </c:strRef>
          </c:cat>
          <c:val>
            <c:numRef>
              <c:f>Sheet1!$B$2:$B$3</c:f>
              <c:numCache>
                <c:formatCode>General</c:formatCode>
                <c:ptCount val="2"/>
                <c:pt idx="0">
                  <c:v>39.653448850383207</c:v>
                </c:pt>
                <c:pt idx="1">
                  <c:v>60.346551149616793</c:v>
                </c:pt>
              </c:numCache>
            </c:numRef>
          </c:val>
          <c:extLst>
            <c:ext xmlns:c16="http://schemas.microsoft.com/office/drawing/2014/chart" uri="{C3380CC4-5D6E-409C-BE32-E72D297353CC}">
              <c16:uniqueId val="{00000004-5DE9-4D12-B45A-43CC2FFDEDC4}"/>
            </c:ext>
          </c:extLst>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lang="es-MX"/>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strCache>
            </c:strRef>
          </c:tx>
          <c:spPr>
            <a:solidFill>
              <a:srgbClr val="006455"/>
            </a:solidFill>
          </c:spPr>
          <c:invertIfNegative val="1"/>
          <c:dPt>
            <c:idx val="3"/>
            <c:invertIfNegative val="1"/>
            <c:bubble3D val="0"/>
            <c:spPr>
              <a:solidFill>
                <a:srgbClr val="691C32"/>
              </a:solidFill>
            </c:spPr>
            <c:extLst>
              <c:ext xmlns:c16="http://schemas.microsoft.com/office/drawing/2014/chart" uri="{C3380CC4-5D6E-409C-BE32-E72D297353CC}">
                <c16:uniqueId val="{00000001-B73F-4E38-955B-6A8F0C853036}"/>
              </c:ext>
            </c:extLst>
          </c:dPt>
          <c:dLbls>
            <c:numFmt formatCode="#,##0" sourceLinked="0"/>
            <c:spPr>
              <a:noFill/>
              <a:ln>
                <a:noFill/>
              </a:ln>
              <a:effectLst/>
            </c:spPr>
            <c:txPr>
              <a:bodyPr/>
              <a:lstStyle/>
              <a:p>
                <a:pPr>
                  <a:defRPr sz="1000" b="1">
                    <a:solidFill>
                      <a:srgbClr val="FFFFFF"/>
                    </a:solidFill>
                    <a:latin typeface="Montserrat"/>
                  </a:defRPr>
                </a:pPr>
                <a:endParaRPr lang="es-MX"/>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2018</c:v>
                </c:pt>
                <c:pt idx="1">
                  <c:v>2024</c:v>
                </c:pt>
                <c:pt idx="2">
                  <c:v>2025</c:v>
                </c:pt>
                <c:pt idx="3">
                  <c:v>2026</c:v>
                </c:pt>
              </c:strCache>
            </c:strRef>
          </c:cat>
          <c:val>
            <c:numRef>
              <c:f>Sheet1!$B$2:$B$5</c:f>
              <c:numCache>
                <c:formatCode>General</c:formatCode>
                <c:ptCount val="4"/>
                <c:pt idx="0">
                  <c:v>20</c:v>
                </c:pt>
                <c:pt idx="1">
                  <c:v>75</c:v>
                </c:pt>
                <c:pt idx="2">
                  <c:v>56</c:v>
                </c:pt>
                <c:pt idx="3">
                  <c:v>27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B73F-4E38-955B-6A8F0C853036}"/>
            </c:ext>
          </c:extLst>
        </c:ser>
        <c:dLbls>
          <c:dLblPos val="inEnd"/>
          <c:showLegendKey val="0"/>
          <c:showVal val="1"/>
          <c:showCatName val="0"/>
          <c:showSerName val="0"/>
          <c:showPercent val="0"/>
          <c:showBubbleSize val="0"/>
        </c:dLbls>
        <c:gapWidth val="100"/>
        <c:axId val="232752640"/>
        <c:axId val="232764160"/>
      </c:barChart>
      <c:catAx>
        <c:axId val="232752640"/>
        <c:scaling>
          <c:orientation val="minMax"/>
        </c:scaling>
        <c:delete val="0"/>
        <c:axPos val="b"/>
        <c:numFmt formatCode="General" sourceLinked="0"/>
        <c:majorTickMark val="out"/>
        <c:minorTickMark val="none"/>
        <c:tickLblPos val="nextTo"/>
        <c:spPr>
          <a:ln>
            <a:solidFill>
              <a:srgbClr val="C8C8C8"/>
            </a:solidFill>
          </a:ln>
        </c:spPr>
        <c:txPr>
          <a:bodyPr/>
          <a:lstStyle/>
          <a:p>
            <a:pPr>
              <a:defRPr sz="1000" b="0">
                <a:latin typeface="Montserrat"/>
              </a:defRPr>
            </a:pPr>
            <a:endParaRPr lang="es-MX"/>
          </a:p>
        </c:txPr>
        <c:crossAx val="232764160"/>
        <c:crosses val="autoZero"/>
        <c:auto val="1"/>
        <c:lblAlgn val="ctr"/>
        <c:lblOffset val="100"/>
        <c:noMultiLvlLbl val="0"/>
      </c:catAx>
      <c:valAx>
        <c:axId val="232764160"/>
        <c:scaling>
          <c:orientation val="minMax"/>
        </c:scaling>
        <c:delete val="1"/>
        <c:axPos val="l"/>
        <c:numFmt formatCode="General" sourceLinked="1"/>
        <c:majorTickMark val="out"/>
        <c:minorTickMark val="none"/>
        <c:tickLblPos val="nextTo"/>
        <c:crossAx val="232752640"/>
        <c:crosses val="autoZero"/>
        <c:crossBetween val="between"/>
      </c:valAx>
    </c:plotArea>
    <c:plotVisOnly val="1"/>
    <c:dispBlanksAs val="gap"/>
    <c:showDLblsOverMax val="1"/>
  </c:chart>
  <c:txPr>
    <a:bodyPr/>
    <a:lstStyle/>
    <a:p>
      <a:pPr>
        <a:defRPr sz="1800"/>
      </a:pPr>
      <a:endParaRPr lang="es-MX"/>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bar"/>
        <c:grouping val="clustered"/>
        <c:varyColors val="1"/>
        <c:ser>
          <c:idx val="0"/>
          <c:order val="0"/>
          <c:tx>
            <c:strRef>
              <c:f>Sheet1!$B$1</c:f>
              <c:strCache>
                <c:ptCount val="1"/>
                <c:pt idx="0">
                  <c:v>Mes Anterior</c:v>
                </c:pt>
              </c:strCache>
            </c:strRef>
          </c:tx>
          <c:spPr>
            <a:solidFill>
              <a:srgbClr val="006455"/>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Agricultura, Ganaderia, Silvicultura, Pesca y Caza</c:v>
                </c:pt>
                <c:pt idx="1">
                  <c:v>Servicios Sociales y Comunales</c:v>
                </c:pt>
                <c:pt idx="2">
                  <c:v>Comercio</c:v>
                </c:pt>
                <c:pt idx="3">
                  <c:v>Servicios para Empresas, Personas y el Hogar</c:v>
                </c:pt>
                <c:pt idx="4">
                  <c:v>Industrias Extractivas</c:v>
                </c:pt>
                <c:pt idx="5">
                  <c:v>Industria de la Construcción</c:v>
                </c:pt>
                <c:pt idx="6">
                  <c:v>Transportes y Comunicaciones</c:v>
                </c:pt>
                <c:pt idx="7">
                  <c:v>Ind Eléctrica y Captación y Suministro de Agua Potable</c:v>
                </c:pt>
                <c:pt idx="8">
                  <c:v>Industrias de la Transformación</c:v>
                </c:pt>
              </c:strCache>
            </c:strRef>
          </c:cat>
          <c:val>
            <c:numRef>
              <c:f>Sheet1!$B$2:$B$10</c:f>
              <c:numCache>
                <c:formatCode>General</c:formatCode>
                <c:ptCount val="9"/>
                <c:pt idx="0">
                  <c:v>6546</c:v>
                </c:pt>
                <c:pt idx="1">
                  <c:v>50828</c:v>
                </c:pt>
                <c:pt idx="2">
                  <c:v>36239</c:v>
                </c:pt>
                <c:pt idx="3">
                  <c:v>17942</c:v>
                </c:pt>
                <c:pt idx="4">
                  <c:v>14946</c:v>
                </c:pt>
                <c:pt idx="5">
                  <c:v>16134</c:v>
                </c:pt>
                <c:pt idx="6">
                  <c:v>8372</c:v>
                </c:pt>
                <c:pt idx="7">
                  <c:v>1975</c:v>
                </c:pt>
                <c:pt idx="8">
                  <c:v>36878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D77-48F0-9F55-25BD2E3B1D9B}"/>
            </c:ext>
          </c:extLst>
        </c:ser>
        <c:ser>
          <c:idx val="1"/>
          <c:order val="1"/>
          <c:tx>
            <c:strRef>
              <c:f>Sheet1!$C$1</c:f>
              <c:strCache>
                <c:ptCount val="1"/>
                <c:pt idx="0">
                  <c:v>Mes Actual</c:v>
                </c:pt>
              </c:strCache>
            </c:strRef>
          </c:tx>
          <c:spPr>
            <a:solidFill>
              <a:srgbClr val="9F2241"/>
            </a:solidFill>
          </c:spPr>
          <c:invertIfNegative val="1"/>
          <c:dLbls>
            <c:numFmt formatCode="#,##0" sourceLinked="0"/>
            <c:spPr>
              <a:noFill/>
              <a:ln>
                <a:noFill/>
              </a:ln>
              <a:effectLst/>
            </c:spPr>
            <c:txPr>
              <a:bodyPr/>
              <a:lstStyle/>
              <a:p>
                <a:pPr>
                  <a:defRPr sz="800" b="1">
                    <a:solidFill>
                      <a:srgbClr val="000000"/>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Agricultura, Ganaderia, Silvicultura, Pesca y Caza</c:v>
                </c:pt>
                <c:pt idx="1">
                  <c:v>Servicios Sociales y Comunales</c:v>
                </c:pt>
                <c:pt idx="2">
                  <c:v>Comercio</c:v>
                </c:pt>
                <c:pt idx="3">
                  <c:v>Servicios para Empresas, Personas y el Hogar</c:v>
                </c:pt>
                <c:pt idx="4">
                  <c:v>Industrias Extractivas</c:v>
                </c:pt>
                <c:pt idx="5">
                  <c:v>Industria de la Construcción</c:v>
                </c:pt>
                <c:pt idx="6">
                  <c:v>Transportes y Comunicaciones</c:v>
                </c:pt>
                <c:pt idx="7">
                  <c:v>Ind Eléctrica y Captación y Suministro de Agua Potable</c:v>
                </c:pt>
                <c:pt idx="8">
                  <c:v>Industrias de la Transformación</c:v>
                </c:pt>
              </c:strCache>
            </c:strRef>
          </c:cat>
          <c:val>
            <c:numRef>
              <c:f>Sheet1!$C$2:$C$10</c:f>
              <c:numCache>
                <c:formatCode>General</c:formatCode>
                <c:ptCount val="9"/>
                <c:pt idx="0">
                  <c:v>3797</c:v>
                </c:pt>
                <c:pt idx="1">
                  <c:v>50191</c:v>
                </c:pt>
                <c:pt idx="2">
                  <c:v>36261</c:v>
                </c:pt>
                <c:pt idx="3">
                  <c:v>18011</c:v>
                </c:pt>
                <c:pt idx="4">
                  <c:v>15225</c:v>
                </c:pt>
                <c:pt idx="5">
                  <c:v>16642</c:v>
                </c:pt>
                <c:pt idx="6">
                  <c:v>8656</c:v>
                </c:pt>
                <c:pt idx="7">
                  <c:v>2048</c:v>
                </c:pt>
                <c:pt idx="8">
                  <c:v>39105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D77-48F0-9F55-25BD2E3B1D9B}"/>
            </c:ext>
          </c:extLst>
        </c:ser>
        <c:dLbls>
          <c:showLegendKey val="0"/>
          <c:showVal val="0"/>
          <c:showCatName val="0"/>
          <c:showSerName val="0"/>
          <c:showPercent val="0"/>
          <c:showBubbleSize val="0"/>
        </c:dLbls>
        <c:gapWidth val="50"/>
        <c:axId val="233337984"/>
        <c:axId val="233339520"/>
      </c:barChart>
      <c:catAx>
        <c:axId val="233337984"/>
        <c:scaling>
          <c:orientation val="maxMin"/>
        </c:scaling>
        <c:delete val="0"/>
        <c:axPos val="l"/>
        <c:numFmt formatCode="General" sourceLinked="0"/>
        <c:majorTickMark val="out"/>
        <c:minorTickMark val="none"/>
        <c:tickLblPos val="nextTo"/>
        <c:txPr>
          <a:bodyPr/>
          <a:lstStyle/>
          <a:p>
            <a:pPr>
              <a:defRPr sz="700" b="1">
                <a:solidFill>
                  <a:srgbClr val="000000"/>
                </a:solidFill>
                <a:latin typeface="Montserrat"/>
              </a:defRPr>
            </a:pPr>
            <a:endParaRPr lang="es-MX"/>
          </a:p>
        </c:txPr>
        <c:crossAx val="233339520"/>
        <c:crosses val="autoZero"/>
        <c:auto val="1"/>
        <c:lblAlgn val="ctr"/>
        <c:lblOffset val="100"/>
        <c:noMultiLvlLbl val="0"/>
      </c:catAx>
      <c:valAx>
        <c:axId val="233339520"/>
        <c:scaling>
          <c:orientation val="minMax"/>
        </c:scaling>
        <c:delete val="1"/>
        <c:axPos val="t"/>
        <c:numFmt formatCode="General" sourceLinked="1"/>
        <c:majorTickMark val="out"/>
        <c:minorTickMark val="none"/>
        <c:tickLblPos val="nextTo"/>
        <c:crossAx val="233337984"/>
        <c:crosses val="autoZero"/>
        <c:crossBetween val="between"/>
      </c:valAx>
    </c:plotArea>
    <c:plotVisOnly val="1"/>
    <c:dispBlanksAs val="gap"/>
    <c:showDLblsOverMax val="1"/>
  </c:chart>
  <c:txPr>
    <a:bodyPr/>
    <a:lstStyle/>
    <a:p>
      <a:pPr>
        <a:defRPr sz="1800"/>
      </a:pPr>
      <a:endParaRPr lang="es-MX"/>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1"/>
        <c:ser>
          <c:idx val="0"/>
          <c:order val="0"/>
          <c:tx>
            <c:strRef>
              <c:f>Sheet1!$B$1</c:f>
              <c:strCache>
                <c:ptCount val="1"/>
                <c:pt idx="0">
                  <c:v>Total</c:v>
                </c:pt>
              </c:strCache>
            </c:strRef>
          </c:tx>
          <c:spPr>
            <a:solidFill>
              <a:srgbClr val="006455"/>
            </a:solidFill>
          </c:spPr>
          <c:invertIfNegative val="1"/>
          <c:dLbls>
            <c:numFmt formatCode="#,##0" sourceLinked="0"/>
            <c:spPr>
              <a:noFill/>
              <a:ln>
                <a:noFill/>
              </a:ln>
              <a:effectLst/>
            </c:spPr>
            <c:txPr>
              <a:bodyPr/>
              <a:lstStyle/>
              <a:p>
                <a:pPr>
                  <a:defRPr sz="1000" b="1">
                    <a:solidFill>
                      <a:srgbClr val="006455"/>
                    </a:solidFill>
                    <a:latin typeface="Montserra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183796</c:v>
                </c:pt>
                <c:pt idx="1">
                  <c:v>186385</c:v>
                </c:pt>
                <c:pt idx="2">
                  <c:v>182368</c:v>
                </c:pt>
                <c:pt idx="3">
                  <c:v>189898</c:v>
                </c:pt>
                <c:pt idx="4">
                  <c:v>195805</c:v>
                </c:pt>
                <c:pt idx="5">
                  <c:v>198536</c:v>
                </c:pt>
                <c:pt idx="6">
                  <c:v>196929</c:v>
                </c:pt>
                <c:pt idx="7">
                  <c:v>189860</c:v>
                </c:pt>
                <c:pt idx="8">
                  <c:v>189936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2D3-4A6E-BA9F-4B71744D2D88}"/>
            </c:ext>
          </c:extLst>
        </c:ser>
        <c:dLbls>
          <c:showLegendKey val="0"/>
          <c:showVal val="0"/>
          <c:showCatName val="0"/>
          <c:showSerName val="0"/>
          <c:showPercent val="0"/>
          <c:showBubbleSize val="0"/>
        </c:dLbls>
        <c:gapWidth val="50"/>
        <c:axId val="139844608"/>
        <c:axId val="234230528"/>
      </c:barChart>
      <c:catAx>
        <c:axId val="139844608"/>
        <c:scaling>
          <c:orientation val="minMax"/>
        </c:scaling>
        <c:delete val="1"/>
        <c:axPos val="b"/>
        <c:numFmt formatCode="General" sourceLinked="0"/>
        <c:majorTickMark val="out"/>
        <c:minorTickMark val="none"/>
        <c:tickLblPos val="nextTo"/>
        <c:crossAx val="234230528"/>
        <c:crosses val="autoZero"/>
        <c:auto val="1"/>
        <c:lblAlgn val="ctr"/>
        <c:lblOffset val="100"/>
        <c:noMultiLvlLbl val="0"/>
      </c:catAx>
      <c:valAx>
        <c:axId val="234230528"/>
        <c:scaling>
          <c:orientation val="minMax"/>
        </c:scaling>
        <c:delete val="1"/>
        <c:axPos val="l"/>
        <c:numFmt formatCode="General" sourceLinked="1"/>
        <c:majorTickMark val="out"/>
        <c:minorTickMark val="none"/>
        <c:tickLblPos val="nextTo"/>
        <c:crossAx val="139844608"/>
        <c:crosses val="autoZero"/>
        <c:crossBetween val="between"/>
      </c:valAx>
    </c:plotArea>
    <c:plotVisOnly val="1"/>
    <c:dispBlanksAs val="gap"/>
    <c:showDLblsOverMax val="1"/>
  </c:chart>
  <c:txPr>
    <a:bodyPr/>
    <a:lstStyle/>
    <a:p>
      <a:pPr>
        <a:defRPr sz="1800"/>
      </a:pPr>
      <a:endParaRPr lang="es-MX"/>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42251111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370e87ffe7a_0_0: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3" name="Google Shape;503;g370e87ffe7a_0_0: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504" name="Google Shape;504;g370e87ffe7a_0_0: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2.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chart" Target="../charts/chart1.xml"/><Relationship Id="rId10" Type="http://schemas.openxmlformats.org/officeDocument/2006/relationships/image" Target="../media/image18.png"/><Relationship Id="rId4" Type="http://schemas.openxmlformats.org/officeDocument/2006/relationships/image" Target="../media/image13.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chart" Target="../charts/chart5.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2.png"/><Relationship Id="rId7"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chart" Target="../charts/chart6.xml"/><Relationship Id="rId4" Type="http://schemas.openxmlformats.org/officeDocument/2006/relationships/image" Target="../media/image27.png"/><Relationship Id="rId9"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37.png"/><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Zacatecas</a:t>
            </a:r>
          </a:p>
        </p:txBody>
      </p:sp>
      <p:sp>
        <p:nvSpPr>
          <p:cNvPr id="70" name="TextBox 69"/>
          <p:cNvSpPr txBox="1"/>
          <p:nvPr/>
        </p:nvSpPr>
        <p:spPr>
          <a:xfrm>
            <a:off x="3176711" y="5472000"/>
            <a:ext cx="1418978" cy="553998"/>
          </a:xfrm>
          <a:prstGeom prst="rect">
            <a:avLst/>
          </a:prstGeom>
          <a:noFill/>
        </p:spPr>
        <p:txBody>
          <a:bodyPr wrap="none">
            <a:spAutoFit/>
          </a:bodyPr>
          <a:lstStyle/>
          <a:p>
            <a:pPr algn="ctr">
              <a:defRPr sz="1500" b="0">
                <a:solidFill>
                  <a:srgbClr val="7F7F7F"/>
                </a:solidFill>
                <a:latin typeface="Montserrat"/>
              </a:defRPr>
            </a:pPr>
            <a:r>
              <a:rPr dirty="0" err="1"/>
              <a:t>Ficha</a:t>
            </a:r>
            <a:r>
              <a:rPr dirty="0"/>
              <a:t> Estatal</a:t>
            </a:r>
          </a:p>
          <a:p>
            <a:pPr algn="ctr">
              <a:defRPr sz="1500" b="1">
                <a:solidFill>
                  <a:srgbClr val="7F7F7F"/>
                </a:solidFill>
                <a:latin typeface="Montserrat"/>
              </a:defRPr>
            </a:pPr>
            <a:r>
              <a:rPr dirty="0"/>
              <a:t>Ju</a:t>
            </a:r>
            <a:r>
              <a:rPr lang="es-MX" dirty="0"/>
              <a:t>l</a:t>
            </a:r>
            <a:r>
              <a:rPr dirty="0"/>
              <a:t>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 name="Google Shape;66;p15">
            <a:extLst>
              <a:ext uri="{FF2B5EF4-FFF2-40B4-BE49-F238E27FC236}">
                <a16:creationId xmlns:a16="http://schemas.microsoft.com/office/drawing/2014/main" id="{B0E8B76D-BA09-513C-8A34-62771BC62150}"/>
              </a:ext>
            </a:extLst>
          </p:cNvPr>
          <p:cNvSpPr/>
          <p:nvPr/>
        </p:nvSpPr>
        <p:spPr>
          <a:xfrm>
            <a:off x="0" y="566113"/>
            <a:ext cx="7772400" cy="1771800"/>
          </a:xfrm>
          <a:prstGeom prst="rect">
            <a:avLst/>
          </a:prstGeom>
          <a:solidFill>
            <a:srgbClr val="D9D9D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7" name="Google Shape;67;p15">
            <a:extLst>
              <a:ext uri="{FF2B5EF4-FFF2-40B4-BE49-F238E27FC236}">
                <a16:creationId xmlns:a16="http://schemas.microsoft.com/office/drawing/2014/main" id="{9F501525-8E0F-99BE-81C2-F01ABB7CBF05}"/>
              </a:ext>
            </a:extLst>
          </p:cNvPr>
          <p:cNvGraphicFramePr/>
          <p:nvPr>
            <p:extLst>
              <p:ext uri="{D42A27DB-BD31-4B8C-83A1-F6EECF244321}">
                <p14:modId xmlns:p14="http://schemas.microsoft.com/office/powerpoint/2010/main" val="3008645476"/>
              </p:ext>
            </p:extLst>
          </p:nvPr>
        </p:nvGraphicFramePr>
        <p:xfrm>
          <a:off x="1076138" y="2414143"/>
          <a:ext cx="5153950" cy="6524200"/>
        </p:xfrm>
        <a:graphic>
          <a:graphicData uri="http://schemas.openxmlformats.org/drawingml/2006/table">
            <a:tbl>
              <a:tblPr>
                <a:noFill/>
              </a:tblPr>
              <a:tblGrid>
                <a:gridCol w="1738675">
                  <a:extLst>
                    <a:ext uri="{9D8B030D-6E8A-4147-A177-3AD203B41FA5}">
                      <a16:colId xmlns:a16="http://schemas.microsoft.com/office/drawing/2014/main" val="20000"/>
                    </a:ext>
                  </a:extLst>
                </a:gridCol>
                <a:gridCol w="2681700">
                  <a:extLst>
                    <a:ext uri="{9D8B030D-6E8A-4147-A177-3AD203B41FA5}">
                      <a16:colId xmlns:a16="http://schemas.microsoft.com/office/drawing/2014/main" val="20001"/>
                    </a:ext>
                  </a:extLst>
                </a:gridCol>
                <a:gridCol w="733575">
                  <a:extLst>
                    <a:ext uri="{9D8B030D-6E8A-4147-A177-3AD203B41FA5}">
                      <a16:colId xmlns:a16="http://schemas.microsoft.com/office/drawing/2014/main" val="20002"/>
                    </a:ext>
                  </a:extLst>
                </a:gridCol>
              </a:tblGrid>
              <a:tr h="86592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Prestaciones Médicas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chemeClr val="dk1"/>
                        </a:buClr>
                        <a:buSzPts val="1100"/>
                        <a:buFont typeface="Arial"/>
                        <a:buNone/>
                      </a:pPr>
                      <a:r>
                        <a:rPr lang="es" sz="1000" b="1" u="none" strike="noStrike" cap="none" dirty="0">
                          <a:solidFill>
                            <a:schemeClr val="dk1"/>
                          </a:solidFill>
                          <a:latin typeface="Montserrat"/>
                          <a:ea typeface="Montserrat"/>
                          <a:cs typeface="Montserrat"/>
                          <a:sym typeface="Montserrat"/>
                        </a:rPr>
                        <a:t>Dr. Guillermo Franco Gil</a:t>
                      </a:r>
                      <a:endParaRPr sz="1000" b="1"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Medicina y Especialidad en Medicina Familiar, Maestría en Administración de Hospitales</a:t>
                      </a:r>
                      <a:endParaRPr sz="100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Inicio en el cargo: 01 de julio 2024</a:t>
                      </a:r>
                      <a:endParaRPr sz="10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88622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Salud en el Trabajo, Prestaciones Económicas y Sociales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chemeClr val="dk1"/>
                        </a:buClr>
                        <a:buSzPts val="1100"/>
                        <a:buFont typeface="Arial"/>
                        <a:buNone/>
                      </a:pPr>
                      <a:r>
                        <a:rPr lang="es" sz="1000" b="1" u="none" strike="noStrike" cap="none" dirty="0">
                          <a:solidFill>
                            <a:schemeClr val="dk1"/>
                          </a:solidFill>
                          <a:latin typeface="Montserrat"/>
                          <a:ea typeface="Montserrat"/>
                          <a:cs typeface="Montserrat"/>
                          <a:sym typeface="Montserrat"/>
                        </a:rPr>
                        <a:t>Dr. José Manuel Enciso Castillo</a:t>
                      </a:r>
                      <a:endParaRPr sz="1000" b="1"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Licenciatura en Ciencias de la Información y Comunicación</a:t>
                      </a:r>
                      <a:endParaRPr sz="100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Inicio en el cargo: </a:t>
                      </a:r>
                      <a:r>
                        <a:rPr lang="es" sz="1000" dirty="0">
                          <a:solidFill>
                            <a:schemeClr val="dk1"/>
                          </a:solidFill>
                          <a:latin typeface="Montserrat"/>
                          <a:ea typeface="Montserrat"/>
                          <a:cs typeface="Montserrat"/>
                          <a:sym typeface="Montserrat"/>
                        </a:rPr>
                        <a:t>16 Agosto 2014</a:t>
                      </a:r>
                      <a:endParaRPr sz="10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1"/>
                  </a:ext>
                </a:extLst>
              </a:tr>
              <a:tr h="80747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Afiliación y Cobranza</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chemeClr val="dk1"/>
                        </a:buClr>
                        <a:buSzPts val="1100"/>
                        <a:buFont typeface="Arial"/>
                        <a:buNone/>
                      </a:pPr>
                      <a:r>
                        <a:rPr lang="es" sz="1000" b="1" u="none" strike="noStrike" cap="none" dirty="0">
                          <a:solidFill>
                            <a:schemeClr val="dk1"/>
                          </a:solidFill>
                          <a:latin typeface="Montserrat"/>
                          <a:ea typeface="Montserrat"/>
                          <a:cs typeface="Montserrat"/>
                          <a:sym typeface="Montserrat"/>
                        </a:rPr>
                        <a:t>Lic. Juan Ignacio Ávila León</a:t>
                      </a:r>
                      <a:endParaRPr sz="1000" b="1"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Licenciatura en Economía</a:t>
                      </a:r>
                      <a:endParaRPr sz="100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Inicio en el cargo: 16 de ju</a:t>
                      </a:r>
                      <a:r>
                        <a:rPr lang="es" sz="1000" dirty="0">
                          <a:solidFill>
                            <a:schemeClr val="dk1"/>
                          </a:solidFill>
                          <a:latin typeface="Montserrat"/>
                          <a:ea typeface="Montserrat"/>
                          <a:cs typeface="Montserrat"/>
                          <a:sym typeface="Montserrat"/>
                        </a:rPr>
                        <a:t>nio</a:t>
                      </a:r>
                      <a:r>
                        <a:rPr lang="es" sz="1000" u="none" strike="noStrike" cap="none" dirty="0">
                          <a:solidFill>
                            <a:schemeClr val="dk1"/>
                          </a:solidFill>
                          <a:latin typeface="Montserrat"/>
                          <a:ea typeface="Montserrat"/>
                          <a:cs typeface="Montserrat"/>
                          <a:sym typeface="Montserrat"/>
                        </a:rPr>
                        <a:t> 2020</a:t>
                      </a:r>
                      <a:endParaRPr sz="10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81545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Desarrollo de Personal</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chemeClr val="dk1"/>
                        </a:buClr>
                        <a:buSzPts val="1100"/>
                        <a:buFont typeface="Arial"/>
                        <a:buNone/>
                      </a:pPr>
                      <a:r>
                        <a:rPr lang="es" sz="1000" b="1" u="none" strike="noStrike" cap="none" dirty="0">
                          <a:solidFill>
                            <a:schemeClr val="dk1"/>
                          </a:solidFill>
                          <a:latin typeface="Montserrat"/>
                          <a:ea typeface="Montserrat"/>
                          <a:cs typeface="Montserrat"/>
                          <a:sym typeface="Montserrat"/>
                        </a:rPr>
                        <a:t>Lic. Blanca Estela Rodríguez Zenteno</a:t>
                      </a:r>
                      <a:endParaRPr sz="1000" b="1"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Licenciatura en Contaduría</a:t>
                      </a:r>
                      <a:endParaRPr sz="100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Inicio en el cargo: 01 de junio 2021</a:t>
                      </a:r>
                      <a:endParaRPr sz="1000"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3"/>
                  </a:ext>
                </a:extLst>
              </a:tr>
              <a:tr h="690150">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t>
                      </a:r>
                      <a:br>
                        <a:rPr lang="es" sz="1000" b="1" u="none" strike="noStrike" cap="none">
                          <a:solidFill>
                            <a:schemeClr val="lt1"/>
                          </a:solidFill>
                          <a:latin typeface="Montserrat"/>
                          <a:ea typeface="Montserrat"/>
                          <a:cs typeface="Montserrat"/>
                          <a:sym typeface="Montserrat"/>
                        </a:rPr>
                      </a:br>
                      <a:r>
                        <a:rPr lang="es" sz="1000" b="1" u="none" strike="noStrike" cap="none">
                          <a:solidFill>
                            <a:schemeClr val="lt1"/>
                          </a:solidFill>
                          <a:latin typeface="Montserrat"/>
                          <a:ea typeface="Montserrat"/>
                          <a:cs typeface="Montserrat"/>
                          <a:sym typeface="Montserrat"/>
                        </a:rPr>
                        <a:t>de Finanzas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chemeClr val="dk1"/>
                        </a:buClr>
                        <a:buSzPts val="1100"/>
                        <a:buFont typeface="Arial"/>
                        <a:buNone/>
                      </a:pPr>
                      <a:r>
                        <a:rPr lang="es" sz="1000" b="1" u="none" strike="noStrike" cap="none" dirty="0">
                          <a:solidFill>
                            <a:schemeClr val="dk1"/>
                          </a:solidFill>
                          <a:latin typeface="Montserrat"/>
                          <a:ea typeface="Montserrat"/>
                          <a:cs typeface="Montserrat"/>
                          <a:sym typeface="Montserrat"/>
                        </a:rPr>
                        <a:t>Lic. Paulina Rosales Borrego</a:t>
                      </a:r>
                      <a:endParaRPr sz="1000" b="1"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Licenciatura en Administración de Empresas</a:t>
                      </a:r>
                      <a:endParaRPr sz="100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Inicio en el cargo: 09 de octubre 2020</a:t>
                      </a:r>
                      <a:endParaRPr sz="10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04167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Administrativos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chemeClr val="dk1"/>
                        </a:buClr>
                        <a:buSzPts val="1100"/>
                        <a:buFont typeface="Arial"/>
                        <a:buNone/>
                      </a:pPr>
                      <a:endParaRPr sz="1000" b="1"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b="1" u="none" strike="noStrike" cap="none" dirty="0">
                          <a:solidFill>
                            <a:schemeClr val="dk1"/>
                          </a:solidFill>
                          <a:latin typeface="Montserrat"/>
                          <a:ea typeface="Montserrat"/>
                          <a:cs typeface="Montserrat"/>
                          <a:sym typeface="Montserrat"/>
                        </a:rPr>
                        <a:t>Lic. Edgar Alfredo López Anaya</a:t>
                      </a:r>
                      <a:endParaRPr sz="1000" b="1"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Licenciatura en Administración</a:t>
                      </a:r>
                      <a:endParaRPr sz="100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Inicio en el cargo: 01 de septiembre 2024</a:t>
                      </a:r>
                      <a:endParaRPr sz="100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endParaRPr sz="1000"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2"/>
                    </a:solidFill>
                  </a:tcPr>
                </a:tc>
                <a:extLst>
                  <a:ext uri="{0D108BD9-81ED-4DB2-BD59-A6C34878D82A}">
                    <a16:rowId xmlns:a16="http://schemas.microsoft.com/office/drawing/2014/main" val="10005"/>
                  </a:ext>
                </a:extLst>
              </a:tr>
              <a:tr h="65387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u="none" strike="noStrike" cap="none">
                          <a:solidFill>
                            <a:schemeClr val="lt1"/>
                          </a:solidFill>
                          <a:latin typeface="Montserrat"/>
                          <a:ea typeface="Montserrat"/>
                          <a:cs typeface="Montserrat"/>
                          <a:sym typeface="Montserrat"/>
                        </a:rPr>
                        <a:t>Jefatura de Servicios Jurídicos</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006858"/>
                    </a:solidFill>
                  </a:tcPr>
                </a:tc>
                <a:tc>
                  <a:txBody>
                    <a:bodyPr/>
                    <a:lstStyle/>
                    <a:p>
                      <a:pPr marL="0" marR="0" lvl="0" indent="0" algn="l" rtl="0">
                        <a:lnSpc>
                          <a:spcPct val="107916"/>
                        </a:lnSpc>
                        <a:spcBef>
                          <a:spcPts val="0"/>
                        </a:spcBef>
                        <a:spcAft>
                          <a:spcPts val="0"/>
                        </a:spcAft>
                        <a:buClr>
                          <a:schemeClr val="dk1"/>
                        </a:buClr>
                        <a:buSzPts val="1100"/>
                        <a:buFont typeface="Arial"/>
                        <a:buNone/>
                      </a:pPr>
                      <a:r>
                        <a:rPr lang="es" sz="1000" b="1" u="none" strike="noStrike" cap="none" dirty="0">
                          <a:solidFill>
                            <a:schemeClr val="dk1"/>
                          </a:solidFill>
                          <a:latin typeface="Montserrat"/>
                          <a:ea typeface="Montserrat"/>
                          <a:cs typeface="Montserrat"/>
                          <a:sym typeface="Montserrat"/>
                        </a:rPr>
                        <a:t>Lic. Víctor Hugo Martínez de la Rosa</a:t>
                      </a:r>
                      <a:endParaRPr sz="1000" b="1"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Licenciatura en Derecho</a:t>
                      </a:r>
                      <a:endParaRPr sz="1000" u="none" strike="noStrike" cap="none" dirty="0">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000" u="none" strike="noStrike" cap="none" dirty="0">
                          <a:solidFill>
                            <a:schemeClr val="dk1"/>
                          </a:solidFill>
                          <a:latin typeface="Montserrat"/>
                          <a:ea typeface="Montserrat"/>
                          <a:cs typeface="Montserrat"/>
                          <a:sym typeface="Montserrat"/>
                        </a:rPr>
                        <a:t>Inicio en el cargo: 01 de abril 2008</a:t>
                      </a:r>
                      <a:endParaRPr sz="10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763425">
                <a:tc>
                  <a:txBody>
                    <a:bodyPr/>
                    <a:lstStyle/>
                    <a:p>
                      <a:pPr marL="35999" marR="35999" lvl="0" indent="0" algn="r" rtl="0">
                        <a:lnSpc>
                          <a:spcPct val="100000"/>
                        </a:lnSpc>
                        <a:spcBef>
                          <a:spcPts val="0"/>
                        </a:spcBef>
                        <a:spcAft>
                          <a:spcPts val="0"/>
                        </a:spcAft>
                        <a:buClr>
                          <a:srgbClr val="000000"/>
                        </a:buClr>
                        <a:buSzPts val="1000"/>
                        <a:buFont typeface="Arial"/>
                        <a:buNone/>
                      </a:pPr>
                      <a:r>
                        <a:rPr lang="es" sz="1000" b="1">
                          <a:solidFill>
                            <a:schemeClr val="lt1"/>
                          </a:solidFill>
                          <a:latin typeface="Montserrat"/>
                          <a:ea typeface="Montserrat"/>
                          <a:cs typeface="Montserrat"/>
                          <a:sym typeface="Montserrat"/>
                        </a:rPr>
                        <a:t>Secretario General de la Sección XXIX</a:t>
                      </a:r>
                      <a:endParaRPr sz="1000" b="1" u="none" strike="noStrike" cap="none">
                        <a:solidFill>
                          <a:schemeClr val="lt1"/>
                        </a:solidFill>
                        <a:latin typeface="Montserrat"/>
                        <a:ea typeface="Montserrat"/>
                        <a:cs typeface="Montserrat"/>
                        <a:sym typeface="Montserrat"/>
                      </a:endParaRPr>
                    </a:p>
                  </a:txBody>
                  <a:tcPr marL="0" marR="7200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rgbClr val="006858"/>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r>
                        <a:rPr lang="es" sz="1000" b="1">
                          <a:solidFill>
                            <a:schemeClr val="dk1"/>
                          </a:solidFill>
                          <a:latin typeface="Montserrat"/>
                          <a:ea typeface="Montserrat"/>
                          <a:cs typeface="Montserrat"/>
                          <a:sym typeface="Montserrat"/>
                        </a:rPr>
                        <a:t>Dr. Manuel Hernández Villa </a:t>
                      </a:r>
                      <a:endParaRPr sz="1000" b="1">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rgbClr val="000000"/>
                        </a:buClr>
                        <a:buSzPts val="1000"/>
                        <a:buFont typeface="Arial"/>
                        <a:buNone/>
                      </a:pPr>
                      <a:r>
                        <a:rPr lang="es" sz="1000">
                          <a:solidFill>
                            <a:schemeClr val="dk1"/>
                          </a:solidFill>
                          <a:latin typeface="Montserrat"/>
                          <a:ea typeface="Montserrat"/>
                          <a:cs typeface="Montserrat"/>
                          <a:sym typeface="Montserrat"/>
                        </a:rPr>
                        <a:t>Licenciatura en Medicina </a:t>
                      </a:r>
                      <a:endParaRPr sz="1000">
                        <a:solidFill>
                          <a:schemeClr val="dk1"/>
                        </a:solidFill>
                        <a:latin typeface="Montserrat"/>
                        <a:ea typeface="Montserrat"/>
                        <a:cs typeface="Montserrat"/>
                        <a:sym typeface="Montserrat"/>
                      </a:endParaRPr>
                    </a:p>
                    <a:p>
                      <a:pPr marL="35999" marR="35999" lvl="0" indent="0" algn="l" rtl="0">
                        <a:lnSpc>
                          <a:spcPct val="107916"/>
                        </a:lnSpc>
                        <a:spcBef>
                          <a:spcPts val="0"/>
                        </a:spcBef>
                        <a:spcAft>
                          <a:spcPts val="0"/>
                        </a:spcAft>
                        <a:buClr>
                          <a:srgbClr val="000000"/>
                        </a:buClr>
                        <a:buSzPts val="1100"/>
                        <a:buFont typeface="Arial"/>
                        <a:buNone/>
                      </a:pPr>
                      <a:r>
                        <a:rPr lang="es" sz="1000" b="0" i="0" u="none" strike="noStrike" cap="none">
                          <a:solidFill>
                            <a:schemeClr val="dk1"/>
                          </a:solidFill>
                          <a:latin typeface="Montserrat"/>
                          <a:ea typeface="Montserrat"/>
                          <a:cs typeface="Montserrat"/>
                          <a:sym typeface="Montserrat"/>
                        </a:rPr>
                        <a:t>Inicio en el cargo: 16 noviembre 2022</a:t>
                      </a:r>
                      <a:endParaRPr sz="1000" b="0" i="0" u="none" strike="noStrike" cap="none">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chemeClr val="lt2"/>
                    </a:solidFill>
                  </a:tcPr>
                </a:tc>
                <a:tc>
                  <a:txBody>
                    <a:bodyPr/>
                    <a:lstStyle/>
                    <a:p>
                      <a:pPr marL="35999" marR="35999" lvl="0" indent="0" algn="l" rtl="0">
                        <a:lnSpc>
                          <a:spcPct val="107916"/>
                        </a:lnSpc>
                        <a:spcBef>
                          <a:spcPts val="0"/>
                        </a:spcBef>
                        <a:spcAft>
                          <a:spcPts val="0"/>
                        </a:spcAft>
                        <a:buClr>
                          <a:srgbClr val="000000"/>
                        </a:buClr>
                        <a:buSzPts val="1000"/>
                        <a:buFont typeface="Arial"/>
                        <a:buNone/>
                      </a:pPr>
                      <a:endParaRPr sz="1000" b="1" u="none" strike="noStrike" cap="none" dirty="0">
                        <a:solidFill>
                          <a:schemeClr val="dk1"/>
                        </a:solidFill>
                        <a:latin typeface="Montserrat"/>
                        <a:ea typeface="Montserrat"/>
                        <a:cs typeface="Montserrat"/>
                        <a:sym typeface="Montserrat"/>
                      </a:endParaRPr>
                    </a:p>
                  </a:txBody>
                  <a:tcPr marL="0" marR="0" marT="0" marB="0" anchor="ctr">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rgbClr val="006455"/>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9" name="Google Shape;68;p15">
            <a:extLst>
              <a:ext uri="{FF2B5EF4-FFF2-40B4-BE49-F238E27FC236}">
                <a16:creationId xmlns:a16="http://schemas.microsoft.com/office/drawing/2014/main" id="{D68257C3-A53A-0781-EAD0-DFE7FA234FE3}"/>
              </a:ext>
            </a:extLst>
          </p:cNvPr>
          <p:cNvSpPr txBox="1"/>
          <p:nvPr/>
        </p:nvSpPr>
        <p:spPr>
          <a:xfrm>
            <a:off x="2798775" y="393325"/>
            <a:ext cx="4198800" cy="1547316"/>
          </a:xfrm>
          <a:prstGeom prst="rect">
            <a:avLst/>
          </a:prstGeom>
          <a:noFill/>
          <a:ln>
            <a:noFill/>
          </a:ln>
        </p:spPr>
        <p:txBody>
          <a:bodyPr spcFirstLastPara="1" wrap="square" lIns="91425" tIns="91425" rIns="91425" bIns="91425" anchor="t" anchorCtr="0">
            <a:spAutoFit/>
          </a:bodyPr>
          <a:lstStyle/>
          <a:p>
            <a:pPr marL="0" marR="0" lvl="0" indent="0" algn="l" rtl="0">
              <a:lnSpc>
                <a:spcPct val="107916"/>
              </a:lnSpc>
              <a:spcBef>
                <a:spcPts val="0"/>
              </a:spcBef>
              <a:spcAft>
                <a:spcPts val="0"/>
              </a:spcAft>
              <a:buClr>
                <a:schemeClr val="dk1"/>
              </a:buClr>
              <a:buSzPts val="1100"/>
              <a:buFont typeface="Arial"/>
              <a:buNone/>
            </a:pPr>
            <a:endParaRPr sz="1000" b="0" i="0" u="none" strike="noStrike" cap="none">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200" b="1" i="0" u="none" strike="noStrike" cap="none">
                <a:solidFill>
                  <a:srgbClr val="006858"/>
                </a:solidFill>
                <a:latin typeface="Montserrat"/>
                <a:ea typeface="Montserrat"/>
                <a:cs typeface="Montserrat"/>
                <a:sym typeface="Montserrat"/>
              </a:rPr>
              <a:t>Dr. Leopoldo Santillán Arreygue</a:t>
            </a:r>
            <a:endParaRPr sz="1000" b="0" i="0" u="none" strike="noStrike" cap="none">
              <a:solidFill>
                <a:schemeClr val="dk1"/>
              </a:solidFill>
              <a:latin typeface="Montserrat"/>
              <a:ea typeface="Montserrat"/>
              <a:cs typeface="Montserrat"/>
              <a:sym typeface="Montserrat"/>
            </a:endParaRPr>
          </a:p>
          <a:p>
            <a:pPr marL="457200" marR="0" lvl="0" indent="-273050" algn="l" rtl="0">
              <a:lnSpc>
                <a:spcPct val="107916"/>
              </a:lnSpc>
              <a:spcBef>
                <a:spcPts val="0"/>
              </a:spcBef>
              <a:spcAft>
                <a:spcPts val="0"/>
              </a:spcAft>
              <a:buClr>
                <a:schemeClr val="dk1"/>
              </a:buClr>
              <a:buSzPts val="700"/>
              <a:buFont typeface="Montserrat"/>
              <a:buChar char="●"/>
            </a:pPr>
            <a:r>
              <a:rPr lang="es" sz="1200" b="0" i="0" u="none" strike="noStrike" cap="none">
                <a:solidFill>
                  <a:srgbClr val="000000"/>
                </a:solidFill>
                <a:latin typeface="Montserrat"/>
                <a:ea typeface="Montserrat"/>
                <a:cs typeface="Montserrat"/>
                <a:sym typeface="Montserrat"/>
              </a:rPr>
              <a:t>Licenciatura como Médico Cirujano y Partero</a:t>
            </a:r>
            <a:endParaRPr sz="1200" b="0" i="0" u="none" strike="noStrike" cap="none">
              <a:solidFill>
                <a:srgbClr val="000000"/>
              </a:solidFill>
              <a:latin typeface="Montserrat"/>
              <a:ea typeface="Montserrat"/>
              <a:cs typeface="Montserrat"/>
              <a:sym typeface="Montserrat"/>
            </a:endParaRPr>
          </a:p>
          <a:p>
            <a:pPr marL="457200" marR="0" lvl="0" indent="-273050" algn="l" rtl="0">
              <a:lnSpc>
                <a:spcPct val="107916"/>
              </a:lnSpc>
              <a:spcBef>
                <a:spcPts val="0"/>
              </a:spcBef>
              <a:spcAft>
                <a:spcPts val="0"/>
              </a:spcAft>
              <a:buClr>
                <a:schemeClr val="dk1"/>
              </a:buClr>
              <a:buSzPts val="700"/>
              <a:buFont typeface="Montserrat"/>
              <a:buChar char="●"/>
            </a:pPr>
            <a:r>
              <a:rPr lang="es" sz="1200" b="0" i="0" u="none" strike="noStrike" cap="none">
                <a:solidFill>
                  <a:srgbClr val="000000"/>
                </a:solidFill>
                <a:latin typeface="Montserrat"/>
                <a:ea typeface="Montserrat"/>
                <a:cs typeface="Montserrat"/>
                <a:sym typeface="Montserrat"/>
              </a:rPr>
              <a:t>Especialidad en Medicina Interna</a:t>
            </a:r>
            <a:endParaRPr sz="1200" b="0" i="0" u="none" strike="noStrike" cap="none">
              <a:solidFill>
                <a:srgbClr val="000000"/>
              </a:solidFill>
              <a:latin typeface="Montserrat"/>
              <a:ea typeface="Montserrat"/>
              <a:cs typeface="Montserrat"/>
              <a:sym typeface="Montserrat"/>
            </a:endParaRPr>
          </a:p>
          <a:p>
            <a:pPr marL="457200" marR="0" lvl="0" indent="-273050" algn="l" rtl="0">
              <a:lnSpc>
                <a:spcPct val="107916"/>
              </a:lnSpc>
              <a:spcBef>
                <a:spcPts val="0"/>
              </a:spcBef>
              <a:spcAft>
                <a:spcPts val="0"/>
              </a:spcAft>
              <a:buClr>
                <a:schemeClr val="dk1"/>
              </a:buClr>
              <a:buSzPts val="700"/>
              <a:buFont typeface="Montserrat"/>
              <a:buChar char="●"/>
            </a:pPr>
            <a:r>
              <a:rPr lang="es" sz="1200" b="0" i="0" u="none" strike="noStrike" cap="none">
                <a:solidFill>
                  <a:srgbClr val="000000"/>
                </a:solidFill>
                <a:latin typeface="Montserrat"/>
                <a:ea typeface="Montserrat"/>
                <a:cs typeface="Montserrat"/>
                <a:sym typeface="Montserrat"/>
              </a:rPr>
              <a:t>Maestría en Investigación de Servicios de Salud</a:t>
            </a:r>
            <a:r>
              <a:rPr lang="es" sz="1000" b="0" i="0" u="none" strike="noStrike" cap="none">
                <a:solidFill>
                  <a:schemeClr val="dk1"/>
                </a:solidFill>
                <a:latin typeface="Montserrat"/>
                <a:ea typeface="Montserrat"/>
                <a:cs typeface="Montserrat"/>
                <a:sym typeface="Montserrat"/>
              </a:rPr>
              <a:t> </a:t>
            </a:r>
            <a:endParaRPr sz="800" b="0" i="0" u="none" strike="noStrike" cap="none">
              <a:solidFill>
                <a:schemeClr val="dk1"/>
              </a:solidFill>
              <a:latin typeface="Montserrat"/>
              <a:ea typeface="Montserrat"/>
              <a:cs typeface="Montserrat"/>
              <a:sym typeface="Montserrat"/>
            </a:endParaRPr>
          </a:p>
          <a:p>
            <a:pPr marL="0" marR="0" lvl="0" indent="0" algn="l" rtl="0">
              <a:lnSpc>
                <a:spcPct val="107916"/>
              </a:lnSpc>
              <a:spcBef>
                <a:spcPts val="0"/>
              </a:spcBef>
              <a:spcAft>
                <a:spcPts val="0"/>
              </a:spcAft>
              <a:buClr>
                <a:schemeClr val="dk1"/>
              </a:buClr>
              <a:buSzPts val="1100"/>
              <a:buFont typeface="Arial"/>
              <a:buNone/>
            </a:pPr>
            <a:r>
              <a:rPr lang="es" sz="1200" b="1" i="0" u="none" strike="noStrike" cap="none">
                <a:solidFill>
                  <a:srgbClr val="006858"/>
                </a:solidFill>
                <a:latin typeface="Montserrat"/>
                <a:ea typeface="Montserrat"/>
                <a:cs typeface="Montserrat"/>
                <a:sym typeface="Montserrat"/>
              </a:rPr>
              <a:t>Inicio en el cargo: 16 de mayo de 202</a:t>
            </a:r>
            <a:r>
              <a:rPr lang="es" sz="1200" b="1">
                <a:solidFill>
                  <a:srgbClr val="006858"/>
                </a:solidFill>
                <a:latin typeface="Montserrat"/>
                <a:ea typeface="Montserrat"/>
                <a:cs typeface="Montserrat"/>
                <a:sym typeface="Montserrat"/>
              </a:rPr>
              <a:t>4</a:t>
            </a:r>
            <a:endParaRPr sz="1200" b="1" i="0" u="none" strike="noStrike" cap="none">
              <a:solidFill>
                <a:srgbClr val="006858"/>
              </a:solidFill>
              <a:latin typeface="Montserrat"/>
              <a:ea typeface="Montserrat"/>
              <a:cs typeface="Montserrat"/>
              <a:sym typeface="Montserrat"/>
            </a:endParaRPr>
          </a:p>
        </p:txBody>
      </p:sp>
      <p:pic>
        <p:nvPicPr>
          <p:cNvPr id="11" name="Google Shape;70;p15">
            <a:extLst>
              <a:ext uri="{FF2B5EF4-FFF2-40B4-BE49-F238E27FC236}">
                <a16:creationId xmlns:a16="http://schemas.microsoft.com/office/drawing/2014/main" id="{B2A91519-48B9-BA66-72C7-DF9AE6901508}"/>
              </a:ext>
            </a:extLst>
          </p:cNvPr>
          <p:cNvPicPr preferRelativeResize="0"/>
          <p:nvPr/>
        </p:nvPicPr>
        <p:blipFill rotWithShape="1">
          <a:blip r:embed="rId2">
            <a:alphaModFix/>
          </a:blip>
          <a:srcRect l="67790" t="61915" r="20789" b="19706"/>
          <a:stretch/>
        </p:blipFill>
        <p:spPr>
          <a:xfrm>
            <a:off x="1270000" y="566125"/>
            <a:ext cx="1471075" cy="1771800"/>
          </a:xfrm>
          <a:prstGeom prst="rect">
            <a:avLst/>
          </a:prstGeom>
          <a:noFill/>
          <a:ln>
            <a:noFill/>
          </a:ln>
        </p:spPr>
      </p:pic>
      <p:pic>
        <p:nvPicPr>
          <p:cNvPr id="13" name="Google Shape;71;p15">
            <a:extLst>
              <a:ext uri="{FF2B5EF4-FFF2-40B4-BE49-F238E27FC236}">
                <a16:creationId xmlns:a16="http://schemas.microsoft.com/office/drawing/2014/main" id="{49C311A7-5312-7837-BD52-8DE0CF00E629}"/>
              </a:ext>
            </a:extLst>
          </p:cNvPr>
          <p:cNvPicPr preferRelativeResize="0"/>
          <p:nvPr/>
        </p:nvPicPr>
        <p:blipFill>
          <a:blip r:embed="rId3">
            <a:alphaModFix/>
          </a:blip>
          <a:stretch>
            <a:fillRect/>
          </a:stretch>
        </p:blipFill>
        <p:spPr>
          <a:xfrm>
            <a:off x="5539150" y="2429750"/>
            <a:ext cx="678270" cy="856500"/>
          </a:xfrm>
          <a:prstGeom prst="rect">
            <a:avLst/>
          </a:prstGeom>
          <a:noFill/>
          <a:ln>
            <a:noFill/>
          </a:ln>
        </p:spPr>
      </p:pic>
      <p:pic>
        <p:nvPicPr>
          <p:cNvPr id="15" name="Google Shape;72;p15">
            <a:extLst>
              <a:ext uri="{FF2B5EF4-FFF2-40B4-BE49-F238E27FC236}">
                <a16:creationId xmlns:a16="http://schemas.microsoft.com/office/drawing/2014/main" id="{37E43E45-4979-9C42-8E6B-E1ED4842A5DE}"/>
              </a:ext>
            </a:extLst>
          </p:cNvPr>
          <p:cNvPicPr preferRelativeResize="0"/>
          <p:nvPr/>
        </p:nvPicPr>
        <p:blipFill rotWithShape="1">
          <a:blip r:embed="rId4">
            <a:alphaModFix/>
          </a:blip>
          <a:srcRect l="1370" r="2817"/>
          <a:stretch/>
        </p:blipFill>
        <p:spPr>
          <a:xfrm>
            <a:off x="5539150" y="3280075"/>
            <a:ext cx="678275" cy="886225"/>
          </a:xfrm>
          <a:prstGeom prst="rect">
            <a:avLst/>
          </a:prstGeom>
          <a:noFill/>
          <a:ln>
            <a:noFill/>
          </a:ln>
        </p:spPr>
      </p:pic>
      <p:pic>
        <p:nvPicPr>
          <p:cNvPr id="17" name="Google Shape;73;p15">
            <a:extLst>
              <a:ext uri="{FF2B5EF4-FFF2-40B4-BE49-F238E27FC236}">
                <a16:creationId xmlns:a16="http://schemas.microsoft.com/office/drawing/2014/main" id="{7AC0066F-4FE2-8F05-B286-7E1E134F8828}"/>
              </a:ext>
            </a:extLst>
          </p:cNvPr>
          <p:cNvPicPr preferRelativeResize="0"/>
          <p:nvPr/>
        </p:nvPicPr>
        <p:blipFill rotWithShape="1">
          <a:blip r:embed="rId5">
            <a:alphaModFix/>
          </a:blip>
          <a:srcRect t="5375"/>
          <a:stretch/>
        </p:blipFill>
        <p:spPr>
          <a:xfrm>
            <a:off x="5539150" y="4166301"/>
            <a:ext cx="678275" cy="807475"/>
          </a:xfrm>
          <a:prstGeom prst="rect">
            <a:avLst/>
          </a:prstGeom>
          <a:noFill/>
          <a:ln>
            <a:noFill/>
          </a:ln>
        </p:spPr>
      </p:pic>
      <p:pic>
        <p:nvPicPr>
          <p:cNvPr id="19" name="Google Shape;74;p15">
            <a:extLst>
              <a:ext uri="{FF2B5EF4-FFF2-40B4-BE49-F238E27FC236}">
                <a16:creationId xmlns:a16="http://schemas.microsoft.com/office/drawing/2014/main" id="{8C880253-21D3-B7EA-84BF-F4FC3BDAFD40}"/>
              </a:ext>
            </a:extLst>
          </p:cNvPr>
          <p:cNvPicPr preferRelativeResize="0"/>
          <p:nvPr/>
        </p:nvPicPr>
        <p:blipFill rotWithShape="1">
          <a:blip r:embed="rId6">
            <a:alphaModFix/>
          </a:blip>
          <a:srcRect b="3670"/>
          <a:stretch/>
        </p:blipFill>
        <p:spPr>
          <a:xfrm>
            <a:off x="5540575" y="4973750"/>
            <a:ext cx="678275" cy="815475"/>
          </a:xfrm>
          <a:prstGeom prst="rect">
            <a:avLst/>
          </a:prstGeom>
          <a:noFill/>
          <a:ln>
            <a:noFill/>
          </a:ln>
        </p:spPr>
      </p:pic>
      <p:pic>
        <p:nvPicPr>
          <p:cNvPr id="21" name="Google Shape;76;p15">
            <a:extLst>
              <a:ext uri="{FF2B5EF4-FFF2-40B4-BE49-F238E27FC236}">
                <a16:creationId xmlns:a16="http://schemas.microsoft.com/office/drawing/2014/main" id="{EB35405D-8843-D95F-C2C9-E208C9705C83}"/>
              </a:ext>
            </a:extLst>
          </p:cNvPr>
          <p:cNvPicPr preferRelativeResize="0"/>
          <p:nvPr/>
        </p:nvPicPr>
        <p:blipFill rotWithShape="1">
          <a:blip r:embed="rId7">
            <a:alphaModFix/>
          </a:blip>
          <a:srcRect l="7725" r="10092"/>
          <a:stretch/>
        </p:blipFill>
        <p:spPr>
          <a:xfrm>
            <a:off x="5540575" y="6471150"/>
            <a:ext cx="678275" cy="1030025"/>
          </a:xfrm>
          <a:prstGeom prst="rect">
            <a:avLst/>
          </a:prstGeom>
          <a:noFill/>
          <a:ln>
            <a:noFill/>
          </a:ln>
        </p:spPr>
      </p:pic>
      <p:pic>
        <p:nvPicPr>
          <p:cNvPr id="23" name="Google Shape;77;p15">
            <a:extLst>
              <a:ext uri="{FF2B5EF4-FFF2-40B4-BE49-F238E27FC236}">
                <a16:creationId xmlns:a16="http://schemas.microsoft.com/office/drawing/2014/main" id="{233C681B-D711-B1C2-1F4A-8D8C5194DBAF}"/>
              </a:ext>
            </a:extLst>
          </p:cNvPr>
          <p:cNvPicPr preferRelativeResize="0"/>
          <p:nvPr/>
        </p:nvPicPr>
        <p:blipFill rotWithShape="1">
          <a:blip r:embed="rId8">
            <a:alphaModFix/>
          </a:blip>
          <a:srcRect l="2507" r="5657" b="26649"/>
          <a:stretch/>
        </p:blipFill>
        <p:spPr>
          <a:xfrm>
            <a:off x="5540575" y="7501175"/>
            <a:ext cx="676850" cy="673750"/>
          </a:xfrm>
          <a:prstGeom prst="rect">
            <a:avLst/>
          </a:prstGeom>
          <a:noFill/>
          <a:ln>
            <a:noFill/>
          </a:ln>
        </p:spPr>
      </p:pic>
      <p:pic>
        <p:nvPicPr>
          <p:cNvPr id="25" name="Imagen 24">
            <a:extLst>
              <a:ext uri="{FF2B5EF4-FFF2-40B4-BE49-F238E27FC236}">
                <a16:creationId xmlns:a16="http://schemas.microsoft.com/office/drawing/2014/main" id="{9E8C3B7C-9100-6FF6-350D-4BCA1B24DDF5}"/>
              </a:ext>
            </a:extLst>
          </p:cNvPr>
          <p:cNvPicPr>
            <a:picLocks noChangeAspect="1"/>
          </p:cNvPicPr>
          <p:nvPr/>
        </p:nvPicPr>
        <p:blipFill>
          <a:blip r:embed="rId9"/>
          <a:srcRect l="49224" b="26570"/>
          <a:stretch>
            <a:fillRect/>
          </a:stretch>
        </p:blipFill>
        <p:spPr>
          <a:xfrm>
            <a:off x="5539150" y="8148382"/>
            <a:ext cx="687447" cy="789961"/>
          </a:xfrm>
          <a:prstGeom prst="rect">
            <a:avLst/>
          </a:prstGeom>
        </p:spPr>
      </p:pic>
      <p:pic>
        <p:nvPicPr>
          <p:cNvPr id="27" name="Imagen 26">
            <a:extLst>
              <a:ext uri="{FF2B5EF4-FFF2-40B4-BE49-F238E27FC236}">
                <a16:creationId xmlns:a16="http://schemas.microsoft.com/office/drawing/2014/main" id="{0B817BEF-4464-DF74-CEB6-CFFEEBFF45A7}"/>
              </a:ext>
            </a:extLst>
          </p:cNvPr>
          <p:cNvPicPr>
            <a:picLocks noChangeAspect="1"/>
          </p:cNvPicPr>
          <p:nvPr/>
        </p:nvPicPr>
        <p:blipFill>
          <a:blip r:embed="rId10"/>
          <a:srcRect t="8164" r="5107"/>
          <a:stretch>
            <a:fillRect/>
          </a:stretch>
        </p:blipFill>
        <p:spPr>
          <a:xfrm>
            <a:off x="5529337" y="5781225"/>
            <a:ext cx="678275" cy="689925"/>
          </a:xfrm>
          <a:prstGeom prst="rect">
            <a:avLst/>
          </a:prstGeom>
        </p:spPr>
      </p:pic>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64% de la población (incluye COPLAMAR)</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extLst>
              <p:ext uri="{D42A27DB-BD31-4B8C-83A1-F6EECF244321}">
                <p14:modId xmlns:p14="http://schemas.microsoft.com/office/powerpoint/2010/main" val="925999290"/>
              </p:ext>
            </p:extLst>
          </p:nvPr>
        </p:nvGraphicFramePr>
        <p:xfrm>
          <a:off x="2268000" y="1116000"/>
          <a:ext cx="3240000" cy="3240000"/>
        </p:xfrm>
        <a:graphic>
          <a:graphicData uri="http://schemas.openxmlformats.org/drawingml/2006/chart">
            <c:chart xmlns:c="http://schemas.openxmlformats.org/drawingml/2006/chart" xmlns:r="http://schemas.openxmlformats.org/officeDocument/2006/relationships" r:id="rId5"/>
          </a:graphicData>
        </a:graphic>
      </p:graphicFrame>
      <p:sp>
        <p:nvSpPr>
          <p:cNvPr id="118" name="TextBox 117"/>
          <p:cNvSpPr txBox="1"/>
          <p:nvPr/>
        </p:nvSpPr>
        <p:spPr>
          <a:xfrm>
            <a:off x="6132611" y="2076197"/>
            <a:ext cx="1188000" cy="503999"/>
          </a:xfrm>
          <a:prstGeom prst="rect">
            <a:avLst/>
          </a:prstGeom>
          <a:noFill/>
        </p:spPr>
        <p:txBody>
          <a:bodyPr wrap="none"/>
          <a:lstStyle/>
          <a:p>
            <a:pPr algn="l">
              <a:defRPr sz="1400" b="1">
                <a:solidFill>
                  <a:srgbClr val="595959"/>
                </a:solidFill>
                <a:latin typeface="Montserrat"/>
              </a:defRPr>
            </a:pPr>
            <a:r>
              <a:t>692,554</a:t>
            </a:r>
            <a:br/>
            <a:r>
              <a:t>40%</a:t>
            </a:r>
          </a:p>
        </p:txBody>
      </p:sp>
      <p:pic>
        <p:nvPicPr>
          <p:cNvPr id="119" name="Picture 118" descr="imss.png"/>
          <p:cNvPicPr>
            <a:picLocks noChangeAspect="1"/>
          </p:cNvPicPr>
          <p:nvPr/>
        </p:nvPicPr>
        <p:blipFill>
          <a:blip r:embed="rId6"/>
          <a:stretch>
            <a:fillRect/>
          </a:stretch>
        </p:blipFill>
        <p:spPr>
          <a:xfrm>
            <a:off x="5718256" y="2131802"/>
            <a:ext cx="377265" cy="468000"/>
          </a:xfrm>
          <a:prstGeom prst="rect">
            <a:avLst/>
          </a:prstGeom>
        </p:spPr>
      </p:pic>
      <p:sp>
        <p:nvSpPr>
          <p:cNvPr id="120" name="Rectangle 119"/>
          <p:cNvSpPr/>
          <p:nvPr/>
        </p:nvSpPr>
        <p:spPr>
          <a:xfrm>
            <a:off x="5508000" y="22968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TextBox 120"/>
          <p:cNvSpPr txBox="1"/>
          <p:nvPr/>
        </p:nvSpPr>
        <p:spPr>
          <a:xfrm>
            <a:off x="5245128" y="4201902"/>
            <a:ext cx="1188000" cy="503999"/>
          </a:xfrm>
          <a:prstGeom prst="rect">
            <a:avLst/>
          </a:prstGeom>
          <a:noFill/>
        </p:spPr>
        <p:txBody>
          <a:bodyPr wrap="none"/>
          <a:lstStyle/>
          <a:p>
            <a:pPr algn="l">
              <a:defRPr sz="1400" b="1">
                <a:solidFill>
                  <a:srgbClr val="595959"/>
                </a:solidFill>
                <a:latin typeface="Montserrat"/>
              </a:defRPr>
            </a:pPr>
            <a:r>
              <a:rPr dirty="0"/>
              <a:t>409,391</a:t>
            </a:r>
            <a:br>
              <a:rPr dirty="0"/>
            </a:br>
            <a:r>
              <a:rPr dirty="0"/>
              <a:t>24%</a:t>
            </a:r>
          </a:p>
        </p:txBody>
      </p:sp>
      <p:pic>
        <p:nvPicPr>
          <p:cNvPr id="122" name="Picture 121" descr="imss_coplamar.png"/>
          <p:cNvPicPr>
            <a:picLocks noChangeAspect="1"/>
          </p:cNvPicPr>
          <p:nvPr/>
        </p:nvPicPr>
        <p:blipFill>
          <a:blip r:embed="rId7"/>
          <a:stretch>
            <a:fillRect/>
          </a:stretch>
        </p:blipFill>
        <p:spPr>
          <a:xfrm>
            <a:off x="4639650" y="4239000"/>
            <a:ext cx="586036" cy="468000"/>
          </a:xfrm>
          <a:prstGeom prst="rect">
            <a:avLst/>
          </a:prstGeom>
        </p:spPr>
      </p:pic>
      <p:sp>
        <p:nvSpPr>
          <p:cNvPr id="123" name="Rectangle 122"/>
          <p:cNvSpPr/>
          <p:nvPr/>
        </p:nvSpPr>
        <p:spPr>
          <a:xfrm>
            <a:off x="4411700" y="4411800"/>
            <a:ext cx="122400" cy="122400"/>
          </a:xfrm>
          <a:prstGeom prst="rect">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TextBox 123"/>
          <p:cNvSpPr txBox="1"/>
          <p:nvPr/>
        </p:nvSpPr>
        <p:spPr>
          <a:xfrm>
            <a:off x="583200" y="3680897"/>
            <a:ext cx="1188000" cy="503999"/>
          </a:xfrm>
          <a:prstGeom prst="rect">
            <a:avLst/>
          </a:prstGeom>
          <a:noFill/>
        </p:spPr>
        <p:txBody>
          <a:bodyPr wrap="none"/>
          <a:lstStyle/>
          <a:p>
            <a:pPr algn="l">
              <a:defRPr sz="1400" b="1">
                <a:solidFill>
                  <a:srgbClr val="595959"/>
                </a:solidFill>
                <a:latin typeface="Montserrat"/>
              </a:defRPr>
            </a:pPr>
            <a:r>
              <a:t>229,210</a:t>
            </a:r>
            <a:br/>
            <a:r>
              <a:t>13%</a:t>
            </a:r>
          </a:p>
        </p:txBody>
      </p:sp>
      <p:pic>
        <p:nvPicPr>
          <p:cNvPr id="125" name="Picture 124" descr="issste.png"/>
          <p:cNvPicPr>
            <a:picLocks noChangeAspect="1"/>
          </p:cNvPicPr>
          <p:nvPr/>
        </p:nvPicPr>
        <p:blipFill>
          <a:blip r:embed="rId8"/>
          <a:stretch>
            <a:fillRect/>
          </a:stretch>
        </p:blipFill>
        <p:spPr>
          <a:xfrm>
            <a:off x="608530" y="3176897"/>
            <a:ext cx="1437091" cy="468000"/>
          </a:xfrm>
          <a:prstGeom prst="rect">
            <a:avLst/>
          </a:prstGeom>
        </p:spPr>
      </p:pic>
      <p:sp>
        <p:nvSpPr>
          <p:cNvPr id="126" name="Rectangle 125"/>
          <p:cNvSpPr/>
          <p:nvPr/>
        </p:nvSpPr>
        <p:spPr>
          <a:xfrm>
            <a:off x="2162450" y="3288497"/>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TextBox 126"/>
          <p:cNvSpPr txBox="1"/>
          <p:nvPr/>
        </p:nvSpPr>
        <p:spPr>
          <a:xfrm>
            <a:off x="20250" y="2541400"/>
            <a:ext cx="1188000" cy="503999"/>
          </a:xfrm>
          <a:prstGeom prst="rect">
            <a:avLst/>
          </a:prstGeom>
          <a:noFill/>
        </p:spPr>
        <p:txBody>
          <a:bodyPr wrap="none"/>
          <a:lstStyle/>
          <a:p>
            <a:pPr>
              <a:defRPr sz="1400" b="1">
                <a:solidFill>
                  <a:srgbClr val="595959"/>
                </a:solidFill>
                <a:latin typeface="Montserrat"/>
              </a:defRPr>
            </a:pPr>
            <a:r>
              <a:rPr dirty="0"/>
              <a:t>391,707</a:t>
            </a:r>
            <a:br>
              <a:rPr dirty="0"/>
            </a:br>
            <a:r>
              <a:rPr dirty="0"/>
              <a:t>23%</a:t>
            </a:r>
          </a:p>
        </p:txBody>
      </p:sp>
      <p:pic>
        <p:nvPicPr>
          <p:cNvPr id="128" name="Picture 127" descr="32.png"/>
          <p:cNvPicPr>
            <a:picLocks noChangeAspect="1"/>
          </p:cNvPicPr>
          <p:nvPr/>
        </p:nvPicPr>
        <p:blipFill>
          <a:blip r:embed="rId9"/>
          <a:stretch>
            <a:fillRect/>
          </a:stretch>
        </p:blipFill>
        <p:spPr>
          <a:xfrm>
            <a:off x="64082" y="2045396"/>
            <a:ext cx="1904118" cy="468000"/>
          </a:xfrm>
          <a:prstGeom prst="rect">
            <a:avLst/>
          </a:prstGeom>
        </p:spPr>
      </p:pic>
      <p:sp>
        <p:nvSpPr>
          <p:cNvPr id="129" name="Rectangle 128"/>
          <p:cNvSpPr/>
          <p:nvPr/>
        </p:nvSpPr>
        <p:spPr>
          <a:xfrm>
            <a:off x="2056900" y="2196013"/>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129"/>
          <p:cNvSpPr txBox="1"/>
          <p:nvPr/>
        </p:nvSpPr>
        <p:spPr>
          <a:xfrm>
            <a:off x="1463500" y="1139298"/>
            <a:ext cx="1188000" cy="503999"/>
          </a:xfrm>
          <a:prstGeom prst="rect">
            <a:avLst/>
          </a:prstGeom>
          <a:noFill/>
        </p:spPr>
        <p:txBody>
          <a:bodyPr wrap="none"/>
          <a:lstStyle/>
          <a:p>
            <a:pPr>
              <a:defRPr sz="1400" b="1">
                <a:solidFill>
                  <a:srgbClr val="595959"/>
                </a:solidFill>
                <a:latin typeface="Montserrat"/>
              </a:defRPr>
            </a:pPr>
            <a:r>
              <a:rPr dirty="0" err="1"/>
              <a:t>Otros</a:t>
            </a:r>
            <a:br>
              <a:rPr dirty="0"/>
            </a:br>
            <a:r>
              <a:rPr dirty="0"/>
              <a:t>4,036</a:t>
            </a:r>
            <a:br>
              <a:rPr dirty="0"/>
            </a:br>
            <a:r>
              <a:rPr dirty="0"/>
              <a:t>0.23%</a:t>
            </a:r>
          </a:p>
        </p:txBody>
      </p:sp>
      <p:pic>
        <p:nvPicPr>
          <p:cNvPr id="131" name="Picture 130" descr="otros.png"/>
          <p:cNvPicPr>
            <a:picLocks noChangeAspect="1"/>
          </p:cNvPicPr>
          <p:nvPr/>
        </p:nvPicPr>
        <p:blipFill>
          <a:blip r:embed="rId10"/>
          <a:stretch>
            <a:fillRect/>
          </a:stretch>
        </p:blipFill>
        <p:spPr>
          <a:xfrm>
            <a:off x="2046100" y="1141199"/>
            <a:ext cx="468000" cy="468000"/>
          </a:xfrm>
          <a:prstGeom prst="rect">
            <a:avLst/>
          </a:prstGeom>
        </p:spPr>
      </p:pic>
      <p:sp>
        <p:nvSpPr>
          <p:cNvPr id="132" name="Rectangle 131"/>
          <p:cNvSpPr/>
          <p:nvPr/>
        </p:nvSpPr>
        <p:spPr>
          <a:xfrm>
            <a:off x="2430000" y="1274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TextBox 132"/>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1,726,898</a:t>
            </a:r>
          </a:p>
        </p:txBody>
      </p:sp>
      <p:sp>
        <p:nvSpPr>
          <p:cNvPr id="134" name="TextBox 133"/>
          <p:cNvSpPr txBox="1"/>
          <p:nvPr/>
        </p:nvSpPr>
        <p:spPr>
          <a:xfrm>
            <a:off x="82800" y="9507600"/>
            <a:ext cx="5864400" cy="360000"/>
          </a:xfrm>
          <a:prstGeom prst="rect">
            <a:avLst/>
          </a:prstGeom>
          <a:noFill/>
        </p:spPr>
        <p:txBody>
          <a:bodyPr wrap="square">
            <a:spAutoFit/>
          </a:bodyPr>
          <a:lstStyle/>
          <a:p>
            <a:pPr algn="l">
              <a:defRPr sz="800">
                <a:solidFill>
                  <a:srgbClr val="FFFFFF"/>
                </a:solidFill>
                <a:latin typeface="Montserrat"/>
              </a:defRPr>
            </a:pPr>
            <a:r>
              <a:t>Fuente: Dirección de Incorporación y Recaudación. Corte mayo de 2026.</a:t>
            </a:r>
          </a:p>
        </p:txBody>
      </p:sp>
      <p:sp>
        <p:nvSpPr>
          <p:cNvPr id="135" name="TextBox 134"/>
          <p:cNvSpPr txBox="1"/>
          <p:nvPr/>
        </p:nvSpPr>
        <p:spPr>
          <a:xfrm>
            <a:off x="82800" y="9658800"/>
            <a:ext cx="5864400" cy="360000"/>
          </a:xfrm>
          <a:prstGeom prst="rect">
            <a:avLst/>
          </a:prstGeom>
          <a:noFill/>
        </p:spPr>
        <p:txBody>
          <a:bodyPr wrap="square">
            <a:spAutoFit/>
          </a:bodyPr>
          <a:lstStyle/>
          <a:p>
            <a:pPr algn="l">
              <a:defRPr sz="800">
                <a:solidFill>
                  <a:srgbClr val="FFFFFF"/>
                </a:solidFill>
                <a:latin typeface="Montserrat"/>
              </a:defRPr>
            </a:pPr>
            <a:r>
              <a:t>¹ Se refiere a personas derechohabientes (titulares y familiares) adscritas a UMF.</a:t>
            </a:r>
          </a:p>
        </p:txBody>
      </p:sp>
      <p:sp>
        <p:nvSpPr>
          <p:cNvPr id="136" name="TextBox 135"/>
          <p:cNvSpPr txBox="1"/>
          <p:nvPr/>
        </p:nvSpPr>
        <p:spPr>
          <a:xfrm>
            <a:off x="82800" y="9813600"/>
            <a:ext cx="7653600" cy="360000"/>
          </a:xfrm>
          <a:prstGeom prst="rect">
            <a:avLst/>
          </a:prstGeom>
          <a:noFill/>
        </p:spPr>
        <p:txBody>
          <a:bodyPr wrap="square">
            <a:spAutoFit/>
          </a:bodyPr>
          <a:lstStyle/>
          <a:p>
            <a:pPr algn="l">
              <a:defRPr sz="800">
                <a:solidFill>
                  <a:srgbClr val="FFFFFF"/>
                </a:solidFill>
                <a:latin typeface="Montserrat"/>
              </a:defRPr>
            </a:pPr>
            <a:r>
              <a:t>² La afiliación al Seguro de Salud de Familia disminuye en virtud del incremento en los nuevos esquemas de aseguramiento.</a:t>
            </a:r>
          </a:p>
        </p:txBody>
      </p:sp>
      <p:graphicFrame>
        <p:nvGraphicFramePr>
          <p:cNvPr id="137" name="Table 136"/>
          <p:cNvGraphicFramePr>
            <a:graphicFrameLocks noGrp="1"/>
          </p:cNvGraphicFramePr>
          <p:nvPr>
            <p:extLst>
              <p:ext uri="{D42A27DB-BD31-4B8C-83A1-F6EECF244321}">
                <p14:modId xmlns:p14="http://schemas.microsoft.com/office/powerpoint/2010/main" val="1354618697"/>
              </p:ext>
            </p:extLst>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06000">
                  <a:extLst>
                    <a:ext uri="{9D8B030D-6E8A-4147-A177-3AD203B41FA5}">
                      <a16:colId xmlns:a16="http://schemas.microsoft.com/office/drawing/2014/main" val="20002"/>
                    </a:ext>
                  </a:extLst>
                </a:gridCol>
                <a:gridCol w="1159200">
                  <a:extLst>
                    <a:ext uri="{9D8B030D-6E8A-4147-A177-3AD203B41FA5}">
                      <a16:colId xmlns:a16="http://schemas.microsoft.com/office/drawing/2014/main" val="20003"/>
                    </a:ext>
                  </a:extLst>
                </a:gridCol>
              </a:tblGrid>
              <a:tr h="251999">
                <a:tc>
                  <a:txBody>
                    <a:bodyPr/>
                    <a:lstStyle/>
                    <a:p>
                      <a:pPr algn="ctr">
                        <a:defRPr sz="900" b="1">
                          <a:solidFill>
                            <a:srgbClr val="FFFFFF"/>
                          </a:solidFill>
                          <a:latin typeface="Montserrat"/>
                        </a:defRPr>
                      </a:pPr>
                      <a:r>
                        <a:rPr dirty="0" err="1"/>
                        <a:t>Categoría</a:t>
                      </a:r>
                      <a:endParaRPr dirty="0"/>
                    </a:p>
                  </a:txBody>
                  <a:tcPr anchor="ctr">
                    <a:solidFill>
                      <a:srgbClr val="006455"/>
                    </a:solidFill>
                  </a:tcPr>
                </a:tc>
                <a:tc>
                  <a:txBody>
                    <a:bodyPr/>
                    <a:lstStyle/>
                    <a:p>
                      <a:pPr algn="ctr">
                        <a:defRPr sz="900" b="1">
                          <a:solidFill>
                            <a:srgbClr val="FFFFFF"/>
                          </a:solidFill>
                          <a:latin typeface="Montserrat"/>
                        </a:defRPr>
                      </a:pPr>
                      <a:r>
                        <a:t>2018</a:t>
                      </a:r>
                    </a:p>
                  </a:txBody>
                  <a:tcPr anchor="ctr">
                    <a:solidFill>
                      <a:srgbClr val="006455"/>
                    </a:solidFill>
                  </a:tcPr>
                </a:tc>
                <a:tc>
                  <a:txBody>
                    <a:bodyPr/>
                    <a:lstStyle/>
                    <a:p>
                      <a:pPr algn="ctr">
                        <a:defRPr sz="900" b="1">
                          <a:solidFill>
                            <a:srgbClr val="FFFFFF"/>
                          </a:solidFill>
                          <a:latin typeface="Montserrat"/>
                        </a:defRPr>
                      </a:pPr>
                      <a:r>
                        <a:t>2026</a:t>
                      </a:r>
                    </a:p>
                  </a:txBody>
                  <a:tcPr anchor="ctr">
                    <a:solidFill>
                      <a:srgbClr val="006455"/>
                    </a:solidFill>
                  </a:tcPr>
                </a:tc>
                <a:tc>
                  <a:txBody>
                    <a:bodyPr/>
                    <a:lstStyle/>
                    <a:p>
                      <a:pPr algn="ctr">
                        <a:defRPr sz="900" b="1">
                          <a:solidFill>
                            <a:srgbClr val="FFFFFF"/>
                          </a:solidFill>
                          <a:latin typeface="Montserrat"/>
                        </a:defRPr>
                      </a:pPr>
                      <a:r>
                        <a:t>Variación</a:t>
                      </a:r>
                    </a:p>
                  </a:txBody>
                  <a:tcPr anchor="ctr">
                    <a:solidFill>
                      <a:srgbClr val="006455"/>
                    </a:solidFill>
                  </a:tcPr>
                </a:tc>
                <a:extLst>
                  <a:ext uri="{0D108BD9-81ED-4DB2-BD59-A6C34878D82A}">
                    <a16:rowId xmlns:a16="http://schemas.microsoft.com/office/drawing/2014/main" val="10000"/>
                  </a:ext>
                </a:extLst>
              </a:tr>
              <a:tr h="251999">
                <a:tc>
                  <a:txBody>
                    <a:bodyPr/>
                    <a:lstStyle/>
                    <a:p>
                      <a:pPr algn="l">
                        <a:defRPr sz="900" b="1">
                          <a:solidFill>
                            <a:srgbClr val="FFFFFF"/>
                          </a:solidFill>
                          <a:latin typeface="Montserrat"/>
                        </a:defRPr>
                      </a:pPr>
                      <a:r>
                        <a:t>PDA¹</a:t>
                      </a:r>
                    </a:p>
                  </a:txBody>
                  <a:tcPr anchor="ctr">
                    <a:solidFill>
                      <a:srgbClr val="9F2241"/>
                    </a:solidFill>
                  </a:tcPr>
                </a:tc>
                <a:tc>
                  <a:txBody>
                    <a:bodyPr/>
                    <a:lstStyle/>
                    <a:p>
                      <a:pPr algn="ctr">
                        <a:defRPr sz="900" b="1">
                          <a:solidFill>
                            <a:srgbClr val="000000"/>
                          </a:solidFill>
                          <a:latin typeface="Montserrat"/>
                        </a:defRPr>
                      </a:pPr>
                      <a:r>
                        <a:t>606,471</a:t>
                      </a:r>
                    </a:p>
                  </a:txBody>
                  <a:tcPr anchor="ctr">
                    <a:solidFill>
                      <a:srgbClr val="EBD2D9"/>
                    </a:solidFill>
                  </a:tcPr>
                </a:tc>
                <a:tc>
                  <a:txBody>
                    <a:bodyPr/>
                    <a:lstStyle/>
                    <a:p>
                      <a:pPr algn="ctr">
                        <a:defRPr sz="900" b="1">
                          <a:solidFill>
                            <a:srgbClr val="000000"/>
                          </a:solidFill>
                          <a:latin typeface="Montserrat"/>
                        </a:defRPr>
                      </a:pPr>
                      <a:r>
                        <a:t>692,554</a:t>
                      </a:r>
                    </a:p>
                  </a:txBody>
                  <a:tcPr anchor="ctr">
                    <a:solidFill>
                      <a:srgbClr val="EBD2D9"/>
                    </a:solidFill>
                  </a:tcPr>
                </a:tc>
                <a:tc>
                  <a:txBody>
                    <a:bodyPr/>
                    <a:lstStyle/>
                    <a:p>
                      <a:pPr algn="ctr">
                        <a:defRPr sz="900" b="1">
                          <a:solidFill>
                            <a:srgbClr val="000000"/>
                          </a:solidFill>
                          <a:latin typeface="Montserrat"/>
                        </a:defRPr>
                      </a:pPr>
                      <a:r>
                        <a:t>14%</a:t>
                      </a:r>
                    </a:p>
                  </a:txBody>
                  <a:tcPr anchor="ctr">
                    <a:solidFill>
                      <a:srgbClr val="EBD2D9"/>
                    </a:solidFill>
                  </a:tcPr>
                </a:tc>
                <a:extLst>
                  <a:ext uri="{0D108BD9-81ED-4DB2-BD59-A6C34878D82A}">
                    <a16:rowId xmlns:a16="http://schemas.microsoft.com/office/drawing/2014/main" val="10001"/>
                  </a:ext>
                </a:extLst>
              </a:tr>
              <a:tr h="251999">
                <a:tc>
                  <a:txBody>
                    <a:bodyPr/>
                    <a:lstStyle/>
                    <a:p>
                      <a:pPr algn="l">
                        <a:defRPr sz="900" b="1">
                          <a:solidFill>
                            <a:srgbClr val="FFFFFF"/>
                          </a:solidFill>
                          <a:latin typeface="Montserrat"/>
                        </a:defRPr>
                      </a:pPr>
                      <a:r>
                        <a:t>Titulares</a:t>
                      </a:r>
                    </a:p>
                  </a:txBody>
                  <a:tcPr anchor="ctr">
                    <a:solidFill>
                      <a:srgbClr val="9F2241"/>
                    </a:solidFill>
                  </a:tcPr>
                </a:tc>
                <a:tc>
                  <a:txBody>
                    <a:bodyPr/>
                    <a:lstStyle/>
                    <a:p>
                      <a:pPr algn="ctr">
                        <a:defRPr sz="900" b="1">
                          <a:solidFill>
                            <a:srgbClr val="000000"/>
                          </a:solidFill>
                          <a:latin typeface="Montserrat"/>
                        </a:defRPr>
                      </a:pPr>
                      <a:r>
                        <a:t>315,444</a:t>
                      </a:r>
                    </a:p>
                  </a:txBody>
                  <a:tcPr anchor="ctr">
                    <a:solidFill>
                      <a:srgbClr val="EBD2D9"/>
                    </a:solidFill>
                  </a:tcPr>
                </a:tc>
                <a:tc>
                  <a:txBody>
                    <a:bodyPr/>
                    <a:lstStyle/>
                    <a:p>
                      <a:pPr algn="ctr">
                        <a:defRPr sz="900" b="1">
                          <a:solidFill>
                            <a:srgbClr val="000000"/>
                          </a:solidFill>
                          <a:latin typeface="Montserrat"/>
                        </a:defRPr>
                      </a:pPr>
                      <a:r>
                        <a:t>392,542</a:t>
                      </a:r>
                    </a:p>
                  </a:txBody>
                  <a:tcPr anchor="ctr">
                    <a:solidFill>
                      <a:srgbClr val="EBD2D9"/>
                    </a:solidFill>
                  </a:tcPr>
                </a:tc>
                <a:tc>
                  <a:txBody>
                    <a:bodyPr/>
                    <a:lstStyle/>
                    <a:p>
                      <a:pPr algn="ctr">
                        <a:defRPr sz="900" b="1">
                          <a:solidFill>
                            <a:srgbClr val="000000"/>
                          </a:solidFill>
                          <a:latin typeface="Montserrat"/>
                        </a:defRPr>
                      </a:pPr>
                      <a:r>
                        <a:t>24%</a:t>
                      </a:r>
                    </a:p>
                  </a:txBody>
                  <a:tcPr anchor="ctr">
                    <a:solidFill>
                      <a:srgbClr val="EBD2D9"/>
                    </a:solidFill>
                  </a:tcPr>
                </a:tc>
                <a:extLst>
                  <a:ext uri="{0D108BD9-81ED-4DB2-BD59-A6C34878D82A}">
                    <a16:rowId xmlns:a16="http://schemas.microsoft.com/office/drawing/2014/main" val="10002"/>
                  </a:ext>
                </a:extLst>
              </a:tr>
              <a:tr h="251999">
                <a:tc>
                  <a:txBody>
                    <a:bodyPr/>
                    <a:lstStyle/>
                    <a:p>
                      <a:pPr algn="l">
                        <a:defRPr sz="900" b="1">
                          <a:solidFill>
                            <a:srgbClr val="000000"/>
                          </a:solidFill>
                          <a:latin typeface="Montserrat"/>
                        </a:defRPr>
                      </a:pPr>
                      <a:r>
                        <a:t>Puestos de trabajo</a:t>
                      </a:r>
                    </a:p>
                  </a:txBody>
                  <a:tcPr anchor="ctr">
                    <a:solidFill>
                      <a:srgbClr val="DDC9A3"/>
                    </a:solidFill>
                  </a:tcPr>
                </a:tc>
                <a:tc>
                  <a:txBody>
                    <a:bodyPr/>
                    <a:lstStyle/>
                    <a:p>
                      <a:pPr algn="ctr">
                        <a:defRPr sz="900" b="1">
                          <a:solidFill>
                            <a:srgbClr val="000000"/>
                          </a:solidFill>
                          <a:latin typeface="Montserrat"/>
                        </a:defRPr>
                      </a:pPr>
                      <a:r>
                        <a:t>185,244</a:t>
                      </a:r>
                    </a:p>
                  </a:txBody>
                  <a:tcPr anchor="ctr">
                    <a:solidFill>
                      <a:srgbClr val="F8F4EC"/>
                    </a:solidFill>
                  </a:tcPr>
                </a:tc>
                <a:tc>
                  <a:txBody>
                    <a:bodyPr/>
                    <a:lstStyle/>
                    <a:p>
                      <a:pPr algn="ctr">
                        <a:defRPr sz="900" b="1">
                          <a:solidFill>
                            <a:srgbClr val="000000"/>
                          </a:solidFill>
                          <a:latin typeface="Montserrat"/>
                        </a:defRPr>
                      </a:pPr>
                      <a:r>
                        <a:rPr dirty="0"/>
                        <a:t>189,936</a:t>
                      </a:r>
                    </a:p>
                  </a:txBody>
                  <a:tcPr anchor="ctr">
                    <a:solidFill>
                      <a:srgbClr val="F8F4EC"/>
                    </a:solidFill>
                  </a:tcPr>
                </a:tc>
                <a:tc>
                  <a:txBody>
                    <a:bodyPr/>
                    <a:lstStyle/>
                    <a:p>
                      <a:pPr algn="ctr">
                        <a:defRPr sz="900" b="1">
                          <a:solidFill>
                            <a:srgbClr val="000000"/>
                          </a:solidFill>
                          <a:latin typeface="Montserrat"/>
                        </a:defRPr>
                      </a:pPr>
                      <a:r>
                        <a:t>3%</a:t>
                      </a:r>
                    </a:p>
                  </a:txBody>
                  <a:tcPr anchor="ctr">
                    <a:solidFill>
                      <a:srgbClr val="F8F4EC"/>
                    </a:solidFill>
                  </a:tcPr>
                </a:tc>
                <a:extLst>
                  <a:ext uri="{0D108BD9-81ED-4DB2-BD59-A6C34878D82A}">
                    <a16:rowId xmlns:a16="http://schemas.microsoft.com/office/drawing/2014/main" val="10003"/>
                  </a:ext>
                </a:extLst>
              </a:tr>
              <a:tr h="251999">
                <a:tc>
                  <a:txBody>
                    <a:bodyPr/>
                    <a:lstStyle/>
                    <a:p>
                      <a:pPr lvl="1" algn="l">
                        <a:defRPr sz="900">
                          <a:solidFill>
                            <a:srgbClr val="000000"/>
                          </a:solidFill>
                          <a:latin typeface="Montserrat"/>
                        </a:defRPr>
                      </a:pPr>
                      <a:r>
                        <a:t>Pensionados</a:t>
                      </a:r>
                    </a:p>
                  </a:txBody>
                  <a:tcPr anchor="ctr">
                    <a:solidFill>
                      <a:srgbClr val="FFFFFF"/>
                    </a:solidFill>
                  </a:tcPr>
                </a:tc>
                <a:tc>
                  <a:txBody>
                    <a:bodyPr/>
                    <a:lstStyle/>
                    <a:p>
                      <a:pPr algn="ctr">
                        <a:defRPr sz="900">
                          <a:solidFill>
                            <a:srgbClr val="000000"/>
                          </a:solidFill>
                          <a:latin typeface="Montserrat"/>
                        </a:defRPr>
                      </a:pPr>
                      <a:r>
                        <a:t>39,233</a:t>
                      </a:r>
                    </a:p>
                  </a:txBody>
                  <a:tcPr anchor="ctr">
                    <a:solidFill>
                      <a:srgbClr val="FFFFFF"/>
                    </a:solidFill>
                  </a:tcPr>
                </a:tc>
                <a:tc>
                  <a:txBody>
                    <a:bodyPr/>
                    <a:lstStyle/>
                    <a:p>
                      <a:pPr algn="ctr">
                        <a:defRPr sz="900">
                          <a:solidFill>
                            <a:srgbClr val="000000"/>
                          </a:solidFill>
                          <a:latin typeface="Montserrat"/>
                        </a:defRPr>
                      </a:pPr>
                      <a:r>
                        <a:t>59,782</a:t>
                      </a:r>
                    </a:p>
                  </a:txBody>
                  <a:tcPr anchor="ctr">
                    <a:solidFill>
                      <a:srgbClr val="FFFFFF"/>
                    </a:solidFill>
                  </a:tcPr>
                </a:tc>
                <a:tc>
                  <a:txBody>
                    <a:bodyPr/>
                    <a:lstStyle/>
                    <a:p>
                      <a:pPr algn="ctr">
                        <a:defRPr sz="900">
                          <a:solidFill>
                            <a:srgbClr val="000000"/>
                          </a:solidFill>
                          <a:latin typeface="Montserrat"/>
                        </a:defRPr>
                      </a:pPr>
                      <a:r>
                        <a:t>52%</a:t>
                      </a:r>
                    </a:p>
                  </a:txBody>
                  <a:tcPr anchor="ctr">
                    <a:solidFill>
                      <a:srgbClr val="FFFFFF"/>
                    </a:solidFill>
                  </a:tcPr>
                </a:tc>
                <a:extLst>
                  <a:ext uri="{0D108BD9-81ED-4DB2-BD59-A6C34878D82A}">
                    <a16:rowId xmlns:a16="http://schemas.microsoft.com/office/drawing/2014/main" val="10004"/>
                  </a:ext>
                </a:extLst>
              </a:tr>
              <a:tr h="251999">
                <a:tc>
                  <a:txBody>
                    <a:bodyPr/>
                    <a:lstStyle/>
                    <a:p>
                      <a:pPr lvl="1" algn="l">
                        <a:defRPr sz="900">
                          <a:solidFill>
                            <a:srgbClr val="000000"/>
                          </a:solidFill>
                          <a:latin typeface="Montserrat"/>
                        </a:defRPr>
                      </a:pPr>
                      <a:r>
                        <a:t>Conservación de derechos</a:t>
                      </a:r>
                    </a:p>
                  </a:txBody>
                  <a:tcPr anchor="ctr">
                    <a:solidFill>
                      <a:srgbClr val="FFFFFF"/>
                    </a:solidFill>
                  </a:tcPr>
                </a:tc>
                <a:tc>
                  <a:txBody>
                    <a:bodyPr/>
                    <a:lstStyle/>
                    <a:p>
                      <a:pPr algn="ctr">
                        <a:defRPr sz="900">
                          <a:solidFill>
                            <a:srgbClr val="000000"/>
                          </a:solidFill>
                          <a:latin typeface="Montserrat"/>
                        </a:defRPr>
                      </a:pPr>
                      <a:r>
                        <a:t>5,426</a:t>
                      </a:r>
                    </a:p>
                  </a:txBody>
                  <a:tcPr anchor="ctr">
                    <a:solidFill>
                      <a:srgbClr val="FFFFFF"/>
                    </a:solidFill>
                  </a:tcPr>
                </a:tc>
                <a:tc>
                  <a:txBody>
                    <a:bodyPr/>
                    <a:lstStyle/>
                    <a:p>
                      <a:pPr algn="ctr">
                        <a:defRPr sz="900">
                          <a:solidFill>
                            <a:srgbClr val="000000"/>
                          </a:solidFill>
                          <a:latin typeface="Montserrat"/>
                        </a:defRPr>
                      </a:pPr>
                      <a:r>
                        <a:t>4,905</a:t>
                      </a:r>
                    </a:p>
                  </a:txBody>
                  <a:tcPr anchor="ctr">
                    <a:solidFill>
                      <a:srgbClr val="FFFFFF"/>
                    </a:solidFill>
                  </a:tcPr>
                </a:tc>
                <a:tc>
                  <a:txBody>
                    <a:bodyPr/>
                    <a:lstStyle/>
                    <a:p>
                      <a:pPr algn="ctr">
                        <a:defRPr sz="900">
                          <a:solidFill>
                            <a:srgbClr val="000000"/>
                          </a:solidFill>
                          <a:latin typeface="Montserrat"/>
                        </a:defRPr>
                      </a:pPr>
                      <a:r>
                        <a:t>-10%</a:t>
                      </a:r>
                    </a:p>
                  </a:txBody>
                  <a:tcPr anchor="ctr">
                    <a:solidFill>
                      <a:srgbClr val="FFFFFF"/>
                    </a:solidFill>
                  </a:tcPr>
                </a:tc>
                <a:extLst>
                  <a:ext uri="{0D108BD9-81ED-4DB2-BD59-A6C34878D82A}">
                    <a16:rowId xmlns:a16="http://schemas.microsoft.com/office/drawing/2014/main" val="10005"/>
                  </a:ext>
                </a:extLst>
              </a:tr>
              <a:tr h="251999">
                <a:tc>
                  <a:txBody>
                    <a:bodyPr/>
                    <a:lstStyle/>
                    <a:p>
                      <a:pPr algn="l">
                        <a:defRPr sz="900" b="1">
                          <a:solidFill>
                            <a:srgbClr val="FFFFFF"/>
                          </a:solidFill>
                          <a:latin typeface="Montserrat"/>
                        </a:defRPr>
                      </a:pPr>
                      <a:r>
                        <a:t>Sin empleo asociado</a:t>
                      </a:r>
                    </a:p>
                  </a:txBody>
                  <a:tcPr anchor="ctr">
                    <a:solidFill>
                      <a:srgbClr val="006455"/>
                    </a:solidFill>
                  </a:tcPr>
                </a:tc>
                <a:tc>
                  <a:txBody>
                    <a:bodyPr/>
                    <a:lstStyle/>
                    <a:p>
                      <a:pPr algn="ctr">
                        <a:defRPr sz="900" b="1">
                          <a:solidFill>
                            <a:srgbClr val="000000"/>
                          </a:solidFill>
                          <a:latin typeface="Montserrat"/>
                        </a:defRPr>
                      </a:pPr>
                      <a:r>
                        <a:t>85,541</a:t>
                      </a:r>
                    </a:p>
                  </a:txBody>
                  <a:tcPr anchor="ctr">
                    <a:solidFill>
                      <a:srgbClr val="CCE0DD"/>
                    </a:solidFill>
                  </a:tcPr>
                </a:tc>
                <a:tc>
                  <a:txBody>
                    <a:bodyPr/>
                    <a:lstStyle/>
                    <a:p>
                      <a:pPr algn="ctr">
                        <a:defRPr sz="900" b="1">
                          <a:solidFill>
                            <a:srgbClr val="000000"/>
                          </a:solidFill>
                          <a:latin typeface="Montserrat"/>
                        </a:defRPr>
                      </a:pPr>
                      <a:r>
                        <a:rPr dirty="0"/>
                        <a:t>115,608</a:t>
                      </a:r>
                    </a:p>
                  </a:txBody>
                  <a:tcPr anchor="ctr">
                    <a:solidFill>
                      <a:srgbClr val="CCE0DD"/>
                    </a:solidFill>
                  </a:tcPr>
                </a:tc>
                <a:tc>
                  <a:txBody>
                    <a:bodyPr/>
                    <a:lstStyle/>
                    <a:p>
                      <a:pPr algn="ctr">
                        <a:defRPr sz="900" b="1">
                          <a:solidFill>
                            <a:srgbClr val="000000"/>
                          </a:solidFill>
                          <a:latin typeface="Montserrat"/>
                        </a:defRPr>
                      </a:pPr>
                      <a:r>
                        <a:t>35%</a:t>
                      </a:r>
                    </a:p>
                  </a:txBody>
                  <a:tcPr anchor="ctr">
                    <a:solidFill>
                      <a:srgbClr val="CCE0DD"/>
                    </a:solidFill>
                  </a:tcPr>
                </a:tc>
                <a:extLst>
                  <a:ext uri="{0D108BD9-81ED-4DB2-BD59-A6C34878D82A}">
                    <a16:rowId xmlns:a16="http://schemas.microsoft.com/office/drawing/2014/main" val="10006"/>
                  </a:ext>
                </a:extLst>
              </a:tr>
              <a:tr h="251999">
                <a:tc>
                  <a:txBody>
                    <a:bodyPr/>
                    <a:lstStyle/>
                    <a:p>
                      <a:pPr lvl="1" algn="l">
                        <a:defRPr sz="900">
                          <a:solidFill>
                            <a:srgbClr val="000000"/>
                          </a:solidFill>
                          <a:latin typeface="Montserrat"/>
                        </a:defRPr>
                      </a:pPr>
                      <a:r>
                        <a:t>Estudiantes</a:t>
                      </a:r>
                    </a:p>
                  </a:txBody>
                  <a:tcPr anchor="ctr">
                    <a:solidFill>
                      <a:srgbClr val="FFFFFF"/>
                    </a:solidFill>
                  </a:tcPr>
                </a:tc>
                <a:tc>
                  <a:txBody>
                    <a:bodyPr/>
                    <a:lstStyle/>
                    <a:p>
                      <a:pPr algn="ctr">
                        <a:defRPr sz="900">
                          <a:solidFill>
                            <a:srgbClr val="000000"/>
                          </a:solidFill>
                          <a:latin typeface="Montserrat"/>
                        </a:defRPr>
                      </a:pPr>
                      <a:r>
                        <a:t>81,708</a:t>
                      </a:r>
                    </a:p>
                  </a:txBody>
                  <a:tcPr anchor="ctr">
                    <a:solidFill>
                      <a:srgbClr val="FFFFFF"/>
                    </a:solidFill>
                  </a:tcPr>
                </a:tc>
                <a:tc>
                  <a:txBody>
                    <a:bodyPr/>
                    <a:lstStyle/>
                    <a:p>
                      <a:pPr algn="ctr">
                        <a:defRPr sz="900">
                          <a:solidFill>
                            <a:srgbClr val="000000"/>
                          </a:solidFill>
                          <a:latin typeface="Montserrat"/>
                        </a:defRPr>
                      </a:pPr>
                      <a:r>
                        <a:t>112,789</a:t>
                      </a:r>
                    </a:p>
                  </a:txBody>
                  <a:tcPr anchor="ctr">
                    <a:solidFill>
                      <a:srgbClr val="FFFFFF"/>
                    </a:solidFill>
                  </a:tcPr>
                </a:tc>
                <a:tc>
                  <a:txBody>
                    <a:bodyPr/>
                    <a:lstStyle/>
                    <a:p>
                      <a:pPr algn="ctr">
                        <a:defRPr sz="900">
                          <a:solidFill>
                            <a:srgbClr val="000000"/>
                          </a:solidFill>
                          <a:latin typeface="Montserrat"/>
                        </a:defRPr>
                      </a:pPr>
                      <a:r>
                        <a:rPr dirty="0"/>
                        <a:t>38%</a:t>
                      </a:r>
                    </a:p>
                  </a:txBody>
                  <a:tcPr anchor="ctr">
                    <a:solidFill>
                      <a:srgbClr val="FFFFFF"/>
                    </a:solidFill>
                  </a:tcPr>
                </a:tc>
                <a:extLst>
                  <a:ext uri="{0D108BD9-81ED-4DB2-BD59-A6C34878D82A}">
                    <a16:rowId xmlns:a16="http://schemas.microsoft.com/office/drawing/2014/main" val="10007"/>
                  </a:ext>
                </a:extLst>
              </a:tr>
              <a:tr h="251999">
                <a:tc>
                  <a:txBody>
                    <a:bodyPr/>
                    <a:lstStyle/>
                    <a:p>
                      <a:pPr lvl="1" algn="l">
                        <a:defRPr sz="900">
                          <a:solidFill>
                            <a:srgbClr val="000000"/>
                          </a:solidFill>
                          <a:latin typeface="Montserrat"/>
                        </a:defRPr>
                      </a:pPr>
                      <a:r>
                        <a:t>Seguro de Salud de Familia²</a:t>
                      </a:r>
                    </a:p>
                  </a:txBody>
                  <a:tcPr anchor="ctr">
                    <a:solidFill>
                      <a:srgbClr val="FFFFFF"/>
                    </a:solidFill>
                  </a:tcPr>
                </a:tc>
                <a:tc>
                  <a:txBody>
                    <a:bodyPr/>
                    <a:lstStyle/>
                    <a:p>
                      <a:pPr algn="ctr">
                        <a:defRPr sz="900">
                          <a:solidFill>
                            <a:srgbClr val="000000"/>
                          </a:solidFill>
                          <a:latin typeface="Montserrat"/>
                        </a:defRPr>
                      </a:pPr>
                      <a:r>
                        <a:t>2,435</a:t>
                      </a:r>
                    </a:p>
                  </a:txBody>
                  <a:tcPr anchor="ctr">
                    <a:solidFill>
                      <a:srgbClr val="FFFFFF"/>
                    </a:solidFill>
                  </a:tcPr>
                </a:tc>
                <a:tc>
                  <a:txBody>
                    <a:bodyPr/>
                    <a:lstStyle/>
                    <a:p>
                      <a:pPr algn="ctr">
                        <a:defRPr sz="900">
                          <a:solidFill>
                            <a:srgbClr val="000000"/>
                          </a:solidFill>
                          <a:latin typeface="Montserrat"/>
                        </a:defRPr>
                      </a:pPr>
                      <a:r>
                        <a:t>450</a:t>
                      </a:r>
                    </a:p>
                  </a:txBody>
                  <a:tcPr anchor="ctr">
                    <a:solidFill>
                      <a:srgbClr val="FFFFFF"/>
                    </a:solidFill>
                  </a:tcPr>
                </a:tc>
                <a:tc>
                  <a:txBody>
                    <a:bodyPr/>
                    <a:lstStyle/>
                    <a:p>
                      <a:pPr algn="ctr">
                        <a:defRPr sz="900">
                          <a:solidFill>
                            <a:srgbClr val="000000"/>
                          </a:solidFill>
                          <a:latin typeface="Montserrat"/>
                        </a:defRPr>
                      </a:pPr>
                      <a:r>
                        <a:rPr dirty="0"/>
                        <a:t>-82%</a:t>
                      </a:r>
                    </a:p>
                  </a:txBody>
                  <a:tcPr anchor="ctr">
                    <a:solidFill>
                      <a:srgbClr val="FFFFFF"/>
                    </a:solidFill>
                  </a:tcPr>
                </a:tc>
                <a:extLst>
                  <a:ext uri="{0D108BD9-81ED-4DB2-BD59-A6C34878D82A}">
                    <a16:rowId xmlns:a16="http://schemas.microsoft.com/office/drawing/2014/main" val="10008"/>
                  </a:ext>
                </a:extLst>
              </a:tr>
              <a:tr h="251999">
                <a:tc>
                  <a:txBody>
                    <a:bodyPr/>
                    <a:lstStyle/>
                    <a:p>
                      <a:pPr lvl="1" algn="l">
                        <a:defRPr sz="900">
                          <a:solidFill>
                            <a:srgbClr val="000000"/>
                          </a:solidFill>
                          <a:latin typeface="Montserrat"/>
                        </a:defRPr>
                      </a:pPr>
                      <a:r>
                        <a:t>Continuación voluntaria</a:t>
                      </a:r>
                    </a:p>
                  </a:txBody>
                  <a:tcPr anchor="ctr">
                    <a:solidFill>
                      <a:srgbClr val="FFFFFF"/>
                    </a:solidFill>
                  </a:tcPr>
                </a:tc>
                <a:tc>
                  <a:txBody>
                    <a:bodyPr/>
                    <a:lstStyle/>
                    <a:p>
                      <a:pPr algn="ctr">
                        <a:defRPr sz="900">
                          <a:solidFill>
                            <a:srgbClr val="000000"/>
                          </a:solidFill>
                          <a:latin typeface="Montserrat"/>
                        </a:defRPr>
                      </a:pPr>
                      <a:r>
                        <a:t>1,398</a:t>
                      </a:r>
                    </a:p>
                  </a:txBody>
                  <a:tcPr anchor="ctr">
                    <a:solidFill>
                      <a:srgbClr val="FFFFFF"/>
                    </a:solidFill>
                  </a:tcPr>
                </a:tc>
                <a:tc>
                  <a:txBody>
                    <a:bodyPr/>
                    <a:lstStyle/>
                    <a:p>
                      <a:pPr algn="ctr">
                        <a:defRPr sz="900">
                          <a:solidFill>
                            <a:srgbClr val="000000"/>
                          </a:solidFill>
                          <a:latin typeface="Montserrat"/>
                        </a:defRPr>
                      </a:pPr>
                      <a:r>
                        <a:t>2,369</a:t>
                      </a:r>
                    </a:p>
                  </a:txBody>
                  <a:tcPr anchor="ctr">
                    <a:solidFill>
                      <a:srgbClr val="FFFFFF"/>
                    </a:solidFill>
                  </a:tcPr>
                </a:tc>
                <a:tc>
                  <a:txBody>
                    <a:bodyPr/>
                    <a:lstStyle/>
                    <a:p>
                      <a:pPr algn="ctr">
                        <a:defRPr sz="900">
                          <a:solidFill>
                            <a:srgbClr val="000000"/>
                          </a:solidFill>
                          <a:latin typeface="Montserrat"/>
                        </a:defRPr>
                      </a:pPr>
                      <a:r>
                        <a:rPr dirty="0"/>
                        <a:t>69%</a:t>
                      </a:r>
                    </a:p>
                  </a:txBody>
                  <a:tcPr anchor="ctr">
                    <a:solidFill>
                      <a:srgbClr val="FFFFFF"/>
                    </a:solidFill>
                  </a:tcPr>
                </a:tc>
                <a:extLst>
                  <a:ext uri="{0D108BD9-81ED-4DB2-BD59-A6C34878D82A}">
                    <a16:rowId xmlns:a16="http://schemas.microsoft.com/office/drawing/2014/main" val="10009"/>
                  </a:ext>
                </a:extLst>
              </a:tr>
              <a:tr h="251999">
                <a:tc>
                  <a:txBody>
                    <a:bodyPr/>
                    <a:lstStyle/>
                    <a:p>
                      <a:pPr algn="l">
                        <a:defRPr sz="900" b="1">
                          <a:solidFill>
                            <a:srgbClr val="FFFFFF"/>
                          </a:solidFill>
                          <a:latin typeface="Montserrat"/>
                        </a:defRPr>
                      </a:pPr>
                      <a:r>
                        <a:t>Familiares</a:t>
                      </a:r>
                    </a:p>
                  </a:txBody>
                  <a:tcPr anchor="ctr">
                    <a:solidFill>
                      <a:srgbClr val="9F2241"/>
                    </a:solidFill>
                  </a:tcPr>
                </a:tc>
                <a:tc>
                  <a:txBody>
                    <a:bodyPr/>
                    <a:lstStyle/>
                    <a:p>
                      <a:pPr algn="ctr">
                        <a:defRPr sz="900" b="1">
                          <a:solidFill>
                            <a:srgbClr val="000000"/>
                          </a:solidFill>
                          <a:latin typeface="Montserrat"/>
                        </a:defRPr>
                      </a:pPr>
                      <a:r>
                        <a:t>291,027</a:t>
                      </a:r>
                    </a:p>
                  </a:txBody>
                  <a:tcPr anchor="ctr">
                    <a:solidFill>
                      <a:srgbClr val="EBD2D9"/>
                    </a:solidFill>
                  </a:tcPr>
                </a:tc>
                <a:tc>
                  <a:txBody>
                    <a:bodyPr/>
                    <a:lstStyle/>
                    <a:p>
                      <a:pPr algn="ctr">
                        <a:defRPr sz="900" b="1">
                          <a:solidFill>
                            <a:srgbClr val="000000"/>
                          </a:solidFill>
                          <a:latin typeface="Montserrat"/>
                        </a:defRPr>
                      </a:pPr>
                      <a:r>
                        <a:t>300,012</a:t>
                      </a:r>
                    </a:p>
                  </a:txBody>
                  <a:tcPr anchor="ctr">
                    <a:solidFill>
                      <a:srgbClr val="EBD2D9"/>
                    </a:solidFill>
                  </a:tcPr>
                </a:tc>
                <a:tc>
                  <a:txBody>
                    <a:bodyPr/>
                    <a:lstStyle/>
                    <a:p>
                      <a:pPr algn="ctr">
                        <a:defRPr sz="900" b="1">
                          <a:solidFill>
                            <a:srgbClr val="000000"/>
                          </a:solidFill>
                          <a:latin typeface="Montserrat"/>
                        </a:defRPr>
                      </a:pPr>
                      <a:r>
                        <a:rPr dirty="0"/>
                        <a:t>3%</a:t>
                      </a:r>
                    </a:p>
                  </a:txBody>
                  <a:tcPr anchor="ctr">
                    <a:solidFill>
                      <a:srgbClr val="EBD2D9"/>
                    </a:solidFill>
                  </a:tcPr>
                </a:tc>
                <a:extLst>
                  <a:ext uri="{0D108BD9-81ED-4DB2-BD59-A6C34878D82A}">
                    <a16:rowId xmlns:a16="http://schemas.microsoft.com/office/drawing/2014/main" val="10010"/>
                  </a:ext>
                </a:extLst>
              </a:tr>
              <a:tr h="251999">
                <a:tc>
                  <a:txBody>
                    <a:bodyPr/>
                    <a:lstStyle/>
                    <a:p>
                      <a:pPr lvl="1" algn="l">
                        <a:defRPr sz="900">
                          <a:solidFill>
                            <a:srgbClr val="000000"/>
                          </a:solidFill>
                          <a:latin typeface="Montserrat"/>
                        </a:defRPr>
                      </a:pPr>
                      <a:r>
                        <a:t>Esposa(o)/concubina(rio)</a:t>
                      </a:r>
                    </a:p>
                  </a:txBody>
                  <a:tcPr anchor="ctr">
                    <a:solidFill>
                      <a:srgbClr val="FFFFFF"/>
                    </a:solidFill>
                  </a:tcPr>
                </a:tc>
                <a:tc>
                  <a:txBody>
                    <a:bodyPr/>
                    <a:lstStyle/>
                    <a:p>
                      <a:pPr algn="ctr">
                        <a:defRPr sz="900">
                          <a:solidFill>
                            <a:srgbClr val="000000"/>
                          </a:solidFill>
                          <a:latin typeface="Montserrat"/>
                        </a:defRPr>
                      </a:pPr>
                      <a:r>
                        <a:t>95,583</a:t>
                      </a:r>
                    </a:p>
                  </a:txBody>
                  <a:tcPr anchor="ctr">
                    <a:solidFill>
                      <a:srgbClr val="FFFFFF"/>
                    </a:solidFill>
                  </a:tcPr>
                </a:tc>
                <a:tc>
                  <a:txBody>
                    <a:bodyPr/>
                    <a:lstStyle/>
                    <a:p>
                      <a:pPr algn="ctr">
                        <a:defRPr sz="900">
                          <a:solidFill>
                            <a:srgbClr val="000000"/>
                          </a:solidFill>
                          <a:latin typeface="Montserrat"/>
                        </a:defRPr>
                      </a:pPr>
                      <a:r>
                        <a:t>104,514</a:t>
                      </a:r>
                    </a:p>
                  </a:txBody>
                  <a:tcPr anchor="ctr">
                    <a:solidFill>
                      <a:srgbClr val="FFFFFF"/>
                    </a:solidFill>
                  </a:tcPr>
                </a:tc>
                <a:tc>
                  <a:txBody>
                    <a:bodyPr/>
                    <a:lstStyle/>
                    <a:p>
                      <a:pPr algn="ctr">
                        <a:defRPr sz="900">
                          <a:solidFill>
                            <a:srgbClr val="000000"/>
                          </a:solidFill>
                          <a:latin typeface="Montserrat"/>
                        </a:defRPr>
                      </a:pPr>
                      <a:r>
                        <a:rPr dirty="0"/>
                        <a:t>9%</a:t>
                      </a:r>
                    </a:p>
                  </a:txBody>
                  <a:tcPr anchor="ctr">
                    <a:solidFill>
                      <a:srgbClr val="FFFFFF"/>
                    </a:solidFill>
                  </a:tcPr>
                </a:tc>
                <a:extLst>
                  <a:ext uri="{0D108BD9-81ED-4DB2-BD59-A6C34878D82A}">
                    <a16:rowId xmlns:a16="http://schemas.microsoft.com/office/drawing/2014/main" val="10011"/>
                  </a:ext>
                </a:extLst>
              </a:tr>
              <a:tr h="251999">
                <a:tc>
                  <a:txBody>
                    <a:bodyPr/>
                    <a:lstStyle/>
                    <a:p>
                      <a:pPr lvl="1" algn="l">
                        <a:defRPr sz="900">
                          <a:solidFill>
                            <a:srgbClr val="000000"/>
                          </a:solidFill>
                          <a:latin typeface="Montserrat"/>
                        </a:defRPr>
                      </a:pPr>
                      <a:r>
                        <a:t>Hijas e hijos</a:t>
                      </a:r>
                    </a:p>
                  </a:txBody>
                  <a:tcPr anchor="ctr">
                    <a:solidFill>
                      <a:srgbClr val="FFFFFF"/>
                    </a:solidFill>
                  </a:tcPr>
                </a:tc>
                <a:tc>
                  <a:txBody>
                    <a:bodyPr/>
                    <a:lstStyle/>
                    <a:p>
                      <a:pPr algn="ctr">
                        <a:defRPr sz="900">
                          <a:solidFill>
                            <a:srgbClr val="000000"/>
                          </a:solidFill>
                          <a:latin typeface="Montserrat"/>
                        </a:defRPr>
                      </a:pPr>
                      <a:r>
                        <a:t>149,682</a:t>
                      </a:r>
                    </a:p>
                  </a:txBody>
                  <a:tcPr anchor="ctr">
                    <a:solidFill>
                      <a:srgbClr val="FFFFFF"/>
                    </a:solidFill>
                  </a:tcPr>
                </a:tc>
                <a:tc>
                  <a:txBody>
                    <a:bodyPr/>
                    <a:lstStyle/>
                    <a:p>
                      <a:pPr algn="ctr">
                        <a:defRPr sz="900">
                          <a:solidFill>
                            <a:srgbClr val="000000"/>
                          </a:solidFill>
                          <a:latin typeface="Montserrat"/>
                        </a:defRPr>
                      </a:pPr>
                      <a:r>
                        <a:t>132,773</a:t>
                      </a:r>
                    </a:p>
                  </a:txBody>
                  <a:tcPr anchor="ctr">
                    <a:solidFill>
                      <a:srgbClr val="FFFFFF"/>
                    </a:solidFill>
                  </a:tcPr>
                </a:tc>
                <a:tc>
                  <a:txBody>
                    <a:bodyPr/>
                    <a:lstStyle/>
                    <a:p>
                      <a:pPr algn="ctr">
                        <a:defRPr sz="900">
                          <a:solidFill>
                            <a:srgbClr val="000000"/>
                          </a:solidFill>
                          <a:latin typeface="Montserrat"/>
                        </a:defRPr>
                      </a:pPr>
                      <a:r>
                        <a:rPr dirty="0"/>
                        <a:t>-11%</a:t>
                      </a:r>
                    </a:p>
                  </a:txBody>
                  <a:tcPr anchor="ctr">
                    <a:solidFill>
                      <a:srgbClr val="FFFFFF"/>
                    </a:solidFill>
                  </a:tcPr>
                </a:tc>
                <a:extLst>
                  <a:ext uri="{0D108BD9-81ED-4DB2-BD59-A6C34878D82A}">
                    <a16:rowId xmlns:a16="http://schemas.microsoft.com/office/drawing/2014/main" val="10012"/>
                  </a:ext>
                </a:extLst>
              </a:tr>
              <a:tr h="251999">
                <a:tc>
                  <a:txBody>
                    <a:bodyPr/>
                    <a:lstStyle/>
                    <a:p>
                      <a:pPr lvl="1" algn="l">
                        <a:defRPr sz="900">
                          <a:solidFill>
                            <a:srgbClr val="000000"/>
                          </a:solidFill>
                          <a:latin typeface="Montserrat"/>
                        </a:defRPr>
                      </a:pPr>
                      <a:r>
                        <a:t>Madres y padres</a:t>
                      </a:r>
                    </a:p>
                  </a:txBody>
                  <a:tcPr anchor="ctr">
                    <a:solidFill>
                      <a:srgbClr val="FFFFFF"/>
                    </a:solidFill>
                  </a:tcPr>
                </a:tc>
                <a:tc>
                  <a:txBody>
                    <a:bodyPr/>
                    <a:lstStyle/>
                    <a:p>
                      <a:pPr algn="ctr">
                        <a:defRPr sz="900">
                          <a:solidFill>
                            <a:srgbClr val="000000"/>
                          </a:solidFill>
                          <a:latin typeface="Montserrat"/>
                        </a:defRPr>
                      </a:pPr>
                      <a:r>
                        <a:t>45,762</a:t>
                      </a:r>
                    </a:p>
                  </a:txBody>
                  <a:tcPr anchor="ctr">
                    <a:solidFill>
                      <a:srgbClr val="FFFFFF"/>
                    </a:solidFill>
                  </a:tcPr>
                </a:tc>
                <a:tc>
                  <a:txBody>
                    <a:bodyPr/>
                    <a:lstStyle/>
                    <a:p>
                      <a:pPr algn="ctr">
                        <a:defRPr sz="900">
                          <a:solidFill>
                            <a:srgbClr val="000000"/>
                          </a:solidFill>
                          <a:latin typeface="Montserrat"/>
                        </a:defRPr>
                      </a:pPr>
                      <a:r>
                        <a:t>62,725</a:t>
                      </a:r>
                    </a:p>
                  </a:txBody>
                  <a:tcPr anchor="ctr">
                    <a:solidFill>
                      <a:srgbClr val="FFFFFF"/>
                    </a:solidFill>
                  </a:tcPr>
                </a:tc>
                <a:tc>
                  <a:txBody>
                    <a:bodyPr/>
                    <a:lstStyle/>
                    <a:p>
                      <a:pPr algn="ctr">
                        <a:defRPr sz="900">
                          <a:solidFill>
                            <a:srgbClr val="000000"/>
                          </a:solidFill>
                          <a:latin typeface="Montserrat"/>
                        </a:defRPr>
                      </a:pPr>
                      <a:r>
                        <a:rPr dirty="0"/>
                        <a:t>37%</a:t>
                      </a:r>
                    </a:p>
                  </a:txBody>
                  <a:tcPr anchor="ctr">
                    <a:solidFill>
                      <a:srgbClr val="FFFFFF"/>
                    </a:solidFill>
                  </a:tcPr>
                </a:tc>
                <a:extLst>
                  <a:ext uri="{0D108BD9-81ED-4DB2-BD59-A6C34878D82A}">
                    <a16:rowId xmlns:a16="http://schemas.microsoft.com/office/drawing/2014/main" val="10013"/>
                  </a:ext>
                </a:extLst>
              </a:tr>
            </a:tbl>
          </a:graphicData>
        </a:graphic>
      </p:graphicFrame>
      <p:graphicFrame>
        <p:nvGraphicFramePr>
          <p:cNvPr id="138" name="Table 137"/>
          <p:cNvGraphicFramePr>
            <a:graphicFrameLocks noGrp="1"/>
          </p:cNvGraphicFramePr>
          <p:nvPr>
            <p:extLst>
              <p:ext uri="{D42A27DB-BD31-4B8C-83A1-F6EECF244321}">
                <p14:modId xmlns:p14="http://schemas.microsoft.com/office/powerpoint/2010/main" val="1898942961"/>
              </p:ext>
            </p:extLst>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rPr dirty="0"/>
                        <a:t>mayo</a:t>
                      </a:r>
                    </a:p>
                  </a:txBody>
                  <a:tcPr anchor="ct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rPr dirty="0" err="1"/>
                        <a:t>Variación</a:t>
                      </a:r>
                      <a:endParaRPr dirty="0"/>
                    </a:p>
                  </a:txBody>
                  <a:tcPr marL="0" marR="0" marT="216000" marB="0">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rPr dirty="0"/>
                        <a:t>2025</a:t>
                      </a:r>
                    </a:p>
                  </a:txBody>
                  <a:tcPr anchor="ctr">
                    <a:solidFill>
                      <a:srgbClr val="006455"/>
                    </a:solidFill>
                  </a:tcPr>
                </a:tc>
                <a:tc>
                  <a:txBody>
                    <a:bodyPr/>
                    <a:lstStyle/>
                    <a:p>
                      <a:pPr algn="ctr">
                        <a:defRPr sz="900" b="1">
                          <a:solidFill>
                            <a:srgbClr val="FFFFFF"/>
                          </a:solidFill>
                          <a:latin typeface="Montserrat"/>
                        </a:defRPr>
                      </a:pPr>
                      <a:r>
                        <a:rPr dirty="0"/>
                        <a:t>2026</a:t>
                      </a:r>
                    </a:p>
                  </a:txBody>
                  <a:tcPr anchor="ct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rPr dirty="0"/>
                        <a:t>249</a:t>
                      </a:r>
                    </a:p>
                  </a:txBody>
                  <a:tcPr anchor="ctr">
                    <a:solidFill>
                      <a:srgbClr val="F8F4EC"/>
                    </a:solidFill>
                  </a:tcPr>
                </a:tc>
                <a:tc>
                  <a:txBody>
                    <a:bodyPr/>
                    <a:lstStyle/>
                    <a:p>
                      <a:pPr algn="ctr">
                        <a:defRPr sz="900" b="1">
                          <a:latin typeface="Montserrat"/>
                        </a:defRPr>
                      </a:pPr>
                      <a:r>
                        <a:rPr dirty="0"/>
                        <a:t>250</a:t>
                      </a:r>
                    </a:p>
                  </a:txBody>
                  <a:tcPr anchor="ctr">
                    <a:solidFill>
                      <a:srgbClr val="F8F4EC"/>
                    </a:solidFill>
                  </a:tcPr>
                </a:tc>
                <a:tc>
                  <a:txBody>
                    <a:bodyPr/>
                    <a:lstStyle/>
                    <a:p>
                      <a:pPr algn="ctr">
                        <a:defRPr sz="900" b="1">
                          <a:latin typeface="Montserrat"/>
                        </a:defRPr>
                      </a:pPr>
                      <a:r>
                        <a:rPr dirty="0"/>
                        <a:t>0%</a:t>
                      </a:r>
                    </a:p>
                  </a:txBody>
                  <a:tcPr anchor="ctr">
                    <a:solidFill>
                      <a:srgbClr val="F8F4EC"/>
                    </a:solidFill>
                  </a:tcPr>
                </a:tc>
                <a:extLst>
                  <a:ext uri="{0D108BD9-81ED-4DB2-BD59-A6C34878D82A}">
                    <a16:rowId xmlns:a16="http://schemas.microsoft.com/office/drawing/2014/main" val="10002"/>
                  </a:ext>
                </a:extLst>
              </a:tr>
            </a:tbl>
          </a:graphicData>
        </a:graphic>
      </p:graphicFrame>
      <p:graphicFrame>
        <p:nvGraphicFramePr>
          <p:cNvPr id="139" name="Table 138"/>
          <p:cNvGraphicFramePr>
            <a:graphicFrameLocks noGrp="1"/>
          </p:cNvGraphicFramePr>
          <p:nvPr>
            <p:extLst>
              <p:ext uri="{D42A27DB-BD31-4B8C-83A1-F6EECF244321}">
                <p14:modId xmlns:p14="http://schemas.microsoft.com/office/powerpoint/2010/main" val="4923341"/>
              </p:ext>
            </p:extLst>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extLst>
                    <a:ext uri="{9D8B030D-6E8A-4147-A177-3AD203B41FA5}">
                      <a16:colId xmlns:a16="http://schemas.microsoft.com/office/drawing/2014/main" val="20000"/>
                    </a:ext>
                  </a:extLst>
                </a:gridCol>
                <a:gridCol w="648000">
                  <a:extLst>
                    <a:ext uri="{9D8B030D-6E8A-4147-A177-3AD203B41FA5}">
                      <a16:colId xmlns:a16="http://schemas.microsoft.com/office/drawing/2014/main" val="20001"/>
                    </a:ext>
                  </a:extLst>
                </a:gridCol>
                <a:gridCol w="648000">
                  <a:extLst>
                    <a:ext uri="{9D8B030D-6E8A-4147-A177-3AD203B41FA5}">
                      <a16:colId xmlns:a16="http://schemas.microsoft.com/office/drawing/2014/main" val="20002"/>
                    </a:ext>
                  </a:extLst>
                </a:gridCol>
              </a:tblGrid>
              <a:tr h="300000">
                <a:tc gridSpan="2">
                  <a:txBody>
                    <a:bodyPr/>
                    <a:lstStyle/>
                    <a:p>
                      <a:pPr algn="ctr">
                        <a:defRPr sz="900" b="1">
                          <a:solidFill>
                            <a:srgbClr val="FFFFFF"/>
                          </a:solidFill>
                          <a:latin typeface="Montserrat"/>
                        </a:defRPr>
                      </a:pPr>
                      <a:r>
                        <a:rPr dirty="0"/>
                        <a:t>mayo</a:t>
                      </a:r>
                    </a:p>
                  </a:txBody>
                  <a:tcPr anchor="ctr">
                    <a:solidFill>
                      <a:srgbClr val="006455"/>
                    </a:solidFill>
                  </a:tcPr>
                </a:tc>
                <a:tc hMerge="1">
                  <a:txBody>
                    <a:bodyPr/>
                    <a:lstStyle/>
                    <a:p>
                      <a:pPr algn="ctr">
                        <a:defRPr sz="900" b="1">
                          <a:solidFill>
                            <a:srgbClr val="FFFFFF"/>
                          </a:solidFill>
                          <a:latin typeface="Montserrat"/>
                        </a:defRPr>
                      </a:pPr>
                      <a:endParaRPr/>
                    </a:p>
                  </a:txBody>
                  <a:tcPr>
                    <a:solidFill>
                      <a:srgbClr val="006455"/>
                    </a:solidFill>
                  </a:tcPr>
                </a:tc>
                <a:tc rowSpan="2">
                  <a:txBody>
                    <a:bodyPr/>
                    <a:lstStyle/>
                    <a:p>
                      <a:pPr algn="ctr">
                        <a:defRPr sz="900" b="1">
                          <a:solidFill>
                            <a:srgbClr val="FFFFFF"/>
                          </a:solidFill>
                          <a:latin typeface="Montserrat"/>
                        </a:defRPr>
                      </a:pPr>
                      <a:r>
                        <a:rPr dirty="0" err="1"/>
                        <a:t>Variación</a:t>
                      </a:r>
                      <a:endParaRPr dirty="0"/>
                    </a:p>
                  </a:txBody>
                  <a:tcPr marL="0" marR="0" marT="216000" marB="0">
                    <a:solidFill>
                      <a:srgbClr val="006455"/>
                    </a:solidFill>
                  </a:tcPr>
                </a:tc>
                <a:extLst>
                  <a:ext uri="{0D108BD9-81ED-4DB2-BD59-A6C34878D82A}">
                    <a16:rowId xmlns:a16="http://schemas.microsoft.com/office/drawing/2014/main" val="10000"/>
                  </a:ext>
                </a:extLst>
              </a:tr>
              <a:tr h="300000">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rPr dirty="0"/>
                        <a:t>2026</a:t>
                      </a:r>
                    </a:p>
                  </a:txBody>
                  <a:tcPr anchor="ctr">
                    <a:solidFill>
                      <a:srgbClr val="006455"/>
                    </a:solidFill>
                  </a:tcPr>
                </a:tc>
                <a:tc vMerge="1">
                  <a:txBody>
                    <a:bodyPr/>
                    <a:lstStyle/>
                    <a:p>
                      <a:endParaRPr/>
                    </a:p>
                  </a:txBody>
                  <a:tcPr>
                    <a:solidFill>
                      <a:srgbClr val="006455"/>
                    </a:solidFill>
                  </a:tcPr>
                </a:tc>
                <a:extLst>
                  <a:ext uri="{0D108BD9-81ED-4DB2-BD59-A6C34878D82A}">
                    <a16:rowId xmlns:a16="http://schemas.microsoft.com/office/drawing/2014/main" val="10001"/>
                  </a:ext>
                </a:extLst>
              </a:tr>
              <a:tr h="300000">
                <a:tc>
                  <a:txBody>
                    <a:bodyPr/>
                    <a:lstStyle/>
                    <a:p>
                      <a:pPr algn="ctr">
                        <a:defRPr sz="900" b="1">
                          <a:latin typeface="Montserrat"/>
                        </a:defRPr>
                      </a:pPr>
                      <a:r>
                        <a:t>2,585</a:t>
                      </a:r>
                    </a:p>
                  </a:txBody>
                  <a:tcPr anchor="ctr">
                    <a:solidFill>
                      <a:srgbClr val="F8F4EC"/>
                    </a:solidFill>
                  </a:tcPr>
                </a:tc>
                <a:tc>
                  <a:txBody>
                    <a:bodyPr/>
                    <a:lstStyle/>
                    <a:p>
                      <a:pPr algn="ctr">
                        <a:defRPr sz="900" b="1">
                          <a:latin typeface="Montserrat"/>
                        </a:defRPr>
                      </a:pPr>
                      <a:r>
                        <a:t>3,651</a:t>
                      </a:r>
                    </a:p>
                  </a:txBody>
                  <a:tcPr anchor="ctr">
                    <a:solidFill>
                      <a:srgbClr val="F8F4EC"/>
                    </a:solidFill>
                  </a:tcPr>
                </a:tc>
                <a:tc>
                  <a:txBody>
                    <a:bodyPr/>
                    <a:lstStyle/>
                    <a:p>
                      <a:pPr algn="ctr">
                        <a:defRPr sz="900" b="1">
                          <a:latin typeface="Montserrat"/>
                        </a:defRPr>
                      </a:pPr>
                      <a:r>
                        <a:rPr dirty="0"/>
                        <a:t>41%</a:t>
                      </a:r>
                    </a:p>
                  </a:txBody>
                  <a:tcPr anchor="ctr">
                    <a:solidFill>
                      <a:srgbClr val="F8F4EC"/>
                    </a:solidFill>
                  </a:tcPr>
                </a:tc>
                <a:extLst>
                  <a:ext uri="{0D108BD9-81ED-4DB2-BD59-A6C34878D82A}">
                    <a16:rowId xmlns:a16="http://schemas.microsoft.com/office/drawing/2014/main" val="10002"/>
                  </a:ext>
                </a:extLst>
              </a:tr>
            </a:tbl>
          </a:graphicData>
        </a:graphic>
      </p:graphicFrame>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Infraestructura médica IMSS e IMSS Coplamar</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32_zac.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extLst>
              <p:ext uri="{D42A27DB-BD31-4B8C-83A1-F6EECF244321}">
                <p14:modId xmlns:p14="http://schemas.microsoft.com/office/powerpoint/2010/main" val="485717855"/>
              </p:ext>
            </p:extLst>
          </p:nvPr>
        </p:nvGraphicFramePr>
        <p:xfrm>
          <a:off x="97200" y="6854400"/>
          <a:ext cx="4359600" cy="1262400"/>
        </p:xfrm>
        <a:graphic>
          <a:graphicData uri="http://schemas.openxmlformats.org/drawingml/2006/table">
            <a:tbl>
              <a:tblPr firstRow="1" bandRow="1">
                <a:tableStyleId>{5C22544A-7EE6-4342-B048-85BDC9FD1C3A}</a:tableStyleId>
              </a:tblPr>
              <a:tblGrid>
                <a:gridCol w="871920">
                  <a:extLst>
                    <a:ext uri="{9D8B030D-6E8A-4147-A177-3AD203B41FA5}">
                      <a16:colId xmlns:a16="http://schemas.microsoft.com/office/drawing/2014/main" val="20000"/>
                    </a:ext>
                  </a:extLst>
                </a:gridCol>
                <a:gridCol w="871920">
                  <a:extLst>
                    <a:ext uri="{9D8B030D-6E8A-4147-A177-3AD203B41FA5}">
                      <a16:colId xmlns:a16="http://schemas.microsoft.com/office/drawing/2014/main" val="20001"/>
                    </a:ext>
                  </a:extLst>
                </a:gridCol>
                <a:gridCol w="871920">
                  <a:extLst>
                    <a:ext uri="{9D8B030D-6E8A-4147-A177-3AD203B41FA5}">
                      <a16:colId xmlns:a16="http://schemas.microsoft.com/office/drawing/2014/main" val="20002"/>
                    </a:ext>
                  </a:extLst>
                </a:gridCol>
                <a:gridCol w="871920">
                  <a:extLst>
                    <a:ext uri="{9D8B030D-6E8A-4147-A177-3AD203B41FA5}">
                      <a16:colId xmlns:a16="http://schemas.microsoft.com/office/drawing/2014/main" val="20003"/>
                    </a:ext>
                  </a:extLst>
                </a:gridCol>
                <a:gridCol w="871920">
                  <a:extLst>
                    <a:ext uri="{9D8B030D-6E8A-4147-A177-3AD203B41FA5}">
                      <a16:colId xmlns:a16="http://schemas.microsoft.com/office/drawing/2014/main" val="20004"/>
                    </a:ext>
                  </a:extLst>
                </a:gridCol>
              </a:tblGrid>
              <a:tr h="234000">
                <a:tc rowSpan="2">
                  <a:txBody>
                    <a:bodyPr/>
                    <a:lstStyle/>
                    <a:p>
                      <a:pPr algn="ctr">
                        <a:defRPr sz="1000" b="1">
                          <a:solidFill>
                            <a:srgbClr val="FFFFFF"/>
                          </a:solidFill>
                          <a:latin typeface="Montserrat"/>
                        </a:defRPr>
                      </a:pPr>
                      <a:r>
                        <a:t>Nivel</a:t>
                      </a:r>
                    </a:p>
                  </a:txBody>
                  <a:tcPr marL="10800" marR="10800" marT="10800" marB="10800" anchor="ctr">
                    <a:solidFill>
                      <a:srgbClr val="660000"/>
                    </a:solidFill>
                  </a:tcPr>
                </a:tc>
                <a:tc gridSpan="4">
                  <a:txBody>
                    <a:bodyPr/>
                    <a:lstStyle/>
                    <a:p>
                      <a:pPr algn="ctr">
                        <a:defRPr sz="1000" b="1">
                          <a:solidFill>
                            <a:srgbClr val="FFFFFF"/>
                          </a:solidFill>
                          <a:latin typeface="Montserrat"/>
                        </a:defRPr>
                      </a:pPr>
                      <a:r>
                        <a:t>IMSS Ordinario</a:t>
                      </a:r>
                    </a:p>
                  </a:txBody>
                  <a:tcPr marL="10800" marR="10800" marT="10800" marB="10800">
                    <a:solidFill>
                      <a:srgbClr val="006455"/>
                    </a:solidFill>
                  </a:tcPr>
                </a:tc>
                <a:tc hMerge="1">
                  <a:txBody>
                    <a:bodyPr/>
                    <a:lstStyle/>
                    <a:p>
                      <a:endParaRPr/>
                    </a:p>
                  </a:txBody>
                  <a:tcPr marL="10800" marR="10800" marT="10800" marB="10800"/>
                </a:tc>
                <a:tc hMerge="1">
                  <a:txBody>
                    <a:bodyPr/>
                    <a:lstStyle/>
                    <a:p>
                      <a:endParaRPr/>
                    </a:p>
                  </a:txBody>
                  <a:tcPr marL="10800" marR="10800" marT="10800" marB="10800"/>
                </a:tc>
                <a:tc hMerge="1">
                  <a:txBody>
                    <a:bodyPr/>
                    <a:lstStyle/>
                    <a:p>
                      <a:endParaRPr/>
                    </a:p>
                  </a:txBody>
                  <a:tcPr marL="10800" marR="10800" marT="10800" marB="10800"/>
                </a:tc>
                <a:extLst>
                  <a:ext uri="{0D108BD9-81ED-4DB2-BD59-A6C34878D82A}">
                    <a16:rowId xmlns:a16="http://schemas.microsoft.com/office/drawing/2014/main" val="10000"/>
                  </a:ext>
                </a:extLst>
              </a:tr>
              <a:tr h="234000">
                <a:tc vMerge="1">
                  <a:txBody>
                    <a:bodyPr/>
                    <a:lstStyle/>
                    <a:p>
                      <a:endParaRPr/>
                    </a:p>
                  </a:txBody>
                  <a:tcPr marL="10800" marR="10800" marT="10800" marB="10800" anchor="ctr">
                    <a:solidFill>
                      <a:srgbClr val="006455"/>
                    </a:solidFill>
                  </a:tcPr>
                </a:tc>
                <a:tc>
                  <a:txBody>
                    <a:bodyPr/>
                    <a:lstStyle/>
                    <a:p>
                      <a:pPr algn="ctr">
                        <a:defRPr sz="1000" b="1">
                          <a:solidFill>
                            <a:srgbClr val="FFFFFF"/>
                          </a:solidFill>
                          <a:latin typeface="Montserrat"/>
                        </a:defRPr>
                      </a:pPr>
                      <a:r>
                        <a:t>Unidades</a:t>
                      </a:r>
                    </a:p>
                  </a:txBody>
                  <a:tcPr marL="10800" marR="10800" marT="10800" marB="10800" anchor="ctr">
                    <a:solidFill>
                      <a:srgbClr val="006455"/>
                    </a:solidFill>
                  </a:tcPr>
                </a:tc>
                <a:tc>
                  <a:txBody>
                    <a:bodyPr/>
                    <a:lstStyle/>
                    <a:p>
                      <a:pPr algn="ctr">
                        <a:defRPr sz="1000" b="1">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sz="1000" b="1">
                          <a:solidFill>
                            <a:srgbClr val="FFFFFF"/>
                          </a:solidFill>
                          <a:latin typeface="Montserrat"/>
                        </a:defRPr>
                      </a:pPr>
                      <a:r>
                        <a:t>Camas</a:t>
                      </a:r>
                    </a:p>
                  </a:txBody>
                  <a:tcPr marL="10800" marR="10800" marT="10800" marB="10800" anchor="ctr">
                    <a:solidFill>
                      <a:srgbClr val="006455"/>
                    </a:solidFill>
                  </a:tcPr>
                </a:tc>
                <a:tc>
                  <a:txBody>
                    <a:bodyPr/>
                    <a:lstStyle/>
                    <a:p>
                      <a:pPr algn="ctr">
                        <a:defRPr sz="1000" b="1">
                          <a:solidFill>
                            <a:srgbClr val="FFFFFF"/>
                          </a:solidFill>
                          <a:latin typeface="Montserrat"/>
                        </a:defRPr>
                      </a:pPr>
                      <a:r>
                        <a:t>Camas no censables</a:t>
                      </a:r>
                    </a:p>
                  </a:txBody>
                  <a:tcPr marL="10800" marR="10800" marT="10800" marB="10800" anchor="ctr">
                    <a:solidFill>
                      <a:srgbClr val="006455"/>
                    </a:solidFill>
                  </a:tcPr>
                </a:tc>
                <a:extLst>
                  <a:ext uri="{0D108BD9-81ED-4DB2-BD59-A6C34878D82A}">
                    <a16:rowId xmlns:a16="http://schemas.microsoft.com/office/drawing/2014/main" val="10001"/>
                  </a:ext>
                </a:extLst>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dirty="0">
                          <a:latin typeface="Montserrat"/>
                        </a:rPr>
                        <a:t>3</a:t>
                      </a:r>
                      <a:r>
                        <a:rPr lang="es-MX" sz="1000" dirty="0">
                          <a:latin typeface="Montserrat"/>
                        </a:rPr>
                        <a:t>5</a:t>
                      </a:r>
                      <a:r>
                        <a:rPr lang="es-MX" sz="1050" baseline="30000" dirty="0">
                          <a:latin typeface="Montserrat"/>
                        </a:rPr>
                        <a:t>1</a:t>
                      </a:r>
                      <a:endParaRPr sz="700" baseline="30000" dirty="0">
                        <a:latin typeface="Montserrat"/>
                      </a:endParaRP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107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FFFFFF"/>
                    </a:solidFill>
                  </a:tcPr>
                </a:tc>
                <a:extLst>
                  <a:ext uri="{0D108BD9-81ED-4DB2-BD59-A6C34878D82A}">
                    <a16:rowId xmlns:a16="http://schemas.microsoft.com/office/drawing/2014/main" val="10002"/>
                  </a:ext>
                </a:extLst>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305</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176</a:t>
                      </a:r>
                    </a:p>
                  </a:txBody>
                  <a:tcPr marL="10800" marR="10800" marT="10800" marB="10800" anchor="ctr">
                    <a:solidFill>
                      <a:srgbClr val="EFEFEF"/>
                    </a:solidFill>
                  </a:tcPr>
                </a:tc>
                <a:extLst>
                  <a:ext uri="{0D108BD9-81ED-4DB2-BD59-A6C34878D82A}">
                    <a16:rowId xmlns:a16="http://schemas.microsoft.com/office/drawing/2014/main" val="10003"/>
                  </a:ext>
                </a:extLst>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107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305</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dirty="0">
                          <a:latin typeface="Montserrat"/>
                        </a:rPr>
                        <a:t>192</a:t>
                      </a: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6" name="Table 135"/>
          <p:cNvGraphicFramePr>
            <a:graphicFrameLocks noGrp="1"/>
          </p:cNvGraphicFramePr>
          <p:nvPr>
            <p:extLst>
              <p:ext uri="{D42A27DB-BD31-4B8C-83A1-F6EECF244321}">
                <p14:modId xmlns:p14="http://schemas.microsoft.com/office/powerpoint/2010/main" val="646058130"/>
              </p:ext>
            </p:extLst>
          </p:nvPr>
        </p:nvGraphicFramePr>
        <p:xfrm>
          <a:off x="4536000" y="6854400"/>
          <a:ext cx="3096000" cy="1260900"/>
        </p:xfrm>
        <a:graphic>
          <a:graphicData uri="http://schemas.openxmlformats.org/drawingml/2006/table">
            <a:tbl>
              <a:tblPr firstRow="1" bandRow="1">
                <a:tableStyleId>{5C22544A-7EE6-4342-B048-85BDC9FD1C3A}</a:tableStyleId>
              </a:tblPr>
              <a:tblGrid>
                <a:gridCol w="846000">
                  <a:extLst>
                    <a:ext uri="{9D8B030D-6E8A-4147-A177-3AD203B41FA5}">
                      <a16:colId xmlns:a16="http://schemas.microsoft.com/office/drawing/2014/main" val="20000"/>
                    </a:ext>
                  </a:extLst>
                </a:gridCol>
                <a:gridCol w="846000">
                  <a:extLst>
                    <a:ext uri="{9D8B030D-6E8A-4147-A177-3AD203B41FA5}">
                      <a16:colId xmlns:a16="http://schemas.microsoft.com/office/drawing/2014/main" val="20001"/>
                    </a:ext>
                  </a:extLst>
                </a:gridCol>
                <a:gridCol w="846000">
                  <a:extLst>
                    <a:ext uri="{9D8B030D-6E8A-4147-A177-3AD203B41FA5}">
                      <a16:colId xmlns:a16="http://schemas.microsoft.com/office/drawing/2014/main" val="20002"/>
                    </a:ext>
                  </a:extLst>
                </a:gridCol>
                <a:gridCol w="558000">
                  <a:extLst>
                    <a:ext uri="{9D8B030D-6E8A-4147-A177-3AD203B41FA5}">
                      <a16:colId xmlns:a16="http://schemas.microsoft.com/office/drawing/2014/main" val="20003"/>
                    </a:ext>
                  </a:extLst>
                </a:gridCol>
              </a:tblGrid>
              <a:tr h="224580">
                <a:tc gridSpan="4">
                  <a:txBody>
                    <a:bodyPr/>
                    <a:lstStyle/>
                    <a:p>
                      <a:pPr algn="ctr">
                        <a:defRPr sz="1000" b="1">
                          <a:solidFill>
                            <a:srgbClr val="FFFFFF"/>
                          </a:solidFill>
                          <a:latin typeface="Montserrat"/>
                        </a:defRPr>
                      </a:pPr>
                      <a:r>
                        <a:t>IMSS-COPLAMAR</a:t>
                      </a:r>
                    </a:p>
                  </a:txBody>
                  <a:tcPr marL="10800" marR="10800" marT="10800" marB="10800" anchor="ctr">
                    <a:solidFill>
                      <a:srgbClr val="BC955C"/>
                    </a:solidFill>
                  </a:tcPr>
                </a:tc>
                <a:tc hMerge="1">
                  <a:txBody>
                    <a:bodyPr/>
                    <a:lstStyle/>
                    <a:p>
                      <a:endParaRPr/>
                    </a:p>
                  </a:txBody>
                  <a:tcPr marL="10800" marR="10800" marT="10800" marB="10800" anchor="ctr"/>
                </a:tc>
                <a:tc hMerge="1">
                  <a:txBody>
                    <a:bodyPr/>
                    <a:lstStyle/>
                    <a:p>
                      <a:endParaRPr/>
                    </a:p>
                  </a:txBody>
                  <a:tcPr marL="10800" marR="10800" marT="10800" marB="10800" anchor="ctr"/>
                </a:tc>
                <a:tc hMerge="1">
                  <a:txBody>
                    <a:bodyPr/>
                    <a:lstStyle/>
                    <a:p>
                      <a:endParaRPr/>
                    </a:p>
                  </a:txBody>
                  <a:tcPr marL="10800" marR="10800" marT="10800" marB="10800" anchor="ctr"/>
                </a:tc>
                <a:extLst>
                  <a:ext uri="{0D108BD9-81ED-4DB2-BD59-A6C34878D82A}">
                    <a16:rowId xmlns:a16="http://schemas.microsoft.com/office/drawing/2014/main" val="10000"/>
                  </a:ext>
                </a:extLst>
              </a:tr>
              <a:tr h="248400">
                <a:tc>
                  <a:txBody>
                    <a:bodyPr/>
                    <a:lstStyle/>
                    <a:p>
                      <a:pPr algn="ctr">
                        <a:defRPr sz="1000" b="1">
                          <a:solidFill>
                            <a:srgbClr val="FFFFFF"/>
                          </a:solidFill>
                          <a:latin typeface="Montserrat"/>
                        </a:defRPr>
                      </a:pPr>
                      <a:r>
                        <a:t>Nivel</a:t>
                      </a:r>
                    </a:p>
                  </a:txBody>
                  <a:tcPr marL="10800" marR="10800" marT="10800" marB="10800" anchor="ctr">
                    <a:solidFill>
                      <a:srgbClr val="BC955C"/>
                    </a:solidFill>
                  </a:tcPr>
                </a:tc>
                <a:tc>
                  <a:txBody>
                    <a:bodyPr/>
                    <a:lstStyle/>
                    <a:p>
                      <a:pPr algn="ctr">
                        <a:defRPr sz="1000" b="1">
                          <a:solidFill>
                            <a:srgbClr val="FFFFFF"/>
                          </a:solidFill>
                          <a:latin typeface="Montserrat"/>
                        </a:defRPr>
                      </a:pPr>
                      <a:r>
                        <a:t>Unidades</a:t>
                      </a:r>
                    </a:p>
                  </a:txBody>
                  <a:tcPr marL="0" marR="0" marT="10800" marB="10800" anchor="ctr">
                    <a:solidFill>
                      <a:srgbClr val="BC955C"/>
                    </a:solidFill>
                  </a:tcPr>
                </a:tc>
                <a:tc>
                  <a:txBody>
                    <a:bodyPr/>
                    <a:lstStyle/>
                    <a:p>
                      <a:pPr algn="ctr">
                        <a:defRPr sz="1000" b="1">
                          <a:solidFill>
                            <a:srgbClr val="FFFFFF"/>
                          </a:solidFill>
                          <a:latin typeface="Montserrat"/>
                        </a:defRPr>
                      </a:pPr>
                      <a:r>
                        <a:t>Consultorios de MF</a:t>
                      </a:r>
                    </a:p>
                  </a:txBody>
                  <a:tcPr marL="0" marR="0" marT="10800" marB="10800" anchor="ctr">
                    <a:solidFill>
                      <a:srgbClr val="BC955C"/>
                    </a:solidFill>
                  </a:tcPr>
                </a:tc>
                <a:tc>
                  <a:txBody>
                    <a:bodyPr/>
                    <a:lstStyle/>
                    <a:p>
                      <a:pPr algn="ctr">
                        <a:defRPr sz="1000" b="1">
                          <a:solidFill>
                            <a:srgbClr val="FFFFFF"/>
                          </a:solidFill>
                          <a:latin typeface="Montserrat"/>
                        </a:defRPr>
                      </a:pPr>
                      <a:r>
                        <a:t>Camas</a:t>
                      </a:r>
                    </a:p>
                  </a:txBody>
                  <a:tcPr marL="0" marR="0" marT="10800" marB="10800" anchor="ctr">
                    <a:solidFill>
                      <a:srgbClr val="BC955C"/>
                    </a:solidFill>
                  </a:tcPr>
                </a:tc>
                <a:extLst>
                  <a:ext uri="{0D108BD9-81ED-4DB2-BD59-A6C34878D82A}">
                    <a16:rowId xmlns:a16="http://schemas.microsoft.com/office/drawing/2014/main" val="10001"/>
                  </a:ext>
                </a:extLst>
              </a:tr>
              <a:tr h="248400">
                <a:tc>
                  <a:txBody>
                    <a:bodyPr/>
                    <a:lstStyle/>
                    <a:p>
                      <a:pPr algn="l">
                        <a:defRPr sz="1000">
                          <a:solidFill>
                            <a:srgbClr val="000000"/>
                          </a:solidFill>
                          <a:latin typeface="Montserrat"/>
                        </a:defRPr>
                      </a:pPr>
                      <a: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dirty="0"/>
                        <a:t>141</a:t>
                      </a:r>
                      <a:r>
                        <a:rPr lang="es-MX" sz="1050" baseline="30000" dirty="0"/>
                        <a:t>2</a:t>
                      </a:r>
                      <a:endParaRPr baseline="30000" dirty="0"/>
                    </a:p>
                  </a:txBody>
                  <a:tcPr marL="10800" marR="10800" marT="10800" marB="10800" anchor="ctr">
                    <a:solidFill>
                      <a:srgbClr val="FFFFFF"/>
                    </a:solidFill>
                  </a:tcPr>
                </a:tc>
                <a:tc>
                  <a:txBody>
                    <a:bodyPr/>
                    <a:lstStyle/>
                    <a:p>
                      <a:pPr algn="ctr">
                        <a:defRPr sz="1000">
                          <a:solidFill>
                            <a:srgbClr val="000000"/>
                          </a:solidFill>
                          <a:latin typeface="Montserrat"/>
                        </a:defRPr>
                      </a:pPr>
                      <a:r>
                        <a:t>160</a:t>
                      </a:r>
                    </a:p>
                  </a:txBody>
                  <a:tcPr marL="10800" marR="10800" marT="10800" marB="10800" anchor="ctr">
                    <a:solidFill>
                      <a:srgbClr val="FFFFFF"/>
                    </a:solidFill>
                  </a:tcPr>
                </a:tc>
                <a:tc>
                  <a:txBody>
                    <a:bodyPr/>
                    <a:lstStyle/>
                    <a:p>
                      <a:pPr algn="ctr">
                        <a:defRPr sz="1000">
                          <a:solidFill>
                            <a:srgbClr val="000000"/>
                          </a:solidFill>
                          <a:latin typeface="Montserrat"/>
                        </a:defRPr>
                      </a:pPr>
                      <a:r>
                        <a:t>0</a:t>
                      </a:r>
                    </a:p>
                  </a:txBody>
                  <a:tcPr marL="10800" marR="10800" marT="10800" marB="10800" anchor="ctr">
                    <a:solidFill>
                      <a:srgbClr val="FFFFFF"/>
                    </a:solidFill>
                  </a:tcPr>
                </a:tc>
                <a:extLst>
                  <a:ext uri="{0D108BD9-81ED-4DB2-BD59-A6C34878D82A}">
                    <a16:rowId xmlns:a16="http://schemas.microsoft.com/office/drawing/2014/main" val="10002"/>
                  </a:ext>
                </a:extLst>
              </a:tr>
              <a:tr h="248400">
                <a:tc>
                  <a:txBody>
                    <a:bodyPr/>
                    <a:lstStyle/>
                    <a:p>
                      <a:pPr algn="l">
                        <a:defRPr sz="1000">
                          <a:solidFill>
                            <a:srgbClr val="000000"/>
                          </a:solidFill>
                          <a:latin typeface="Montserrat"/>
                        </a:defRPr>
                      </a:pPr>
                      <a: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t>6</a:t>
                      </a:r>
                    </a:p>
                  </a:txBody>
                  <a:tcPr marL="10800" marR="10800" marT="10800" marB="10800" anchor="ctr">
                    <a:solidFill>
                      <a:srgbClr val="EFEFEF"/>
                    </a:solidFill>
                  </a:tcPr>
                </a:tc>
                <a:tc>
                  <a:txBody>
                    <a:bodyPr/>
                    <a:lstStyle/>
                    <a:p>
                      <a:pPr algn="ctr">
                        <a:defRPr sz="1000">
                          <a:solidFill>
                            <a:srgbClr val="000000"/>
                          </a:solidFill>
                          <a:latin typeface="Montserrat"/>
                        </a:defRPr>
                      </a:pPr>
                      <a:r>
                        <a:t>21</a:t>
                      </a:r>
                    </a:p>
                  </a:txBody>
                  <a:tcPr marL="10800" marR="10800" marT="10800" marB="10800" anchor="ctr">
                    <a:solidFill>
                      <a:srgbClr val="EFEFEF"/>
                    </a:solidFill>
                  </a:tcPr>
                </a:tc>
                <a:tc>
                  <a:txBody>
                    <a:bodyPr/>
                    <a:lstStyle/>
                    <a:p>
                      <a:pPr algn="ctr">
                        <a:defRPr sz="1000">
                          <a:solidFill>
                            <a:srgbClr val="000000"/>
                          </a:solidFill>
                          <a:latin typeface="Montserrat"/>
                        </a:defRPr>
                      </a:pPr>
                      <a:r>
                        <a:t>221</a:t>
                      </a:r>
                    </a:p>
                  </a:txBody>
                  <a:tcPr marL="10800" marR="10800" marT="10800" marB="10800" anchor="ctr">
                    <a:solidFill>
                      <a:srgbClr val="EFEFEF"/>
                    </a:solidFill>
                  </a:tcPr>
                </a:tc>
                <a:extLst>
                  <a:ext uri="{0D108BD9-81ED-4DB2-BD59-A6C34878D82A}">
                    <a16:rowId xmlns:a16="http://schemas.microsoft.com/office/drawing/2014/main" val="10003"/>
                  </a:ext>
                </a:extLst>
              </a:tr>
              <a:tr h="213120">
                <a:tc>
                  <a:txBody>
                    <a:bodyPr/>
                    <a:lstStyle/>
                    <a:p>
                      <a:pPr algn="l">
                        <a:defRPr sz="1000" b="1">
                          <a:solidFill>
                            <a:srgbClr val="006556"/>
                          </a:solidFill>
                          <a:latin typeface="Montserrat"/>
                        </a:defRPr>
                      </a:pPr>
                      <a: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t>147</a:t>
                      </a:r>
                    </a:p>
                  </a:txBody>
                  <a:tcPr marL="10800" marR="10800" marT="10800" marB="10800" anchor="ctr">
                    <a:solidFill>
                      <a:srgbClr val="D3E9E7"/>
                    </a:solidFill>
                  </a:tcPr>
                </a:tc>
                <a:tc>
                  <a:txBody>
                    <a:bodyPr/>
                    <a:lstStyle/>
                    <a:p>
                      <a:pPr algn="ctr">
                        <a:defRPr sz="1000" b="1">
                          <a:solidFill>
                            <a:srgbClr val="006556"/>
                          </a:solidFill>
                          <a:latin typeface="Montserrat"/>
                        </a:defRPr>
                      </a:pPr>
                      <a:r>
                        <a:t>181</a:t>
                      </a:r>
                    </a:p>
                  </a:txBody>
                  <a:tcPr marL="10800" marR="10800" marT="10800" marB="10800" anchor="ctr">
                    <a:solidFill>
                      <a:srgbClr val="D3E9E7"/>
                    </a:solidFill>
                  </a:tcPr>
                </a:tc>
                <a:tc>
                  <a:txBody>
                    <a:bodyPr/>
                    <a:lstStyle/>
                    <a:p>
                      <a:pPr algn="ctr">
                        <a:defRPr sz="1000" b="1">
                          <a:solidFill>
                            <a:srgbClr val="006556"/>
                          </a:solidFill>
                          <a:latin typeface="Montserrat"/>
                        </a:defRPr>
                      </a:pPr>
                      <a:r>
                        <a:rPr dirty="0"/>
                        <a:t>221</a:t>
                      </a:r>
                    </a:p>
                  </a:txBody>
                  <a:tcPr marL="10800" marR="10800" marT="10800" marB="10800"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137" name="Table 136"/>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extLst>
                    <a:ext uri="{9D8B030D-6E8A-4147-A177-3AD203B41FA5}">
                      <a16:colId xmlns:a16="http://schemas.microsoft.com/office/drawing/2014/main" val="20000"/>
                    </a:ext>
                  </a:extLst>
                </a:gridCol>
                <a:gridCol w="1013400">
                  <a:extLst>
                    <a:ext uri="{9D8B030D-6E8A-4147-A177-3AD203B41FA5}">
                      <a16:colId xmlns:a16="http://schemas.microsoft.com/office/drawing/2014/main" val="20001"/>
                    </a:ext>
                  </a:extLst>
                </a:gridCol>
              </a:tblGrid>
              <a:tr h="293400">
                <a:tc>
                  <a:txBody>
                    <a:bodyPr/>
                    <a:lstStyle/>
                    <a:p>
                      <a:pPr algn="ctr">
                        <a:defRPr sz="1000" b="1">
                          <a:solidFill>
                            <a:srgbClr val="FFFFFF"/>
                          </a:solidFill>
                          <a:latin typeface="Montserrat"/>
                        </a:defRPr>
                      </a:pPr>
                      <a:r>
                        <a:t>2o Nivel</a:t>
                      </a:r>
                    </a:p>
                  </a:txBody>
                  <a:tcPr>
                    <a:solidFill>
                      <a:srgbClr val="006455"/>
                    </a:solidFill>
                  </a:tcPr>
                </a:tc>
                <a:tc>
                  <a:txBody>
                    <a:bodyPr/>
                    <a:lstStyle/>
                    <a:p>
                      <a:pPr algn="ctr">
                        <a:defRPr sz="1000" b="1">
                          <a:solidFill>
                            <a:srgbClr val="FFFFFF"/>
                          </a:solidFill>
                          <a:latin typeface="Montserrat"/>
                        </a:defRPr>
                      </a:pPr>
                      <a:r>
                        <a:t>Unidades</a:t>
                      </a:r>
                    </a:p>
                  </a:txBody>
                  <a:tcPr>
                    <a:solidFill>
                      <a:srgbClr val="006455"/>
                    </a:solidFill>
                  </a:tcPr>
                </a:tc>
                <a:extLst>
                  <a:ext uri="{0D108BD9-81ED-4DB2-BD59-A6C34878D82A}">
                    <a16:rowId xmlns:a16="http://schemas.microsoft.com/office/drawing/2014/main" val="10000"/>
                  </a:ext>
                </a:extLst>
              </a:tr>
              <a:tr h="293400">
                <a:tc>
                  <a:txBody>
                    <a:bodyPr/>
                    <a:lstStyle/>
                    <a:p>
                      <a:pPr algn="ctr">
                        <a:defRPr sz="1000">
                          <a:solidFill>
                            <a:srgbClr val="000000"/>
                          </a:solidFill>
                          <a:latin typeface="Montserrat"/>
                        </a:defRPr>
                      </a:pPr>
                      <a:r>
                        <a:t>HR</a:t>
                      </a:r>
                    </a:p>
                  </a:txBody>
                  <a:tcPr>
                    <a:solidFill>
                      <a:srgbClr val="EFEFEF"/>
                    </a:solidFill>
                  </a:tcPr>
                </a:tc>
                <a:tc>
                  <a:txBody>
                    <a:bodyPr/>
                    <a:lstStyle/>
                    <a:p>
                      <a:pPr algn="ctr">
                        <a:defRPr sz="1000">
                          <a:solidFill>
                            <a:srgbClr val="000000"/>
                          </a:solidFill>
                          <a:latin typeface="Montserrat"/>
                        </a:defRPr>
                      </a:pPr>
                      <a:r>
                        <a:t>6</a:t>
                      </a:r>
                    </a:p>
                  </a:txBody>
                  <a:tcPr>
                    <a:solidFill>
                      <a:srgbClr val="EFEFEF"/>
                    </a:solidFill>
                  </a:tcPr>
                </a:tc>
                <a:extLst>
                  <a:ext uri="{0D108BD9-81ED-4DB2-BD59-A6C34878D82A}">
                    <a16:rowId xmlns:a16="http://schemas.microsoft.com/office/drawing/2014/main" val="10001"/>
                  </a:ext>
                </a:extLst>
              </a:tr>
              <a:tr h="29340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2"/>
                  </a:ext>
                </a:extLst>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extLst>
                  <a:ext uri="{0D108BD9-81ED-4DB2-BD59-A6C34878D82A}">
                    <a16:rowId xmlns:a16="http://schemas.microsoft.com/office/drawing/2014/main" val="10003"/>
                  </a:ext>
                </a:extLst>
              </a:tr>
            </a:tbl>
          </a:graphicData>
        </a:graphic>
      </p:graphicFrame>
      <p:sp>
        <p:nvSpPr>
          <p:cNvPr id="138" name="TextBox 137"/>
          <p:cNvSpPr txBox="1"/>
          <p:nvPr/>
        </p:nvSpPr>
        <p:spPr>
          <a:xfrm>
            <a:off x="212400" y="9540000"/>
            <a:ext cx="7200000" cy="360000"/>
          </a:xfrm>
          <a:prstGeom prst="rect">
            <a:avLst/>
          </a:prstGeom>
          <a:noFill/>
        </p:spPr>
        <p:txBody>
          <a:bodyPr wrap="square" lIns="0" tIns="0" rIns="0" bIns="0">
            <a:spAutoFit/>
          </a:bodyPr>
          <a:lstStyle/>
          <a:p>
            <a:pPr algn="l">
              <a:defRPr sz="700">
                <a:solidFill>
                  <a:srgbClr val="FFFFFF"/>
                </a:solidFill>
                <a:latin typeface="Montserrat"/>
              </a:defRPr>
            </a:pPr>
            <a:r>
              <a:t>¹ Incluye 35 UMF y no incluye 1 Unidades Auxiliares de Medicina Familiar.</a:t>
            </a:r>
            <a:br/>
            <a:r>
              <a:t>² No incluye Unidades médicas móviles (UMM) ni Brigadas de salud (BS).</a:t>
            </a:r>
          </a:p>
        </p:txBody>
      </p:sp>
      <p:sp>
        <p:nvSpPr>
          <p:cNvPr id="139" name="TextBox 138"/>
          <p:cNvSpPr txBox="1"/>
          <p:nvPr/>
        </p:nvSpPr>
        <p:spPr>
          <a:xfrm>
            <a:off x="212400" y="9774000"/>
            <a:ext cx="1713600" cy="107722"/>
          </a:xfrm>
          <a:prstGeom prst="rect">
            <a:avLst/>
          </a:prstGeom>
          <a:noFill/>
        </p:spPr>
        <p:txBody>
          <a:bodyPr wrap="square" lIns="0" tIns="0" rIns="0" bIns="0">
            <a:spAutoFit/>
          </a:bodyPr>
          <a:lstStyle/>
          <a:p>
            <a:pPr algn="l">
              <a:defRPr sz="700">
                <a:solidFill>
                  <a:srgbClr val="FFFFFF"/>
                </a:solidFill>
                <a:latin typeface="Montserrat"/>
              </a:defRPr>
            </a:pPr>
            <a:r>
              <a:rPr dirty="0"/>
              <a:t>Corte de </a:t>
            </a:r>
            <a:r>
              <a:rPr dirty="0" err="1"/>
              <a:t>información</a:t>
            </a:r>
            <a:r>
              <a:rPr dirty="0"/>
              <a:t>: ma</a:t>
            </a:r>
            <a:r>
              <a:rPr lang="es-MX" dirty="0"/>
              <a:t>yo</a:t>
            </a:r>
            <a:r>
              <a:rPr dirty="0"/>
              <a:t> de 2026</a:t>
            </a:r>
          </a:p>
        </p:txBody>
      </p:sp>
      <p:sp>
        <p:nvSpPr>
          <p:cNvPr id="140" name="TextBox 139"/>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80;g3d0b4d3c5c9_2_20">
            <a:extLst>
              <a:ext uri="{FF2B5EF4-FFF2-40B4-BE49-F238E27FC236}">
                <a16:creationId xmlns:a16="http://schemas.microsoft.com/office/drawing/2014/main" id="{C016641E-9252-F0A7-91A5-859146099534}"/>
              </a:ext>
            </a:extLst>
          </p:cNvPr>
          <p:cNvGraphicFramePr/>
          <p:nvPr>
            <p:extLst>
              <p:ext uri="{D42A27DB-BD31-4B8C-83A1-F6EECF244321}">
                <p14:modId xmlns:p14="http://schemas.microsoft.com/office/powerpoint/2010/main" val="2910665919"/>
              </p:ext>
            </p:extLst>
          </p:nvPr>
        </p:nvGraphicFramePr>
        <p:xfrm>
          <a:off x="28800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Ciudad de Zacatecas</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81;g3d0b4d3c5c9_2_20">
            <a:extLst>
              <a:ext uri="{FF2B5EF4-FFF2-40B4-BE49-F238E27FC236}">
                <a16:creationId xmlns:a16="http://schemas.microsoft.com/office/drawing/2014/main" id="{3F5A7FDF-9878-E275-11D4-E921F5F14008}"/>
              </a:ext>
            </a:extLst>
          </p:cNvPr>
          <p:cNvPicPr preferRelativeResize="0"/>
          <p:nvPr/>
        </p:nvPicPr>
        <p:blipFill>
          <a:blip r:embed="rId4">
            <a:alphaModFix/>
          </a:blip>
          <a:stretch>
            <a:fillRect/>
          </a:stretch>
        </p:blipFill>
        <p:spPr>
          <a:xfrm flipH="1">
            <a:off x="286850" y="2612027"/>
            <a:ext cx="2680925" cy="1474505"/>
          </a:xfrm>
          <a:prstGeom prst="rect">
            <a:avLst/>
          </a:prstGeom>
          <a:noFill/>
          <a:ln>
            <a:noFill/>
          </a:ln>
        </p:spPr>
      </p:pic>
      <p:sp>
        <p:nvSpPr>
          <p:cNvPr id="7" name="CuadroTexto 6">
            <a:extLst>
              <a:ext uri="{FF2B5EF4-FFF2-40B4-BE49-F238E27FC236}">
                <a16:creationId xmlns:a16="http://schemas.microsoft.com/office/drawing/2014/main" id="{7A122D17-67FA-B978-2456-09D75F9EFF71}"/>
              </a:ext>
            </a:extLst>
          </p:cNvPr>
          <p:cNvSpPr txBox="1"/>
          <p:nvPr/>
        </p:nvSpPr>
        <p:spPr>
          <a:xfrm>
            <a:off x="3260035" y="2061748"/>
            <a:ext cx="4356917" cy="2575064"/>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a operar en la entidad en 1959. Inicialmente las consultas se otorgaban mediante consulta externa, enfocadas en medicina general y atención básica, a través de unidades médicas pequeñas.</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en Zacatecas fue la Clínica Hospital del IMSS en la ciudad de Zacatecas, antecesora del actual Hospital General de Zona (HGZ) No. 1, cuya entrada en operaciones ocurrió a inicios de la década de 1960. </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En su etapa inicial, la clínica‑hospital contó con capacidad instalada limitada, acorde al perfil de un hospital general básico de la época, y brindó consulta externa, hospitalización general, atención de urgencias, cirugía básica, medicina interna, gineco‑obstetricia y pediatría.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2" name="Table 11"/>
          <p:cNvGraphicFramePr>
            <a:graphicFrameLocks noGrp="1"/>
          </p:cNvGraphicFramePr>
          <p:nvPr/>
        </p:nvGraphicFramePr>
        <p:xfrm>
          <a:off x="75600" y="6476399"/>
          <a:ext cx="7650000" cy="119412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Unidad</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HGZ 1 Zacatecas</a:t>
                      </a:r>
                    </a:p>
                  </a:txBody>
                  <a:tcPr anchor="ctr">
                    <a:solidFill>
                      <a:srgbClr val="FFFFFF"/>
                    </a:solidFill>
                  </a:tcPr>
                </a:tc>
                <a:tc>
                  <a:txBody>
                    <a:bodyPr/>
                    <a:lstStyle/>
                    <a:p>
                      <a:pPr algn="ctr">
                        <a:defRPr sz="900">
                          <a:latin typeface="Montserrat"/>
                        </a:defRPr>
                      </a:pPr>
                      <a:r>
                        <a:t>Abril de 1966</a:t>
                      </a:r>
                    </a:p>
                  </a:txBody>
                  <a:tcPr anchor="ctr">
                    <a:solidFill>
                      <a:srgbClr val="FFFFFF"/>
                    </a:solidFill>
                  </a:tcPr>
                </a:tc>
                <a:tc>
                  <a:txBody>
                    <a:bodyPr/>
                    <a:lstStyle/>
                    <a:p>
                      <a:pPr algn="ctr">
                        <a:defRPr sz="900">
                          <a:latin typeface="Montserrat"/>
                        </a:defRPr>
                      </a:pPr>
                      <a:r>
                        <a:t>179</a:t>
                      </a:r>
                    </a:p>
                  </a:txBody>
                  <a:tcPr anchor="ctr">
                    <a:solidFill>
                      <a:srgbClr val="FFFFFF"/>
                    </a:solidFill>
                  </a:tcPr>
                </a:tc>
                <a:tc>
                  <a:txBody>
                    <a:bodyPr/>
                    <a:lstStyle/>
                    <a:p>
                      <a:pPr algn="ctr">
                        <a:defRPr sz="900">
                          <a:latin typeface="Montserrat"/>
                        </a:defRPr>
                      </a:pPr>
                      <a:r>
                        <a:t>119</a:t>
                      </a:r>
                    </a:p>
                  </a:txBody>
                  <a:tcPr anchor="ctr">
                    <a:solidFill>
                      <a:srgbClr val="FFFFFF"/>
                    </a:solidFill>
                  </a:tcPr>
                </a:tc>
                <a:tc>
                  <a:txBody>
                    <a:bodyPr/>
                    <a:lstStyle/>
                    <a:p>
                      <a:pPr algn="ctr">
                        <a:defRPr sz="900">
                          <a:latin typeface="Montserrat"/>
                        </a:defRPr>
                      </a:pPr>
                      <a:r>
                        <a:t>17</a:t>
                      </a:r>
                    </a:p>
                  </a:txBody>
                  <a:tcPr anchor="ctr">
                    <a:solidFill>
                      <a:srgbClr val="FFFFFF"/>
                    </a:solidFill>
                  </a:tcPr>
                </a:tc>
                <a:tc>
                  <a:txBody>
                    <a:bodyPr/>
                    <a:lstStyle/>
                    <a:p>
                      <a:pPr algn="ctr">
                        <a:defRPr sz="900">
                          <a:latin typeface="Montserrat"/>
                        </a:defRPr>
                      </a:pPr>
                      <a:r>
                        <a:t>6</a:t>
                      </a:r>
                    </a:p>
                  </a:txBody>
                  <a:tcPr anchor="ctr">
                    <a:solidFill>
                      <a:srgbClr val="FFFFFF"/>
                    </a:solidFill>
                  </a:tcPr>
                </a:tc>
                <a:tc>
                  <a:txBody>
                    <a:bodyPr/>
                    <a:lstStyle/>
                    <a:p>
                      <a:pPr algn="ctr">
                        <a:defRPr sz="900">
                          <a:latin typeface="Montserrat"/>
                        </a:defRPr>
                      </a:pPr>
                      <a:r>
                        <a:t>42</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HGZ 2 Fresnillo</a:t>
                      </a:r>
                    </a:p>
                  </a:txBody>
                  <a:tcPr anchor="ctr">
                    <a:solidFill>
                      <a:srgbClr val="EFEFEF"/>
                    </a:solidFill>
                  </a:tcPr>
                </a:tc>
                <a:tc>
                  <a:txBody>
                    <a:bodyPr/>
                    <a:lstStyle/>
                    <a:p>
                      <a:pPr algn="ctr">
                        <a:defRPr sz="900">
                          <a:latin typeface="Montserrat"/>
                        </a:defRPr>
                      </a:pPr>
                      <a:r>
                        <a:t>Abril de 1976</a:t>
                      </a:r>
                    </a:p>
                  </a:txBody>
                  <a:tcPr anchor="ctr">
                    <a:solidFill>
                      <a:srgbClr val="EFEFEF"/>
                    </a:solidFill>
                  </a:tcPr>
                </a:tc>
                <a:tc>
                  <a:txBody>
                    <a:bodyPr/>
                    <a:lstStyle/>
                    <a:p>
                      <a:pPr algn="ctr">
                        <a:defRPr sz="900">
                          <a:latin typeface="Montserrat"/>
                        </a:defRPr>
                      </a:pPr>
                      <a:r>
                        <a:t>126</a:t>
                      </a:r>
                    </a:p>
                  </a:txBody>
                  <a:tcPr anchor="ctr">
                    <a:solidFill>
                      <a:srgbClr val="EFEFEF"/>
                    </a:solidFill>
                  </a:tcPr>
                </a:tc>
                <a:tc>
                  <a:txBody>
                    <a:bodyPr/>
                    <a:lstStyle/>
                    <a:p>
                      <a:pPr algn="ctr">
                        <a:defRPr sz="900">
                          <a:latin typeface="Montserrat"/>
                        </a:defRPr>
                      </a:pPr>
                      <a:r>
                        <a:t>57</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18</a:t>
                      </a:r>
                    </a:p>
                  </a:txBody>
                  <a:tcPr anchor="ctr">
                    <a:solidFill>
                      <a:srgbClr val="EFEFEF"/>
                    </a:solidFill>
                  </a:tcPr>
                </a:tc>
                <a:extLst>
                  <a:ext uri="{0D108BD9-81ED-4DB2-BD59-A6C34878D82A}">
                    <a16:rowId xmlns:a16="http://schemas.microsoft.com/office/drawing/2014/main" val="10002"/>
                  </a:ext>
                </a:extLst>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305</a:t>
                      </a:r>
                    </a:p>
                  </a:txBody>
                  <a:tcPr anchor="ctr">
                    <a:solidFill>
                      <a:srgbClr val="D3E9E7"/>
                    </a:solidFill>
                  </a:tcPr>
                </a:tc>
                <a:tc>
                  <a:txBody>
                    <a:bodyPr/>
                    <a:lstStyle/>
                    <a:p>
                      <a:pPr algn="ctr">
                        <a:defRPr sz="900" b="1">
                          <a:solidFill>
                            <a:srgbClr val="006556"/>
                          </a:solidFill>
                          <a:latin typeface="Montserrat"/>
                        </a:defRPr>
                      </a:pPr>
                      <a:r>
                        <a:t>176</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9</a:t>
                      </a:r>
                    </a:p>
                  </a:txBody>
                  <a:tcPr anchor="ctr">
                    <a:solidFill>
                      <a:srgbClr val="D3E9E7"/>
                    </a:solidFill>
                  </a:tcPr>
                </a:tc>
                <a:tc>
                  <a:txBody>
                    <a:bodyPr/>
                    <a:lstStyle/>
                    <a:p>
                      <a:pPr algn="ctr">
                        <a:defRPr sz="900" b="1">
                          <a:solidFill>
                            <a:srgbClr val="006556"/>
                          </a:solidFill>
                          <a:latin typeface="Montserrat"/>
                        </a:defRPr>
                      </a:pPr>
                      <a:r>
                        <a:t>60</a:t>
                      </a:r>
                    </a:p>
                  </a:txBody>
                  <a:tcPr anchor="ctr">
                    <a:solidFill>
                      <a:srgbClr val="D3E9E7"/>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rPr dirty="0"/>
              <a:t>¹Incluye </a:t>
            </a:r>
            <a:r>
              <a:rPr dirty="0" err="1"/>
              <a:t>salas</a:t>
            </a:r>
            <a:r>
              <a:rPr dirty="0"/>
              <a:t> de </a:t>
            </a:r>
            <a:r>
              <a:rPr dirty="0" err="1"/>
              <a:t>quirófano</a:t>
            </a:r>
            <a:r>
              <a:rPr dirty="0"/>
              <a:t>, </a:t>
            </a:r>
            <a:r>
              <a:rPr dirty="0" err="1"/>
              <a:t>salas</a:t>
            </a:r>
            <a:r>
              <a:rPr dirty="0"/>
              <a:t> </a:t>
            </a:r>
            <a:r>
              <a:rPr dirty="0" err="1"/>
              <a:t>híbridas</a:t>
            </a:r>
            <a:r>
              <a:rPr dirty="0"/>
              <a:t> y </a:t>
            </a:r>
            <a:r>
              <a:rPr dirty="0" err="1"/>
              <a:t>salas</a:t>
            </a:r>
            <a:r>
              <a:rPr dirty="0"/>
              <a:t> </a:t>
            </a:r>
            <a:r>
              <a:rPr dirty="0" err="1"/>
              <a:t>mixtas</a:t>
            </a:r>
            <a:r>
              <a:rPr dirty="0"/>
              <a:t>, no </a:t>
            </a:r>
            <a:r>
              <a:rPr dirty="0" err="1"/>
              <a:t>considera</a:t>
            </a:r>
            <a:r>
              <a:rPr dirty="0"/>
              <a:t> </a:t>
            </a:r>
            <a:r>
              <a:rPr dirty="0" err="1"/>
              <a:t>salas</a:t>
            </a:r>
            <a:r>
              <a:rPr dirty="0"/>
              <a:t> de </a:t>
            </a:r>
            <a:r>
              <a:rPr dirty="0" err="1"/>
              <a:t>tococirugía</a:t>
            </a:r>
            <a:r>
              <a:rPr dirty="0"/>
              <a:t> y </a:t>
            </a:r>
            <a:r>
              <a:rPr dirty="0" err="1"/>
              <a:t>expulsión</a:t>
            </a:r>
            <a:r>
              <a:rPr dirty="0"/>
              <a:t>.</a:t>
            </a:r>
            <a:br>
              <a:rPr dirty="0"/>
            </a:br>
            <a:r>
              <a:rPr dirty="0" err="1"/>
              <a:t>Fuente</a:t>
            </a:r>
            <a:r>
              <a:rPr dirty="0"/>
              <a:t>: </a:t>
            </a:r>
            <a:r>
              <a:rPr dirty="0" err="1"/>
              <a:t>Cédula</a:t>
            </a:r>
            <a:r>
              <a:rPr dirty="0"/>
              <a:t> de </a:t>
            </a:r>
            <a:r>
              <a:rPr dirty="0" err="1"/>
              <a:t>actualización</a:t>
            </a:r>
            <a:r>
              <a:rPr dirty="0"/>
              <a:t> de variables </a:t>
            </a:r>
            <a:r>
              <a:rPr dirty="0" err="1"/>
              <a:t>seleccionados</a:t>
            </a:r>
            <a:r>
              <a:rPr dirty="0"/>
              <a:t> del IFU </a:t>
            </a:r>
            <a:r>
              <a:rPr dirty="0" err="1"/>
              <a:t>enviados</a:t>
            </a:r>
            <a:r>
              <a:rPr dirty="0"/>
              <a:t> </a:t>
            </a:r>
            <a:r>
              <a:rPr dirty="0" err="1"/>
              <a:t>por</a:t>
            </a:r>
            <a:r>
              <a:rPr dirty="0"/>
              <a:t> el OOAD.</a:t>
            </a:r>
            <a:br>
              <a:rPr dirty="0"/>
            </a:br>
            <a:r>
              <a:rPr dirty="0"/>
              <a:t>Corte de </a:t>
            </a:r>
            <a:r>
              <a:rPr dirty="0" err="1"/>
              <a:t>Información</a:t>
            </a:r>
            <a:r>
              <a:rPr dirty="0"/>
              <a:t>: ma</a:t>
            </a:r>
            <a:r>
              <a:rPr lang="es-MX" dirty="0"/>
              <a:t>yo</a:t>
            </a:r>
            <a:r>
              <a:rPr dirty="0"/>
              <a:t> de 2026</a:t>
            </a:r>
          </a:p>
        </p:txBody>
      </p:sp>
      <p:sp>
        <p:nvSpPr>
          <p:cNvPr id="3" name="CuadroTexto 2">
            <a:extLst>
              <a:ext uri="{FF2B5EF4-FFF2-40B4-BE49-F238E27FC236}">
                <a16:creationId xmlns:a16="http://schemas.microsoft.com/office/drawing/2014/main" id="{00A377BD-ABE2-39E6-54F1-FA34462F5DC0}"/>
              </a:ext>
            </a:extLst>
          </p:cNvPr>
          <p:cNvSpPr txBox="1"/>
          <p:nvPr/>
        </p:nvSpPr>
        <p:spPr>
          <a:xfrm>
            <a:off x="146304" y="5631225"/>
            <a:ext cx="7418592" cy="584775"/>
          </a:xfrm>
          <a:prstGeom prst="rect">
            <a:avLst/>
          </a:prstGeom>
          <a:solidFill>
            <a:schemeClr val="tx2">
              <a:lumMod val="90000"/>
            </a:schemeClr>
          </a:solidFill>
        </p:spPr>
        <p:txBody>
          <a:bodyPr wrap="square" rtlCol="0">
            <a:spAutoFit/>
          </a:bodyPr>
          <a:lstStyle/>
          <a:p>
            <a:pPr algn="ctr"/>
            <a:r>
              <a:rPr lang="es-MX" sz="1600" b="1" dirty="0">
                <a:solidFill>
                  <a:srgbClr val="A42145"/>
                </a:solidFill>
                <a:latin typeface="Montserrat"/>
              </a:rPr>
              <a:t>2 hospitales se construyeron en la etapa fundacional (305 camas)</a:t>
            </a:r>
          </a:p>
          <a:p>
            <a:pPr algn="ctr"/>
            <a:r>
              <a:rPr lang="es-MX" sz="1600" b="1" dirty="0">
                <a:solidFill>
                  <a:srgbClr val="A42145"/>
                </a:solidFill>
                <a:latin typeface="Montserrat"/>
              </a:rPr>
              <a:t>1 hospital iniciará en la transformación (216 camas)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4" name="Connector 3"/>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334507468"/>
              </p:ext>
            </p:extLst>
          </p:nvPr>
        </p:nvGraphicFramePr>
        <p:xfrm>
          <a:off x="75600" y="1120500"/>
          <a:ext cx="7650000" cy="2481480"/>
        </p:xfrm>
        <a:graphic>
          <a:graphicData uri="http://schemas.openxmlformats.org/drawingml/2006/table">
            <a:tbl>
              <a:tblPr firstRow="1" bandRow="1">
                <a:tableStyleId>{5C22544A-7EE6-4342-B048-85BDC9FD1C3A}</a:tableStyleId>
              </a:tblPr>
              <a:tblGrid>
                <a:gridCol w="1980000">
                  <a:extLst>
                    <a:ext uri="{9D8B030D-6E8A-4147-A177-3AD203B41FA5}">
                      <a16:colId xmlns:a16="http://schemas.microsoft.com/office/drawing/2014/main" val="20000"/>
                    </a:ext>
                  </a:extLst>
                </a:gridCol>
                <a:gridCol w="1339200">
                  <a:extLst>
                    <a:ext uri="{9D8B030D-6E8A-4147-A177-3AD203B41FA5}">
                      <a16:colId xmlns:a16="http://schemas.microsoft.com/office/drawing/2014/main" val="20001"/>
                    </a:ext>
                  </a:extLst>
                </a:gridCol>
                <a:gridCol w="684000">
                  <a:extLst>
                    <a:ext uri="{9D8B030D-6E8A-4147-A177-3AD203B41FA5}">
                      <a16:colId xmlns:a16="http://schemas.microsoft.com/office/drawing/2014/main" val="20002"/>
                    </a:ext>
                  </a:extLst>
                </a:gridCol>
                <a:gridCol w="781200">
                  <a:extLst>
                    <a:ext uri="{9D8B030D-6E8A-4147-A177-3AD203B41FA5}">
                      <a16:colId xmlns:a16="http://schemas.microsoft.com/office/drawing/2014/main" val="20003"/>
                    </a:ext>
                  </a:extLst>
                </a:gridCol>
                <a:gridCol w="810000">
                  <a:extLst>
                    <a:ext uri="{9D8B030D-6E8A-4147-A177-3AD203B41FA5}">
                      <a16:colId xmlns:a16="http://schemas.microsoft.com/office/drawing/2014/main" val="20004"/>
                    </a:ext>
                  </a:extLst>
                </a:gridCol>
                <a:gridCol w="957600">
                  <a:extLst>
                    <a:ext uri="{9D8B030D-6E8A-4147-A177-3AD203B41FA5}">
                      <a16:colId xmlns:a16="http://schemas.microsoft.com/office/drawing/2014/main" val="20005"/>
                    </a:ext>
                  </a:extLst>
                </a:gridCol>
                <a:gridCol w="1098000">
                  <a:extLst>
                    <a:ext uri="{9D8B030D-6E8A-4147-A177-3AD203B41FA5}">
                      <a16:colId xmlns:a16="http://schemas.microsoft.com/office/drawing/2014/main" val="20006"/>
                    </a:ext>
                  </a:extLst>
                </a:gridCol>
              </a:tblGrid>
              <a:tr h="230400">
                <a:tc>
                  <a:txBody>
                    <a:bodyPr/>
                    <a:lstStyle/>
                    <a:p>
                      <a:pPr algn="ctr">
                        <a:defRPr sz="900" b="1">
                          <a:solidFill>
                            <a:srgbClr val="FFFFFF"/>
                          </a:solidFill>
                          <a:latin typeface="Montserrat"/>
                        </a:defRPr>
                      </a:pPr>
                      <a:r>
                        <a:t>IMSS-Coplamar</a:t>
                      </a:r>
                    </a:p>
                  </a:txBody>
                  <a:tcPr anchor="ctr">
                    <a:solidFill>
                      <a:srgbClr val="006455"/>
                    </a:solidFill>
                  </a:tcPr>
                </a:tc>
                <a:tc>
                  <a:txBody>
                    <a:bodyPr/>
                    <a:lstStyle/>
                    <a:p>
                      <a:pPr algn="ctr">
                        <a:defRPr sz="900" b="1">
                          <a:solidFill>
                            <a:srgbClr val="FFFFFF"/>
                          </a:solidFill>
                          <a:latin typeface="Montserrat"/>
                        </a:defRPr>
                      </a:pPr>
                      <a:r>
                        <a:t>Inicio de operaciones</a:t>
                      </a:r>
                    </a:p>
                  </a:txBody>
                  <a:tcPr anchor="ctr">
                    <a:solidFill>
                      <a:srgbClr val="006455"/>
                    </a:solidFill>
                  </a:tcPr>
                </a:tc>
                <a:tc>
                  <a:txBody>
                    <a:bodyPr/>
                    <a:lstStyle/>
                    <a:p>
                      <a:pPr algn="ctr">
                        <a:defRPr sz="900" b="1">
                          <a:solidFill>
                            <a:srgbClr val="FFFFFF"/>
                          </a:solidFill>
                          <a:latin typeface="Montserrat"/>
                        </a:defRPr>
                      </a:pPr>
                      <a:r>
                        <a:t>Camas</a:t>
                      </a:r>
                    </a:p>
                  </a:txBody>
                  <a:tcPr anchor="ctr">
                    <a:solidFill>
                      <a:srgbClr val="006455"/>
                    </a:solidFill>
                  </a:tcPr>
                </a:tc>
                <a:tc>
                  <a:txBody>
                    <a:bodyPr/>
                    <a:lstStyle/>
                    <a:p>
                      <a:pPr algn="ctr">
                        <a:defRPr sz="900" b="1">
                          <a:solidFill>
                            <a:srgbClr val="FFFFFF"/>
                          </a:solidFill>
                          <a:latin typeface="Montserrat"/>
                        </a:defRPr>
                      </a:pPr>
                      <a:r>
                        <a:t>Camas no censables</a:t>
                      </a:r>
                    </a:p>
                  </a:txBody>
                  <a:tcPr anchor="ctr">
                    <a:solidFill>
                      <a:srgbClr val="006455"/>
                    </a:solidFill>
                  </a:tcPr>
                </a:tc>
                <a:tc>
                  <a:txBody>
                    <a:bodyPr/>
                    <a:lstStyle/>
                    <a:p>
                      <a:pPr algn="ctr">
                        <a:defRPr sz="900" b="1">
                          <a:solidFill>
                            <a:srgbClr val="FFFFFF"/>
                          </a:solidFill>
                          <a:latin typeface="Montserrat"/>
                        </a:defRPr>
                      </a:pPr>
                      <a:r>
                        <a:t>Camas de cuidados intensivos</a:t>
                      </a:r>
                    </a:p>
                  </a:txBody>
                  <a:tcPr anchor="ctr">
                    <a:solidFill>
                      <a:srgbClr val="006455"/>
                    </a:solidFill>
                  </a:tcPr>
                </a:tc>
                <a:tc>
                  <a:txBody>
                    <a:bodyPr/>
                    <a:lstStyle/>
                    <a:p>
                      <a:pPr algn="ctr">
                        <a:defRPr sz="900" b="1">
                          <a:solidFill>
                            <a:srgbClr val="FFFFFF"/>
                          </a:solidFill>
                          <a:latin typeface="Montserrat"/>
                        </a:defRPr>
                      </a:pPr>
                      <a:r>
                        <a:t>Salas Quirúrgicas¹</a:t>
                      </a:r>
                    </a:p>
                  </a:txBody>
                  <a:tcPr anchor="ctr">
                    <a:solidFill>
                      <a:srgbClr val="006455"/>
                    </a:solidFill>
                  </a:tcPr>
                </a:tc>
                <a:tc>
                  <a:txBody>
                    <a:bodyPr/>
                    <a:lstStyle/>
                    <a:p>
                      <a:pPr algn="ctr">
                        <a:defRPr sz="900" b="1">
                          <a:solidFill>
                            <a:srgbClr val="FFFFFF"/>
                          </a:solidFill>
                          <a:latin typeface="Montserrat"/>
                        </a:defRPr>
                      </a:pPr>
                      <a:r>
                        <a:t>Consultorios de especialidades</a:t>
                      </a:r>
                    </a:p>
                  </a:txBody>
                  <a:tcPr anchor="ctr">
                    <a:solidFill>
                      <a:srgbClr val="006455"/>
                    </a:solidFill>
                  </a:tcPr>
                </a:tc>
                <a:extLst>
                  <a:ext uri="{0D108BD9-81ED-4DB2-BD59-A6C34878D82A}">
                    <a16:rowId xmlns:a16="http://schemas.microsoft.com/office/drawing/2014/main" val="10000"/>
                  </a:ext>
                </a:extLst>
              </a:tr>
              <a:tr h="230400">
                <a:tc>
                  <a:txBody>
                    <a:bodyPr/>
                    <a:lstStyle/>
                    <a:p>
                      <a:pPr algn="l">
                        <a:defRPr sz="900">
                          <a:latin typeface="Montserrat"/>
                        </a:defRPr>
                      </a:pPr>
                      <a:r>
                        <a:t>HR Concepción del Oro</a:t>
                      </a:r>
                    </a:p>
                  </a:txBody>
                  <a:tcPr anchor="ctr">
                    <a:solidFill>
                      <a:srgbClr val="FFFFFF"/>
                    </a:solidFill>
                  </a:tcPr>
                </a:tc>
                <a:tc>
                  <a:txBody>
                    <a:bodyPr/>
                    <a:lstStyle/>
                    <a:p>
                      <a:pPr algn="ctr">
                        <a:defRPr sz="900">
                          <a:latin typeface="Montserrat"/>
                        </a:defRPr>
                      </a:pPr>
                      <a:r>
                        <a:t>Mayo de 1974</a:t>
                      </a:r>
                    </a:p>
                  </a:txBody>
                  <a:tcPr anchor="ctr">
                    <a:solidFill>
                      <a:srgbClr val="FFFFFF"/>
                    </a:solidFill>
                  </a:tcPr>
                </a:tc>
                <a:tc>
                  <a:txBody>
                    <a:bodyPr/>
                    <a:lstStyle/>
                    <a:p>
                      <a:pPr algn="ctr">
                        <a:defRPr sz="900">
                          <a:latin typeface="Montserrat"/>
                        </a:defRPr>
                      </a:pPr>
                      <a:r>
                        <a:t>22</a:t>
                      </a:r>
                    </a:p>
                  </a:txBody>
                  <a:tcPr anchor="ctr">
                    <a:solidFill>
                      <a:srgbClr val="FFFFFF"/>
                    </a:solidFill>
                  </a:tcPr>
                </a:tc>
                <a:tc>
                  <a:txBody>
                    <a:bodyPr/>
                    <a:lstStyle/>
                    <a:p>
                      <a:pPr algn="ctr">
                        <a:defRPr sz="900">
                          <a:latin typeface="Montserrat"/>
                        </a:defRPr>
                      </a:pPr>
                      <a:r>
                        <a:t>14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rPr dirty="0"/>
                        <a:t>3</a:t>
                      </a:r>
                    </a:p>
                  </a:txBody>
                  <a:tcPr anchor="ctr">
                    <a:solidFill>
                      <a:srgbClr val="FFFFFF"/>
                    </a:solidFill>
                  </a:tcPr>
                </a:tc>
                <a:extLst>
                  <a:ext uri="{0D108BD9-81ED-4DB2-BD59-A6C34878D82A}">
                    <a16:rowId xmlns:a16="http://schemas.microsoft.com/office/drawing/2014/main" val="10001"/>
                  </a:ext>
                </a:extLst>
              </a:tr>
              <a:tr h="230400">
                <a:tc>
                  <a:txBody>
                    <a:bodyPr/>
                    <a:lstStyle/>
                    <a:p>
                      <a:pPr algn="l">
                        <a:defRPr sz="900">
                          <a:latin typeface="Montserrat"/>
                        </a:defRPr>
                      </a:pPr>
                      <a:r>
                        <a:t>HR Villanueva</a:t>
                      </a:r>
                    </a:p>
                  </a:txBody>
                  <a:tcPr anchor="ctr">
                    <a:solidFill>
                      <a:srgbClr val="EFEFEF"/>
                    </a:solidFill>
                  </a:tcPr>
                </a:tc>
                <a:tc>
                  <a:txBody>
                    <a:bodyPr/>
                    <a:lstStyle/>
                    <a:p>
                      <a:pPr algn="ctr">
                        <a:defRPr sz="900">
                          <a:latin typeface="Montserrat"/>
                        </a:defRPr>
                      </a:pPr>
                      <a:r>
                        <a:t>Noviembre de 1982</a:t>
                      </a:r>
                    </a:p>
                  </a:txBody>
                  <a:tcPr anchor="ctr">
                    <a:solidFill>
                      <a:srgbClr val="EFEFEF"/>
                    </a:solidFill>
                  </a:tcPr>
                </a:tc>
                <a:tc>
                  <a:txBody>
                    <a:bodyPr/>
                    <a:lstStyle/>
                    <a:p>
                      <a:pPr algn="ctr">
                        <a:defRPr sz="900">
                          <a:latin typeface="Montserrat"/>
                        </a:defRPr>
                      </a:pPr>
                      <a:r>
                        <a:t>24</a:t>
                      </a:r>
                    </a:p>
                  </a:txBody>
                  <a:tcPr anchor="ctr">
                    <a:solidFill>
                      <a:srgbClr val="EFEFEF"/>
                    </a:solidFill>
                  </a:tcPr>
                </a:tc>
                <a:tc>
                  <a:txBody>
                    <a:bodyPr/>
                    <a:lstStyle/>
                    <a:p>
                      <a:pPr algn="ctr">
                        <a:defRPr sz="900">
                          <a:latin typeface="Montserrat"/>
                        </a:defRPr>
                      </a:pPr>
                      <a:r>
                        <a:t>10</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rPr dirty="0"/>
                        <a:t>4</a:t>
                      </a:r>
                    </a:p>
                  </a:txBody>
                  <a:tcPr anchor="ctr">
                    <a:solidFill>
                      <a:srgbClr val="EFEFEF"/>
                    </a:solidFill>
                  </a:tcPr>
                </a:tc>
                <a:extLst>
                  <a:ext uri="{0D108BD9-81ED-4DB2-BD59-A6C34878D82A}">
                    <a16:rowId xmlns:a16="http://schemas.microsoft.com/office/drawing/2014/main" val="10002"/>
                  </a:ext>
                </a:extLst>
              </a:tr>
              <a:tr h="230400">
                <a:tc>
                  <a:txBody>
                    <a:bodyPr/>
                    <a:lstStyle/>
                    <a:p>
                      <a:pPr algn="l">
                        <a:defRPr sz="900">
                          <a:latin typeface="Montserrat"/>
                        </a:defRPr>
                      </a:pPr>
                      <a:r>
                        <a:t>HR Río Grande</a:t>
                      </a:r>
                    </a:p>
                  </a:txBody>
                  <a:tcPr anchor="ctr">
                    <a:solidFill>
                      <a:srgbClr val="FFFFFF"/>
                    </a:solidFill>
                  </a:tcPr>
                </a:tc>
                <a:tc>
                  <a:txBody>
                    <a:bodyPr/>
                    <a:lstStyle/>
                    <a:p>
                      <a:pPr algn="ctr">
                        <a:defRPr sz="900">
                          <a:latin typeface="Montserrat"/>
                        </a:defRPr>
                      </a:pPr>
                      <a:r>
                        <a:t>Noviembre de 1988</a:t>
                      </a:r>
                    </a:p>
                  </a:txBody>
                  <a:tcPr anchor="ctr">
                    <a:solidFill>
                      <a:srgbClr val="FFFFFF"/>
                    </a:solidFill>
                  </a:tcPr>
                </a:tc>
                <a:tc>
                  <a:txBody>
                    <a:bodyPr/>
                    <a:lstStyle/>
                    <a:p>
                      <a:pPr algn="ctr">
                        <a:defRPr sz="900">
                          <a:latin typeface="Montserrat"/>
                        </a:defRPr>
                      </a:pPr>
                      <a:r>
                        <a:t>32</a:t>
                      </a:r>
                    </a:p>
                  </a:txBody>
                  <a:tcPr anchor="ctr">
                    <a:solidFill>
                      <a:srgbClr val="FFFFFF"/>
                    </a:solidFill>
                  </a:tcPr>
                </a:tc>
                <a:tc>
                  <a:txBody>
                    <a:bodyPr/>
                    <a:lstStyle/>
                    <a:p>
                      <a:pPr algn="ctr">
                        <a:defRPr sz="900">
                          <a:latin typeface="Montserrat"/>
                        </a:defRPr>
                      </a:pPr>
                      <a:r>
                        <a:t>15</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rPr dirty="0"/>
                        <a:t>3</a:t>
                      </a:r>
                    </a:p>
                  </a:txBody>
                  <a:tcPr anchor="ctr">
                    <a:solidFill>
                      <a:srgbClr val="FFFFFF"/>
                    </a:solidFill>
                  </a:tcPr>
                </a:tc>
                <a:extLst>
                  <a:ext uri="{0D108BD9-81ED-4DB2-BD59-A6C34878D82A}">
                    <a16:rowId xmlns:a16="http://schemas.microsoft.com/office/drawing/2014/main" val="10003"/>
                  </a:ext>
                </a:extLst>
              </a:tr>
              <a:tr h="230400">
                <a:tc>
                  <a:txBody>
                    <a:bodyPr/>
                    <a:lstStyle/>
                    <a:p>
                      <a:pPr algn="l">
                        <a:defRPr sz="900">
                          <a:latin typeface="Montserrat"/>
                        </a:defRPr>
                      </a:pPr>
                      <a:r>
                        <a:t>HR Tlaltenango de Sánchez Román</a:t>
                      </a:r>
                    </a:p>
                  </a:txBody>
                  <a:tcPr anchor="ctr">
                    <a:solidFill>
                      <a:srgbClr val="EFEFEF"/>
                    </a:solidFill>
                  </a:tcPr>
                </a:tc>
                <a:tc>
                  <a:txBody>
                    <a:bodyPr/>
                    <a:lstStyle/>
                    <a:p>
                      <a:pPr algn="ctr">
                        <a:defRPr sz="900">
                          <a:latin typeface="Montserrat"/>
                        </a:defRPr>
                      </a:pPr>
                      <a:r>
                        <a:t>Mayo de 1991</a:t>
                      </a:r>
                    </a:p>
                  </a:txBody>
                  <a:tcPr anchor="ctr">
                    <a:solidFill>
                      <a:srgbClr val="EFEFEF"/>
                    </a:solidFill>
                  </a:tcPr>
                </a:tc>
                <a:tc>
                  <a:txBody>
                    <a:bodyPr/>
                    <a:lstStyle/>
                    <a:p>
                      <a:pPr algn="ctr">
                        <a:defRPr sz="900">
                          <a:latin typeface="Montserrat"/>
                        </a:defRPr>
                      </a:pPr>
                      <a:r>
                        <a:t>27</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1</a:t>
                      </a:r>
                    </a:p>
                  </a:txBody>
                  <a:tcPr anchor="ctr">
                    <a:solidFill>
                      <a:srgbClr val="EFEFEF"/>
                    </a:solidFill>
                  </a:tcPr>
                </a:tc>
                <a:tc>
                  <a:txBody>
                    <a:bodyPr/>
                    <a:lstStyle/>
                    <a:p>
                      <a:pPr algn="ctr">
                        <a:defRPr sz="900">
                          <a:latin typeface="Montserrat"/>
                        </a:defRPr>
                      </a:pPr>
                      <a:r>
                        <a:rPr dirty="0"/>
                        <a:t>4</a:t>
                      </a:r>
                    </a:p>
                  </a:txBody>
                  <a:tcPr anchor="ctr">
                    <a:solidFill>
                      <a:srgbClr val="EFEFEF"/>
                    </a:solidFill>
                  </a:tcPr>
                </a:tc>
                <a:extLst>
                  <a:ext uri="{0D108BD9-81ED-4DB2-BD59-A6C34878D82A}">
                    <a16:rowId xmlns:a16="http://schemas.microsoft.com/office/drawing/2014/main" val="10004"/>
                  </a:ext>
                </a:extLst>
              </a:tr>
              <a:tr h="230400">
                <a:tc>
                  <a:txBody>
                    <a:bodyPr/>
                    <a:lstStyle/>
                    <a:p>
                      <a:pPr algn="l">
                        <a:defRPr sz="900">
                          <a:latin typeface="Montserrat"/>
                        </a:defRPr>
                      </a:pPr>
                      <a:r>
                        <a:t>HR Pinos</a:t>
                      </a:r>
                    </a:p>
                  </a:txBody>
                  <a:tcPr anchor="ctr">
                    <a:solidFill>
                      <a:srgbClr val="FFFFFF"/>
                    </a:solidFill>
                  </a:tcPr>
                </a:tc>
                <a:tc>
                  <a:txBody>
                    <a:bodyPr/>
                    <a:lstStyle/>
                    <a:p>
                      <a:pPr algn="ctr">
                        <a:defRPr sz="900">
                          <a:latin typeface="Montserrat"/>
                        </a:defRPr>
                      </a:pPr>
                      <a:r>
                        <a:t>Julio de 1993</a:t>
                      </a:r>
                    </a:p>
                  </a:txBody>
                  <a:tcPr anchor="ctr">
                    <a:solidFill>
                      <a:srgbClr val="FFFFFF"/>
                    </a:solidFill>
                  </a:tcPr>
                </a:tc>
                <a:tc>
                  <a:txBody>
                    <a:bodyPr/>
                    <a:lstStyle/>
                    <a:p>
                      <a:pPr algn="ctr">
                        <a:defRPr sz="900">
                          <a:latin typeface="Montserrat"/>
                        </a:defRPr>
                      </a:pPr>
                      <a:r>
                        <a:t>36</a:t>
                      </a:r>
                    </a:p>
                  </a:txBody>
                  <a:tcPr anchor="ctr">
                    <a:solidFill>
                      <a:srgbClr val="FFFFFF"/>
                    </a:solidFill>
                  </a:tcPr>
                </a:tc>
                <a:tc>
                  <a:txBody>
                    <a:bodyPr/>
                    <a:lstStyle/>
                    <a:p>
                      <a:pPr algn="ctr">
                        <a:defRPr sz="900">
                          <a:latin typeface="Montserrat"/>
                        </a:defRPr>
                      </a:pPr>
                      <a:r>
                        <a:t>10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extLst>
                  <a:ext uri="{0D108BD9-81ED-4DB2-BD59-A6C34878D82A}">
                    <a16:rowId xmlns:a16="http://schemas.microsoft.com/office/drawing/2014/main" val="10005"/>
                  </a:ext>
                </a:extLst>
              </a:tr>
              <a:tr h="230400">
                <a:tc>
                  <a:txBody>
                    <a:bodyPr/>
                    <a:lstStyle/>
                    <a:p>
                      <a:pPr algn="l">
                        <a:defRPr sz="900">
                          <a:latin typeface="Montserrat"/>
                        </a:defRPr>
                      </a:pPr>
                      <a:r>
                        <a:t>HR Fresnillo</a:t>
                      </a:r>
                    </a:p>
                  </a:txBody>
                  <a:tcPr anchor="ctr">
                    <a:solidFill>
                      <a:srgbClr val="EFEFEF"/>
                    </a:solidFill>
                  </a:tcPr>
                </a:tc>
                <a:tc>
                  <a:txBody>
                    <a:bodyPr/>
                    <a:lstStyle/>
                    <a:p>
                      <a:pPr algn="ctr">
                        <a:defRPr sz="900">
                          <a:latin typeface="Montserrat"/>
                        </a:defRPr>
                      </a:pPr>
                      <a:r>
                        <a:t>Abril de 2023</a:t>
                      </a:r>
                    </a:p>
                  </a:txBody>
                  <a:tcPr anchor="ctr">
                    <a:solidFill>
                      <a:srgbClr val="EFEFEF"/>
                    </a:solidFill>
                  </a:tcPr>
                </a:tc>
                <a:tc>
                  <a:txBody>
                    <a:bodyPr/>
                    <a:lstStyle/>
                    <a:p>
                      <a:pPr algn="ctr">
                        <a:defRPr sz="900">
                          <a:latin typeface="Montserrat"/>
                        </a:defRPr>
                      </a:pPr>
                      <a:r>
                        <a:t>80</a:t>
                      </a:r>
                    </a:p>
                  </a:txBody>
                  <a:tcPr anchor="ctr">
                    <a:solidFill>
                      <a:srgbClr val="EFEFEF"/>
                    </a:solidFill>
                  </a:tcPr>
                </a:tc>
                <a:tc>
                  <a:txBody>
                    <a:bodyPr/>
                    <a:lstStyle/>
                    <a:p>
                      <a:pPr algn="ctr">
                        <a:defRPr sz="900">
                          <a:latin typeface="Montserrat"/>
                        </a:defRPr>
                      </a:pPr>
                      <a:r>
                        <a:t>35</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5</a:t>
                      </a:r>
                    </a:p>
                  </a:txBody>
                  <a:tcPr anchor="ctr">
                    <a:solidFill>
                      <a:srgbClr val="EFEFEF"/>
                    </a:solidFill>
                  </a:tcPr>
                </a:tc>
                <a:extLst>
                  <a:ext uri="{0D108BD9-81ED-4DB2-BD59-A6C34878D82A}">
                    <a16:rowId xmlns:a16="http://schemas.microsoft.com/office/drawing/2014/main" val="10006"/>
                  </a:ext>
                </a:extLst>
              </a:tr>
              <a:tr h="230400">
                <a:tc gridSpan="2">
                  <a:txBody>
                    <a:bodyPr/>
                    <a:lstStyle/>
                    <a:p>
                      <a:pPr algn="ctr">
                        <a:defRPr sz="900" b="1">
                          <a:solidFill>
                            <a:srgbClr val="006556"/>
                          </a:solidFill>
                          <a:latin typeface="Montserrat"/>
                        </a:defRPr>
                      </a:pPr>
                      <a:r>
                        <a:t>Subtotal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221</a:t>
                      </a:r>
                    </a:p>
                  </a:txBody>
                  <a:tcPr anchor="ctr">
                    <a:solidFill>
                      <a:srgbClr val="D3E9E7"/>
                    </a:solidFill>
                  </a:tcPr>
                </a:tc>
                <a:tc>
                  <a:txBody>
                    <a:bodyPr/>
                    <a:lstStyle/>
                    <a:p>
                      <a:pPr algn="ctr">
                        <a:defRPr sz="900" b="1">
                          <a:solidFill>
                            <a:srgbClr val="006556"/>
                          </a:solidFill>
                          <a:latin typeface="Montserrat"/>
                        </a:defRPr>
                      </a:pPr>
                      <a:r>
                        <a:t>92</a:t>
                      </a:r>
                    </a:p>
                  </a:txBody>
                  <a:tcPr anchor="ctr">
                    <a:solidFill>
                      <a:srgbClr val="D3E9E7"/>
                    </a:solidFill>
                  </a:tcPr>
                </a:tc>
                <a:tc>
                  <a:txBody>
                    <a:bodyPr/>
                    <a:lstStyle/>
                    <a:p>
                      <a:pPr algn="ctr">
                        <a:defRPr sz="900" b="1">
                          <a:solidFill>
                            <a:srgbClr val="006556"/>
                          </a:solidFill>
                          <a:latin typeface="Montserrat"/>
                        </a:defRPr>
                      </a:pPr>
                      <a:r>
                        <a:t>0</a:t>
                      </a:r>
                    </a:p>
                  </a:txBody>
                  <a:tcPr anchor="ctr">
                    <a:solidFill>
                      <a:srgbClr val="D3E9E7"/>
                    </a:solidFill>
                  </a:tcPr>
                </a:tc>
                <a:tc>
                  <a:txBody>
                    <a:bodyPr/>
                    <a:lstStyle/>
                    <a:p>
                      <a:pPr algn="ctr">
                        <a:defRPr sz="900" b="1">
                          <a:solidFill>
                            <a:srgbClr val="006556"/>
                          </a:solidFill>
                          <a:latin typeface="Montserrat"/>
                        </a:defRPr>
                      </a:pPr>
                      <a:r>
                        <a:t>8</a:t>
                      </a:r>
                    </a:p>
                  </a:txBody>
                  <a:tcPr anchor="ctr">
                    <a:solidFill>
                      <a:srgbClr val="D3E9E7"/>
                    </a:solidFill>
                  </a:tcPr>
                </a:tc>
                <a:tc>
                  <a:txBody>
                    <a:bodyPr/>
                    <a:lstStyle/>
                    <a:p>
                      <a:pPr algn="ctr">
                        <a:defRPr sz="900" b="1">
                          <a:solidFill>
                            <a:srgbClr val="006556"/>
                          </a:solidFill>
                          <a:latin typeface="Montserrat"/>
                        </a:defRPr>
                      </a:pPr>
                      <a:r>
                        <a:t>24</a:t>
                      </a:r>
                    </a:p>
                  </a:txBody>
                  <a:tcPr anchor="ctr">
                    <a:solidFill>
                      <a:srgbClr val="D3E9E7"/>
                    </a:solidFill>
                  </a:tcPr>
                </a:tc>
                <a:extLst>
                  <a:ext uri="{0D108BD9-81ED-4DB2-BD59-A6C34878D82A}">
                    <a16:rowId xmlns:a16="http://schemas.microsoft.com/office/drawing/2014/main" val="10007"/>
                  </a:ext>
                </a:extLst>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endParaRPr/>
                    </a:p>
                  </a:txBody>
                  <a:tcPr/>
                </a:tc>
                <a:tc>
                  <a:txBody>
                    <a:bodyPr/>
                    <a:lstStyle/>
                    <a:p>
                      <a:pPr algn="ctr">
                        <a:defRPr sz="900" b="1">
                          <a:solidFill>
                            <a:srgbClr val="006556"/>
                          </a:solidFill>
                          <a:latin typeface="Montserrat"/>
                        </a:defRPr>
                      </a:pPr>
                      <a:r>
                        <a:t>526</a:t>
                      </a:r>
                    </a:p>
                  </a:txBody>
                  <a:tcPr anchor="ctr">
                    <a:solidFill>
                      <a:srgbClr val="D3E9E7"/>
                    </a:solidFill>
                  </a:tcPr>
                </a:tc>
                <a:tc>
                  <a:txBody>
                    <a:bodyPr/>
                    <a:lstStyle/>
                    <a:p>
                      <a:pPr algn="ctr">
                        <a:defRPr sz="900" b="1">
                          <a:solidFill>
                            <a:srgbClr val="006556"/>
                          </a:solidFill>
                          <a:latin typeface="Montserrat"/>
                        </a:defRPr>
                      </a:pPr>
                      <a:r>
                        <a:t>268</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t>17</a:t>
                      </a:r>
                    </a:p>
                  </a:txBody>
                  <a:tcPr anchor="ctr">
                    <a:solidFill>
                      <a:srgbClr val="D3E9E7"/>
                    </a:solidFill>
                  </a:tcPr>
                </a:tc>
                <a:tc>
                  <a:txBody>
                    <a:bodyPr/>
                    <a:lstStyle/>
                    <a:p>
                      <a:pPr algn="ctr">
                        <a:defRPr sz="900" b="1">
                          <a:solidFill>
                            <a:srgbClr val="006556"/>
                          </a:solidFill>
                          <a:latin typeface="Montserrat"/>
                        </a:defRPr>
                      </a:pPr>
                      <a:r>
                        <a:rPr dirty="0"/>
                        <a:t>84</a:t>
                      </a:r>
                    </a:p>
                  </a:txBody>
                  <a:tcPr anchor="ctr">
                    <a:solidFill>
                      <a:srgbClr val="D3E9E7"/>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100800" y="9507600"/>
            <a:ext cx="7387200" cy="369332"/>
          </a:xfrm>
          <a:prstGeom prst="rect">
            <a:avLst/>
          </a:prstGeom>
          <a:noFill/>
        </p:spPr>
        <p:txBody>
          <a:bodyPr wrap="square" lIns="0" tIns="0" rIns="0" bIns="0">
            <a:spAutoFit/>
          </a:bodyPr>
          <a:lstStyle/>
          <a:p>
            <a:pPr algn="l">
              <a:defRPr sz="800">
                <a:solidFill>
                  <a:srgbClr val="FFFFFF"/>
                </a:solidFill>
                <a:latin typeface="Montserrat"/>
              </a:defRPr>
            </a:pPr>
            <a:r>
              <a:rPr dirty="0"/>
              <a:t>¹Incluye </a:t>
            </a:r>
            <a:r>
              <a:rPr dirty="0" err="1"/>
              <a:t>salas</a:t>
            </a:r>
            <a:r>
              <a:rPr dirty="0"/>
              <a:t> de </a:t>
            </a:r>
            <a:r>
              <a:rPr dirty="0" err="1"/>
              <a:t>quirófano</a:t>
            </a:r>
            <a:r>
              <a:rPr dirty="0"/>
              <a:t>, </a:t>
            </a:r>
            <a:r>
              <a:rPr dirty="0" err="1"/>
              <a:t>salas</a:t>
            </a:r>
            <a:r>
              <a:rPr dirty="0"/>
              <a:t> </a:t>
            </a:r>
            <a:r>
              <a:rPr dirty="0" err="1"/>
              <a:t>híbridas</a:t>
            </a:r>
            <a:r>
              <a:rPr dirty="0"/>
              <a:t> y </a:t>
            </a:r>
            <a:r>
              <a:rPr dirty="0" err="1"/>
              <a:t>salas</a:t>
            </a:r>
            <a:r>
              <a:rPr dirty="0"/>
              <a:t> </a:t>
            </a:r>
            <a:r>
              <a:rPr dirty="0" err="1"/>
              <a:t>mixtas</a:t>
            </a:r>
            <a:r>
              <a:rPr dirty="0"/>
              <a:t>, no </a:t>
            </a:r>
            <a:r>
              <a:rPr dirty="0" err="1"/>
              <a:t>considera</a:t>
            </a:r>
            <a:r>
              <a:rPr dirty="0"/>
              <a:t> </a:t>
            </a:r>
            <a:r>
              <a:rPr dirty="0" err="1"/>
              <a:t>salas</a:t>
            </a:r>
            <a:r>
              <a:rPr dirty="0"/>
              <a:t> de </a:t>
            </a:r>
            <a:r>
              <a:rPr dirty="0" err="1"/>
              <a:t>tococirugía</a:t>
            </a:r>
            <a:r>
              <a:rPr dirty="0"/>
              <a:t> y </a:t>
            </a:r>
            <a:r>
              <a:rPr dirty="0" err="1"/>
              <a:t>expulsión</a:t>
            </a:r>
            <a:r>
              <a:rPr dirty="0"/>
              <a:t>.</a:t>
            </a:r>
            <a:br>
              <a:rPr dirty="0"/>
            </a:br>
            <a:r>
              <a:rPr dirty="0" err="1"/>
              <a:t>Fuente</a:t>
            </a:r>
            <a:r>
              <a:rPr dirty="0"/>
              <a:t>: </a:t>
            </a:r>
            <a:r>
              <a:rPr dirty="0" err="1"/>
              <a:t>Cédula</a:t>
            </a:r>
            <a:r>
              <a:rPr dirty="0"/>
              <a:t> de </a:t>
            </a:r>
            <a:r>
              <a:rPr dirty="0" err="1"/>
              <a:t>actualización</a:t>
            </a:r>
            <a:r>
              <a:rPr dirty="0"/>
              <a:t> de variables </a:t>
            </a:r>
            <a:r>
              <a:rPr dirty="0" err="1"/>
              <a:t>seleccionados</a:t>
            </a:r>
            <a:r>
              <a:rPr dirty="0"/>
              <a:t> del IFU </a:t>
            </a:r>
            <a:r>
              <a:rPr dirty="0" err="1"/>
              <a:t>enviados</a:t>
            </a:r>
            <a:r>
              <a:rPr dirty="0"/>
              <a:t> </a:t>
            </a:r>
            <a:r>
              <a:rPr dirty="0" err="1"/>
              <a:t>por</a:t>
            </a:r>
            <a:r>
              <a:rPr dirty="0"/>
              <a:t> el OOAD.</a:t>
            </a:r>
            <a:br>
              <a:rPr dirty="0"/>
            </a:br>
            <a:r>
              <a:rPr dirty="0"/>
              <a:t>Corte de </a:t>
            </a:r>
            <a:r>
              <a:rPr dirty="0" err="1"/>
              <a:t>Información</a:t>
            </a:r>
            <a:r>
              <a:rPr dirty="0"/>
              <a:t>: ma</a:t>
            </a:r>
            <a:r>
              <a:rPr lang="es-MX" dirty="0"/>
              <a:t>yo</a:t>
            </a:r>
            <a:r>
              <a:rPr dirty="0"/>
              <a:t> de 2026</a:t>
            </a:r>
          </a:p>
        </p:txBody>
      </p:sp>
      <p:graphicFrame>
        <p:nvGraphicFramePr>
          <p:cNvPr id="7" name="Google Shape;152;g370e475fb19_0_8">
            <a:extLst>
              <a:ext uri="{FF2B5EF4-FFF2-40B4-BE49-F238E27FC236}">
                <a16:creationId xmlns:a16="http://schemas.microsoft.com/office/drawing/2014/main" id="{0AF74C2F-352E-ABB4-D2E3-424EE598462F}"/>
              </a:ext>
            </a:extLst>
          </p:cNvPr>
          <p:cNvGraphicFramePr/>
          <p:nvPr>
            <p:extLst>
              <p:ext uri="{D42A27DB-BD31-4B8C-83A1-F6EECF244321}">
                <p14:modId xmlns:p14="http://schemas.microsoft.com/office/powerpoint/2010/main" val="302784106"/>
              </p:ext>
            </p:extLst>
          </p:nvPr>
        </p:nvGraphicFramePr>
        <p:xfrm>
          <a:off x="149075" y="3664482"/>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Equipo relevante</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8" name="Table 153">
            <a:extLst>
              <a:ext uri="{FF2B5EF4-FFF2-40B4-BE49-F238E27FC236}">
                <a16:creationId xmlns:a16="http://schemas.microsoft.com/office/drawing/2014/main" id="{3B96B9E0-B197-4EB7-839E-9E52133C4A66}"/>
              </a:ext>
            </a:extLst>
          </p:cNvPr>
          <p:cNvGraphicFramePr>
            <a:graphicFrameLocks noGrp="1"/>
          </p:cNvGraphicFramePr>
          <p:nvPr>
            <p:extLst>
              <p:ext uri="{D42A27DB-BD31-4B8C-83A1-F6EECF244321}">
                <p14:modId xmlns:p14="http://schemas.microsoft.com/office/powerpoint/2010/main" val="351010428"/>
              </p:ext>
            </p:extLst>
          </p:nvPr>
        </p:nvGraphicFramePr>
        <p:xfrm>
          <a:off x="93600" y="4122882"/>
          <a:ext cx="7534799" cy="1234440"/>
        </p:xfrm>
        <a:graphic>
          <a:graphicData uri="http://schemas.openxmlformats.org/drawingml/2006/table">
            <a:tbl>
              <a:tblPr firstRow="1" bandRow="1">
                <a:tableStyleId>{5C22544A-7EE6-4342-B048-85BDC9FD1C3A}</a:tableStyleId>
              </a:tblPr>
              <a:tblGrid>
                <a:gridCol w="2192400">
                  <a:extLst>
                    <a:ext uri="{9D8B030D-6E8A-4147-A177-3AD203B41FA5}">
                      <a16:colId xmlns:a16="http://schemas.microsoft.com/office/drawing/2014/main" val="20000"/>
                    </a:ext>
                  </a:extLst>
                </a:gridCol>
                <a:gridCol w="943200">
                  <a:extLst>
                    <a:ext uri="{9D8B030D-6E8A-4147-A177-3AD203B41FA5}">
                      <a16:colId xmlns:a16="http://schemas.microsoft.com/office/drawing/2014/main" val="20001"/>
                    </a:ext>
                  </a:extLst>
                </a:gridCol>
                <a:gridCol w="925200">
                  <a:extLst>
                    <a:ext uri="{9D8B030D-6E8A-4147-A177-3AD203B41FA5}">
                      <a16:colId xmlns:a16="http://schemas.microsoft.com/office/drawing/2014/main" val="20002"/>
                    </a:ext>
                  </a:extLst>
                </a:gridCol>
                <a:gridCol w="896400">
                  <a:extLst>
                    <a:ext uri="{9D8B030D-6E8A-4147-A177-3AD203B41FA5}">
                      <a16:colId xmlns:a16="http://schemas.microsoft.com/office/drawing/2014/main" val="20003"/>
                    </a:ext>
                  </a:extLst>
                </a:gridCol>
                <a:gridCol w="525600">
                  <a:extLst>
                    <a:ext uri="{9D8B030D-6E8A-4147-A177-3AD203B41FA5}">
                      <a16:colId xmlns:a16="http://schemas.microsoft.com/office/drawing/2014/main" val="20004"/>
                    </a:ext>
                  </a:extLst>
                </a:gridCol>
                <a:gridCol w="1000799">
                  <a:extLst>
                    <a:ext uri="{9D8B030D-6E8A-4147-A177-3AD203B41FA5}">
                      <a16:colId xmlns:a16="http://schemas.microsoft.com/office/drawing/2014/main" val="20005"/>
                    </a:ext>
                  </a:extLst>
                </a:gridCol>
                <a:gridCol w="1051200">
                  <a:extLst>
                    <a:ext uri="{9D8B030D-6E8A-4147-A177-3AD203B41FA5}">
                      <a16:colId xmlns:a16="http://schemas.microsoft.com/office/drawing/2014/main" val="20006"/>
                    </a:ext>
                  </a:extLst>
                </a:gridCol>
              </a:tblGrid>
              <a:tr h="216000">
                <a:tc>
                  <a:txBody>
                    <a:bodyPr/>
                    <a:lstStyle/>
                    <a:p>
                      <a:pPr algn="ctr">
                        <a:defRPr sz="900" b="1">
                          <a:solidFill>
                            <a:srgbClr val="FFFFFF"/>
                          </a:solidFill>
                          <a:latin typeface="Montserrat"/>
                        </a:defRPr>
                      </a:pPr>
                      <a:r>
                        <a:rPr dirty="0" err="1"/>
                        <a:t>Unidad</a:t>
                      </a:r>
                      <a:endParaRPr dirty="0"/>
                    </a:p>
                  </a:txBody>
                  <a:tcPr anchor="ctr">
                    <a:solidFill>
                      <a:srgbClr val="006455"/>
                    </a:solidFill>
                  </a:tcPr>
                </a:tc>
                <a:tc>
                  <a:txBody>
                    <a:bodyPr/>
                    <a:lstStyle/>
                    <a:p>
                      <a:pPr algn="ctr">
                        <a:defRPr sz="900" b="1">
                          <a:solidFill>
                            <a:srgbClr val="FFFFFF"/>
                          </a:solidFill>
                          <a:latin typeface="Montserrat"/>
                        </a:defRPr>
                      </a:pPr>
                      <a:r>
                        <a:t>Aparatos de Tomografía</a:t>
                      </a:r>
                    </a:p>
                  </a:txBody>
                  <a:tcPr anchor="ctr">
                    <a:solidFill>
                      <a:srgbClr val="006455"/>
                    </a:solidFill>
                  </a:tcPr>
                </a:tc>
                <a:tc>
                  <a:txBody>
                    <a:bodyPr/>
                    <a:lstStyle/>
                    <a:p>
                      <a:pPr algn="ctr">
                        <a:defRPr sz="900" b="1">
                          <a:solidFill>
                            <a:srgbClr val="FFFFFF"/>
                          </a:solidFill>
                          <a:latin typeface="Montserrat"/>
                        </a:defRPr>
                      </a:pPr>
                      <a:r>
                        <a:t>Equipos de Resonancia Magnética</a:t>
                      </a:r>
                    </a:p>
                  </a:txBody>
                  <a:tcPr anchor="ctr">
                    <a:solidFill>
                      <a:srgbClr val="006455"/>
                    </a:solidFill>
                  </a:tcPr>
                </a:tc>
                <a:tc>
                  <a:txBody>
                    <a:bodyPr/>
                    <a:lstStyle/>
                    <a:p>
                      <a:pPr algn="ctr">
                        <a:defRPr sz="900" b="1">
                          <a:solidFill>
                            <a:srgbClr val="FFFFFF"/>
                          </a:solidFill>
                          <a:latin typeface="Montserrat"/>
                        </a:defRPr>
                      </a:pPr>
                      <a:r>
                        <a:t>Mastógrafo</a:t>
                      </a:r>
                    </a:p>
                  </a:txBody>
                  <a:tcPr anchor="ctr">
                    <a:solidFill>
                      <a:srgbClr val="006455"/>
                    </a:solidFill>
                  </a:tcPr>
                </a:tc>
                <a:tc>
                  <a:txBody>
                    <a:bodyPr/>
                    <a:lstStyle/>
                    <a:p>
                      <a:pPr algn="ctr">
                        <a:defRPr sz="900" b="1">
                          <a:solidFill>
                            <a:srgbClr val="FFFFFF"/>
                          </a:solidFill>
                          <a:latin typeface="Montserrat"/>
                        </a:defRPr>
                      </a:pPr>
                      <a:r>
                        <a:t>Arcos en C</a:t>
                      </a:r>
                    </a:p>
                  </a:txBody>
                  <a:tcPr anchor="ctr">
                    <a:solidFill>
                      <a:srgbClr val="006455"/>
                    </a:solidFill>
                  </a:tcPr>
                </a:tc>
                <a:tc>
                  <a:txBody>
                    <a:bodyPr/>
                    <a:lstStyle/>
                    <a:p>
                      <a:pPr algn="ctr">
                        <a:defRPr sz="900" b="1">
                          <a:solidFill>
                            <a:srgbClr val="FFFFFF"/>
                          </a:solidFill>
                          <a:latin typeface="Montserrat"/>
                        </a:defRPr>
                      </a:pPr>
                      <a:r>
                        <a:t>Máquinas de Hemodiálisis</a:t>
                      </a:r>
                    </a:p>
                  </a:txBody>
                  <a:tcPr anchor="ctr">
                    <a:solidFill>
                      <a:srgbClr val="006455"/>
                    </a:solidFill>
                  </a:tcPr>
                </a:tc>
                <a:tc>
                  <a:txBody>
                    <a:bodyPr/>
                    <a:lstStyle/>
                    <a:p>
                      <a:pPr algn="ctr">
                        <a:defRPr sz="900" b="1">
                          <a:solidFill>
                            <a:srgbClr val="FFFFFF"/>
                          </a:solidFill>
                          <a:latin typeface="Montserrat"/>
                        </a:defRPr>
                      </a:pPr>
                      <a:r>
                        <a:t>Sala de Hemodinamia</a:t>
                      </a:r>
                    </a:p>
                  </a:txBody>
                  <a:tcPr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HGZ 2 Fresnillo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18</a:t>
                      </a:r>
                    </a:p>
                  </a:txBody>
                  <a:tcPr>
                    <a:solidFill>
                      <a:srgbClr val="FFFFFF"/>
                    </a:solidFill>
                  </a:tcPr>
                </a:tc>
                <a:tc>
                  <a:txBody>
                    <a:bodyPr/>
                    <a:lstStyle/>
                    <a:p>
                      <a:pPr algn="ctr">
                        <a:defRPr sz="1000">
                          <a:latin typeface="Montserrat"/>
                        </a:defRPr>
                      </a:pPr>
                      <a:r>
                        <a:rPr dirty="0"/>
                        <a:t>0</a:t>
                      </a:r>
                    </a:p>
                  </a:txBody>
                  <a:tcP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HGZ 1 Zacatecas</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2</a:t>
                      </a:r>
                    </a:p>
                  </a:txBody>
                  <a:tcPr>
                    <a:solidFill>
                      <a:srgbClr val="EFEFEF"/>
                    </a:solidFill>
                  </a:tcPr>
                </a:tc>
                <a:tc>
                  <a:txBody>
                    <a:bodyPr/>
                    <a:lstStyle/>
                    <a:p>
                      <a:pPr algn="ctr">
                        <a:defRPr sz="1000">
                          <a:latin typeface="Montserrat"/>
                        </a:defRPr>
                      </a:pPr>
                      <a:r>
                        <a:rPr lang="es-MX" dirty="0"/>
                        <a:t>10</a:t>
                      </a:r>
                      <a:endParaRPr dirty="0"/>
                    </a:p>
                  </a:txBody>
                  <a:tcPr>
                    <a:solidFill>
                      <a:srgbClr val="E6D194"/>
                    </a:solidFill>
                  </a:tcPr>
                </a:tc>
                <a:tc>
                  <a:txBody>
                    <a:bodyPr/>
                    <a:lstStyle/>
                    <a:p>
                      <a:pPr algn="ctr">
                        <a:defRPr sz="1000">
                          <a:latin typeface="Montserrat"/>
                        </a:defRPr>
                      </a:pPr>
                      <a:r>
                        <a:t>1</a:t>
                      </a:r>
                    </a:p>
                  </a:txBody>
                  <a:tcPr>
                    <a:solidFill>
                      <a:srgbClr val="E6D194"/>
                    </a:solidFill>
                  </a:tcPr>
                </a:tc>
                <a:extLst>
                  <a:ext uri="{0D108BD9-81ED-4DB2-BD59-A6C34878D82A}">
                    <a16:rowId xmlns:a16="http://schemas.microsoft.com/office/drawing/2014/main" val="10002"/>
                  </a:ext>
                </a:extLst>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rPr dirty="0"/>
                        <a:t>2</a:t>
                      </a:r>
                      <a:r>
                        <a:rPr lang="es-MX" dirty="0"/>
                        <a:t>8</a:t>
                      </a:r>
                      <a:endParaRPr dirty="0"/>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extLst>
                  <a:ext uri="{0D108BD9-81ED-4DB2-BD59-A6C34878D82A}">
                    <a16:rowId xmlns:a16="http://schemas.microsoft.com/office/drawing/2014/main" val="10003"/>
                  </a:ext>
                </a:extLst>
              </a:tr>
            </a:tbl>
          </a:graphicData>
        </a:graphic>
      </p:graphicFrame>
      <p:grpSp>
        <p:nvGrpSpPr>
          <p:cNvPr id="9" name="Grupo 8">
            <a:extLst>
              <a:ext uri="{FF2B5EF4-FFF2-40B4-BE49-F238E27FC236}">
                <a16:creationId xmlns:a16="http://schemas.microsoft.com/office/drawing/2014/main" id="{9A20F1C6-30AA-5B44-EAA8-C0F0D4CE00CA}"/>
              </a:ext>
            </a:extLst>
          </p:cNvPr>
          <p:cNvGrpSpPr/>
          <p:nvPr/>
        </p:nvGrpSpPr>
        <p:grpSpPr>
          <a:xfrm>
            <a:off x="0" y="5390011"/>
            <a:ext cx="7772400" cy="3581549"/>
            <a:chOff x="0" y="5277997"/>
            <a:chExt cx="7772400" cy="3581549"/>
          </a:xfrm>
        </p:grpSpPr>
        <p:pic>
          <p:nvPicPr>
            <p:cNvPr id="10" name="Google Shape;387;g3d635d120e2_1_75">
              <a:extLst>
                <a:ext uri="{FF2B5EF4-FFF2-40B4-BE49-F238E27FC236}">
                  <a16:creationId xmlns:a16="http://schemas.microsoft.com/office/drawing/2014/main" id="{7D9FA0D4-2224-6ECB-0968-80CFDB0D83F4}"/>
                </a:ext>
              </a:extLst>
            </p:cNvPr>
            <p:cNvPicPr preferRelativeResize="0"/>
            <p:nvPr/>
          </p:nvPicPr>
          <p:blipFill rotWithShape="1">
            <a:blip r:embed="rId2">
              <a:alphaModFix/>
            </a:blip>
            <a:srcRect/>
            <a:stretch/>
          </p:blipFill>
          <p:spPr>
            <a:xfrm>
              <a:off x="845476" y="5830478"/>
              <a:ext cx="2651303" cy="2056648"/>
            </a:xfrm>
            <a:prstGeom prst="rect">
              <a:avLst/>
            </a:prstGeom>
            <a:noFill/>
            <a:ln>
              <a:noFill/>
            </a:ln>
          </p:spPr>
        </p:pic>
        <p:pic>
          <p:nvPicPr>
            <p:cNvPr id="11" name="Google Shape;388;g3d635d120e2_1_75">
              <a:extLst>
                <a:ext uri="{FF2B5EF4-FFF2-40B4-BE49-F238E27FC236}">
                  <a16:creationId xmlns:a16="http://schemas.microsoft.com/office/drawing/2014/main" id="{8D9C6452-9466-8C25-2961-B1E541C3F454}"/>
                </a:ext>
              </a:extLst>
            </p:cNvPr>
            <p:cNvPicPr preferRelativeResize="0"/>
            <p:nvPr/>
          </p:nvPicPr>
          <p:blipFill rotWithShape="1">
            <a:blip r:embed="rId3">
              <a:alphaModFix/>
            </a:blip>
            <a:srcRect/>
            <a:stretch/>
          </p:blipFill>
          <p:spPr>
            <a:xfrm>
              <a:off x="3810904" y="5909328"/>
              <a:ext cx="3099000" cy="1985044"/>
            </a:xfrm>
            <a:prstGeom prst="rect">
              <a:avLst/>
            </a:prstGeom>
            <a:noFill/>
            <a:ln>
              <a:noFill/>
            </a:ln>
          </p:spPr>
        </p:pic>
        <p:sp>
          <p:nvSpPr>
            <p:cNvPr id="12" name="Google Shape;389;g3d635d120e2_1_75">
              <a:extLst>
                <a:ext uri="{FF2B5EF4-FFF2-40B4-BE49-F238E27FC236}">
                  <a16:creationId xmlns:a16="http://schemas.microsoft.com/office/drawing/2014/main" id="{4FA20E14-0A55-252C-FCC5-C365E674386B}"/>
                </a:ext>
              </a:extLst>
            </p:cNvPr>
            <p:cNvSpPr/>
            <p:nvPr/>
          </p:nvSpPr>
          <p:spPr>
            <a:xfrm>
              <a:off x="998904" y="7769828"/>
              <a:ext cx="540600" cy="489600"/>
            </a:xfrm>
            <a:prstGeom prst="rect">
              <a:avLst/>
            </a:prstGeom>
            <a:gradFill>
              <a:gsLst>
                <a:gs pos="0">
                  <a:srgbClr val="691932"/>
                </a:gs>
                <a:gs pos="100000">
                  <a:srgbClr val="A42145"/>
                </a:gs>
              </a:gsLst>
              <a:lin ang="8099331" scaled="0"/>
            </a:gradFill>
            <a:ln>
              <a:noFill/>
            </a:ln>
          </p:spPr>
          <p:txBody>
            <a:bodyPr spcFirstLastPara="1" wrap="square" lIns="115575" tIns="115575" rIns="115575" bIns="115575" anchor="ctr" anchorCtr="0">
              <a:noAutofit/>
            </a:bodyPr>
            <a:lstStyle/>
            <a:p>
              <a:pPr marL="0" marR="0" lvl="0" indent="0" algn="ctr" rtl="0">
                <a:lnSpc>
                  <a:spcPct val="100000"/>
                </a:lnSpc>
                <a:spcBef>
                  <a:spcPts val="0"/>
                </a:spcBef>
                <a:spcAft>
                  <a:spcPts val="0"/>
                </a:spcAft>
                <a:buClr>
                  <a:srgbClr val="000000"/>
                </a:buClr>
                <a:buSzPts val="1770"/>
                <a:buFont typeface="Arial"/>
                <a:buNone/>
              </a:pPr>
              <a:r>
                <a:rPr lang="es" sz="1770">
                  <a:solidFill>
                    <a:srgbClr val="FFFFFF"/>
                  </a:solidFill>
                  <a:latin typeface="Noto Sans Black"/>
                  <a:ea typeface="Noto Sans Black"/>
                  <a:cs typeface="Noto Sans Black"/>
                  <a:sym typeface="Noto Sans Black"/>
                </a:rPr>
                <a:t>2</a:t>
              </a:r>
              <a:endParaRPr sz="1770" b="0" i="0" u="none" strike="noStrike" cap="none">
                <a:solidFill>
                  <a:srgbClr val="FFFFFF"/>
                </a:solidFill>
                <a:latin typeface="Noto Sans Black"/>
                <a:ea typeface="Noto Sans Black"/>
                <a:cs typeface="Noto Sans Black"/>
                <a:sym typeface="Noto Sans Black"/>
              </a:endParaRPr>
            </a:p>
          </p:txBody>
        </p:sp>
        <p:sp>
          <p:nvSpPr>
            <p:cNvPr id="13" name="Google Shape;390;g3d635d120e2_1_75">
              <a:extLst>
                <a:ext uri="{FF2B5EF4-FFF2-40B4-BE49-F238E27FC236}">
                  <a16:creationId xmlns:a16="http://schemas.microsoft.com/office/drawing/2014/main" id="{CE16F31C-379F-0C5B-5633-494B7C00C7D9}"/>
                </a:ext>
              </a:extLst>
            </p:cNvPr>
            <p:cNvSpPr/>
            <p:nvPr/>
          </p:nvSpPr>
          <p:spPr>
            <a:xfrm>
              <a:off x="1539269" y="7773906"/>
              <a:ext cx="1917000" cy="481500"/>
            </a:xfrm>
            <a:prstGeom prst="rect">
              <a:avLst/>
            </a:prstGeom>
            <a:gradFill>
              <a:gsLst>
                <a:gs pos="0">
                  <a:srgbClr val="006455"/>
                </a:gs>
                <a:gs pos="100000">
                  <a:srgbClr val="1C342D"/>
                </a:gs>
              </a:gsLst>
              <a:lin ang="8099331" scaled="0"/>
            </a:gradFill>
            <a:ln>
              <a:noFill/>
            </a:ln>
          </p:spPr>
          <p:txBody>
            <a:bodyPr spcFirstLastPara="1" wrap="square" lIns="115575" tIns="115575" rIns="115575" bIns="115575" anchor="ctr" anchorCtr="0">
              <a:noAutofit/>
            </a:bodyPr>
            <a:lstStyle/>
            <a:p>
              <a:pPr marL="0" marR="0" lvl="0" indent="0" algn="ctr" rtl="0">
                <a:lnSpc>
                  <a:spcPct val="100000"/>
                </a:lnSpc>
                <a:spcBef>
                  <a:spcPts val="0"/>
                </a:spcBef>
                <a:spcAft>
                  <a:spcPts val="0"/>
                </a:spcAft>
                <a:buClr>
                  <a:srgbClr val="000000"/>
                </a:buClr>
                <a:buSzPts val="1643"/>
                <a:buFont typeface="Arial"/>
                <a:buNone/>
              </a:pPr>
              <a:r>
                <a:rPr lang="es" sz="1643" b="1" i="0" u="none" strike="noStrike" cap="none">
                  <a:solidFill>
                    <a:srgbClr val="FFFFFF"/>
                  </a:solidFill>
                  <a:latin typeface="Montserrat"/>
                  <a:ea typeface="Montserrat"/>
                  <a:cs typeface="Montserrat"/>
                  <a:sym typeface="Montserrat"/>
                </a:rPr>
                <a:t>Tomógrafos</a:t>
              </a:r>
              <a:endParaRPr sz="1390" b="0" i="0" u="none" strike="noStrike" cap="none">
                <a:solidFill>
                  <a:srgbClr val="FFFFFF"/>
                </a:solidFill>
                <a:latin typeface="Arial"/>
                <a:ea typeface="Arial"/>
                <a:cs typeface="Arial"/>
                <a:sym typeface="Arial"/>
              </a:endParaRPr>
            </a:p>
          </p:txBody>
        </p:sp>
        <p:grpSp>
          <p:nvGrpSpPr>
            <p:cNvPr id="14" name="Google Shape;392;g3d635d120e2_1_75">
              <a:extLst>
                <a:ext uri="{FF2B5EF4-FFF2-40B4-BE49-F238E27FC236}">
                  <a16:creationId xmlns:a16="http://schemas.microsoft.com/office/drawing/2014/main" id="{0E00AD4D-C613-C557-2AE6-39D3BFF5DB48}"/>
                </a:ext>
              </a:extLst>
            </p:cNvPr>
            <p:cNvGrpSpPr/>
            <p:nvPr/>
          </p:nvGrpSpPr>
          <p:grpSpPr>
            <a:xfrm>
              <a:off x="4017761" y="7747207"/>
              <a:ext cx="2828512" cy="464829"/>
              <a:chOff x="4538448" y="7636460"/>
              <a:chExt cx="2097525" cy="381008"/>
            </a:xfrm>
          </p:grpSpPr>
          <p:sp>
            <p:nvSpPr>
              <p:cNvPr id="18" name="Google Shape;393;g3d635d120e2_1_75">
                <a:extLst>
                  <a:ext uri="{FF2B5EF4-FFF2-40B4-BE49-F238E27FC236}">
                    <a16:creationId xmlns:a16="http://schemas.microsoft.com/office/drawing/2014/main" id="{1B543368-6973-E074-AB9C-401B4D07BC9E}"/>
                  </a:ext>
                </a:extLst>
              </p:cNvPr>
              <p:cNvSpPr/>
              <p:nvPr/>
            </p:nvSpPr>
            <p:spPr>
              <a:xfrm>
                <a:off x="4538448" y="7636468"/>
                <a:ext cx="454200" cy="381000"/>
              </a:xfrm>
              <a:prstGeom prst="rect">
                <a:avLst/>
              </a:prstGeom>
              <a:gradFill>
                <a:gsLst>
                  <a:gs pos="0">
                    <a:srgbClr val="691932"/>
                  </a:gs>
                  <a:gs pos="100000">
                    <a:srgbClr val="A42145"/>
                  </a:gs>
                </a:gsLst>
                <a:lin ang="8099331" scaled="0"/>
              </a:gradFill>
              <a:ln>
                <a:noFill/>
              </a:ln>
            </p:spPr>
            <p:txBody>
              <a:bodyPr spcFirstLastPara="1" wrap="square" lIns="111550" tIns="111550" rIns="111550" bIns="111550" anchor="ctr" anchorCtr="0">
                <a:noAutofit/>
              </a:bodyPr>
              <a:lstStyle/>
              <a:p>
                <a:pPr marL="0" marR="0" lvl="0" indent="0" algn="ctr" rtl="0">
                  <a:lnSpc>
                    <a:spcPct val="100000"/>
                  </a:lnSpc>
                  <a:spcBef>
                    <a:spcPts val="0"/>
                  </a:spcBef>
                  <a:spcAft>
                    <a:spcPts val="0"/>
                  </a:spcAft>
                  <a:buClr>
                    <a:srgbClr val="000000"/>
                  </a:buClr>
                  <a:buSzPts val="1708"/>
                  <a:buFont typeface="Arial"/>
                  <a:buNone/>
                </a:pPr>
                <a:r>
                  <a:rPr lang="es" sz="1708">
                    <a:solidFill>
                      <a:srgbClr val="FFFFFF"/>
                    </a:solidFill>
                    <a:latin typeface="Noto Sans Black"/>
                    <a:ea typeface="Noto Sans Black"/>
                    <a:cs typeface="Noto Sans Black"/>
                    <a:sym typeface="Noto Sans Black"/>
                  </a:rPr>
                  <a:t>2</a:t>
                </a:r>
                <a:endParaRPr sz="1708" b="0" i="0" u="none" strike="noStrike" cap="none">
                  <a:solidFill>
                    <a:srgbClr val="FFFFFF"/>
                  </a:solidFill>
                  <a:latin typeface="Noto Sans Black"/>
                  <a:ea typeface="Noto Sans Black"/>
                  <a:cs typeface="Noto Sans Black"/>
                  <a:sym typeface="Noto Sans Black"/>
                </a:endParaRPr>
              </a:p>
            </p:txBody>
          </p:sp>
          <p:sp>
            <p:nvSpPr>
              <p:cNvPr id="19" name="Google Shape;394;g3d635d120e2_1_75">
                <a:extLst>
                  <a:ext uri="{FF2B5EF4-FFF2-40B4-BE49-F238E27FC236}">
                    <a16:creationId xmlns:a16="http://schemas.microsoft.com/office/drawing/2014/main" id="{7917E25D-11D4-BBC8-021F-EBE0056CBBA3}"/>
                  </a:ext>
                </a:extLst>
              </p:cNvPr>
              <p:cNvSpPr/>
              <p:nvPr/>
            </p:nvSpPr>
            <p:spPr>
              <a:xfrm>
                <a:off x="5002173" y="7636460"/>
                <a:ext cx="1633800" cy="381000"/>
              </a:xfrm>
              <a:prstGeom prst="rect">
                <a:avLst/>
              </a:prstGeom>
              <a:gradFill>
                <a:gsLst>
                  <a:gs pos="0">
                    <a:srgbClr val="006455"/>
                  </a:gs>
                  <a:gs pos="100000">
                    <a:srgbClr val="1C342D"/>
                  </a:gs>
                </a:gsLst>
                <a:lin ang="8099331" scaled="0"/>
              </a:gradFill>
              <a:ln>
                <a:noFill/>
              </a:ln>
            </p:spPr>
            <p:txBody>
              <a:bodyPr spcFirstLastPara="1" wrap="square" lIns="111550" tIns="111550" rIns="111550" bIns="111550" anchor="ctr" anchorCtr="0">
                <a:noAutofit/>
              </a:bodyPr>
              <a:lstStyle/>
              <a:p>
                <a:pPr marL="0" marR="0" lvl="0" indent="0" algn="ctr" rtl="0">
                  <a:lnSpc>
                    <a:spcPct val="100000"/>
                  </a:lnSpc>
                  <a:spcBef>
                    <a:spcPts val="0"/>
                  </a:spcBef>
                  <a:spcAft>
                    <a:spcPts val="0"/>
                  </a:spcAft>
                  <a:buClr>
                    <a:srgbClr val="000000"/>
                  </a:buClr>
                  <a:buSzPts val="1586"/>
                  <a:buFont typeface="Arial"/>
                  <a:buNone/>
                </a:pPr>
                <a:r>
                  <a:rPr lang="es" sz="1586" b="1" i="0" u="none" strike="noStrike" cap="none">
                    <a:solidFill>
                      <a:srgbClr val="FFFFFF"/>
                    </a:solidFill>
                    <a:latin typeface="Montserrat"/>
                    <a:ea typeface="Montserrat"/>
                    <a:cs typeface="Montserrat"/>
                    <a:sym typeface="Montserrat"/>
                  </a:rPr>
                  <a:t>Mastógrafos</a:t>
                </a:r>
                <a:endParaRPr sz="1342" b="0" i="0" u="none" strike="noStrike" cap="none">
                  <a:solidFill>
                    <a:srgbClr val="FFFFFF"/>
                  </a:solidFill>
                  <a:latin typeface="Arial"/>
                  <a:ea typeface="Arial"/>
                  <a:cs typeface="Arial"/>
                  <a:sym typeface="Arial"/>
                </a:endParaRPr>
              </a:p>
            </p:txBody>
          </p:sp>
        </p:grpSp>
        <p:sp>
          <p:nvSpPr>
            <p:cNvPr id="15" name="Google Shape;395;g3d635d120e2_1_75">
              <a:extLst>
                <a:ext uri="{FF2B5EF4-FFF2-40B4-BE49-F238E27FC236}">
                  <a16:creationId xmlns:a16="http://schemas.microsoft.com/office/drawing/2014/main" id="{A76FE294-E13F-01CF-9ADB-6D90A83A5734}"/>
                </a:ext>
              </a:extLst>
            </p:cNvPr>
            <p:cNvSpPr txBox="1"/>
            <p:nvPr/>
          </p:nvSpPr>
          <p:spPr>
            <a:xfrm>
              <a:off x="0" y="5277997"/>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a:solidFill>
                    <a:srgbClr val="006858"/>
                  </a:solidFill>
                  <a:latin typeface="Montserrat"/>
                  <a:ea typeface="Montserrat"/>
                  <a:cs typeface="Montserrat"/>
                  <a:sym typeface="Montserrat"/>
                </a:rPr>
                <a:t>Fortalecimiento de equipo médico</a:t>
              </a:r>
              <a:endParaRPr sz="1600" b="1">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a:solidFill>
                    <a:srgbClr val="006858"/>
                  </a:solidFill>
                  <a:latin typeface="Montserrat"/>
                  <a:ea typeface="Montserrat"/>
                  <a:cs typeface="Montserrat"/>
                  <a:sym typeface="Montserrat"/>
                </a:rPr>
                <a:t>Compra 2025-2026 equipo mayor  </a:t>
              </a:r>
              <a:endParaRPr sz="2300" b="1" i="0" u="none" strike="noStrike" cap="none">
                <a:solidFill>
                  <a:srgbClr val="006858"/>
                </a:solidFill>
                <a:latin typeface="Montserrat"/>
                <a:ea typeface="Montserrat"/>
                <a:cs typeface="Montserrat"/>
                <a:sym typeface="Montserrat"/>
              </a:endParaRPr>
            </a:p>
          </p:txBody>
        </p:sp>
        <p:sp>
          <p:nvSpPr>
            <p:cNvPr id="16" name="Google Shape;396;g3d635d120e2_1_75">
              <a:extLst>
                <a:ext uri="{FF2B5EF4-FFF2-40B4-BE49-F238E27FC236}">
                  <a16:creationId xmlns:a16="http://schemas.microsoft.com/office/drawing/2014/main" id="{24561E4D-8EFB-7624-1D85-0B4754579449}"/>
                </a:ext>
              </a:extLst>
            </p:cNvPr>
            <p:cNvSpPr txBox="1"/>
            <p:nvPr/>
          </p:nvSpPr>
          <p:spPr>
            <a:xfrm>
              <a:off x="4017761" y="8214784"/>
              <a:ext cx="3000000" cy="644762"/>
            </a:xfrm>
            <a:prstGeom prst="rect">
              <a:avLst/>
            </a:prstGeom>
            <a:noFill/>
            <a:ln>
              <a:noFill/>
            </a:ln>
          </p:spPr>
          <p:txBody>
            <a:bodyPr spcFirstLastPara="1" wrap="square" lIns="91425" tIns="91425" rIns="91425" bIns="91425" anchor="t" anchorCtr="0">
              <a:spAutoFit/>
            </a:bodyPr>
            <a:lstStyle/>
            <a:p>
              <a:pPr marL="0" marR="50800" lvl="0" indent="0" algn="ctr" rtl="0">
                <a:lnSpc>
                  <a:spcPct val="115000"/>
                </a:lnSpc>
                <a:spcBef>
                  <a:spcPts val="0"/>
                </a:spcBef>
                <a:spcAft>
                  <a:spcPts val="0"/>
                </a:spcAft>
                <a:buNone/>
              </a:pPr>
              <a:r>
                <a:rPr lang="es" sz="1300">
                  <a:solidFill>
                    <a:srgbClr val="434343"/>
                  </a:solidFill>
                  <a:latin typeface="Montserrat"/>
                  <a:ea typeface="Montserrat"/>
                  <a:cs typeface="Montserrat"/>
                  <a:sym typeface="Montserrat"/>
                </a:rPr>
                <a:t>HGZ 2 Fresnillo, HGZ 1 Zacatecas</a:t>
              </a:r>
            </a:p>
            <a:p>
              <a:pPr marL="0" marR="50800" lvl="0" indent="0" algn="ctr" rtl="0">
                <a:lnSpc>
                  <a:spcPct val="115000"/>
                </a:lnSpc>
                <a:spcBef>
                  <a:spcPts val="0"/>
                </a:spcBef>
                <a:spcAft>
                  <a:spcPts val="0"/>
                </a:spcAft>
                <a:buNone/>
              </a:pPr>
              <a:r>
                <a:rPr lang="es" sz="1300" b="1">
                  <a:solidFill>
                    <a:srgbClr val="434343"/>
                  </a:solidFill>
                  <a:latin typeface="Montserrat"/>
                  <a:ea typeface="Montserrat"/>
                  <a:cs typeface="Montserrat"/>
                  <a:sym typeface="Montserrat"/>
                </a:rPr>
                <a:t>$8.6 mdp</a:t>
              </a:r>
              <a:endParaRPr sz="1300" b="1">
                <a:solidFill>
                  <a:srgbClr val="434343"/>
                </a:solidFill>
                <a:latin typeface="Montserrat"/>
                <a:ea typeface="Montserrat"/>
                <a:cs typeface="Montserrat"/>
                <a:sym typeface="Montserrat"/>
              </a:endParaRPr>
            </a:p>
          </p:txBody>
        </p:sp>
        <p:sp>
          <p:nvSpPr>
            <p:cNvPr id="17" name="Google Shape;397;g3d635d120e2_1_75">
              <a:extLst>
                <a:ext uri="{FF2B5EF4-FFF2-40B4-BE49-F238E27FC236}">
                  <a16:creationId xmlns:a16="http://schemas.microsoft.com/office/drawing/2014/main" id="{3588B83B-9306-33E3-A3AE-58164E55CAA7}"/>
                </a:ext>
              </a:extLst>
            </p:cNvPr>
            <p:cNvSpPr txBox="1"/>
            <p:nvPr/>
          </p:nvSpPr>
          <p:spPr>
            <a:xfrm>
              <a:off x="811136" y="8213409"/>
              <a:ext cx="3000000" cy="644762"/>
            </a:xfrm>
            <a:prstGeom prst="rect">
              <a:avLst/>
            </a:prstGeom>
            <a:noFill/>
            <a:ln>
              <a:noFill/>
            </a:ln>
          </p:spPr>
          <p:txBody>
            <a:bodyPr spcFirstLastPara="1" wrap="square" lIns="91425" tIns="91425" rIns="91425" bIns="91425" anchor="t" anchorCtr="0">
              <a:spAutoFit/>
            </a:bodyPr>
            <a:lstStyle/>
            <a:p>
              <a:pPr marL="0" marR="50800" lvl="0" indent="0" algn="ctr" rtl="0">
                <a:lnSpc>
                  <a:spcPct val="115000"/>
                </a:lnSpc>
                <a:spcBef>
                  <a:spcPts val="0"/>
                </a:spcBef>
                <a:spcAft>
                  <a:spcPts val="0"/>
                </a:spcAft>
                <a:buNone/>
              </a:pPr>
              <a:r>
                <a:rPr lang="es" sz="1300">
                  <a:solidFill>
                    <a:srgbClr val="434343"/>
                  </a:solidFill>
                  <a:latin typeface="Montserrat"/>
                  <a:ea typeface="Montserrat"/>
                  <a:cs typeface="Montserrat"/>
                  <a:sym typeface="Montserrat"/>
                </a:rPr>
                <a:t>HGZ 2 Fresnillo, HGZ 1 Zacatecas</a:t>
              </a:r>
            </a:p>
            <a:p>
              <a:pPr marL="0" marR="50800" lvl="0" indent="0" algn="ctr" rtl="0">
                <a:lnSpc>
                  <a:spcPct val="115000"/>
                </a:lnSpc>
                <a:spcBef>
                  <a:spcPts val="0"/>
                </a:spcBef>
                <a:spcAft>
                  <a:spcPts val="0"/>
                </a:spcAft>
                <a:buNone/>
              </a:pPr>
              <a:r>
                <a:rPr lang="es" sz="1300" b="1">
                  <a:solidFill>
                    <a:srgbClr val="434343"/>
                  </a:solidFill>
                  <a:latin typeface="Montserrat"/>
                  <a:ea typeface="Montserrat"/>
                  <a:cs typeface="Montserrat"/>
                  <a:sym typeface="Montserrat"/>
                </a:rPr>
                <a:t>$59.3 mdp</a:t>
              </a:r>
              <a:endParaRPr sz="1300" b="1">
                <a:solidFill>
                  <a:srgbClr val="434343"/>
                </a:solidFill>
                <a:latin typeface="Montserrat"/>
                <a:ea typeface="Montserrat"/>
                <a:cs typeface="Montserrat"/>
                <a:sym typeface="Montserrat"/>
              </a:endParaRPr>
            </a:p>
          </p:txBody>
        </p:sp>
      </p:grpSp>
      <p:sp>
        <p:nvSpPr>
          <p:cNvPr id="21" name="Rectangle 154">
            <a:extLst>
              <a:ext uri="{FF2B5EF4-FFF2-40B4-BE49-F238E27FC236}">
                <a16:creationId xmlns:a16="http://schemas.microsoft.com/office/drawing/2014/main" id="{8A3D636A-994A-EBF9-D7CD-BE76B0D0971E}"/>
              </a:ext>
            </a:extLst>
          </p:cNvPr>
          <p:cNvSpPr/>
          <p:nvPr/>
        </p:nvSpPr>
        <p:spPr>
          <a:xfrm>
            <a:off x="205199" y="90219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155">
            <a:extLst>
              <a:ext uri="{FF2B5EF4-FFF2-40B4-BE49-F238E27FC236}">
                <a16:creationId xmlns:a16="http://schemas.microsoft.com/office/drawing/2014/main" id="{8B5C31E5-01BF-8B23-D9FF-F12E7AE86804}"/>
              </a:ext>
            </a:extLst>
          </p:cNvPr>
          <p:cNvSpPr txBox="1"/>
          <p:nvPr/>
        </p:nvSpPr>
        <p:spPr>
          <a:xfrm>
            <a:off x="406799" y="8921100"/>
            <a:ext cx="7149600" cy="461665"/>
          </a:xfrm>
          <a:prstGeom prst="rect">
            <a:avLst/>
          </a:prstGeom>
          <a:noFill/>
        </p:spPr>
        <p:txBody>
          <a:bodyPr wrap="square">
            <a:spAutoFit/>
          </a:bodyPr>
          <a:lstStyle/>
          <a:p>
            <a:pPr>
              <a:defRPr sz="800">
                <a:solidFill>
                  <a:srgbClr val="FFFFFF"/>
                </a:solidFill>
                <a:latin typeface="Montserrat"/>
              </a:defRPr>
            </a:pPr>
            <a:r>
              <a:rPr dirty="0" err="1">
                <a:solidFill>
                  <a:schemeClr val="tx1"/>
                </a:solidFill>
              </a:rPr>
              <a:t>Proyectos</a:t>
            </a:r>
            <a:r>
              <a:rPr dirty="0">
                <a:solidFill>
                  <a:schemeClr val="tx1"/>
                </a:solidFill>
              </a:rPr>
              <a:t> de </a:t>
            </a:r>
            <a:r>
              <a:rPr dirty="0" err="1">
                <a:solidFill>
                  <a:schemeClr val="tx1"/>
                </a:solidFill>
              </a:rPr>
              <a:t>implementación</a:t>
            </a:r>
            <a:r>
              <a:rPr dirty="0">
                <a:solidFill>
                  <a:schemeClr val="tx1"/>
                </a:solidFill>
              </a:rPr>
              <a:t>/</a:t>
            </a:r>
            <a:r>
              <a:rPr dirty="0" err="1">
                <a:solidFill>
                  <a:schemeClr val="tx1"/>
                </a:solidFill>
              </a:rPr>
              <a:t>sustitución</a:t>
            </a:r>
            <a:r>
              <a:rPr dirty="0">
                <a:solidFill>
                  <a:schemeClr val="tx1"/>
                </a:solidFill>
              </a:rPr>
              <a:t> 2019-2025. </a:t>
            </a:r>
            <a:r>
              <a:rPr dirty="0" err="1">
                <a:solidFill>
                  <a:schemeClr val="tx1"/>
                </a:solidFill>
              </a:rPr>
              <a:t>Incluye</a:t>
            </a:r>
            <a:r>
              <a:rPr dirty="0">
                <a:solidFill>
                  <a:schemeClr val="tx1"/>
                </a:solidFill>
              </a:rPr>
              <a:t> </a:t>
            </a:r>
            <a:r>
              <a:rPr dirty="0" err="1">
                <a:solidFill>
                  <a:schemeClr val="tx1"/>
                </a:solidFill>
              </a:rPr>
              <a:t>equipo</a:t>
            </a:r>
            <a:r>
              <a:rPr dirty="0">
                <a:solidFill>
                  <a:schemeClr val="tx1"/>
                </a:solidFill>
              </a:rPr>
              <a:t> de la </a:t>
            </a:r>
            <a:r>
              <a:rPr dirty="0" err="1">
                <a:solidFill>
                  <a:schemeClr val="tx1"/>
                </a:solidFill>
              </a:rPr>
              <a:t>compra</a:t>
            </a:r>
            <a:r>
              <a:rPr dirty="0">
                <a:solidFill>
                  <a:schemeClr val="tx1"/>
                </a:solidFill>
              </a:rPr>
              <a:t> 2025-2026.</a:t>
            </a:r>
            <a:br>
              <a:rPr dirty="0">
                <a:solidFill>
                  <a:schemeClr val="tx1"/>
                </a:solidFill>
              </a:rPr>
            </a:br>
            <a:r>
              <a:rPr dirty="0">
                <a:solidFill>
                  <a:schemeClr val="tx1"/>
                </a:solidFill>
              </a:rPr>
              <a:t>Fuente: Cédula de </a:t>
            </a:r>
            <a:r>
              <a:rPr dirty="0" err="1">
                <a:solidFill>
                  <a:schemeClr val="tx1"/>
                </a:solidFill>
              </a:rPr>
              <a:t>actualización</a:t>
            </a:r>
            <a:r>
              <a:rPr dirty="0">
                <a:solidFill>
                  <a:schemeClr val="tx1"/>
                </a:solidFill>
              </a:rPr>
              <a:t> de variables </a:t>
            </a:r>
            <a:r>
              <a:rPr dirty="0" err="1">
                <a:solidFill>
                  <a:schemeClr val="tx1"/>
                </a:solidFill>
              </a:rPr>
              <a:t>seleccionadas</a:t>
            </a:r>
            <a:r>
              <a:rPr dirty="0">
                <a:solidFill>
                  <a:schemeClr val="tx1"/>
                </a:solidFill>
              </a:rPr>
              <a:t> del IFU, </a:t>
            </a:r>
            <a:r>
              <a:rPr dirty="0" err="1">
                <a:solidFill>
                  <a:schemeClr val="tx1"/>
                </a:solidFill>
              </a:rPr>
              <a:t>enviadas</a:t>
            </a:r>
            <a:r>
              <a:rPr dirty="0">
                <a:solidFill>
                  <a:schemeClr val="tx1"/>
                </a:solidFill>
              </a:rPr>
              <a:t> </a:t>
            </a:r>
            <a:r>
              <a:rPr dirty="0" err="1">
                <a:solidFill>
                  <a:schemeClr val="tx1"/>
                </a:solidFill>
              </a:rPr>
              <a:t>por</a:t>
            </a:r>
            <a:r>
              <a:rPr dirty="0">
                <a:solidFill>
                  <a:schemeClr val="tx1"/>
                </a:solidFill>
              </a:rPr>
              <a:t> el OOAD.</a:t>
            </a:r>
            <a:br>
              <a:rPr dirty="0">
                <a:solidFill>
                  <a:schemeClr val="tx1"/>
                </a:solidFill>
              </a:rPr>
            </a:br>
            <a:r>
              <a:rPr dirty="0">
                <a:solidFill>
                  <a:schemeClr val="tx1"/>
                </a:solidFill>
              </a:rPr>
              <a:t>Corte de </a:t>
            </a:r>
            <a:r>
              <a:rPr dirty="0" err="1">
                <a:solidFill>
                  <a:schemeClr val="tx1"/>
                </a:solidFill>
              </a:rPr>
              <a:t>información</a:t>
            </a:r>
            <a:r>
              <a:rPr dirty="0">
                <a:solidFill>
                  <a:schemeClr val="tx1"/>
                </a:solidFill>
              </a:rPr>
              <a:t>: ma</a:t>
            </a:r>
            <a:r>
              <a:rPr lang="es-MX" dirty="0">
                <a:solidFill>
                  <a:schemeClr val="tx1"/>
                </a:solidFill>
              </a:rPr>
              <a:t>yo</a:t>
            </a:r>
            <a:r>
              <a:rPr dirty="0">
                <a:solidFill>
                  <a:schemeClr val="tx1"/>
                </a:solidFill>
              </a:rPr>
              <a:t>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47052577"/>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52D85E12-2F55-73C2-40D0-C09B8EDC2A10}"/>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7CABC0D7-9FFD-109F-4280-B32D38B4E70C}"/>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28089C5-233F-CF95-6723-572CDD5E4EA3}"/>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C5C952E5-8641-497F-3335-B8DE4C7679FB}"/>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7" name="CuadroTexto 6">
            <a:extLst>
              <a:ext uri="{FF2B5EF4-FFF2-40B4-BE49-F238E27FC236}">
                <a16:creationId xmlns:a16="http://schemas.microsoft.com/office/drawing/2014/main" id="{21BC1AC6-1D65-1362-00D6-53E06C1A4FD1}"/>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10" name="CuadroTexto 6">
            <a:extLst>
              <a:ext uri="{FF2B5EF4-FFF2-40B4-BE49-F238E27FC236}">
                <a16:creationId xmlns:a16="http://schemas.microsoft.com/office/drawing/2014/main" id="{725CF474-6B8E-8033-812C-788F8124101B}"/>
              </a:ext>
            </a:extLst>
          </p:cNvPr>
          <p:cNvSpPr txBox="1"/>
          <p:nvPr/>
        </p:nvSpPr>
        <p:spPr>
          <a:xfrm>
            <a:off x="5064096" y="8117456"/>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12" name="CuadroTexto 8">
            <a:extLst>
              <a:ext uri="{FF2B5EF4-FFF2-40B4-BE49-F238E27FC236}">
                <a16:creationId xmlns:a16="http://schemas.microsoft.com/office/drawing/2014/main" id="{E7E9822B-0D58-9A9E-6484-33ED8BC8E61A}"/>
              </a:ext>
            </a:extLst>
          </p:cNvPr>
          <p:cNvSpPr txBox="1"/>
          <p:nvPr/>
        </p:nvSpPr>
        <p:spPr>
          <a:xfrm>
            <a:off x="4701239" y="4744510"/>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176400" y="9565200"/>
            <a:ext cx="4680000" cy="399600"/>
          </a:xfrm>
          <a:prstGeom prst="rect">
            <a:avLst/>
          </a:prstGeom>
          <a:noFill/>
        </p:spPr>
        <p:txBody>
          <a:bodyPr wrap="square" lIns="0" tIns="0" rIns="0" bIns="0">
            <a:spAutoFit/>
          </a:bodyPr>
          <a:lstStyle/>
          <a:p>
            <a:pPr algn="l">
              <a:defRPr sz="800">
                <a:solidFill>
                  <a:srgbClr val="FFFFFF"/>
                </a:solidFill>
                <a:latin typeface="Montserrat"/>
              </a:defRPr>
            </a:pPr>
            <a:r>
              <a:t>Corte de información: semana 24, 7 junio 2026</a:t>
            </a:r>
            <a:br/>
            <a:r>
              <a:t>¹Las consultas de medicina familiar incluyen los hospitales con MF.</a:t>
            </a:r>
          </a:p>
        </p:txBody>
      </p:sp>
      <p:sp>
        <p:nvSpPr>
          <p:cNvPr id="233" name="TextBox 232"/>
          <p:cNvSpPr txBox="1"/>
          <p:nvPr/>
        </p:nvSpPr>
        <p:spPr>
          <a:xfrm>
            <a:off x="5270400" y="7488000"/>
            <a:ext cx="1515600" cy="540000"/>
          </a:xfrm>
          <a:prstGeom prst="rect">
            <a:avLst/>
          </a:prstGeom>
          <a:noFill/>
        </p:spPr>
        <p:txBody>
          <a:bodyPr wrap="none">
            <a:spAutoFit/>
          </a:bodyPr>
          <a:lstStyle/>
          <a:p>
            <a:pPr algn="ctr">
              <a:defRPr sz="2500" b="1">
                <a:solidFill>
                  <a:srgbClr val="9F2241"/>
                </a:solidFill>
                <a:latin typeface="Montserrat"/>
              </a:defRPr>
            </a:pPr>
            <a:r>
              <a:t>+337</a:t>
            </a:r>
          </a:p>
        </p:txBody>
      </p:sp>
      <p:sp>
        <p:nvSpPr>
          <p:cNvPr id="234" name="TextBox 233"/>
          <p:cNvSpPr txBox="1"/>
          <p:nvPr/>
        </p:nvSpPr>
        <p:spPr>
          <a:xfrm>
            <a:off x="5270400" y="4233600"/>
            <a:ext cx="1515600" cy="540000"/>
          </a:xfrm>
          <a:prstGeom prst="rect">
            <a:avLst/>
          </a:prstGeom>
          <a:noFill/>
        </p:spPr>
        <p:txBody>
          <a:bodyPr wrap="none">
            <a:spAutoFit/>
          </a:bodyPr>
          <a:lstStyle/>
          <a:p>
            <a:pPr algn="ctr">
              <a:defRPr sz="2500" b="1">
                <a:solidFill>
                  <a:srgbClr val="9F2241"/>
                </a:solidFill>
                <a:latin typeface="Montserrat"/>
              </a:defRPr>
            </a:pPr>
            <a:r>
              <a:t>+183,729</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+31,654</a:t>
            </a:r>
          </a:p>
        </p:txBody>
      </p:sp>
      <p:graphicFrame>
        <p:nvGraphicFramePr>
          <p:cNvPr id="236" name="Table 235"/>
          <p:cNvGraphicFramePr>
            <a:graphicFrameLocks noGrp="1"/>
          </p:cNvGraphicFramePr>
          <p:nvPr/>
        </p:nvGraphicFramePr>
        <p:xfrm>
          <a:off x="144000" y="1620000"/>
          <a:ext cx="7469999" cy="1828080"/>
        </p:xfrm>
        <a:graphic>
          <a:graphicData uri="http://schemas.openxmlformats.org/drawingml/2006/table">
            <a:tbl>
              <a:tblPr firstRow="1" bandRow="1">
                <a:tableStyleId>{5C22544A-7EE6-4342-B048-85BDC9FD1C3A}</a:tableStyleId>
              </a:tblPr>
              <a:tblGrid>
                <a:gridCol w="2134800">
                  <a:extLst>
                    <a:ext uri="{9D8B030D-6E8A-4147-A177-3AD203B41FA5}">
                      <a16:colId xmlns:a16="http://schemas.microsoft.com/office/drawing/2014/main" val="20000"/>
                    </a:ext>
                  </a:extLst>
                </a:gridCol>
                <a:gridCol w="1007999">
                  <a:extLst>
                    <a:ext uri="{9D8B030D-6E8A-4147-A177-3AD203B41FA5}">
                      <a16:colId xmlns:a16="http://schemas.microsoft.com/office/drawing/2014/main" val="20001"/>
                    </a:ext>
                  </a:extLst>
                </a:gridCol>
                <a:gridCol w="1188000">
                  <a:extLst>
                    <a:ext uri="{9D8B030D-6E8A-4147-A177-3AD203B41FA5}">
                      <a16:colId xmlns:a16="http://schemas.microsoft.com/office/drawing/2014/main" val="20002"/>
                    </a:ext>
                  </a:extLst>
                </a:gridCol>
                <a:gridCol w="1098000">
                  <a:extLst>
                    <a:ext uri="{9D8B030D-6E8A-4147-A177-3AD203B41FA5}">
                      <a16:colId xmlns:a16="http://schemas.microsoft.com/office/drawing/2014/main" val="20003"/>
                    </a:ext>
                  </a:extLst>
                </a:gridCol>
                <a:gridCol w="1098000">
                  <a:extLst>
                    <a:ext uri="{9D8B030D-6E8A-4147-A177-3AD203B41FA5}">
                      <a16:colId xmlns:a16="http://schemas.microsoft.com/office/drawing/2014/main" val="20004"/>
                    </a:ext>
                  </a:extLst>
                </a:gridCol>
                <a:gridCol w="943200">
                  <a:extLst>
                    <a:ext uri="{9D8B030D-6E8A-4147-A177-3AD203B41FA5}">
                      <a16:colId xmlns:a16="http://schemas.microsoft.com/office/drawing/2014/main" val="20005"/>
                    </a:ext>
                  </a:extLst>
                </a:gridCol>
              </a:tblGrid>
              <a:tr h="396000">
                <a:tc>
                  <a:txBody>
                    <a:bodyPr/>
                    <a:lstStyle/>
                    <a:p>
                      <a:pPr algn="ctr">
                        <a:defRPr sz="1200" b="1">
                          <a:solidFill>
                            <a:srgbClr val="FFFFFF"/>
                          </a:solidFill>
                          <a:latin typeface="Montserrat"/>
                        </a:defRPr>
                      </a:pPr>
                      <a:r>
                        <a:t>Indicador</a:t>
                      </a:r>
                    </a:p>
                  </a:txBody>
                  <a:tcPr anchor="ctr">
                    <a:solidFill>
                      <a:srgbClr val="006455"/>
                    </a:solidFill>
                  </a:tcPr>
                </a:tc>
                <a:tc>
                  <a:txBody>
                    <a:bodyPr/>
                    <a:lstStyle/>
                    <a:p>
                      <a:pPr algn="ctr">
                        <a:defRPr sz="1200" b="1">
                          <a:solidFill>
                            <a:srgbClr val="FFFFFF"/>
                          </a:solidFill>
                          <a:latin typeface="Montserrat"/>
                        </a:defRPr>
                      </a:pPr>
                      <a:r>
                        <a:t>2025</a:t>
                      </a:r>
                    </a:p>
                  </a:txBody>
                  <a:tcPr anchor="ctr">
                    <a:solidFill>
                      <a:srgbClr val="006455"/>
                    </a:solidFill>
                  </a:tcPr>
                </a:tc>
                <a:tc>
                  <a:txBody>
                    <a:bodyPr/>
                    <a:lstStyle/>
                    <a:p>
                      <a:pPr algn="ctr">
                        <a:defRPr sz="1200" b="1">
                          <a:solidFill>
                            <a:srgbClr val="FFFFFF"/>
                          </a:solidFill>
                          <a:latin typeface="Montserrat"/>
                        </a:defRPr>
                      </a:pPr>
                      <a:r>
                        <a:t>Incremento 2024 vs 2025</a:t>
                      </a:r>
                    </a:p>
                  </a:txBody>
                  <a:tcPr anchor="ctr">
                    <a:solidFill>
                      <a:srgbClr val="006455"/>
                    </a:solidFill>
                  </a:tcPr>
                </a:tc>
                <a:tc>
                  <a:txBody>
                    <a:bodyPr/>
                    <a:lstStyle/>
                    <a:p>
                      <a:pPr algn="ctr">
                        <a:defRPr sz="1200" b="1">
                          <a:solidFill>
                            <a:srgbClr val="FFFFFF"/>
                          </a:solidFill>
                          <a:latin typeface="Montserrat"/>
                        </a:defRPr>
                      </a:pPr>
                      <a:r>
                        <a:t>Avance 2026</a:t>
                      </a:r>
                    </a:p>
                  </a:txBody>
                  <a:tcPr anchor="ctr">
                    <a:solidFill>
                      <a:srgbClr val="980000"/>
                    </a:solidFill>
                  </a:tcPr>
                </a:tc>
                <a:tc>
                  <a:txBody>
                    <a:bodyPr/>
                    <a:lstStyle/>
                    <a:p>
                      <a:pPr algn="ctr">
                        <a:defRPr sz="1200" b="1">
                          <a:solidFill>
                            <a:srgbClr val="FFFFFF"/>
                          </a:solidFill>
                          <a:latin typeface="Montserrat"/>
                        </a:defRPr>
                      </a:pPr>
                      <a:r>
                        <a:t>Meta 2026</a:t>
                      </a:r>
                    </a:p>
                  </a:txBody>
                  <a:tcPr anchor="ctr">
                    <a:solidFill>
                      <a:srgbClr val="980000"/>
                    </a:solidFill>
                  </a:tcPr>
                </a:tc>
                <a:tc>
                  <a:txBody>
                    <a:bodyPr/>
                    <a:lstStyle/>
                    <a:p>
                      <a:pPr algn="ctr">
                        <a:defRPr sz="1200" b="1">
                          <a:solidFill>
                            <a:srgbClr val="FFFFFF"/>
                          </a:solidFill>
                          <a:latin typeface="Montserrat"/>
                        </a:defRPr>
                      </a:pPr>
                      <a:r>
                        <a:t>% avance anual</a:t>
                      </a:r>
                    </a:p>
                  </a:txBody>
                  <a:tcPr anchor="ctr">
                    <a:solidFill>
                      <a:srgbClr val="980000"/>
                    </a:solidFill>
                  </a:tcPr>
                </a:tc>
                <a:extLst>
                  <a:ext uri="{0D108BD9-81ED-4DB2-BD59-A6C34878D82A}">
                    <a16:rowId xmlns:a16="http://schemas.microsoft.com/office/drawing/2014/main" val="10000"/>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1,233,742</a:t>
                      </a:r>
                    </a:p>
                  </a:txBody>
                  <a:tcPr marL="0" marR="0" marT="0" marB="0" anchor="ctr">
                    <a:solidFill>
                      <a:srgbClr val="FFFFFF"/>
                    </a:solidFill>
                  </a:tcPr>
                </a:tc>
                <a:tc>
                  <a:txBody>
                    <a:bodyPr/>
                    <a:lstStyle/>
                    <a:p>
                      <a:pPr algn="ctr">
                        <a:defRPr sz="1000">
                          <a:solidFill>
                            <a:srgbClr val="404040"/>
                          </a:solidFill>
                          <a:latin typeface="Montserrat"/>
                        </a:defRPr>
                      </a:pPr>
                      <a:r>
                        <a:t>183,729</a:t>
                      </a:r>
                    </a:p>
                  </a:txBody>
                  <a:tcPr marL="0" marR="0" marT="0" marB="0" anchor="ctr">
                    <a:solidFill>
                      <a:srgbClr val="FFFFFF"/>
                    </a:solidFill>
                  </a:tcPr>
                </a:tc>
                <a:tc>
                  <a:txBody>
                    <a:bodyPr/>
                    <a:lstStyle/>
                    <a:p>
                      <a:pPr algn="ctr">
                        <a:defRPr sz="1000" b="1">
                          <a:solidFill>
                            <a:srgbClr val="980000"/>
                          </a:solidFill>
                          <a:latin typeface="Montserrat"/>
                        </a:defRPr>
                      </a:pPr>
                      <a:r>
                        <a:t>575,034</a:t>
                      </a:r>
                    </a:p>
                  </a:txBody>
                  <a:tcPr marL="0" marR="0" marT="0" marB="0" anchor="ctr">
                    <a:solidFill>
                      <a:srgbClr val="ECD3D9"/>
                    </a:solidFill>
                  </a:tcPr>
                </a:tc>
                <a:tc>
                  <a:txBody>
                    <a:bodyPr/>
                    <a:lstStyle/>
                    <a:p>
                      <a:pPr algn="ctr">
                        <a:defRPr sz="1000" b="1">
                          <a:solidFill>
                            <a:srgbClr val="980000"/>
                          </a:solidFill>
                          <a:latin typeface="Montserrat"/>
                        </a:defRPr>
                      </a:pPr>
                      <a:r>
                        <a:t>1,282,620</a:t>
                      </a:r>
                    </a:p>
                  </a:txBody>
                  <a:tcPr marL="0" marR="0" marT="0" marB="0" anchor="ctr">
                    <a:solidFill>
                      <a:srgbClr val="ECD3D9"/>
                    </a:solidFill>
                  </a:tcPr>
                </a:tc>
                <a:tc>
                  <a:txBody>
                    <a:bodyPr/>
                    <a:lstStyle/>
                    <a:p>
                      <a:pPr algn="ctr">
                        <a:defRPr sz="1000" b="1">
                          <a:solidFill>
                            <a:srgbClr val="980000"/>
                          </a:solidFill>
                          <a:latin typeface="Montserrat"/>
                        </a:defRPr>
                      </a:pPr>
                      <a:r>
                        <a:t>44.8%</a:t>
                      </a:r>
                    </a:p>
                  </a:txBody>
                  <a:tcPr marL="0" marR="0" marT="0" marB="0" anchor="ctr">
                    <a:solidFill>
                      <a:srgbClr val="ECD3D9"/>
                    </a:solidFill>
                  </a:tcPr>
                </a:tc>
                <a:extLst>
                  <a:ext uri="{0D108BD9-81ED-4DB2-BD59-A6C34878D82A}">
                    <a16:rowId xmlns:a16="http://schemas.microsoft.com/office/drawing/2014/main" val="10001"/>
                  </a:ext>
                </a:extLst>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256,073</a:t>
                      </a:r>
                    </a:p>
                  </a:txBody>
                  <a:tcPr marL="0" marR="0" marT="0" marB="0" anchor="ctr">
                    <a:solidFill>
                      <a:srgbClr val="EFEFEF"/>
                    </a:solidFill>
                  </a:tcPr>
                </a:tc>
                <a:tc>
                  <a:txBody>
                    <a:bodyPr/>
                    <a:lstStyle/>
                    <a:p>
                      <a:pPr algn="ctr">
                        <a:defRPr sz="1000">
                          <a:solidFill>
                            <a:srgbClr val="404040"/>
                          </a:solidFill>
                          <a:latin typeface="Montserrat"/>
                        </a:defRPr>
                      </a:pPr>
                      <a:r>
                        <a:t>31,654</a:t>
                      </a:r>
                    </a:p>
                  </a:txBody>
                  <a:tcPr marL="0" marR="0" marT="0" marB="0" anchor="ctr">
                    <a:solidFill>
                      <a:srgbClr val="EFEFEF"/>
                    </a:solidFill>
                  </a:tcPr>
                </a:tc>
                <a:tc>
                  <a:txBody>
                    <a:bodyPr/>
                    <a:lstStyle/>
                    <a:p>
                      <a:pPr algn="ctr">
                        <a:defRPr sz="1000" b="1">
                          <a:solidFill>
                            <a:srgbClr val="980000"/>
                          </a:solidFill>
                          <a:latin typeface="Montserrat"/>
                        </a:defRPr>
                      </a:pPr>
                      <a:r>
                        <a:t>125,666</a:t>
                      </a:r>
                    </a:p>
                  </a:txBody>
                  <a:tcPr marL="0" marR="0" marT="0" marB="0" anchor="ctr">
                    <a:solidFill>
                      <a:srgbClr val="F4E3E7"/>
                    </a:solidFill>
                  </a:tcPr>
                </a:tc>
                <a:tc>
                  <a:txBody>
                    <a:bodyPr/>
                    <a:lstStyle/>
                    <a:p>
                      <a:pPr algn="ctr">
                        <a:defRPr sz="1000" b="1">
                          <a:solidFill>
                            <a:srgbClr val="980000"/>
                          </a:solidFill>
                          <a:latin typeface="Montserrat"/>
                        </a:defRPr>
                      </a:pPr>
                      <a:r>
                        <a:t>283,605</a:t>
                      </a:r>
                    </a:p>
                  </a:txBody>
                  <a:tcPr marL="0" marR="0" marT="0" marB="0" anchor="ctr">
                    <a:solidFill>
                      <a:srgbClr val="F4E3E7"/>
                    </a:solidFill>
                  </a:tcPr>
                </a:tc>
                <a:tc>
                  <a:txBody>
                    <a:bodyPr/>
                    <a:lstStyle/>
                    <a:p>
                      <a:pPr algn="ctr">
                        <a:defRPr sz="1000" b="1">
                          <a:solidFill>
                            <a:srgbClr val="980000"/>
                          </a:solidFill>
                          <a:latin typeface="Montserrat"/>
                        </a:defRPr>
                      </a:pPr>
                      <a:r>
                        <a:t>44.3%</a:t>
                      </a:r>
                    </a:p>
                  </a:txBody>
                  <a:tcPr marL="0" marR="0" marT="0" marB="0" anchor="ctr">
                    <a:solidFill>
                      <a:srgbClr val="F4E3E7"/>
                    </a:solidFill>
                  </a:tcPr>
                </a:tc>
                <a:extLst>
                  <a:ext uri="{0D108BD9-81ED-4DB2-BD59-A6C34878D82A}">
                    <a16:rowId xmlns:a16="http://schemas.microsoft.com/office/drawing/2014/main" val="10002"/>
                  </a:ext>
                </a:extLst>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13,010</a:t>
                      </a:r>
                    </a:p>
                  </a:txBody>
                  <a:tcPr marL="0" marR="0" marT="0" marB="0" anchor="ctr">
                    <a:solidFill>
                      <a:srgbClr val="FFFFFF"/>
                    </a:solidFill>
                  </a:tcPr>
                </a:tc>
                <a:tc>
                  <a:txBody>
                    <a:bodyPr/>
                    <a:lstStyle/>
                    <a:p>
                      <a:pPr algn="ctr">
                        <a:defRPr sz="1000">
                          <a:solidFill>
                            <a:srgbClr val="404040"/>
                          </a:solidFill>
                          <a:latin typeface="Montserrat"/>
                        </a:defRPr>
                      </a:pPr>
                      <a:r>
                        <a:t>337</a:t>
                      </a:r>
                    </a:p>
                  </a:txBody>
                  <a:tcPr marL="0" marR="0" marT="0" marB="0" anchor="ctr">
                    <a:solidFill>
                      <a:srgbClr val="FFFFFF"/>
                    </a:solidFill>
                  </a:tcPr>
                </a:tc>
                <a:tc>
                  <a:txBody>
                    <a:bodyPr/>
                    <a:lstStyle/>
                    <a:p>
                      <a:pPr algn="ctr">
                        <a:defRPr sz="1000" b="1">
                          <a:solidFill>
                            <a:srgbClr val="980000"/>
                          </a:solidFill>
                          <a:latin typeface="Montserrat"/>
                        </a:defRPr>
                      </a:pPr>
                      <a:r>
                        <a:t>5,950</a:t>
                      </a:r>
                    </a:p>
                  </a:txBody>
                  <a:tcPr marL="0" marR="0" marT="0" marB="0" anchor="ctr">
                    <a:solidFill>
                      <a:srgbClr val="ECD3D9"/>
                    </a:solidFill>
                  </a:tcPr>
                </a:tc>
                <a:tc>
                  <a:txBody>
                    <a:bodyPr/>
                    <a:lstStyle/>
                    <a:p>
                      <a:pPr algn="ctr">
                        <a:defRPr sz="1000" b="1">
                          <a:solidFill>
                            <a:srgbClr val="980000"/>
                          </a:solidFill>
                          <a:latin typeface="Montserrat"/>
                        </a:defRPr>
                      </a:pPr>
                      <a:r>
                        <a:t>15,005</a:t>
                      </a:r>
                    </a:p>
                  </a:txBody>
                  <a:tcPr marL="0" marR="0" marT="0" marB="0" anchor="ctr">
                    <a:solidFill>
                      <a:srgbClr val="ECD3D9"/>
                    </a:solidFill>
                  </a:tcPr>
                </a:tc>
                <a:tc>
                  <a:txBody>
                    <a:bodyPr/>
                    <a:lstStyle/>
                    <a:p>
                      <a:pPr algn="ctr">
                        <a:defRPr sz="1000" b="1">
                          <a:solidFill>
                            <a:srgbClr val="980000"/>
                          </a:solidFill>
                          <a:latin typeface="Montserrat"/>
                        </a:defRPr>
                      </a:pPr>
                      <a:r>
                        <a:t>39.7%</a:t>
                      </a:r>
                    </a:p>
                  </a:txBody>
                  <a:tcPr marL="0" marR="0" marT="0" marB="0" anchor="ctr">
                    <a:solidFill>
                      <a:srgbClr val="ECD3D9"/>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35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rPr dirty="0"/>
              <a:t>32 UMF de lunes a </a:t>
            </a:r>
            <a:r>
              <a:rPr dirty="0" err="1"/>
              <a:t>viernes</a:t>
            </a:r>
            <a:endParaRPr dirty="0"/>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95616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curso:2025 (del 26 de dic de 2024 al 25 de dic de 2025).</a:t>
            </a:r>
            <a:br/>
            <a:r>
              <a:t>Corte de información: Semana 24, 7 junio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extLst>
              <p:ext uri="{D42A27DB-BD31-4B8C-83A1-F6EECF244321}">
                <p14:modId xmlns:p14="http://schemas.microsoft.com/office/powerpoint/2010/main" val="515191398"/>
              </p:ext>
            </p:extLst>
          </p:nvPr>
        </p:nvGraphicFramePr>
        <p:xfrm>
          <a:off x="151200" y="1691999"/>
          <a:ext cx="7473599" cy="5849449"/>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415535">
                <a:tc>
                  <a:txBody>
                    <a:bodyPr/>
                    <a:lstStyle/>
                    <a:p>
                      <a:pPr algn="ctr">
                        <a:defRPr sz="1000" b="1">
                          <a:solidFill>
                            <a:srgbClr val="FFFFFF"/>
                          </a:solidFill>
                          <a:latin typeface="Montserrat"/>
                        </a:defRPr>
                      </a:pPr>
                      <a:r>
                        <a:rPr dirty="0"/>
                        <a:t>Unidad</a:t>
                      </a:r>
                    </a:p>
                  </a:txBody>
                  <a:tcPr anchor="ctr">
                    <a:solidFill>
                      <a:srgbClr val="006455"/>
                    </a:solidFill>
                  </a:tcPr>
                </a:tc>
                <a:tc>
                  <a:txBody>
                    <a:bodyPr/>
                    <a:lstStyle/>
                    <a:p>
                      <a:pPr algn="ctr">
                        <a:defRPr sz="1000" b="1">
                          <a:solidFill>
                            <a:srgbClr val="FFFFFF"/>
                          </a:solidFill>
                          <a:latin typeface="Montserrat"/>
                        </a:defRPr>
                      </a:pPr>
                      <a:r>
                        <a:t>Consultas 2025</a:t>
                      </a:r>
                    </a:p>
                  </a:txBody>
                  <a:tcPr anchor="ctr">
                    <a:solidFill>
                      <a:srgbClr val="006455"/>
                    </a:solidFill>
                  </a:tcPr>
                </a:tc>
                <a:tc>
                  <a:txBody>
                    <a:bodyPr/>
                    <a:lstStyle/>
                    <a:p>
                      <a:pPr algn="ctr">
                        <a:defRPr sz="1000" b="1">
                          <a:solidFill>
                            <a:srgbClr val="FFFFFF"/>
                          </a:solidFill>
                          <a:latin typeface="Montserrat"/>
                        </a:defRPr>
                      </a:pPr>
                      <a:r>
                        <a:t>Incremento 2025 vs 2024</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159821">
                <a:tc>
                  <a:txBody>
                    <a:bodyPr/>
                    <a:lstStyle/>
                    <a:p>
                      <a:pPr algn="l">
                        <a:defRPr sz="1000">
                          <a:latin typeface="Montserrat"/>
                        </a:defRPr>
                      </a:pPr>
                      <a:r>
                        <a:t>UMF 1 Zacatecas</a:t>
                      </a:r>
                    </a:p>
                  </a:txBody>
                  <a:tcPr marL="0" marR="0" marT="0" marB="0" anchor="ctr">
                    <a:solidFill>
                      <a:srgbClr val="FFFFFF"/>
                    </a:solidFill>
                  </a:tcPr>
                </a:tc>
                <a:tc>
                  <a:txBody>
                    <a:bodyPr/>
                    <a:lstStyle/>
                    <a:p>
                      <a:pPr algn="ctr">
                        <a:defRPr sz="1000">
                          <a:latin typeface="Montserrat"/>
                        </a:defRPr>
                      </a:pPr>
                      <a:r>
                        <a:t>131,371</a:t>
                      </a:r>
                    </a:p>
                  </a:txBody>
                  <a:tcPr marL="0" marR="0" marT="0" marB="0" anchor="ctr">
                    <a:solidFill>
                      <a:srgbClr val="FFFFFF"/>
                    </a:solidFill>
                  </a:tcPr>
                </a:tc>
                <a:tc>
                  <a:txBody>
                    <a:bodyPr/>
                    <a:lstStyle/>
                    <a:p>
                      <a:pPr algn="ctr">
                        <a:defRPr sz="1000">
                          <a:latin typeface="Montserrat"/>
                        </a:defRPr>
                      </a:pPr>
                      <a:r>
                        <a:t>10,371</a:t>
                      </a:r>
                    </a:p>
                  </a:txBody>
                  <a:tcPr marL="0" marR="0" marT="0" marB="0" anchor="ctr">
                    <a:solidFill>
                      <a:srgbClr val="FFFFFF"/>
                    </a:solidFill>
                  </a:tcPr>
                </a:tc>
                <a:tc>
                  <a:txBody>
                    <a:bodyPr/>
                    <a:lstStyle/>
                    <a:p>
                      <a:pPr algn="ctr">
                        <a:defRPr sz="1000">
                          <a:latin typeface="Montserrat"/>
                        </a:defRPr>
                      </a:pPr>
                      <a:r>
                        <a:t>58,056</a:t>
                      </a:r>
                    </a:p>
                  </a:txBody>
                  <a:tcPr marL="0" marR="0" marT="0" marB="0" anchor="ctr">
                    <a:solidFill>
                      <a:srgbClr val="ECD3D9"/>
                    </a:solidFill>
                  </a:tcPr>
                </a:tc>
                <a:tc>
                  <a:txBody>
                    <a:bodyPr/>
                    <a:lstStyle/>
                    <a:p>
                      <a:pPr algn="ctr">
                        <a:defRPr sz="1000">
                          <a:latin typeface="Montserrat"/>
                        </a:defRPr>
                      </a:pPr>
                      <a:r>
                        <a:t>126,000</a:t>
                      </a:r>
                    </a:p>
                  </a:txBody>
                  <a:tcPr marL="0" marR="0" marT="0" marB="0" anchor="ctr">
                    <a:solidFill>
                      <a:srgbClr val="ECD3D9"/>
                    </a:solidFill>
                  </a:tcPr>
                </a:tc>
                <a:tc>
                  <a:txBody>
                    <a:bodyPr/>
                    <a:lstStyle/>
                    <a:p>
                      <a:pPr algn="ctr">
                        <a:defRPr sz="1000">
                          <a:latin typeface="Montserrat"/>
                        </a:defRPr>
                      </a:pPr>
                      <a:r>
                        <a:t>46.1%</a:t>
                      </a:r>
                    </a:p>
                  </a:txBody>
                  <a:tcPr marL="0" marR="0" marT="0" marB="0" anchor="ctr">
                    <a:solidFill>
                      <a:srgbClr val="ECD3D9"/>
                    </a:solidFill>
                  </a:tcPr>
                </a:tc>
                <a:extLst>
                  <a:ext uri="{0D108BD9-81ED-4DB2-BD59-A6C34878D82A}">
                    <a16:rowId xmlns:a16="http://schemas.microsoft.com/office/drawing/2014/main" val="10001"/>
                  </a:ext>
                </a:extLst>
              </a:tr>
              <a:tr h="159821">
                <a:tc>
                  <a:txBody>
                    <a:bodyPr/>
                    <a:lstStyle/>
                    <a:p>
                      <a:pPr algn="l">
                        <a:defRPr sz="1000">
                          <a:latin typeface="Montserrat"/>
                        </a:defRPr>
                      </a:pPr>
                      <a:r>
                        <a:t>UMF 7 Sombrerete</a:t>
                      </a:r>
                    </a:p>
                  </a:txBody>
                  <a:tcPr marL="0" marR="0" marT="0" marB="0" anchor="ctr">
                    <a:solidFill>
                      <a:srgbClr val="EFEFEF"/>
                    </a:solidFill>
                  </a:tcPr>
                </a:tc>
                <a:tc>
                  <a:txBody>
                    <a:bodyPr/>
                    <a:lstStyle/>
                    <a:p>
                      <a:pPr algn="ctr">
                        <a:defRPr sz="1000">
                          <a:latin typeface="Montserrat"/>
                        </a:defRPr>
                      </a:pPr>
                      <a:r>
                        <a:t>45,018</a:t>
                      </a:r>
                    </a:p>
                  </a:txBody>
                  <a:tcPr marL="0" marR="0" marT="0" marB="0" anchor="ctr">
                    <a:solidFill>
                      <a:srgbClr val="EFEFEF"/>
                    </a:solidFill>
                  </a:tcPr>
                </a:tc>
                <a:tc>
                  <a:txBody>
                    <a:bodyPr/>
                    <a:lstStyle/>
                    <a:p>
                      <a:pPr algn="ctr">
                        <a:defRPr sz="1000">
                          <a:latin typeface="Montserrat"/>
                        </a:defRPr>
                      </a:pPr>
                      <a:r>
                        <a:t>5,032</a:t>
                      </a:r>
                    </a:p>
                  </a:txBody>
                  <a:tcPr marL="0" marR="0" marT="0" marB="0" anchor="ctr">
                    <a:solidFill>
                      <a:srgbClr val="EFEFEF"/>
                    </a:solidFill>
                  </a:tcPr>
                </a:tc>
                <a:tc>
                  <a:txBody>
                    <a:bodyPr/>
                    <a:lstStyle/>
                    <a:p>
                      <a:pPr algn="ctr">
                        <a:defRPr sz="1000">
                          <a:latin typeface="Montserrat"/>
                        </a:defRPr>
                      </a:pPr>
                      <a:r>
                        <a:t>19,785</a:t>
                      </a:r>
                    </a:p>
                  </a:txBody>
                  <a:tcPr marL="0" marR="0" marT="0" marB="0" anchor="ctr">
                    <a:solidFill>
                      <a:srgbClr val="ECD3D9"/>
                    </a:solidFill>
                  </a:tcPr>
                </a:tc>
                <a:tc>
                  <a:txBody>
                    <a:bodyPr/>
                    <a:lstStyle/>
                    <a:p>
                      <a:pPr algn="ctr">
                        <a:defRPr sz="1000">
                          <a:latin typeface="Montserrat"/>
                        </a:defRPr>
                      </a:pPr>
                      <a:r>
                        <a:t>44,000</a:t>
                      </a:r>
                    </a:p>
                  </a:txBody>
                  <a:tcPr marL="0" marR="0" marT="0" marB="0" anchor="ctr">
                    <a:solidFill>
                      <a:srgbClr val="ECD3D9"/>
                    </a:solidFill>
                  </a:tcPr>
                </a:tc>
                <a:tc>
                  <a:txBody>
                    <a:bodyPr/>
                    <a:lstStyle/>
                    <a:p>
                      <a:pPr algn="ctr">
                        <a:defRPr sz="1000">
                          <a:latin typeface="Montserrat"/>
                        </a:defRPr>
                      </a:pPr>
                      <a:r>
                        <a:t>45.0%</a:t>
                      </a:r>
                    </a:p>
                  </a:txBody>
                  <a:tcPr marL="0" marR="0" marT="0" marB="0" anchor="ctr">
                    <a:solidFill>
                      <a:srgbClr val="ECD3D9"/>
                    </a:solidFill>
                  </a:tcPr>
                </a:tc>
                <a:extLst>
                  <a:ext uri="{0D108BD9-81ED-4DB2-BD59-A6C34878D82A}">
                    <a16:rowId xmlns:a16="http://schemas.microsoft.com/office/drawing/2014/main" val="10002"/>
                  </a:ext>
                </a:extLst>
              </a:tr>
              <a:tr h="159821">
                <a:tc>
                  <a:txBody>
                    <a:bodyPr/>
                    <a:lstStyle/>
                    <a:p>
                      <a:pPr algn="l">
                        <a:defRPr sz="1000">
                          <a:latin typeface="Montserrat"/>
                        </a:defRPr>
                      </a:pPr>
                      <a:r>
                        <a:t>UMF 3 Guadalupe</a:t>
                      </a:r>
                    </a:p>
                  </a:txBody>
                  <a:tcPr marL="0" marR="0" marT="0" marB="0" anchor="ctr">
                    <a:solidFill>
                      <a:srgbClr val="FFFFFF"/>
                    </a:solidFill>
                  </a:tcPr>
                </a:tc>
                <a:tc>
                  <a:txBody>
                    <a:bodyPr/>
                    <a:lstStyle/>
                    <a:p>
                      <a:pPr algn="ctr">
                        <a:defRPr sz="1000">
                          <a:latin typeface="Montserrat"/>
                        </a:defRPr>
                      </a:pPr>
                      <a:r>
                        <a:t>67,838</a:t>
                      </a:r>
                    </a:p>
                  </a:txBody>
                  <a:tcPr marL="0" marR="0" marT="0" marB="0" anchor="ctr">
                    <a:solidFill>
                      <a:srgbClr val="FFFFFF"/>
                    </a:solidFill>
                  </a:tcPr>
                </a:tc>
                <a:tc>
                  <a:txBody>
                    <a:bodyPr/>
                    <a:lstStyle/>
                    <a:p>
                      <a:pPr algn="ctr">
                        <a:defRPr sz="1000">
                          <a:latin typeface="Montserrat"/>
                        </a:defRPr>
                      </a:pPr>
                      <a:r>
                        <a:t>8,135</a:t>
                      </a:r>
                    </a:p>
                  </a:txBody>
                  <a:tcPr marL="0" marR="0" marT="0" marB="0" anchor="ctr">
                    <a:solidFill>
                      <a:srgbClr val="FFFFFF"/>
                    </a:solidFill>
                  </a:tcPr>
                </a:tc>
                <a:tc>
                  <a:txBody>
                    <a:bodyPr/>
                    <a:lstStyle/>
                    <a:p>
                      <a:pPr algn="ctr">
                        <a:defRPr sz="1000">
                          <a:latin typeface="Montserrat"/>
                        </a:defRPr>
                      </a:pPr>
                      <a:r>
                        <a:t>31,246</a:t>
                      </a:r>
                    </a:p>
                  </a:txBody>
                  <a:tcPr marL="0" marR="0" marT="0" marB="0" anchor="ctr">
                    <a:solidFill>
                      <a:srgbClr val="ECD3D9"/>
                    </a:solidFill>
                  </a:tcPr>
                </a:tc>
                <a:tc>
                  <a:txBody>
                    <a:bodyPr/>
                    <a:lstStyle/>
                    <a:p>
                      <a:pPr algn="ctr">
                        <a:defRPr sz="1000">
                          <a:latin typeface="Montserrat"/>
                        </a:defRPr>
                      </a:pPr>
                      <a:r>
                        <a:t>66,000</a:t>
                      </a:r>
                    </a:p>
                  </a:txBody>
                  <a:tcPr marL="0" marR="0" marT="0" marB="0" anchor="ctr">
                    <a:solidFill>
                      <a:srgbClr val="ECD3D9"/>
                    </a:solidFill>
                  </a:tcPr>
                </a:tc>
                <a:tc>
                  <a:txBody>
                    <a:bodyPr/>
                    <a:lstStyle/>
                    <a:p>
                      <a:pPr algn="ctr">
                        <a:defRPr sz="1000">
                          <a:latin typeface="Montserrat"/>
                        </a:defRPr>
                      </a:pPr>
                      <a:r>
                        <a:t>47.3%</a:t>
                      </a:r>
                    </a:p>
                  </a:txBody>
                  <a:tcPr marL="0" marR="0" marT="0" marB="0" anchor="ctr">
                    <a:solidFill>
                      <a:srgbClr val="ECD3D9"/>
                    </a:solidFill>
                  </a:tcPr>
                </a:tc>
                <a:extLst>
                  <a:ext uri="{0D108BD9-81ED-4DB2-BD59-A6C34878D82A}">
                    <a16:rowId xmlns:a16="http://schemas.microsoft.com/office/drawing/2014/main" val="10003"/>
                  </a:ext>
                </a:extLst>
              </a:tr>
              <a:tr h="159821">
                <a:tc>
                  <a:txBody>
                    <a:bodyPr/>
                    <a:lstStyle/>
                    <a:p>
                      <a:pPr algn="l">
                        <a:defRPr sz="1000">
                          <a:latin typeface="Montserrat"/>
                        </a:defRPr>
                      </a:pPr>
                      <a:r>
                        <a:t>UMF 5 Jerez</a:t>
                      </a:r>
                    </a:p>
                  </a:txBody>
                  <a:tcPr marL="0" marR="0" marT="0" marB="0" anchor="ctr">
                    <a:solidFill>
                      <a:srgbClr val="EFEFEF"/>
                    </a:solidFill>
                  </a:tcPr>
                </a:tc>
                <a:tc>
                  <a:txBody>
                    <a:bodyPr/>
                    <a:lstStyle/>
                    <a:p>
                      <a:pPr algn="ctr">
                        <a:defRPr sz="1000">
                          <a:latin typeface="Montserrat"/>
                        </a:defRPr>
                      </a:pPr>
                      <a:r>
                        <a:t>32,053</a:t>
                      </a:r>
                    </a:p>
                  </a:txBody>
                  <a:tcPr marL="0" marR="0" marT="0" marB="0" anchor="ctr">
                    <a:solidFill>
                      <a:srgbClr val="EFEFEF"/>
                    </a:solidFill>
                  </a:tcPr>
                </a:tc>
                <a:tc>
                  <a:txBody>
                    <a:bodyPr/>
                    <a:lstStyle/>
                    <a:p>
                      <a:pPr algn="ctr">
                        <a:defRPr sz="1000">
                          <a:latin typeface="Montserrat"/>
                        </a:defRPr>
                      </a:pPr>
                      <a:r>
                        <a:t>1,199</a:t>
                      </a:r>
                    </a:p>
                  </a:txBody>
                  <a:tcPr marL="0" marR="0" marT="0" marB="0" anchor="ctr">
                    <a:solidFill>
                      <a:srgbClr val="EFEFEF"/>
                    </a:solidFill>
                  </a:tcPr>
                </a:tc>
                <a:tc>
                  <a:txBody>
                    <a:bodyPr/>
                    <a:lstStyle/>
                    <a:p>
                      <a:pPr algn="ctr">
                        <a:defRPr sz="1000">
                          <a:latin typeface="Montserrat"/>
                        </a:defRPr>
                      </a:pPr>
                      <a:r>
                        <a:t>16,567</a:t>
                      </a:r>
                    </a:p>
                  </a:txBody>
                  <a:tcPr marL="0" marR="0" marT="0" marB="0" anchor="ctr">
                    <a:solidFill>
                      <a:srgbClr val="ECD3D9"/>
                    </a:solidFill>
                  </a:tcPr>
                </a:tc>
                <a:tc>
                  <a:txBody>
                    <a:bodyPr/>
                    <a:lstStyle/>
                    <a:p>
                      <a:pPr algn="ctr">
                        <a:defRPr sz="1000">
                          <a:latin typeface="Montserrat"/>
                        </a:defRPr>
                      </a:pPr>
                      <a:r>
                        <a:t>43,848</a:t>
                      </a:r>
                    </a:p>
                  </a:txBody>
                  <a:tcPr marL="0" marR="0" marT="0" marB="0" anchor="ctr">
                    <a:solidFill>
                      <a:srgbClr val="ECD3D9"/>
                    </a:solidFill>
                  </a:tcPr>
                </a:tc>
                <a:tc>
                  <a:txBody>
                    <a:bodyPr/>
                    <a:lstStyle/>
                    <a:p>
                      <a:pPr algn="ctr">
                        <a:defRPr sz="1000">
                          <a:latin typeface="Montserrat"/>
                        </a:defRPr>
                      </a:pPr>
                      <a:r>
                        <a:t>37.8%</a:t>
                      </a:r>
                    </a:p>
                  </a:txBody>
                  <a:tcPr marL="0" marR="0" marT="0" marB="0" anchor="ctr">
                    <a:solidFill>
                      <a:srgbClr val="ECD3D9"/>
                    </a:solidFill>
                  </a:tcPr>
                </a:tc>
                <a:extLst>
                  <a:ext uri="{0D108BD9-81ED-4DB2-BD59-A6C34878D82A}">
                    <a16:rowId xmlns:a16="http://schemas.microsoft.com/office/drawing/2014/main" val="10004"/>
                  </a:ext>
                </a:extLst>
              </a:tr>
              <a:tr h="159821">
                <a:tc>
                  <a:txBody>
                    <a:bodyPr/>
                    <a:lstStyle/>
                    <a:p>
                      <a:pPr algn="l">
                        <a:defRPr sz="1000">
                          <a:latin typeface="Montserrat"/>
                        </a:defRPr>
                      </a:pPr>
                      <a:r>
                        <a:t>UMF 6 Río grande</a:t>
                      </a:r>
                    </a:p>
                  </a:txBody>
                  <a:tcPr marL="0" marR="0" marT="0" marB="0" anchor="ctr">
                    <a:solidFill>
                      <a:srgbClr val="FFFFFF"/>
                    </a:solidFill>
                  </a:tcPr>
                </a:tc>
                <a:tc>
                  <a:txBody>
                    <a:bodyPr/>
                    <a:lstStyle/>
                    <a:p>
                      <a:pPr algn="ctr">
                        <a:defRPr sz="1000">
                          <a:latin typeface="Montserrat"/>
                        </a:defRPr>
                      </a:pPr>
                      <a:r>
                        <a:t>29,411</a:t>
                      </a:r>
                    </a:p>
                  </a:txBody>
                  <a:tcPr marL="0" marR="0" marT="0" marB="0" anchor="ctr">
                    <a:solidFill>
                      <a:srgbClr val="FFFFFF"/>
                    </a:solidFill>
                  </a:tcPr>
                </a:tc>
                <a:tc>
                  <a:txBody>
                    <a:bodyPr/>
                    <a:lstStyle/>
                    <a:p>
                      <a:pPr algn="ctr">
                        <a:defRPr sz="1000">
                          <a:latin typeface="Montserrat"/>
                        </a:defRPr>
                      </a:pPr>
                      <a:r>
                        <a:rPr dirty="0"/>
                        <a:t>3,007</a:t>
                      </a:r>
                    </a:p>
                  </a:txBody>
                  <a:tcPr marL="0" marR="0" marT="0" marB="0" anchor="ctr">
                    <a:solidFill>
                      <a:srgbClr val="FFFFFF"/>
                    </a:solidFill>
                  </a:tcPr>
                </a:tc>
                <a:tc>
                  <a:txBody>
                    <a:bodyPr/>
                    <a:lstStyle/>
                    <a:p>
                      <a:pPr algn="ctr">
                        <a:defRPr sz="1000">
                          <a:latin typeface="Montserrat"/>
                        </a:defRPr>
                      </a:pPr>
                      <a:r>
                        <a:t>14,915</a:t>
                      </a:r>
                    </a:p>
                  </a:txBody>
                  <a:tcPr marL="0" marR="0" marT="0" marB="0" anchor="ctr">
                    <a:solidFill>
                      <a:srgbClr val="ECD3D9"/>
                    </a:solidFill>
                  </a:tcPr>
                </a:tc>
                <a:tc>
                  <a:txBody>
                    <a:bodyPr/>
                    <a:lstStyle/>
                    <a:p>
                      <a:pPr algn="ctr">
                        <a:defRPr sz="1000">
                          <a:latin typeface="Montserrat"/>
                        </a:defRPr>
                      </a:pPr>
                      <a:r>
                        <a:t>37,584</a:t>
                      </a:r>
                    </a:p>
                  </a:txBody>
                  <a:tcPr marL="0" marR="0" marT="0" marB="0" anchor="ctr">
                    <a:solidFill>
                      <a:srgbClr val="ECD3D9"/>
                    </a:solidFill>
                  </a:tcPr>
                </a:tc>
                <a:tc>
                  <a:txBody>
                    <a:bodyPr/>
                    <a:lstStyle/>
                    <a:p>
                      <a:pPr algn="ctr">
                        <a:defRPr sz="1000">
                          <a:latin typeface="Montserrat"/>
                        </a:defRPr>
                      </a:pPr>
                      <a:r>
                        <a:t>39.7%</a:t>
                      </a:r>
                    </a:p>
                  </a:txBody>
                  <a:tcPr marL="0" marR="0" marT="0" marB="0" anchor="ctr">
                    <a:solidFill>
                      <a:srgbClr val="ECD3D9"/>
                    </a:solidFill>
                  </a:tcPr>
                </a:tc>
                <a:extLst>
                  <a:ext uri="{0D108BD9-81ED-4DB2-BD59-A6C34878D82A}">
                    <a16:rowId xmlns:a16="http://schemas.microsoft.com/office/drawing/2014/main" val="10005"/>
                  </a:ext>
                </a:extLst>
              </a:tr>
              <a:tr h="159821">
                <a:tc>
                  <a:txBody>
                    <a:bodyPr/>
                    <a:lstStyle/>
                    <a:p>
                      <a:pPr algn="l">
                        <a:defRPr sz="1000">
                          <a:latin typeface="Montserrat"/>
                        </a:defRPr>
                      </a:pPr>
                      <a:r>
                        <a:t>UMF 15 Terminal</a:t>
                      </a:r>
                    </a:p>
                  </a:txBody>
                  <a:tcPr marL="0" marR="0" marT="0" marB="0" anchor="ctr">
                    <a:solidFill>
                      <a:srgbClr val="EFEFEF"/>
                    </a:solidFill>
                  </a:tcPr>
                </a:tc>
                <a:tc>
                  <a:txBody>
                    <a:bodyPr/>
                    <a:lstStyle/>
                    <a:p>
                      <a:pPr algn="ctr">
                        <a:defRPr sz="1000">
                          <a:latin typeface="Montserrat"/>
                        </a:defRPr>
                      </a:pPr>
                      <a:r>
                        <a:t>6,749</a:t>
                      </a:r>
                    </a:p>
                  </a:txBody>
                  <a:tcPr marL="0" marR="0" marT="0" marB="0" anchor="ctr">
                    <a:solidFill>
                      <a:srgbClr val="EFEFEF"/>
                    </a:solidFill>
                  </a:tcPr>
                </a:tc>
                <a:tc>
                  <a:txBody>
                    <a:bodyPr/>
                    <a:lstStyle/>
                    <a:p>
                      <a:pPr algn="ctr">
                        <a:defRPr sz="1000">
                          <a:latin typeface="Montserrat"/>
                        </a:defRPr>
                      </a:pPr>
                      <a:r>
                        <a:t>2,000</a:t>
                      </a:r>
                    </a:p>
                  </a:txBody>
                  <a:tcPr marL="0" marR="0" marT="0" marB="0" anchor="ctr">
                    <a:solidFill>
                      <a:srgbClr val="EFEFEF"/>
                    </a:solidFill>
                  </a:tcPr>
                </a:tc>
                <a:tc>
                  <a:txBody>
                    <a:bodyPr/>
                    <a:lstStyle/>
                    <a:p>
                      <a:pPr algn="ctr">
                        <a:defRPr sz="1000">
                          <a:latin typeface="Montserrat"/>
                        </a:defRPr>
                      </a:pPr>
                      <a:r>
                        <a:t>3,407</a:t>
                      </a:r>
                    </a:p>
                  </a:txBody>
                  <a:tcPr marL="0" marR="0" marT="0" marB="0" anchor="ctr">
                    <a:solidFill>
                      <a:srgbClr val="ECD3D9"/>
                    </a:solidFill>
                  </a:tcPr>
                </a:tc>
                <a:tc>
                  <a:txBody>
                    <a:bodyPr/>
                    <a:lstStyle/>
                    <a:p>
                      <a:pPr algn="ctr">
                        <a:defRPr sz="1000">
                          <a:latin typeface="Montserrat"/>
                        </a:defRPr>
                      </a:pPr>
                      <a:r>
                        <a:t>8,000</a:t>
                      </a:r>
                    </a:p>
                  </a:txBody>
                  <a:tcPr marL="0" marR="0" marT="0" marB="0" anchor="ctr">
                    <a:solidFill>
                      <a:srgbClr val="ECD3D9"/>
                    </a:solidFill>
                  </a:tcPr>
                </a:tc>
                <a:tc>
                  <a:txBody>
                    <a:bodyPr/>
                    <a:lstStyle/>
                    <a:p>
                      <a:pPr algn="ctr">
                        <a:defRPr sz="1000">
                          <a:latin typeface="Montserrat"/>
                        </a:defRPr>
                      </a:pPr>
                      <a:r>
                        <a:t>42.6%</a:t>
                      </a:r>
                    </a:p>
                  </a:txBody>
                  <a:tcPr marL="0" marR="0" marT="0" marB="0" anchor="ctr">
                    <a:solidFill>
                      <a:srgbClr val="ECD3D9"/>
                    </a:solidFill>
                  </a:tcPr>
                </a:tc>
                <a:extLst>
                  <a:ext uri="{0D108BD9-81ED-4DB2-BD59-A6C34878D82A}">
                    <a16:rowId xmlns:a16="http://schemas.microsoft.com/office/drawing/2014/main" val="10006"/>
                  </a:ext>
                </a:extLst>
              </a:tr>
              <a:tr h="159821">
                <a:tc>
                  <a:txBody>
                    <a:bodyPr/>
                    <a:lstStyle/>
                    <a:p>
                      <a:pPr algn="l">
                        <a:defRPr sz="1000">
                          <a:latin typeface="Montserrat"/>
                        </a:defRPr>
                      </a:pPr>
                      <a:r>
                        <a:t>UMF 18 S. Martín</a:t>
                      </a:r>
                    </a:p>
                  </a:txBody>
                  <a:tcPr marL="0" marR="0" marT="0" marB="0" anchor="ctr">
                    <a:solidFill>
                      <a:srgbClr val="FFFFFF"/>
                    </a:solidFill>
                  </a:tcPr>
                </a:tc>
                <a:tc>
                  <a:txBody>
                    <a:bodyPr/>
                    <a:lstStyle/>
                    <a:p>
                      <a:pPr algn="ctr">
                        <a:defRPr sz="1000">
                          <a:latin typeface="Montserrat"/>
                        </a:defRPr>
                      </a:pPr>
                      <a:r>
                        <a:t>5,824</a:t>
                      </a:r>
                    </a:p>
                  </a:txBody>
                  <a:tcPr marL="0" marR="0" marT="0" marB="0" anchor="ctr">
                    <a:solidFill>
                      <a:srgbClr val="FFFFFF"/>
                    </a:solidFill>
                  </a:tcPr>
                </a:tc>
                <a:tc>
                  <a:txBody>
                    <a:bodyPr/>
                    <a:lstStyle/>
                    <a:p>
                      <a:pPr algn="ctr">
                        <a:defRPr sz="1000">
                          <a:latin typeface="Montserrat"/>
                        </a:defRPr>
                      </a:pPr>
                      <a:r>
                        <a:t>304</a:t>
                      </a:r>
                    </a:p>
                  </a:txBody>
                  <a:tcPr marL="0" marR="0" marT="0" marB="0" anchor="ctr">
                    <a:solidFill>
                      <a:srgbClr val="FFFFFF"/>
                    </a:solidFill>
                  </a:tcPr>
                </a:tc>
                <a:tc>
                  <a:txBody>
                    <a:bodyPr/>
                    <a:lstStyle/>
                    <a:p>
                      <a:pPr algn="ctr">
                        <a:defRPr sz="1000">
                          <a:latin typeface="Montserrat"/>
                        </a:defRPr>
                      </a:pPr>
                      <a:r>
                        <a:t>2,962</a:t>
                      </a:r>
                    </a:p>
                  </a:txBody>
                  <a:tcPr marL="0" marR="0" marT="0" marB="0" anchor="ctr">
                    <a:solidFill>
                      <a:srgbClr val="ECD3D9"/>
                    </a:solidFill>
                  </a:tcPr>
                </a:tc>
                <a:tc>
                  <a:txBody>
                    <a:bodyPr/>
                    <a:lstStyle/>
                    <a:p>
                      <a:pPr algn="ctr">
                        <a:defRPr sz="1000">
                          <a:latin typeface="Montserrat"/>
                        </a:defRPr>
                      </a:pPr>
                      <a:r>
                        <a:t>7,000</a:t>
                      </a:r>
                    </a:p>
                  </a:txBody>
                  <a:tcPr marL="0" marR="0" marT="0" marB="0" anchor="ctr">
                    <a:solidFill>
                      <a:srgbClr val="ECD3D9"/>
                    </a:solidFill>
                  </a:tcPr>
                </a:tc>
                <a:tc>
                  <a:txBody>
                    <a:bodyPr/>
                    <a:lstStyle/>
                    <a:p>
                      <a:pPr algn="ctr">
                        <a:defRPr sz="1000">
                          <a:latin typeface="Montserrat"/>
                        </a:defRPr>
                      </a:pPr>
                      <a:r>
                        <a:t>42.3%</a:t>
                      </a:r>
                    </a:p>
                  </a:txBody>
                  <a:tcPr marL="0" marR="0" marT="0" marB="0" anchor="ctr">
                    <a:solidFill>
                      <a:srgbClr val="ECD3D9"/>
                    </a:solidFill>
                  </a:tcPr>
                </a:tc>
                <a:extLst>
                  <a:ext uri="{0D108BD9-81ED-4DB2-BD59-A6C34878D82A}">
                    <a16:rowId xmlns:a16="http://schemas.microsoft.com/office/drawing/2014/main" val="10007"/>
                  </a:ext>
                </a:extLst>
              </a:tr>
              <a:tr h="159821">
                <a:tc>
                  <a:txBody>
                    <a:bodyPr/>
                    <a:lstStyle/>
                    <a:p>
                      <a:pPr algn="l">
                        <a:defRPr sz="1000">
                          <a:latin typeface="Montserrat"/>
                        </a:defRPr>
                      </a:pPr>
                      <a:r>
                        <a:t>UMF 17 Colorada</a:t>
                      </a:r>
                    </a:p>
                  </a:txBody>
                  <a:tcPr marL="0" marR="0" marT="0" marB="0" anchor="ctr">
                    <a:solidFill>
                      <a:srgbClr val="EFEFEF"/>
                    </a:solidFill>
                  </a:tcPr>
                </a:tc>
                <a:tc>
                  <a:txBody>
                    <a:bodyPr/>
                    <a:lstStyle/>
                    <a:p>
                      <a:pPr algn="ctr">
                        <a:defRPr sz="1000">
                          <a:latin typeface="Montserrat"/>
                        </a:defRPr>
                      </a:pPr>
                      <a:r>
                        <a:t>381</a:t>
                      </a:r>
                    </a:p>
                  </a:txBody>
                  <a:tcPr marL="0" marR="0" marT="0" marB="0" anchor="ctr">
                    <a:solidFill>
                      <a:srgbClr val="EFEFEF"/>
                    </a:solidFill>
                  </a:tcPr>
                </a:tc>
                <a:tc>
                  <a:txBody>
                    <a:bodyPr/>
                    <a:lstStyle/>
                    <a:p>
                      <a:pPr algn="ctr">
                        <a:defRPr sz="1000">
                          <a:latin typeface="Montserrat"/>
                        </a:defRPr>
                      </a:pPr>
                      <a:r>
                        <a:t>-208</a:t>
                      </a:r>
                    </a:p>
                  </a:txBody>
                  <a:tcPr marL="0" marR="0" marT="0" marB="0" anchor="ctr">
                    <a:solidFill>
                      <a:srgbClr val="EFEFEF"/>
                    </a:solidFill>
                  </a:tcPr>
                </a:tc>
                <a:tc>
                  <a:txBody>
                    <a:bodyPr/>
                    <a:lstStyle/>
                    <a:p>
                      <a:pPr algn="ctr">
                        <a:defRPr sz="1000">
                          <a:latin typeface="Montserrat"/>
                        </a:defRPr>
                      </a:pPr>
                      <a:r>
                        <a:t>162</a:t>
                      </a:r>
                    </a:p>
                  </a:txBody>
                  <a:tcPr marL="0" marR="0" marT="0" marB="0" anchor="ctr">
                    <a:solidFill>
                      <a:srgbClr val="ECD3D9"/>
                    </a:solidFill>
                  </a:tcPr>
                </a:tc>
                <a:tc>
                  <a:txBody>
                    <a:bodyPr/>
                    <a:lstStyle/>
                    <a:p>
                      <a:pPr algn="ctr">
                        <a:defRPr sz="1000">
                          <a:latin typeface="Montserrat"/>
                        </a:defRPr>
                      </a:pPr>
                      <a:r>
                        <a:t>2,000</a:t>
                      </a:r>
                    </a:p>
                  </a:txBody>
                  <a:tcPr marL="0" marR="0" marT="0" marB="0" anchor="ctr">
                    <a:solidFill>
                      <a:srgbClr val="ECD3D9"/>
                    </a:solidFill>
                  </a:tcPr>
                </a:tc>
                <a:tc>
                  <a:txBody>
                    <a:bodyPr/>
                    <a:lstStyle/>
                    <a:p>
                      <a:pPr algn="ctr">
                        <a:defRPr sz="1000">
                          <a:latin typeface="Montserrat"/>
                        </a:defRPr>
                      </a:pPr>
                      <a:r>
                        <a:t>8.1%</a:t>
                      </a:r>
                    </a:p>
                  </a:txBody>
                  <a:tcPr marL="0" marR="0" marT="0" marB="0" anchor="ctr">
                    <a:solidFill>
                      <a:srgbClr val="ECD3D9"/>
                    </a:solidFill>
                  </a:tcPr>
                </a:tc>
                <a:extLst>
                  <a:ext uri="{0D108BD9-81ED-4DB2-BD59-A6C34878D82A}">
                    <a16:rowId xmlns:a16="http://schemas.microsoft.com/office/drawing/2014/main" val="10008"/>
                  </a:ext>
                </a:extLst>
              </a:tr>
              <a:tr h="159821">
                <a:tc>
                  <a:txBody>
                    <a:bodyPr/>
                    <a:lstStyle/>
                    <a:p>
                      <a:pPr algn="l">
                        <a:defRPr sz="1000">
                          <a:latin typeface="Montserrat"/>
                        </a:defRPr>
                      </a:pPr>
                      <a:r>
                        <a:t>UMF 9 Concepción</a:t>
                      </a:r>
                    </a:p>
                  </a:txBody>
                  <a:tcPr marL="0" marR="0" marT="0" marB="0" anchor="ctr">
                    <a:solidFill>
                      <a:srgbClr val="FFFFFF"/>
                    </a:solidFill>
                  </a:tcPr>
                </a:tc>
                <a:tc>
                  <a:txBody>
                    <a:bodyPr/>
                    <a:lstStyle/>
                    <a:p>
                      <a:pPr algn="ctr">
                        <a:defRPr sz="1000">
                          <a:latin typeface="Montserrat"/>
                        </a:defRPr>
                      </a:pPr>
                      <a:r>
                        <a:t>29,110</a:t>
                      </a:r>
                    </a:p>
                  </a:txBody>
                  <a:tcPr marL="0" marR="0" marT="0" marB="0" anchor="ctr">
                    <a:solidFill>
                      <a:srgbClr val="FFFFFF"/>
                    </a:solidFill>
                  </a:tcPr>
                </a:tc>
                <a:tc>
                  <a:txBody>
                    <a:bodyPr/>
                    <a:lstStyle/>
                    <a:p>
                      <a:pPr algn="ctr">
                        <a:defRPr sz="1000">
                          <a:latin typeface="Montserrat"/>
                        </a:defRPr>
                      </a:pPr>
                      <a:r>
                        <a:t>3,368</a:t>
                      </a:r>
                    </a:p>
                  </a:txBody>
                  <a:tcPr marL="0" marR="0" marT="0" marB="0" anchor="ctr">
                    <a:solidFill>
                      <a:srgbClr val="FFFFFF"/>
                    </a:solidFill>
                  </a:tcPr>
                </a:tc>
                <a:tc>
                  <a:txBody>
                    <a:bodyPr/>
                    <a:lstStyle/>
                    <a:p>
                      <a:pPr algn="ctr">
                        <a:defRPr sz="1000">
                          <a:latin typeface="Montserrat"/>
                        </a:defRPr>
                      </a:pPr>
                      <a:r>
                        <a:t>14,791</a:t>
                      </a:r>
                    </a:p>
                  </a:txBody>
                  <a:tcPr marL="0" marR="0" marT="0" marB="0" anchor="ctr">
                    <a:solidFill>
                      <a:srgbClr val="ECD3D9"/>
                    </a:solidFill>
                  </a:tcPr>
                </a:tc>
                <a:tc>
                  <a:txBody>
                    <a:bodyPr/>
                    <a:lstStyle/>
                    <a:p>
                      <a:pPr algn="ctr">
                        <a:defRPr sz="1000">
                          <a:latin typeface="Montserrat"/>
                        </a:defRPr>
                      </a:pPr>
                      <a:r>
                        <a:t>37,584</a:t>
                      </a:r>
                    </a:p>
                  </a:txBody>
                  <a:tcPr marL="0" marR="0" marT="0" marB="0" anchor="ctr">
                    <a:solidFill>
                      <a:srgbClr val="ECD3D9"/>
                    </a:solidFill>
                  </a:tcPr>
                </a:tc>
                <a:tc>
                  <a:txBody>
                    <a:bodyPr/>
                    <a:lstStyle/>
                    <a:p>
                      <a:pPr algn="ctr">
                        <a:defRPr sz="1000">
                          <a:latin typeface="Montserrat"/>
                        </a:defRPr>
                      </a:pPr>
                      <a:r>
                        <a:t>39.4%</a:t>
                      </a:r>
                    </a:p>
                  </a:txBody>
                  <a:tcPr marL="0" marR="0" marT="0" marB="0" anchor="ctr">
                    <a:solidFill>
                      <a:srgbClr val="ECD3D9"/>
                    </a:solidFill>
                  </a:tcPr>
                </a:tc>
                <a:extLst>
                  <a:ext uri="{0D108BD9-81ED-4DB2-BD59-A6C34878D82A}">
                    <a16:rowId xmlns:a16="http://schemas.microsoft.com/office/drawing/2014/main" val="10009"/>
                  </a:ext>
                </a:extLst>
              </a:tr>
              <a:tr h="159821">
                <a:tc>
                  <a:txBody>
                    <a:bodyPr/>
                    <a:lstStyle/>
                    <a:p>
                      <a:pPr algn="l">
                        <a:defRPr sz="1000">
                          <a:latin typeface="Montserrat"/>
                        </a:defRPr>
                      </a:pPr>
                      <a:r>
                        <a:t>UMF 10 Jalpa</a:t>
                      </a:r>
                    </a:p>
                  </a:txBody>
                  <a:tcPr marL="0" marR="0" marT="0" marB="0" anchor="ctr">
                    <a:solidFill>
                      <a:srgbClr val="EFEFEF"/>
                    </a:solidFill>
                  </a:tcPr>
                </a:tc>
                <a:tc>
                  <a:txBody>
                    <a:bodyPr/>
                    <a:lstStyle/>
                    <a:p>
                      <a:pPr algn="ctr">
                        <a:defRPr sz="1000">
                          <a:latin typeface="Montserrat"/>
                        </a:defRPr>
                      </a:pPr>
                      <a:r>
                        <a:t>10,264</a:t>
                      </a:r>
                    </a:p>
                  </a:txBody>
                  <a:tcPr marL="0" marR="0" marT="0" marB="0" anchor="ctr">
                    <a:solidFill>
                      <a:srgbClr val="EFEFEF"/>
                    </a:solidFill>
                  </a:tcPr>
                </a:tc>
                <a:tc>
                  <a:txBody>
                    <a:bodyPr/>
                    <a:lstStyle/>
                    <a:p>
                      <a:pPr algn="ctr">
                        <a:defRPr sz="1000">
                          <a:latin typeface="Montserrat"/>
                        </a:defRPr>
                      </a:pPr>
                      <a:r>
                        <a:t>500</a:t>
                      </a:r>
                    </a:p>
                  </a:txBody>
                  <a:tcPr marL="0" marR="0" marT="0" marB="0" anchor="ctr">
                    <a:solidFill>
                      <a:srgbClr val="EFEFEF"/>
                    </a:solidFill>
                  </a:tcPr>
                </a:tc>
                <a:tc>
                  <a:txBody>
                    <a:bodyPr/>
                    <a:lstStyle/>
                    <a:p>
                      <a:pPr algn="ctr">
                        <a:defRPr sz="1000">
                          <a:latin typeface="Montserrat"/>
                        </a:defRPr>
                      </a:pPr>
                      <a:r>
                        <a:t>5,139</a:t>
                      </a:r>
                    </a:p>
                  </a:txBody>
                  <a:tcPr marL="0" marR="0" marT="0" marB="0" anchor="ctr">
                    <a:solidFill>
                      <a:srgbClr val="ECD3D9"/>
                    </a:solidFill>
                  </a:tcPr>
                </a:tc>
                <a:tc>
                  <a:txBody>
                    <a:bodyPr/>
                    <a:lstStyle/>
                    <a:p>
                      <a:pPr algn="ctr">
                        <a:defRPr sz="1000">
                          <a:latin typeface="Montserrat"/>
                        </a:defRPr>
                      </a:pPr>
                      <a:r>
                        <a:t>11,000</a:t>
                      </a:r>
                    </a:p>
                  </a:txBody>
                  <a:tcPr marL="0" marR="0" marT="0" marB="0" anchor="ctr">
                    <a:solidFill>
                      <a:srgbClr val="ECD3D9"/>
                    </a:solidFill>
                  </a:tcPr>
                </a:tc>
                <a:tc>
                  <a:txBody>
                    <a:bodyPr/>
                    <a:lstStyle/>
                    <a:p>
                      <a:pPr algn="ctr">
                        <a:defRPr sz="1000">
                          <a:latin typeface="Montserrat"/>
                        </a:defRPr>
                      </a:pPr>
                      <a:r>
                        <a:t>46.7%</a:t>
                      </a:r>
                    </a:p>
                  </a:txBody>
                  <a:tcPr marL="0" marR="0" marT="0" marB="0" anchor="ctr">
                    <a:solidFill>
                      <a:srgbClr val="ECD3D9"/>
                    </a:solidFill>
                  </a:tcPr>
                </a:tc>
                <a:extLst>
                  <a:ext uri="{0D108BD9-81ED-4DB2-BD59-A6C34878D82A}">
                    <a16:rowId xmlns:a16="http://schemas.microsoft.com/office/drawing/2014/main" val="10010"/>
                  </a:ext>
                </a:extLst>
              </a:tr>
              <a:tr h="159821">
                <a:tc>
                  <a:txBody>
                    <a:bodyPr/>
                    <a:lstStyle/>
                    <a:p>
                      <a:pPr algn="l">
                        <a:defRPr sz="1000">
                          <a:latin typeface="Montserrat"/>
                        </a:defRPr>
                      </a:pPr>
                      <a:r>
                        <a:t>UMF 13 Noche Buena</a:t>
                      </a:r>
                    </a:p>
                  </a:txBody>
                  <a:tcPr marL="0" marR="0" marT="0" marB="0" anchor="ctr">
                    <a:solidFill>
                      <a:srgbClr val="FFFFFF"/>
                    </a:solidFill>
                  </a:tcPr>
                </a:tc>
                <a:tc>
                  <a:txBody>
                    <a:bodyPr/>
                    <a:lstStyle/>
                    <a:p>
                      <a:pPr algn="ctr">
                        <a:defRPr sz="1000">
                          <a:latin typeface="Montserrat"/>
                        </a:defRPr>
                      </a:pPr>
                      <a:r>
                        <a:t>2,343</a:t>
                      </a:r>
                    </a:p>
                  </a:txBody>
                  <a:tcPr marL="0" marR="0" marT="0" marB="0" anchor="ctr">
                    <a:solidFill>
                      <a:srgbClr val="FFFFFF"/>
                    </a:solidFill>
                  </a:tcPr>
                </a:tc>
                <a:tc>
                  <a:txBody>
                    <a:bodyPr/>
                    <a:lstStyle/>
                    <a:p>
                      <a:pPr algn="ctr">
                        <a:defRPr sz="1000">
                          <a:latin typeface="Montserrat"/>
                        </a:defRPr>
                      </a:pPr>
                      <a:r>
                        <a:t>1,778</a:t>
                      </a:r>
                    </a:p>
                  </a:txBody>
                  <a:tcPr marL="0" marR="0" marT="0" marB="0" anchor="ctr">
                    <a:solidFill>
                      <a:srgbClr val="FFFFFF"/>
                    </a:solidFill>
                  </a:tcPr>
                </a:tc>
                <a:tc>
                  <a:txBody>
                    <a:bodyPr/>
                    <a:lstStyle/>
                    <a:p>
                      <a:pPr algn="ctr">
                        <a:defRPr sz="1000">
                          <a:latin typeface="Montserrat"/>
                        </a:defRPr>
                      </a:pPr>
                      <a:r>
                        <a:rPr dirty="0"/>
                        <a:t>1,771</a:t>
                      </a:r>
                    </a:p>
                  </a:txBody>
                  <a:tcPr marL="0" marR="0" marT="0" marB="0" anchor="ctr">
                    <a:solidFill>
                      <a:srgbClr val="ECD3D9"/>
                    </a:solidFill>
                  </a:tcPr>
                </a:tc>
                <a:tc>
                  <a:txBody>
                    <a:bodyPr/>
                    <a:lstStyle/>
                    <a:p>
                      <a:pPr algn="ctr">
                        <a:defRPr sz="1000">
                          <a:latin typeface="Montserrat"/>
                        </a:defRPr>
                      </a:pPr>
                      <a:r>
                        <a:t>4,000</a:t>
                      </a:r>
                    </a:p>
                  </a:txBody>
                  <a:tcPr marL="0" marR="0" marT="0" marB="0" anchor="ctr">
                    <a:solidFill>
                      <a:srgbClr val="ECD3D9"/>
                    </a:solidFill>
                  </a:tcPr>
                </a:tc>
                <a:tc>
                  <a:txBody>
                    <a:bodyPr/>
                    <a:lstStyle/>
                    <a:p>
                      <a:pPr algn="ctr">
                        <a:defRPr sz="1000">
                          <a:latin typeface="Montserrat"/>
                        </a:defRPr>
                      </a:pPr>
                      <a:r>
                        <a:t>44.3%</a:t>
                      </a:r>
                    </a:p>
                  </a:txBody>
                  <a:tcPr marL="0" marR="0" marT="0" marB="0" anchor="ctr">
                    <a:solidFill>
                      <a:srgbClr val="ECD3D9"/>
                    </a:solidFill>
                  </a:tcPr>
                </a:tc>
                <a:extLst>
                  <a:ext uri="{0D108BD9-81ED-4DB2-BD59-A6C34878D82A}">
                    <a16:rowId xmlns:a16="http://schemas.microsoft.com/office/drawing/2014/main" val="10011"/>
                  </a:ext>
                </a:extLst>
              </a:tr>
              <a:tr h="159821">
                <a:tc>
                  <a:txBody>
                    <a:bodyPr/>
                    <a:lstStyle/>
                    <a:p>
                      <a:pPr algn="l">
                        <a:defRPr sz="1000">
                          <a:latin typeface="Montserrat"/>
                        </a:defRPr>
                      </a:pPr>
                      <a:r>
                        <a:t>UMF 16 Chalchihuetes</a:t>
                      </a:r>
                    </a:p>
                  </a:txBody>
                  <a:tcPr marL="0" marR="0" marT="0" marB="0" anchor="ctr">
                    <a:solidFill>
                      <a:srgbClr val="EFEFEF"/>
                    </a:solidFill>
                  </a:tcPr>
                </a:tc>
                <a:tc>
                  <a:txBody>
                    <a:bodyPr/>
                    <a:lstStyle/>
                    <a:p>
                      <a:pPr algn="ctr">
                        <a:defRPr sz="1000">
                          <a:latin typeface="Montserrat"/>
                        </a:defRPr>
                      </a:pPr>
                      <a:r>
                        <a:t>6,085</a:t>
                      </a:r>
                    </a:p>
                  </a:txBody>
                  <a:tcPr marL="0" marR="0" marT="0" marB="0" anchor="ctr">
                    <a:solidFill>
                      <a:srgbClr val="EFEFEF"/>
                    </a:solidFill>
                  </a:tcPr>
                </a:tc>
                <a:tc>
                  <a:txBody>
                    <a:bodyPr/>
                    <a:lstStyle/>
                    <a:p>
                      <a:pPr algn="ctr">
                        <a:defRPr sz="1000">
                          <a:latin typeface="Montserrat"/>
                        </a:defRPr>
                      </a:pPr>
                      <a:r>
                        <a:t>-396</a:t>
                      </a:r>
                    </a:p>
                  </a:txBody>
                  <a:tcPr marL="0" marR="0" marT="0" marB="0" anchor="ctr">
                    <a:solidFill>
                      <a:srgbClr val="EFEFEF"/>
                    </a:solidFill>
                  </a:tcPr>
                </a:tc>
                <a:tc>
                  <a:txBody>
                    <a:bodyPr/>
                    <a:lstStyle/>
                    <a:p>
                      <a:pPr algn="ctr">
                        <a:defRPr sz="1000">
                          <a:latin typeface="Montserrat"/>
                        </a:defRPr>
                      </a:pPr>
                      <a:r>
                        <a:t>2,897</a:t>
                      </a:r>
                    </a:p>
                  </a:txBody>
                  <a:tcPr marL="0" marR="0" marT="0" marB="0" anchor="ctr">
                    <a:solidFill>
                      <a:srgbClr val="ECD3D9"/>
                    </a:solidFill>
                  </a:tcPr>
                </a:tc>
                <a:tc>
                  <a:txBody>
                    <a:bodyPr/>
                    <a:lstStyle/>
                    <a:p>
                      <a:pPr algn="ctr">
                        <a:defRPr sz="1000">
                          <a:latin typeface="Montserrat"/>
                        </a:defRPr>
                      </a:pPr>
                      <a:r>
                        <a:t>7,000</a:t>
                      </a:r>
                    </a:p>
                  </a:txBody>
                  <a:tcPr marL="0" marR="0" marT="0" marB="0" anchor="ctr">
                    <a:solidFill>
                      <a:srgbClr val="ECD3D9"/>
                    </a:solidFill>
                  </a:tcPr>
                </a:tc>
                <a:tc>
                  <a:txBody>
                    <a:bodyPr/>
                    <a:lstStyle/>
                    <a:p>
                      <a:pPr algn="ctr">
                        <a:defRPr sz="1000">
                          <a:latin typeface="Montserrat"/>
                        </a:defRPr>
                      </a:pPr>
                      <a:r>
                        <a:t>41.4%</a:t>
                      </a:r>
                    </a:p>
                  </a:txBody>
                  <a:tcPr marL="0" marR="0" marT="0" marB="0" anchor="ctr">
                    <a:solidFill>
                      <a:srgbClr val="ECD3D9"/>
                    </a:solidFill>
                  </a:tcPr>
                </a:tc>
                <a:extLst>
                  <a:ext uri="{0D108BD9-81ED-4DB2-BD59-A6C34878D82A}">
                    <a16:rowId xmlns:a16="http://schemas.microsoft.com/office/drawing/2014/main" val="10012"/>
                  </a:ext>
                </a:extLst>
              </a:tr>
              <a:tr h="159821">
                <a:tc>
                  <a:txBody>
                    <a:bodyPr/>
                    <a:lstStyle/>
                    <a:p>
                      <a:pPr algn="l">
                        <a:defRPr sz="1000">
                          <a:latin typeface="Montserrat"/>
                        </a:defRPr>
                      </a:pPr>
                      <a:r>
                        <a:t>UMF 14 Salaverna</a:t>
                      </a:r>
                    </a:p>
                  </a:txBody>
                  <a:tcPr marL="0" marR="0" marT="0" marB="0" anchor="ctr">
                    <a:solidFill>
                      <a:srgbClr val="FFFFFF"/>
                    </a:solidFill>
                  </a:tcPr>
                </a:tc>
                <a:tc>
                  <a:txBody>
                    <a:bodyPr/>
                    <a:lstStyle/>
                    <a:p>
                      <a:pPr algn="ctr">
                        <a:defRPr sz="1000">
                          <a:latin typeface="Montserrat"/>
                        </a:defRPr>
                      </a:pPr>
                      <a:r>
                        <a:t>6,143</a:t>
                      </a:r>
                    </a:p>
                  </a:txBody>
                  <a:tcPr marL="0" marR="0" marT="0" marB="0" anchor="ctr">
                    <a:solidFill>
                      <a:srgbClr val="FFFFFF"/>
                    </a:solidFill>
                  </a:tcPr>
                </a:tc>
                <a:tc>
                  <a:txBody>
                    <a:bodyPr/>
                    <a:lstStyle/>
                    <a:p>
                      <a:pPr algn="ctr">
                        <a:defRPr sz="1000">
                          <a:latin typeface="Montserrat"/>
                        </a:defRPr>
                      </a:pPr>
                      <a:r>
                        <a:t>2,150</a:t>
                      </a:r>
                    </a:p>
                  </a:txBody>
                  <a:tcPr marL="0" marR="0" marT="0" marB="0" anchor="ctr">
                    <a:solidFill>
                      <a:srgbClr val="FFFFFF"/>
                    </a:solidFill>
                  </a:tcPr>
                </a:tc>
                <a:tc>
                  <a:txBody>
                    <a:bodyPr/>
                    <a:lstStyle/>
                    <a:p>
                      <a:pPr algn="ctr">
                        <a:defRPr sz="1000">
                          <a:latin typeface="Montserrat"/>
                        </a:defRPr>
                      </a:pPr>
                      <a:r>
                        <a:t>5,046</a:t>
                      </a:r>
                    </a:p>
                  </a:txBody>
                  <a:tcPr marL="0" marR="0" marT="0" marB="0" anchor="ctr">
                    <a:solidFill>
                      <a:srgbClr val="ECD3D9"/>
                    </a:solidFill>
                  </a:tcPr>
                </a:tc>
                <a:tc>
                  <a:txBody>
                    <a:bodyPr/>
                    <a:lstStyle/>
                    <a:p>
                      <a:pPr algn="ctr">
                        <a:defRPr sz="1000">
                          <a:latin typeface="Montserrat"/>
                        </a:defRPr>
                      </a:pPr>
                      <a:r>
                        <a:t>7,000</a:t>
                      </a:r>
                    </a:p>
                  </a:txBody>
                  <a:tcPr marL="0" marR="0" marT="0" marB="0" anchor="ctr">
                    <a:solidFill>
                      <a:srgbClr val="ECD3D9"/>
                    </a:solidFill>
                  </a:tcPr>
                </a:tc>
                <a:tc>
                  <a:txBody>
                    <a:bodyPr/>
                    <a:lstStyle/>
                    <a:p>
                      <a:pPr algn="ctr">
                        <a:defRPr sz="1000">
                          <a:latin typeface="Montserrat"/>
                        </a:defRPr>
                      </a:pPr>
                      <a:r>
                        <a:t>72.1%</a:t>
                      </a:r>
                    </a:p>
                  </a:txBody>
                  <a:tcPr marL="0" marR="0" marT="0" marB="0" anchor="ctr">
                    <a:solidFill>
                      <a:srgbClr val="ECD3D9"/>
                    </a:solidFill>
                  </a:tcPr>
                </a:tc>
                <a:extLst>
                  <a:ext uri="{0D108BD9-81ED-4DB2-BD59-A6C34878D82A}">
                    <a16:rowId xmlns:a16="http://schemas.microsoft.com/office/drawing/2014/main" val="10013"/>
                  </a:ext>
                </a:extLst>
              </a:tr>
              <a:tr h="159821">
                <a:tc>
                  <a:txBody>
                    <a:bodyPr/>
                    <a:lstStyle/>
                    <a:p>
                      <a:pPr algn="l">
                        <a:defRPr sz="1000">
                          <a:latin typeface="Montserrat"/>
                        </a:defRPr>
                      </a:pPr>
                      <a:r>
                        <a:t>UMF 11 Nochistan</a:t>
                      </a:r>
                    </a:p>
                  </a:txBody>
                  <a:tcPr marL="0" marR="0" marT="0" marB="0" anchor="ctr">
                    <a:solidFill>
                      <a:srgbClr val="EFEFEF"/>
                    </a:solidFill>
                  </a:tcPr>
                </a:tc>
                <a:tc>
                  <a:txBody>
                    <a:bodyPr/>
                    <a:lstStyle/>
                    <a:p>
                      <a:pPr algn="ctr">
                        <a:defRPr sz="1000">
                          <a:latin typeface="Montserrat"/>
                        </a:defRPr>
                      </a:pPr>
                      <a:r>
                        <a:t>13,501</a:t>
                      </a:r>
                    </a:p>
                  </a:txBody>
                  <a:tcPr marL="0" marR="0" marT="0" marB="0" anchor="ctr">
                    <a:solidFill>
                      <a:srgbClr val="EFEFEF"/>
                    </a:solidFill>
                  </a:tcPr>
                </a:tc>
                <a:tc>
                  <a:txBody>
                    <a:bodyPr/>
                    <a:lstStyle/>
                    <a:p>
                      <a:pPr algn="ctr">
                        <a:defRPr sz="1000">
                          <a:latin typeface="Montserrat"/>
                        </a:defRPr>
                      </a:pPr>
                      <a:r>
                        <a:t>-965</a:t>
                      </a:r>
                    </a:p>
                  </a:txBody>
                  <a:tcPr marL="0" marR="0" marT="0" marB="0" anchor="ctr">
                    <a:solidFill>
                      <a:srgbClr val="EFEFEF"/>
                    </a:solidFill>
                  </a:tcPr>
                </a:tc>
                <a:tc>
                  <a:txBody>
                    <a:bodyPr/>
                    <a:lstStyle/>
                    <a:p>
                      <a:pPr algn="ctr">
                        <a:defRPr sz="1000">
                          <a:latin typeface="Montserrat"/>
                        </a:defRPr>
                      </a:pPr>
                      <a:r>
                        <a:t>5,105</a:t>
                      </a:r>
                    </a:p>
                  </a:txBody>
                  <a:tcPr marL="0" marR="0" marT="0" marB="0" anchor="ctr">
                    <a:solidFill>
                      <a:srgbClr val="ECD3D9"/>
                    </a:solidFill>
                  </a:tcPr>
                </a:tc>
                <a:tc>
                  <a:txBody>
                    <a:bodyPr/>
                    <a:lstStyle/>
                    <a:p>
                      <a:pPr algn="ctr">
                        <a:defRPr sz="1000">
                          <a:latin typeface="Montserrat"/>
                        </a:defRPr>
                      </a:pPr>
                      <a:r>
                        <a:t>15,000</a:t>
                      </a:r>
                    </a:p>
                  </a:txBody>
                  <a:tcPr marL="0" marR="0" marT="0" marB="0" anchor="ctr">
                    <a:solidFill>
                      <a:srgbClr val="ECD3D9"/>
                    </a:solidFill>
                  </a:tcPr>
                </a:tc>
                <a:tc>
                  <a:txBody>
                    <a:bodyPr/>
                    <a:lstStyle/>
                    <a:p>
                      <a:pPr algn="ctr">
                        <a:defRPr sz="1000">
                          <a:latin typeface="Montserrat"/>
                        </a:defRPr>
                      </a:pPr>
                      <a:r>
                        <a:t>34.0%</a:t>
                      </a:r>
                    </a:p>
                  </a:txBody>
                  <a:tcPr marL="0" marR="0" marT="0" marB="0" anchor="ctr">
                    <a:solidFill>
                      <a:srgbClr val="ECD3D9"/>
                    </a:solidFill>
                  </a:tcPr>
                </a:tc>
                <a:extLst>
                  <a:ext uri="{0D108BD9-81ED-4DB2-BD59-A6C34878D82A}">
                    <a16:rowId xmlns:a16="http://schemas.microsoft.com/office/drawing/2014/main" val="10014"/>
                  </a:ext>
                </a:extLst>
              </a:tr>
              <a:tr h="159821">
                <a:tc>
                  <a:txBody>
                    <a:bodyPr/>
                    <a:lstStyle/>
                    <a:p>
                      <a:pPr algn="l">
                        <a:defRPr sz="1000">
                          <a:latin typeface="Montserrat"/>
                        </a:defRPr>
                      </a:pPr>
                      <a:r>
                        <a:t>UMF 28 Loreto</a:t>
                      </a:r>
                    </a:p>
                  </a:txBody>
                  <a:tcPr marL="0" marR="0" marT="0" marB="0" anchor="ctr">
                    <a:solidFill>
                      <a:srgbClr val="FFFFFF"/>
                    </a:solidFill>
                  </a:tcPr>
                </a:tc>
                <a:tc>
                  <a:txBody>
                    <a:bodyPr/>
                    <a:lstStyle/>
                    <a:p>
                      <a:pPr algn="ctr">
                        <a:defRPr sz="1000">
                          <a:latin typeface="Montserrat"/>
                        </a:defRPr>
                      </a:pPr>
                      <a:r>
                        <a:t>22,833</a:t>
                      </a:r>
                    </a:p>
                  </a:txBody>
                  <a:tcPr marL="0" marR="0" marT="0" marB="0" anchor="ctr">
                    <a:solidFill>
                      <a:srgbClr val="FFFFFF"/>
                    </a:solidFill>
                  </a:tcPr>
                </a:tc>
                <a:tc>
                  <a:txBody>
                    <a:bodyPr/>
                    <a:lstStyle/>
                    <a:p>
                      <a:pPr algn="ctr">
                        <a:defRPr sz="1000">
                          <a:latin typeface="Montserrat"/>
                        </a:defRPr>
                      </a:pPr>
                      <a:r>
                        <a:t>5,502</a:t>
                      </a:r>
                    </a:p>
                  </a:txBody>
                  <a:tcPr marL="0" marR="0" marT="0" marB="0" anchor="ctr">
                    <a:solidFill>
                      <a:srgbClr val="FFFFFF"/>
                    </a:solidFill>
                  </a:tcPr>
                </a:tc>
                <a:tc>
                  <a:txBody>
                    <a:bodyPr/>
                    <a:lstStyle/>
                    <a:p>
                      <a:pPr algn="ctr">
                        <a:defRPr sz="1000">
                          <a:latin typeface="Montserrat"/>
                        </a:defRPr>
                      </a:pPr>
                      <a:r>
                        <a:t>12,335</a:t>
                      </a:r>
                    </a:p>
                  </a:txBody>
                  <a:tcPr marL="0" marR="0" marT="0" marB="0" anchor="ctr">
                    <a:solidFill>
                      <a:srgbClr val="ECD3D9"/>
                    </a:solidFill>
                  </a:tcPr>
                </a:tc>
                <a:tc>
                  <a:txBody>
                    <a:bodyPr/>
                    <a:lstStyle/>
                    <a:p>
                      <a:pPr algn="ctr">
                        <a:defRPr sz="1000">
                          <a:latin typeface="Montserrat"/>
                        </a:defRPr>
                      </a:pPr>
                      <a:r>
                        <a:rPr dirty="0"/>
                        <a:t>28,188</a:t>
                      </a:r>
                    </a:p>
                  </a:txBody>
                  <a:tcPr marL="0" marR="0" marT="0" marB="0" anchor="ctr">
                    <a:solidFill>
                      <a:srgbClr val="ECD3D9"/>
                    </a:solidFill>
                  </a:tcPr>
                </a:tc>
                <a:tc>
                  <a:txBody>
                    <a:bodyPr/>
                    <a:lstStyle/>
                    <a:p>
                      <a:pPr algn="ctr">
                        <a:defRPr sz="1000">
                          <a:latin typeface="Montserrat"/>
                        </a:defRPr>
                      </a:pPr>
                      <a:r>
                        <a:t>43.8%</a:t>
                      </a:r>
                    </a:p>
                  </a:txBody>
                  <a:tcPr marL="0" marR="0" marT="0" marB="0" anchor="ctr">
                    <a:solidFill>
                      <a:srgbClr val="ECD3D9"/>
                    </a:solidFill>
                  </a:tcPr>
                </a:tc>
                <a:extLst>
                  <a:ext uri="{0D108BD9-81ED-4DB2-BD59-A6C34878D82A}">
                    <a16:rowId xmlns:a16="http://schemas.microsoft.com/office/drawing/2014/main" val="10015"/>
                  </a:ext>
                </a:extLst>
              </a:tr>
              <a:tr h="159821">
                <a:tc>
                  <a:txBody>
                    <a:bodyPr/>
                    <a:lstStyle/>
                    <a:p>
                      <a:pPr algn="l">
                        <a:defRPr sz="1000">
                          <a:latin typeface="Montserrat"/>
                        </a:defRPr>
                      </a:pPr>
                      <a:r>
                        <a:t>UMF 29 Luis Moya</a:t>
                      </a:r>
                    </a:p>
                  </a:txBody>
                  <a:tcPr marL="0" marR="0" marT="0" marB="0" anchor="ctr">
                    <a:solidFill>
                      <a:srgbClr val="EFEFEF"/>
                    </a:solidFill>
                  </a:tcPr>
                </a:tc>
                <a:tc>
                  <a:txBody>
                    <a:bodyPr/>
                    <a:lstStyle/>
                    <a:p>
                      <a:pPr algn="ctr">
                        <a:defRPr sz="1000">
                          <a:latin typeface="Montserrat"/>
                        </a:defRPr>
                      </a:pPr>
                      <a:r>
                        <a:t>9,725</a:t>
                      </a:r>
                    </a:p>
                  </a:txBody>
                  <a:tcPr marL="0" marR="0" marT="0" marB="0" anchor="ctr">
                    <a:solidFill>
                      <a:srgbClr val="EFEFEF"/>
                    </a:solidFill>
                  </a:tcPr>
                </a:tc>
                <a:tc>
                  <a:txBody>
                    <a:bodyPr/>
                    <a:lstStyle/>
                    <a:p>
                      <a:pPr algn="ctr">
                        <a:defRPr sz="1000">
                          <a:latin typeface="Montserrat"/>
                        </a:defRPr>
                      </a:pPr>
                      <a:r>
                        <a:t>1,499</a:t>
                      </a:r>
                    </a:p>
                  </a:txBody>
                  <a:tcPr marL="0" marR="0" marT="0" marB="0" anchor="ctr">
                    <a:solidFill>
                      <a:srgbClr val="EFEFEF"/>
                    </a:solidFill>
                  </a:tcPr>
                </a:tc>
                <a:tc>
                  <a:txBody>
                    <a:bodyPr/>
                    <a:lstStyle/>
                    <a:p>
                      <a:pPr algn="ctr">
                        <a:defRPr sz="1000">
                          <a:latin typeface="Montserrat"/>
                        </a:defRPr>
                      </a:pPr>
                      <a:r>
                        <a:t>5,131</a:t>
                      </a:r>
                    </a:p>
                  </a:txBody>
                  <a:tcPr marL="0" marR="0" marT="0" marB="0" anchor="ctr">
                    <a:solidFill>
                      <a:srgbClr val="ECD3D9"/>
                    </a:solidFill>
                  </a:tcPr>
                </a:tc>
                <a:tc>
                  <a:txBody>
                    <a:bodyPr/>
                    <a:lstStyle/>
                    <a:p>
                      <a:pPr algn="ctr">
                        <a:defRPr sz="1000">
                          <a:latin typeface="Montserrat"/>
                        </a:defRPr>
                      </a:pPr>
                      <a:r>
                        <a:t>11,000</a:t>
                      </a:r>
                    </a:p>
                  </a:txBody>
                  <a:tcPr marL="0" marR="0" marT="0" marB="0" anchor="ctr">
                    <a:solidFill>
                      <a:srgbClr val="ECD3D9"/>
                    </a:solidFill>
                  </a:tcPr>
                </a:tc>
                <a:tc>
                  <a:txBody>
                    <a:bodyPr/>
                    <a:lstStyle/>
                    <a:p>
                      <a:pPr algn="ctr">
                        <a:defRPr sz="1000">
                          <a:latin typeface="Montserrat"/>
                        </a:defRPr>
                      </a:pPr>
                      <a:r>
                        <a:t>46.6%</a:t>
                      </a:r>
                    </a:p>
                  </a:txBody>
                  <a:tcPr marL="0" marR="0" marT="0" marB="0" anchor="ctr">
                    <a:solidFill>
                      <a:srgbClr val="ECD3D9"/>
                    </a:solidFill>
                  </a:tcPr>
                </a:tc>
                <a:extLst>
                  <a:ext uri="{0D108BD9-81ED-4DB2-BD59-A6C34878D82A}">
                    <a16:rowId xmlns:a16="http://schemas.microsoft.com/office/drawing/2014/main" val="10016"/>
                  </a:ext>
                </a:extLst>
              </a:tr>
              <a:tr h="159821">
                <a:tc>
                  <a:txBody>
                    <a:bodyPr/>
                    <a:lstStyle/>
                    <a:p>
                      <a:pPr algn="l">
                        <a:defRPr sz="1000">
                          <a:latin typeface="Montserrat"/>
                        </a:defRPr>
                      </a:pPr>
                      <a:r>
                        <a:t>UMF 44 Valparaiso</a:t>
                      </a:r>
                    </a:p>
                  </a:txBody>
                  <a:tcPr marL="0" marR="0" marT="0" marB="0" anchor="ctr">
                    <a:solidFill>
                      <a:srgbClr val="FFFFFF"/>
                    </a:solidFill>
                  </a:tcPr>
                </a:tc>
                <a:tc>
                  <a:txBody>
                    <a:bodyPr/>
                    <a:lstStyle/>
                    <a:p>
                      <a:pPr algn="ctr">
                        <a:defRPr sz="1000">
                          <a:latin typeface="Montserrat"/>
                        </a:defRPr>
                      </a:pPr>
                      <a:r>
                        <a:t>13,208</a:t>
                      </a:r>
                    </a:p>
                  </a:txBody>
                  <a:tcPr marL="0" marR="0" marT="0" marB="0" anchor="ctr">
                    <a:solidFill>
                      <a:srgbClr val="FFFFFF"/>
                    </a:solidFill>
                  </a:tcPr>
                </a:tc>
                <a:tc>
                  <a:txBody>
                    <a:bodyPr/>
                    <a:lstStyle/>
                    <a:p>
                      <a:pPr algn="ctr">
                        <a:defRPr sz="1000">
                          <a:latin typeface="Montserrat"/>
                        </a:defRPr>
                      </a:pPr>
                      <a:r>
                        <a:t>613</a:t>
                      </a:r>
                    </a:p>
                  </a:txBody>
                  <a:tcPr marL="0" marR="0" marT="0" marB="0" anchor="ctr">
                    <a:solidFill>
                      <a:srgbClr val="FFFFFF"/>
                    </a:solidFill>
                  </a:tcPr>
                </a:tc>
                <a:tc>
                  <a:txBody>
                    <a:bodyPr/>
                    <a:lstStyle/>
                    <a:p>
                      <a:pPr algn="ctr">
                        <a:defRPr sz="1000">
                          <a:latin typeface="Montserrat"/>
                        </a:defRPr>
                      </a:pPr>
                      <a:r>
                        <a:t>6,012</a:t>
                      </a:r>
                    </a:p>
                  </a:txBody>
                  <a:tcPr marL="0" marR="0" marT="0" marB="0" anchor="ctr">
                    <a:solidFill>
                      <a:srgbClr val="ECD3D9"/>
                    </a:solidFill>
                  </a:tcPr>
                </a:tc>
                <a:tc>
                  <a:txBody>
                    <a:bodyPr/>
                    <a:lstStyle/>
                    <a:p>
                      <a:pPr algn="ctr">
                        <a:defRPr sz="1000">
                          <a:latin typeface="Montserrat"/>
                        </a:defRPr>
                      </a:pPr>
                      <a:r>
                        <a:t>14,000</a:t>
                      </a:r>
                    </a:p>
                  </a:txBody>
                  <a:tcPr marL="0" marR="0" marT="0" marB="0" anchor="ctr">
                    <a:solidFill>
                      <a:srgbClr val="ECD3D9"/>
                    </a:solidFill>
                  </a:tcPr>
                </a:tc>
                <a:tc>
                  <a:txBody>
                    <a:bodyPr/>
                    <a:lstStyle/>
                    <a:p>
                      <a:pPr algn="ctr">
                        <a:defRPr sz="1000">
                          <a:latin typeface="Montserrat"/>
                        </a:defRPr>
                      </a:pPr>
                      <a:r>
                        <a:t>42.9%</a:t>
                      </a:r>
                    </a:p>
                  </a:txBody>
                  <a:tcPr marL="0" marR="0" marT="0" marB="0" anchor="ctr">
                    <a:solidFill>
                      <a:srgbClr val="ECD3D9"/>
                    </a:solidFill>
                  </a:tcPr>
                </a:tc>
                <a:extLst>
                  <a:ext uri="{0D108BD9-81ED-4DB2-BD59-A6C34878D82A}">
                    <a16:rowId xmlns:a16="http://schemas.microsoft.com/office/drawing/2014/main" val="10017"/>
                  </a:ext>
                </a:extLst>
              </a:tr>
              <a:tr h="159821">
                <a:tc>
                  <a:txBody>
                    <a:bodyPr/>
                    <a:lstStyle/>
                    <a:p>
                      <a:pPr algn="l">
                        <a:defRPr sz="1000">
                          <a:latin typeface="Montserrat"/>
                        </a:defRPr>
                      </a:pPr>
                      <a:r>
                        <a:t>UMF 36 Ojocaliente</a:t>
                      </a:r>
                    </a:p>
                  </a:txBody>
                  <a:tcPr marL="0" marR="0" marT="0" marB="0" anchor="ctr">
                    <a:solidFill>
                      <a:srgbClr val="EFEFEF"/>
                    </a:solidFill>
                  </a:tcPr>
                </a:tc>
                <a:tc>
                  <a:txBody>
                    <a:bodyPr/>
                    <a:lstStyle/>
                    <a:p>
                      <a:pPr algn="ctr">
                        <a:defRPr sz="1000">
                          <a:latin typeface="Montserrat"/>
                        </a:defRPr>
                      </a:pPr>
                      <a:r>
                        <a:t>26,719</a:t>
                      </a:r>
                    </a:p>
                  </a:txBody>
                  <a:tcPr marL="0" marR="0" marT="0" marB="0" anchor="ctr">
                    <a:solidFill>
                      <a:srgbClr val="EFEFEF"/>
                    </a:solidFill>
                  </a:tcPr>
                </a:tc>
                <a:tc>
                  <a:txBody>
                    <a:bodyPr/>
                    <a:lstStyle/>
                    <a:p>
                      <a:pPr algn="ctr">
                        <a:defRPr sz="1000">
                          <a:latin typeface="Montserrat"/>
                        </a:defRPr>
                      </a:pPr>
                      <a:r>
                        <a:t>2,955</a:t>
                      </a:r>
                    </a:p>
                  </a:txBody>
                  <a:tcPr marL="0" marR="0" marT="0" marB="0" anchor="ctr">
                    <a:solidFill>
                      <a:srgbClr val="EFEFEF"/>
                    </a:solidFill>
                  </a:tcPr>
                </a:tc>
                <a:tc>
                  <a:txBody>
                    <a:bodyPr/>
                    <a:lstStyle/>
                    <a:p>
                      <a:pPr algn="ctr">
                        <a:defRPr sz="1000">
                          <a:latin typeface="Montserrat"/>
                        </a:defRPr>
                      </a:pPr>
                      <a:r>
                        <a:t>13,820</a:t>
                      </a:r>
                    </a:p>
                  </a:txBody>
                  <a:tcPr marL="0" marR="0" marT="0" marB="0" anchor="ctr">
                    <a:solidFill>
                      <a:srgbClr val="ECD3D9"/>
                    </a:solidFill>
                  </a:tcPr>
                </a:tc>
                <a:tc>
                  <a:txBody>
                    <a:bodyPr/>
                    <a:lstStyle/>
                    <a:p>
                      <a:pPr algn="ctr">
                        <a:defRPr sz="1000">
                          <a:latin typeface="Montserrat"/>
                        </a:defRPr>
                      </a:pPr>
                      <a:r>
                        <a:t>27,000</a:t>
                      </a:r>
                    </a:p>
                  </a:txBody>
                  <a:tcPr marL="0" marR="0" marT="0" marB="0" anchor="ctr">
                    <a:solidFill>
                      <a:srgbClr val="ECD3D9"/>
                    </a:solidFill>
                  </a:tcPr>
                </a:tc>
                <a:tc>
                  <a:txBody>
                    <a:bodyPr/>
                    <a:lstStyle/>
                    <a:p>
                      <a:pPr algn="ctr">
                        <a:defRPr sz="1000">
                          <a:latin typeface="Montserrat"/>
                        </a:defRPr>
                      </a:pPr>
                      <a:r>
                        <a:t>51.2%</a:t>
                      </a:r>
                    </a:p>
                  </a:txBody>
                  <a:tcPr marL="0" marR="0" marT="0" marB="0" anchor="ctr">
                    <a:solidFill>
                      <a:srgbClr val="ECD3D9"/>
                    </a:solidFill>
                  </a:tcPr>
                </a:tc>
                <a:extLst>
                  <a:ext uri="{0D108BD9-81ED-4DB2-BD59-A6C34878D82A}">
                    <a16:rowId xmlns:a16="http://schemas.microsoft.com/office/drawing/2014/main" val="10018"/>
                  </a:ext>
                </a:extLst>
              </a:tr>
              <a:tr h="159821">
                <a:tc>
                  <a:txBody>
                    <a:bodyPr/>
                    <a:lstStyle/>
                    <a:p>
                      <a:pPr algn="l">
                        <a:defRPr sz="1000">
                          <a:latin typeface="Montserrat"/>
                        </a:defRPr>
                      </a:pPr>
                      <a:r>
                        <a:t>UMF 35 Noria Ángeles</a:t>
                      </a:r>
                    </a:p>
                  </a:txBody>
                  <a:tcPr marL="0" marR="0" marT="0" marB="0" anchor="ctr">
                    <a:solidFill>
                      <a:srgbClr val="FFFFFF"/>
                    </a:solidFill>
                  </a:tcPr>
                </a:tc>
                <a:tc>
                  <a:txBody>
                    <a:bodyPr/>
                    <a:lstStyle/>
                    <a:p>
                      <a:pPr algn="ctr">
                        <a:defRPr sz="1000">
                          <a:latin typeface="Montserrat"/>
                        </a:defRPr>
                      </a:pPr>
                      <a:r>
                        <a:t>9,657</a:t>
                      </a:r>
                    </a:p>
                  </a:txBody>
                  <a:tcPr marL="0" marR="0" marT="0" marB="0" anchor="ctr">
                    <a:solidFill>
                      <a:srgbClr val="FFFFFF"/>
                    </a:solidFill>
                  </a:tcPr>
                </a:tc>
                <a:tc>
                  <a:txBody>
                    <a:bodyPr/>
                    <a:lstStyle/>
                    <a:p>
                      <a:pPr algn="ctr">
                        <a:defRPr sz="1000">
                          <a:latin typeface="Montserrat"/>
                        </a:defRPr>
                      </a:pPr>
                      <a:r>
                        <a:t>4,866</a:t>
                      </a:r>
                    </a:p>
                  </a:txBody>
                  <a:tcPr marL="0" marR="0" marT="0" marB="0" anchor="ctr">
                    <a:solidFill>
                      <a:srgbClr val="FFFFFF"/>
                    </a:solidFill>
                  </a:tcPr>
                </a:tc>
                <a:tc>
                  <a:txBody>
                    <a:bodyPr/>
                    <a:lstStyle/>
                    <a:p>
                      <a:pPr algn="ctr">
                        <a:defRPr sz="1000">
                          <a:latin typeface="Montserrat"/>
                        </a:defRPr>
                      </a:pPr>
                      <a:r>
                        <a:t>4,683</a:t>
                      </a:r>
                    </a:p>
                  </a:txBody>
                  <a:tcPr marL="0" marR="0" marT="0" marB="0" anchor="ctr">
                    <a:solidFill>
                      <a:srgbClr val="ECD3D9"/>
                    </a:solidFill>
                  </a:tcPr>
                </a:tc>
                <a:tc>
                  <a:txBody>
                    <a:bodyPr/>
                    <a:lstStyle/>
                    <a:p>
                      <a:pPr algn="ctr">
                        <a:defRPr sz="1000">
                          <a:latin typeface="Montserrat"/>
                        </a:defRPr>
                      </a:pPr>
                      <a:r>
                        <a:t>11,000</a:t>
                      </a:r>
                    </a:p>
                  </a:txBody>
                  <a:tcPr marL="0" marR="0" marT="0" marB="0" anchor="ctr">
                    <a:solidFill>
                      <a:srgbClr val="ECD3D9"/>
                    </a:solidFill>
                  </a:tcPr>
                </a:tc>
                <a:tc>
                  <a:txBody>
                    <a:bodyPr/>
                    <a:lstStyle/>
                    <a:p>
                      <a:pPr algn="ctr">
                        <a:defRPr sz="1000">
                          <a:latin typeface="Montserrat"/>
                        </a:defRPr>
                      </a:pPr>
                      <a:r>
                        <a:t>42.6%</a:t>
                      </a:r>
                    </a:p>
                  </a:txBody>
                  <a:tcPr marL="0" marR="0" marT="0" marB="0" anchor="ctr">
                    <a:solidFill>
                      <a:srgbClr val="ECD3D9"/>
                    </a:solidFill>
                  </a:tcPr>
                </a:tc>
                <a:extLst>
                  <a:ext uri="{0D108BD9-81ED-4DB2-BD59-A6C34878D82A}">
                    <a16:rowId xmlns:a16="http://schemas.microsoft.com/office/drawing/2014/main" val="10019"/>
                  </a:ext>
                </a:extLst>
              </a:tr>
              <a:tr h="159821">
                <a:tc>
                  <a:txBody>
                    <a:bodyPr/>
                    <a:lstStyle/>
                    <a:p>
                      <a:pPr algn="l">
                        <a:defRPr sz="1000">
                          <a:latin typeface="Montserrat"/>
                        </a:defRPr>
                      </a:pPr>
                      <a:r>
                        <a:t>UMF 33 Morelos</a:t>
                      </a:r>
                    </a:p>
                  </a:txBody>
                  <a:tcPr marL="0" marR="0" marT="0" marB="0" anchor="ctr">
                    <a:solidFill>
                      <a:srgbClr val="EFEFEF"/>
                    </a:solidFill>
                  </a:tcPr>
                </a:tc>
                <a:tc>
                  <a:txBody>
                    <a:bodyPr/>
                    <a:lstStyle/>
                    <a:p>
                      <a:pPr algn="ctr">
                        <a:defRPr sz="1000">
                          <a:latin typeface="Montserrat"/>
                        </a:defRPr>
                      </a:pPr>
                      <a:r>
                        <a:t>30,981</a:t>
                      </a:r>
                    </a:p>
                  </a:txBody>
                  <a:tcPr marL="0" marR="0" marT="0" marB="0" anchor="ctr">
                    <a:solidFill>
                      <a:srgbClr val="EFEFEF"/>
                    </a:solidFill>
                  </a:tcPr>
                </a:tc>
                <a:tc>
                  <a:txBody>
                    <a:bodyPr/>
                    <a:lstStyle/>
                    <a:p>
                      <a:pPr algn="ctr">
                        <a:defRPr sz="1000">
                          <a:latin typeface="Montserrat"/>
                        </a:defRPr>
                      </a:pPr>
                      <a:r>
                        <a:t>7,220</a:t>
                      </a:r>
                    </a:p>
                  </a:txBody>
                  <a:tcPr marL="0" marR="0" marT="0" marB="0" anchor="ctr">
                    <a:solidFill>
                      <a:srgbClr val="EFEFEF"/>
                    </a:solidFill>
                  </a:tcPr>
                </a:tc>
                <a:tc>
                  <a:txBody>
                    <a:bodyPr/>
                    <a:lstStyle/>
                    <a:p>
                      <a:pPr algn="ctr">
                        <a:defRPr sz="1000">
                          <a:latin typeface="Montserrat"/>
                        </a:defRPr>
                      </a:pPr>
                      <a:r>
                        <a:t>14,136</a:t>
                      </a:r>
                    </a:p>
                  </a:txBody>
                  <a:tcPr marL="0" marR="0" marT="0" marB="0" anchor="ctr">
                    <a:solidFill>
                      <a:srgbClr val="ECD3D9"/>
                    </a:solidFill>
                  </a:tcPr>
                </a:tc>
                <a:tc>
                  <a:txBody>
                    <a:bodyPr/>
                    <a:lstStyle/>
                    <a:p>
                      <a:pPr algn="ctr">
                        <a:defRPr sz="1000">
                          <a:latin typeface="Montserrat"/>
                        </a:defRPr>
                      </a:pPr>
                      <a:r>
                        <a:rPr dirty="0"/>
                        <a:t>30,000</a:t>
                      </a:r>
                    </a:p>
                  </a:txBody>
                  <a:tcPr marL="0" marR="0" marT="0" marB="0" anchor="ctr">
                    <a:solidFill>
                      <a:srgbClr val="ECD3D9"/>
                    </a:solidFill>
                  </a:tcPr>
                </a:tc>
                <a:tc>
                  <a:txBody>
                    <a:bodyPr/>
                    <a:lstStyle/>
                    <a:p>
                      <a:pPr algn="ctr">
                        <a:defRPr sz="1000">
                          <a:latin typeface="Montserrat"/>
                        </a:defRPr>
                      </a:pPr>
                      <a:r>
                        <a:t>47.1%</a:t>
                      </a:r>
                    </a:p>
                  </a:txBody>
                  <a:tcPr marL="0" marR="0" marT="0" marB="0" anchor="ctr">
                    <a:solidFill>
                      <a:srgbClr val="ECD3D9"/>
                    </a:solidFill>
                  </a:tcPr>
                </a:tc>
                <a:extLst>
                  <a:ext uri="{0D108BD9-81ED-4DB2-BD59-A6C34878D82A}">
                    <a16:rowId xmlns:a16="http://schemas.microsoft.com/office/drawing/2014/main" val="10020"/>
                  </a:ext>
                </a:extLst>
              </a:tr>
              <a:tr h="159821">
                <a:tc>
                  <a:txBody>
                    <a:bodyPr/>
                    <a:lstStyle/>
                    <a:p>
                      <a:pPr algn="l">
                        <a:defRPr sz="1000">
                          <a:latin typeface="Montserrat"/>
                        </a:defRPr>
                      </a:pPr>
                      <a:r>
                        <a:t>UMF 27 Juchipila</a:t>
                      </a:r>
                    </a:p>
                  </a:txBody>
                  <a:tcPr marL="0" marR="0" marT="0" marB="0" anchor="ctr">
                    <a:solidFill>
                      <a:srgbClr val="FFFFFF"/>
                    </a:solidFill>
                  </a:tcPr>
                </a:tc>
                <a:tc>
                  <a:txBody>
                    <a:bodyPr/>
                    <a:lstStyle/>
                    <a:p>
                      <a:pPr algn="ctr">
                        <a:defRPr sz="1000">
                          <a:latin typeface="Montserrat"/>
                        </a:defRPr>
                      </a:pPr>
                      <a:r>
                        <a:t>7,055</a:t>
                      </a:r>
                    </a:p>
                  </a:txBody>
                  <a:tcPr marL="0" marR="0" marT="0" marB="0" anchor="ctr">
                    <a:solidFill>
                      <a:srgbClr val="FFFFFF"/>
                    </a:solidFill>
                  </a:tcPr>
                </a:tc>
                <a:tc>
                  <a:txBody>
                    <a:bodyPr/>
                    <a:lstStyle/>
                    <a:p>
                      <a:pPr algn="ctr">
                        <a:defRPr sz="1000">
                          <a:latin typeface="Montserrat"/>
                        </a:defRPr>
                      </a:pPr>
                      <a:r>
                        <a:t>-1,444</a:t>
                      </a:r>
                    </a:p>
                  </a:txBody>
                  <a:tcPr marL="0" marR="0" marT="0" marB="0" anchor="ctr">
                    <a:solidFill>
                      <a:srgbClr val="FFFFFF"/>
                    </a:solidFill>
                  </a:tcPr>
                </a:tc>
                <a:tc>
                  <a:txBody>
                    <a:bodyPr/>
                    <a:lstStyle/>
                    <a:p>
                      <a:pPr algn="ctr">
                        <a:defRPr sz="1000">
                          <a:latin typeface="Montserrat"/>
                        </a:defRPr>
                      </a:pPr>
                      <a:r>
                        <a:t>4,387</a:t>
                      </a:r>
                    </a:p>
                  </a:txBody>
                  <a:tcPr marL="0" marR="0" marT="0" marB="0" anchor="ctr">
                    <a:solidFill>
                      <a:srgbClr val="ECD3D9"/>
                    </a:solidFill>
                  </a:tcPr>
                </a:tc>
                <a:tc>
                  <a:txBody>
                    <a:bodyPr/>
                    <a:lstStyle/>
                    <a:p>
                      <a:pPr algn="ctr">
                        <a:defRPr sz="1000">
                          <a:latin typeface="Montserrat"/>
                        </a:defRPr>
                      </a:pPr>
                      <a:r>
                        <a:t>8,000</a:t>
                      </a:r>
                    </a:p>
                  </a:txBody>
                  <a:tcPr marL="0" marR="0" marT="0" marB="0" anchor="ctr">
                    <a:solidFill>
                      <a:srgbClr val="ECD3D9"/>
                    </a:solidFill>
                  </a:tcPr>
                </a:tc>
                <a:tc>
                  <a:txBody>
                    <a:bodyPr/>
                    <a:lstStyle/>
                    <a:p>
                      <a:pPr algn="ctr">
                        <a:defRPr sz="1000">
                          <a:latin typeface="Montserrat"/>
                        </a:defRPr>
                      </a:pPr>
                      <a:r>
                        <a:t>54.8%</a:t>
                      </a:r>
                    </a:p>
                  </a:txBody>
                  <a:tcPr marL="0" marR="0" marT="0" marB="0" anchor="ctr">
                    <a:solidFill>
                      <a:srgbClr val="ECD3D9"/>
                    </a:solidFill>
                  </a:tcPr>
                </a:tc>
                <a:extLst>
                  <a:ext uri="{0D108BD9-81ED-4DB2-BD59-A6C34878D82A}">
                    <a16:rowId xmlns:a16="http://schemas.microsoft.com/office/drawing/2014/main" val="10021"/>
                  </a:ext>
                </a:extLst>
              </a:tr>
              <a:tr h="159821">
                <a:tc>
                  <a:txBody>
                    <a:bodyPr/>
                    <a:lstStyle/>
                    <a:p>
                      <a:pPr algn="l">
                        <a:defRPr sz="1000">
                          <a:latin typeface="Montserrat"/>
                        </a:defRPr>
                      </a:pPr>
                      <a:r>
                        <a:t>UMF 39 Tabasco</a:t>
                      </a:r>
                    </a:p>
                  </a:txBody>
                  <a:tcPr marL="0" marR="0" marT="0" marB="0" anchor="ctr">
                    <a:solidFill>
                      <a:srgbClr val="EFEFEF"/>
                    </a:solidFill>
                  </a:tcPr>
                </a:tc>
                <a:tc>
                  <a:txBody>
                    <a:bodyPr/>
                    <a:lstStyle/>
                    <a:p>
                      <a:pPr algn="ctr">
                        <a:defRPr sz="1000">
                          <a:latin typeface="Montserrat"/>
                        </a:defRPr>
                      </a:pPr>
                      <a:r>
                        <a:t>12,253</a:t>
                      </a:r>
                    </a:p>
                  </a:txBody>
                  <a:tcPr marL="0" marR="0" marT="0" marB="0" anchor="ctr">
                    <a:solidFill>
                      <a:srgbClr val="EFEFEF"/>
                    </a:solidFill>
                  </a:tcPr>
                </a:tc>
                <a:tc>
                  <a:txBody>
                    <a:bodyPr/>
                    <a:lstStyle/>
                    <a:p>
                      <a:pPr algn="ctr">
                        <a:defRPr sz="1000">
                          <a:latin typeface="Montserrat"/>
                        </a:defRPr>
                      </a:pPr>
                      <a:r>
                        <a:t>3,058</a:t>
                      </a:r>
                    </a:p>
                  </a:txBody>
                  <a:tcPr marL="0" marR="0" marT="0" marB="0" anchor="ctr">
                    <a:solidFill>
                      <a:srgbClr val="EFEFEF"/>
                    </a:solidFill>
                  </a:tcPr>
                </a:tc>
                <a:tc>
                  <a:txBody>
                    <a:bodyPr/>
                    <a:lstStyle/>
                    <a:p>
                      <a:pPr algn="ctr">
                        <a:defRPr sz="1000">
                          <a:latin typeface="Montserrat"/>
                        </a:defRPr>
                      </a:pPr>
                      <a:r>
                        <a:t>4,929</a:t>
                      </a:r>
                    </a:p>
                  </a:txBody>
                  <a:tcPr marL="0" marR="0" marT="0" marB="0" anchor="ctr">
                    <a:solidFill>
                      <a:srgbClr val="ECD3D9"/>
                    </a:solidFill>
                  </a:tcPr>
                </a:tc>
                <a:tc>
                  <a:txBody>
                    <a:bodyPr/>
                    <a:lstStyle/>
                    <a:p>
                      <a:pPr algn="ctr">
                        <a:defRPr sz="1000">
                          <a:latin typeface="Montserrat"/>
                        </a:defRPr>
                      </a:pPr>
                      <a:r>
                        <a:t>13,000</a:t>
                      </a:r>
                    </a:p>
                  </a:txBody>
                  <a:tcPr marL="0" marR="0" marT="0" marB="0" anchor="ctr">
                    <a:solidFill>
                      <a:srgbClr val="ECD3D9"/>
                    </a:solidFill>
                  </a:tcPr>
                </a:tc>
                <a:tc>
                  <a:txBody>
                    <a:bodyPr/>
                    <a:lstStyle/>
                    <a:p>
                      <a:pPr algn="ctr">
                        <a:defRPr sz="1000">
                          <a:latin typeface="Montserrat"/>
                        </a:defRPr>
                      </a:pPr>
                      <a:r>
                        <a:rPr dirty="0"/>
                        <a:t>37.9%</a:t>
                      </a:r>
                    </a:p>
                  </a:txBody>
                  <a:tcPr marL="0" marR="0" marT="0" marB="0" anchor="ctr">
                    <a:solidFill>
                      <a:srgbClr val="ECD3D9"/>
                    </a:solidFill>
                  </a:tcPr>
                </a:tc>
                <a:extLst>
                  <a:ext uri="{0D108BD9-81ED-4DB2-BD59-A6C34878D82A}">
                    <a16:rowId xmlns:a16="http://schemas.microsoft.com/office/drawing/2014/main" val="10022"/>
                  </a:ext>
                </a:extLst>
              </a:tr>
              <a:tr h="159821">
                <a:tc>
                  <a:txBody>
                    <a:bodyPr/>
                    <a:lstStyle/>
                    <a:p>
                      <a:pPr algn="l">
                        <a:defRPr sz="1000">
                          <a:latin typeface="Montserrat"/>
                        </a:defRPr>
                      </a:pPr>
                      <a:r>
                        <a:t>UMF 25 Huanusco</a:t>
                      </a:r>
                    </a:p>
                  </a:txBody>
                  <a:tcPr marL="0" marR="0" marT="0" marB="0" anchor="ctr">
                    <a:solidFill>
                      <a:srgbClr val="FFFFFF"/>
                    </a:solidFill>
                  </a:tcPr>
                </a:tc>
                <a:tc>
                  <a:txBody>
                    <a:bodyPr/>
                    <a:lstStyle/>
                    <a:p>
                      <a:pPr algn="ctr">
                        <a:defRPr sz="1000">
                          <a:latin typeface="Montserrat"/>
                        </a:defRPr>
                      </a:pPr>
                      <a:r>
                        <a:t>1,417</a:t>
                      </a:r>
                    </a:p>
                  </a:txBody>
                  <a:tcPr marL="0" marR="0" marT="0" marB="0" anchor="ctr">
                    <a:solidFill>
                      <a:srgbClr val="FFFFFF"/>
                    </a:solidFill>
                  </a:tcPr>
                </a:tc>
                <a:tc>
                  <a:txBody>
                    <a:bodyPr/>
                    <a:lstStyle/>
                    <a:p>
                      <a:pPr algn="ctr">
                        <a:defRPr sz="1000">
                          <a:latin typeface="Montserrat"/>
                        </a:defRPr>
                      </a:pPr>
                      <a:r>
                        <a:t>-309</a:t>
                      </a:r>
                    </a:p>
                  </a:txBody>
                  <a:tcPr marL="0" marR="0" marT="0" marB="0" anchor="ctr">
                    <a:solidFill>
                      <a:srgbClr val="FFFFFF"/>
                    </a:solidFill>
                  </a:tcPr>
                </a:tc>
                <a:tc>
                  <a:txBody>
                    <a:bodyPr/>
                    <a:lstStyle/>
                    <a:p>
                      <a:pPr algn="ctr">
                        <a:defRPr sz="1000">
                          <a:latin typeface="Montserrat"/>
                        </a:defRPr>
                      </a:pPr>
                      <a:r>
                        <a:t>516</a:t>
                      </a:r>
                    </a:p>
                  </a:txBody>
                  <a:tcPr marL="0" marR="0" marT="0" marB="0" anchor="ctr">
                    <a:solidFill>
                      <a:srgbClr val="ECD3D9"/>
                    </a:solidFill>
                  </a:tcPr>
                </a:tc>
                <a:tc>
                  <a:txBody>
                    <a:bodyPr/>
                    <a:lstStyle/>
                    <a:p>
                      <a:pPr algn="ctr">
                        <a:defRPr sz="1000">
                          <a:latin typeface="Montserrat"/>
                        </a:defRPr>
                      </a:pPr>
                      <a:r>
                        <a:t>3,000</a:t>
                      </a:r>
                    </a:p>
                  </a:txBody>
                  <a:tcPr marL="0" marR="0" marT="0" marB="0" anchor="ctr">
                    <a:solidFill>
                      <a:srgbClr val="ECD3D9"/>
                    </a:solidFill>
                  </a:tcPr>
                </a:tc>
                <a:tc>
                  <a:txBody>
                    <a:bodyPr/>
                    <a:lstStyle/>
                    <a:p>
                      <a:pPr algn="ctr">
                        <a:defRPr sz="1000">
                          <a:latin typeface="Montserrat"/>
                        </a:defRPr>
                      </a:pPr>
                      <a:r>
                        <a:t>17.2%</a:t>
                      </a:r>
                    </a:p>
                  </a:txBody>
                  <a:tcPr marL="0" marR="0" marT="0" marB="0" anchor="ctr">
                    <a:solidFill>
                      <a:srgbClr val="ECD3D9"/>
                    </a:solidFill>
                  </a:tcPr>
                </a:tc>
                <a:extLst>
                  <a:ext uri="{0D108BD9-81ED-4DB2-BD59-A6C34878D82A}">
                    <a16:rowId xmlns:a16="http://schemas.microsoft.com/office/drawing/2014/main" val="10023"/>
                  </a:ext>
                </a:extLst>
              </a:tr>
              <a:tr h="159821">
                <a:tc>
                  <a:txBody>
                    <a:bodyPr/>
                    <a:lstStyle/>
                    <a:p>
                      <a:pPr algn="l">
                        <a:defRPr sz="1000">
                          <a:latin typeface="Montserrat"/>
                        </a:defRPr>
                      </a:pPr>
                      <a:r>
                        <a:t>UMF 26 Juan Aldama</a:t>
                      </a:r>
                    </a:p>
                  </a:txBody>
                  <a:tcPr marL="0" marR="0" marT="0" marB="0" anchor="ctr">
                    <a:solidFill>
                      <a:srgbClr val="EFEFEF"/>
                    </a:solidFill>
                  </a:tcPr>
                </a:tc>
                <a:tc>
                  <a:txBody>
                    <a:bodyPr/>
                    <a:lstStyle/>
                    <a:p>
                      <a:pPr algn="ctr">
                        <a:defRPr sz="1000">
                          <a:latin typeface="Montserrat"/>
                        </a:defRPr>
                      </a:pPr>
                      <a:r>
                        <a:t>12,131</a:t>
                      </a:r>
                    </a:p>
                  </a:txBody>
                  <a:tcPr marL="0" marR="0" marT="0" marB="0" anchor="ctr">
                    <a:solidFill>
                      <a:srgbClr val="EFEFEF"/>
                    </a:solidFill>
                  </a:tcPr>
                </a:tc>
                <a:tc>
                  <a:txBody>
                    <a:bodyPr/>
                    <a:lstStyle/>
                    <a:p>
                      <a:pPr algn="ctr">
                        <a:defRPr sz="1000">
                          <a:latin typeface="Montserrat"/>
                        </a:defRPr>
                      </a:pPr>
                      <a:r>
                        <a:t>1,087</a:t>
                      </a:r>
                    </a:p>
                  </a:txBody>
                  <a:tcPr marL="0" marR="0" marT="0" marB="0" anchor="ctr">
                    <a:solidFill>
                      <a:srgbClr val="EFEFEF"/>
                    </a:solidFill>
                  </a:tcPr>
                </a:tc>
                <a:tc>
                  <a:txBody>
                    <a:bodyPr/>
                    <a:lstStyle/>
                    <a:p>
                      <a:pPr algn="ctr">
                        <a:defRPr sz="1000">
                          <a:latin typeface="Montserrat"/>
                        </a:defRPr>
                      </a:pPr>
                      <a:r>
                        <a:t>6,074</a:t>
                      </a:r>
                    </a:p>
                  </a:txBody>
                  <a:tcPr marL="0" marR="0" marT="0" marB="0" anchor="ctr">
                    <a:solidFill>
                      <a:srgbClr val="ECD3D9"/>
                    </a:solidFill>
                  </a:tcPr>
                </a:tc>
                <a:tc>
                  <a:txBody>
                    <a:bodyPr/>
                    <a:lstStyle/>
                    <a:p>
                      <a:pPr algn="ctr">
                        <a:defRPr sz="1000">
                          <a:latin typeface="Montserrat"/>
                        </a:defRPr>
                      </a:pPr>
                      <a:r>
                        <a:t>13,000</a:t>
                      </a:r>
                    </a:p>
                  </a:txBody>
                  <a:tcPr marL="0" marR="0" marT="0" marB="0" anchor="ctr">
                    <a:solidFill>
                      <a:srgbClr val="ECD3D9"/>
                    </a:solidFill>
                  </a:tcPr>
                </a:tc>
                <a:tc>
                  <a:txBody>
                    <a:bodyPr/>
                    <a:lstStyle/>
                    <a:p>
                      <a:pPr algn="ctr">
                        <a:defRPr sz="1000">
                          <a:latin typeface="Montserrat"/>
                        </a:defRPr>
                      </a:pPr>
                      <a:r>
                        <a:t>46.7%</a:t>
                      </a:r>
                    </a:p>
                  </a:txBody>
                  <a:tcPr marL="0" marR="0" marT="0" marB="0" anchor="ctr">
                    <a:solidFill>
                      <a:srgbClr val="ECD3D9"/>
                    </a:solidFill>
                  </a:tcPr>
                </a:tc>
                <a:extLst>
                  <a:ext uri="{0D108BD9-81ED-4DB2-BD59-A6C34878D82A}">
                    <a16:rowId xmlns:a16="http://schemas.microsoft.com/office/drawing/2014/main" val="10024"/>
                  </a:ext>
                </a:extLst>
              </a:tr>
              <a:tr h="159821">
                <a:tc>
                  <a:txBody>
                    <a:bodyPr/>
                    <a:lstStyle/>
                    <a:p>
                      <a:pPr algn="l">
                        <a:defRPr sz="1000">
                          <a:latin typeface="Montserrat"/>
                        </a:defRPr>
                      </a:pPr>
                      <a:r>
                        <a:t>UMF 42 Teul González</a:t>
                      </a:r>
                    </a:p>
                  </a:txBody>
                  <a:tcPr marL="0" marR="0" marT="0" marB="0" anchor="ctr">
                    <a:solidFill>
                      <a:srgbClr val="FFFFFF"/>
                    </a:solidFill>
                  </a:tcPr>
                </a:tc>
                <a:tc>
                  <a:txBody>
                    <a:bodyPr/>
                    <a:lstStyle/>
                    <a:p>
                      <a:pPr algn="ctr">
                        <a:defRPr sz="1000">
                          <a:latin typeface="Montserrat"/>
                        </a:defRPr>
                      </a:pPr>
                      <a:r>
                        <a:t>6,575</a:t>
                      </a:r>
                    </a:p>
                  </a:txBody>
                  <a:tcPr marL="0" marR="0" marT="0" marB="0" anchor="ctr">
                    <a:solidFill>
                      <a:srgbClr val="FFFFFF"/>
                    </a:solidFill>
                  </a:tcPr>
                </a:tc>
                <a:tc>
                  <a:txBody>
                    <a:bodyPr/>
                    <a:lstStyle/>
                    <a:p>
                      <a:pPr algn="ctr">
                        <a:defRPr sz="1000">
                          <a:latin typeface="Montserrat"/>
                        </a:defRPr>
                      </a:pPr>
                      <a:r>
                        <a:t>688</a:t>
                      </a:r>
                    </a:p>
                  </a:txBody>
                  <a:tcPr marL="0" marR="0" marT="0" marB="0" anchor="ctr">
                    <a:solidFill>
                      <a:srgbClr val="FFFFFF"/>
                    </a:solidFill>
                  </a:tcPr>
                </a:tc>
                <a:tc>
                  <a:txBody>
                    <a:bodyPr/>
                    <a:lstStyle/>
                    <a:p>
                      <a:pPr algn="ctr">
                        <a:defRPr sz="1000">
                          <a:latin typeface="Montserrat"/>
                        </a:defRPr>
                      </a:pPr>
                      <a:r>
                        <a:t>2,803</a:t>
                      </a:r>
                    </a:p>
                  </a:txBody>
                  <a:tcPr marL="0" marR="0" marT="0" marB="0" anchor="ctr">
                    <a:solidFill>
                      <a:srgbClr val="ECD3D9"/>
                    </a:solidFill>
                  </a:tcPr>
                </a:tc>
                <a:tc>
                  <a:txBody>
                    <a:bodyPr/>
                    <a:lstStyle/>
                    <a:p>
                      <a:pPr algn="ctr">
                        <a:defRPr sz="1000">
                          <a:latin typeface="Montserrat"/>
                        </a:defRPr>
                      </a:pPr>
                      <a:r>
                        <a:t>8,000</a:t>
                      </a:r>
                    </a:p>
                  </a:txBody>
                  <a:tcPr marL="0" marR="0" marT="0" marB="0" anchor="ctr">
                    <a:solidFill>
                      <a:srgbClr val="ECD3D9"/>
                    </a:solidFill>
                  </a:tcPr>
                </a:tc>
                <a:tc>
                  <a:txBody>
                    <a:bodyPr/>
                    <a:lstStyle/>
                    <a:p>
                      <a:pPr algn="ctr">
                        <a:defRPr sz="1000">
                          <a:latin typeface="Montserrat"/>
                        </a:defRPr>
                      </a:pPr>
                      <a:r>
                        <a:rPr dirty="0"/>
                        <a:t>35.0%</a:t>
                      </a:r>
                    </a:p>
                  </a:txBody>
                  <a:tcPr marL="0" marR="0" marT="0" marB="0" anchor="ctr">
                    <a:solidFill>
                      <a:srgbClr val="ECD3D9"/>
                    </a:solidFill>
                  </a:tcPr>
                </a:tc>
                <a:extLst>
                  <a:ext uri="{0D108BD9-81ED-4DB2-BD59-A6C34878D82A}">
                    <a16:rowId xmlns:a16="http://schemas.microsoft.com/office/drawing/2014/main" val="10025"/>
                  </a:ext>
                </a:extLst>
              </a:tr>
              <a:tr h="159821">
                <a:tc>
                  <a:txBody>
                    <a:bodyPr/>
                    <a:lstStyle/>
                    <a:p>
                      <a:pPr algn="l">
                        <a:defRPr sz="1000">
                          <a:latin typeface="Montserrat"/>
                        </a:defRPr>
                      </a:pPr>
                      <a:r>
                        <a:t>UMF 22 Florencia</a:t>
                      </a:r>
                    </a:p>
                  </a:txBody>
                  <a:tcPr marL="0" marR="0" marT="0" marB="0" anchor="ctr">
                    <a:solidFill>
                      <a:srgbClr val="EFEFEF"/>
                    </a:solidFill>
                  </a:tcPr>
                </a:tc>
                <a:tc>
                  <a:txBody>
                    <a:bodyPr/>
                    <a:lstStyle/>
                    <a:p>
                      <a:pPr algn="ctr">
                        <a:defRPr sz="1000">
                          <a:latin typeface="Montserrat"/>
                        </a:defRPr>
                      </a:pPr>
                      <a:r>
                        <a:t>1,466</a:t>
                      </a:r>
                    </a:p>
                  </a:txBody>
                  <a:tcPr marL="0" marR="0" marT="0" marB="0" anchor="ctr">
                    <a:solidFill>
                      <a:srgbClr val="EFEFEF"/>
                    </a:solidFill>
                  </a:tcPr>
                </a:tc>
                <a:tc>
                  <a:txBody>
                    <a:bodyPr/>
                    <a:lstStyle/>
                    <a:p>
                      <a:pPr algn="ctr">
                        <a:defRPr sz="1000">
                          <a:latin typeface="Montserrat"/>
                        </a:defRPr>
                      </a:pPr>
                      <a:r>
                        <a:t>-106</a:t>
                      </a:r>
                    </a:p>
                  </a:txBody>
                  <a:tcPr marL="0" marR="0" marT="0" marB="0" anchor="ctr">
                    <a:solidFill>
                      <a:srgbClr val="EFEFEF"/>
                    </a:solidFill>
                  </a:tcPr>
                </a:tc>
                <a:tc>
                  <a:txBody>
                    <a:bodyPr/>
                    <a:lstStyle/>
                    <a:p>
                      <a:pPr algn="ctr">
                        <a:defRPr sz="1000">
                          <a:latin typeface="Montserrat"/>
                        </a:defRPr>
                      </a:pPr>
                      <a:r>
                        <a:t>778</a:t>
                      </a:r>
                    </a:p>
                  </a:txBody>
                  <a:tcPr marL="0" marR="0" marT="0" marB="0" anchor="ctr">
                    <a:solidFill>
                      <a:srgbClr val="ECD3D9"/>
                    </a:solidFill>
                  </a:tcPr>
                </a:tc>
                <a:tc>
                  <a:txBody>
                    <a:bodyPr/>
                    <a:lstStyle/>
                    <a:p>
                      <a:pPr algn="ctr">
                        <a:defRPr sz="1000">
                          <a:latin typeface="Montserrat"/>
                        </a:defRPr>
                      </a:pPr>
                      <a:r>
                        <a:t>3,000</a:t>
                      </a:r>
                    </a:p>
                  </a:txBody>
                  <a:tcPr marL="0" marR="0" marT="0" marB="0" anchor="ctr">
                    <a:solidFill>
                      <a:srgbClr val="ECD3D9"/>
                    </a:solidFill>
                  </a:tcPr>
                </a:tc>
                <a:tc>
                  <a:txBody>
                    <a:bodyPr/>
                    <a:lstStyle/>
                    <a:p>
                      <a:pPr algn="ctr">
                        <a:defRPr sz="1000">
                          <a:latin typeface="Montserrat"/>
                        </a:defRPr>
                      </a:pPr>
                      <a:r>
                        <a:t>25.9%</a:t>
                      </a:r>
                    </a:p>
                  </a:txBody>
                  <a:tcPr marL="0" marR="0" marT="0" marB="0" anchor="ctr">
                    <a:solidFill>
                      <a:srgbClr val="ECD3D9"/>
                    </a:solidFill>
                  </a:tcPr>
                </a:tc>
                <a:extLst>
                  <a:ext uri="{0D108BD9-81ED-4DB2-BD59-A6C34878D82A}">
                    <a16:rowId xmlns:a16="http://schemas.microsoft.com/office/drawing/2014/main" val="10026"/>
                  </a:ext>
                </a:extLst>
              </a:tr>
              <a:tr h="159821">
                <a:tc>
                  <a:txBody>
                    <a:bodyPr/>
                    <a:lstStyle/>
                    <a:p>
                      <a:pPr algn="l">
                        <a:defRPr sz="1000">
                          <a:latin typeface="Montserrat"/>
                        </a:defRPr>
                      </a:pPr>
                      <a:r>
                        <a:t>UMF 43 Tlaltenango</a:t>
                      </a:r>
                    </a:p>
                  </a:txBody>
                  <a:tcPr marL="0" marR="0" marT="0" marB="0" anchor="ctr">
                    <a:solidFill>
                      <a:srgbClr val="FFFFFF"/>
                    </a:solidFill>
                  </a:tcPr>
                </a:tc>
                <a:tc>
                  <a:txBody>
                    <a:bodyPr/>
                    <a:lstStyle/>
                    <a:p>
                      <a:pPr algn="ctr">
                        <a:defRPr sz="1000">
                          <a:latin typeface="Montserrat"/>
                        </a:defRPr>
                      </a:pPr>
                      <a:r>
                        <a:t>11,050</a:t>
                      </a:r>
                    </a:p>
                  </a:txBody>
                  <a:tcPr marL="0" marR="0" marT="0" marB="0" anchor="ctr">
                    <a:solidFill>
                      <a:srgbClr val="FFFFFF"/>
                    </a:solidFill>
                  </a:tcPr>
                </a:tc>
                <a:tc>
                  <a:txBody>
                    <a:bodyPr/>
                    <a:lstStyle/>
                    <a:p>
                      <a:pPr algn="ctr">
                        <a:defRPr sz="1000">
                          <a:latin typeface="Montserrat"/>
                        </a:defRPr>
                      </a:pPr>
                      <a:r>
                        <a:t>2,055</a:t>
                      </a:r>
                    </a:p>
                  </a:txBody>
                  <a:tcPr marL="0" marR="0" marT="0" marB="0" anchor="ctr">
                    <a:solidFill>
                      <a:srgbClr val="FFFFFF"/>
                    </a:solidFill>
                  </a:tcPr>
                </a:tc>
                <a:tc>
                  <a:txBody>
                    <a:bodyPr/>
                    <a:lstStyle/>
                    <a:p>
                      <a:pPr algn="ctr">
                        <a:defRPr sz="1000">
                          <a:latin typeface="Montserrat"/>
                        </a:defRPr>
                      </a:pPr>
                      <a:r>
                        <a:t>5,688</a:t>
                      </a:r>
                    </a:p>
                  </a:txBody>
                  <a:tcPr marL="0" marR="0" marT="0" marB="0" anchor="ctr">
                    <a:solidFill>
                      <a:srgbClr val="ECD3D9"/>
                    </a:solidFill>
                  </a:tcPr>
                </a:tc>
                <a:tc>
                  <a:txBody>
                    <a:bodyPr/>
                    <a:lstStyle/>
                    <a:p>
                      <a:pPr algn="ctr">
                        <a:defRPr sz="1000">
                          <a:latin typeface="Montserrat"/>
                        </a:defRPr>
                      </a:pPr>
                      <a:r>
                        <a:t>12,000</a:t>
                      </a:r>
                    </a:p>
                  </a:txBody>
                  <a:tcPr marL="0" marR="0" marT="0" marB="0" anchor="ctr">
                    <a:solidFill>
                      <a:srgbClr val="ECD3D9"/>
                    </a:solidFill>
                  </a:tcPr>
                </a:tc>
                <a:tc>
                  <a:txBody>
                    <a:bodyPr/>
                    <a:lstStyle/>
                    <a:p>
                      <a:pPr algn="ctr">
                        <a:defRPr sz="1000">
                          <a:latin typeface="Montserrat"/>
                        </a:defRPr>
                      </a:pPr>
                      <a:r>
                        <a:rPr dirty="0"/>
                        <a:t>47.4%</a:t>
                      </a:r>
                    </a:p>
                  </a:txBody>
                  <a:tcPr marL="0" marR="0" marT="0" marB="0" anchor="ctr">
                    <a:solidFill>
                      <a:srgbClr val="ECD3D9"/>
                    </a:solidFill>
                  </a:tcPr>
                </a:tc>
                <a:extLst>
                  <a:ext uri="{0D108BD9-81ED-4DB2-BD59-A6C34878D82A}">
                    <a16:rowId xmlns:a16="http://schemas.microsoft.com/office/drawing/2014/main" val="10027"/>
                  </a:ext>
                </a:extLst>
              </a:tr>
              <a:tr h="159821">
                <a:tc>
                  <a:txBody>
                    <a:bodyPr/>
                    <a:lstStyle/>
                    <a:p>
                      <a:pPr algn="l">
                        <a:defRPr sz="1000">
                          <a:latin typeface="Montserrat"/>
                        </a:defRPr>
                      </a:pPr>
                      <a:r>
                        <a:t>UMF 31 Momax</a:t>
                      </a:r>
                    </a:p>
                  </a:txBody>
                  <a:tcPr marL="0" marR="0" marT="0" marB="0" anchor="ctr">
                    <a:solidFill>
                      <a:srgbClr val="EFEFEF"/>
                    </a:solidFill>
                  </a:tcPr>
                </a:tc>
                <a:tc>
                  <a:txBody>
                    <a:bodyPr/>
                    <a:lstStyle/>
                    <a:p>
                      <a:pPr algn="ctr">
                        <a:defRPr sz="1000">
                          <a:latin typeface="Montserrat"/>
                        </a:defRPr>
                      </a:pPr>
                      <a:r>
                        <a:t>2,391</a:t>
                      </a:r>
                    </a:p>
                  </a:txBody>
                  <a:tcPr marL="0" marR="0" marT="0" marB="0" anchor="ctr">
                    <a:solidFill>
                      <a:srgbClr val="EFEFEF"/>
                    </a:solidFill>
                  </a:tcPr>
                </a:tc>
                <a:tc>
                  <a:txBody>
                    <a:bodyPr/>
                    <a:lstStyle/>
                    <a:p>
                      <a:pPr algn="ctr">
                        <a:defRPr sz="1000">
                          <a:latin typeface="Montserrat"/>
                        </a:defRPr>
                      </a:pPr>
                      <a:r>
                        <a:t>622</a:t>
                      </a:r>
                    </a:p>
                  </a:txBody>
                  <a:tcPr marL="0" marR="0" marT="0" marB="0" anchor="ctr">
                    <a:solidFill>
                      <a:srgbClr val="EFEFEF"/>
                    </a:solidFill>
                  </a:tcPr>
                </a:tc>
                <a:tc>
                  <a:txBody>
                    <a:bodyPr/>
                    <a:lstStyle/>
                    <a:p>
                      <a:pPr algn="ctr">
                        <a:defRPr sz="1000">
                          <a:latin typeface="Montserrat"/>
                        </a:defRPr>
                      </a:pPr>
                      <a:r>
                        <a:t>1,651</a:t>
                      </a:r>
                    </a:p>
                  </a:txBody>
                  <a:tcPr marL="0" marR="0" marT="0" marB="0" anchor="ctr">
                    <a:solidFill>
                      <a:srgbClr val="ECD3D9"/>
                    </a:solidFill>
                  </a:tcPr>
                </a:tc>
                <a:tc>
                  <a:txBody>
                    <a:bodyPr/>
                    <a:lstStyle/>
                    <a:p>
                      <a:pPr algn="ctr">
                        <a:defRPr sz="1000">
                          <a:latin typeface="Montserrat"/>
                        </a:defRPr>
                      </a:pPr>
                      <a:r>
                        <a:t>4,000</a:t>
                      </a:r>
                    </a:p>
                  </a:txBody>
                  <a:tcPr marL="0" marR="0" marT="0" marB="0" anchor="ctr">
                    <a:solidFill>
                      <a:srgbClr val="ECD3D9"/>
                    </a:solidFill>
                  </a:tcPr>
                </a:tc>
                <a:tc>
                  <a:txBody>
                    <a:bodyPr/>
                    <a:lstStyle/>
                    <a:p>
                      <a:pPr algn="ctr">
                        <a:defRPr sz="1000">
                          <a:latin typeface="Montserrat"/>
                        </a:defRPr>
                      </a:pPr>
                      <a:r>
                        <a:t>41.3%</a:t>
                      </a:r>
                    </a:p>
                  </a:txBody>
                  <a:tcPr marL="0" marR="0" marT="0" marB="0" anchor="ctr">
                    <a:solidFill>
                      <a:srgbClr val="ECD3D9"/>
                    </a:solidFill>
                  </a:tcPr>
                </a:tc>
                <a:extLst>
                  <a:ext uri="{0D108BD9-81ED-4DB2-BD59-A6C34878D82A}">
                    <a16:rowId xmlns:a16="http://schemas.microsoft.com/office/drawing/2014/main" val="10028"/>
                  </a:ext>
                </a:extLst>
              </a:tr>
              <a:tr h="159821">
                <a:tc>
                  <a:txBody>
                    <a:bodyPr/>
                    <a:lstStyle/>
                    <a:p>
                      <a:pPr algn="l">
                        <a:defRPr sz="1000">
                          <a:latin typeface="Montserrat"/>
                        </a:defRPr>
                      </a:pPr>
                      <a:r>
                        <a:t>UMF 49 Sain Alto</a:t>
                      </a:r>
                    </a:p>
                  </a:txBody>
                  <a:tcPr marL="0" marR="0" marT="0" marB="0" anchor="ctr">
                    <a:solidFill>
                      <a:srgbClr val="FFFFFF"/>
                    </a:solidFill>
                  </a:tcPr>
                </a:tc>
                <a:tc>
                  <a:txBody>
                    <a:bodyPr/>
                    <a:lstStyle/>
                    <a:p>
                      <a:pPr algn="ctr">
                        <a:defRPr sz="1000">
                          <a:latin typeface="Montserrat"/>
                        </a:defRPr>
                      </a:pPr>
                      <a:r>
                        <a:t>12,019</a:t>
                      </a:r>
                    </a:p>
                  </a:txBody>
                  <a:tcPr marL="0" marR="0" marT="0" marB="0" anchor="ctr">
                    <a:solidFill>
                      <a:srgbClr val="FFFFFF"/>
                    </a:solidFill>
                  </a:tcPr>
                </a:tc>
                <a:tc>
                  <a:txBody>
                    <a:bodyPr/>
                    <a:lstStyle/>
                    <a:p>
                      <a:pPr algn="ctr">
                        <a:defRPr sz="1000">
                          <a:latin typeface="Montserrat"/>
                        </a:defRPr>
                      </a:pPr>
                      <a:r>
                        <a:t>121</a:t>
                      </a:r>
                    </a:p>
                  </a:txBody>
                  <a:tcPr marL="0" marR="0" marT="0" marB="0" anchor="ctr">
                    <a:solidFill>
                      <a:srgbClr val="FFFFFF"/>
                    </a:solidFill>
                  </a:tcPr>
                </a:tc>
                <a:tc>
                  <a:txBody>
                    <a:bodyPr/>
                    <a:lstStyle/>
                    <a:p>
                      <a:pPr algn="ctr">
                        <a:defRPr sz="1000">
                          <a:latin typeface="Montserrat"/>
                        </a:defRPr>
                      </a:pPr>
                      <a:r>
                        <a:t>5,626</a:t>
                      </a:r>
                    </a:p>
                  </a:txBody>
                  <a:tcPr marL="0" marR="0" marT="0" marB="0" anchor="ctr">
                    <a:solidFill>
                      <a:srgbClr val="ECD3D9"/>
                    </a:solidFill>
                  </a:tcPr>
                </a:tc>
                <a:tc>
                  <a:txBody>
                    <a:bodyPr/>
                    <a:lstStyle/>
                    <a:p>
                      <a:pPr algn="ctr">
                        <a:defRPr sz="1000">
                          <a:latin typeface="Montserrat"/>
                        </a:defRPr>
                      </a:pPr>
                      <a:r>
                        <a:t>13,000</a:t>
                      </a:r>
                    </a:p>
                  </a:txBody>
                  <a:tcPr marL="0" marR="0" marT="0" marB="0" anchor="ctr">
                    <a:solidFill>
                      <a:srgbClr val="ECD3D9"/>
                    </a:solidFill>
                  </a:tcPr>
                </a:tc>
                <a:tc>
                  <a:txBody>
                    <a:bodyPr/>
                    <a:lstStyle/>
                    <a:p>
                      <a:pPr algn="ctr">
                        <a:defRPr sz="1000">
                          <a:latin typeface="Montserrat"/>
                        </a:defRPr>
                      </a:pPr>
                      <a:r>
                        <a:t>43.3%</a:t>
                      </a:r>
                    </a:p>
                  </a:txBody>
                  <a:tcPr marL="0" marR="0" marT="0" marB="0" anchor="ctr">
                    <a:solidFill>
                      <a:srgbClr val="ECD3D9"/>
                    </a:solidFill>
                  </a:tcPr>
                </a:tc>
                <a:extLst>
                  <a:ext uri="{0D108BD9-81ED-4DB2-BD59-A6C34878D82A}">
                    <a16:rowId xmlns:a16="http://schemas.microsoft.com/office/drawing/2014/main" val="10029"/>
                  </a:ext>
                </a:extLst>
              </a:tr>
              <a:tr h="319642">
                <a:tc>
                  <a:txBody>
                    <a:bodyPr/>
                    <a:lstStyle/>
                    <a:p>
                      <a:pPr algn="l">
                        <a:defRPr sz="1000">
                          <a:latin typeface="Montserrat"/>
                        </a:defRPr>
                      </a:pPr>
                      <a:r>
                        <a:t>UMF 52 Cañitas de F. Pescador</a:t>
                      </a:r>
                    </a:p>
                  </a:txBody>
                  <a:tcPr marL="0" marR="0" marT="0" marB="0" anchor="ctr">
                    <a:solidFill>
                      <a:srgbClr val="EFEFEF"/>
                    </a:solidFill>
                  </a:tcPr>
                </a:tc>
                <a:tc>
                  <a:txBody>
                    <a:bodyPr/>
                    <a:lstStyle/>
                    <a:p>
                      <a:pPr algn="ctr">
                        <a:defRPr sz="1000">
                          <a:latin typeface="Montserrat"/>
                        </a:defRPr>
                      </a:pPr>
                      <a:r>
                        <a:t>12,676</a:t>
                      </a:r>
                    </a:p>
                  </a:txBody>
                  <a:tcPr marL="0" marR="0" marT="0" marB="0" anchor="ctr">
                    <a:solidFill>
                      <a:srgbClr val="EFEFEF"/>
                    </a:solidFill>
                  </a:tcPr>
                </a:tc>
                <a:tc>
                  <a:txBody>
                    <a:bodyPr/>
                    <a:lstStyle/>
                    <a:p>
                      <a:pPr algn="ctr">
                        <a:defRPr sz="1000">
                          <a:latin typeface="Montserrat"/>
                        </a:defRPr>
                      </a:pPr>
                      <a:r>
                        <a:t>2,993</a:t>
                      </a:r>
                    </a:p>
                  </a:txBody>
                  <a:tcPr marL="0" marR="0" marT="0" marB="0" anchor="ctr">
                    <a:solidFill>
                      <a:srgbClr val="EFEFEF"/>
                    </a:solidFill>
                  </a:tcPr>
                </a:tc>
                <a:tc>
                  <a:txBody>
                    <a:bodyPr/>
                    <a:lstStyle/>
                    <a:p>
                      <a:pPr algn="ctr">
                        <a:defRPr sz="1000">
                          <a:latin typeface="Montserrat"/>
                        </a:defRPr>
                      </a:pPr>
                      <a:r>
                        <a:t>5,820</a:t>
                      </a:r>
                    </a:p>
                  </a:txBody>
                  <a:tcPr marL="0" marR="0" marT="0" marB="0" anchor="ctr">
                    <a:solidFill>
                      <a:srgbClr val="ECD3D9"/>
                    </a:solidFill>
                  </a:tcPr>
                </a:tc>
                <a:tc>
                  <a:txBody>
                    <a:bodyPr/>
                    <a:lstStyle/>
                    <a:p>
                      <a:pPr algn="ctr">
                        <a:defRPr sz="1000">
                          <a:latin typeface="Montserrat"/>
                        </a:defRPr>
                      </a:pPr>
                      <a:r>
                        <a:t>11,000</a:t>
                      </a:r>
                    </a:p>
                  </a:txBody>
                  <a:tcPr marL="0" marR="0" marT="0" marB="0" anchor="ctr">
                    <a:solidFill>
                      <a:srgbClr val="ECD3D9"/>
                    </a:solidFill>
                  </a:tcPr>
                </a:tc>
                <a:tc>
                  <a:txBody>
                    <a:bodyPr/>
                    <a:lstStyle/>
                    <a:p>
                      <a:pPr algn="ctr">
                        <a:defRPr sz="1000">
                          <a:latin typeface="Montserrat"/>
                        </a:defRPr>
                      </a:pPr>
                      <a:r>
                        <a:rPr dirty="0"/>
                        <a:t>52.9%</a:t>
                      </a:r>
                    </a:p>
                  </a:txBody>
                  <a:tcPr marL="0" marR="0" marT="0" marB="0" anchor="ctr">
                    <a:solidFill>
                      <a:srgbClr val="ECD3D9"/>
                    </a:solidFill>
                  </a:tcPr>
                </a:tc>
                <a:extLst>
                  <a:ext uri="{0D108BD9-81ED-4DB2-BD59-A6C34878D82A}">
                    <a16:rowId xmlns:a16="http://schemas.microsoft.com/office/drawing/2014/main" val="10030"/>
                  </a:ext>
                </a:extLst>
              </a:tr>
              <a:tr h="159821">
                <a:tc>
                  <a:txBody>
                    <a:bodyPr/>
                    <a:lstStyle/>
                    <a:p>
                      <a:pPr algn="l">
                        <a:defRPr sz="1000">
                          <a:latin typeface="Montserrat"/>
                        </a:defRPr>
                      </a:pPr>
                      <a:r>
                        <a:t>UMF 57 Zacatecas</a:t>
                      </a:r>
                    </a:p>
                  </a:txBody>
                  <a:tcPr marL="0" marR="0" marT="0" marB="0" anchor="ctr">
                    <a:solidFill>
                      <a:srgbClr val="FFFFFF"/>
                    </a:solidFill>
                  </a:tcPr>
                </a:tc>
                <a:tc>
                  <a:txBody>
                    <a:bodyPr/>
                    <a:lstStyle/>
                    <a:p>
                      <a:pPr algn="ctr">
                        <a:defRPr sz="1000">
                          <a:latin typeface="Montserrat"/>
                        </a:defRPr>
                      </a:pPr>
                      <a:r>
                        <a:t>129,125</a:t>
                      </a:r>
                    </a:p>
                  </a:txBody>
                  <a:tcPr marL="0" marR="0" marT="0" marB="0" anchor="ctr">
                    <a:solidFill>
                      <a:srgbClr val="FFFFFF"/>
                    </a:solidFill>
                  </a:tcPr>
                </a:tc>
                <a:tc>
                  <a:txBody>
                    <a:bodyPr/>
                    <a:lstStyle/>
                    <a:p>
                      <a:pPr algn="ctr">
                        <a:defRPr sz="1000">
                          <a:latin typeface="Montserrat"/>
                        </a:defRPr>
                      </a:pPr>
                      <a:r>
                        <a:t>8,555</a:t>
                      </a:r>
                    </a:p>
                  </a:txBody>
                  <a:tcPr marL="0" marR="0" marT="0" marB="0" anchor="ctr">
                    <a:solidFill>
                      <a:srgbClr val="FFFFFF"/>
                    </a:solidFill>
                  </a:tcPr>
                </a:tc>
                <a:tc>
                  <a:txBody>
                    <a:bodyPr/>
                    <a:lstStyle/>
                    <a:p>
                      <a:pPr algn="ctr">
                        <a:defRPr sz="1000">
                          <a:latin typeface="Montserrat"/>
                        </a:defRPr>
                      </a:pPr>
                      <a:r>
                        <a:t>56,468</a:t>
                      </a:r>
                    </a:p>
                  </a:txBody>
                  <a:tcPr marL="0" marR="0" marT="0" marB="0" anchor="ctr">
                    <a:solidFill>
                      <a:srgbClr val="ECD3D9"/>
                    </a:solidFill>
                  </a:tcPr>
                </a:tc>
                <a:tc>
                  <a:txBody>
                    <a:bodyPr/>
                    <a:lstStyle/>
                    <a:p>
                      <a:pPr algn="ctr">
                        <a:defRPr sz="1000">
                          <a:latin typeface="Montserrat"/>
                        </a:defRPr>
                      </a:pPr>
                      <a:r>
                        <a:t>125,280</a:t>
                      </a:r>
                    </a:p>
                  </a:txBody>
                  <a:tcPr marL="0" marR="0" marT="0" marB="0" anchor="ctr">
                    <a:solidFill>
                      <a:srgbClr val="ECD3D9"/>
                    </a:solidFill>
                  </a:tcPr>
                </a:tc>
                <a:tc>
                  <a:txBody>
                    <a:bodyPr/>
                    <a:lstStyle/>
                    <a:p>
                      <a:pPr algn="ctr">
                        <a:defRPr sz="1000">
                          <a:latin typeface="Montserrat"/>
                        </a:defRPr>
                      </a:pPr>
                      <a:r>
                        <a:rPr dirty="0"/>
                        <a:t>45.1%</a:t>
                      </a:r>
                    </a:p>
                  </a:txBody>
                  <a:tcPr marL="0" marR="0" marT="0" marB="0" anchor="ctr">
                    <a:solidFill>
                      <a:srgbClr val="ECD3D9"/>
                    </a:solidFill>
                  </a:tcPr>
                </a:tc>
                <a:extLst>
                  <a:ext uri="{0D108BD9-81ED-4DB2-BD59-A6C34878D82A}">
                    <a16:rowId xmlns:a16="http://schemas.microsoft.com/office/drawing/2014/main" val="10031"/>
                  </a:ext>
                </a:extLst>
              </a:tr>
              <a:tr h="159821">
                <a:tc>
                  <a:txBody>
                    <a:bodyPr/>
                    <a:lstStyle/>
                    <a:p>
                      <a:pPr algn="l">
                        <a:defRPr sz="1000">
                          <a:latin typeface="Montserrat"/>
                        </a:defRPr>
                      </a:pPr>
                      <a:r>
                        <a:t>UMF 58 Villa Fontana</a:t>
                      </a:r>
                    </a:p>
                  </a:txBody>
                  <a:tcPr marL="0" marR="0" marT="0" marB="0" anchor="ctr">
                    <a:solidFill>
                      <a:srgbClr val="EFEFEF"/>
                    </a:solidFill>
                  </a:tcPr>
                </a:tc>
                <a:tc>
                  <a:txBody>
                    <a:bodyPr/>
                    <a:lstStyle/>
                    <a:p>
                      <a:pPr algn="ctr">
                        <a:defRPr sz="1000">
                          <a:latin typeface="Montserrat"/>
                        </a:defRPr>
                      </a:pPr>
                      <a:r>
                        <a:t>73,427</a:t>
                      </a:r>
                    </a:p>
                  </a:txBody>
                  <a:tcPr marL="0" marR="0" marT="0" marB="0" anchor="ctr">
                    <a:solidFill>
                      <a:srgbClr val="EFEFEF"/>
                    </a:solidFill>
                  </a:tcPr>
                </a:tc>
                <a:tc>
                  <a:txBody>
                    <a:bodyPr/>
                    <a:lstStyle/>
                    <a:p>
                      <a:pPr algn="ctr">
                        <a:defRPr sz="1000">
                          <a:latin typeface="Montserrat"/>
                        </a:defRPr>
                      </a:pPr>
                      <a:r>
                        <a:t>73,427</a:t>
                      </a:r>
                    </a:p>
                  </a:txBody>
                  <a:tcPr marL="0" marR="0" marT="0" marB="0" anchor="ctr">
                    <a:solidFill>
                      <a:srgbClr val="EFEFEF"/>
                    </a:solidFill>
                  </a:tcPr>
                </a:tc>
                <a:tc>
                  <a:txBody>
                    <a:bodyPr/>
                    <a:lstStyle/>
                    <a:p>
                      <a:pPr algn="ctr">
                        <a:defRPr sz="1000">
                          <a:latin typeface="Montserrat"/>
                        </a:defRPr>
                      </a:pPr>
                      <a:r>
                        <a:t>35,159</a:t>
                      </a:r>
                    </a:p>
                  </a:txBody>
                  <a:tcPr marL="0" marR="0" marT="0" marB="0" anchor="ctr">
                    <a:solidFill>
                      <a:srgbClr val="ECD3D9"/>
                    </a:solidFill>
                  </a:tcPr>
                </a:tc>
                <a:tc>
                  <a:txBody>
                    <a:bodyPr/>
                    <a:lstStyle/>
                    <a:p>
                      <a:pPr algn="ctr">
                        <a:defRPr sz="1000">
                          <a:latin typeface="Montserrat"/>
                        </a:defRPr>
                      </a:pPr>
                      <a:r>
                        <a:t>75,168</a:t>
                      </a:r>
                    </a:p>
                  </a:txBody>
                  <a:tcPr marL="0" marR="0" marT="0" marB="0" anchor="ctr">
                    <a:solidFill>
                      <a:srgbClr val="ECD3D9"/>
                    </a:solidFill>
                  </a:tcPr>
                </a:tc>
                <a:tc>
                  <a:txBody>
                    <a:bodyPr/>
                    <a:lstStyle/>
                    <a:p>
                      <a:pPr algn="ctr">
                        <a:defRPr sz="1000">
                          <a:latin typeface="Montserrat"/>
                        </a:defRPr>
                      </a:pPr>
                      <a:r>
                        <a:rPr dirty="0"/>
                        <a:t>46.8%</a:t>
                      </a:r>
                    </a:p>
                  </a:txBody>
                  <a:tcPr marL="0" marR="0" marT="0" marB="0" anchor="ctr">
                    <a:solidFill>
                      <a:srgbClr val="ECD3D9"/>
                    </a:solidFill>
                  </a:tcPr>
                </a:tc>
                <a:extLst>
                  <a:ext uri="{0D108BD9-81ED-4DB2-BD59-A6C34878D82A}">
                    <a16:rowId xmlns:a16="http://schemas.microsoft.com/office/drawing/2014/main" val="10032"/>
                  </a:ext>
                </a:extLst>
              </a:tr>
              <a:tr h="159821">
                <a:tc>
                  <a:txBody>
                    <a:bodyPr/>
                    <a:lstStyle/>
                    <a:p>
                      <a:pPr algn="ctr">
                        <a:defRPr sz="1000" b="1">
                          <a:solidFill>
                            <a:srgbClr val="006556"/>
                          </a:solidFill>
                          <a:latin typeface="Montserrat"/>
                        </a:defRPr>
                      </a:pPr>
                      <a:r>
                        <a:t>Total</a:t>
                      </a:r>
                    </a:p>
                  </a:txBody>
                  <a:tcPr marL="0" marR="0" marT="0" marB="0" anchor="ctr">
                    <a:solidFill>
                      <a:srgbClr val="D3E9E7"/>
                    </a:solidFill>
                  </a:tcPr>
                </a:tc>
                <a:tc>
                  <a:txBody>
                    <a:bodyPr/>
                    <a:lstStyle/>
                    <a:p>
                      <a:pPr algn="ctr">
                        <a:defRPr sz="1000" b="1">
                          <a:solidFill>
                            <a:srgbClr val="006556"/>
                          </a:solidFill>
                          <a:latin typeface="Montserrat"/>
                        </a:defRPr>
                      </a:pPr>
                      <a:r>
                        <a:t>780,799</a:t>
                      </a:r>
                    </a:p>
                  </a:txBody>
                  <a:tcPr marL="0" marR="0" marT="0" marB="0" anchor="ctr">
                    <a:solidFill>
                      <a:srgbClr val="D3E9E7"/>
                    </a:solidFill>
                  </a:tcPr>
                </a:tc>
                <a:tc>
                  <a:txBody>
                    <a:bodyPr/>
                    <a:lstStyle/>
                    <a:p>
                      <a:pPr algn="ctr">
                        <a:defRPr sz="1000" b="1">
                          <a:solidFill>
                            <a:srgbClr val="006556"/>
                          </a:solidFill>
                          <a:latin typeface="Montserrat"/>
                        </a:defRPr>
                      </a:pPr>
                      <a:r>
                        <a:t>149,677</a:t>
                      </a:r>
                    </a:p>
                  </a:txBody>
                  <a:tcPr marL="0" marR="0" marT="0" marB="0" anchor="ctr">
                    <a:solidFill>
                      <a:srgbClr val="D3E9E7"/>
                    </a:solidFill>
                  </a:tcPr>
                </a:tc>
                <a:tc>
                  <a:txBody>
                    <a:bodyPr/>
                    <a:lstStyle/>
                    <a:p>
                      <a:pPr algn="ctr">
                        <a:defRPr sz="1000" b="1">
                          <a:solidFill>
                            <a:srgbClr val="FFFFFF"/>
                          </a:solidFill>
                          <a:latin typeface="Montserrat"/>
                        </a:defRPr>
                      </a:pPr>
                      <a:r>
                        <a:t>367,865</a:t>
                      </a:r>
                    </a:p>
                  </a:txBody>
                  <a:tcPr marL="0" marR="0" marT="0" marB="0" anchor="ctr">
                    <a:solidFill>
                      <a:srgbClr val="9F2241"/>
                    </a:solidFill>
                  </a:tcPr>
                </a:tc>
                <a:tc>
                  <a:txBody>
                    <a:bodyPr/>
                    <a:lstStyle/>
                    <a:p>
                      <a:pPr algn="ctr">
                        <a:defRPr sz="1000" b="1">
                          <a:solidFill>
                            <a:srgbClr val="FFFFFF"/>
                          </a:solidFill>
                          <a:latin typeface="Montserrat"/>
                        </a:defRPr>
                      </a:pPr>
                      <a:r>
                        <a:t>825,652</a:t>
                      </a:r>
                    </a:p>
                  </a:txBody>
                  <a:tcPr marL="0" marR="0" marT="0" marB="0" anchor="ctr">
                    <a:solidFill>
                      <a:srgbClr val="9F2241"/>
                    </a:solidFill>
                  </a:tcPr>
                </a:tc>
                <a:tc>
                  <a:txBody>
                    <a:bodyPr/>
                    <a:lstStyle/>
                    <a:p>
                      <a:pPr algn="ctr">
                        <a:defRPr sz="1000" b="1">
                          <a:solidFill>
                            <a:srgbClr val="FFFFFF"/>
                          </a:solidFill>
                          <a:latin typeface="Montserrat"/>
                        </a:defRPr>
                      </a:pPr>
                      <a:r>
                        <a:rPr dirty="0"/>
                        <a:t>44.6%</a:t>
                      </a:r>
                    </a:p>
                  </a:txBody>
                  <a:tcPr marL="0" marR="0" marT="0" marB="0" anchor="ctr">
                    <a:solidFill>
                      <a:srgbClr val="9F2241"/>
                    </a:solidFill>
                  </a:tcPr>
                </a:tc>
                <a:extLst>
                  <a:ext uri="{0D108BD9-81ED-4DB2-BD59-A6C34878D82A}">
                    <a16:rowId xmlns:a16="http://schemas.microsoft.com/office/drawing/2014/main" val="10033"/>
                  </a:ext>
                </a:extLst>
              </a:tr>
            </a:tbl>
          </a:graphicData>
        </a:graphic>
      </p:graphicFrame>
      <p:graphicFrame>
        <p:nvGraphicFramePr>
          <p:cNvPr id="9" name="Chart 8"/>
          <p:cNvGraphicFramePr>
            <a:graphicFrameLocks noGrp="1"/>
          </p:cNvGraphicFramePr>
          <p:nvPr>
            <p:extLst>
              <p:ext uri="{D42A27DB-BD31-4B8C-83A1-F6EECF244321}">
                <p14:modId xmlns:p14="http://schemas.microsoft.com/office/powerpoint/2010/main" val="2626453157"/>
              </p:ext>
            </p:extLst>
          </p:nvPr>
        </p:nvGraphicFramePr>
        <p:xfrm>
          <a:off x="4128000" y="7541436"/>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p:cNvSpPr txBox="1"/>
          <p:nvPr/>
        </p:nvSpPr>
        <p:spPr>
          <a:xfrm>
            <a:off x="4128000" y="8261436"/>
            <a:ext cx="1800000" cy="360000"/>
          </a:xfrm>
          <a:prstGeom prst="rect">
            <a:avLst/>
          </a:prstGeom>
          <a:noFill/>
        </p:spPr>
        <p:txBody>
          <a:bodyPr wrap="none">
            <a:spAutoFit/>
          </a:bodyPr>
          <a:lstStyle/>
          <a:p>
            <a:pPr algn="ctr"/>
            <a:r>
              <a:rPr sz="2400" b="1">
                <a:solidFill>
                  <a:srgbClr val="9F2241"/>
                </a:solidFill>
                <a:latin typeface="Montserrat"/>
              </a:rPr>
              <a:t>44.6%</a:t>
            </a:r>
          </a:p>
        </p:txBody>
      </p:sp>
      <p:sp>
        <p:nvSpPr>
          <p:cNvPr id="11" name="TextBox 10"/>
          <p:cNvSpPr txBox="1"/>
          <p:nvPr/>
        </p:nvSpPr>
        <p:spPr>
          <a:xfrm>
            <a:off x="4128000" y="9161436"/>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1273200" y="7971996"/>
            <a:ext cx="2854800" cy="1198800"/>
          </a:xfrm>
          <a:prstGeom prst="rect">
            <a:avLst/>
          </a:prstGeom>
          <a:noFill/>
        </p:spPr>
        <p:txBody>
          <a:bodyPr wrap="square">
            <a:spAutoFit/>
          </a:bodyPr>
          <a:lstStyle/>
          <a:p>
            <a:pPr algn="ctr">
              <a:defRPr sz="3600" b="1">
                <a:solidFill>
                  <a:srgbClr val="9F2241"/>
                </a:solidFill>
                <a:latin typeface="Montserrat"/>
              </a:defRPr>
            </a:pPr>
            <a:r>
              <a:rPr dirty="0"/>
              <a:t>825,652 </a:t>
            </a:r>
            <a:br>
              <a:rPr dirty="0"/>
            </a:br>
            <a:r>
              <a:rPr dirty="0"/>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16" name="CuadroTexto 15">
            <a:extLst>
              <a:ext uri="{FF2B5EF4-FFF2-40B4-BE49-F238E27FC236}">
                <a16:creationId xmlns:a16="http://schemas.microsoft.com/office/drawing/2014/main" id="{D8E6FE26-E3D6-2FE1-3614-28AED108C910}"/>
              </a:ext>
            </a:extLst>
          </p:cNvPr>
          <p:cNvSpPr txBox="1"/>
          <p:nvPr/>
        </p:nvSpPr>
        <p:spPr>
          <a:xfrm>
            <a:off x="3886200" y="5057515"/>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6 Nuevas UMTC con   14 consultorios</a:t>
            </a:r>
          </a:p>
        </p:txBody>
      </p:sp>
      <p:sp>
        <p:nvSpPr>
          <p:cNvPr id="17" name="CuadroTexto 16">
            <a:extLst>
              <a:ext uri="{FF2B5EF4-FFF2-40B4-BE49-F238E27FC236}">
                <a16:creationId xmlns:a16="http://schemas.microsoft.com/office/drawing/2014/main" id="{165E3FD0-F29E-073F-F5F4-0BC9710BF7A9}"/>
              </a:ext>
            </a:extLst>
          </p:cNvPr>
          <p:cNvSpPr txBox="1"/>
          <p:nvPr/>
        </p:nvSpPr>
        <p:spPr>
          <a:xfrm>
            <a:off x="4310318" y="6103706"/>
            <a:ext cx="2634711" cy="1384995"/>
          </a:xfrm>
          <a:prstGeom prst="rect">
            <a:avLst/>
          </a:prstGeom>
          <a:noFill/>
        </p:spPr>
        <p:txBody>
          <a:bodyPr wrap="square">
            <a:spAutoFit/>
          </a:bodyPr>
          <a:lstStyle/>
          <a:p>
            <a:pPr marL="342900" indent="-342900">
              <a:buFont typeface="+mj-lt"/>
              <a:buAutoNum type="arabicParenR"/>
            </a:pPr>
            <a:r>
              <a:rPr lang="es-MX" dirty="0">
                <a:latin typeface="Montserrat" panose="00000500000000000000" pitchFamily="2" charset="0"/>
              </a:rPr>
              <a:t>UMF 5 Jerez</a:t>
            </a:r>
          </a:p>
          <a:p>
            <a:pPr marL="342900" indent="-342900">
              <a:buFont typeface="+mj-lt"/>
              <a:buAutoNum type="arabicParenR"/>
            </a:pPr>
            <a:r>
              <a:rPr lang="es-MX" dirty="0">
                <a:latin typeface="Montserrat" panose="00000500000000000000" pitchFamily="2" charset="0"/>
              </a:rPr>
              <a:t>UMF 58 Villa Fontana </a:t>
            </a:r>
          </a:p>
          <a:p>
            <a:pPr marL="342900" indent="-342900">
              <a:buFont typeface="+mj-lt"/>
              <a:buAutoNum type="arabicParenR"/>
            </a:pPr>
            <a:r>
              <a:rPr lang="es-MX" dirty="0">
                <a:latin typeface="Montserrat" panose="00000500000000000000" pitchFamily="2" charset="0"/>
              </a:rPr>
              <a:t>UMF 7 Sombrerete</a:t>
            </a:r>
          </a:p>
          <a:p>
            <a:pPr marL="342900" indent="-342900">
              <a:buFont typeface="+mj-lt"/>
              <a:buAutoNum type="arabicParenR"/>
            </a:pPr>
            <a:r>
              <a:rPr lang="es-MX" dirty="0">
                <a:latin typeface="Montserrat" panose="00000500000000000000" pitchFamily="2" charset="0"/>
              </a:rPr>
              <a:t>UMF 33 Morelos</a:t>
            </a:r>
          </a:p>
          <a:p>
            <a:pPr marL="342900" indent="-342900">
              <a:buFont typeface="+mj-lt"/>
              <a:buAutoNum type="arabicParenR"/>
            </a:pPr>
            <a:r>
              <a:rPr lang="es-MX" dirty="0">
                <a:latin typeface="Montserrat" panose="00000500000000000000" pitchFamily="2" charset="0"/>
              </a:rPr>
              <a:t>UMF 1 Zacatecas</a:t>
            </a:r>
          </a:p>
          <a:p>
            <a:pPr marL="342900" indent="-342900">
              <a:buFont typeface="+mj-lt"/>
              <a:buAutoNum type="arabicParenR"/>
            </a:pPr>
            <a:r>
              <a:rPr lang="es-MX" dirty="0">
                <a:latin typeface="Montserrat" panose="00000500000000000000" pitchFamily="2" charset="0"/>
              </a:rPr>
              <a:t>UMF 57 Zacatecas</a:t>
            </a:r>
          </a:p>
        </p:txBody>
      </p:sp>
      <p:sp>
        <p:nvSpPr>
          <p:cNvPr id="18" name="TextBox 1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19" name="TextBox 18"/>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35 Unidades de Medicina Familiar</a:t>
            </a:r>
          </a:p>
        </p:txBody>
      </p:sp>
      <p:sp>
        <p:nvSpPr>
          <p:cNvPr id="20" name="TextBox 19"/>
          <p:cNvSpPr txBox="1"/>
          <p:nvPr/>
        </p:nvSpPr>
        <p:spPr>
          <a:xfrm>
            <a:off x="147600" y="917999"/>
            <a:ext cx="7148111" cy="369332"/>
          </a:xfrm>
          <a:prstGeom prst="rect">
            <a:avLst/>
          </a:prstGeom>
          <a:noFill/>
        </p:spPr>
        <p:txBody>
          <a:bodyPr wrap="none">
            <a:spAutoFit/>
          </a:bodyPr>
          <a:lstStyle/>
          <a:p>
            <a:pPr algn="l">
              <a:defRPr sz="1600" b="1">
                <a:solidFill>
                  <a:srgbClr val="5B0F00"/>
                </a:solidFill>
                <a:latin typeface="Montserrat"/>
              </a:defRPr>
            </a:pPr>
            <a:r>
              <a:rPr sz="1800" dirty="0"/>
              <a:t>3 </a:t>
            </a:r>
            <a:r>
              <a:rPr sz="1800" dirty="0" err="1"/>
              <a:t>Unidades</a:t>
            </a:r>
            <a:r>
              <a:rPr sz="1800" dirty="0"/>
              <a:t> </a:t>
            </a:r>
            <a:r>
              <a:rPr sz="1800" dirty="0" err="1"/>
              <a:t>Médicas</a:t>
            </a:r>
            <a:r>
              <a:rPr sz="1800" dirty="0"/>
              <a:t> de </a:t>
            </a:r>
            <a:r>
              <a:rPr sz="1800" dirty="0" err="1"/>
              <a:t>tiempo</a:t>
            </a:r>
            <a:r>
              <a:rPr sz="1800" dirty="0"/>
              <a:t> </a:t>
            </a:r>
            <a:r>
              <a:rPr sz="1800" dirty="0" err="1"/>
              <a:t>completo</a:t>
            </a:r>
            <a:r>
              <a:rPr sz="1800" dirty="0"/>
              <a:t> (10 </a:t>
            </a:r>
            <a:r>
              <a:rPr sz="1800" dirty="0" err="1"/>
              <a:t>consultorios</a:t>
            </a:r>
            <a:r>
              <a:rPr sz="1800" dirty="0"/>
              <a:t>)</a:t>
            </a:r>
          </a:p>
        </p:txBody>
      </p:sp>
      <p:sp>
        <p:nvSpPr>
          <p:cNvPr id="21" name="TextBox 20"/>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2" name="Connector 21"/>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47600" y="9532800"/>
            <a:ext cx="7473600" cy="399600"/>
          </a:xfrm>
          <a:prstGeom prst="rect">
            <a:avLst/>
          </a:prstGeom>
          <a:noFill/>
        </p:spPr>
        <p:txBody>
          <a:bodyPr wrap="square" lIns="0" tIns="0" rIns="0" bIns="0">
            <a:spAutoFit/>
          </a:bodyPr>
          <a:lstStyle/>
          <a:p>
            <a:pPr algn="l">
              <a:defRPr sz="800">
                <a:solidFill>
                  <a:srgbClr val="FFFFFF"/>
                </a:solidFill>
                <a:latin typeface="Montserrat"/>
              </a:defRPr>
            </a:pPr>
            <a:r>
              <a:t>En el año 2025 no incluye información de HR y UMR.</a:t>
            </a:r>
            <a:br/>
            <a:r>
              <a:t>No incluye Unidades Auxiliares de Medicina Familiar, ni hospitales con servicio de medicina familiar.</a:t>
            </a:r>
            <a:br/>
            <a:r>
              <a:t>El año de proceso inicia del 26 de diciembre del año anterior al 25 de diciembre del año en curso: 2025 (del 26 de Dic de 2024 al 25 de Dic de 2025).</a:t>
            </a:r>
            <a:br/>
            <a:r>
              <a:t>Corte de información: Semana 24, 7 junio 2026</a:t>
            </a:r>
          </a:p>
        </p:txBody>
      </p:sp>
      <p:sp>
        <p:nvSpPr>
          <p:cNvPr id="24" name="TextBox 23"/>
          <p:cNvSpPr txBox="1"/>
          <p:nvPr/>
        </p:nvSpPr>
        <p:spPr>
          <a:xfrm>
            <a:off x="1975543" y="5574919"/>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(61,010 consultas)</a:t>
            </a:r>
          </a:p>
        </p:txBody>
      </p:sp>
      <p:graphicFrame>
        <p:nvGraphicFramePr>
          <p:cNvPr id="25" name="Table 24"/>
          <p:cNvGraphicFramePr>
            <a:graphicFrameLocks noGrp="1"/>
          </p:cNvGraphicFramePr>
          <p:nvPr>
            <p:extLst>
              <p:ext uri="{D42A27DB-BD31-4B8C-83A1-F6EECF244321}">
                <p14:modId xmlns:p14="http://schemas.microsoft.com/office/powerpoint/2010/main" val="3537827002"/>
              </p:ext>
            </p:extLst>
          </p:nvPr>
        </p:nvGraphicFramePr>
        <p:xfrm>
          <a:off x="151200" y="1695599"/>
          <a:ext cx="7473599" cy="1972100"/>
        </p:xfrm>
        <a:graphic>
          <a:graphicData uri="http://schemas.openxmlformats.org/drawingml/2006/table">
            <a:tbl>
              <a:tblPr firstRow="1" bandRow="1">
                <a:tableStyleId>{5C22544A-7EE6-4342-B048-85BDC9FD1C3A}</a:tableStyleId>
              </a:tblPr>
              <a:tblGrid>
                <a:gridCol w="1681200">
                  <a:extLst>
                    <a:ext uri="{9D8B030D-6E8A-4147-A177-3AD203B41FA5}">
                      <a16:colId xmlns:a16="http://schemas.microsoft.com/office/drawing/2014/main" val="20000"/>
                    </a:ext>
                  </a:extLst>
                </a:gridCol>
                <a:gridCol w="1206000">
                  <a:extLst>
                    <a:ext uri="{9D8B030D-6E8A-4147-A177-3AD203B41FA5}">
                      <a16:colId xmlns:a16="http://schemas.microsoft.com/office/drawing/2014/main" val="20001"/>
                    </a:ext>
                  </a:extLst>
                </a:gridCol>
                <a:gridCol w="1216800">
                  <a:extLst>
                    <a:ext uri="{9D8B030D-6E8A-4147-A177-3AD203B41FA5}">
                      <a16:colId xmlns:a16="http://schemas.microsoft.com/office/drawing/2014/main" val="20002"/>
                    </a:ext>
                  </a:extLst>
                </a:gridCol>
                <a:gridCol w="1256400">
                  <a:extLst>
                    <a:ext uri="{9D8B030D-6E8A-4147-A177-3AD203B41FA5}">
                      <a16:colId xmlns:a16="http://schemas.microsoft.com/office/drawing/2014/main" val="20003"/>
                    </a:ext>
                  </a:extLst>
                </a:gridCol>
                <a:gridCol w="827999">
                  <a:extLst>
                    <a:ext uri="{9D8B030D-6E8A-4147-A177-3AD203B41FA5}">
                      <a16:colId xmlns:a16="http://schemas.microsoft.com/office/drawing/2014/main" val="20004"/>
                    </a:ext>
                  </a:extLst>
                </a:gridCol>
                <a:gridCol w="1285200">
                  <a:extLst>
                    <a:ext uri="{9D8B030D-6E8A-4147-A177-3AD203B41FA5}">
                      <a16:colId xmlns:a16="http://schemas.microsoft.com/office/drawing/2014/main" val="20005"/>
                    </a:ext>
                  </a:extLst>
                </a:gridCol>
              </a:tblGrid>
              <a:tr h="776888">
                <a:tc>
                  <a:txBody>
                    <a:bodyPr/>
                    <a:lstStyle/>
                    <a:p>
                      <a:pPr algn="ctr">
                        <a:defRPr sz="1000" b="1">
                          <a:solidFill>
                            <a:srgbClr val="FFFFFF"/>
                          </a:solidFill>
                          <a:latin typeface="Montserrat"/>
                        </a:defRPr>
                      </a:pPr>
                      <a:r>
                        <a:rPr dirty="0"/>
                        <a:t>Unidad</a:t>
                      </a:r>
                    </a:p>
                  </a:txBody>
                  <a:tcPr anchor="ctr">
                    <a:solidFill>
                      <a:srgbClr val="006455"/>
                    </a:solidFill>
                  </a:tcPr>
                </a:tc>
                <a:tc>
                  <a:txBody>
                    <a:bodyPr/>
                    <a:lstStyle/>
                    <a:p>
                      <a:pPr algn="ctr">
                        <a:defRPr sz="1000" b="1">
                          <a:solidFill>
                            <a:srgbClr val="FFFFFF"/>
                          </a:solidFill>
                          <a:latin typeface="Montserrat"/>
                        </a:defRPr>
                      </a:pPr>
                      <a:r>
                        <a:rPr dirty="0"/>
                        <a:t>2025</a:t>
                      </a:r>
                    </a:p>
                  </a:txBody>
                  <a:tcPr anchor="ctr">
                    <a:solidFill>
                      <a:srgbClr val="006455"/>
                    </a:solidFill>
                  </a:tcPr>
                </a:tc>
                <a:tc>
                  <a:txBody>
                    <a:bodyPr/>
                    <a:lstStyle/>
                    <a:p>
                      <a:pPr algn="ctr">
                        <a:defRPr sz="1000" b="1">
                          <a:solidFill>
                            <a:srgbClr val="FFFFFF"/>
                          </a:solidFill>
                          <a:latin typeface="Montserrat"/>
                        </a:defRPr>
                      </a:pPr>
                      <a:r>
                        <a:rPr dirty="0" err="1"/>
                        <a:t>Incremento</a:t>
                      </a:r>
                      <a:r>
                        <a:rPr dirty="0"/>
                        <a:t> 2024 vs 2025</a:t>
                      </a:r>
                    </a:p>
                  </a:txBody>
                  <a:tcPr anchor="ctr">
                    <a:solidFill>
                      <a:srgbClr val="006455"/>
                    </a:solidFill>
                  </a:tcPr>
                </a:tc>
                <a:tc>
                  <a:txBody>
                    <a:bodyPr/>
                    <a:lstStyle/>
                    <a:p>
                      <a:pPr algn="ctr">
                        <a:defRPr sz="1000" b="1">
                          <a:solidFill>
                            <a:srgbClr val="FFFFFF"/>
                          </a:solidFill>
                          <a:latin typeface="Montserrat"/>
                        </a:defRPr>
                      </a:pPr>
                      <a:r>
                        <a:t>Avance 2026</a:t>
                      </a:r>
                    </a:p>
                  </a:txBody>
                  <a:tcPr anchor="ctr">
                    <a:solidFill>
                      <a:srgbClr val="9F2241"/>
                    </a:solidFill>
                  </a:tcPr>
                </a:tc>
                <a:tc>
                  <a:txBody>
                    <a:bodyPr/>
                    <a:lstStyle/>
                    <a:p>
                      <a:pPr algn="ctr">
                        <a:defRPr sz="1000" b="1">
                          <a:solidFill>
                            <a:srgbClr val="FFFFFF"/>
                          </a:solidFill>
                          <a:latin typeface="Montserrat"/>
                        </a:defRPr>
                      </a:pPr>
                      <a:r>
                        <a:rPr dirty="0"/>
                        <a:t>Meta 2026</a:t>
                      </a:r>
                    </a:p>
                  </a:txBody>
                  <a:tcPr anchor="ctr">
                    <a:solidFill>
                      <a:srgbClr val="9F2241"/>
                    </a:solidFill>
                  </a:tcPr>
                </a:tc>
                <a:tc>
                  <a:txBody>
                    <a:bodyPr/>
                    <a:lstStyle/>
                    <a:p>
                      <a:pPr algn="ctr">
                        <a:defRPr sz="1000" b="1">
                          <a:solidFill>
                            <a:srgbClr val="FFFFFF"/>
                          </a:solidFill>
                          <a:latin typeface="Montserrat"/>
                        </a:defRPr>
                      </a:pPr>
                      <a:r>
                        <a:t>% avance anual</a:t>
                      </a:r>
                    </a:p>
                  </a:txBody>
                  <a:tcPr anchor="ctr">
                    <a:solidFill>
                      <a:srgbClr val="9F2241"/>
                    </a:solidFill>
                  </a:tcPr>
                </a:tc>
                <a:extLst>
                  <a:ext uri="{0D108BD9-81ED-4DB2-BD59-A6C34878D82A}">
                    <a16:rowId xmlns:a16="http://schemas.microsoft.com/office/drawing/2014/main" val="10000"/>
                  </a:ext>
                </a:extLst>
              </a:tr>
              <a:tr h="298803">
                <a:tc>
                  <a:txBody>
                    <a:bodyPr/>
                    <a:lstStyle/>
                    <a:p>
                      <a:pPr algn="l">
                        <a:defRPr sz="1000">
                          <a:solidFill>
                            <a:srgbClr val="000000"/>
                          </a:solidFill>
                          <a:latin typeface="Montserrat"/>
                        </a:defRPr>
                      </a:pPr>
                      <a:r>
                        <a:t>UMF 21 Víctor Rosales</a:t>
                      </a:r>
                    </a:p>
                  </a:txBody>
                  <a:tcPr marL="0" marR="0" marT="0" marB="0" anchor="ctr">
                    <a:solidFill>
                      <a:srgbClr val="FFFFFF"/>
                    </a:solidFill>
                  </a:tcPr>
                </a:tc>
                <a:tc>
                  <a:txBody>
                    <a:bodyPr/>
                    <a:lstStyle/>
                    <a:p>
                      <a:pPr algn="ctr">
                        <a:defRPr sz="1000">
                          <a:solidFill>
                            <a:srgbClr val="000000"/>
                          </a:solidFill>
                          <a:latin typeface="Montserrat"/>
                        </a:defRPr>
                      </a:pPr>
                      <a:r>
                        <a:t>49,683</a:t>
                      </a:r>
                    </a:p>
                  </a:txBody>
                  <a:tcPr marL="0" marR="0" marT="0" marB="0" anchor="ctr">
                    <a:solidFill>
                      <a:srgbClr val="FFFFFF"/>
                    </a:solidFill>
                  </a:tcPr>
                </a:tc>
                <a:tc>
                  <a:txBody>
                    <a:bodyPr/>
                    <a:lstStyle/>
                    <a:p>
                      <a:pPr algn="ctr">
                        <a:defRPr sz="1000">
                          <a:solidFill>
                            <a:srgbClr val="000000"/>
                          </a:solidFill>
                          <a:latin typeface="Montserrat"/>
                        </a:defRPr>
                      </a:pPr>
                      <a:r>
                        <a:t>12,620</a:t>
                      </a:r>
                    </a:p>
                  </a:txBody>
                  <a:tcPr marL="0" marR="0" marT="0" marB="0" anchor="ctr">
                    <a:solidFill>
                      <a:srgbClr val="FFFFFF"/>
                    </a:solidFill>
                  </a:tcPr>
                </a:tc>
                <a:tc>
                  <a:txBody>
                    <a:bodyPr/>
                    <a:lstStyle/>
                    <a:p>
                      <a:pPr algn="ctr">
                        <a:defRPr sz="1000">
                          <a:solidFill>
                            <a:srgbClr val="000000"/>
                          </a:solidFill>
                          <a:latin typeface="Montserrat"/>
                        </a:defRPr>
                      </a:pPr>
                      <a:r>
                        <a:t>24,680</a:t>
                      </a:r>
                    </a:p>
                  </a:txBody>
                  <a:tcPr marL="0" marR="0" marT="0" marB="0" anchor="ctr">
                    <a:solidFill>
                      <a:srgbClr val="ECD3D9"/>
                    </a:solidFill>
                  </a:tcPr>
                </a:tc>
                <a:tc>
                  <a:txBody>
                    <a:bodyPr/>
                    <a:lstStyle/>
                    <a:p>
                      <a:pPr algn="ctr">
                        <a:defRPr sz="1000">
                          <a:solidFill>
                            <a:srgbClr val="000000"/>
                          </a:solidFill>
                          <a:latin typeface="Montserrat"/>
                        </a:defRPr>
                      </a:pPr>
                      <a:r>
                        <a:t>49,000</a:t>
                      </a:r>
                    </a:p>
                  </a:txBody>
                  <a:tcPr marL="0" marR="0" marT="0" marB="0" anchor="ctr">
                    <a:solidFill>
                      <a:srgbClr val="ECD3D9"/>
                    </a:solidFill>
                  </a:tcPr>
                </a:tc>
                <a:tc>
                  <a:txBody>
                    <a:bodyPr/>
                    <a:lstStyle/>
                    <a:p>
                      <a:pPr algn="ctr">
                        <a:defRPr sz="1000">
                          <a:solidFill>
                            <a:srgbClr val="000000"/>
                          </a:solidFill>
                          <a:latin typeface="Montserrat"/>
                        </a:defRPr>
                      </a:pPr>
                      <a:r>
                        <a:rPr dirty="0"/>
                        <a:t>50.4%</a:t>
                      </a:r>
                    </a:p>
                  </a:txBody>
                  <a:tcPr marL="0" marR="0" marT="0" marB="0" anchor="ctr">
                    <a:solidFill>
                      <a:srgbClr val="ECD3D9"/>
                    </a:solidFill>
                  </a:tcPr>
                </a:tc>
                <a:extLst>
                  <a:ext uri="{0D108BD9-81ED-4DB2-BD59-A6C34878D82A}">
                    <a16:rowId xmlns:a16="http://schemas.microsoft.com/office/drawing/2014/main" val="10001"/>
                  </a:ext>
                </a:extLst>
              </a:tr>
              <a:tr h="298803">
                <a:tc>
                  <a:txBody>
                    <a:bodyPr/>
                    <a:lstStyle/>
                    <a:p>
                      <a:pPr algn="l">
                        <a:defRPr sz="1000">
                          <a:solidFill>
                            <a:srgbClr val="000000"/>
                          </a:solidFill>
                          <a:latin typeface="Montserrat"/>
                        </a:defRPr>
                      </a:pPr>
                      <a:r>
                        <a:t>UMF 4 Guadalupe</a:t>
                      </a:r>
                    </a:p>
                  </a:txBody>
                  <a:tcPr marL="0" marR="0" marT="0" marB="0" anchor="ctr">
                    <a:solidFill>
                      <a:srgbClr val="EFEFEF"/>
                    </a:solidFill>
                  </a:tcPr>
                </a:tc>
                <a:tc>
                  <a:txBody>
                    <a:bodyPr/>
                    <a:lstStyle/>
                    <a:p>
                      <a:pPr algn="ctr">
                        <a:defRPr sz="1000">
                          <a:solidFill>
                            <a:srgbClr val="000000"/>
                          </a:solidFill>
                          <a:latin typeface="Montserrat"/>
                        </a:defRPr>
                      </a:pPr>
                      <a:r>
                        <a:t>164,846</a:t>
                      </a:r>
                    </a:p>
                  </a:txBody>
                  <a:tcPr marL="0" marR="0" marT="0" marB="0" anchor="ctr">
                    <a:solidFill>
                      <a:srgbClr val="EFEFEF"/>
                    </a:solidFill>
                  </a:tcPr>
                </a:tc>
                <a:tc>
                  <a:txBody>
                    <a:bodyPr/>
                    <a:lstStyle/>
                    <a:p>
                      <a:pPr algn="ctr">
                        <a:defRPr sz="1000">
                          <a:solidFill>
                            <a:srgbClr val="000000"/>
                          </a:solidFill>
                          <a:latin typeface="Montserrat"/>
                        </a:defRPr>
                      </a:pPr>
                      <a:r>
                        <a:t>1,635</a:t>
                      </a:r>
                    </a:p>
                  </a:txBody>
                  <a:tcPr marL="0" marR="0" marT="0" marB="0" anchor="ctr">
                    <a:solidFill>
                      <a:srgbClr val="EFEFEF"/>
                    </a:solidFill>
                  </a:tcPr>
                </a:tc>
                <a:tc>
                  <a:txBody>
                    <a:bodyPr/>
                    <a:lstStyle/>
                    <a:p>
                      <a:pPr algn="ctr">
                        <a:defRPr sz="1000">
                          <a:solidFill>
                            <a:srgbClr val="000000"/>
                          </a:solidFill>
                          <a:latin typeface="Montserrat"/>
                        </a:defRPr>
                      </a:pPr>
                      <a:r>
                        <a:t>75,069</a:t>
                      </a:r>
                    </a:p>
                  </a:txBody>
                  <a:tcPr marL="0" marR="0" marT="0" marB="0" anchor="ctr">
                    <a:solidFill>
                      <a:srgbClr val="ECD3D9"/>
                    </a:solidFill>
                  </a:tcPr>
                </a:tc>
                <a:tc>
                  <a:txBody>
                    <a:bodyPr/>
                    <a:lstStyle/>
                    <a:p>
                      <a:pPr algn="ctr">
                        <a:defRPr sz="1000">
                          <a:solidFill>
                            <a:srgbClr val="000000"/>
                          </a:solidFill>
                          <a:latin typeface="Montserrat"/>
                        </a:defRPr>
                      </a:pPr>
                      <a:r>
                        <a:t>160,000</a:t>
                      </a:r>
                    </a:p>
                  </a:txBody>
                  <a:tcPr marL="0" marR="0" marT="0" marB="0" anchor="ctr">
                    <a:solidFill>
                      <a:srgbClr val="ECD3D9"/>
                    </a:solidFill>
                  </a:tcPr>
                </a:tc>
                <a:tc>
                  <a:txBody>
                    <a:bodyPr/>
                    <a:lstStyle/>
                    <a:p>
                      <a:pPr algn="ctr">
                        <a:defRPr sz="1000">
                          <a:solidFill>
                            <a:srgbClr val="000000"/>
                          </a:solidFill>
                          <a:latin typeface="Montserrat"/>
                        </a:defRPr>
                      </a:pPr>
                      <a:r>
                        <a:rPr dirty="0"/>
                        <a:t>46.9%</a:t>
                      </a:r>
                    </a:p>
                  </a:txBody>
                  <a:tcPr marL="0" marR="0" marT="0" marB="0" anchor="ctr">
                    <a:solidFill>
                      <a:srgbClr val="ECD3D9"/>
                    </a:solidFill>
                  </a:tcPr>
                </a:tc>
                <a:extLst>
                  <a:ext uri="{0D108BD9-81ED-4DB2-BD59-A6C34878D82A}">
                    <a16:rowId xmlns:a16="http://schemas.microsoft.com/office/drawing/2014/main" val="10002"/>
                  </a:ext>
                </a:extLst>
              </a:tr>
              <a:tr h="298803">
                <a:tc>
                  <a:txBody>
                    <a:bodyPr/>
                    <a:lstStyle/>
                    <a:p>
                      <a:pPr algn="l">
                        <a:defRPr sz="1000">
                          <a:solidFill>
                            <a:srgbClr val="000000"/>
                          </a:solidFill>
                          <a:latin typeface="Montserrat"/>
                        </a:defRPr>
                      </a:pPr>
                      <a:r>
                        <a:t>UMF 55 Fresnillo</a:t>
                      </a:r>
                    </a:p>
                  </a:txBody>
                  <a:tcPr marL="0" marR="0" marT="0" marB="0" anchor="ctr">
                    <a:solidFill>
                      <a:srgbClr val="FFFFFF"/>
                    </a:solidFill>
                  </a:tcPr>
                </a:tc>
                <a:tc>
                  <a:txBody>
                    <a:bodyPr/>
                    <a:lstStyle/>
                    <a:p>
                      <a:pPr algn="ctr">
                        <a:defRPr sz="1000">
                          <a:solidFill>
                            <a:srgbClr val="000000"/>
                          </a:solidFill>
                          <a:latin typeface="Montserrat"/>
                        </a:defRPr>
                      </a:pPr>
                      <a:r>
                        <a:t>238,414</a:t>
                      </a:r>
                    </a:p>
                  </a:txBody>
                  <a:tcPr marL="0" marR="0" marT="0" marB="0" anchor="ctr">
                    <a:solidFill>
                      <a:srgbClr val="FFFFFF"/>
                    </a:solidFill>
                  </a:tcPr>
                </a:tc>
                <a:tc>
                  <a:txBody>
                    <a:bodyPr/>
                    <a:lstStyle/>
                    <a:p>
                      <a:pPr algn="ctr">
                        <a:defRPr sz="1000">
                          <a:solidFill>
                            <a:srgbClr val="000000"/>
                          </a:solidFill>
                          <a:latin typeface="Montserrat"/>
                        </a:defRPr>
                      </a:pPr>
                      <a:r>
                        <a:t>19,797</a:t>
                      </a:r>
                    </a:p>
                  </a:txBody>
                  <a:tcPr marL="0" marR="0" marT="0" marB="0" anchor="ctr">
                    <a:solidFill>
                      <a:srgbClr val="FFFFFF"/>
                    </a:solidFill>
                  </a:tcPr>
                </a:tc>
                <a:tc>
                  <a:txBody>
                    <a:bodyPr/>
                    <a:lstStyle/>
                    <a:p>
                      <a:pPr algn="ctr">
                        <a:defRPr sz="1000">
                          <a:solidFill>
                            <a:srgbClr val="000000"/>
                          </a:solidFill>
                          <a:latin typeface="Montserrat"/>
                        </a:defRPr>
                      </a:pPr>
                      <a:r>
                        <a:t>107,420</a:t>
                      </a:r>
                    </a:p>
                  </a:txBody>
                  <a:tcPr marL="0" marR="0" marT="0" marB="0" anchor="ctr">
                    <a:solidFill>
                      <a:srgbClr val="ECD3D9"/>
                    </a:solidFill>
                  </a:tcPr>
                </a:tc>
                <a:tc>
                  <a:txBody>
                    <a:bodyPr/>
                    <a:lstStyle/>
                    <a:p>
                      <a:pPr algn="ctr">
                        <a:defRPr sz="1000">
                          <a:solidFill>
                            <a:srgbClr val="000000"/>
                          </a:solidFill>
                          <a:latin typeface="Montserrat"/>
                        </a:defRPr>
                      </a:pPr>
                      <a:r>
                        <a:t>247,968</a:t>
                      </a:r>
                    </a:p>
                  </a:txBody>
                  <a:tcPr marL="0" marR="0" marT="0" marB="0" anchor="ctr">
                    <a:solidFill>
                      <a:srgbClr val="ECD3D9"/>
                    </a:solidFill>
                  </a:tcPr>
                </a:tc>
                <a:tc>
                  <a:txBody>
                    <a:bodyPr/>
                    <a:lstStyle/>
                    <a:p>
                      <a:pPr algn="ctr">
                        <a:defRPr sz="1000">
                          <a:solidFill>
                            <a:srgbClr val="000000"/>
                          </a:solidFill>
                          <a:latin typeface="Montserrat"/>
                        </a:defRPr>
                      </a:pPr>
                      <a:r>
                        <a:rPr dirty="0"/>
                        <a:t>43.3%</a:t>
                      </a:r>
                    </a:p>
                  </a:txBody>
                  <a:tcPr marL="0" marR="0" marT="0" marB="0" anchor="ctr">
                    <a:solidFill>
                      <a:srgbClr val="ECD3D9"/>
                    </a:solidFill>
                  </a:tcPr>
                </a:tc>
                <a:extLst>
                  <a:ext uri="{0D108BD9-81ED-4DB2-BD59-A6C34878D82A}">
                    <a16:rowId xmlns:a16="http://schemas.microsoft.com/office/drawing/2014/main" val="10003"/>
                  </a:ext>
                </a:extLst>
              </a:tr>
              <a:tr h="298803">
                <a:tc>
                  <a:txBody>
                    <a:bodyPr/>
                    <a:lstStyle/>
                    <a:p>
                      <a:pPr algn="l">
                        <a:defRPr sz="1000" b="1">
                          <a:solidFill>
                            <a:srgbClr val="006556"/>
                          </a:solidFill>
                          <a:latin typeface="Montserrat"/>
                        </a:defRPr>
                      </a:pPr>
                      <a:r>
                        <a:t>Total</a:t>
                      </a:r>
                    </a:p>
                  </a:txBody>
                  <a:tcPr marL="0" marR="0" marT="0" marB="0" anchor="ctr">
                    <a:solidFill>
                      <a:srgbClr val="D3E9E7"/>
                    </a:solidFill>
                  </a:tcPr>
                </a:tc>
                <a:tc>
                  <a:txBody>
                    <a:bodyPr/>
                    <a:lstStyle/>
                    <a:p>
                      <a:pPr algn="ctr">
                        <a:defRPr sz="1000" b="1">
                          <a:solidFill>
                            <a:srgbClr val="006556"/>
                          </a:solidFill>
                          <a:latin typeface="Montserrat"/>
                        </a:defRPr>
                      </a:pPr>
                      <a:r>
                        <a:t>452,943</a:t>
                      </a:r>
                    </a:p>
                  </a:txBody>
                  <a:tcPr marL="0" marR="0" marT="0" marB="0" anchor="ctr">
                    <a:solidFill>
                      <a:srgbClr val="D3E9E7"/>
                    </a:solidFill>
                  </a:tcPr>
                </a:tc>
                <a:tc>
                  <a:txBody>
                    <a:bodyPr/>
                    <a:lstStyle/>
                    <a:p>
                      <a:pPr algn="ctr">
                        <a:defRPr sz="1000" b="1">
                          <a:solidFill>
                            <a:srgbClr val="006556"/>
                          </a:solidFill>
                          <a:latin typeface="Montserrat"/>
                        </a:defRPr>
                      </a:pPr>
                      <a:r>
                        <a:t>34,052</a:t>
                      </a:r>
                    </a:p>
                  </a:txBody>
                  <a:tcPr marL="0" marR="0" marT="0" marB="0" anchor="ctr">
                    <a:solidFill>
                      <a:srgbClr val="D3E9E7"/>
                    </a:solidFill>
                  </a:tcPr>
                </a:tc>
                <a:tc>
                  <a:txBody>
                    <a:bodyPr/>
                    <a:lstStyle/>
                    <a:p>
                      <a:pPr algn="ctr">
                        <a:defRPr sz="1000" b="1">
                          <a:solidFill>
                            <a:srgbClr val="FFFFFF"/>
                          </a:solidFill>
                          <a:latin typeface="Montserrat"/>
                        </a:defRPr>
                      </a:pPr>
                      <a:r>
                        <a:t>207,169</a:t>
                      </a:r>
                    </a:p>
                  </a:txBody>
                  <a:tcPr marL="0" marR="0" marT="0" marB="0" anchor="ctr">
                    <a:solidFill>
                      <a:srgbClr val="9F2241"/>
                    </a:solidFill>
                  </a:tcPr>
                </a:tc>
                <a:tc>
                  <a:txBody>
                    <a:bodyPr/>
                    <a:lstStyle/>
                    <a:p>
                      <a:pPr algn="ctr">
                        <a:defRPr sz="1000" b="1">
                          <a:solidFill>
                            <a:srgbClr val="FFFFFF"/>
                          </a:solidFill>
                          <a:latin typeface="Montserrat"/>
                        </a:defRPr>
                      </a:pPr>
                      <a:r>
                        <a:t>456,968</a:t>
                      </a:r>
                    </a:p>
                  </a:txBody>
                  <a:tcPr marL="0" marR="0" marT="0" marB="0" anchor="ctr">
                    <a:solidFill>
                      <a:srgbClr val="9F2241"/>
                    </a:solidFill>
                  </a:tcPr>
                </a:tc>
                <a:tc>
                  <a:txBody>
                    <a:bodyPr/>
                    <a:lstStyle/>
                    <a:p>
                      <a:pPr algn="ctr">
                        <a:defRPr sz="1000" b="1">
                          <a:solidFill>
                            <a:srgbClr val="FFFFFF"/>
                          </a:solidFill>
                          <a:latin typeface="Montserrat"/>
                        </a:defRPr>
                      </a:pPr>
                      <a:r>
                        <a:rPr dirty="0"/>
                        <a:t>45.3%</a:t>
                      </a:r>
                    </a:p>
                  </a:txBody>
                  <a:tcPr marL="0" marR="0" marT="0" marB="0" anchor="ctr">
                    <a:solidFill>
                      <a:srgbClr val="9F2241"/>
                    </a:solidFill>
                  </a:tcPr>
                </a:tc>
                <a:extLst>
                  <a:ext uri="{0D108BD9-81ED-4DB2-BD59-A6C34878D82A}">
                    <a16:rowId xmlns:a16="http://schemas.microsoft.com/office/drawing/2014/main" val="10004"/>
                  </a:ext>
                </a:extLst>
              </a:tr>
            </a:tbl>
          </a:graphicData>
        </a:graphic>
      </p:graphicFrame>
      <p:graphicFrame>
        <p:nvGraphicFramePr>
          <p:cNvPr id="26" name="Chart 25"/>
          <p:cNvGraphicFramePr>
            <a:graphicFrameLocks noGrp="1"/>
          </p:cNvGraphicFramePr>
          <p:nvPr>
            <p:extLst>
              <p:ext uri="{D42A27DB-BD31-4B8C-83A1-F6EECF244321}">
                <p14:modId xmlns:p14="http://schemas.microsoft.com/office/powerpoint/2010/main" val="1652526075"/>
              </p:ext>
            </p:extLst>
          </p:nvPr>
        </p:nvGraphicFramePr>
        <p:xfrm>
          <a:off x="420343" y="5542519"/>
          <a:ext cx="1555200" cy="1533600"/>
        </p:xfrm>
        <a:graphic>
          <a:graphicData uri="http://schemas.openxmlformats.org/drawingml/2006/chart">
            <c:chart xmlns:c="http://schemas.openxmlformats.org/drawingml/2006/chart" xmlns:r="http://schemas.openxmlformats.org/officeDocument/2006/relationships" r:id="rId4"/>
          </a:graphicData>
        </a:graphic>
      </p:graphicFrame>
      <p:sp>
        <p:nvSpPr>
          <p:cNvPr id="27" name="TextBox 26"/>
          <p:cNvSpPr txBox="1"/>
          <p:nvPr/>
        </p:nvSpPr>
        <p:spPr>
          <a:xfrm>
            <a:off x="420343" y="6224569"/>
            <a:ext cx="1555200" cy="360000"/>
          </a:xfrm>
          <a:prstGeom prst="rect">
            <a:avLst/>
          </a:prstGeom>
          <a:noFill/>
        </p:spPr>
        <p:txBody>
          <a:bodyPr wrap="none">
            <a:spAutoFit/>
          </a:bodyPr>
          <a:lstStyle/>
          <a:p>
            <a:pPr algn="ctr"/>
            <a:r>
              <a:rPr sz="2200" b="1" dirty="0">
                <a:solidFill>
                  <a:srgbClr val="9F2241"/>
                </a:solidFill>
                <a:latin typeface="Montserrat"/>
              </a:rPr>
              <a:t>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3137969462"/>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9514344"/>
            <a:ext cx="7473600" cy="492443"/>
          </a:xfrm>
          <a:prstGeom prst="rect">
            <a:avLst/>
          </a:prstGeom>
          <a:noFill/>
        </p:spPr>
        <p:txBody>
          <a:bodyPr wrap="square" lIns="0" tIns="0" rIns="0" bIns="0">
            <a:spAutoFit/>
          </a:bodyPr>
          <a:lstStyle/>
          <a:p>
            <a:pPr algn="l">
              <a:defRPr sz="800">
                <a:solidFill>
                  <a:srgbClr val="FFFFFF"/>
                </a:solidFill>
                <a:latin typeface="Montserrat"/>
              </a:defRPr>
            </a:pPr>
            <a:r>
              <a:rPr dirty="0"/>
              <a:t>No </a:t>
            </a:r>
            <a:r>
              <a:rPr dirty="0" err="1"/>
              <a:t>incluye</a:t>
            </a:r>
            <a:r>
              <a:rPr dirty="0"/>
              <a:t> la </a:t>
            </a:r>
            <a:r>
              <a:rPr dirty="0" err="1"/>
              <a:t>productividad</a:t>
            </a:r>
            <a:r>
              <a:rPr dirty="0"/>
              <a:t> de </a:t>
            </a:r>
            <a:r>
              <a:rPr dirty="0" err="1"/>
              <a:t>especialidad</a:t>
            </a:r>
            <a:r>
              <a:rPr dirty="0"/>
              <a:t> </a:t>
            </a:r>
            <a:r>
              <a:rPr dirty="0" err="1"/>
              <a:t>generada</a:t>
            </a:r>
            <a:r>
              <a:rPr dirty="0"/>
              <a:t> </a:t>
            </a:r>
            <a:r>
              <a:rPr dirty="0" err="1"/>
              <a:t>en</a:t>
            </a:r>
            <a:r>
              <a:rPr dirty="0"/>
              <a:t> UMF </a:t>
            </a:r>
            <a:r>
              <a:rPr dirty="0" err="1"/>
              <a:t>ni</a:t>
            </a:r>
            <a:r>
              <a:rPr dirty="0"/>
              <a:t> </a:t>
            </a:r>
            <a:r>
              <a:rPr dirty="0" err="1"/>
              <a:t>en</a:t>
            </a:r>
            <a:r>
              <a:rPr dirty="0"/>
              <a:t> HR. En el </a:t>
            </a:r>
            <a:r>
              <a:rPr dirty="0" err="1"/>
              <a:t>año</a:t>
            </a:r>
            <a:r>
              <a:rPr dirty="0"/>
              <a:t> 2025 no </a:t>
            </a:r>
            <a:r>
              <a:rPr dirty="0" err="1"/>
              <a:t>incluye</a:t>
            </a:r>
            <a:r>
              <a:rPr dirty="0"/>
              <a:t> </a:t>
            </a:r>
            <a:r>
              <a:rPr dirty="0" err="1"/>
              <a:t>información</a:t>
            </a:r>
            <a:r>
              <a:rPr dirty="0"/>
              <a:t> de HR y UMR.</a:t>
            </a:r>
            <a:br>
              <a:rPr dirty="0"/>
            </a:br>
            <a:r>
              <a:rPr dirty="0"/>
              <a:t>El </a:t>
            </a:r>
            <a:r>
              <a:rPr dirty="0" err="1"/>
              <a:t>año</a:t>
            </a:r>
            <a:r>
              <a:rPr dirty="0"/>
              <a:t> de </a:t>
            </a:r>
            <a:r>
              <a:rPr dirty="0" err="1"/>
              <a:t>proceso</a:t>
            </a:r>
            <a:r>
              <a:rPr dirty="0"/>
              <a:t> </a:t>
            </a:r>
            <a:r>
              <a:rPr dirty="0" err="1"/>
              <a:t>inicia</a:t>
            </a:r>
            <a:r>
              <a:rPr dirty="0"/>
              <a:t> del 26 de </a:t>
            </a:r>
            <a:r>
              <a:rPr dirty="0" err="1"/>
              <a:t>diciembre</a:t>
            </a:r>
            <a:r>
              <a:rPr dirty="0"/>
              <a:t> del </a:t>
            </a:r>
            <a:r>
              <a:rPr dirty="0" err="1"/>
              <a:t>año</a:t>
            </a:r>
            <a:r>
              <a:rPr dirty="0"/>
              <a:t> anterior al 25 de </a:t>
            </a:r>
            <a:r>
              <a:rPr dirty="0" err="1"/>
              <a:t>diciembre</a:t>
            </a:r>
            <a:r>
              <a:rPr dirty="0"/>
              <a:t> del </a:t>
            </a:r>
            <a:r>
              <a:rPr dirty="0" err="1"/>
              <a:t>año</a:t>
            </a:r>
            <a:r>
              <a:rPr dirty="0"/>
              <a:t> </a:t>
            </a:r>
            <a:r>
              <a:rPr dirty="0" err="1"/>
              <a:t>en</a:t>
            </a:r>
            <a:r>
              <a:rPr dirty="0"/>
              <a:t> curso:2025 (del 26 de </a:t>
            </a:r>
            <a:r>
              <a:rPr dirty="0" err="1"/>
              <a:t>dic</a:t>
            </a:r>
            <a:r>
              <a:rPr dirty="0"/>
              <a:t> de 2024 al 25 de </a:t>
            </a:r>
            <a:r>
              <a:rPr dirty="0" err="1"/>
              <a:t>dic</a:t>
            </a:r>
            <a:r>
              <a:rPr dirty="0"/>
              <a:t> de 2025</a:t>
            </a:r>
            <a:r>
              <a:rPr lang="es-MX" dirty="0"/>
              <a:t>.</a:t>
            </a:r>
          </a:p>
          <a:p>
            <a:pPr>
              <a:defRPr sz="800">
                <a:solidFill>
                  <a:srgbClr val="FFFFFF"/>
                </a:solidFill>
                <a:latin typeface="Montserrat"/>
              </a:defRPr>
            </a:pPr>
            <a:r>
              <a:rPr lang="es-MX" dirty="0">
                <a:solidFill>
                  <a:schemeClr val="bg1"/>
                </a:solidFill>
              </a:rPr>
              <a:t>No incluye las cirugías realizadas en HR. Sólo se consideran cirugías principales.</a:t>
            </a:r>
          </a:p>
          <a:p>
            <a:pPr algn="l">
              <a:defRPr sz="800">
                <a:solidFill>
                  <a:srgbClr val="FFFFFF"/>
                </a:solidFill>
                <a:latin typeface="Montserrat"/>
              </a:defRPr>
            </a:pPr>
            <a:r>
              <a:rPr dirty="0"/>
              <a:t>Corte de </a:t>
            </a:r>
            <a:r>
              <a:rPr dirty="0" err="1"/>
              <a:t>información</a:t>
            </a:r>
            <a:r>
              <a:rPr dirty="0"/>
              <a:t>: Semana: 24, 7 </a:t>
            </a:r>
            <a:r>
              <a:rPr dirty="0" err="1"/>
              <a:t>junio</a:t>
            </a:r>
            <a:r>
              <a:rPr dirty="0"/>
              <a:t> 2026</a:t>
            </a:r>
          </a:p>
        </p:txBody>
      </p:sp>
      <p:graphicFrame>
        <p:nvGraphicFramePr>
          <p:cNvPr id="236" name="Table 235"/>
          <p:cNvGraphicFramePr>
            <a:graphicFrameLocks noGrp="1"/>
          </p:cNvGraphicFramePr>
          <p:nvPr>
            <p:extLst>
              <p:ext uri="{D42A27DB-BD31-4B8C-83A1-F6EECF244321}">
                <p14:modId xmlns:p14="http://schemas.microsoft.com/office/powerpoint/2010/main" val="1055137811"/>
              </p:ext>
            </p:extLst>
          </p:nvPr>
        </p:nvGraphicFramePr>
        <p:xfrm>
          <a:off x="144000" y="1494000"/>
          <a:ext cx="7340399" cy="121896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rPr dirty="0"/>
                        <a:t>Unidad</a:t>
                      </a:r>
                    </a:p>
                  </a:txBody>
                  <a:tcPr anchor="ctr">
                    <a:solidFill>
                      <a:srgbClr val="006455"/>
                    </a:solidFill>
                  </a:tcPr>
                </a:tc>
                <a:tc>
                  <a:txBody>
                    <a:bodyPr/>
                    <a:lstStyle/>
                    <a:p>
                      <a:pPr algn="ctr">
                        <a:defRPr sz="900" b="1">
                          <a:solidFill>
                            <a:srgbClr val="FFFFFF"/>
                          </a:solidFill>
                          <a:latin typeface="Montserrat"/>
                        </a:defRPr>
                      </a:pPr>
                      <a:r>
                        <a:t>2025</a:t>
                      </a:r>
                    </a:p>
                  </a:txBody>
                  <a:tcPr anchor="ctr">
                    <a:solidFill>
                      <a:srgbClr val="006455"/>
                    </a:solidFill>
                  </a:tcPr>
                </a:tc>
                <a:tc>
                  <a:txBody>
                    <a:bodyPr/>
                    <a:lstStyle/>
                    <a:p>
                      <a:pPr algn="ctr">
                        <a:defRPr sz="900" b="1">
                          <a:solidFill>
                            <a:srgbClr val="FFFFFF"/>
                          </a:solidFill>
                          <a:latin typeface="Montserrat"/>
                        </a:defRPr>
                      </a:pPr>
                      <a:r>
                        <a:t>Incremento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HGZ 1 Zacatecas</a:t>
                      </a:r>
                    </a:p>
                  </a:txBody>
                  <a:tcPr anchor="ctr">
                    <a:solidFill>
                      <a:srgbClr val="FFFFFF"/>
                    </a:solidFill>
                  </a:tcPr>
                </a:tc>
                <a:tc>
                  <a:txBody>
                    <a:bodyPr/>
                    <a:lstStyle/>
                    <a:p>
                      <a:pPr algn="ctr">
                        <a:defRPr sz="1000">
                          <a:latin typeface="Montserrat"/>
                        </a:defRPr>
                      </a:pPr>
                      <a:r>
                        <a:t>181,048</a:t>
                      </a:r>
                    </a:p>
                  </a:txBody>
                  <a:tcPr anchor="ctr">
                    <a:solidFill>
                      <a:srgbClr val="FFFFFF"/>
                    </a:solidFill>
                  </a:tcPr>
                </a:tc>
                <a:tc>
                  <a:txBody>
                    <a:bodyPr/>
                    <a:lstStyle/>
                    <a:p>
                      <a:pPr algn="ctr">
                        <a:defRPr sz="1000">
                          <a:latin typeface="Montserrat"/>
                        </a:defRPr>
                      </a:pPr>
                      <a:r>
                        <a:rPr dirty="0"/>
                        <a:t>19,319</a:t>
                      </a:r>
                    </a:p>
                  </a:txBody>
                  <a:tcPr anchor="ctr">
                    <a:solidFill>
                      <a:srgbClr val="FFFFFF"/>
                    </a:solidFill>
                  </a:tcPr>
                </a:tc>
                <a:tc>
                  <a:txBody>
                    <a:bodyPr/>
                    <a:lstStyle/>
                    <a:p>
                      <a:pPr algn="ctr">
                        <a:defRPr sz="1000">
                          <a:latin typeface="Montserrat"/>
                        </a:defRPr>
                      </a:pPr>
                      <a:r>
                        <a:rPr dirty="0"/>
                        <a:t>84,860</a:t>
                      </a:r>
                    </a:p>
                  </a:txBody>
                  <a:tcPr anchor="ctr">
                    <a:solidFill>
                      <a:srgbClr val="ECD3D9"/>
                    </a:solidFill>
                  </a:tcPr>
                </a:tc>
                <a:tc>
                  <a:txBody>
                    <a:bodyPr/>
                    <a:lstStyle/>
                    <a:p>
                      <a:pPr algn="ctr">
                        <a:defRPr sz="1000">
                          <a:latin typeface="Montserrat"/>
                        </a:defRPr>
                      </a:pPr>
                      <a:r>
                        <a:t>190,530</a:t>
                      </a:r>
                    </a:p>
                  </a:txBody>
                  <a:tcPr anchor="ctr">
                    <a:solidFill>
                      <a:srgbClr val="ECD3D9"/>
                    </a:solidFill>
                  </a:tcPr>
                </a:tc>
                <a:tc>
                  <a:txBody>
                    <a:bodyPr/>
                    <a:lstStyle/>
                    <a:p>
                      <a:pPr algn="ctr">
                        <a:defRPr sz="1000">
                          <a:latin typeface="Montserrat"/>
                        </a:defRPr>
                      </a:pPr>
                      <a:r>
                        <a:t>44.5%</a:t>
                      </a:r>
                    </a:p>
                  </a:txBody>
                  <a:tcPr anchor="ctr">
                    <a:solidFill>
                      <a:srgbClr val="ECD3D9"/>
                    </a:solidFill>
                  </a:tcPr>
                </a:tc>
                <a:extLst>
                  <a:ext uri="{0D108BD9-81ED-4DB2-BD59-A6C34878D82A}">
                    <a16:rowId xmlns:a16="http://schemas.microsoft.com/office/drawing/2014/main" val="10001"/>
                  </a:ext>
                </a:extLst>
              </a:tr>
              <a:tr h="284400">
                <a:tc>
                  <a:txBody>
                    <a:bodyPr/>
                    <a:lstStyle/>
                    <a:p>
                      <a:pPr algn="l">
                        <a:defRPr sz="1000">
                          <a:latin typeface="Montserrat"/>
                        </a:defRPr>
                      </a:pPr>
                      <a:r>
                        <a:t>HGZ 2 Fresnillo</a:t>
                      </a:r>
                    </a:p>
                  </a:txBody>
                  <a:tcPr anchor="ctr">
                    <a:solidFill>
                      <a:srgbClr val="EFEFEF"/>
                    </a:solidFill>
                  </a:tcPr>
                </a:tc>
                <a:tc>
                  <a:txBody>
                    <a:bodyPr/>
                    <a:lstStyle/>
                    <a:p>
                      <a:pPr algn="ctr">
                        <a:defRPr sz="1000">
                          <a:latin typeface="Montserrat"/>
                        </a:defRPr>
                      </a:pPr>
                      <a:r>
                        <a:t>75,025</a:t>
                      </a:r>
                    </a:p>
                  </a:txBody>
                  <a:tcPr anchor="ctr">
                    <a:solidFill>
                      <a:srgbClr val="EFEFEF"/>
                    </a:solidFill>
                  </a:tcPr>
                </a:tc>
                <a:tc>
                  <a:txBody>
                    <a:bodyPr/>
                    <a:lstStyle/>
                    <a:p>
                      <a:pPr algn="ctr">
                        <a:defRPr sz="1000">
                          <a:latin typeface="Montserrat"/>
                        </a:defRPr>
                      </a:pPr>
                      <a:r>
                        <a:t>12,335</a:t>
                      </a:r>
                    </a:p>
                  </a:txBody>
                  <a:tcPr anchor="ctr">
                    <a:solidFill>
                      <a:srgbClr val="EFEFEF"/>
                    </a:solidFill>
                  </a:tcPr>
                </a:tc>
                <a:tc>
                  <a:txBody>
                    <a:bodyPr/>
                    <a:lstStyle/>
                    <a:p>
                      <a:pPr algn="ctr">
                        <a:defRPr sz="1000">
                          <a:latin typeface="Montserrat"/>
                        </a:defRPr>
                      </a:pPr>
                      <a:r>
                        <a:t>40,806</a:t>
                      </a:r>
                    </a:p>
                  </a:txBody>
                  <a:tcPr anchor="ctr">
                    <a:solidFill>
                      <a:srgbClr val="ECD3D9"/>
                    </a:solidFill>
                  </a:tcPr>
                </a:tc>
                <a:tc>
                  <a:txBody>
                    <a:bodyPr/>
                    <a:lstStyle/>
                    <a:p>
                      <a:pPr algn="ctr">
                        <a:defRPr sz="1000">
                          <a:latin typeface="Montserrat"/>
                        </a:defRPr>
                      </a:pPr>
                      <a:r>
                        <a:rPr dirty="0"/>
                        <a:t>93,075</a:t>
                      </a:r>
                    </a:p>
                  </a:txBody>
                  <a:tcPr anchor="ctr">
                    <a:solidFill>
                      <a:srgbClr val="ECD3D9"/>
                    </a:solidFill>
                  </a:tcPr>
                </a:tc>
                <a:tc>
                  <a:txBody>
                    <a:bodyPr/>
                    <a:lstStyle/>
                    <a:p>
                      <a:pPr algn="ctr">
                        <a:defRPr sz="1000">
                          <a:latin typeface="Montserrat"/>
                        </a:defRPr>
                      </a:pPr>
                      <a:r>
                        <a:rPr dirty="0"/>
                        <a:t>43.8%</a:t>
                      </a:r>
                    </a:p>
                  </a:txBody>
                  <a:tcPr anchor="ctr">
                    <a:solidFill>
                      <a:srgbClr val="ECD3D9"/>
                    </a:solidFill>
                  </a:tcPr>
                </a:tc>
                <a:extLst>
                  <a:ext uri="{0D108BD9-81ED-4DB2-BD59-A6C34878D82A}">
                    <a16:rowId xmlns:a16="http://schemas.microsoft.com/office/drawing/2014/main" val="10002"/>
                  </a:ext>
                </a:extLst>
              </a:tr>
              <a:tr h="284400">
                <a:tc>
                  <a:txBody>
                    <a:bodyPr/>
                    <a:lstStyle/>
                    <a:p>
                      <a:pPr algn="l">
                        <a:defRPr sz="1000" b="1">
                          <a:solidFill>
                            <a:srgbClr val="006556"/>
                          </a:solidFill>
                          <a:latin typeface="Montserrat"/>
                        </a:defRPr>
                      </a:pPr>
                      <a:r>
                        <a:t>Total</a:t>
                      </a:r>
                    </a:p>
                  </a:txBody>
                  <a:tcPr anchor="ctr">
                    <a:solidFill>
                      <a:srgbClr val="D3E9E7"/>
                    </a:solidFill>
                  </a:tcPr>
                </a:tc>
                <a:tc>
                  <a:txBody>
                    <a:bodyPr/>
                    <a:lstStyle/>
                    <a:p>
                      <a:pPr algn="ctr">
                        <a:defRPr sz="1000" b="1">
                          <a:solidFill>
                            <a:srgbClr val="006556"/>
                          </a:solidFill>
                          <a:latin typeface="Montserrat"/>
                        </a:defRPr>
                      </a:pPr>
                      <a:r>
                        <a:t>256,073</a:t>
                      </a:r>
                    </a:p>
                  </a:txBody>
                  <a:tcPr anchor="ctr">
                    <a:solidFill>
                      <a:srgbClr val="D3E9E7"/>
                    </a:solidFill>
                  </a:tcPr>
                </a:tc>
                <a:tc>
                  <a:txBody>
                    <a:bodyPr/>
                    <a:lstStyle/>
                    <a:p>
                      <a:pPr algn="ctr">
                        <a:defRPr sz="1000" b="1">
                          <a:solidFill>
                            <a:srgbClr val="006556"/>
                          </a:solidFill>
                          <a:latin typeface="Montserrat"/>
                        </a:defRPr>
                      </a:pPr>
                      <a:r>
                        <a:t>31,654</a:t>
                      </a:r>
                    </a:p>
                  </a:txBody>
                  <a:tcPr anchor="ctr">
                    <a:solidFill>
                      <a:srgbClr val="D3E9E7"/>
                    </a:solidFill>
                  </a:tcPr>
                </a:tc>
                <a:tc>
                  <a:txBody>
                    <a:bodyPr/>
                    <a:lstStyle/>
                    <a:p>
                      <a:pPr algn="ctr">
                        <a:defRPr sz="1000" b="1">
                          <a:solidFill>
                            <a:srgbClr val="FFFFFF"/>
                          </a:solidFill>
                          <a:latin typeface="Montserrat"/>
                        </a:defRPr>
                      </a:pPr>
                      <a:r>
                        <a:t>125,666</a:t>
                      </a:r>
                    </a:p>
                  </a:txBody>
                  <a:tcPr anchor="ctr">
                    <a:solidFill>
                      <a:srgbClr val="9F2241"/>
                    </a:solidFill>
                  </a:tcPr>
                </a:tc>
                <a:tc>
                  <a:txBody>
                    <a:bodyPr/>
                    <a:lstStyle/>
                    <a:p>
                      <a:pPr algn="ctr">
                        <a:defRPr sz="1000" b="1">
                          <a:solidFill>
                            <a:srgbClr val="FFFFFF"/>
                          </a:solidFill>
                          <a:latin typeface="Montserrat"/>
                        </a:defRPr>
                      </a:pPr>
                      <a:r>
                        <a:t>283,605</a:t>
                      </a:r>
                    </a:p>
                  </a:txBody>
                  <a:tcPr anchor="ctr">
                    <a:solidFill>
                      <a:srgbClr val="9F2241"/>
                    </a:solidFill>
                  </a:tcPr>
                </a:tc>
                <a:tc>
                  <a:txBody>
                    <a:bodyPr/>
                    <a:lstStyle/>
                    <a:p>
                      <a:pPr algn="ctr">
                        <a:defRPr sz="1000" b="1">
                          <a:solidFill>
                            <a:srgbClr val="FFFFFF"/>
                          </a:solidFill>
                          <a:latin typeface="Montserrat"/>
                        </a:defRPr>
                      </a:pPr>
                      <a:r>
                        <a:rPr dirty="0"/>
                        <a:t>44.3%</a:t>
                      </a:r>
                    </a:p>
                  </a:txBody>
                  <a:tcPr anchor="ctr">
                    <a:solidFill>
                      <a:srgbClr val="9F2241"/>
                    </a:solidFill>
                  </a:tcPr>
                </a:tc>
                <a:extLst>
                  <a:ext uri="{0D108BD9-81ED-4DB2-BD59-A6C34878D82A}">
                    <a16:rowId xmlns:a16="http://schemas.microsoft.com/office/drawing/2014/main" val="10003"/>
                  </a:ext>
                </a:extLst>
              </a:tr>
            </a:tbl>
          </a:graphicData>
        </a:graphic>
      </p:graphicFrame>
      <p:graphicFrame>
        <p:nvGraphicFramePr>
          <p:cNvPr id="237" name="Chart 236"/>
          <p:cNvGraphicFramePr>
            <a:graphicFrameLocks noGrp="1"/>
          </p:cNvGraphicFramePr>
          <p:nvPr>
            <p:extLst>
              <p:ext uri="{D42A27DB-BD31-4B8C-83A1-F6EECF244321}">
                <p14:modId xmlns:p14="http://schemas.microsoft.com/office/powerpoint/2010/main" val="1516648710"/>
              </p:ext>
            </p:extLst>
          </p:nvPr>
        </p:nvGraphicFramePr>
        <p:xfrm>
          <a:off x="4105881" y="2887034"/>
          <a:ext cx="1800000" cy="1800000"/>
        </p:xfrm>
        <a:graphic>
          <a:graphicData uri="http://schemas.openxmlformats.org/drawingml/2006/chart">
            <c:chart xmlns:c="http://schemas.openxmlformats.org/drawingml/2006/chart" xmlns:r="http://schemas.openxmlformats.org/officeDocument/2006/relationships" r:id="rId4"/>
          </a:graphicData>
        </a:graphic>
      </p:graphicFrame>
      <p:sp>
        <p:nvSpPr>
          <p:cNvPr id="238" name="TextBox 237"/>
          <p:cNvSpPr txBox="1"/>
          <p:nvPr/>
        </p:nvSpPr>
        <p:spPr>
          <a:xfrm>
            <a:off x="4105881" y="3607034"/>
            <a:ext cx="1800000" cy="360000"/>
          </a:xfrm>
          <a:prstGeom prst="rect">
            <a:avLst/>
          </a:prstGeom>
          <a:noFill/>
        </p:spPr>
        <p:txBody>
          <a:bodyPr wrap="none">
            <a:spAutoFit/>
          </a:bodyPr>
          <a:lstStyle/>
          <a:p>
            <a:pPr algn="ctr"/>
            <a:r>
              <a:rPr sz="2400" b="1">
                <a:solidFill>
                  <a:srgbClr val="9F2241"/>
                </a:solidFill>
                <a:latin typeface="Montserrat"/>
              </a:rPr>
              <a:t>44.3%</a:t>
            </a:r>
          </a:p>
        </p:txBody>
      </p:sp>
      <p:sp>
        <p:nvSpPr>
          <p:cNvPr id="239" name="TextBox 238"/>
          <p:cNvSpPr txBox="1"/>
          <p:nvPr/>
        </p:nvSpPr>
        <p:spPr>
          <a:xfrm>
            <a:off x="4105881" y="4507034"/>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1354539" y="3187994"/>
            <a:ext cx="2854800" cy="1198800"/>
          </a:xfrm>
          <a:prstGeom prst="rect">
            <a:avLst/>
          </a:prstGeom>
          <a:noFill/>
        </p:spPr>
        <p:txBody>
          <a:bodyPr wrap="square">
            <a:spAutoFit/>
          </a:bodyPr>
          <a:lstStyle/>
          <a:p>
            <a:pPr algn="ctr">
              <a:defRPr sz="3600" b="1">
                <a:solidFill>
                  <a:srgbClr val="9F2241"/>
                </a:solidFill>
                <a:latin typeface="Montserrat"/>
              </a:defRPr>
            </a:pPr>
            <a:r>
              <a:t>283,605 </a:t>
            </a:r>
            <a:br/>
            <a:r>
              <a:t>Meta 2026</a:t>
            </a:r>
          </a:p>
        </p:txBody>
      </p:sp>
      <p:graphicFrame>
        <p:nvGraphicFramePr>
          <p:cNvPr id="3" name="Google Shape;230;g370e87ffe7a_2_137">
            <a:extLst>
              <a:ext uri="{FF2B5EF4-FFF2-40B4-BE49-F238E27FC236}">
                <a16:creationId xmlns:a16="http://schemas.microsoft.com/office/drawing/2014/main" id="{E1EE8FFA-ADA3-84E6-C8AB-C38AE650F744}"/>
              </a:ext>
            </a:extLst>
          </p:cNvPr>
          <p:cNvGraphicFramePr/>
          <p:nvPr>
            <p:extLst>
              <p:ext uri="{D42A27DB-BD31-4B8C-83A1-F6EECF244321}">
                <p14:modId xmlns:p14="http://schemas.microsoft.com/office/powerpoint/2010/main" val="1310621212"/>
              </p:ext>
            </p:extLst>
          </p:nvPr>
        </p:nvGraphicFramePr>
        <p:xfrm>
          <a:off x="143502" y="480877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 name="Table 232">
            <a:extLst>
              <a:ext uri="{FF2B5EF4-FFF2-40B4-BE49-F238E27FC236}">
                <a16:creationId xmlns:a16="http://schemas.microsoft.com/office/drawing/2014/main" id="{58E9713F-FEEB-EB9C-BCC7-3DB19FA0B002}"/>
              </a:ext>
            </a:extLst>
          </p:cNvPr>
          <p:cNvGraphicFramePr>
            <a:graphicFrameLocks noGrp="1"/>
          </p:cNvGraphicFramePr>
          <p:nvPr>
            <p:extLst>
              <p:ext uri="{D42A27DB-BD31-4B8C-83A1-F6EECF244321}">
                <p14:modId xmlns:p14="http://schemas.microsoft.com/office/powerpoint/2010/main" val="2727487615"/>
              </p:ext>
            </p:extLst>
          </p:nvPr>
        </p:nvGraphicFramePr>
        <p:xfrm>
          <a:off x="144000" y="5339481"/>
          <a:ext cx="7340399" cy="1218960"/>
        </p:xfrm>
        <a:graphic>
          <a:graphicData uri="http://schemas.openxmlformats.org/drawingml/2006/table">
            <a:tbl>
              <a:tblPr firstRow="1" bandRow="1">
                <a:tableStyleId>{5C22544A-7EE6-4342-B048-85BDC9FD1C3A}</a:tableStyleId>
              </a:tblPr>
              <a:tblGrid>
                <a:gridCol w="2001599">
                  <a:extLst>
                    <a:ext uri="{9D8B030D-6E8A-4147-A177-3AD203B41FA5}">
                      <a16:colId xmlns:a16="http://schemas.microsoft.com/office/drawing/2014/main" val="20000"/>
                    </a:ext>
                  </a:extLst>
                </a:gridCol>
                <a:gridCol w="874800">
                  <a:extLst>
                    <a:ext uri="{9D8B030D-6E8A-4147-A177-3AD203B41FA5}">
                      <a16:colId xmlns:a16="http://schemas.microsoft.com/office/drawing/2014/main" val="20001"/>
                    </a:ext>
                  </a:extLst>
                </a:gridCol>
                <a:gridCol w="1116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86400">
                  <a:extLst>
                    <a:ext uri="{9D8B030D-6E8A-4147-A177-3AD203B41FA5}">
                      <a16:colId xmlns:a16="http://schemas.microsoft.com/office/drawing/2014/main" val="20004"/>
                    </a:ext>
                  </a:extLst>
                </a:gridCol>
                <a:gridCol w="1245600">
                  <a:extLst>
                    <a:ext uri="{9D8B030D-6E8A-4147-A177-3AD203B41FA5}">
                      <a16:colId xmlns:a16="http://schemas.microsoft.com/office/drawing/2014/main" val="20005"/>
                    </a:ext>
                  </a:extLst>
                </a:gridCol>
              </a:tblGrid>
              <a:tr h="284400">
                <a:tc>
                  <a:txBody>
                    <a:bodyPr/>
                    <a:lstStyle/>
                    <a:p>
                      <a:pPr algn="ctr">
                        <a:defRPr sz="900" b="1">
                          <a:solidFill>
                            <a:srgbClr val="FFFFFF"/>
                          </a:solidFill>
                          <a:latin typeface="Montserrat"/>
                        </a:defRPr>
                      </a:pPr>
                      <a:r>
                        <a:rPr dirty="0"/>
                        <a:t>Unidad</a:t>
                      </a:r>
                    </a:p>
                  </a:txBody>
                  <a:tcPr anchor="ctr">
                    <a:solidFill>
                      <a:srgbClr val="006455"/>
                    </a:solidFill>
                  </a:tcPr>
                </a:tc>
                <a:tc>
                  <a:txBody>
                    <a:bodyPr/>
                    <a:lstStyle/>
                    <a:p>
                      <a:pPr algn="ctr">
                        <a:defRPr sz="900" b="1">
                          <a:solidFill>
                            <a:srgbClr val="FFFFFF"/>
                          </a:solidFill>
                          <a:latin typeface="Montserrat"/>
                        </a:defRPr>
                      </a:pPr>
                      <a:r>
                        <a:rPr dirty="0"/>
                        <a:t>2025</a:t>
                      </a:r>
                    </a:p>
                  </a:txBody>
                  <a:tcPr anchor="ctr">
                    <a:solidFill>
                      <a:srgbClr val="006455"/>
                    </a:solidFill>
                  </a:tcPr>
                </a:tc>
                <a:tc>
                  <a:txBody>
                    <a:bodyPr/>
                    <a:lstStyle/>
                    <a:p>
                      <a:pPr algn="ctr">
                        <a:defRPr sz="900" b="1">
                          <a:solidFill>
                            <a:srgbClr val="FFFFFF"/>
                          </a:solidFill>
                          <a:latin typeface="Montserrat"/>
                        </a:defRPr>
                      </a:pPr>
                      <a:r>
                        <a:rPr dirty="0" err="1"/>
                        <a:t>Incremento</a:t>
                      </a:r>
                      <a:r>
                        <a:rPr dirty="0"/>
                        <a:t> 2025 vs 2024</a:t>
                      </a:r>
                    </a:p>
                  </a:txBody>
                  <a:tcPr anchor="ctr">
                    <a:solidFill>
                      <a:srgbClr val="006455"/>
                    </a:solidFill>
                  </a:tcPr>
                </a:tc>
                <a:tc>
                  <a:txBody>
                    <a:bodyPr/>
                    <a:lstStyle/>
                    <a:p>
                      <a:pPr algn="ctr">
                        <a:defRPr sz="900" b="1">
                          <a:solidFill>
                            <a:srgbClr val="FFFFFF"/>
                          </a:solidFill>
                          <a:latin typeface="Montserrat"/>
                        </a:defRPr>
                      </a:pPr>
                      <a:r>
                        <a:t>Avance 2026</a:t>
                      </a:r>
                    </a:p>
                  </a:txBody>
                  <a:tcPr anchor="ctr">
                    <a:solidFill>
                      <a:srgbClr val="980000"/>
                    </a:solidFill>
                  </a:tcPr>
                </a:tc>
                <a:tc>
                  <a:txBody>
                    <a:bodyPr/>
                    <a:lstStyle/>
                    <a:p>
                      <a:pPr algn="ctr">
                        <a:defRPr sz="900" b="1">
                          <a:solidFill>
                            <a:srgbClr val="FFFFFF"/>
                          </a:solidFill>
                          <a:latin typeface="Montserrat"/>
                        </a:defRPr>
                      </a:pPr>
                      <a:r>
                        <a:t>Meta 2026</a:t>
                      </a:r>
                    </a:p>
                  </a:txBody>
                  <a:tcPr anchor="ctr">
                    <a:solidFill>
                      <a:srgbClr val="980000"/>
                    </a:solidFill>
                  </a:tcPr>
                </a:tc>
                <a:tc>
                  <a:txBody>
                    <a:bodyPr/>
                    <a:lstStyle/>
                    <a:p>
                      <a:pPr algn="ctr">
                        <a:defRPr sz="900" b="1">
                          <a:solidFill>
                            <a:srgbClr val="FFFFFF"/>
                          </a:solidFill>
                          <a:latin typeface="Montserrat"/>
                        </a:defRPr>
                      </a:pPr>
                      <a:r>
                        <a:t>% Cumplimiento de la meta</a:t>
                      </a:r>
                    </a:p>
                  </a:txBody>
                  <a:tcPr anchor="ctr">
                    <a:solidFill>
                      <a:srgbClr val="980000"/>
                    </a:solidFill>
                  </a:tcPr>
                </a:tc>
                <a:extLst>
                  <a:ext uri="{0D108BD9-81ED-4DB2-BD59-A6C34878D82A}">
                    <a16:rowId xmlns:a16="http://schemas.microsoft.com/office/drawing/2014/main" val="10000"/>
                  </a:ext>
                </a:extLst>
              </a:tr>
              <a:tr h="284400">
                <a:tc>
                  <a:txBody>
                    <a:bodyPr/>
                    <a:lstStyle/>
                    <a:p>
                      <a:pPr algn="l">
                        <a:defRPr sz="1000">
                          <a:latin typeface="Montserrat"/>
                        </a:defRPr>
                      </a:pPr>
                      <a:r>
                        <a:t>HGZ 1 Zacatecas</a:t>
                      </a:r>
                    </a:p>
                  </a:txBody>
                  <a:tcPr anchor="ctr">
                    <a:solidFill>
                      <a:srgbClr val="FFFFFF"/>
                    </a:solidFill>
                  </a:tcPr>
                </a:tc>
                <a:tc>
                  <a:txBody>
                    <a:bodyPr/>
                    <a:lstStyle/>
                    <a:p>
                      <a:pPr algn="ctr">
                        <a:defRPr sz="1000">
                          <a:latin typeface="Montserrat"/>
                        </a:defRPr>
                      </a:pPr>
                      <a:r>
                        <a:t>8,320</a:t>
                      </a:r>
                    </a:p>
                  </a:txBody>
                  <a:tcPr anchor="ctr">
                    <a:solidFill>
                      <a:srgbClr val="FFFFFF"/>
                    </a:solidFill>
                  </a:tcPr>
                </a:tc>
                <a:tc>
                  <a:txBody>
                    <a:bodyPr/>
                    <a:lstStyle/>
                    <a:p>
                      <a:pPr algn="ctr">
                        <a:defRPr sz="1000">
                          <a:latin typeface="Montserrat"/>
                        </a:defRPr>
                      </a:pPr>
                      <a:r>
                        <a:rPr dirty="0"/>
                        <a:t>368</a:t>
                      </a:r>
                    </a:p>
                  </a:txBody>
                  <a:tcPr anchor="ctr">
                    <a:solidFill>
                      <a:srgbClr val="FFFFFF"/>
                    </a:solidFill>
                  </a:tcPr>
                </a:tc>
                <a:tc>
                  <a:txBody>
                    <a:bodyPr/>
                    <a:lstStyle/>
                    <a:p>
                      <a:pPr algn="ctr">
                        <a:defRPr sz="1000">
                          <a:latin typeface="Montserrat"/>
                        </a:defRPr>
                      </a:pPr>
                      <a:r>
                        <a:t>3,747</a:t>
                      </a:r>
                    </a:p>
                  </a:txBody>
                  <a:tcPr anchor="ctr">
                    <a:solidFill>
                      <a:srgbClr val="ECD3D9"/>
                    </a:solidFill>
                  </a:tcPr>
                </a:tc>
                <a:tc>
                  <a:txBody>
                    <a:bodyPr/>
                    <a:lstStyle/>
                    <a:p>
                      <a:pPr algn="ctr">
                        <a:defRPr sz="1000">
                          <a:latin typeface="Montserrat"/>
                        </a:defRPr>
                      </a:pPr>
                      <a:r>
                        <a:t>9,149</a:t>
                      </a:r>
                    </a:p>
                  </a:txBody>
                  <a:tcPr anchor="ctr">
                    <a:solidFill>
                      <a:srgbClr val="ECD3D9"/>
                    </a:solidFill>
                  </a:tcPr>
                </a:tc>
                <a:tc>
                  <a:txBody>
                    <a:bodyPr/>
                    <a:lstStyle/>
                    <a:p>
                      <a:pPr algn="ctr">
                        <a:defRPr sz="1000">
                          <a:latin typeface="Montserrat"/>
                        </a:defRPr>
                      </a:pPr>
                      <a:r>
                        <a:t>41.0%</a:t>
                      </a:r>
                    </a:p>
                  </a:txBody>
                  <a:tcPr anchor="ctr">
                    <a:solidFill>
                      <a:srgbClr val="ECD3D9"/>
                    </a:solidFill>
                  </a:tcPr>
                </a:tc>
                <a:extLst>
                  <a:ext uri="{0D108BD9-81ED-4DB2-BD59-A6C34878D82A}">
                    <a16:rowId xmlns:a16="http://schemas.microsoft.com/office/drawing/2014/main" val="10001"/>
                  </a:ext>
                </a:extLst>
              </a:tr>
              <a:tr h="284400">
                <a:tc>
                  <a:txBody>
                    <a:bodyPr/>
                    <a:lstStyle/>
                    <a:p>
                      <a:pPr algn="l">
                        <a:defRPr sz="1000">
                          <a:latin typeface="Montserrat"/>
                        </a:defRPr>
                      </a:pPr>
                      <a:r>
                        <a:t>HGZ 2 Fresnillo</a:t>
                      </a:r>
                    </a:p>
                  </a:txBody>
                  <a:tcPr anchor="ctr">
                    <a:solidFill>
                      <a:srgbClr val="EFEFEF"/>
                    </a:solidFill>
                  </a:tcPr>
                </a:tc>
                <a:tc>
                  <a:txBody>
                    <a:bodyPr/>
                    <a:lstStyle/>
                    <a:p>
                      <a:pPr algn="ctr">
                        <a:defRPr sz="1000">
                          <a:latin typeface="Montserrat"/>
                        </a:defRPr>
                      </a:pPr>
                      <a:r>
                        <a:t>4,690</a:t>
                      </a:r>
                    </a:p>
                  </a:txBody>
                  <a:tcPr anchor="ctr">
                    <a:solidFill>
                      <a:srgbClr val="EFEFEF"/>
                    </a:solidFill>
                  </a:tcPr>
                </a:tc>
                <a:tc>
                  <a:txBody>
                    <a:bodyPr/>
                    <a:lstStyle/>
                    <a:p>
                      <a:pPr algn="ctr">
                        <a:defRPr sz="1000">
                          <a:latin typeface="Montserrat"/>
                        </a:defRPr>
                      </a:pPr>
                      <a:r>
                        <a:t>-31</a:t>
                      </a:r>
                    </a:p>
                  </a:txBody>
                  <a:tcPr anchor="ctr">
                    <a:solidFill>
                      <a:srgbClr val="EFEFEF"/>
                    </a:solidFill>
                  </a:tcPr>
                </a:tc>
                <a:tc>
                  <a:txBody>
                    <a:bodyPr/>
                    <a:lstStyle/>
                    <a:p>
                      <a:pPr algn="ctr">
                        <a:defRPr sz="1000">
                          <a:latin typeface="Montserrat"/>
                        </a:defRPr>
                      </a:pPr>
                      <a:r>
                        <a:rPr dirty="0"/>
                        <a:t>2,203</a:t>
                      </a:r>
                    </a:p>
                  </a:txBody>
                  <a:tcPr anchor="ctr">
                    <a:solidFill>
                      <a:srgbClr val="ECD3D9"/>
                    </a:solidFill>
                  </a:tcPr>
                </a:tc>
                <a:tc>
                  <a:txBody>
                    <a:bodyPr/>
                    <a:lstStyle/>
                    <a:p>
                      <a:pPr algn="ctr">
                        <a:defRPr sz="1000">
                          <a:latin typeface="Montserrat"/>
                        </a:defRPr>
                      </a:pPr>
                      <a:r>
                        <a:rPr dirty="0"/>
                        <a:t>5,856</a:t>
                      </a:r>
                    </a:p>
                  </a:txBody>
                  <a:tcPr anchor="ctr">
                    <a:solidFill>
                      <a:srgbClr val="ECD3D9"/>
                    </a:solidFill>
                  </a:tcPr>
                </a:tc>
                <a:tc>
                  <a:txBody>
                    <a:bodyPr/>
                    <a:lstStyle/>
                    <a:p>
                      <a:pPr algn="ctr">
                        <a:defRPr sz="1000">
                          <a:latin typeface="Montserrat"/>
                        </a:defRPr>
                      </a:pPr>
                      <a:r>
                        <a:rPr dirty="0"/>
                        <a:t>37.6%</a:t>
                      </a:r>
                    </a:p>
                  </a:txBody>
                  <a:tcPr anchor="ctr">
                    <a:solidFill>
                      <a:srgbClr val="ECD3D9"/>
                    </a:solidFill>
                  </a:tcPr>
                </a:tc>
                <a:extLst>
                  <a:ext uri="{0D108BD9-81ED-4DB2-BD59-A6C34878D82A}">
                    <a16:rowId xmlns:a16="http://schemas.microsoft.com/office/drawing/2014/main" val="10002"/>
                  </a:ext>
                </a:extLst>
              </a:tr>
              <a:tr h="284400">
                <a:tc>
                  <a:txBody>
                    <a:bodyPr/>
                    <a:lstStyle/>
                    <a:p>
                      <a:pPr algn="l">
                        <a:defRPr sz="1000" b="1">
                          <a:solidFill>
                            <a:srgbClr val="006556"/>
                          </a:solidFill>
                          <a:latin typeface="Montserrat"/>
                        </a:defRPr>
                      </a:pPr>
                      <a:r>
                        <a:t>Total</a:t>
                      </a:r>
                    </a:p>
                  </a:txBody>
                  <a:tcPr anchor="ctr">
                    <a:solidFill>
                      <a:srgbClr val="D3E9E7"/>
                    </a:solidFill>
                  </a:tcPr>
                </a:tc>
                <a:tc>
                  <a:txBody>
                    <a:bodyPr/>
                    <a:lstStyle/>
                    <a:p>
                      <a:pPr algn="ctr">
                        <a:defRPr sz="1000" b="1">
                          <a:solidFill>
                            <a:srgbClr val="006556"/>
                          </a:solidFill>
                          <a:latin typeface="Montserrat"/>
                        </a:defRPr>
                      </a:pPr>
                      <a:r>
                        <a:t>13,010</a:t>
                      </a:r>
                    </a:p>
                  </a:txBody>
                  <a:tcPr anchor="ctr">
                    <a:solidFill>
                      <a:srgbClr val="D3E9E7"/>
                    </a:solidFill>
                  </a:tcPr>
                </a:tc>
                <a:tc>
                  <a:txBody>
                    <a:bodyPr/>
                    <a:lstStyle/>
                    <a:p>
                      <a:pPr algn="ctr">
                        <a:defRPr sz="1000" b="1">
                          <a:solidFill>
                            <a:srgbClr val="006556"/>
                          </a:solidFill>
                          <a:latin typeface="Montserrat"/>
                        </a:defRPr>
                      </a:pPr>
                      <a:r>
                        <a:t>337</a:t>
                      </a:r>
                    </a:p>
                  </a:txBody>
                  <a:tcPr anchor="ctr">
                    <a:solidFill>
                      <a:srgbClr val="D3E9E7"/>
                    </a:solidFill>
                  </a:tcPr>
                </a:tc>
                <a:tc>
                  <a:txBody>
                    <a:bodyPr/>
                    <a:lstStyle/>
                    <a:p>
                      <a:pPr algn="ctr">
                        <a:defRPr sz="1000" b="1">
                          <a:solidFill>
                            <a:srgbClr val="FFFFFF"/>
                          </a:solidFill>
                          <a:latin typeface="Montserrat"/>
                        </a:defRPr>
                      </a:pPr>
                      <a:r>
                        <a:t>5,950</a:t>
                      </a:r>
                    </a:p>
                  </a:txBody>
                  <a:tcPr anchor="ctr">
                    <a:solidFill>
                      <a:srgbClr val="9F2241"/>
                    </a:solidFill>
                  </a:tcPr>
                </a:tc>
                <a:tc>
                  <a:txBody>
                    <a:bodyPr/>
                    <a:lstStyle/>
                    <a:p>
                      <a:pPr algn="ctr">
                        <a:defRPr sz="1000" b="1">
                          <a:solidFill>
                            <a:srgbClr val="FFFFFF"/>
                          </a:solidFill>
                          <a:latin typeface="Montserrat"/>
                        </a:defRPr>
                      </a:pPr>
                      <a:r>
                        <a:t>15,005</a:t>
                      </a:r>
                    </a:p>
                  </a:txBody>
                  <a:tcPr anchor="ctr">
                    <a:solidFill>
                      <a:srgbClr val="9F2241"/>
                    </a:solidFill>
                  </a:tcPr>
                </a:tc>
                <a:tc>
                  <a:txBody>
                    <a:bodyPr/>
                    <a:lstStyle/>
                    <a:p>
                      <a:pPr algn="ctr">
                        <a:defRPr sz="1000" b="1">
                          <a:solidFill>
                            <a:srgbClr val="FFFFFF"/>
                          </a:solidFill>
                          <a:latin typeface="Montserrat"/>
                        </a:defRPr>
                      </a:pPr>
                      <a:r>
                        <a:rPr dirty="0"/>
                        <a:t>39.7%</a:t>
                      </a:r>
                    </a:p>
                  </a:txBody>
                  <a:tcPr anchor="ctr">
                    <a:solidFill>
                      <a:srgbClr val="9F2241"/>
                    </a:solidFill>
                  </a:tcPr>
                </a:tc>
                <a:extLst>
                  <a:ext uri="{0D108BD9-81ED-4DB2-BD59-A6C34878D82A}">
                    <a16:rowId xmlns:a16="http://schemas.microsoft.com/office/drawing/2014/main" val="10003"/>
                  </a:ext>
                </a:extLst>
              </a:tr>
            </a:tbl>
          </a:graphicData>
        </a:graphic>
      </p:graphicFrame>
      <p:graphicFrame>
        <p:nvGraphicFramePr>
          <p:cNvPr id="7" name="Chart 233">
            <a:extLst>
              <a:ext uri="{FF2B5EF4-FFF2-40B4-BE49-F238E27FC236}">
                <a16:creationId xmlns:a16="http://schemas.microsoft.com/office/drawing/2014/main" id="{503FB3AC-6167-C134-4377-5AD1A00134C2}"/>
              </a:ext>
            </a:extLst>
          </p:cNvPr>
          <p:cNvGraphicFramePr>
            <a:graphicFrameLocks noGrp="1"/>
          </p:cNvGraphicFramePr>
          <p:nvPr>
            <p:extLst>
              <p:ext uri="{D42A27DB-BD31-4B8C-83A1-F6EECF244321}">
                <p14:modId xmlns:p14="http://schemas.microsoft.com/office/powerpoint/2010/main" val="3130145289"/>
              </p:ext>
            </p:extLst>
          </p:nvPr>
        </p:nvGraphicFramePr>
        <p:xfrm>
          <a:off x="4105881" y="6718764"/>
          <a:ext cx="1800000" cy="1800000"/>
        </p:xfrm>
        <a:graphic>
          <a:graphicData uri="http://schemas.openxmlformats.org/drawingml/2006/chart">
            <c:chart xmlns:c="http://schemas.openxmlformats.org/drawingml/2006/chart" xmlns:r="http://schemas.openxmlformats.org/officeDocument/2006/relationships" r:id="rId5"/>
          </a:graphicData>
        </a:graphic>
      </p:graphicFrame>
      <p:sp>
        <p:nvSpPr>
          <p:cNvPr id="9" name="TextBox 234">
            <a:extLst>
              <a:ext uri="{FF2B5EF4-FFF2-40B4-BE49-F238E27FC236}">
                <a16:creationId xmlns:a16="http://schemas.microsoft.com/office/drawing/2014/main" id="{119C8C51-8F99-57AC-B3FD-FF82D9E8301B}"/>
              </a:ext>
            </a:extLst>
          </p:cNvPr>
          <p:cNvSpPr txBox="1"/>
          <p:nvPr/>
        </p:nvSpPr>
        <p:spPr>
          <a:xfrm>
            <a:off x="4105881" y="7438764"/>
            <a:ext cx="1800000" cy="360000"/>
          </a:xfrm>
          <a:prstGeom prst="rect">
            <a:avLst/>
          </a:prstGeom>
          <a:noFill/>
        </p:spPr>
        <p:txBody>
          <a:bodyPr wrap="none">
            <a:spAutoFit/>
          </a:bodyPr>
          <a:lstStyle/>
          <a:p>
            <a:pPr algn="ctr"/>
            <a:r>
              <a:rPr sz="2400" b="1">
                <a:solidFill>
                  <a:srgbClr val="9F2241"/>
                </a:solidFill>
                <a:latin typeface="Montserrat"/>
              </a:rPr>
              <a:t>39.7%</a:t>
            </a:r>
          </a:p>
        </p:txBody>
      </p:sp>
      <p:sp>
        <p:nvSpPr>
          <p:cNvPr id="11" name="TextBox 235">
            <a:extLst>
              <a:ext uri="{FF2B5EF4-FFF2-40B4-BE49-F238E27FC236}">
                <a16:creationId xmlns:a16="http://schemas.microsoft.com/office/drawing/2014/main" id="{68689AC8-7706-92AB-526A-280FA8938D29}"/>
              </a:ext>
            </a:extLst>
          </p:cNvPr>
          <p:cNvSpPr txBox="1"/>
          <p:nvPr/>
        </p:nvSpPr>
        <p:spPr>
          <a:xfrm>
            <a:off x="4105881" y="8338764"/>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3" name="TextBox 236">
            <a:extLst>
              <a:ext uri="{FF2B5EF4-FFF2-40B4-BE49-F238E27FC236}">
                <a16:creationId xmlns:a16="http://schemas.microsoft.com/office/drawing/2014/main" id="{70363B99-09C5-C66D-25DB-B9DDE9E2F080}"/>
              </a:ext>
            </a:extLst>
          </p:cNvPr>
          <p:cNvSpPr txBox="1"/>
          <p:nvPr/>
        </p:nvSpPr>
        <p:spPr>
          <a:xfrm>
            <a:off x="1125000" y="7139964"/>
            <a:ext cx="2854800" cy="1198800"/>
          </a:xfrm>
          <a:prstGeom prst="rect">
            <a:avLst/>
          </a:prstGeom>
          <a:noFill/>
        </p:spPr>
        <p:txBody>
          <a:bodyPr wrap="square">
            <a:spAutoFit/>
          </a:bodyPr>
          <a:lstStyle/>
          <a:p>
            <a:pPr algn="ctr">
              <a:defRPr sz="3600" b="1">
                <a:solidFill>
                  <a:srgbClr val="9F2241"/>
                </a:solidFill>
                <a:latin typeface="Montserrat"/>
              </a:defRPr>
            </a:pPr>
            <a:r>
              <a:rPr dirty="0"/>
              <a:t>15,005 </a:t>
            </a:r>
            <a:br>
              <a:rPr dirty="0"/>
            </a:br>
            <a:r>
              <a:rPr dirty="0"/>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79 en Hospitales, 1 en sede, 10 en UMF y 39 sustitutos</a:t>
            </a:r>
          </a:p>
        </p:txBody>
      </p:sp>
      <p:sp>
        <p:nvSpPr>
          <p:cNvPr id="5" name="TextBox 4"/>
          <p:cNvSpPr txBox="1"/>
          <p:nvPr/>
        </p:nvSpPr>
        <p:spPr>
          <a:xfrm>
            <a:off x="360000" y="1419945"/>
            <a:ext cx="3393878" cy="400110"/>
          </a:xfrm>
          <a:prstGeom prst="rect">
            <a:avLst/>
          </a:prstGeom>
          <a:noFill/>
        </p:spPr>
        <p:txBody>
          <a:bodyPr wrap="none" anchor="ctr">
            <a:spAutoFit/>
          </a:bodyPr>
          <a:lstStyle/>
          <a:p>
            <a:pPr algn="l">
              <a:defRPr sz="2000" b="1">
                <a:solidFill>
                  <a:srgbClr val="BC955C"/>
                </a:solidFill>
                <a:latin typeface="Montserrat"/>
              </a:defRPr>
            </a:pPr>
            <a:r>
              <a:rPr dirty="0"/>
              <a:t>79 </a:t>
            </a:r>
            <a:r>
              <a:rPr dirty="0" err="1"/>
              <a:t>en</a:t>
            </a:r>
            <a:r>
              <a:rPr dirty="0"/>
              <a:t> Hospitales</a:t>
            </a:r>
            <a:r>
              <a:rPr lang="es-MX" dirty="0"/>
              <a:t> (1 de 3)</a:t>
            </a:r>
            <a:endParaRPr dirty="0"/>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3143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3">
                  <a:txBody>
                    <a:bodyPr/>
                    <a:lstStyle/>
                    <a:p>
                      <a:pPr algn="ctr">
                        <a:defRPr sz="800" b="1">
                          <a:solidFill>
                            <a:srgbClr val="000000"/>
                          </a:solidFill>
                          <a:latin typeface="Montserrat"/>
                        </a:defRPr>
                      </a:pPr>
                      <a:r>
                        <a:t>Hospital General de Zona 2</a:t>
                      </a:r>
                    </a:p>
                  </a:txBody>
                  <a:tcPr anchor="ctr">
                    <a:no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Endocrinología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Geriatría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Nefrología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Neurocirugía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Psiquiatría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14</a:t>
                      </a:r>
                    </a:p>
                  </a:txBody>
                  <a:tcPr>
                    <a:solidFill>
                      <a:srgbClr val="D3E9E7"/>
                    </a:solidFill>
                  </a:tcPr>
                </a:tc>
                <a:extLst>
                  <a:ext uri="{0D108BD9-81ED-4DB2-BD59-A6C34878D82A}">
                    <a16:rowId xmlns:a16="http://schemas.microsoft.com/office/drawing/2014/main" val="10013"/>
                  </a:ext>
                </a:extLst>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7">
                  <a:txBody>
                    <a:bodyPr/>
                    <a:lstStyle/>
                    <a:p>
                      <a:pPr algn="ctr">
                        <a:defRPr sz="800" b="1">
                          <a:solidFill>
                            <a:srgbClr val="000000"/>
                          </a:solidFill>
                          <a:latin typeface="Montserrat"/>
                        </a:defRPr>
                      </a:pPr>
                      <a:r>
                        <a:t>Hospital General de Zona C/MF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Cardiología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Rehabilitación</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extLst>
                  <a:ext uri="{0D108BD9-81ED-4DB2-BD59-A6C34878D82A}">
                    <a16:rowId xmlns:a16="http://schemas.microsoft.com/office/drawing/2014/main" val="10007"/>
                  </a:ext>
                </a:extLst>
              </a:tr>
            </a:tbl>
          </a:graphicData>
        </a:graphic>
      </p:graphicFrame>
      <p:graphicFrame>
        <p:nvGraphicFramePr>
          <p:cNvPr id="9" name="Table 8"/>
          <p:cNvGraphicFramePr>
            <a:graphicFrameLocks noGrp="1"/>
          </p:cNvGraphicFramePr>
          <p:nvPr/>
        </p:nvGraphicFramePr>
        <p:xfrm>
          <a:off x="360000" y="5579999"/>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Hospital Rural Concepción del Oro</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0" name="Table 9"/>
          <p:cNvGraphicFramePr>
            <a:graphicFrameLocks noGrp="1"/>
          </p:cNvGraphicFramePr>
          <p:nvPr/>
        </p:nvGraphicFramePr>
        <p:xfrm>
          <a:off x="3960000" y="5579999"/>
          <a:ext cx="3456000" cy="1080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Hospital Rural Fresnillo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11" name="Table 10"/>
          <p:cNvGraphicFramePr>
            <a:graphicFrameLocks noGrp="1"/>
          </p:cNvGraphicFramePr>
          <p:nvPr/>
        </p:nvGraphicFramePr>
        <p:xfrm>
          <a:off x="360000" y="6983999"/>
          <a:ext cx="3456000" cy="1415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Rural Pinos</a:t>
                      </a:r>
                    </a:p>
                  </a:txBody>
                  <a:tcPr anchor="ctr">
                    <a:noFill/>
                  </a:tcPr>
                </a:tc>
                <a:tc>
                  <a:txBody>
                    <a:bodyPr/>
                    <a:lstStyle/>
                    <a:p>
                      <a:pPr algn="ctr">
                        <a:defRPr sz="800" b="0">
                          <a:solidFill>
                            <a:srgbClr val="000000"/>
                          </a:solidFill>
                          <a:latin typeface="Montserrat"/>
                        </a:defRPr>
                      </a:pPr>
                      <a:r>
                        <a:t>Anestesiología para los Servicios Rurales de Salud</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Ginecología y Obstetricia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5</a:t>
                      </a:r>
                    </a:p>
                  </a:txBody>
                  <a:tcPr>
                    <a:solidFill>
                      <a:srgbClr val="D3E9E7"/>
                    </a:solidFill>
                  </a:tcPr>
                </a:tc>
                <a:extLst>
                  <a:ext uri="{0D108BD9-81ED-4DB2-BD59-A6C34878D82A}">
                    <a16:rowId xmlns:a16="http://schemas.microsoft.com/office/drawing/2014/main" val="10005"/>
                  </a:ext>
                </a:extLst>
              </a:tr>
            </a:tbl>
          </a:graphicData>
        </a:graphic>
      </p:graphicFrame>
      <p:graphicFrame>
        <p:nvGraphicFramePr>
          <p:cNvPr id="12" name="Table 11"/>
          <p:cNvGraphicFramePr>
            <a:graphicFrameLocks noGrp="1"/>
          </p:cNvGraphicFramePr>
          <p:nvPr/>
        </p:nvGraphicFramePr>
        <p:xfrm>
          <a:off x="3960000" y="6983999"/>
          <a:ext cx="3456000" cy="1295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Rural Río Grande</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10</a:t>
                      </a:r>
                    </a:p>
                  </a:txBody>
                  <a:tcPr>
                    <a:solidFill>
                      <a:srgbClr val="D3E9E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2002487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 name="TextBox 4"/>
          <p:cNvSpPr txBox="1"/>
          <p:nvPr/>
        </p:nvSpPr>
        <p:spPr>
          <a:xfrm>
            <a:off x="360000" y="1081545"/>
            <a:ext cx="3443571" cy="400110"/>
          </a:xfrm>
          <a:prstGeom prst="rect">
            <a:avLst/>
          </a:prstGeom>
          <a:noFill/>
        </p:spPr>
        <p:txBody>
          <a:bodyPr wrap="none" anchor="ctr">
            <a:spAutoFit/>
          </a:bodyPr>
          <a:lstStyle/>
          <a:p>
            <a:pPr algn="l">
              <a:defRPr sz="2000" b="1">
                <a:solidFill>
                  <a:srgbClr val="BC955C"/>
                </a:solidFill>
                <a:latin typeface="Montserrat"/>
              </a:defRPr>
            </a:pPr>
            <a:r>
              <a:rPr dirty="0"/>
              <a:t>79 </a:t>
            </a:r>
            <a:r>
              <a:rPr dirty="0" err="1"/>
              <a:t>en</a:t>
            </a:r>
            <a:r>
              <a:rPr dirty="0"/>
              <a:t> Hospitales (</a:t>
            </a:r>
            <a:r>
              <a:rPr lang="es-MX" dirty="0"/>
              <a:t>2 de 3</a:t>
            </a:r>
            <a:r>
              <a:rPr dirty="0"/>
              <a: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1295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5">
                  <a:txBody>
                    <a:bodyPr/>
                    <a:lstStyle/>
                    <a:p>
                      <a:pPr algn="ctr">
                        <a:defRPr sz="800" b="1">
                          <a:solidFill>
                            <a:srgbClr val="000000"/>
                          </a:solidFill>
                          <a:latin typeface="Montserrat"/>
                        </a:defRPr>
                      </a:pPr>
                      <a:r>
                        <a:t>Hospital Rural Tlaltenango</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04"/>
                  </a:ext>
                </a:extLst>
              </a:tr>
              <a:tr h="216004">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7</a:t>
                      </a:r>
                    </a:p>
                  </a:txBody>
                  <a:tcPr>
                    <a:solidFill>
                      <a:srgbClr val="D3E9E7"/>
                    </a:solidFill>
                  </a:tcPr>
                </a:tc>
                <a:extLst>
                  <a:ext uri="{0D108BD9-81ED-4DB2-BD59-A6C34878D82A}">
                    <a16:rowId xmlns:a16="http://schemas.microsoft.com/office/drawing/2014/main" val="10005"/>
                  </a:ext>
                </a:extLst>
              </a:tr>
            </a:tbl>
          </a:graphicData>
        </a:graphic>
      </p:graphicFrame>
      <p:graphicFrame>
        <p:nvGraphicFramePr>
          <p:cNvPr id="8" name="Table 7"/>
          <p:cNvGraphicFramePr>
            <a:graphicFrameLocks noGrp="1"/>
          </p:cNvGraphicFramePr>
          <p:nvPr/>
        </p:nvGraphicFramePr>
        <p:xfrm>
          <a:off x="3960000" y="1569600"/>
          <a:ext cx="3456000" cy="1943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8">
                  <a:txBody>
                    <a:bodyPr/>
                    <a:lstStyle/>
                    <a:p>
                      <a:pPr algn="ctr">
                        <a:defRPr sz="800" b="1">
                          <a:solidFill>
                            <a:srgbClr val="000000"/>
                          </a:solidFill>
                          <a:latin typeface="Montserrat"/>
                        </a:defRPr>
                      </a:pPr>
                      <a:r>
                        <a:t>Hospital Rural Villanueva</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extLst>
                  <a:ext uri="{0D108BD9-81ED-4DB2-BD59-A6C34878D82A}">
                    <a16:rowId xmlns:a16="http://schemas.microsoft.com/office/drawing/2014/main" val="10001"/>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02"/>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extLst>
                  <a:ext uri="{0D108BD9-81ED-4DB2-BD59-A6C34878D82A}">
                    <a16:rowId xmlns:a16="http://schemas.microsoft.com/office/drawing/2014/main" val="10003"/>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extLst>
                  <a:ext uri="{0D108BD9-81ED-4DB2-BD59-A6C34878D82A}">
                    <a16:rowId xmlns:a16="http://schemas.microsoft.com/office/drawing/2014/main" val="10004"/>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extLst>
                  <a:ext uri="{0D108BD9-81ED-4DB2-BD59-A6C34878D82A}">
                    <a16:rowId xmlns:a16="http://schemas.microsoft.com/office/drawing/2014/main" val="10005"/>
                  </a:ext>
                </a:extLst>
              </a:tr>
              <a:tr h="215999">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extLst>
                  <a:ext uri="{0D108BD9-81ED-4DB2-BD59-A6C34878D82A}">
                    <a16:rowId xmlns:a16="http://schemas.microsoft.com/office/drawing/2014/main" val="10006"/>
                  </a:ext>
                </a:extLst>
              </a:tr>
              <a:tr h="215999">
                <a:tc vMerge="1">
                  <a:txBody>
                    <a:bodyPr/>
                    <a:lstStyle/>
                    <a:p>
                      <a:endParaRPr/>
                    </a:p>
                  </a:txBody>
                  <a:tcPr>
                    <a:solidFill>
                      <a:srgbClr val="FFFFFF"/>
                    </a:solidFill>
                  </a:tcPr>
                </a:tc>
                <a:tc>
                  <a:txBody>
                    <a:bodyPr/>
                    <a:lstStyle/>
                    <a:p>
                      <a:pPr algn="ctr">
                        <a:defRPr sz="800" b="0">
                          <a:solidFill>
                            <a:srgbClr val="000000"/>
                          </a:solidFill>
                          <a:latin typeface="Montserrat"/>
                        </a:defRPr>
                      </a:pPr>
                      <a:r>
                        <a:t>Pediatría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extLst>
                  <a:ext uri="{0D108BD9-81ED-4DB2-BD59-A6C34878D82A}">
                    <a16:rowId xmlns:a16="http://schemas.microsoft.com/office/drawing/2014/main" val="10007"/>
                  </a:ext>
                </a:extLst>
              </a:tr>
              <a:tr h="216007">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32</a:t>
                      </a:r>
                    </a:p>
                  </a:txBody>
                  <a:tcPr>
                    <a:solidFill>
                      <a:srgbClr val="D3E9E7"/>
                    </a:solidFill>
                  </a:tcPr>
                </a:tc>
                <a:extLst>
                  <a:ext uri="{0D108BD9-81ED-4DB2-BD59-A6C34878D82A}">
                    <a16:rowId xmlns:a16="http://schemas.microsoft.com/office/drawing/2014/main" val="10008"/>
                  </a:ext>
                </a:extLst>
              </a:tr>
            </a:tbl>
          </a:graphicData>
        </a:graphic>
      </p:graphicFrame>
      <p:sp>
        <p:nvSpPr>
          <p:cNvPr id="9" name="TextBox 8"/>
          <p:cNvSpPr txBox="1"/>
          <p:nvPr/>
        </p:nvSpPr>
        <p:spPr>
          <a:xfrm>
            <a:off x="360000" y="3704405"/>
            <a:ext cx="6840000" cy="360000"/>
          </a:xfrm>
          <a:prstGeom prst="rect">
            <a:avLst/>
          </a:prstGeom>
          <a:noFill/>
        </p:spPr>
        <p:txBody>
          <a:bodyPr wrap="none" anchor="ctr">
            <a:spAutoFit/>
          </a:bodyPr>
          <a:lstStyle/>
          <a:p>
            <a:pPr algn="l">
              <a:defRPr sz="2000" b="1">
                <a:solidFill>
                  <a:srgbClr val="BC955C"/>
                </a:solidFill>
                <a:latin typeface="Montserrat"/>
              </a:defRPr>
            </a:pPr>
            <a:r>
              <a:t>1 Sede delegacional</a:t>
            </a:r>
          </a:p>
        </p:txBody>
      </p:sp>
      <p:cxnSp>
        <p:nvCxnSpPr>
          <p:cNvPr id="10" name="Connector 9"/>
          <p:cNvCxnSpPr/>
          <p:nvPr/>
        </p:nvCxnSpPr>
        <p:spPr>
          <a:xfrm>
            <a:off x="360000" y="4100405"/>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extLst>
              <p:ext uri="{D42A27DB-BD31-4B8C-83A1-F6EECF244321}">
                <p14:modId xmlns:p14="http://schemas.microsoft.com/office/powerpoint/2010/main" val="2384781783"/>
              </p:ext>
            </p:extLst>
          </p:nvPr>
        </p:nvGraphicFramePr>
        <p:xfrm>
          <a:off x="360000" y="4172405"/>
          <a:ext cx="3456000" cy="6479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Sede Delegación</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360000" y="5252404"/>
            <a:ext cx="6840000" cy="360000"/>
          </a:xfrm>
          <a:prstGeom prst="rect">
            <a:avLst/>
          </a:prstGeom>
          <a:noFill/>
        </p:spPr>
        <p:txBody>
          <a:bodyPr wrap="none" anchor="ctr">
            <a:spAutoFit/>
          </a:bodyPr>
          <a:lstStyle/>
          <a:p>
            <a:pPr algn="l">
              <a:defRPr sz="2000" b="1">
                <a:solidFill>
                  <a:srgbClr val="BC955C"/>
                </a:solidFill>
                <a:latin typeface="Montserrat"/>
              </a:defRPr>
            </a:pPr>
            <a:r>
              <a:t>10 en Unidades de Medicina Familiar</a:t>
            </a:r>
          </a:p>
        </p:txBody>
      </p:sp>
      <p:cxnSp>
        <p:nvCxnSpPr>
          <p:cNvPr id="13" name="Connector 12"/>
          <p:cNvCxnSpPr/>
          <p:nvPr/>
        </p:nvCxnSpPr>
        <p:spPr>
          <a:xfrm>
            <a:off x="360000" y="5648404"/>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4" name="Table 13"/>
          <p:cNvGraphicFramePr>
            <a:graphicFrameLocks noGrp="1"/>
          </p:cNvGraphicFramePr>
          <p:nvPr>
            <p:extLst>
              <p:ext uri="{D42A27DB-BD31-4B8C-83A1-F6EECF244321}">
                <p14:modId xmlns:p14="http://schemas.microsoft.com/office/powerpoint/2010/main" val="40238866"/>
              </p:ext>
            </p:extLst>
          </p:nvPr>
        </p:nvGraphicFramePr>
        <p:xfrm>
          <a:off x="360000" y="5720404"/>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1</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5" name="Table 14"/>
          <p:cNvGraphicFramePr>
            <a:graphicFrameLocks noGrp="1"/>
          </p:cNvGraphicFramePr>
          <p:nvPr>
            <p:extLst>
              <p:ext uri="{D42A27DB-BD31-4B8C-83A1-F6EECF244321}">
                <p14:modId xmlns:p14="http://schemas.microsoft.com/office/powerpoint/2010/main" val="3367601099"/>
              </p:ext>
            </p:extLst>
          </p:nvPr>
        </p:nvGraphicFramePr>
        <p:xfrm>
          <a:off x="3960000" y="5720404"/>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36</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6" name="Table 15"/>
          <p:cNvGraphicFramePr>
            <a:graphicFrameLocks noGrp="1"/>
          </p:cNvGraphicFramePr>
          <p:nvPr>
            <p:extLst>
              <p:ext uri="{D42A27DB-BD31-4B8C-83A1-F6EECF244321}">
                <p14:modId xmlns:p14="http://schemas.microsoft.com/office/powerpoint/2010/main" val="2333572373"/>
              </p:ext>
            </p:extLst>
          </p:nvPr>
        </p:nvGraphicFramePr>
        <p:xfrm>
          <a:off x="360000" y="6620403"/>
          <a:ext cx="3456000" cy="86400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3">
                  <a:txBody>
                    <a:bodyPr/>
                    <a:lstStyle/>
                    <a:p>
                      <a:pPr algn="ctr">
                        <a:defRPr sz="800" b="1">
                          <a:solidFill>
                            <a:srgbClr val="000000"/>
                          </a:solidFill>
                          <a:latin typeface="Montserrat"/>
                        </a:defRPr>
                      </a:pPr>
                      <a:r>
                        <a:t>Unidad de Medicina Familiar 4</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extLst>
                  <a:ext uri="{0D108BD9-81ED-4DB2-BD59-A6C34878D82A}">
                    <a16:rowId xmlns:a16="http://schemas.microsoft.com/office/drawing/2014/main" val="10003"/>
                  </a:ext>
                </a:extLst>
              </a:tr>
            </a:tbl>
          </a:graphicData>
        </a:graphic>
      </p:graphicFrame>
      <p:graphicFrame>
        <p:nvGraphicFramePr>
          <p:cNvPr id="17" name="Table 16"/>
          <p:cNvGraphicFramePr>
            <a:graphicFrameLocks noGrp="1"/>
          </p:cNvGraphicFramePr>
          <p:nvPr>
            <p:extLst>
              <p:ext uri="{D42A27DB-BD31-4B8C-83A1-F6EECF244321}">
                <p14:modId xmlns:p14="http://schemas.microsoft.com/office/powerpoint/2010/main" val="338066303"/>
              </p:ext>
            </p:extLst>
          </p:nvPr>
        </p:nvGraphicFramePr>
        <p:xfrm>
          <a:off x="3960000" y="6620403"/>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43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18" name="Table 17"/>
          <p:cNvGraphicFramePr>
            <a:graphicFrameLocks noGrp="1"/>
          </p:cNvGraphicFramePr>
          <p:nvPr>
            <p:extLst>
              <p:ext uri="{D42A27DB-BD31-4B8C-83A1-F6EECF244321}">
                <p14:modId xmlns:p14="http://schemas.microsoft.com/office/powerpoint/2010/main" val="204040423"/>
              </p:ext>
            </p:extLst>
          </p:nvPr>
        </p:nvGraphicFramePr>
        <p:xfrm>
          <a:off x="360000" y="7772402"/>
          <a:ext cx="3456000" cy="1318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4">
                  <a:txBody>
                    <a:bodyPr/>
                    <a:lstStyle/>
                    <a:p>
                      <a:pPr algn="ctr">
                        <a:defRPr sz="800" b="1">
                          <a:solidFill>
                            <a:srgbClr val="000000"/>
                          </a:solidFill>
                          <a:latin typeface="Montserrat"/>
                        </a:defRPr>
                      </a:pPr>
                      <a:r>
                        <a:t>Unidad de Medicina Familiar 55</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extLst>
                  <a:ext uri="{0D108BD9-81ED-4DB2-BD59-A6C34878D82A}">
                    <a16:rowId xmlns:a16="http://schemas.microsoft.com/office/drawing/2014/main" val="10004"/>
                  </a:ext>
                </a:extLst>
              </a:tr>
            </a:tbl>
          </a:graphicData>
        </a:graphic>
      </p:graphicFrame>
      <p:graphicFrame>
        <p:nvGraphicFramePr>
          <p:cNvPr id="19" name="Table 18"/>
          <p:cNvGraphicFramePr>
            <a:graphicFrameLocks noGrp="1"/>
          </p:cNvGraphicFramePr>
          <p:nvPr>
            <p:extLst>
              <p:ext uri="{D42A27DB-BD31-4B8C-83A1-F6EECF244321}">
                <p14:modId xmlns:p14="http://schemas.microsoft.com/office/powerpoint/2010/main" val="1161960571"/>
              </p:ext>
            </p:extLst>
          </p:nvPr>
        </p:nvGraphicFramePr>
        <p:xfrm>
          <a:off x="3960000" y="7772402"/>
          <a:ext cx="3456000" cy="76728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57</a:t>
                      </a:r>
                    </a:p>
                  </a:txBody>
                  <a:tcPr anchor="ctr">
                    <a:no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extLst>
                  <a:ext uri="{0D108BD9-81ED-4DB2-BD59-A6C34878D82A}">
                    <a16:rowId xmlns:a16="http://schemas.microsoft.com/office/drawing/2014/main" val="10002"/>
                  </a:ext>
                </a:extLst>
              </a:tr>
            </a:tbl>
          </a:graphicData>
        </a:graphic>
      </p:graphicFrame>
      <p:graphicFrame>
        <p:nvGraphicFramePr>
          <p:cNvPr id="20" name="Table 6"/>
          <p:cNvGraphicFramePr>
            <a:graphicFrameLocks noGrp="1"/>
          </p:cNvGraphicFramePr>
          <p:nvPr>
            <p:extLst>
              <p:ext uri="{D42A27DB-BD31-4B8C-83A1-F6EECF244321}">
                <p14:modId xmlns:p14="http://schemas.microsoft.com/office/powerpoint/2010/main" val="3356871224"/>
              </p:ext>
            </p:extLst>
          </p:nvPr>
        </p:nvGraphicFramePr>
        <p:xfrm>
          <a:off x="3956400" y="8701201"/>
          <a:ext cx="3456000" cy="673199"/>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1">
                <a:tc vMerge="1">
                  <a:txBody>
                    <a:bodyPr/>
                    <a:lstStyle/>
                    <a:p>
                      <a:endParaRPr/>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rPr dirty="0"/>
                        <a:t>1</a:t>
                      </a:r>
                    </a:p>
                  </a:txBody>
                  <a:tcPr>
                    <a:solidFill>
                      <a:srgbClr val="D3E9E7"/>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129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8" name="TextBox 7"/>
          <p:cNvSpPr txBox="1"/>
          <p:nvPr/>
        </p:nvSpPr>
        <p:spPr>
          <a:xfrm>
            <a:off x="360000" y="1054746"/>
            <a:ext cx="4935967" cy="400110"/>
          </a:xfrm>
          <a:prstGeom prst="rect">
            <a:avLst/>
          </a:prstGeom>
          <a:noFill/>
        </p:spPr>
        <p:txBody>
          <a:bodyPr wrap="none" anchor="ctr">
            <a:spAutoFit/>
          </a:bodyPr>
          <a:lstStyle/>
          <a:p>
            <a:pPr algn="l">
              <a:defRPr sz="2000" b="1">
                <a:solidFill>
                  <a:srgbClr val="BC955C"/>
                </a:solidFill>
                <a:latin typeface="Montserrat"/>
              </a:defRPr>
            </a:pPr>
            <a:r>
              <a:rPr dirty="0"/>
              <a:t>39 </a:t>
            </a:r>
            <a:r>
              <a:rPr dirty="0" err="1"/>
              <a:t>especialistas</a:t>
            </a:r>
            <a:r>
              <a:rPr dirty="0"/>
              <a:t> (</a:t>
            </a:r>
            <a:r>
              <a:rPr dirty="0" err="1"/>
              <a:t>sustitutos</a:t>
            </a:r>
            <a:r>
              <a:rPr dirty="0"/>
              <a:t>)</a:t>
            </a:r>
            <a:r>
              <a:rPr lang="es-MX" dirty="0"/>
              <a:t> (3 de 3)</a:t>
            </a:r>
            <a:endParaRPr dirty="0"/>
          </a:p>
        </p:txBody>
      </p:sp>
      <p:cxnSp>
        <p:nvCxnSpPr>
          <p:cNvPr id="9" name="Connector 8"/>
          <p:cNvCxnSpPr/>
          <p:nvPr/>
        </p:nvCxnSpPr>
        <p:spPr>
          <a:xfrm>
            <a:off x="360000" y="1470801"/>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extLst>
              <p:ext uri="{D42A27DB-BD31-4B8C-83A1-F6EECF244321}">
                <p14:modId xmlns:p14="http://schemas.microsoft.com/office/powerpoint/2010/main" val="1871911504"/>
              </p:ext>
            </p:extLst>
          </p:nvPr>
        </p:nvGraphicFramePr>
        <p:xfrm>
          <a:off x="2052000" y="1715203"/>
          <a:ext cx="3456000" cy="4126560"/>
        </p:xfrm>
        <a:graphic>
          <a:graphicData uri="http://schemas.openxmlformats.org/drawingml/2006/table">
            <a:tbl>
              <a:tblPr firstRow="1" bandRow="1">
                <a:tableStyleId>{5C22544A-7EE6-4342-B048-85BDC9FD1C3A}</a:tableStyleId>
              </a:tblPr>
              <a:tblGrid>
                <a:gridCol w="946800">
                  <a:extLst>
                    <a:ext uri="{9D8B030D-6E8A-4147-A177-3AD203B41FA5}">
                      <a16:colId xmlns:a16="http://schemas.microsoft.com/office/drawing/2014/main" val="20000"/>
                    </a:ext>
                  </a:extLst>
                </a:gridCol>
                <a:gridCol w="1872000">
                  <a:extLst>
                    <a:ext uri="{9D8B030D-6E8A-4147-A177-3AD203B41FA5}">
                      <a16:colId xmlns:a16="http://schemas.microsoft.com/office/drawing/2014/main" val="20001"/>
                    </a:ext>
                  </a:extLst>
                </a:gridCol>
                <a:gridCol w="637200">
                  <a:extLst>
                    <a:ext uri="{9D8B030D-6E8A-4147-A177-3AD203B41FA5}">
                      <a16:colId xmlns:a16="http://schemas.microsoft.com/office/drawing/2014/main" val="20002"/>
                    </a:ext>
                  </a:extLst>
                </a:gridCol>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extLst>
                  <a:ext uri="{0D108BD9-81ED-4DB2-BD59-A6C34878D82A}">
                    <a16:rowId xmlns:a16="http://schemas.microsoft.com/office/drawing/2014/main" val="10000"/>
                  </a:ext>
                </a:extLst>
              </a:tr>
              <a:tr h="216000">
                <a:tc rowSpan="17">
                  <a:txBody>
                    <a:bodyPr/>
                    <a:lstStyle/>
                    <a:p>
                      <a:pPr algn="ctr">
                        <a:defRPr sz="800" b="1">
                          <a:solidFill>
                            <a:srgbClr val="000000"/>
                          </a:solidFill>
                          <a:latin typeface="Montserrat"/>
                        </a:defRPr>
                      </a:pPr>
                      <a:r>
                        <a:rPr dirty="0" err="1"/>
                        <a:t>Sustitución</a:t>
                      </a:r>
                      <a:r>
                        <a:rPr dirty="0"/>
                        <a:t> 8 </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4</a:t>
                      </a:r>
                    </a:p>
                  </a:txBody>
                  <a:tcPr>
                    <a:solidFill>
                      <a:srgbClr val="F0F0F0"/>
                    </a:solidFill>
                  </a:tcPr>
                </a:tc>
                <a:extLst>
                  <a:ext uri="{0D108BD9-81ED-4DB2-BD59-A6C34878D82A}">
                    <a16:rowId xmlns:a16="http://schemas.microsoft.com/office/drawing/2014/main" val="1000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extLst>
                  <a:ext uri="{0D108BD9-81ED-4DB2-BD59-A6C34878D82A}">
                    <a16:rowId xmlns:a16="http://schemas.microsoft.com/office/drawing/2014/main" val="1000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Epidemiología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Genética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5"/>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rPr dirty="0"/>
                        <a:t>1</a:t>
                      </a:r>
                    </a:p>
                  </a:txBody>
                  <a:tcPr>
                    <a:solidFill>
                      <a:srgbClr val="F0F0F0"/>
                    </a:solidFill>
                  </a:tcPr>
                </a:tc>
                <a:extLst>
                  <a:ext uri="{0D108BD9-81ED-4DB2-BD59-A6C34878D82A}">
                    <a16:rowId xmlns:a16="http://schemas.microsoft.com/office/drawing/2014/main" val="10006"/>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extLst>
                  <a:ext uri="{0D108BD9-81ED-4DB2-BD59-A6C34878D82A}">
                    <a16:rowId xmlns:a16="http://schemas.microsoft.com/office/drawing/2014/main" val="10007"/>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extLst>
                  <a:ext uri="{0D108BD9-81ED-4DB2-BD59-A6C34878D82A}">
                    <a16:rowId xmlns:a16="http://schemas.microsoft.com/office/drawing/2014/main" val="10008"/>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09"/>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extLst>
                  <a:ext uri="{0D108BD9-81ED-4DB2-BD59-A6C34878D82A}">
                    <a16:rowId xmlns:a16="http://schemas.microsoft.com/office/drawing/2014/main" val="10010"/>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 Rehabilitación</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1"/>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6</a:t>
                      </a:r>
                    </a:p>
                  </a:txBody>
                  <a:tcPr>
                    <a:solidFill>
                      <a:srgbClr val="F0F0F0"/>
                    </a:solidFill>
                  </a:tcPr>
                </a:tc>
                <a:extLst>
                  <a:ext uri="{0D108BD9-81ED-4DB2-BD59-A6C34878D82A}">
                    <a16:rowId xmlns:a16="http://schemas.microsoft.com/office/drawing/2014/main" val="10012"/>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10013"/>
                  </a:ext>
                </a:extLst>
              </a:tr>
              <a:tr h="216000">
                <a:tc vMerge="1">
                  <a:txBody>
                    <a:bodyPr/>
                    <a:lstStyle/>
                    <a:p>
                      <a:endParaRPr/>
                    </a:p>
                  </a:txBody>
                  <a:tcPr>
                    <a:solidFill>
                      <a:srgbClr val="F0F0F0"/>
                    </a:solidFill>
                  </a:tcPr>
                </a:tc>
                <a:tc>
                  <a:txBody>
                    <a:bodyPr/>
                    <a:lstStyle/>
                    <a:p>
                      <a:pPr algn="ctr">
                        <a:defRPr sz="800" b="0">
                          <a:solidFill>
                            <a:srgbClr val="000000"/>
                          </a:solidFill>
                          <a:latin typeface="Montserrat"/>
                        </a:defRPr>
                      </a:pPr>
                      <a:r>
                        <a:rPr dirty="0" err="1"/>
                        <a:t>Pediatría</a:t>
                      </a:r>
                      <a:endParaRPr dirty="0"/>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extLst>
                  <a:ext uri="{0D108BD9-81ED-4DB2-BD59-A6C34878D82A}">
                    <a16:rowId xmlns:a16="http://schemas.microsoft.com/office/drawing/2014/main" val="10014"/>
                  </a:ext>
                </a:extLst>
              </a:tr>
              <a:tr h="216000">
                <a:tc vMerge="1">
                  <a:txBody>
                    <a:bodyPr/>
                    <a:lstStyle/>
                    <a:p>
                      <a:endParaRPr/>
                    </a:p>
                  </a:txBody>
                  <a:tcPr>
                    <a:solidFill>
                      <a:srgbClr val="FFFFFF"/>
                    </a:solidFill>
                  </a:tcPr>
                </a:tc>
                <a:tc>
                  <a:txBody>
                    <a:bodyPr/>
                    <a:lstStyle/>
                    <a:p>
                      <a:pPr algn="ctr">
                        <a:defRPr sz="800" b="0">
                          <a:solidFill>
                            <a:srgbClr val="000000"/>
                          </a:solidFill>
                          <a:latin typeface="Montserrat"/>
                        </a:defRPr>
                      </a:pPr>
                      <a:r>
                        <a:rPr dirty="0" err="1"/>
                        <a:t>Traumatología</a:t>
                      </a:r>
                      <a:r>
                        <a:rPr dirty="0"/>
                        <a:t> y </a:t>
                      </a:r>
                      <a:r>
                        <a:rPr dirty="0" err="1"/>
                        <a:t>Ortopedia</a:t>
                      </a:r>
                      <a:endParaRPr dirty="0"/>
                    </a:p>
                  </a:txBody>
                  <a:tcPr>
                    <a:solidFill>
                      <a:srgbClr val="FFFFFF"/>
                    </a:solidFill>
                  </a:tcPr>
                </a:tc>
                <a:tc>
                  <a:txBody>
                    <a:bodyPr/>
                    <a:lstStyle/>
                    <a:p>
                      <a:pPr algn="ctr">
                        <a:defRPr sz="800" b="0">
                          <a:solidFill>
                            <a:srgbClr val="000000"/>
                          </a:solidFill>
                          <a:latin typeface="Montserrat"/>
                        </a:defRPr>
                      </a:pPr>
                      <a:r>
                        <a:rPr dirty="0"/>
                        <a:t>2</a:t>
                      </a:r>
                    </a:p>
                  </a:txBody>
                  <a:tcPr>
                    <a:solidFill>
                      <a:srgbClr val="FFFFFF"/>
                    </a:solidFill>
                  </a:tcPr>
                </a:tc>
                <a:extLst>
                  <a:ext uri="{0D108BD9-81ED-4DB2-BD59-A6C34878D82A}">
                    <a16:rowId xmlns:a16="http://schemas.microsoft.com/office/drawing/2014/main" val="10015"/>
                  </a:ext>
                </a:extLst>
              </a:tr>
              <a:tr h="216000">
                <a:tc vMerge="1">
                  <a:txBody>
                    <a:bodyPr/>
                    <a:lstStyle/>
                    <a:p>
                      <a:pPr algn="ctr">
                        <a:defRPr sz="800" b="1">
                          <a:solidFill>
                            <a:srgbClr val="000000"/>
                          </a:solidFill>
                          <a:latin typeface="Montserrat"/>
                        </a:defRPr>
                      </a:pPr>
                      <a:endParaRPr/>
                    </a:p>
                  </a:txBody>
                  <a:tcPr anchor="ctr">
                    <a:noFill/>
                  </a:tcPr>
                </a:tc>
                <a:tc>
                  <a:txBody>
                    <a:bodyPr/>
                    <a:lstStyle/>
                    <a:p>
                      <a:pPr algn="ctr">
                        <a:defRPr sz="800" b="0">
                          <a:solidFill>
                            <a:srgbClr val="000000"/>
                          </a:solidFill>
                          <a:latin typeface="Montserrat"/>
                        </a:defRPr>
                      </a:pPr>
                      <a:r>
                        <a:rPr dirty="0" err="1"/>
                        <a:t>Urología</a:t>
                      </a:r>
                      <a:endParaRPr dirty="0"/>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extLst>
                  <a:ext uri="{0D108BD9-81ED-4DB2-BD59-A6C34878D82A}">
                    <a16:rowId xmlns:a16="http://schemas.microsoft.com/office/drawing/2014/main" val="2639410376"/>
                  </a:ext>
                </a:extLst>
              </a:tr>
              <a:tr h="216000">
                <a:tc vMerge="1">
                  <a:txBody>
                    <a:bodyPr/>
                    <a:lstStyle/>
                    <a:p>
                      <a:pPr algn="ctr">
                        <a:defRPr sz="800" b="1">
                          <a:solidFill>
                            <a:srgbClr val="000000"/>
                          </a:solidFill>
                          <a:latin typeface="Montserrat"/>
                        </a:defRPr>
                      </a:pPr>
                      <a:endParaRPr dirty="0"/>
                    </a:p>
                  </a:txBody>
                  <a:tcPr anchor="ctr">
                    <a:noFill/>
                  </a:tcPr>
                </a:tc>
                <a:tc>
                  <a:txBody>
                    <a:bodyPr/>
                    <a:lstStyle/>
                    <a:p>
                      <a:pPr algn="ctr">
                        <a:defRPr sz="800" b="1">
                          <a:solidFill>
                            <a:srgbClr val="006455"/>
                          </a:solidFill>
                          <a:latin typeface="Montserrat"/>
                        </a:defRPr>
                      </a:pPr>
                      <a:r>
                        <a:rPr dirty="0"/>
                        <a:t>Total</a:t>
                      </a:r>
                    </a:p>
                  </a:txBody>
                  <a:tcPr>
                    <a:solidFill>
                      <a:srgbClr val="D3E9E7"/>
                    </a:solidFill>
                  </a:tcPr>
                </a:tc>
                <a:tc>
                  <a:txBody>
                    <a:bodyPr/>
                    <a:lstStyle/>
                    <a:p>
                      <a:pPr algn="ctr">
                        <a:defRPr sz="800" b="1">
                          <a:solidFill>
                            <a:srgbClr val="006455"/>
                          </a:solidFill>
                          <a:latin typeface="Montserrat"/>
                        </a:defRPr>
                      </a:pPr>
                      <a:r>
                        <a:rPr dirty="0"/>
                        <a:t>39</a:t>
                      </a:r>
                    </a:p>
                  </a:txBody>
                  <a:tcPr>
                    <a:solidFill>
                      <a:srgbClr val="D3E9E7"/>
                    </a:solidFill>
                  </a:tcPr>
                </a:tc>
                <a:extLst>
                  <a:ext uri="{0D108BD9-81ED-4DB2-BD59-A6C34878D82A}">
                    <a16:rowId xmlns:a16="http://schemas.microsoft.com/office/drawing/2014/main" val="3963510853"/>
                  </a:ext>
                </a:extLst>
              </a:tr>
            </a:tbl>
          </a:graphicData>
        </a:graphic>
      </p:graphicFrame>
      <p:sp>
        <p:nvSpPr>
          <p:cNvPr id="12" name="TextBox 11"/>
          <p:cNvSpPr txBox="1"/>
          <p:nvPr/>
        </p:nvSpPr>
        <p:spPr>
          <a:xfrm>
            <a:off x="270000" y="6118056"/>
            <a:ext cx="7200000" cy="540000"/>
          </a:xfrm>
          <a:prstGeom prst="rect">
            <a:avLst/>
          </a:prstGeom>
          <a:noFill/>
        </p:spPr>
        <p:txBody>
          <a:bodyPr wrap="square">
            <a:spAutoFit/>
          </a:bodyPr>
          <a:lstStyle/>
          <a:p>
            <a:pPr algn="l">
              <a:defRPr sz="1000">
                <a:solidFill>
                  <a:srgbClr val="000000"/>
                </a:solidFill>
                <a:latin typeface="Montserrat"/>
              </a:defRPr>
            </a:pPr>
            <a:r>
              <a:rPr dirty="0" err="1"/>
              <a:t>Sustitutos</a:t>
            </a:r>
            <a:r>
              <a:rPr dirty="0"/>
              <a:t> se </a:t>
            </a:r>
            <a:r>
              <a:rPr dirty="0" err="1"/>
              <a:t>integran</a:t>
            </a:r>
            <a:r>
              <a:rPr dirty="0"/>
              <a:t> a </a:t>
            </a:r>
            <a:r>
              <a:rPr dirty="0" err="1"/>
              <a:t>los</a:t>
            </a:r>
            <a:r>
              <a:rPr dirty="0"/>
              <a:t> </a:t>
            </a:r>
            <a:r>
              <a:rPr dirty="0" err="1"/>
              <a:t>Listados</a:t>
            </a:r>
            <a:r>
              <a:rPr dirty="0"/>
              <a:t> de Bolsa de </a:t>
            </a:r>
            <a:r>
              <a:rPr dirty="0" err="1"/>
              <a:t>Trabajo</a:t>
            </a:r>
            <a:r>
              <a:rPr dirty="0"/>
              <a:t>, para </a:t>
            </a:r>
            <a:r>
              <a:rPr dirty="0" err="1"/>
              <a:t>cubrir</a:t>
            </a:r>
            <a:r>
              <a:rPr dirty="0"/>
              <a:t> las </a:t>
            </a:r>
            <a:r>
              <a:rPr dirty="0" err="1"/>
              <a:t>futuras</a:t>
            </a:r>
            <a:r>
              <a:rPr dirty="0"/>
              <a:t> </a:t>
            </a:r>
            <a:r>
              <a:rPr dirty="0" err="1"/>
              <a:t>vacantes</a:t>
            </a:r>
            <a:r>
              <a:rPr dirty="0"/>
              <a:t> </a:t>
            </a:r>
            <a:r>
              <a:rPr dirty="0" err="1"/>
              <a:t>por</a:t>
            </a:r>
            <a:r>
              <a:rPr dirty="0"/>
              <a:t> </a:t>
            </a:r>
            <a:r>
              <a:rPr dirty="0" err="1"/>
              <a:t>jubilación</a:t>
            </a:r>
            <a:r>
              <a:rPr dirty="0"/>
              <a:t>, </a:t>
            </a:r>
            <a:r>
              <a:rPr dirty="0" err="1"/>
              <a:t>renuncia</a:t>
            </a:r>
            <a:r>
              <a:rPr dirty="0"/>
              <a:t>, </a:t>
            </a:r>
            <a:r>
              <a:rPr dirty="0" err="1"/>
              <a:t>fallecimiento</a:t>
            </a:r>
            <a:r>
              <a:rPr dirty="0"/>
              <a:t>, etc., </a:t>
            </a:r>
            <a:r>
              <a:rPr dirty="0" err="1"/>
              <a:t>así</a:t>
            </a:r>
            <a:r>
              <a:rPr dirty="0"/>
              <a:t> </a:t>
            </a:r>
            <a:r>
              <a:rPr dirty="0" err="1"/>
              <a:t>como</a:t>
            </a:r>
            <a:r>
              <a:rPr dirty="0"/>
              <a:t> </a:t>
            </a:r>
            <a:r>
              <a:rPr dirty="0" err="1"/>
              <a:t>ausentismo</a:t>
            </a:r>
            <a:r>
              <a:rPr dirty="0"/>
              <a:t> </a:t>
            </a:r>
            <a:r>
              <a:rPr dirty="0" err="1"/>
              <a:t>programado</a:t>
            </a:r>
            <a:r>
              <a:rPr dirty="0"/>
              <a:t> y no </a:t>
            </a:r>
            <a:r>
              <a:rPr dirty="0" err="1"/>
              <a:t>programado</a:t>
            </a:r>
            <a:r>
              <a:rPr dirty="0"/>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103144"/>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extLst>
              <p:ext uri="{D42A27DB-BD31-4B8C-83A1-F6EECF244321}">
                <p14:modId xmlns:p14="http://schemas.microsoft.com/office/powerpoint/2010/main" val="562588879"/>
              </p:ext>
            </p:extLst>
          </p:nvPr>
        </p:nvGraphicFramePr>
        <p:xfrm>
          <a:off x="1007999" y="1394746"/>
          <a:ext cx="5756399" cy="7008720"/>
        </p:xfrm>
        <a:graphic>
          <a:graphicData uri="http://schemas.openxmlformats.org/drawingml/2006/table">
            <a:tbl>
              <a:tblPr firstRow="1" bandRow="1">
                <a:tableStyleId>{5C22544A-7EE6-4342-B048-85BDC9FD1C3A}</a:tableStyleId>
              </a:tblPr>
              <a:tblGrid>
                <a:gridCol w="2642400">
                  <a:extLst>
                    <a:ext uri="{9D8B030D-6E8A-4147-A177-3AD203B41FA5}">
                      <a16:colId xmlns:a16="http://schemas.microsoft.com/office/drawing/2014/main" val="20000"/>
                    </a:ext>
                  </a:extLst>
                </a:gridCol>
                <a:gridCol w="1638000">
                  <a:extLst>
                    <a:ext uri="{9D8B030D-6E8A-4147-A177-3AD203B41FA5}">
                      <a16:colId xmlns:a16="http://schemas.microsoft.com/office/drawing/2014/main" val="20001"/>
                    </a:ext>
                  </a:extLst>
                </a:gridCol>
                <a:gridCol w="1475999">
                  <a:extLst>
                    <a:ext uri="{9D8B030D-6E8A-4147-A177-3AD203B41FA5}">
                      <a16:colId xmlns:a16="http://schemas.microsoft.com/office/drawing/2014/main" val="20002"/>
                    </a:ext>
                  </a:extLst>
                </a:gridCol>
              </a:tblGrid>
              <a:tr h="161584">
                <a:tc>
                  <a:txBody>
                    <a:bodyPr/>
                    <a:lstStyle/>
                    <a:p>
                      <a:pPr algn="ctr">
                        <a:defRPr sz="1100" b="1">
                          <a:solidFill>
                            <a:srgbClr val="FFFFFF"/>
                          </a:solidFill>
                          <a:latin typeface="Montserrat"/>
                        </a:defRPr>
                      </a:pPr>
                      <a:r>
                        <a:t>Especialidad</a:t>
                      </a:r>
                    </a:p>
                  </a:txBody>
                  <a:tcPr marL="14400" marR="14400" marT="14400" marB="14400">
                    <a:solidFill>
                      <a:srgbClr val="006455"/>
                    </a:solidFill>
                  </a:tcPr>
                </a:tc>
                <a:tc>
                  <a:txBody>
                    <a:bodyPr/>
                    <a:lstStyle/>
                    <a:p>
                      <a:pPr algn="ctr">
                        <a:defRPr sz="1100" b="1">
                          <a:solidFill>
                            <a:srgbClr val="FFFFFF"/>
                          </a:solidFill>
                          <a:latin typeface="Montserrat"/>
                        </a:defRPr>
                      </a:pPr>
                      <a:r>
                        <a:t>Número</a:t>
                      </a:r>
                    </a:p>
                  </a:txBody>
                  <a:tcPr marL="14400" marR="14400" marT="14400" marB="14400">
                    <a:solidFill>
                      <a:srgbClr val="006455"/>
                    </a:solidFill>
                  </a:tcPr>
                </a:tc>
                <a:tc>
                  <a:txBody>
                    <a:bodyPr/>
                    <a:lstStyle/>
                    <a:p>
                      <a:pPr algn="ctr">
                        <a:defRPr sz="1100" b="1">
                          <a:solidFill>
                            <a:srgbClr val="FFFFFF"/>
                          </a:solidFill>
                          <a:latin typeface="Montserrat"/>
                        </a:defRPr>
                      </a:pPr>
                      <a:r>
                        <a:t>% Acumulado</a:t>
                      </a:r>
                    </a:p>
                  </a:txBody>
                  <a:tcPr marL="14400" marR="14400" marT="14400" marB="14400">
                    <a:solidFill>
                      <a:srgbClr val="006455"/>
                    </a:solidFill>
                  </a:tcPr>
                </a:tc>
                <a:extLst>
                  <a:ext uri="{0D108BD9-81ED-4DB2-BD59-A6C34878D82A}">
                    <a16:rowId xmlns:a16="http://schemas.microsoft.com/office/drawing/2014/main" val="10000"/>
                  </a:ext>
                </a:extLst>
              </a:tr>
              <a:tr h="161584">
                <a:tc>
                  <a:txBody>
                    <a:bodyPr/>
                    <a:lstStyle/>
                    <a:p>
                      <a:pPr algn="l">
                        <a:defRPr sz="1100" b="0">
                          <a:solidFill>
                            <a:srgbClr val="000000"/>
                          </a:solidFill>
                          <a:latin typeface="Montserrat"/>
                        </a:defRPr>
                      </a:pPr>
                      <a:r>
                        <a:t>Medicina de Urgencias</a:t>
                      </a:r>
                    </a:p>
                  </a:txBody>
                  <a:tcPr marL="45720" marR="45720" anchor="ctr">
                    <a:solidFill>
                      <a:srgbClr val="FFFFFF"/>
                    </a:solidFill>
                  </a:tcPr>
                </a:tc>
                <a:tc>
                  <a:txBody>
                    <a:bodyPr/>
                    <a:lstStyle/>
                    <a:p>
                      <a:pPr algn="ctr">
                        <a:defRPr sz="1100" b="0">
                          <a:solidFill>
                            <a:srgbClr val="000000"/>
                          </a:solidFill>
                          <a:latin typeface="Montserrat"/>
                        </a:defRPr>
                      </a:pPr>
                      <a:r>
                        <a:t>20</a:t>
                      </a:r>
                    </a:p>
                  </a:txBody>
                  <a:tcPr marL="45720" marR="45720" anchor="ctr">
                    <a:solidFill>
                      <a:srgbClr val="FFFFFF"/>
                    </a:solidFill>
                  </a:tcPr>
                </a:tc>
                <a:tc>
                  <a:txBody>
                    <a:bodyPr/>
                    <a:lstStyle/>
                    <a:p>
                      <a:pPr algn="ctr">
                        <a:defRPr sz="1100" b="1">
                          <a:solidFill>
                            <a:srgbClr val="000000"/>
                          </a:solidFill>
                          <a:latin typeface="Montserrat"/>
                        </a:defRPr>
                      </a:pPr>
                      <a:r>
                        <a:t>15.5%</a:t>
                      </a:r>
                    </a:p>
                  </a:txBody>
                  <a:tcPr marL="45720" marR="45720" anchor="ctr">
                    <a:solidFill>
                      <a:srgbClr val="FFFFFF"/>
                    </a:solidFill>
                  </a:tcPr>
                </a:tc>
                <a:extLst>
                  <a:ext uri="{0D108BD9-81ED-4DB2-BD59-A6C34878D82A}">
                    <a16:rowId xmlns:a16="http://schemas.microsoft.com/office/drawing/2014/main" val="10001"/>
                  </a:ext>
                </a:extLst>
              </a:tr>
              <a:tr h="161584">
                <a:tc>
                  <a:txBody>
                    <a:bodyPr/>
                    <a:lstStyle/>
                    <a:p>
                      <a:pPr algn="l">
                        <a:defRPr sz="1100" b="0">
                          <a:solidFill>
                            <a:srgbClr val="000000"/>
                          </a:solidFill>
                          <a:latin typeface="Montserrat"/>
                        </a:defRPr>
                      </a:pPr>
                      <a:r>
                        <a:t>Ginecología y Obstetricia</a:t>
                      </a:r>
                    </a:p>
                  </a:txBody>
                  <a:tcPr marL="45720" marR="45720" anchor="ctr">
                    <a:solidFill>
                      <a:srgbClr val="D9D9D9"/>
                    </a:solidFill>
                  </a:tcPr>
                </a:tc>
                <a:tc>
                  <a:txBody>
                    <a:bodyPr/>
                    <a:lstStyle/>
                    <a:p>
                      <a:pPr algn="ctr">
                        <a:defRPr sz="1100" b="0">
                          <a:solidFill>
                            <a:srgbClr val="000000"/>
                          </a:solidFill>
                          <a:latin typeface="Montserrat"/>
                        </a:defRPr>
                      </a:pPr>
                      <a:r>
                        <a:t>20</a:t>
                      </a:r>
                    </a:p>
                  </a:txBody>
                  <a:tcPr marL="45720" marR="45720" anchor="ctr">
                    <a:solidFill>
                      <a:srgbClr val="D9D9D9"/>
                    </a:solidFill>
                  </a:tcPr>
                </a:tc>
                <a:tc>
                  <a:txBody>
                    <a:bodyPr/>
                    <a:lstStyle/>
                    <a:p>
                      <a:pPr algn="ctr">
                        <a:defRPr sz="1100" b="1">
                          <a:solidFill>
                            <a:srgbClr val="000000"/>
                          </a:solidFill>
                          <a:latin typeface="Montserrat"/>
                        </a:defRPr>
                      </a:pPr>
                      <a:r>
                        <a:t>31.0%</a:t>
                      </a:r>
                    </a:p>
                  </a:txBody>
                  <a:tcPr marL="45720" marR="45720" anchor="ctr">
                    <a:solidFill>
                      <a:srgbClr val="D9D9D9"/>
                    </a:solidFill>
                  </a:tcPr>
                </a:tc>
                <a:extLst>
                  <a:ext uri="{0D108BD9-81ED-4DB2-BD59-A6C34878D82A}">
                    <a16:rowId xmlns:a16="http://schemas.microsoft.com/office/drawing/2014/main" val="10002"/>
                  </a:ext>
                </a:extLst>
              </a:tr>
              <a:tr h="161584">
                <a:tc>
                  <a:txBody>
                    <a:bodyPr/>
                    <a:lstStyle/>
                    <a:p>
                      <a:pPr algn="l">
                        <a:defRPr sz="1100" b="0">
                          <a:solidFill>
                            <a:srgbClr val="000000"/>
                          </a:solidFill>
                          <a:latin typeface="Montserrat"/>
                        </a:defRPr>
                      </a:pPr>
                      <a:r>
                        <a:t>Anestesiología</a:t>
                      </a:r>
                    </a:p>
                  </a:txBody>
                  <a:tcPr marL="45720" marR="45720" anchor="ctr">
                    <a:solidFill>
                      <a:srgbClr val="FFFFFF"/>
                    </a:solidFill>
                  </a:tcPr>
                </a:tc>
                <a:tc>
                  <a:txBody>
                    <a:bodyPr/>
                    <a:lstStyle/>
                    <a:p>
                      <a:pPr algn="ctr">
                        <a:defRPr sz="1100" b="0">
                          <a:solidFill>
                            <a:srgbClr val="000000"/>
                          </a:solidFill>
                          <a:latin typeface="Montserrat"/>
                        </a:defRPr>
                      </a:pPr>
                      <a:r>
                        <a:t>15</a:t>
                      </a:r>
                    </a:p>
                  </a:txBody>
                  <a:tcPr marL="45720" marR="45720" anchor="ctr">
                    <a:solidFill>
                      <a:srgbClr val="FFFFFF"/>
                    </a:solidFill>
                  </a:tcPr>
                </a:tc>
                <a:tc>
                  <a:txBody>
                    <a:bodyPr/>
                    <a:lstStyle/>
                    <a:p>
                      <a:pPr algn="ctr">
                        <a:defRPr sz="1100" b="1">
                          <a:solidFill>
                            <a:srgbClr val="000000"/>
                          </a:solidFill>
                          <a:latin typeface="Montserrat"/>
                        </a:defRPr>
                      </a:pPr>
                      <a:r>
                        <a:t>42.6%</a:t>
                      </a:r>
                    </a:p>
                  </a:txBody>
                  <a:tcPr marL="45720" marR="45720" anchor="ctr">
                    <a:solidFill>
                      <a:srgbClr val="FFFFFF"/>
                    </a:solidFill>
                  </a:tcPr>
                </a:tc>
                <a:extLst>
                  <a:ext uri="{0D108BD9-81ED-4DB2-BD59-A6C34878D82A}">
                    <a16:rowId xmlns:a16="http://schemas.microsoft.com/office/drawing/2014/main" val="10003"/>
                  </a:ext>
                </a:extLst>
              </a:tr>
              <a:tr h="161584">
                <a:tc>
                  <a:txBody>
                    <a:bodyPr/>
                    <a:lstStyle/>
                    <a:p>
                      <a:pPr algn="l">
                        <a:defRPr sz="1100" b="0">
                          <a:solidFill>
                            <a:srgbClr val="000000"/>
                          </a:solidFill>
                          <a:latin typeface="Montserrat"/>
                        </a:defRPr>
                      </a:pPr>
                      <a:r>
                        <a:t>Cirugía General</a:t>
                      </a:r>
                    </a:p>
                  </a:txBody>
                  <a:tcPr marL="45720" marR="45720" anchor="ctr">
                    <a:solidFill>
                      <a:srgbClr val="D9D9D9"/>
                    </a:solidFill>
                  </a:tcPr>
                </a:tc>
                <a:tc>
                  <a:txBody>
                    <a:bodyPr/>
                    <a:lstStyle/>
                    <a:p>
                      <a:pPr algn="ctr">
                        <a:defRPr sz="1100" b="0">
                          <a:solidFill>
                            <a:srgbClr val="000000"/>
                          </a:solidFill>
                          <a:latin typeface="Montserrat"/>
                        </a:defRPr>
                      </a:pPr>
                      <a:r>
                        <a:t>15</a:t>
                      </a:r>
                    </a:p>
                  </a:txBody>
                  <a:tcPr marL="45720" marR="45720" anchor="ctr">
                    <a:solidFill>
                      <a:srgbClr val="D9D9D9"/>
                    </a:solidFill>
                  </a:tcPr>
                </a:tc>
                <a:tc>
                  <a:txBody>
                    <a:bodyPr/>
                    <a:lstStyle/>
                    <a:p>
                      <a:pPr algn="ctr">
                        <a:defRPr sz="1100" b="1">
                          <a:solidFill>
                            <a:srgbClr val="000000"/>
                          </a:solidFill>
                          <a:latin typeface="Montserrat"/>
                        </a:defRPr>
                      </a:pPr>
                      <a:r>
                        <a:t>54.2%</a:t>
                      </a:r>
                    </a:p>
                  </a:txBody>
                  <a:tcPr marL="45720" marR="45720" anchor="ctr">
                    <a:solidFill>
                      <a:srgbClr val="D9D9D9"/>
                    </a:solidFill>
                  </a:tcPr>
                </a:tc>
                <a:extLst>
                  <a:ext uri="{0D108BD9-81ED-4DB2-BD59-A6C34878D82A}">
                    <a16:rowId xmlns:a16="http://schemas.microsoft.com/office/drawing/2014/main" val="10004"/>
                  </a:ext>
                </a:extLst>
              </a:tr>
              <a:tr h="161584">
                <a:tc>
                  <a:txBody>
                    <a:bodyPr/>
                    <a:lstStyle/>
                    <a:p>
                      <a:pPr algn="l">
                        <a:defRPr sz="1100" b="0">
                          <a:solidFill>
                            <a:srgbClr val="000000"/>
                          </a:solidFill>
                          <a:latin typeface="Montserrat"/>
                        </a:defRPr>
                      </a:pPr>
                      <a:r>
                        <a:t>Pediatría</a:t>
                      </a:r>
                    </a:p>
                  </a:txBody>
                  <a:tcPr marL="45720" marR="45720" anchor="ctr">
                    <a:solidFill>
                      <a:srgbClr val="FFFFFF"/>
                    </a:solidFill>
                  </a:tcPr>
                </a:tc>
                <a:tc>
                  <a:txBody>
                    <a:bodyPr/>
                    <a:lstStyle/>
                    <a:p>
                      <a:pPr algn="ctr">
                        <a:defRPr sz="1100" b="0">
                          <a:solidFill>
                            <a:srgbClr val="000000"/>
                          </a:solidFill>
                          <a:latin typeface="Montserrat"/>
                        </a:defRPr>
                      </a:pPr>
                      <a:r>
                        <a:t>13</a:t>
                      </a:r>
                    </a:p>
                  </a:txBody>
                  <a:tcPr marL="45720" marR="45720" anchor="ctr">
                    <a:solidFill>
                      <a:srgbClr val="FFFFFF"/>
                    </a:solidFill>
                  </a:tcPr>
                </a:tc>
                <a:tc>
                  <a:txBody>
                    <a:bodyPr/>
                    <a:lstStyle/>
                    <a:p>
                      <a:pPr algn="ctr">
                        <a:defRPr sz="1100" b="1">
                          <a:solidFill>
                            <a:srgbClr val="000000"/>
                          </a:solidFill>
                          <a:latin typeface="Montserrat"/>
                        </a:defRPr>
                      </a:pPr>
                      <a:r>
                        <a:t>64.3%</a:t>
                      </a:r>
                    </a:p>
                  </a:txBody>
                  <a:tcPr marL="45720" marR="45720" anchor="ctr">
                    <a:solidFill>
                      <a:srgbClr val="FFFFFF"/>
                    </a:solidFill>
                  </a:tcPr>
                </a:tc>
                <a:extLst>
                  <a:ext uri="{0D108BD9-81ED-4DB2-BD59-A6C34878D82A}">
                    <a16:rowId xmlns:a16="http://schemas.microsoft.com/office/drawing/2014/main" val="10005"/>
                  </a:ext>
                </a:extLst>
              </a:tr>
              <a:tr h="161584">
                <a:tc>
                  <a:txBody>
                    <a:bodyPr/>
                    <a:lstStyle/>
                    <a:p>
                      <a:pPr algn="l">
                        <a:defRPr sz="1100" b="0">
                          <a:solidFill>
                            <a:srgbClr val="000000"/>
                          </a:solidFill>
                          <a:latin typeface="Montserrat"/>
                        </a:defRPr>
                      </a:pPr>
                      <a:r>
                        <a:t>Medicina Familiar</a:t>
                      </a:r>
                    </a:p>
                  </a:txBody>
                  <a:tcPr marL="45720" marR="45720" anchor="ctr">
                    <a:solidFill>
                      <a:srgbClr val="D9D9D9"/>
                    </a:solidFill>
                  </a:tcPr>
                </a:tc>
                <a:tc>
                  <a:txBody>
                    <a:bodyPr/>
                    <a:lstStyle/>
                    <a:p>
                      <a:pPr algn="ctr">
                        <a:defRPr sz="1100" b="0">
                          <a:solidFill>
                            <a:srgbClr val="000000"/>
                          </a:solidFill>
                          <a:latin typeface="Montserrat"/>
                        </a:defRPr>
                      </a:pPr>
                      <a:r>
                        <a:t>9</a:t>
                      </a:r>
                    </a:p>
                  </a:txBody>
                  <a:tcPr marL="45720" marR="45720" anchor="ctr">
                    <a:solidFill>
                      <a:srgbClr val="D9D9D9"/>
                    </a:solidFill>
                  </a:tcPr>
                </a:tc>
                <a:tc>
                  <a:txBody>
                    <a:bodyPr/>
                    <a:lstStyle/>
                    <a:p>
                      <a:pPr algn="ctr">
                        <a:defRPr sz="1100" b="1">
                          <a:solidFill>
                            <a:srgbClr val="000000"/>
                          </a:solidFill>
                          <a:latin typeface="Montserrat"/>
                        </a:defRPr>
                      </a:pPr>
                      <a:r>
                        <a:t>71.3%</a:t>
                      </a:r>
                    </a:p>
                  </a:txBody>
                  <a:tcPr marL="45720" marR="45720" anchor="ctr">
                    <a:solidFill>
                      <a:srgbClr val="D9D9D9"/>
                    </a:solidFill>
                  </a:tcPr>
                </a:tc>
                <a:extLst>
                  <a:ext uri="{0D108BD9-81ED-4DB2-BD59-A6C34878D82A}">
                    <a16:rowId xmlns:a16="http://schemas.microsoft.com/office/drawing/2014/main" val="10006"/>
                  </a:ext>
                </a:extLst>
              </a:tr>
              <a:tr h="161584">
                <a:tc>
                  <a:txBody>
                    <a:bodyPr/>
                    <a:lstStyle/>
                    <a:p>
                      <a:pPr algn="l">
                        <a:defRPr sz="1100" b="0">
                          <a:solidFill>
                            <a:srgbClr val="000000"/>
                          </a:solidFill>
                          <a:latin typeface="Montserrat"/>
                        </a:defRPr>
                      </a:pPr>
                      <a:r>
                        <a:t>Medicina Interna</a:t>
                      </a:r>
                    </a:p>
                  </a:txBody>
                  <a:tcPr marL="45720" marR="45720" anchor="ctr">
                    <a:solidFill>
                      <a:srgbClr val="FFFFFF"/>
                    </a:solidFill>
                  </a:tcPr>
                </a:tc>
                <a:tc>
                  <a:txBody>
                    <a:bodyPr/>
                    <a:lstStyle/>
                    <a:p>
                      <a:pPr algn="ctr">
                        <a:defRPr sz="1100" b="0">
                          <a:solidFill>
                            <a:srgbClr val="000000"/>
                          </a:solidFill>
                          <a:latin typeface="Montserrat"/>
                        </a:defRPr>
                      </a:pPr>
                      <a:r>
                        <a:t>8</a:t>
                      </a:r>
                    </a:p>
                  </a:txBody>
                  <a:tcPr marL="45720" marR="45720" anchor="ctr">
                    <a:solidFill>
                      <a:srgbClr val="FFFFFF"/>
                    </a:solidFill>
                  </a:tcPr>
                </a:tc>
                <a:tc>
                  <a:txBody>
                    <a:bodyPr/>
                    <a:lstStyle/>
                    <a:p>
                      <a:pPr algn="ctr">
                        <a:defRPr sz="1100" b="1">
                          <a:solidFill>
                            <a:srgbClr val="000000"/>
                          </a:solidFill>
                          <a:latin typeface="Montserrat"/>
                        </a:defRPr>
                      </a:pPr>
                      <a:r>
                        <a:t>77.5%</a:t>
                      </a:r>
                    </a:p>
                  </a:txBody>
                  <a:tcPr marL="45720" marR="45720" anchor="ctr">
                    <a:solidFill>
                      <a:srgbClr val="FFFFFF"/>
                    </a:solidFill>
                  </a:tcPr>
                </a:tc>
                <a:extLst>
                  <a:ext uri="{0D108BD9-81ED-4DB2-BD59-A6C34878D82A}">
                    <a16:rowId xmlns:a16="http://schemas.microsoft.com/office/drawing/2014/main" val="10007"/>
                  </a:ext>
                </a:extLst>
              </a:tr>
              <a:tr h="161584">
                <a:tc>
                  <a:txBody>
                    <a:bodyPr/>
                    <a:lstStyle/>
                    <a:p>
                      <a:pPr algn="l">
                        <a:defRPr sz="1100" b="0">
                          <a:solidFill>
                            <a:srgbClr val="000000"/>
                          </a:solidFill>
                          <a:latin typeface="Montserrat"/>
                        </a:defRPr>
                      </a:pPr>
                      <a:r>
                        <a:t>Imagenología Diagnóstico y Terapéutica</a:t>
                      </a:r>
                    </a:p>
                  </a:txBody>
                  <a:tcPr marL="45720" marR="45720" anchor="ctr">
                    <a:solidFill>
                      <a:srgbClr val="D9D9D9"/>
                    </a:solidFill>
                  </a:tcPr>
                </a:tc>
                <a:tc>
                  <a:txBody>
                    <a:bodyPr/>
                    <a:lstStyle/>
                    <a:p>
                      <a:pPr algn="ctr">
                        <a:defRPr sz="1100" b="0">
                          <a:solidFill>
                            <a:srgbClr val="000000"/>
                          </a:solidFill>
                          <a:latin typeface="Montserrat"/>
                        </a:defRPr>
                      </a:pPr>
                      <a:r>
                        <a:t>4</a:t>
                      </a:r>
                    </a:p>
                  </a:txBody>
                  <a:tcPr marL="45720" marR="45720" anchor="ctr">
                    <a:solidFill>
                      <a:srgbClr val="D9D9D9"/>
                    </a:solidFill>
                  </a:tcPr>
                </a:tc>
                <a:tc>
                  <a:txBody>
                    <a:bodyPr/>
                    <a:lstStyle/>
                    <a:p>
                      <a:pPr algn="ctr">
                        <a:defRPr sz="1100" b="1">
                          <a:solidFill>
                            <a:srgbClr val="000000"/>
                          </a:solidFill>
                          <a:latin typeface="Montserrat"/>
                        </a:defRPr>
                      </a:pPr>
                      <a:r>
                        <a:t>80.6%</a:t>
                      </a:r>
                    </a:p>
                  </a:txBody>
                  <a:tcPr marL="45720" marR="45720" anchor="ctr">
                    <a:solidFill>
                      <a:srgbClr val="D9D9D9"/>
                    </a:solidFill>
                  </a:tcPr>
                </a:tc>
                <a:extLst>
                  <a:ext uri="{0D108BD9-81ED-4DB2-BD59-A6C34878D82A}">
                    <a16:rowId xmlns:a16="http://schemas.microsoft.com/office/drawing/2014/main" val="10008"/>
                  </a:ext>
                </a:extLst>
              </a:tr>
              <a:tr h="161584">
                <a:tc>
                  <a:txBody>
                    <a:bodyPr/>
                    <a:lstStyle/>
                    <a:p>
                      <a:pPr algn="l">
                        <a:defRPr sz="1100" b="0">
                          <a:solidFill>
                            <a:srgbClr val="000000"/>
                          </a:solidFill>
                          <a:latin typeface="Montserrat"/>
                        </a:defRPr>
                      </a:pPr>
                      <a:r>
                        <a:t>Traumatología y Ortopedia</a:t>
                      </a:r>
                    </a:p>
                  </a:txBody>
                  <a:tcPr marL="45720" marR="45720" anchor="ctr">
                    <a:solidFill>
                      <a:srgbClr val="FFFFFF"/>
                    </a:solidFill>
                  </a:tcPr>
                </a:tc>
                <a:tc>
                  <a:txBody>
                    <a:bodyPr/>
                    <a:lstStyle/>
                    <a:p>
                      <a:pPr algn="ctr">
                        <a:defRPr sz="1100" b="0">
                          <a:solidFill>
                            <a:srgbClr val="000000"/>
                          </a:solidFill>
                          <a:latin typeface="Montserrat"/>
                        </a:defRPr>
                      </a:pPr>
                      <a:r>
                        <a:t>4</a:t>
                      </a:r>
                    </a:p>
                  </a:txBody>
                  <a:tcPr marL="45720" marR="45720" anchor="ctr">
                    <a:solidFill>
                      <a:srgbClr val="FFFFFF"/>
                    </a:solidFill>
                  </a:tcPr>
                </a:tc>
                <a:tc>
                  <a:txBody>
                    <a:bodyPr/>
                    <a:lstStyle/>
                    <a:p>
                      <a:pPr algn="ctr">
                        <a:defRPr sz="1100" b="1">
                          <a:solidFill>
                            <a:srgbClr val="000000"/>
                          </a:solidFill>
                          <a:latin typeface="Montserrat"/>
                        </a:defRPr>
                      </a:pPr>
                      <a:r>
                        <a:t>83.7%</a:t>
                      </a:r>
                    </a:p>
                  </a:txBody>
                  <a:tcPr marL="45720" marR="45720" anchor="ctr">
                    <a:solidFill>
                      <a:srgbClr val="FFFFFF"/>
                    </a:solidFill>
                  </a:tcPr>
                </a:tc>
                <a:extLst>
                  <a:ext uri="{0D108BD9-81ED-4DB2-BD59-A6C34878D82A}">
                    <a16:rowId xmlns:a16="http://schemas.microsoft.com/office/drawing/2014/main" val="10009"/>
                  </a:ext>
                </a:extLst>
              </a:tr>
              <a:tr h="161584">
                <a:tc>
                  <a:txBody>
                    <a:bodyPr/>
                    <a:lstStyle/>
                    <a:p>
                      <a:pPr algn="l">
                        <a:defRPr sz="1100" b="0">
                          <a:solidFill>
                            <a:srgbClr val="000000"/>
                          </a:solidFill>
                          <a:latin typeface="Montserrat"/>
                        </a:defRPr>
                      </a:pPr>
                      <a:r>
                        <a:t>Medicina de Rehabilitación</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85.2%</a:t>
                      </a:r>
                    </a:p>
                  </a:txBody>
                  <a:tcPr marL="45720" marR="45720" anchor="ctr">
                    <a:solidFill>
                      <a:srgbClr val="D9D9D9"/>
                    </a:solidFill>
                  </a:tcPr>
                </a:tc>
                <a:extLst>
                  <a:ext uri="{0D108BD9-81ED-4DB2-BD59-A6C34878D82A}">
                    <a16:rowId xmlns:a16="http://schemas.microsoft.com/office/drawing/2014/main" val="10010"/>
                  </a:ext>
                </a:extLst>
              </a:tr>
              <a:tr h="161584">
                <a:tc>
                  <a:txBody>
                    <a:bodyPr/>
                    <a:lstStyle/>
                    <a:p>
                      <a:pPr algn="l">
                        <a:defRPr sz="1100" b="0">
                          <a:solidFill>
                            <a:srgbClr val="000000"/>
                          </a:solidFill>
                          <a:latin typeface="Montserrat"/>
                        </a:defRPr>
                      </a:pPr>
                      <a:r>
                        <a:t>Medicina del Trabajo y Ambiental</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86.8%</a:t>
                      </a:r>
                    </a:p>
                  </a:txBody>
                  <a:tcPr marL="45720" marR="45720" anchor="ctr">
                    <a:solidFill>
                      <a:srgbClr val="FFFFFF"/>
                    </a:solidFill>
                  </a:tcPr>
                </a:tc>
                <a:extLst>
                  <a:ext uri="{0D108BD9-81ED-4DB2-BD59-A6C34878D82A}">
                    <a16:rowId xmlns:a16="http://schemas.microsoft.com/office/drawing/2014/main" val="10011"/>
                  </a:ext>
                </a:extLst>
              </a:tr>
              <a:tr h="161584">
                <a:tc>
                  <a:txBody>
                    <a:bodyPr/>
                    <a:lstStyle/>
                    <a:p>
                      <a:pPr algn="l">
                        <a:defRPr sz="1100" b="0">
                          <a:solidFill>
                            <a:srgbClr val="000000"/>
                          </a:solidFill>
                          <a:latin typeface="Montserrat"/>
                        </a:defRPr>
                      </a:pPr>
                      <a:r>
                        <a:t>Epidemiología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88.3%</a:t>
                      </a:r>
                    </a:p>
                  </a:txBody>
                  <a:tcPr marL="45720" marR="45720" anchor="ctr">
                    <a:solidFill>
                      <a:srgbClr val="D9D9D9"/>
                    </a:solidFill>
                  </a:tcPr>
                </a:tc>
                <a:extLst>
                  <a:ext uri="{0D108BD9-81ED-4DB2-BD59-A6C34878D82A}">
                    <a16:rowId xmlns:a16="http://schemas.microsoft.com/office/drawing/2014/main" val="10012"/>
                  </a:ext>
                </a:extLst>
              </a:tr>
              <a:tr h="161584">
                <a:tc>
                  <a:txBody>
                    <a:bodyPr/>
                    <a:lstStyle/>
                    <a:p>
                      <a:pPr algn="l">
                        <a:defRPr sz="1100" b="0">
                          <a:solidFill>
                            <a:srgbClr val="000000"/>
                          </a:solidFill>
                          <a:latin typeface="Montserrat"/>
                        </a:defRPr>
                      </a:pPr>
                      <a:r>
                        <a:t>Anatomía Patológica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89.9%</a:t>
                      </a:r>
                    </a:p>
                  </a:txBody>
                  <a:tcPr marL="45720" marR="45720" anchor="ctr">
                    <a:solidFill>
                      <a:srgbClr val="FFFFFF"/>
                    </a:solidFill>
                  </a:tcPr>
                </a:tc>
                <a:extLst>
                  <a:ext uri="{0D108BD9-81ED-4DB2-BD59-A6C34878D82A}">
                    <a16:rowId xmlns:a16="http://schemas.microsoft.com/office/drawing/2014/main" val="10013"/>
                  </a:ext>
                </a:extLst>
              </a:tr>
              <a:tr h="161584">
                <a:tc>
                  <a:txBody>
                    <a:bodyPr/>
                    <a:lstStyle/>
                    <a:p>
                      <a:pPr algn="l">
                        <a:defRPr sz="1100" b="0">
                          <a:solidFill>
                            <a:srgbClr val="000000"/>
                          </a:solidFill>
                          <a:latin typeface="Montserrat"/>
                        </a:defRPr>
                      </a:pPr>
                      <a:r>
                        <a:t>Cardiología</a:t>
                      </a:r>
                    </a:p>
                  </a:txBody>
                  <a:tcPr marL="45720" marR="45720" anchor="ctr">
                    <a:solidFill>
                      <a:srgbClr val="D9D9D9"/>
                    </a:solidFill>
                  </a:tcPr>
                </a:tc>
                <a:tc>
                  <a:txBody>
                    <a:bodyPr/>
                    <a:lstStyle/>
                    <a:p>
                      <a:pPr algn="ctr">
                        <a:defRPr sz="1100" b="0">
                          <a:solidFill>
                            <a:srgbClr val="000000"/>
                          </a:solidFill>
                          <a:latin typeface="Montserrat"/>
                        </a:defRPr>
                      </a:pPr>
                      <a:r>
                        <a:t>2</a:t>
                      </a:r>
                    </a:p>
                  </a:txBody>
                  <a:tcPr marL="45720" marR="45720" anchor="ctr">
                    <a:solidFill>
                      <a:srgbClr val="D9D9D9"/>
                    </a:solidFill>
                  </a:tcPr>
                </a:tc>
                <a:tc>
                  <a:txBody>
                    <a:bodyPr/>
                    <a:lstStyle/>
                    <a:p>
                      <a:pPr algn="ctr">
                        <a:defRPr sz="1100" b="1">
                          <a:solidFill>
                            <a:srgbClr val="000000"/>
                          </a:solidFill>
                          <a:latin typeface="Montserrat"/>
                        </a:defRPr>
                      </a:pPr>
                      <a:r>
                        <a:t>91.4%</a:t>
                      </a:r>
                    </a:p>
                  </a:txBody>
                  <a:tcPr marL="45720" marR="45720" anchor="ctr">
                    <a:solidFill>
                      <a:srgbClr val="D9D9D9"/>
                    </a:solidFill>
                  </a:tcPr>
                </a:tc>
                <a:extLst>
                  <a:ext uri="{0D108BD9-81ED-4DB2-BD59-A6C34878D82A}">
                    <a16:rowId xmlns:a16="http://schemas.microsoft.com/office/drawing/2014/main" val="10014"/>
                  </a:ext>
                </a:extLst>
              </a:tr>
              <a:tr h="161584">
                <a:tc>
                  <a:txBody>
                    <a:bodyPr/>
                    <a:lstStyle/>
                    <a:p>
                      <a:pPr algn="l">
                        <a:defRPr sz="1100" b="0">
                          <a:solidFill>
                            <a:srgbClr val="000000"/>
                          </a:solidFill>
                          <a:latin typeface="Montserrat"/>
                        </a:defRPr>
                      </a:pPr>
                      <a:r>
                        <a:t>Geriatría</a:t>
                      </a:r>
                    </a:p>
                  </a:txBody>
                  <a:tcPr marL="45720" marR="45720" anchor="ctr">
                    <a:solidFill>
                      <a:srgbClr val="FFFFFF"/>
                    </a:solidFill>
                  </a:tcPr>
                </a:tc>
                <a:tc>
                  <a:txBody>
                    <a:bodyPr/>
                    <a:lstStyle/>
                    <a:p>
                      <a:pPr algn="ctr">
                        <a:defRPr sz="1100" b="0">
                          <a:solidFill>
                            <a:srgbClr val="000000"/>
                          </a:solidFill>
                          <a:latin typeface="Montserrat"/>
                        </a:defRPr>
                      </a:pPr>
                      <a:r>
                        <a:t>2</a:t>
                      </a:r>
                    </a:p>
                  </a:txBody>
                  <a:tcPr marL="45720" marR="45720" anchor="ctr">
                    <a:solidFill>
                      <a:srgbClr val="FFFFFF"/>
                    </a:solidFill>
                  </a:tcPr>
                </a:tc>
                <a:tc>
                  <a:txBody>
                    <a:bodyPr/>
                    <a:lstStyle/>
                    <a:p>
                      <a:pPr algn="ctr">
                        <a:defRPr sz="1100" b="1">
                          <a:solidFill>
                            <a:srgbClr val="000000"/>
                          </a:solidFill>
                          <a:latin typeface="Montserrat"/>
                        </a:defRPr>
                      </a:pPr>
                      <a:r>
                        <a:t>93.0%</a:t>
                      </a:r>
                    </a:p>
                  </a:txBody>
                  <a:tcPr marL="45720" marR="45720" anchor="ctr">
                    <a:solidFill>
                      <a:srgbClr val="FFFFFF"/>
                    </a:solidFill>
                  </a:tcPr>
                </a:tc>
                <a:extLst>
                  <a:ext uri="{0D108BD9-81ED-4DB2-BD59-A6C34878D82A}">
                    <a16:rowId xmlns:a16="http://schemas.microsoft.com/office/drawing/2014/main" val="10015"/>
                  </a:ext>
                </a:extLst>
              </a:tr>
              <a:tr h="161584">
                <a:tc>
                  <a:txBody>
                    <a:bodyPr/>
                    <a:lstStyle/>
                    <a:p>
                      <a:pPr algn="l">
                        <a:defRPr sz="1100" b="0">
                          <a:solidFill>
                            <a:srgbClr val="000000"/>
                          </a:solidFill>
                          <a:latin typeface="Montserrat"/>
                        </a:defRPr>
                      </a:pPr>
                      <a:r>
                        <a:t>Anestesiología para los Servicios Rurales de Salud</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93.7%</a:t>
                      </a:r>
                    </a:p>
                  </a:txBody>
                  <a:tcPr marL="45720" marR="45720" anchor="ctr">
                    <a:solidFill>
                      <a:srgbClr val="D9D9D9"/>
                    </a:solidFill>
                  </a:tcPr>
                </a:tc>
                <a:extLst>
                  <a:ext uri="{0D108BD9-81ED-4DB2-BD59-A6C34878D82A}">
                    <a16:rowId xmlns:a16="http://schemas.microsoft.com/office/drawing/2014/main" val="10016"/>
                  </a:ext>
                </a:extLst>
              </a:tr>
              <a:tr h="161584">
                <a:tc>
                  <a:txBody>
                    <a:bodyPr/>
                    <a:lstStyle/>
                    <a:p>
                      <a:pPr algn="l">
                        <a:defRPr sz="1100" b="0">
                          <a:solidFill>
                            <a:srgbClr val="000000"/>
                          </a:solidFill>
                          <a:latin typeface="Montserrat"/>
                        </a:defRPr>
                      </a:pPr>
                      <a:r>
                        <a:t>Genética Médica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94.5%</a:t>
                      </a:r>
                    </a:p>
                  </a:txBody>
                  <a:tcPr marL="45720" marR="45720" anchor="ctr">
                    <a:solidFill>
                      <a:srgbClr val="FFFFFF"/>
                    </a:solidFill>
                  </a:tcPr>
                </a:tc>
                <a:extLst>
                  <a:ext uri="{0D108BD9-81ED-4DB2-BD59-A6C34878D82A}">
                    <a16:rowId xmlns:a16="http://schemas.microsoft.com/office/drawing/2014/main" val="10017"/>
                  </a:ext>
                </a:extLst>
              </a:tr>
              <a:tr h="161584">
                <a:tc>
                  <a:txBody>
                    <a:bodyPr/>
                    <a:lstStyle/>
                    <a:p>
                      <a:pPr algn="l">
                        <a:defRPr sz="1100" b="0">
                          <a:solidFill>
                            <a:srgbClr val="000000"/>
                          </a:solidFill>
                          <a:latin typeface="Montserrat"/>
                        </a:defRPr>
                      </a:pPr>
                      <a:r>
                        <a:t>Endocrinología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95.3%</a:t>
                      </a:r>
                    </a:p>
                  </a:txBody>
                  <a:tcPr marL="45720" marR="45720" anchor="ctr">
                    <a:solidFill>
                      <a:srgbClr val="D9D9D9"/>
                    </a:solidFill>
                  </a:tcPr>
                </a:tc>
                <a:extLst>
                  <a:ext uri="{0D108BD9-81ED-4DB2-BD59-A6C34878D82A}">
                    <a16:rowId xmlns:a16="http://schemas.microsoft.com/office/drawing/2014/main" val="10018"/>
                  </a:ext>
                </a:extLst>
              </a:tr>
              <a:tr h="161584">
                <a:tc>
                  <a:txBody>
                    <a:bodyPr/>
                    <a:lstStyle/>
                    <a:p>
                      <a:pPr algn="l">
                        <a:defRPr sz="1100" b="0">
                          <a:solidFill>
                            <a:srgbClr val="000000"/>
                          </a:solidFill>
                          <a:latin typeface="Montserrat"/>
                        </a:defRPr>
                      </a:pPr>
                      <a:r>
                        <a:t>Hematología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96.1%</a:t>
                      </a:r>
                    </a:p>
                  </a:txBody>
                  <a:tcPr marL="45720" marR="45720" anchor="ctr">
                    <a:solidFill>
                      <a:srgbClr val="FFFFFF"/>
                    </a:solidFill>
                  </a:tcPr>
                </a:tc>
                <a:extLst>
                  <a:ext uri="{0D108BD9-81ED-4DB2-BD59-A6C34878D82A}">
                    <a16:rowId xmlns:a16="http://schemas.microsoft.com/office/drawing/2014/main" val="10019"/>
                  </a:ext>
                </a:extLst>
              </a:tr>
              <a:tr h="161584">
                <a:tc>
                  <a:txBody>
                    <a:bodyPr/>
                    <a:lstStyle/>
                    <a:p>
                      <a:pPr algn="l">
                        <a:defRPr sz="1100" b="0">
                          <a:solidFill>
                            <a:srgbClr val="000000"/>
                          </a:solidFill>
                          <a:latin typeface="Montserrat"/>
                        </a:defRPr>
                      </a:pPr>
                      <a:r>
                        <a:t>Nefrología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96.8%</a:t>
                      </a:r>
                    </a:p>
                  </a:txBody>
                  <a:tcPr marL="45720" marR="45720" anchor="ctr">
                    <a:solidFill>
                      <a:srgbClr val="D9D9D9"/>
                    </a:solidFill>
                  </a:tcPr>
                </a:tc>
                <a:extLst>
                  <a:ext uri="{0D108BD9-81ED-4DB2-BD59-A6C34878D82A}">
                    <a16:rowId xmlns:a16="http://schemas.microsoft.com/office/drawing/2014/main" val="10020"/>
                  </a:ext>
                </a:extLst>
              </a:tr>
              <a:tr h="161584">
                <a:tc>
                  <a:txBody>
                    <a:bodyPr/>
                    <a:lstStyle/>
                    <a:p>
                      <a:pPr algn="l">
                        <a:defRPr sz="1100" b="0">
                          <a:solidFill>
                            <a:srgbClr val="000000"/>
                          </a:solidFill>
                          <a:latin typeface="Montserrat"/>
                        </a:defRPr>
                      </a:pPr>
                      <a:r>
                        <a:t>Oncología Médica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97.6%</a:t>
                      </a:r>
                    </a:p>
                  </a:txBody>
                  <a:tcPr marL="45720" marR="45720" anchor="ctr">
                    <a:solidFill>
                      <a:srgbClr val="FFFFFF"/>
                    </a:solidFill>
                  </a:tcPr>
                </a:tc>
                <a:extLst>
                  <a:ext uri="{0D108BD9-81ED-4DB2-BD59-A6C34878D82A}">
                    <a16:rowId xmlns:a16="http://schemas.microsoft.com/office/drawing/2014/main" val="10021"/>
                  </a:ext>
                </a:extLst>
              </a:tr>
              <a:tr h="161584">
                <a:tc>
                  <a:txBody>
                    <a:bodyPr/>
                    <a:lstStyle/>
                    <a:p>
                      <a:pPr algn="l">
                        <a:defRPr sz="1100" b="0">
                          <a:solidFill>
                            <a:srgbClr val="000000"/>
                          </a:solidFill>
                          <a:latin typeface="Montserrat"/>
                        </a:defRPr>
                      </a:pPr>
                      <a:r>
                        <a:t>Neurocirugía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98.4%</a:t>
                      </a:r>
                    </a:p>
                  </a:txBody>
                  <a:tcPr marL="45720" marR="45720" anchor="ctr">
                    <a:solidFill>
                      <a:srgbClr val="D9D9D9"/>
                    </a:solidFill>
                  </a:tcPr>
                </a:tc>
                <a:extLst>
                  <a:ext uri="{0D108BD9-81ED-4DB2-BD59-A6C34878D82A}">
                    <a16:rowId xmlns:a16="http://schemas.microsoft.com/office/drawing/2014/main" val="10022"/>
                  </a:ext>
                </a:extLst>
              </a:tr>
              <a:tr h="161584">
                <a:tc>
                  <a:txBody>
                    <a:bodyPr/>
                    <a:lstStyle/>
                    <a:p>
                      <a:pPr algn="l">
                        <a:defRPr sz="1100" b="0">
                          <a:solidFill>
                            <a:srgbClr val="000000"/>
                          </a:solidFill>
                          <a:latin typeface="Montserrat"/>
                        </a:defRPr>
                      </a:pPr>
                      <a:r>
                        <a:t>Psiquiatría</a:t>
                      </a:r>
                    </a:p>
                  </a:txBody>
                  <a:tcPr marL="45720" marR="45720" anchor="ctr">
                    <a:solidFill>
                      <a:srgbClr val="FFFFFF"/>
                    </a:solidFill>
                  </a:tcPr>
                </a:tc>
                <a:tc>
                  <a:txBody>
                    <a:bodyPr/>
                    <a:lstStyle/>
                    <a:p>
                      <a:pPr algn="ctr">
                        <a:defRPr sz="1100" b="0">
                          <a:solidFill>
                            <a:srgbClr val="000000"/>
                          </a:solidFill>
                          <a:latin typeface="Montserrat"/>
                        </a:defRPr>
                      </a:pPr>
                      <a:r>
                        <a:t>1</a:t>
                      </a:r>
                    </a:p>
                  </a:txBody>
                  <a:tcPr marL="45720" marR="45720" anchor="ctr">
                    <a:solidFill>
                      <a:srgbClr val="FFFFFF"/>
                    </a:solidFill>
                  </a:tcPr>
                </a:tc>
                <a:tc>
                  <a:txBody>
                    <a:bodyPr/>
                    <a:lstStyle/>
                    <a:p>
                      <a:pPr algn="ctr">
                        <a:defRPr sz="1100" b="1">
                          <a:solidFill>
                            <a:srgbClr val="000000"/>
                          </a:solidFill>
                          <a:latin typeface="Montserrat"/>
                        </a:defRPr>
                      </a:pPr>
                      <a:r>
                        <a:t>99.2%</a:t>
                      </a:r>
                    </a:p>
                  </a:txBody>
                  <a:tcPr marL="45720" marR="45720" anchor="ctr">
                    <a:solidFill>
                      <a:srgbClr val="FFFFFF"/>
                    </a:solidFill>
                  </a:tcPr>
                </a:tc>
                <a:extLst>
                  <a:ext uri="{0D108BD9-81ED-4DB2-BD59-A6C34878D82A}">
                    <a16:rowId xmlns:a16="http://schemas.microsoft.com/office/drawing/2014/main" val="10023"/>
                  </a:ext>
                </a:extLst>
              </a:tr>
              <a:tr h="161584">
                <a:tc>
                  <a:txBody>
                    <a:bodyPr/>
                    <a:lstStyle/>
                    <a:p>
                      <a:pPr algn="l">
                        <a:defRPr sz="1100" b="0">
                          <a:solidFill>
                            <a:srgbClr val="000000"/>
                          </a:solidFill>
                          <a:latin typeface="Montserrat"/>
                        </a:defRPr>
                      </a:pPr>
                      <a:r>
                        <a:t>Urología</a:t>
                      </a:r>
                    </a:p>
                  </a:txBody>
                  <a:tcPr marL="45720" marR="45720" anchor="ctr">
                    <a:solidFill>
                      <a:srgbClr val="D9D9D9"/>
                    </a:solidFill>
                  </a:tcPr>
                </a:tc>
                <a:tc>
                  <a:txBody>
                    <a:bodyPr/>
                    <a:lstStyle/>
                    <a:p>
                      <a:pPr algn="ctr">
                        <a:defRPr sz="1100" b="0">
                          <a:solidFill>
                            <a:srgbClr val="000000"/>
                          </a:solidFill>
                          <a:latin typeface="Montserrat"/>
                        </a:defRPr>
                      </a:pPr>
                      <a:r>
                        <a:t>1</a:t>
                      </a:r>
                    </a:p>
                  </a:txBody>
                  <a:tcPr marL="45720" marR="45720" anchor="ctr">
                    <a:solidFill>
                      <a:srgbClr val="D9D9D9"/>
                    </a:solidFill>
                  </a:tcPr>
                </a:tc>
                <a:tc>
                  <a:txBody>
                    <a:bodyPr/>
                    <a:lstStyle/>
                    <a:p>
                      <a:pPr algn="ctr">
                        <a:defRPr sz="1100" b="1">
                          <a:solidFill>
                            <a:srgbClr val="000000"/>
                          </a:solidFill>
                          <a:latin typeface="Montserrat"/>
                        </a:defRPr>
                      </a:pPr>
                      <a:r>
                        <a:t>100.0%</a:t>
                      </a:r>
                    </a:p>
                  </a:txBody>
                  <a:tcPr marL="45720" marR="45720" anchor="ctr">
                    <a:solidFill>
                      <a:srgbClr val="D9D9D9"/>
                    </a:solidFill>
                  </a:tcPr>
                </a:tc>
                <a:extLst>
                  <a:ext uri="{0D108BD9-81ED-4DB2-BD59-A6C34878D82A}">
                    <a16:rowId xmlns:a16="http://schemas.microsoft.com/office/drawing/2014/main" val="10024"/>
                  </a:ext>
                </a:extLst>
              </a:tr>
              <a:tr h="161600">
                <a:tc>
                  <a:txBody>
                    <a:bodyPr/>
                    <a:lstStyle/>
                    <a:p>
                      <a:pPr algn="l">
                        <a:defRPr sz="1100" b="1">
                          <a:solidFill>
                            <a:srgbClr val="006455"/>
                          </a:solidFill>
                          <a:latin typeface="Montserrat"/>
                        </a:defRPr>
                      </a:pPr>
                      <a:r>
                        <a:t>Total</a:t>
                      </a:r>
                    </a:p>
                  </a:txBody>
                  <a:tcPr marL="45720" marR="45720" anchor="ctr">
                    <a:solidFill>
                      <a:srgbClr val="CBE6E1"/>
                    </a:solidFill>
                  </a:tcPr>
                </a:tc>
                <a:tc>
                  <a:txBody>
                    <a:bodyPr/>
                    <a:lstStyle/>
                    <a:p>
                      <a:pPr algn="ctr">
                        <a:defRPr sz="1100" b="1">
                          <a:solidFill>
                            <a:srgbClr val="006455"/>
                          </a:solidFill>
                          <a:latin typeface="Montserrat"/>
                        </a:defRPr>
                      </a:pPr>
                      <a:r>
                        <a:t>129</a:t>
                      </a:r>
                    </a:p>
                  </a:txBody>
                  <a:tcPr marL="45720" marR="45720" anchor="ctr">
                    <a:solidFill>
                      <a:srgbClr val="CBE6E1"/>
                    </a:solidFill>
                  </a:tcPr>
                </a:tc>
                <a:tc>
                  <a:txBody>
                    <a:bodyPr/>
                    <a:lstStyle/>
                    <a:p>
                      <a:pPr algn="ctr">
                        <a:defRPr sz="1100" b="1">
                          <a:solidFill>
                            <a:srgbClr val="006455"/>
                          </a:solidFill>
                          <a:latin typeface="Montserrat"/>
                        </a:defRPr>
                      </a:pPr>
                      <a:r>
                        <a:rPr dirty="0"/>
                        <a:t>100.0%</a:t>
                      </a:r>
                    </a:p>
                  </a:txBody>
                  <a:tcPr marL="45720" marR="45720" anchor="ctr">
                    <a:solidFill>
                      <a:srgbClr val="CBE6E1"/>
                    </a:solidFill>
                  </a:tcPr>
                </a:tc>
                <a:extLst>
                  <a:ext uri="{0D108BD9-81ED-4DB2-BD59-A6C34878D82A}">
                    <a16:rowId xmlns:a16="http://schemas.microsoft.com/office/drawing/2014/main" val="10025"/>
                  </a:ext>
                </a:extLst>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919DA8F5-1DF4-C33B-DE0D-E96B0269B28E}"/>
              </a:ext>
            </a:extLst>
          </p:cNvPr>
          <p:cNvGraphicFramePr/>
          <p:nvPr>
            <p:extLst>
              <p:ext uri="{D42A27DB-BD31-4B8C-83A1-F6EECF244321}">
                <p14:modId xmlns:p14="http://schemas.microsoft.com/office/powerpoint/2010/main" val="1395469136"/>
              </p:ext>
            </p:extLst>
          </p:nvPr>
        </p:nvGraphicFramePr>
        <p:xfrm>
          <a:off x="287050" y="682505"/>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ZACATECAS</a:t>
            </a:r>
          </a:p>
        </p:txBody>
      </p:sp>
      <p:sp>
        <p:nvSpPr>
          <p:cNvPr id="4" name="TextBox 3"/>
          <p:cNvSpPr txBox="1"/>
          <p:nvPr/>
        </p:nvSpPr>
        <p:spPr>
          <a:xfrm>
            <a:off x="4051800" y="4316700"/>
            <a:ext cx="5324400" cy="123111"/>
          </a:xfrm>
          <a:prstGeom prst="rect">
            <a:avLst/>
          </a:prstGeom>
          <a:noFill/>
        </p:spPr>
        <p:txBody>
          <a:bodyPr wrap="square" lIns="0" tIns="0" rIns="0" bIns="0">
            <a:spAutoFit/>
          </a:bodyPr>
          <a:lstStyle/>
          <a:p>
            <a:pPr algn="l">
              <a:defRPr sz="800">
                <a:solidFill>
                  <a:srgbClr val="FFFFFF"/>
                </a:solidFill>
                <a:latin typeface="Montserrat"/>
              </a:defRPr>
            </a:pPr>
            <a:r>
              <a:rPr dirty="0">
                <a:solidFill>
                  <a:schemeClr val="tx1"/>
                </a:solidFill>
              </a:rPr>
              <a:t>Corte de </a:t>
            </a:r>
            <a:r>
              <a:rPr dirty="0" err="1">
                <a:solidFill>
                  <a:schemeClr val="tx1"/>
                </a:solidFill>
              </a:rPr>
              <a:t>información</a:t>
            </a:r>
            <a:r>
              <a:rPr dirty="0">
                <a:solidFill>
                  <a:schemeClr val="tx1"/>
                </a:solidFill>
              </a:rPr>
              <a:t>: </a:t>
            </a:r>
            <a:r>
              <a:rPr dirty="0" err="1">
                <a:solidFill>
                  <a:schemeClr val="tx1"/>
                </a:solidFill>
              </a:rPr>
              <a:t>semana</a:t>
            </a:r>
            <a:r>
              <a:rPr dirty="0">
                <a:solidFill>
                  <a:schemeClr val="tx1"/>
                </a:solidFill>
              </a:rPr>
              <a:t> 24, 7 </a:t>
            </a:r>
            <a:r>
              <a:rPr dirty="0" err="1">
                <a:solidFill>
                  <a:schemeClr val="tx1"/>
                </a:solidFill>
              </a:rPr>
              <a:t>junio</a:t>
            </a:r>
            <a:r>
              <a:rPr dirty="0">
                <a:solidFill>
                  <a:schemeClr val="tx1"/>
                </a:solidFill>
              </a:rPr>
              <a:t> 2026</a:t>
            </a:r>
          </a:p>
        </p:txBody>
      </p:sp>
      <p:graphicFrame>
        <p:nvGraphicFramePr>
          <p:cNvPr id="5" name="Table 4"/>
          <p:cNvGraphicFramePr>
            <a:graphicFrameLocks noGrp="1"/>
          </p:cNvGraphicFramePr>
          <p:nvPr>
            <p:extLst>
              <p:ext uri="{D42A27DB-BD31-4B8C-83A1-F6EECF244321}">
                <p14:modId xmlns:p14="http://schemas.microsoft.com/office/powerpoint/2010/main" val="2325039976"/>
              </p:ext>
            </p:extLst>
          </p:nvPr>
        </p:nvGraphicFramePr>
        <p:xfrm>
          <a:off x="75942" y="1492805"/>
          <a:ext cx="3639599" cy="3429000"/>
        </p:xfrm>
        <a:graphic>
          <a:graphicData uri="http://schemas.openxmlformats.org/drawingml/2006/table">
            <a:tbl>
              <a:tblPr firstRow="1" bandRow="1">
                <a:tableStyleId>{5C22544A-7EE6-4342-B048-85BDC9FD1C3A}</a:tableStyleId>
              </a:tblPr>
              <a:tblGrid>
                <a:gridCol w="1731599">
                  <a:extLst>
                    <a:ext uri="{9D8B030D-6E8A-4147-A177-3AD203B41FA5}">
                      <a16:colId xmlns:a16="http://schemas.microsoft.com/office/drawing/2014/main" val="20000"/>
                    </a:ext>
                  </a:extLst>
                </a:gridCol>
                <a:gridCol w="950400">
                  <a:extLst>
                    <a:ext uri="{9D8B030D-6E8A-4147-A177-3AD203B41FA5}">
                      <a16:colId xmlns:a16="http://schemas.microsoft.com/office/drawing/2014/main" val="20001"/>
                    </a:ext>
                  </a:extLst>
                </a:gridCol>
                <a:gridCol w="9576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Especialidad</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acumulado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Traumatología y ortopedia</a:t>
                      </a:r>
                    </a:p>
                  </a:txBody>
                  <a:tcPr anchor="ctr">
                    <a:solidFill>
                      <a:srgbClr val="FFFFFF"/>
                    </a:solidFill>
                  </a:tcPr>
                </a:tc>
                <a:tc>
                  <a:txBody>
                    <a:bodyPr/>
                    <a:lstStyle/>
                    <a:p>
                      <a:pPr algn="ctr">
                        <a:defRPr sz="1000">
                          <a:latin typeface="Montserrat"/>
                        </a:defRPr>
                      </a:pPr>
                      <a:r>
                        <a:t>840</a:t>
                      </a:r>
                    </a:p>
                  </a:txBody>
                  <a:tcPr anchor="ctr">
                    <a:solidFill>
                      <a:srgbClr val="FFFFFF"/>
                    </a:solidFill>
                  </a:tcPr>
                </a:tc>
                <a:tc>
                  <a:txBody>
                    <a:bodyPr/>
                    <a:lstStyle/>
                    <a:p>
                      <a:pPr algn="ctr">
                        <a:defRPr sz="1000">
                          <a:latin typeface="Montserrat"/>
                        </a:defRPr>
                      </a:pPr>
                      <a:r>
                        <a:t>27.9%</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Cirugía General</a:t>
                      </a:r>
                    </a:p>
                  </a:txBody>
                  <a:tcPr anchor="ctr">
                    <a:solidFill>
                      <a:srgbClr val="D9D9D9"/>
                    </a:solidFill>
                  </a:tcPr>
                </a:tc>
                <a:tc>
                  <a:txBody>
                    <a:bodyPr/>
                    <a:lstStyle/>
                    <a:p>
                      <a:pPr algn="ctr">
                        <a:defRPr sz="1000">
                          <a:latin typeface="Montserrat"/>
                        </a:defRPr>
                      </a:pPr>
                      <a:r>
                        <a:t>826</a:t>
                      </a:r>
                    </a:p>
                  </a:txBody>
                  <a:tcPr anchor="ctr">
                    <a:solidFill>
                      <a:srgbClr val="D9D9D9"/>
                    </a:solidFill>
                  </a:tcPr>
                </a:tc>
                <a:tc>
                  <a:txBody>
                    <a:bodyPr/>
                    <a:lstStyle/>
                    <a:p>
                      <a:pPr algn="ctr">
                        <a:defRPr sz="1000">
                          <a:latin typeface="Montserrat"/>
                        </a:defRPr>
                      </a:pPr>
                      <a:r>
                        <a:t>55.4%</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617</a:t>
                      </a:r>
                    </a:p>
                  </a:txBody>
                  <a:tcPr anchor="ctr">
                    <a:solidFill>
                      <a:srgbClr val="FFFFFF"/>
                    </a:solidFill>
                  </a:tcPr>
                </a:tc>
                <a:tc>
                  <a:txBody>
                    <a:bodyPr/>
                    <a:lstStyle/>
                    <a:p>
                      <a:pPr algn="ctr">
                        <a:defRPr sz="1000">
                          <a:latin typeface="Montserrat"/>
                        </a:defRPr>
                      </a:pPr>
                      <a:r>
                        <a:t>75.9%</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274</a:t>
                      </a:r>
                    </a:p>
                  </a:txBody>
                  <a:tcPr anchor="ctr">
                    <a:solidFill>
                      <a:srgbClr val="D9D9D9"/>
                    </a:solidFill>
                  </a:tcPr>
                </a:tc>
                <a:tc>
                  <a:txBody>
                    <a:bodyPr/>
                    <a:lstStyle/>
                    <a:p>
                      <a:pPr algn="ctr">
                        <a:defRPr sz="1000">
                          <a:latin typeface="Montserrat"/>
                        </a:defRPr>
                      </a:pPr>
                      <a:r>
                        <a:t>85.0%</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162</a:t>
                      </a:r>
                    </a:p>
                  </a:txBody>
                  <a:tcPr anchor="ctr">
                    <a:solidFill>
                      <a:srgbClr val="FFFFFF"/>
                    </a:solidFill>
                  </a:tcPr>
                </a:tc>
                <a:tc>
                  <a:txBody>
                    <a:bodyPr/>
                    <a:lstStyle/>
                    <a:p>
                      <a:pPr algn="ctr">
                        <a:defRPr sz="1000">
                          <a:latin typeface="Montserrat"/>
                        </a:defRPr>
                      </a:pPr>
                      <a:r>
                        <a:t>90.4%</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87</a:t>
                      </a:r>
                    </a:p>
                  </a:txBody>
                  <a:tcPr anchor="ctr">
                    <a:solidFill>
                      <a:srgbClr val="D9D9D9"/>
                    </a:solidFill>
                  </a:tcPr>
                </a:tc>
                <a:tc>
                  <a:txBody>
                    <a:bodyPr/>
                    <a:lstStyle/>
                    <a:p>
                      <a:pPr algn="ctr">
                        <a:defRPr sz="1000">
                          <a:latin typeface="Montserrat"/>
                        </a:defRPr>
                      </a:pPr>
                      <a:r>
                        <a:t>93.3%</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80</a:t>
                      </a:r>
                    </a:p>
                  </a:txBody>
                  <a:tcPr anchor="ctr">
                    <a:solidFill>
                      <a:srgbClr val="FFFFFF"/>
                    </a:solidFill>
                  </a:tcPr>
                </a:tc>
                <a:tc>
                  <a:txBody>
                    <a:bodyPr/>
                    <a:lstStyle/>
                    <a:p>
                      <a:pPr algn="ctr">
                        <a:defRPr sz="1000">
                          <a:latin typeface="Montserrat"/>
                        </a:defRPr>
                      </a:pPr>
                      <a:r>
                        <a:t>96.0%</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73</a:t>
                      </a:r>
                    </a:p>
                  </a:txBody>
                  <a:tcPr anchor="ctr">
                    <a:solidFill>
                      <a:srgbClr val="D9D9D9"/>
                    </a:solidFill>
                  </a:tcPr>
                </a:tc>
                <a:tc>
                  <a:txBody>
                    <a:bodyPr/>
                    <a:lstStyle/>
                    <a:p>
                      <a:pPr algn="ctr">
                        <a:defRPr sz="1000">
                          <a:latin typeface="Montserrat"/>
                        </a:defRPr>
                      </a:pPr>
                      <a:r>
                        <a:t>98.4%</a:t>
                      </a:r>
                    </a:p>
                  </a:txBody>
                  <a:tcPr anchor="ctr">
                    <a:solidFill>
                      <a:srgbClr val="D9D9D9"/>
                    </a:solidFill>
                  </a:tcPr>
                </a:tc>
                <a:extLst>
                  <a:ext uri="{0D108BD9-81ED-4DB2-BD59-A6C34878D82A}">
                    <a16:rowId xmlns:a16="http://schemas.microsoft.com/office/drawing/2014/main" val="10008"/>
                  </a:ext>
                </a:extLst>
              </a:tr>
              <a:tr h="216000">
                <a:tc>
                  <a:txBody>
                    <a:bodyPr/>
                    <a:lstStyle/>
                    <a:p>
                      <a:pPr algn="l">
                        <a:defRPr sz="1000">
                          <a:latin typeface="Montserrat"/>
                        </a:defRPr>
                      </a:pPr>
                      <a:r>
                        <a:t>Urología  </a:t>
                      </a:r>
                    </a:p>
                  </a:txBody>
                  <a:tcPr anchor="ctr">
                    <a:solidFill>
                      <a:srgbClr val="FFFFFF"/>
                    </a:solidFill>
                  </a:tcPr>
                </a:tc>
                <a:tc>
                  <a:txBody>
                    <a:bodyPr/>
                    <a:lstStyle/>
                    <a:p>
                      <a:pPr algn="ctr">
                        <a:defRPr sz="1000">
                          <a:latin typeface="Montserrat"/>
                        </a:defRPr>
                      </a:pPr>
                      <a:r>
                        <a:t>27</a:t>
                      </a:r>
                    </a:p>
                  </a:txBody>
                  <a:tcPr anchor="ctr">
                    <a:solidFill>
                      <a:srgbClr val="FFFFFF"/>
                    </a:solidFill>
                  </a:tcPr>
                </a:tc>
                <a:tc>
                  <a:txBody>
                    <a:bodyPr/>
                    <a:lstStyle/>
                    <a:p>
                      <a:pPr algn="ctr">
                        <a:defRPr sz="1000">
                          <a:latin typeface="Montserrat"/>
                        </a:defRPr>
                      </a:pPr>
                      <a:r>
                        <a:t>99.3%</a:t>
                      </a:r>
                    </a:p>
                  </a:txBody>
                  <a:tcPr anchor="ctr">
                    <a:solidFill>
                      <a:srgbClr val="FFFFFF"/>
                    </a:solidFill>
                  </a:tcPr>
                </a:tc>
                <a:extLst>
                  <a:ext uri="{0D108BD9-81ED-4DB2-BD59-A6C34878D82A}">
                    <a16:rowId xmlns:a16="http://schemas.microsoft.com/office/drawing/2014/main" val="10009"/>
                  </a:ext>
                </a:extLst>
              </a:tr>
              <a:tr h="216000">
                <a:tc>
                  <a:txBody>
                    <a:bodyPr/>
                    <a:lstStyle/>
                    <a:p>
                      <a:pPr algn="l">
                        <a:defRPr sz="1000">
                          <a:latin typeface="Montserrat"/>
                        </a:defRPr>
                      </a:pPr>
                      <a:r>
                        <a:t>Neurocirugía</a:t>
                      </a:r>
                    </a:p>
                  </a:txBody>
                  <a:tcPr anchor="ctr">
                    <a:solidFill>
                      <a:srgbClr val="D9D9D9"/>
                    </a:solidFill>
                  </a:tcPr>
                </a:tc>
                <a:tc>
                  <a:txBody>
                    <a:bodyPr/>
                    <a:lstStyle/>
                    <a:p>
                      <a:pPr algn="ctr">
                        <a:defRPr sz="1000">
                          <a:latin typeface="Montserrat"/>
                        </a:defRPr>
                      </a:pPr>
                      <a:r>
                        <a:t>21</a:t>
                      </a:r>
                    </a:p>
                  </a:txBody>
                  <a:tcPr anchor="ctr">
                    <a:solidFill>
                      <a:srgbClr val="D9D9D9"/>
                    </a:solidFill>
                  </a:tcPr>
                </a:tc>
                <a:tc>
                  <a:txBody>
                    <a:bodyPr/>
                    <a:lstStyle/>
                    <a:p>
                      <a:pPr algn="ctr">
                        <a:defRPr sz="1000">
                          <a:latin typeface="Montserrat"/>
                        </a:defRPr>
                      </a:pPr>
                      <a:r>
                        <a:t>100.0%</a:t>
                      </a:r>
                    </a:p>
                  </a:txBody>
                  <a:tcPr anchor="ctr">
                    <a:solidFill>
                      <a:srgbClr val="D9D9D9"/>
                    </a:solidFill>
                  </a:tcPr>
                </a:tc>
                <a:extLst>
                  <a:ext uri="{0D108BD9-81ED-4DB2-BD59-A6C34878D82A}">
                    <a16:rowId xmlns:a16="http://schemas.microsoft.com/office/drawing/2014/main" val="10010"/>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3,007</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098822368"/>
              </p:ext>
            </p:extLst>
          </p:nvPr>
        </p:nvGraphicFramePr>
        <p:xfrm>
          <a:off x="4035942" y="1867205"/>
          <a:ext cx="3639599" cy="2362200"/>
        </p:xfrm>
        <a:graphic>
          <a:graphicData uri="http://schemas.openxmlformats.org/drawingml/2006/table">
            <a:tbl>
              <a:tblPr firstRow="1" bandRow="1">
                <a:tableStyleId>{5C22544A-7EE6-4342-B048-85BDC9FD1C3A}</a:tableStyleId>
              </a:tblPr>
              <a:tblGrid>
                <a:gridCol w="1738800">
                  <a:extLst>
                    <a:ext uri="{9D8B030D-6E8A-4147-A177-3AD203B41FA5}">
                      <a16:colId xmlns:a16="http://schemas.microsoft.com/office/drawing/2014/main" val="20000"/>
                    </a:ext>
                  </a:extLst>
                </a:gridCol>
                <a:gridCol w="1000799">
                  <a:extLst>
                    <a:ext uri="{9D8B030D-6E8A-4147-A177-3AD203B41FA5}">
                      <a16:colId xmlns:a16="http://schemas.microsoft.com/office/drawing/2014/main" val="20001"/>
                    </a:ext>
                  </a:extLst>
                </a:gridCol>
                <a:gridCol w="900000">
                  <a:extLst>
                    <a:ext uri="{9D8B030D-6E8A-4147-A177-3AD203B41FA5}">
                      <a16:colId xmlns:a16="http://schemas.microsoft.com/office/drawing/2014/main" val="20002"/>
                    </a:ext>
                  </a:extLst>
                </a:gridCol>
              </a:tblGrid>
              <a:tr h="216000">
                <a:tc>
                  <a:txBody>
                    <a:bodyPr/>
                    <a:lstStyle/>
                    <a:p>
                      <a:pPr algn="ctr">
                        <a:defRPr sz="1100" b="1">
                          <a:solidFill>
                            <a:srgbClr val="FFFFFF"/>
                          </a:solidFill>
                          <a:latin typeface="Montserrat"/>
                        </a:defRPr>
                      </a:pPr>
                      <a:r>
                        <a:t>Cirugía prioritaria</a:t>
                      </a:r>
                    </a:p>
                  </a:txBody>
                  <a:tcPr marL="14400" marR="14400" anchor="ctr">
                    <a:solidFill>
                      <a:srgbClr val="006455"/>
                    </a:solidFill>
                  </a:tcPr>
                </a:tc>
                <a:tc>
                  <a:txBody>
                    <a:bodyPr/>
                    <a:lstStyle/>
                    <a:p>
                      <a:pPr algn="ctr">
                        <a:defRPr sz="1100" b="1">
                          <a:solidFill>
                            <a:srgbClr val="FFFFFF"/>
                          </a:solidFill>
                          <a:latin typeface="Montserrat"/>
                        </a:defRPr>
                      </a:pPr>
                      <a:r>
                        <a:t>Total</a:t>
                      </a:r>
                    </a:p>
                  </a:txBody>
                  <a:tcPr marL="14400" marR="14400" anchor="ctr">
                    <a:solidFill>
                      <a:srgbClr val="006455"/>
                    </a:solidFill>
                  </a:tcPr>
                </a:tc>
                <a:tc>
                  <a:txBody>
                    <a:bodyPr/>
                    <a:lstStyle/>
                    <a:p>
                      <a:pPr algn="ctr">
                        <a:defRPr sz="1100" b="1">
                          <a:solidFill>
                            <a:srgbClr val="FFFFFF"/>
                          </a:solidFill>
                          <a:latin typeface="Montserrat"/>
                        </a:defRPr>
                      </a:pPr>
                      <a:r>
                        <a:t>% del total</a:t>
                      </a: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215</a:t>
                      </a:r>
                    </a:p>
                  </a:txBody>
                  <a:tcPr anchor="ctr">
                    <a:solidFill>
                      <a:srgbClr val="FFFFFF"/>
                    </a:solidFill>
                  </a:tcPr>
                </a:tc>
                <a:tc>
                  <a:txBody>
                    <a:bodyPr/>
                    <a:lstStyle/>
                    <a:p>
                      <a:pPr algn="ctr">
                        <a:defRPr sz="1000">
                          <a:latin typeface="Montserrat"/>
                        </a:defRPr>
                      </a:pPr>
                      <a:r>
                        <a:t>28.5%</a:t>
                      </a:r>
                    </a:p>
                  </a:txBody>
                  <a:tcPr anchor="ctr">
                    <a:solidFill>
                      <a:srgbClr val="FFFFFF"/>
                    </a:solidFill>
                  </a:tcPr>
                </a:tc>
                <a:extLst>
                  <a:ext uri="{0D108BD9-81ED-4DB2-BD59-A6C34878D82A}">
                    <a16:rowId xmlns:a16="http://schemas.microsoft.com/office/drawing/2014/main" val="10001"/>
                  </a:ext>
                </a:extLst>
              </a:tr>
              <a:tr h="216000">
                <a:tc>
                  <a:txBody>
                    <a:bodyPr/>
                    <a:lstStyle/>
                    <a:p>
                      <a:pPr algn="l">
                        <a:defRPr sz="1000">
                          <a:latin typeface="Montserrat"/>
                        </a:defRPr>
                      </a:pPr>
                      <a:r>
                        <a:t>Colecistectomías</a:t>
                      </a:r>
                    </a:p>
                  </a:txBody>
                  <a:tcPr anchor="ctr">
                    <a:solidFill>
                      <a:srgbClr val="D9D9D9"/>
                    </a:solidFill>
                  </a:tcPr>
                </a:tc>
                <a:tc>
                  <a:txBody>
                    <a:bodyPr/>
                    <a:lstStyle/>
                    <a:p>
                      <a:pPr algn="ctr">
                        <a:defRPr sz="1000">
                          <a:latin typeface="Montserrat"/>
                        </a:defRPr>
                      </a:pPr>
                      <a:r>
                        <a:t>185</a:t>
                      </a:r>
                    </a:p>
                  </a:txBody>
                  <a:tcPr anchor="ctr">
                    <a:solidFill>
                      <a:srgbClr val="D9D9D9"/>
                    </a:solidFill>
                  </a:tcPr>
                </a:tc>
                <a:tc>
                  <a:txBody>
                    <a:bodyPr/>
                    <a:lstStyle/>
                    <a:p>
                      <a:pPr algn="ctr">
                        <a:defRPr sz="1000">
                          <a:latin typeface="Montserrat"/>
                        </a:defRPr>
                      </a:pPr>
                      <a:r>
                        <a:t>53.1%</a:t>
                      </a:r>
                    </a:p>
                  </a:txBody>
                  <a:tcPr anchor="ctr">
                    <a:solidFill>
                      <a:srgbClr val="D9D9D9"/>
                    </a:solidFill>
                  </a:tcPr>
                </a:tc>
                <a:extLst>
                  <a:ext uri="{0D108BD9-81ED-4DB2-BD59-A6C34878D82A}">
                    <a16:rowId xmlns:a16="http://schemas.microsoft.com/office/drawing/2014/main" val="10002"/>
                  </a:ext>
                </a:extLst>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121</a:t>
                      </a:r>
                    </a:p>
                  </a:txBody>
                  <a:tcPr anchor="ctr">
                    <a:solidFill>
                      <a:srgbClr val="FFFFFF"/>
                    </a:solidFill>
                  </a:tcPr>
                </a:tc>
                <a:tc>
                  <a:txBody>
                    <a:bodyPr/>
                    <a:lstStyle/>
                    <a:p>
                      <a:pPr algn="ctr">
                        <a:defRPr sz="1000">
                          <a:latin typeface="Montserrat"/>
                        </a:defRPr>
                      </a:pPr>
                      <a:r>
                        <a:t>69.1%</a:t>
                      </a:r>
                    </a:p>
                  </a:txBody>
                  <a:tcPr anchor="ctr">
                    <a:solidFill>
                      <a:srgbClr val="FFFFFF"/>
                    </a:solidFill>
                  </a:tcPr>
                </a:tc>
                <a:extLst>
                  <a:ext uri="{0D108BD9-81ED-4DB2-BD59-A6C34878D82A}">
                    <a16:rowId xmlns:a16="http://schemas.microsoft.com/office/drawing/2014/main" val="10003"/>
                  </a:ext>
                </a:extLst>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80.1%</a:t>
                      </a:r>
                    </a:p>
                  </a:txBody>
                  <a:tcPr anchor="ctr">
                    <a:solidFill>
                      <a:srgbClr val="D9D9D9"/>
                    </a:solidFill>
                  </a:tcPr>
                </a:tc>
                <a:extLst>
                  <a:ext uri="{0D108BD9-81ED-4DB2-BD59-A6C34878D82A}">
                    <a16:rowId xmlns:a16="http://schemas.microsoft.com/office/drawing/2014/main" val="10004"/>
                  </a:ext>
                </a:extLst>
              </a:tr>
              <a:tr h="216000">
                <a:tc>
                  <a:txBody>
                    <a:bodyPr/>
                    <a:lstStyle/>
                    <a:p>
                      <a:pPr algn="l">
                        <a:defRPr sz="1000">
                          <a:latin typeface="Montserrat"/>
                        </a:defRPr>
                      </a:pPr>
                      <a:r>
                        <a:t>Sustitución de cadera</a:t>
                      </a:r>
                    </a:p>
                  </a:txBody>
                  <a:tcPr anchor="ctr">
                    <a:solidFill>
                      <a:srgbClr val="FFFFFF"/>
                    </a:solidFill>
                  </a:tcPr>
                </a:tc>
                <a:tc>
                  <a:txBody>
                    <a:bodyPr/>
                    <a:lstStyle/>
                    <a:p>
                      <a:pPr algn="ctr">
                        <a:defRPr sz="1000">
                          <a:latin typeface="Montserrat"/>
                        </a:defRPr>
                      </a:pPr>
                      <a:r>
                        <a:t>76</a:t>
                      </a:r>
                    </a:p>
                  </a:txBody>
                  <a:tcPr anchor="ctr">
                    <a:solidFill>
                      <a:srgbClr val="FFFFFF"/>
                    </a:solidFill>
                  </a:tcPr>
                </a:tc>
                <a:tc>
                  <a:txBody>
                    <a:bodyPr/>
                    <a:lstStyle/>
                    <a:p>
                      <a:pPr algn="ctr">
                        <a:defRPr sz="1000">
                          <a:latin typeface="Montserrat"/>
                        </a:defRPr>
                      </a:pPr>
                      <a:r>
                        <a:t>90.2%</a:t>
                      </a:r>
                    </a:p>
                  </a:txBody>
                  <a:tcPr anchor="ctr">
                    <a:solidFill>
                      <a:srgbClr val="FFFFFF"/>
                    </a:solidFill>
                  </a:tcPr>
                </a:tc>
                <a:extLst>
                  <a:ext uri="{0D108BD9-81ED-4DB2-BD59-A6C34878D82A}">
                    <a16:rowId xmlns:a16="http://schemas.microsoft.com/office/drawing/2014/main" val="10005"/>
                  </a:ext>
                </a:extLst>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47</a:t>
                      </a:r>
                    </a:p>
                  </a:txBody>
                  <a:tcPr anchor="ctr">
                    <a:solidFill>
                      <a:srgbClr val="D9D9D9"/>
                    </a:solidFill>
                  </a:tcPr>
                </a:tc>
                <a:tc>
                  <a:txBody>
                    <a:bodyPr/>
                    <a:lstStyle/>
                    <a:p>
                      <a:pPr algn="ctr">
                        <a:defRPr sz="1000">
                          <a:latin typeface="Montserrat"/>
                        </a:defRPr>
                      </a:pPr>
                      <a:r>
                        <a:t>96.4%</a:t>
                      </a:r>
                    </a:p>
                  </a:txBody>
                  <a:tcPr anchor="ctr">
                    <a:solidFill>
                      <a:srgbClr val="D9D9D9"/>
                    </a:solidFill>
                  </a:tcPr>
                </a:tc>
                <a:extLst>
                  <a:ext uri="{0D108BD9-81ED-4DB2-BD59-A6C34878D82A}">
                    <a16:rowId xmlns:a16="http://schemas.microsoft.com/office/drawing/2014/main" val="10006"/>
                  </a:ext>
                </a:extLst>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27</a:t>
                      </a:r>
                    </a:p>
                  </a:txBody>
                  <a:tcPr anchor="ctr">
                    <a:solidFill>
                      <a:srgbClr val="FFFFFF"/>
                    </a:solidFill>
                  </a:tcPr>
                </a:tc>
                <a:tc>
                  <a:txBody>
                    <a:bodyPr/>
                    <a:lstStyle/>
                    <a:p>
                      <a:pPr algn="ctr">
                        <a:defRPr sz="1000">
                          <a:latin typeface="Montserrat"/>
                        </a:defRPr>
                      </a:pPr>
                      <a:r>
                        <a:t>100.0%</a:t>
                      </a:r>
                    </a:p>
                  </a:txBody>
                  <a:tcPr anchor="ctr">
                    <a:solidFill>
                      <a:srgbClr val="FFFFFF"/>
                    </a:solidFill>
                  </a:tcPr>
                </a:tc>
                <a:extLst>
                  <a:ext uri="{0D108BD9-81ED-4DB2-BD59-A6C34878D82A}">
                    <a16:rowId xmlns:a16="http://schemas.microsoft.com/office/drawing/2014/main" val="10007"/>
                  </a:ext>
                </a:extLst>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754</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extLst>
                  <a:ext uri="{0D108BD9-81ED-4DB2-BD59-A6C34878D82A}">
                    <a16:rowId xmlns:a16="http://schemas.microsoft.com/office/drawing/2014/main" val="10008"/>
                  </a:ext>
                </a:extLst>
              </a:tr>
            </a:tbl>
          </a:graphicData>
        </a:graphic>
      </p:graphicFrame>
      <p:sp>
        <p:nvSpPr>
          <p:cNvPr id="8" name="TextBox 231">
            <a:extLst>
              <a:ext uri="{FF2B5EF4-FFF2-40B4-BE49-F238E27FC236}">
                <a16:creationId xmlns:a16="http://schemas.microsoft.com/office/drawing/2014/main" id="{13BE0697-2AA2-4008-A2B3-94C5E2868210}"/>
              </a:ext>
            </a:extLst>
          </p:cNvPr>
          <p:cNvSpPr txBox="1"/>
          <p:nvPr/>
        </p:nvSpPr>
        <p:spPr>
          <a:xfrm>
            <a:off x="642541" y="6336528"/>
            <a:ext cx="5324400" cy="123111"/>
          </a:xfrm>
          <a:prstGeom prst="rect">
            <a:avLst/>
          </a:prstGeom>
          <a:noFill/>
        </p:spPr>
        <p:txBody>
          <a:bodyPr wrap="square" lIns="0" tIns="0" rIns="0" bIns="0">
            <a:spAutoFit/>
          </a:bodyPr>
          <a:lstStyle/>
          <a:p>
            <a:pPr algn="l">
              <a:defRPr sz="800">
                <a:solidFill>
                  <a:srgbClr val="000000"/>
                </a:solidFill>
                <a:latin typeface="Montserrat"/>
              </a:defRPr>
            </a:pPr>
            <a:r>
              <a:rPr dirty="0"/>
              <a:t>Corte de </a:t>
            </a:r>
            <a:r>
              <a:rPr dirty="0" err="1"/>
              <a:t>información</a:t>
            </a:r>
            <a:r>
              <a:rPr dirty="0"/>
              <a:t>: </a:t>
            </a:r>
            <a:r>
              <a:rPr lang="es-MX" dirty="0"/>
              <a:t>18</a:t>
            </a:r>
            <a:r>
              <a:rPr dirty="0"/>
              <a:t> </a:t>
            </a:r>
            <a:r>
              <a:rPr lang="es-MX" dirty="0"/>
              <a:t>junio</a:t>
            </a:r>
            <a:r>
              <a:rPr dirty="0"/>
              <a:t> 2026</a:t>
            </a:r>
          </a:p>
        </p:txBody>
      </p:sp>
      <p:graphicFrame>
        <p:nvGraphicFramePr>
          <p:cNvPr id="10" name="Google Shape;230;g370e87ffe7a_2_137">
            <a:extLst>
              <a:ext uri="{FF2B5EF4-FFF2-40B4-BE49-F238E27FC236}">
                <a16:creationId xmlns:a16="http://schemas.microsoft.com/office/drawing/2014/main" id="{F0CC3610-0299-BD6C-5CDB-B761AF3AA8EC}"/>
              </a:ext>
            </a:extLst>
          </p:cNvPr>
          <p:cNvGraphicFramePr/>
          <p:nvPr>
            <p:extLst>
              <p:ext uri="{D42A27DB-BD31-4B8C-83A1-F6EECF244321}">
                <p14:modId xmlns:p14="http://schemas.microsoft.com/office/powerpoint/2010/main" val="3401137311"/>
              </p:ext>
            </p:extLst>
          </p:nvPr>
        </p:nvGraphicFramePr>
        <p:xfrm>
          <a:off x="200058" y="5117591"/>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Vive saludable, Vive feliz</a:t>
                      </a:r>
                      <a:endParaRPr sz="2100" b="1" u="none" strike="noStrike" cap="none">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12" name="Table 232">
            <a:extLst>
              <a:ext uri="{FF2B5EF4-FFF2-40B4-BE49-F238E27FC236}">
                <a16:creationId xmlns:a16="http://schemas.microsoft.com/office/drawing/2014/main" id="{C8C7FE6B-8CCA-155D-268D-2BE748C12C46}"/>
              </a:ext>
            </a:extLst>
          </p:cNvPr>
          <p:cNvGraphicFramePr>
            <a:graphicFrameLocks noGrp="1"/>
          </p:cNvGraphicFramePr>
          <p:nvPr>
            <p:extLst>
              <p:ext uri="{D42A27DB-BD31-4B8C-83A1-F6EECF244321}">
                <p14:modId xmlns:p14="http://schemas.microsoft.com/office/powerpoint/2010/main" val="616815275"/>
              </p:ext>
            </p:extLst>
          </p:nvPr>
        </p:nvGraphicFramePr>
        <p:xfrm>
          <a:off x="659906" y="5612125"/>
          <a:ext cx="6352206"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gridCol w="1323169">
                  <a:extLst>
                    <a:ext uri="{9D8B030D-6E8A-4147-A177-3AD203B41FA5}">
                      <a16:colId xmlns:a16="http://schemas.microsoft.com/office/drawing/2014/main" val="20002"/>
                    </a:ext>
                  </a:extLst>
                </a:gridCol>
                <a:gridCol w="1323169">
                  <a:extLst>
                    <a:ext uri="{9D8B030D-6E8A-4147-A177-3AD203B41FA5}">
                      <a16:colId xmlns:a16="http://schemas.microsoft.com/office/drawing/2014/main" val="1781743087"/>
                    </a:ext>
                  </a:extLst>
                </a:gridCol>
              </a:tblGrid>
              <a:tr h="216000">
                <a:tc>
                  <a:txBody>
                    <a:bodyPr/>
                    <a:lstStyle/>
                    <a:p>
                      <a:pPr algn="ctr">
                        <a:defRPr sz="1100" b="1">
                          <a:solidFill>
                            <a:srgbClr val="FFFFFF"/>
                          </a:solidFill>
                          <a:latin typeface="Montserrat"/>
                        </a:defRPr>
                      </a:pPr>
                      <a:r>
                        <a:rPr lang="es-MX"/>
                        <a:t>Total de Escuelas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Escuelas visitadas</a:t>
                      </a:r>
                      <a:endParaRPr/>
                    </a:p>
                  </a:txBody>
                  <a:tcPr marL="14400" marR="14400" anchor="ctr">
                    <a:solidFill>
                      <a:srgbClr val="006455"/>
                    </a:solidFill>
                  </a:tcPr>
                </a:tc>
                <a:tc>
                  <a:txBody>
                    <a:bodyPr/>
                    <a:lstStyle/>
                    <a:p>
                      <a:pPr algn="ctr">
                        <a:defRPr sz="1100" b="1">
                          <a:solidFill>
                            <a:srgbClr val="FFFFFF"/>
                          </a:solidFill>
                          <a:latin typeface="Montserrat"/>
                        </a:defRPr>
                      </a:pPr>
                      <a:r>
                        <a:rPr lang="es-MX"/>
                        <a:t>Población </a:t>
                      </a:r>
                      <a:endParaRPr/>
                    </a:p>
                  </a:txBody>
                  <a:tcPr marL="14400" marR="14400" anchor="ctr">
                    <a:solidFill>
                      <a:srgbClr val="006455"/>
                    </a:solidFill>
                  </a:tcPr>
                </a:tc>
                <a:tc>
                  <a:txBody>
                    <a:bodyPr/>
                    <a:lstStyle/>
                    <a:p>
                      <a:pPr algn="ctr">
                        <a:defRPr sz="1100" b="1">
                          <a:solidFill>
                            <a:srgbClr val="FFFFFF"/>
                          </a:solidFill>
                          <a:latin typeface="Montserrat"/>
                        </a:defRPr>
                      </a:pPr>
                      <a:r>
                        <a:rPr lang="es-MX"/>
                        <a:t>Menores tamizados</a:t>
                      </a:r>
                      <a:endParaRP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a:defRPr>
                      </a:pPr>
                      <a:r>
                        <a:rPr lang="es-MX"/>
                        <a:t>1,744</a:t>
                      </a:r>
                    </a:p>
                  </a:txBody>
                  <a:tcPr anchor="ctr">
                    <a:solidFill>
                      <a:srgbClr val="D3E9E7"/>
                    </a:solidFill>
                  </a:tcPr>
                </a:tc>
                <a:tc>
                  <a:txBody>
                    <a:bodyPr/>
                    <a:lstStyle/>
                    <a:p>
                      <a:pPr algn="ctr">
                        <a:defRPr sz="1000" b="1">
                          <a:solidFill>
                            <a:srgbClr val="006455"/>
                          </a:solidFill>
                          <a:latin typeface="Montserrat"/>
                        </a:defRPr>
                      </a:pPr>
                      <a:r>
                        <a:rPr lang="es-MX"/>
                        <a:t>1,403</a:t>
                      </a:r>
                    </a:p>
                  </a:txBody>
                  <a:tcPr anchor="ctr">
                    <a:solidFill>
                      <a:srgbClr val="D3E9E7"/>
                    </a:solidFill>
                  </a:tcPr>
                </a:tc>
                <a:tc>
                  <a:txBody>
                    <a:bodyPr/>
                    <a:lstStyle/>
                    <a:p>
                      <a:pPr algn="ctr">
                        <a:defRPr sz="1000" b="1">
                          <a:solidFill>
                            <a:srgbClr val="006455"/>
                          </a:solidFill>
                          <a:latin typeface="Montserrat"/>
                        </a:defRPr>
                      </a:pPr>
                      <a:r>
                        <a:rPr lang="es-MX"/>
                        <a:t>205,517</a:t>
                      </a:r>
                    </a:p>
                  </a:txBody>
                  <a:tcPr anchor="ctr">
                    <a:solidFill>
                      <a:srgbClr val="D3E9E7"/>
                    </a:solidFill>
                  </a:tcPr>
                </a:tc>
                <a:tc>
                  <a:txBody>
                    <a:bodyPr/>
                    <a:lstStyle/>
                    <a:p>
                      <a:pPr algn="ctr">
                        <a:defRPr sz="1000" b="1">
                          <a:solidFill>
                            <a:srgbClr val="006455"/>
                          </a:solidFill>
                          <a:latin typeface="Montserrat"/>
                        </a:defRPr>
                      </a:pPr>
                      <a:r>
                        <a:rPr lang="es-MX"/>
                        <a:t>133,240</a:t>
                      </a:r>
                    </a:p>
                  </a:txBody>
                  <a:tcPr anchor="ctr">
                    <a:solidFill>
                      <a:srgbClr val="D3E9E7"/>
                    </a:solidFill>
                  </a:tcPr>
                </a:tc>
                <a:extLst>
                  <a:ext uri="{0D108BD9-81ED-4DB2-BD59-A6C34878D82A}">
                    <a16:rowId xmlns:a16="http://schemas.microsoft.com/office/drawing/2014/main" val="10011"/>
                  </a:ext>
                </a:extLst>
              </a:tr>
            </a:tbl>
          </a:graphicData>
        </a:graphic>
      </p:graphicFrame>
      <p:graphicFrame>
        <p:nvGraphicFramePr>
          <p:cNvPr id="14" name="Table 232">
            <a:extLst>
              <a:ext uri="{FF2B5EF4-FFF2-40B4-BE49-F238E27FC236}">
                <a16:creationId xmlns:a16="http://schemas.microsoft.com/office/drawing/2014/main" id="{972D5C1D-65CD-2C73-81A1-F10AA9171D7B}"/>
              </a:ext>
            </a:extLst>
          </p:cNvPr>
          <p:cNvGraphicFramePr>
            <a:graphicFrameLocks noGrp="1"/>
          </p:cNvGraphicFramePr>
          <p:nvPr>
            <p:extLst>
              <p:ext uri="{D42A27DB-BD31-4B8C-83A1-F6EECF244321}">
                <p14:modId xmlns:p14="http://schemas.microsoft.com/office/powerpoint/2010/main" val="1615257416"/>
              </p:ext>
            </p:extLst>
          </p:nvPr>
        </p:nvGraphicFramePr>
        <p:xfrm>
          <a:off x="1735038" y="6670045"/>
          <a:ext cx="3705868" cy="670560"/>
        </p:xfrm>
        <a:graphic>
          <a:graphicData uri="http://schemas.openxmlformats.org/drawingml/2006/table">
            <a:tbl>
              <a:tblPr firstRow="1" bandRow="1">
                <a:tableStyleId>{5C22544A-7EE6-4342-B048-85BDC9FD1C3A}</a:tableStyleId>
              </a:tblPr>
              <a:tblGrid>
                <a:gridCol w="2392647">
                  <a:extLst>
                    <a:ext uri="{9D8B030D-6E8A-4147-A177-3AD203B41FA5}">
                      <a16:colId xmlns:a16="http://schemas.microsoft.com/office/drawing/2014/main" val="20000"/>
                    </a:ext>
                  </a:extLst>
                </a:gridCol>
                <a:gridCol w="1313221">
                  <a:extLst>
                    <a:ext uri="{9D8B030D-6E8A-4147-A177-3AD203B41FA5}">
                      <a16:colId xmlns:a16="http://schemas.microsoft.com/office/drawing/2014/main" val="20001"/>
                    </a:ext>
                  </a:extLst>
                </a:gridCol>
              </a:tblGrid>
              <a:tr h="216000">
                <a:tc>
                  <a:txBody>
                    <a:bodyPr/>
                    <a:lstStyle/>
                    <a:p>
                      <a:pPr algn="ctr">
                        <a:defRPr sz="1100" b="1">
                          <a:solidFill>
                            <a:srgbClr val="FFFFFF"/>
                          </a:solidFill>
                          <a:latin typeface="Montserrat"/>
                        </a:defRPr>
                      </a:pPr>
                      <a:r>
                        <a:rPr lang="es-MX" dirty="0"/>
                        <a:t>Brigadas</a:t>
                      </a:r>
                      <a:endParaRPr dirty="0"/>
                    </a:p>
                  </a:txBody>
                  <a:tcPr marL="14400" marR="14400" anchor="ctr">
                    <a:solidFill>
                      <a:srgbClr val="006455"/>
                    </a:solidFill>
                  </a:tcPr>
                </a:tc>
                <a:tc>
                  <a:txBody>
                    <a:bodyPr/>
                    <a:lstStyle/>
                    <a:p>
                      <a:pPr algn="ctr">
                        <a:defRPr sz="1100" b="1">
                          <a:solidFill>
                            <a:srgbClr val="FFFFFF"/>
                          </a:solidFill>
                          <a:latin typeface="Montserrat"/>
                        </a:defRPr>
                      </a:pPr>
                      <a:r>
                        <a:rPr lang="es-MX"/>
                        <a:t>Personal de enfermería IMSS</a:t>
                      </a:r>
                      <a:endParaRPr/>
                    </a:p>
                  </a:txBody>
                  <a:tcPr marL="14400" marR="14400" anchor="ctr">
                    <a:solidFill>
                      <a:srgbClr val="006455"/>
                    </a:solidFill>
                  </a:tcPr>
                </a:tc>
                <a:extLst>
                  <a:ext uri="{0D108BD9-81ED-4DB2-BD59-A6C34878D82A}">
                    <a16:rowId xmlns:a16="http://schemas.microsoft.com/office/drawing/2014/main" val="10000"/>
                  </a:ext>
                </a:extLst>
              </a:tr>
              <a:tr h="216000">
                <a:tc>
                  <a:txBody>
                    <a:bodyPr/>
                    <a:lstStyle/>
                    <a:p>
                      <a:pPr algn="ctr">
                        <a:defRPr sz="1000" b="1">
                          <a:solidFill>
                            <a:srgbClr val="006455"/>
                          </a:solidFill>
                          <a:latin typeface="Montserrat"/>
                        </a:defRPr>
                      </a:pPr>
                      <a:r>
                        <a:rPr lang="es-MX"/>
                        <a:t>11</a:t>
                      </a:r>
                    </a:p>
                  </a:txBody>
                  <a:tcPr anchor="ctr">
                    <a:solidFill>
                      <a:srgbClr val="D3E9E7"/>
                    </a:solidFill>
                  </a:tcPr>
                </a:tc>
                <a:tc>
                  <a:txBody>
                    <a:bodyPr/>
                    <a:lstStyle/>
                    <a:p>
                      <a:pPr algn="ctr">
                        <a:defRPr sz="1000" b="1">
                          <a:solidFill>
                            <a:srgbClr val="006455"/>
                          </a:solidFill>
                          <a:latin typeface="Montserrat"/>
                        </a:defRPr>
                      </a:pPr>
                      <a:r>
                        <a:rPr lang="es-MX" dirty="0"/>
                        <a:t>55</a:t>
                      </a:r>
                    </a:p>
                  </a:txBody>
                  <a:tcPr anchor="ctr">
                    <a:solidFill>
                      <a:srgbClr val="D3E9E7"/>
                    </a:solidFill>
                  </a:tcPr>
                </a:tc>
                <a:extLst>
                  <a:ext uri="{0D108BD9-81ED-4DB2-BD59-A6C34878D82A}">
                    <a16:rowId xmlns:a16="http://schemas.microsoft.com/office/drawing/2014/main" val="10011"/>
                  </a:ext>
                </a:extLst>
              </a:tr>
            </a:tbl>
          </a:graphicData>
        </a:graphic>
      </p:graphicFrame>
      <p:sp>
        <p:nvSpPr>
          <p:cNvPr id="16" name="TextBox 231">
            <a:extLst>
              <a:ext uri="{FF2B5EF4-FFF2-40B4-BE49-F238E27FC236}">
                <a16:creationId xmlns:a16="http://schemas.microsoft.com/office/drawing/2014/main" id="{C20A16A0-0D1A-B59F-BA14-424CB1208C04}"/>
              </a:ext>
            </a:extLst>
          </p:cNvPr>
          <p:cNvSpPr txBox="1"/>
          <p:nvPr/>
        </p:nvSpPr>
        <p:spPr>
          <a:xfrm>
            <a:off x="1735038" y="7413658"/>
            <a:ext cx="5324400" cy="123111"/>
          </a:xfrm>
          <a:prstGeom prst="rect">
            <a:avLst/>
          </a:prstGeom>
          <a:noFill/>
        </p:spPr>
        <p:txBody>
          <a:bodyPr wrap="square" lIns="0" tIns="0" rIns="0" bIns="0">
            <a:spAutoFit/>
          </a:bodyPr>
          <a:lstStyle/>
          <a:p>
            <a:pPr algn="l">
              <a:defRPr sz="800">
                <a:solidFill>
                  <a:srgbClr val="000000"/>
                </a:solidFill>
                <a:latin typeface="Montserrat"/>
              </a:defRPr>
            </a:pPr>
            <a:r>
              <a:rPr lang="es-MX"/>
              <a:t>En cada brigada participan 5 personas del IMSS.</a:t>
            </a:r>
            <a:endParaRPr/>
          </a:p>
        </p:txBody>
      </p:sp>
      <p:sp>
        <p:nvSpPr>
          <p:cNvPr id="18" name="CuadroTexto 17">
            <a:extLst>
              <a:ext uri="{FF2B5EF4-FFF2-40B4-BE49-F238E27FC236}">
                <a16:creationId xmlns:a16="http://schemas.microsoft.com/office/drawing/2014/main" id="{68BC413A-3307-4D49-3144-6EFE29CDD86E}"/>
              </a:ext>
            </a:extLst>
          </p:cNvPr>
          <p:cNvSpPr txBox="1"/>
          <p:nvPr/>
        </p:nvSpPr>
        <p:spPr>
          <a:xfrm>
            <a:off x="483178" y="8363547"/>
            <a:ext cx="1841269"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4,914</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i="0" u="none" strike="noStrike" err="1">
                <a:solidFill>
                  <a:srgbClr val="434343"/>
                </a:solidFill>
                <a:latin typeface="Montserrat"/>
                <a:ea typeface="Montserrat"/>
                <a:cs typeface="Montserrat"/>
              </a:rPr>
              <a:t>nutricionales</a:t>
            </a:r>
            <a:endParaRPr lang="en-US" sz="1200" b="1" i="0" u="none" strike="noStrike">
              <a:solidFill>
                <a:srgbClr val="434343"/>
              </a:solidFill>
              <a:latin typeface="Montserrat"/>
              <a:ea typeface="Montserrat"/>
              <a:cs typeface="Montserrat"/>
            </a:endParaRPr>
          </a:p>
        </p:txBody>
      </p:sp>
      <p:sp>
        <p:nvSpPr>
          <p:cNvPr id="20" name="CuadroTexto 19">
            <a:extLst>
              <a:ext uri="{FF2B5EF4-FFF2-40B4-BE49-F238E27FC236}">
                <a16:creationId xmlns:a16="http://schemas.microsoft.com/office/drawing/2014/main" id="{4F89A100-9D11-4654-60E7-10CE8E97BD86}"/>
              </a:ext>
            </a:extLst>
          </p:cNvPr>
          <p:cNvSpPr txBox="1"/>
          <p:nvPr/>
        </p:nvSpPr>
        <p:spPr>
          <a:xfrm>
            <a:off x="2943053" y="8363547"/>
            <a:ext cx="1832957"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5,209</a:t>
            </a:r>
            <a:endParaRPr lang="en-US" sz="2800" b="1" i="0" u="none" strike="noStrike">
              <a:solidFill>
                <a:srgbClr val="006556"/>
              </a:solidFill>
              <a:latin typeface="Montserrat"/>
              <a:ea typeface="Montserrat"/>
              <a:cs typeface="Montserrat"/>
            </a:endParaRPr>
          </a:p>
          <a:p>
            <a:pPr algn="ctr"/>
            <a:r>
              <a:rPr lang="en-US" sz="1200" b="1" i="0" u="none" strike="noStrike" err="1">
                <a:solidFill>
                  <a:srgbClr val="434343"/>
                </a:solidFill>
                <a:latin typeface="Montserrat"/>
                <a:ea typeface="Montserrat"/>
                <a:cs typeface="Montserrat"/>
              </a:rPr>
              <a:t>Valoraciones</a:t>
            </a:r>
            <a:r>
              <a:rPr lang="en-US" sz="1200" b="1" i="0" u="none" strike="noStrike">
                <a:solidFill>
                  <a:srgbClr val="434343"/>
                </a:solidFill>
                <a:latin typeface="Montserrat"/>
                <a:ea typeface="Montserrat"/>
                <a:cs typeface="Montserrat"/>
              </a:rPr>
              <a:t> </a:t>
            </a:r>
            <a:br>
              <a:rPr lang="en-US" sz="1200" b="1">
                <a:latin typeface="Montserrat"/>
                <a:ea typeface="Montserrat"/>
                <a:cs typeface="Montserrat"/>
              </a:rPr>
            </a:br>
            <a:r>
              <a:rPr lang="en-US" sz="1200" b="1" err="1">
                <a:solidFill>
                  <a:srgbClr val="434343"/>
                </a:solidFill>
                <a:latin typeface="Montserrat"/>
                <a:ea typeface="Montserrat"/>
                <a:cs typeface="Montserrat"/>
              </a:rPr>
              <a:t>bucales</a:t>
            </a:r>
            <a:endParaRPr lang="en-US" sz="1200" b="1" i="0" u="none" strike="noStrike">
              <a:solidFill>
                <a:srgbClr val="434343"/>
              </a:solidFill>
              <a:latin typeface="Montserrat"/>
              <a:ea typeface="Montserrat"/>
              <a:cs typeface="Montserrat"/>
            </a:endParaRPr>
          </a:p>
        </p:txBody>
      </p:sp>
      <p:sp>
        <p:nvSpPr>
          <p:cNvPr id="22" name="CuadroTexto 21">
            <a:extLst>
              <a:ext uri="{FF2B5EF4-FFF2-40B4-BE49-F238E27FC236}">
                <a16:creationId xmlns:a16="http://schemas.microsoft.com/office/drawing/2014/main" id="{24A31DBA-0666-0311-1476-FD5EF5F6801E}"/>
              </a:ext>
            </a:extLst>
          </p:cNvPr>
          <p:cNvSpPr txBox="1"/>
          <p:nvPr/>
        </p:nvSpPr>
        <p:spPr>
          <a:xfrm>
            <a:off x="5218315" y="8363547"/>
            <a:ext cx="184126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solidFill>
                  <a:srgbClr val="006556"/>
                </a:solidFill>
                <a:latin typeface="Montserrat"/>
                <a:ea typeface="Montserrat"/>
                <a:cs typeface="Montserrat"/>
              </a:rPr>
              <a:t>2,216</a:t>
            </a:r>
            <a:endParaRPr lang="en-US" sz="2800" b="1" i="0" u="none" strike="noStrike">
              <a:solidFill>
                <a:srgbClr val="006556"/>
              </a:solidFill>
              <a:latin typeface="Montserrat"/>
              <a:ea typeface="Montserrat"/>
              <a:cs typeface="Montserrat"/>
            </a:endParaRPr>
          </a:p>
          <a:p>
            <a:pPr algn="ctr"/>
            <a:r>
              <a:rPr lang="en-US" sz="1200" b="1">
                <a:solidFill>
                  <a:srgbClr val="434343"/>
                </a:solidFill>
                <a:latin typeface="Montserrat"/>
                <a:ea typeface="Montserrat"/>
                <a:cs typeface="Montserrat"/>
              </a:rPr>
              <a:t>Salud visual</a:t>
            </a:r>
            <a:endParaRPr lang="en-US" sz="1200" b="1" i="0" u="none" strike="noStrike">
              <a:solidFill>
                <a:srgbClr val="434343"/>
              </a:solidFill>
              <a:latin typeface="Montserrat"/>
              <a:ea typeface="Montserrat"/>
              <a:cs typeface="Montserrat"/>
            </a:endParaRPr>
          </a:p>
        </p:txBody>
      </p:sp>
      <p:pic>
        <p:nvPicPr>
          <p:cNvPr id="24" name="Imagen 23" descr="Icono&#10;&#10;El contenido generado por IA puede ser incorrecto.">
            <a:extLst>
              <a:ext uri="{FF2B5EF4-FFF2-40B4-BE49-F238E27FC236}">
                <a16:creationId xmlns:a16="http://schemas.microsoft.com/office/drawing/2014/main" id="{7C53FFB3-48AA-4B7F-E5C9-FDEBA25C86E6}"/>
              </a:ext>
            </a:extLst>
          </p:cNvPr>
          <p:cNvPicPr>
            <a:picLocks noChangeAspect="1"/>
          </p:cNvPicPr>
          <p:nvPr/>
        </p:nvPicPr>
        <p:blipFill>
          <a:blip r:embed="rId4"/>
          <a:stretch>
            <a:fillRect/>
          </a:stretch>
        </p:blipFill>
        <p:spPr>
          <a:xfrm>
            <a:off x="3481994" y="7750484"/>
            <a:ext cx="730135" cy="669175"/>
          </a:xfrm>
          <a:prstGeom prst="rect">
            <a:avLst/>
          </a:prstGeom>
        </p:spPr>
      </p:pic>
      <p:pic>
        <p:nvPicPr>
          <p:cNvPr id="26" name="Imagen 25" descr="Icono&#10;&#10;El contenido generado por IA puede ser incorrecto.">
            <a:extLst>
              <a:ext uri="{FF2B5EF4-FFF2-40B4-BE49-F238E27FC236}">
                <a16:creationId xmlns:a16="http://schemas.microsoft.com/office/drawing/2014/main" id="{C83523CD-CC3A-9C8B-DC28-8834BE3F3F14}"/>
              </a:ext>
            </a:extLst>
          </p:cNvPr>
          <p:cNvPicPr>
            <a:picLocks noChangeAspect="1"/>
          </p:cNvPicPr>
          <p:nvPr/>
        </p:nvPicPr>
        <p:blipFill>
          <a:blip r:embed="rId5"/>
          <a:stretch>
            <a:fillRect/>
          </a:stretch>
        </p:blipFill>
        <p:spPr>
          <a:xfrm>
            <a:off x="5655945" y="7897515"/>
            <a:ext cx="924445" cy="491944"/>
          </a:xfrm>
          <a:prstGeom prst="rect">
            <a:avLst/>
          </a:prstGeom>
        </p:spPr>
      </p:pic>
      <p:pic>
        <p:nvPicPr>
          <p:cNvPr id="28" name="Imagen 27" descr="Icono&#10;&#10;El contenido generado por IA puede ser incorrecto.">
            <a:extLst>
              <a:ext uri="{FF2B5EF4-FFF2-40B4-BE49-F238E27FC236}">
                <a16:creationId xmlns:a16="http://schemas.microsoft.com/office/drawing/2014/main" id="{46918901-07C2-ED6D-5A96-37BE7DD24370}"/>
              </a:ext>
            </a:extLst>
          </p:cNvPr>
          <p:cNvPicPr>
            <a:picLocks noChangeAspect="1"/>
          </p:cNvPicPr>
          <p:nvPr/>
        </p:nvPicPr>
        <p:blipFill>
          <a:blip r:embed="rId6"/>
          <a:stretch>
            <a:fillRect/>
          </a:stretch>
        </p:blipFill>
        <p:spPr>
          <a:xfrm>
            <a:off x="1102129" y="7732473"/>
            <a:ext cx="603366" cy="713510"/>
          </a:xfrm>
          <a:prstGeom prst="rect">
            <a:avLst/>
          </a:prstGeom>
        </p:spPr>
      </p:pic>
    </p:spTree>
    <p:extLst>
      <p:ext uri="{BB962C8B-B14F-4D97-AF65-F5344CB8AC3E}">
        <p14:creationId xmlns:p14="http://schemas.microsoft.com/office/powerpoint/2010/main" val="38056559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ZACATECAS</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6,358	 Personal de Salud: 2,997</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+87.0%</a:t>
            </a:r>
          </a:p>
        </p:txBody>
      </p:sp>
      <p:graphicFrame>
        <p:nvGraphicFramePr>
          <p:cNvPr id="301" name="Table 300"/>
          <p:cNvGraphicFramePr>
            <a:graphicFrameLocks noGrp="1"/>
          </p:cNvGraphicFramePr>
          <p:nvPr>
            <p:extLst>
              <p:ext uri="{D42A27DB-BD31-4B8C-83A1-F6EECF244321}">
                <p14:modId xmlns:p14="http://schemas.microsoft.com/office/powerpoint/2010/main" val="2919445925"/>
              </p:ext>
            </p:extLst>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t>2026</a:t>
                      </a:r>
                    </a:p>
                  </a:txBody>
                  <a:tcPr marL="0" marR="0" marT="0" marB="0" anchor="ctr">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rPr dirty="0"/>
                        <a:t>23</a:t>
                      </a:r>
                    </a:p>
                  </a:txBody>
                  <a:tcPr marL="0" marR="0" marT="0" marB="0" anchor="ctr">
                    <a:noFill/>
                  </a:tcPr>
                </a:tc>
                <a:tc>
                  <a:txBody>
                    <a:bodyPr/>
                    <a:lstStyle/>
                    <a:p>
                      <a:pPr algn="ctr">
                        <a:defRPr sz="1500" b="1">
                          <a:solidFill>
                            <a:srgbClr val="B4975A"/>
                          </a:solidFill>
                          <a:latin typeface="Montserrat"/>
                        </a:defRPr>
                      </a:pPr>
                      <a:r>
                        <a:rPr dirty="0"/>
                        <a:t>43</a:t>
                      </a:r>
                    </a:p>
                  </a:txBody>
                  <a:tcPr marL="0" marR="0" marT="0" marB="0" anchor="ctr">
                    <a:noFill/>
                  </a:tcPr>
                </a:tc>
                <a:extLst>
                  <a:ext uri="{0D108BD9-81ED-4DB2-BD59-A6C34878D82A}">
                    <a16:rowId xmlns:a16="http://schemas.microsoft.com/office/drawing/2014/main" val="10001"/>
                  </a:ext>
                </a:extLst>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+48.7%</a:t>
            </a:r>
          </a:p>
        </p:txBody>
      </p:sp>
      <p:graphicFrame>
        <p:nvGraphicFramePr>
          <p:cNvPr id="304" name="Table 303"/>
          <p:cNvGraphicFramePr>
            <a:graphicFrameLocks noGrp="1"/>
          </p:cNvGraphicFramePr>
          <p:nvPr>
            <p:extLst>
              <p:ext uri="{D42A27DB-BD31-4B8C-83A1-F6EECF244321}">
                <p14:modId xmlns:p14="http://schemas.microsoft.com/office/powerpoint/2010/main" val="1560515617"/>
              </p:ext>
            </p:extLst>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8317">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rPr dirty="0"/>
                        <a:t>2026</a:t>
                      </a:r>
                    </a:p>
                  </a:txBody>
                  <a:tcPr marL="0" marR="0" marT="0" marB="0" anchor="ctr">
                    <a:noFill/>
                  </a:tcPr>
                </a:tc>
                <a:extLst>
                  <a:ext uri="{0D108BD9-81ED-4DB2-BD59-A6C34878D82A}">
                    <a16:rowId xmlns:a16="http://schemas.microsoft.com/office/drawing/2014/main" val="10000"/>
                  </a:ext>
                </a:extLst>
              </a:tr>
              <a:tr h="258318">
                <a:tc>
                  <a:txBody>
                    <a:bodyPr/>
                    <a:lstStyle/>
                    <a:p>
                      <a:pPr algn="ctr">
                        <a:defRPr sz="1500" b="1">
                          <a:solidFill>
                            <a:srgbClr val="004B41"/>
                          </a:solidFill>
                          <a:latin typeface="Montserrat"/>
                        </a:defRPr>
                      </a:pPr>
                      <a:r>
                        <a:t>509</a:t>
                      </a:r>
                    </a:p>
                  </a:txBody>
                  <a:tcPr marL="0" marR="0" marT="0" marB="0" anchor="ctr">
                    <a:noFill/>
                  </a:tcPr>
                </a:tc>
                <a:tc>
                  <a:txBody>
                    <a:bodyPr/>
                    <a:lstStyle/>
                    <a:p>
                      <a:pPr algn="ctr">
                        <a:defRPr sz="1500" b="1">
                          <a:solidFill>
                            <a:srgbClr val="B4975A"/>
                          </a:solidFill>
                          <a:latin typeface="Montserrat"/>
                        </a:defRPr>
                      </a:pPr>
                      <a:r>
                        <a:rPr dirty="0"/>
                        <a:t>757</a:t>
                      </a:r>
                    </a:p>
                  </a:txBody>
                  <a:tcPr marL="0" marR="0" marT="0" marB="0" anchor="ctr">
                    <a:noFill/>
                  </a:tcPr>
                </a:tc>
                <a:extLst>
                  <a:ext uri="{0D108BD9-81ED-4DB2-BD59-A6C34878D82A}">
                    <a16:rowId xmlns:a16="http://schemas.microsoft.com/office/drawing/2014/main" val="10001"/>
                  </a:ext>
                </a:extLst>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+35.8%</a:t>
            </a:r>
          </a:p>
        </p:txBody>
      </p:sp>
      <p:graphicFrame>
        <p:nvGraphicFramePr>
          <p:cNvPr id="307" name="Table 306"/>
          <p:cNvGraphicFramePr>
            <a:graphicFrameLocks noGrp="1"/>
          </p:cNvGraphicFramePr>
          <p:nvPr>
            <p:extLst>
              <p:ext uri="{D42A27DB-BD31-4B8C-83A1-F6EECF244321}">
                <p14:modId xmlns:p14="http://schemas.microsoft.com/office/powerpoint/2010/main" val="2146647018"/>
              </p:ext>
            </p:extLst>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t>2018</a:t>
                      </a:r>
                    </a:p>
                  </a:txBody>
                  <a:tcPr marL="0" marR="0" marT="0" marB="0" anchor="ctr">
                    <a:noFill/>
                  </a:tcPr>
                </a:tc>
                <a:tc>
                  <a:txBody>
                    <a:bodyPr/>
                    <a:lstStyle/>
                    <a:p>
                      <a:pPr algn="ctr">
                        <a:defRPr sz="1300" b="1">
                          <a:solidFill>
                            <a:srgbClr val="A51E37"/>
                          </a:solidFill>
                          <a:latin typeface="Montserrat"/>
                        </a:defRPr>
                      </a:pPr>
                      <a:r>
                        <a:t>2026</a:t>
                      </a:r>
                    </a:p>
                  </a:txBody>
                  <a:tcPr marL="0" marR="0" marT="0" marB="0" anchor="ctr">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798</a:t>
                      </a:r>
                    </a:p>
                  </a:txBody>
                  <a:tcPr marL="0" marR="0" marT="0" marB="0" anchor="ctr">
                    <a:noFill/>
                  </a:tcPr>
                </a:tc>
                <a:tc>
                  <a:txBody>
                    <a:bodyPr/>
                    <a:lstStyle/>
                    <a:p>
                      <a:pPr algn="ctr">
                        <a:defRPr sz="1500" b="1">
                          <a:solidFill>
                            <a:srgbClr val="B4975A"/>
                          </a:solidFill>
                          <a:latin typeface="Montserrat"/>
                        </a:defRPr>
                      </a:pPr>
                      <a:r>
                        <a:rPr dirty="0"/>
                        <a:t>1,084</a:t>
                      </a:r>
                    </a:p>
                  </a:txBody>
                  <a:tcPr marL="0" marR="0" marT="0" marB="0" anchor="ctr">
                    <a:noFill/>
                  </a:tcPr>
                </a:tc>
                <a:extLst>
                  <a:ext uri="{0D108BD9-81ED-4DB2-BD59-A6C34878D82A}">
                    <a16:rowId xmlns:a16="http://schemas.microsoft.com/office/drawing/2014/main" val="10001"/>
                  </a:ext>
                </a:extLst>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+52.9%</a:t>
            </a:r>
          </a:p>
        </p:txBody>
      </p:sp>
      <p:graphicFrame>
        <p:nvGraphicFramePr>
          <p:cNvPr id="310" name="Table 309"/>
          <p:cNvGraphicFramePr>
            <a:graphicFrameLocks noGrp="1"/>
          </p:cNvGraphicFramePr>
          <p:nvPr>
            <p:extLst>
              <p:ext uri="{D42A27DB-BD31-4B8C-83A1-F6EECF244321}">
                <p14:modId xmlns:p14="http://schemas.microsoft.com/office/powerpoint/2010/main" val="3288615129"/>
              </p:ext>
            </p:extLst>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67462">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t>2026</a:t>
                      </a:r>
                    </a:p>
                  </a:txBody>
                  <a:tcPr marL="0" marR="0" marT="0" marB="0" anchor="ctr">
                    <a:noFill/>
                  </a:tcPr>
                </a:tc>
                <a:extLst>
                  <a:ext uri="{0D108BD9-81ED-4DB2-BD59-A6C34878D82A}">
                    <a16:rowId xmlns:a16="http://schemas.microsoft.com/office/drawing/2014/main" val="10000"/>
                  </a:ext>
                </a:extLst>
              </a:tr>
              <a:tr h="267462">
                <a:tc>
                  <a:txBody>
                    <a:bodyPr/>
                    <a:lstStyle/>
                    <a:p>
                      <a:pPr algn="ctr">
                        <a:defRPr sz="1500" b="1">
                          <a:solidFill>
                            <a:srgbClr val="004B41"/>
                          </a:solidFill>
                          <a:latin typeface="Montserrat"/>
                        </a:defRPr>
                      </a:pPr>
                      <a:r>
                        <a:t>535</a:t>
                      </a:r>
                    </a:p>
                  </a:txBody>
                  <a:tcPr marL="0" marR="0" marT="0" marB="0" anchor="ctr">
                    <a:noFill/>
                  </a:tcPr>
                </a:tc>
                <a:tc>
                  <a:txBody>
                    <a:bodyPr/>
                    <a:lstStyle/>
                    <a:p>
                      <a:pPr algn="ctr">
                        <a:defRPr sz="1500" b="1">
                          <a:solidFill>
                            <a:srgbClr val="B4975A"/>
                          </a:solidFill>
                          <a:latin typeface="Montserrat"/>
                        </a:defRPr>
                      </a:pPr>
                      <a:r>
                        <a:rPr dirty="0"/>
                        <a:t>818</a:t>
                      </a:r>
                    </a:p>
                  </a:txBody>
                  <a:tcPr marL="0" marR="0" marT="0" marB="0" anchor="ctr">
                    <a:noFill/>
                  </a:tcPr>
                </a:tc>
                <a:extLst>
                  <a:ext uri="{0D108BD9-81ED-4DB2-BD59-A6C34878D82A}">
                    <a16:rowId xmlns:a16="http://schemas.microsoft.com/office/drawing/2014/main" val="10001"/>
                  </a:ext>
                </a:extLst>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+90.9%</a:t>
            </a:r>
          </a:p>
        </p:txBody>
      </p:sp>
      <p:graphicFrame>
        <p:nvGraphicFramePr>
          <p:cNvPr id="313" name="Table 312"/>
          <p:cNvGraphicFramePr>
            <a:graphicFrameLocks noGrp="1"/>
          </p:cNvGraphicFramePr>
          <p:nvPr>
            <p:extLst>
              <p:ext uri="{D42A27DB-BD31-4B8C-83A1-F6EECF244321}">
                <p14:modId xmlns:p14="http://schemas.microsoft.com/office/powerpoint/2010/main" val="107312750"/>
              </p:ext>
            </p:extLst>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t>2018</a:t>
                      </a:r>
                    </a:p>
                  </a:txBody>
                  <a:tcPr marL="0" marR="0" marT="0" marB="0" anchor="ctr">
                    <a:noFill/>
                  </a:tcPr>
                </a:tc>
                <a:tc>
                  <a:txBody>
                    <a:bodyPr/>
                    <a:lstStyle/>
                    <a:p>
                      <a:pPr algn="ctr">
                        <a:defRPr sz="1300" b="1">
                          <a:solidFill>
                            <a:srgbClr val="A51E37"/>
                          </a:solidFill>
                          <a:latin typeface="Montserrat"/>
                        </a:defRPr>
                      </a:pPr>
                      <a:r>
                        <a:t>2026</a:t>
                      </a:r>
                    </a:p>
                  </a:txBody>
                  <a:tcPr marL="0" marR="0" marT="0" marB="0" anchor="ctr">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88</a:t>
                      </a:r>
                    </a:p>
                  </a:txBody>
                  <a:tcPr marL="0" marR="0" marT="0" marB="0" anchor="ctr">
                    <a:noFill/>
                  </a:tcPr>
                </a:tc>
                <a:tc>
                  <a:txBody>
                    <a:bodyPr/>
                    <a:lstStyle/>
                    <a:p>
                      <a:pPr algn="ctr">
                        <a:defRPr sz="1500" b="1">
                          <a:solidFill>
                            <a:srgbClr val="B4975A"/>
                          </a:solidFill>
                          <a:latin typeface="Montserrat"/>
                        </a:defRPr>
                      </a:pPr>
                      <a:r>
                        <a:rPr dirty="0"/>
                        <a:t>168</a:t>
                      </a:r>
                    </a:p>
                  </a:txBody>
                  <a:tcPr marL="0" marR="0" marT="0" marB="0" anchor="ctr">
                    <a:noFill/>
                  </a:tcPr>
                </a:tc>
                <a:extLst>
                  <a:ext uri="{0D108BD9-81ED-4DB2-BD59-A6C34878D82A}">
                    <a16:rowId xmlns:a16="http://schemas.microsoft.com/office/drawing/2014/main" val="10001"/>
                  </a:ext>
                </a:extLst>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-17.5%</a:t>
            </a:r>
          </a:p>
        </p:txBody>
      </p:sp>
      <p:graphicFrame>
        <p:nvGraphicFramePr>
          <p:cNvPr id="316" name="Table 315"/>
          <p:cNvGraphicFramePr>
            <a:graphicFrameLocks noGrp="1"/>
          </p:cNvGraphicFramePr>
          <p:nvPr>
            <p:extLst>
              <p:ext uri="{D42A27DB-BD31-4B8C-83A1-F6EECF244321}">
                <p14:modId xmlns:p14="http://schemas.microsoft.com/office/powerpoint/2010/main" val="3795269751"/>
              </p:ext>
            </p:extLst>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extLst>
                    <a:ext uri="{9D8B030D-6E8A-4147-A177-3AD203B41FA5}">
                      <a16:colId xmlns:a16="http://schemas.microsoft.com/office/drawing/2014/main" val="20000"/>
                    </a:ext>
                  </a:extLst>
                </a:gridCol>
                <a:gridCol w="992124">
                  <a:extLst>
                    <a:ext uri="{9D8B030D-6E8A-4147-A177-3AD203B41FA5}">
                      <a16:colId xmlns:a16="http://schemas.microsoft.com/office/drawing/2014/main" val="20001"/>
                    </a:ext>
                  </a:extLst>
                </a:gridCol>
              </a:tblGrid>
              <a:tr h="253745">
                <a:tc>
                  <a:txBody>
                    <a:bodyPr/>
                    <a:lstStyle/>
                    <a:p>
                      <a:pPr algn="ctr">
                        <a:defRPr sz="1300" b="1">
                          <a:solidFill>
                            <a:srgbClr val="A51E37"/>
                          </a:solidFill>
                          <a:latin typeface="Montserrat"/>
                        </a:defRPr>
                      </a:pPr>
                      <a:r>
                        <a:rPr dirty="0"/>
                        <a:t>2018</a:t>
                      </a:r>
                    </a:p>
                  </a:txBody>
                  <a:tcPr marL="0" marR="0" marT="0" marB="0" anchor="ctr">
                    <a:noFill/>
                  </a:tcPr>
                </a:tc>
                <a:tc>
                  <a:txBody>
                    <a:bodyPr/>
                    <a:lstStyle/>
                    <a:p>
                      <a:pPr algn="ctr">
                        <a:defRPr sz="1300" b="1">
                          <a:solidFill>
                            <a:srgbClr val="A51E37"/>
                          </a:solidFill>
                          <a:latin typeface="Montserrat"/>
                        </a:defRPr>
                      </a:pPr>
                      <a:r>
                        <a:t>2026</a:t>
                      </a:r>
                    </a:p>
                  </a:txBody>
                  <a:tcPr marL="0" marR="0" marT="0" marB="0" anchor="ctr">
                    <a:noFill/>
                  </a:tcPr>
                </a:tc>
                <a:extLst>
                  <a:ext uri="{0D108BD9-81ED-4DB2-BD59-A6C34878D82A}">
                    <a16:rowId xmlns:a16="http://schemas.microsoft.com/office/drawing/2014/main" val="10000"/>
                  </a:ext>
                </a:extLst>
              </a:tr>
              <a:tr h="253746">
                <a:tc>
                  <a:txBody>
                    <a:bodyPr/>
                    <a:lstStyle/>
                    <a:p>
                      <a:pPr algn="ctr">
                        <a:defRPr sz="1500" b="1">
                          <a:solidFill>
                            <a:srgbClr val="004B41"/>
                          </a:solidFill>
                          <a:latin typeface="Montserrat"/>
                        </a:defRPr>
                      </a:pPr>
                      <a:r>
                        <a:t>154</a:t>
                      </a:r>
                    </a:p>
                  </a:txBody>
                  <a:tcPr marL="0" marR="0" marT="0" marB="0" anchor="ctr">
                    <a:noFill/>
                  </a:tcPr>
                </a:tc>
                <a:tc>
                  <a:txBody>
                    <a:bodyPr/>
                    <a:lstStyle/>
                    <a:p>
                      <a:pPr algn="ctr">
                        <a:defRPr sz="1500" b="1">
                          <a:solidFill>
                            <a:srgbClr val="B4975A"/>
                          </a:solidFill>
                          <a:latin typeface="Montserrat"/>
                        </a:defRPr>
                      </a:pPr>
                      <a:r>
                        <a:rPr dirty="0"/>
                        <a:t>127</a:t>
                      </a:r>
                    </a:p>
                  </a:txBody>
                  <a:tcPr marL="0" marR="0" marT="0" marB="0" anchor="ctr">
                    <a:noFill/>
                  </a:tcPr>
                </a:tc>
                <a:extLst>
                  <a:ext uri="{0D108BD9-81ED-4DB2-BD59-A6C34878D82A}">
                    <a16:rowId xmlns:a16="http://schemas.microsoft.com/office/drawing/2014/main" val="10001"/>
                  </a:ext>
                </a:extLst>
              </a:tr>
            </a:tbl>
          </a:graphicData>
        </a:graphic>
      </p:graphicFrame>
      <p:graphicFrame>
        <p:nvGraphicFramePr>
          <p:cNvPr id="317" name="Table 316"/>
          <p:cNvGraphicFramePr>
            <a:graphicFrameLocks noGrp="1"/>
          </p:cNvGraphicFramePr>
          <p:nvPr/>
        </p:nvGraphicFramePr>
        <p:xfrm>
          <a:off x="4507200" y="5515200"/>
          <a:ext cx="2843784" cy="85039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2025</a:t>
                      </a:r>
                    </a:p>
                  </a:txBody>
                  <a:tcPr marL="36576" marR="36576" marT="36576" marB="36576">
                    <a:solidFill>
                      <a:srgbClr val="006455"/>
                    </a:solidFill>
                  </a:tcPr>
                </a:tc>
                <a:tc>
                  <a:txBody>
                    <a:bodyPr/>
                    <a:lstStyle/>
                    <a:p>
                      <a:pPr algn="ctr">
                        <a:defRPr sz="900" b="1">
                          <a:solidFill>
                            <a:srgbClr val="FFFFFF"/>
                          </a:solidFill>
                          <a:latin typeface="Montserrat"/>
                        </a:defRPr>
                      </a:pPr>
                      <a:r>
                        <a:t>Cantidad</a:t>
                      </a:r>
                    </a:p>
                  </a:txBody>
                  <a:tcPr marL="36576" marR="36576" marT="36576" marB="36576">
                    <a:solidFill>
                      <a:srgbClr val="006455"/>
                    </a:solidFill>
                  </a:tcPr>
                </a:tc>
                <a:extLst>
                  <a:ext uri="{0D108BD9-81ED-4DB2-BD59-A6C34878D82A}">
                    <a16:rowId xmlns:a16="http://schemas.microsoft.com/office/drawing/2014/main" val="10000"/>
                  </a:ext>
                </a:extLst>
              </a:tr>
              <a:tr h="0">
                <a:tc>
                  <a:txBody>
                    <a:bodyPr/>
                    <a:lstStyle/>
                    <a:p>
                      <a:pPr algn="l">
                        <a:defRPr sz="800">
                          <a:latin typeface="Montserrat"/>
                        </a:defRPr>
                      </a:pPr>
                      <a:r>
                        <a:t>Medicina Familiar</a:t>
                      </a:r>
                    </a:p>
                  </a:txBody>
                  <a:tcPr marL="45720" marR="45720">
                    <a:solidFill>
                      <a:srgbClr val="FFFFFF"/>
                    </a:solidFill>
                  </a:tcPr>
                </a:tc>
                <a:tc>
                  <a:txBody>
                    <a:bodyPr/>
                    <a:lstStyle/>
                    <a:p>
                      <a:pPr algn="ctr">
                        <a:defRPr sz="800">
                          <a:latin typeface="Montserrat"/>
                        </a:defRPr>
                      </a:pPr>
                      <a:r>
                        <a:t>36</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de Urgencias</a:t>
                      </a:r>
                    </a:p>
                  </a:txBody>
                  <a:tcPr marL="45720" marR="45720">
                    <a:solidFill>
                      <a:srgbClr val="EFEFEF"/>
                    </a:solidFill>
                  </a:tcPr>
                </a:tc>
                <a:tc>
                  <a:txBody>
                    <a:bodyPr/>
                    <a:lstStyle/>
                    <a:p>
                      <a:pPr algn="ctr">
                        <a:defRPr sz="800">
                          <a:latin typeface="Montserrat"/>
                        </a:defRPr>
                      </a:pPr>
                      <a:r>
                        <a:t>19</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Medicina Interna</a:t>
                      </a:r>
                    </a:p>
                  </a:txBody>
                  <a:tcPr marL="45720" marR="45720">
                    <a:solidFill>
                      <a:srgbClr val="FFFFFF"/>
                    </a:solidFill>
                  </a:tcPr>
                </a:tc>
                <a:tc>
                  <a:txBody>
                    <a:bodyPr/>
                    <a:lstStyle/>
                    <a:p>
                      <a:pPr algn="ctr">
                        <a:defRPr sz="800">
                          <a:latin typeface="Montserrat"/>
                        </a:defRPr>
                      </a:pPr>
                      <a:r>
                        <a:t>1</a:t>
                      </a:r>
                    </a:p>
                  </a:txBody>
                  <a:tcPr marL="45720" marR="45720">
                    <a:solidFill>
                      <a:srgbClr val="FFFFFF"/>
                    </a:solidFill>
                  </a:tcPr>
                </a:tc>
                <a:extLst>
                  <a:ext uri="{0D108BD9-81ED-4DB2-BD59-A6C34878D82A}">
                    <a16:rowId xmlns:a16="http://schemas.microsoft.com/office/drawing/2014/main" val="10003"/>
                  </a:ext>
                </a:extLst>
              </a:tr>
            </a:tbl>
          </a:graphicData>
        </a:graphic>
      </p:graphicFrame>
      <p:graphicFrame>
        <p:nvGraphicFramePr>
          <p:cNvPr id="318" name="Table 317"/>
          <p:cNvGraphicFramePr>
            <a:graphicFrameLocks noGrp="1"/>
          </p:cNvGraphicFramePr>
          <p:nvPr/>
        </p:nvGraphicFramePr>
        <p:xfrm>
          <a:off x="4507200" y="6850800"/>
          <a:ext cx="2843784" cy="1063752"/>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tblGrid>
              <a:tr h="0">
                <a:tc>
                  <a:txBody>
                    <a:bodyPr/>
                    <a:lstStyle/>
                    <a:p>
                      <a:pPr algn="ctr">
                        <a:defRPr sz="900" b="1">
                          <a:solidFill>
                            <a:srgbClr val="FFFFFF"/>
                          </a:solidFill>
                          <a:latin typeface="Montserrat"/>
                        </a:defRPr>
                      </a:pPr>
                      <a:r>
                        <a:t>Top 5 Egresos 2026</a:t>
                      </a:r>
                    </a:p>
                  </a:txBody>
                  <a:tcPr marL="36576" marR="36576" marT="36576" marB="36576">
                    <a:solidFill>
                      <a:srgbClr val="691C32"/>
                    </a:solidFill>
                  </a:tcPr>
                </a:tc>
                <a:tc>
                  <a:txBody>
                    <a:bodyPr/>
                    <a:lstStyle/>
                    <a:p>
                      <a:pPr algn="ctr">
                        <a:defRPr sz="900" b="1">
                          <a:solidFill>
                            <a:srgbClr val="FFFFFF"/>
                          </a:solidFill>
                          <a:latin typeface="Montserrat"/>
                        </a:defRPr>
                      </a:pPr>
                      <a:r>
                        <a:t>Cantidad</a:t>
                      </a:r>
                    </a:p>
                  </a:txBody>
                  <a:tcPr marL="36576" marR="36576" marT="36576" marB="36576">
                    <a:solidFill>
                      <a:srgbClr val="691C32"/>
                    </a:solidFill>
                  </a:tcPr>
                </a:tc>
                <a:extLst>
                  <a:ext uri="{0D108BD9-81ED-4DB2-BD59-A6C34878D82A}">
                    <a16:rowId xmlns:a16="http://schemas.microsoft.com/office/drawing/2014/main" val="10000"/>
                  </a:ext>
                </a:extLst>
              </a:tr>
              <a:tr h="0">
                <a:tc>
                  <a:txBody>
                    <a:bodyPr/>
                    <a:lstStyle/>
                    <a:p>
                      <a:pPr algn="l">
                        <a:defRPr sz="800">
                          <a:latin typeface="Montserrat"/>
                        </a:defRPr>
                      </a:pPr>
                      <a:r>
                        <a:t>Medicina de Urgencias</a:t>
                      </a:r>
                    </a:p>
                  </a:txBody>
                  <a:tcPr marL="45720" marR="45720">
                    <a:solidFill>
                      <a:srgbClr val="FFFFFF"/>
                    </a:solidFill>
                  </a:tcPr>
                </a:tc>
                <a:tc>
                  <a:txBody>
                    <a:bodyPr/>
                    <a:lstStyle/>
                    <a:p>
                      <a:pPr algn="ctr">
                        <a:defRPr sz="800">
                          <a:latin typeface="Montserrat"/>
                        </a:defRPr>
                      </a:pPr>
                      <a:r>
                        <a:t>11</a:t>
                      </a:r>
                    </a:p>
                  </a:txBody>
                  <a:tcPr marL="45720" marR="45720">
                    <a:solidFill>
                      <a:srgbClr val="FFFFFF"/>
                    </a:solidFill>
                  </a:tcPr>
                </a:tc>
                <a:extLst>
                  <a:ext uri="{0D108BD9-81ED-4DB2-BD59-A6C34878D82A}">
                    <a16:rowId xmlns:a16="http://schemas.microsoft.com/office/drawing/2014/main" val="10001"/>
                  </a:ext>
                </a:extLst>
              </a:tr>
              <a:tr h="0">
                <a:tc>
                  <a:txBody>
                    <a:bodyPr/>
                    <a:lstStyle/>
                    <a:p>
                      <a:pPr algn="l">
                        <a:defRPr sz="800">
                          <a:latin typeface="Montserrat"/>
                        </a:defRPr>
                      </a:pPr>
                      <a:r>
                        <a:t>Medicina Familiar</a:t>
                      </a:r>
                    </a:p>
                  </a:txBody>
                  <a:tcPr marL="45720" marR="45720">
                    <a:solidFill>
                      <a:srgbClr val="EFEFEF"/>
                    </a:solidFill>
                  </a:tcPr>
                </a:tc>
                <a:tc>
                  <a:txBody>
                    <a:bodyPr/>
                    <a:lstStyle/>
                    <a:p>
                      <a:pPr algn="ctr">
                        <a:defRPr sz="800">
                          <a:latin typeface="Montserrat"/>
                        </a:defRPr>
                      </a:pPr>
                      <a:r>
                        <a:t>10</a:t>
                      </a:r>
                    </a:p>
                  </a:txBody>
                  <a:tcPr marL="45720" marR="45720">
                    <a:solidFill>
                      <a:srgbClr val="EFEFEF"/>
                    </a:solidFill>
                  </a:tcPr>
                </a:tc>
                <a:extLst>
                  <a:ext uri="{0D108BD9-81ED-4DB2-BD59-A6C34878D82A}">
                    <a16:rowId xmlns:a16="http://schemas.microsoft.com/office/drawing/2014/main" val="10002"/>
                  </a:ext>
                </a:extLst>
              </a:tr>
              <a:tr h="0">
                <a:tc>
                  <a:txBody>
                    <a:bodyPr/>
                    <a:lstStyle/>
                    <a:p>
                      <a:pPr algn="l">
                        <a:defRPr sz="800">
                          <a:latin typeface="Montserrat"/>
                        </a:defRPr>
                      </a:pPr>
                      <a:r>
                        <a:t>Medicina Interna</a:t>
                      </a:r>
                    </a:p>
                  </a:txBody>
                  <a:tcPr marL="45720" marR="45720">
                    <a:solidFill>
                      <a:srgbClr val="FFFFFF"/>
                    </a:solidFill>
                  </a:tcPr>
                </a:tc>
                <a:tc>
                  <a:txBody>
                    <a:bodyPr/>
                    <a:lstStyle/>
                    <a:p>
                      <a:pPr algn="ctr">
                        <a:defRPr sz="800">
                          <a:latin typeface="Montserrat"/>
                        </a:defRPr>
                      </a:pPr>
                      <a:r>
                        <a:t>3</a:t>
                      </a:r>
                    </a:p>
                  </a:txBody>
                  <a:tcPr marL="45720" marR="45720">
                    <a:solidFill>
                      <a:srgbClr val="FFFFFF"/>
                    </a:solidFill>
                  </a:tcPr>
                </a:tc>
                <a:extLst>
                  <a:ext uri="{0D108BD9-81ED-4DB2-BD59-A6C34878D82A}">
                    <a16:rowId xmlns:a16="http://schemas.microsoft.com/office/drawing/2014/main" val="10003"/>
                  </a:ext>
                </a:extLst>
              </a:tr>
              <a:tr h="0">
                <a:tc>
                  <a:txBody>
                    <a:bodyPr/>
                    <a:lstStyle/>
                    <a:p>
                      <a:pPr algn="l">
                        <a:defRPr sz="800">
                          <a:latin typeface="Montserrat"/>
                        </a:defRPr>
                      </a:pPr>
                      <a:r>
                        <a:t>Medicina del Trabajo y Ambiental</a:t>
                      </a:r>
                    </a:p>
                  </a:txBody>
                  <a:tcPr marL="45720" marR="45720">
                    <a:solidFill>
                      <a:srgbClr val="EFEFEF"/>
                    </a:solidFill>
                  </a:tcPr>
                </a:tc>
                <a:tc>
                  <a:txBody>
                    <a:bodyPr/>
                    <a:lstStyle/>
                    <a:p>
                      <a:pPr algn="ctr">
                        <a:defRPr sz="800">
                          <a:latin typeface="Montserrat"/>
                        </a:defRPr>
                      </a:pPr>
                      <a:r>
                        <a:t>3</a:t>
                      </a:r>
                    </a:p>
                  </a:txBody>
                  <a:tcPr marL="45720" marR="45720">
                    <a:solidFill>
                      <a:srgbClr val="EFEFEF"/>
                    </a:solidFill>
                  </a:tcPr>
                </a:tc>
                <a:extLst>
                  <a:ext uri="{0D108BD9-81ED-4DB2-BD59-A6C34878D82A}">
                    <a16:rowId xmlns:a16="http://schemas.microsoft.com/office/drawing/2014/main" val="10004"/>
                  </a:ext>
                </a:extLst>
              </a:tr>
            </a:tbl>
          </a:graphicData>
        </a:graphic>
      </p:graphicFrame>
      <p:graphicFrame>
        <p:nvGraphicFramePr>
          <p:cNvPr id="319" name="Table 318"/>
          <p:cNvGraphicFramePr>
            <a:graphicFrameLocks noGrp="1"/>
          </p:cNvGraphicFramePr>
          <p:nvPr/>
        </p:nvGraphicFramePr>
        <p:xfrm>
          <a:off x="384048" y="8313724"/>
          <a:ext cx="5266944" cy="1127760"/>
        </p:xfrm>
        <a:graphic>
          <a:graphicData uri="http://schemas.openxmlformats.org/drawingml/2006/table">
            <a:tbl>
              <a:tblPr bandRow="1">
                <a:tableStyleId>{5C22544A-7EE6-4342-B048-85BDC9FD1C3A}</a:tableStyleId>
              </a:tblPr>
              <a:tblGrid>
                <a:gridCol w="3218688">
                  <a:extLst>
                    <a:ext uri="{9D8B030D-6E8A-4147-A177-3AD203B41FA5}">
                      <a16:colId xmlns:a16="http://schemas.microsoft.com/office/drawing/2014/main" val="20000"/>
                    </a:ext>
                  </a:extLst>
                </a:gridCol>
                <a:gridCol w="2048256">
                  <a:extLst>
                    <a:ext uri="{9D8B030D-6E8A-4147-A177-3AD203B41FA5}">
                      <a16:colId xmlns:a16="http://schemas.microsoft.com/office/drawing/2014/main" val="20001"/>
                    </a:ext>
                  </a:extLst>
                </a:gridCol>
              </a:tblGrid>
              <a:tr h="0">
                <a:tc>
                  <a:txBody>
                    <a:bodyPr/>
                    <a:lstStyle/>
                    <a:p>
                      <a:pPr algn="l">
                        <a:defRPr sz="1000" b="1">
                          <a:solidFill>
                            <a:srgbClr val="FFFFFF"/>
                          </a:solidFill>
                          <a:latin typeface="Montserrat"/>
                        </a:defRPr>
                      </a:pPr>
                      <a:r>
                        <a:t>Personal médico</a:t>
                      </a:r>
                    </a:p>
                  </a:txBody>
                  <a:tcPr marL="36576" marR="36576" marT="36576" marB="36576" anchor="ctr">
                    <a:solidFill>
                      <a:srgbClr val="006455"/>
                    </a:solidFill>
                  </a:tcPr>
                </a:tc>
                <a:tc>
                  <a:txBody>
                    <a:bodyPr/>
                    <a:lstStyle/>
                    <a:p>
                      <a:pPr algn="ctr">
                        <a:defRPr sz="1000" b="0">
                          <a:solidFill>
                            <a:srgbClr val="000000"/>
                          </a:solidFill>
                          <a:latin typeface="Montserrat"/>
                        </a:defRPr>
                      </a:pPr>
                      <a:r>
                        <a:t>45</a:t>
                      </a:r>
                    </a:p>
                  </a:txBody>
                  <a:tcPr marL="36576" marR="36576" marT="36576" marB="36576" anchor="ctr">
                    <a:solidFill>
                      <a:srgbClr val="EFEFEF"/>
                    </a:solidFill>
                  </a:tcPr>
                </a:tc>
                <a:extLst>
                  <a:ext uri="{0D108BD9-81ED-4DB2-BD59-A6C34878D82A}">
                    <a16:rowId xmlns:a16="http://schemas.microsoft.com/office/drawing/2014/main" val="10000"/>
                  </a:ext>
                </a:extLst>
              </a:tr>
              <a:tr h="0">
                <a:tc>
                  <a:txBody>
                    <a:bodyPr/>
                    <a:lstStyle/>
                    <a:p>
                      <a:pPr algn="l">
                        <a:defRPr sz="1000" b="1">
                          <a:solidFill>
                            <a:srgbClr val="FFFFFF"/>
                          </a:solidFill>
                          <a:latin typeface="Montserrat"/>
                        </a:defRPr>
                      </a:pPr>
                      <a:r>
                        <a:t>Personal de Enfermería</a:t>
                      </a:r>
                    </a:p>
                  </a:txBody>
                  <a:tcPr marL="36576" marR="36576" marT="36576" marB="36576" anchor="ctr">
                    <a:solidFill>
                      <a:srgbClr val="006455"/>
                    </a:solidFill>
                  </a:tcPr>
                </a:tc>
                <a:tc>
                  <a:txBody>
                    <a:bodyPr/>
                    <a:lstStyle/>
                    <a:p>
                      <a:pPr algn="ctr">
                        <a:defRPr sz="1000" b="0">
                          <a:solidFill>
                            <a:srgbClr val="000000"/>
                          </a:solidFill>
                          <a:latin typeface="Montserrat"/>
                        </a:defRPr>
                      </a:pPr>
                      <a:r>
                        <a:t>11</a:t>
                      </a:r>
                    </a:p>
                  </a:txBody>
                  <a:tcPr marL="36576" marR="36576" marT="36576" marB="36576" anchor="ctr">
                    <a:solidFill>
                      <a:srgbClr val="FFFFFF"/>
                    </a:solidFill>
                  </a:tcPr>
                </a:tc>
                <a:extLst>
                  <a:ext uri="{0D108BD9-81ED-4DB2-BD59-A6C34878D82A}">
                    <a16:rowId xmlns:a16="http://schemas.microsoft.com/office/drawing/2014/main" val="10001"/>
                  </a:ext>
                </a:extLst>
              </a:tr>
              <a:tr h="0">
                <a:tc>
                  <a:txBody>
                    <a:bodyPr/>
                    <a:lstStyle/>
                    <a:p>
                      <a:pPr algn="l">
                        <a:defRPr sz="1000" b="1">
                          <a:solidFill>
                            <a:srgbClr val="FFFFFF"/>
                          </a:solidFill>
                          <a:latin typeface="Montserrat"/>
                        </a:defRPr>
                      </a:pPr>
                      <a:r>
                        <a:t>Personal administrativos y básico</a:t>
                      </a:r>
                    </a:p>
                  </a:txBody>
                  <a:tcPr marL="36576" marR="36576" marT="36576" marB="36576" anchor="ctr">
                    <a:solidFill>
                      <a:srgbClr val="006455"/>
                    </a:solidFill>
                  </a:tcPr>
                </a:tc>
                <a:tc>
                  <a:txBody>
                    <a:bodyPr/>
                    <a:lstStyle/>
                    <a:p>
                      <a:pPr algn="ctr">
                        <a:defRPr sz="1000" b="0">
                          <a:solidFill>
                            <a:srgbClr val="000000"/>
                          </a:solidFill>
                          <a:latin typeface="Montserrat"/>
                        </a:defRPr>
                      </a:pPr>
                      <a:r>
                        <a:t>22</a:t>
                      </a:r>
                    </a:p>
                  </a:txBody>
                  <a:tcPr marL="36576" marR="36576" marT="36576" marB="36576" anchor="ctr">
                    <a:solidFill>
                      <a:srgbClr val="EFEFEF"/>
                    </a:solidFill>
                  </a:tcPr>
                </a:tc>
                <a:extLst>
                  <a:ext uri="{0D108BD9-81ED-4DB2-BD59-A6C34878D82A}">
                    <a16:rowId xmlns:a16="http://schemas.microsoft.com/office/drawing/2014/main" val="10002"/>
                  </a:ext>
                </a:extLst>
              </a:tr>
              <a:tr h="0">
                <a:tc>
                  <a:txBody>
                    <a:bodyPr/>
                    <a:lstStyle/>
                    <a:p>
                      <a:pPr algn="l">
                        <a:defRPr sz="1000" b="1">
                          <a:solidFill>
                            <a:srgbClr val="FFFFFF"/>
                          </a:solidFill>
                          <a:latin typeface="Montserrat"/>
                        </a:defRPr>
                      </a:pPr>
                      <a:r>
                        <a:t>Personal paramédico y técnico</a:t>
                      </a:r>
                    </a:p>
                  </a:txBody>
                  <a:tcPr marL="36576" marR="36576" marT="36576" marB="36576" anchor="ctr">
                    <a:solidFill>
                      <a:srgbClr val="006455"/>
                    </a:solidFill>
                  </a:tcPr>
                </a:tc>
                <a:tc>
                  <a:txBody>
                    <a:bodyPr/>
                    <a:lstStyle/>
                    <a:p>
                      <a:pPr algn="ctr">
                        <a:defRPr sz="1000" b="0">
                          <a:solidFill>
                            <a:srgbClr val="000000"/>
                          </a:solidFill>
                          <a:latin typeface="Montserrat"/>
                        </a:defRPr>
                      </a:pPr>
                      <a:r>
                        <a:t>21</a:t>
                      </a:r>
                    </a:p>
                  </a:txBody>
                  <a:tcPr marL="36576" marR="36576" marT="36576" marB="36576" anchor="ctr">
                    <a:solidFill>
                      <a:srgbClr val="FFFFFF"/>
                    </a:solidFill>
                  </a:tcPr>
                </a:tc>
                <a:extLst>
                  <a:ext uri="{0D108BD9-81ED-4DB2-BD59-A6C34878D82A}">
                    <a16:rowId xmlns:a16="http://schemas.microsoft.com/office/drawing/2014/main" val="10003"/>
                  </a:ext>
                </a:extLst>
              </a:tr>
              <a:tr h="0">
                <a:tc>
                  <a:txBody>
                    <a:bodyPr/>
                    <a:lstStyle/>
                    <a:p>
                      <a:pPr algn="l">
                        <a:defRPr sz="1000" b="1">
                          <a:solidFill>
                            <a:srgbClr val="00515E"/>
                          </a:solidFill>
                          <a:latin typeface="Montserrat"/>
                        </a:defRPr>
                      </a:pPr>
                      <a:r>
                        <a:t>Total</a:t>
                      </a:r>
                    </a:p>
                  </a:txBody>
                  <a:tcPr marL="36576" marR="36576" marT="36576" marB="36576" anchor="ctr">
                    <a:solidFill>
                      <a:srgbClr val="D3E9E7"/>
                    </a:solidFill>
                  </a:tcPr>
                </a:tc>
                <a:tc>
                  <a:txBody>
                    <a:bodyPr/>
                    <a:lstStyle/>
                    <a:p>
                      <a:pPr algn="ctr">
                        <a:defRPr sz="1000" b="1">
                          <a:solidFill>
                            <a:srgbClr val="00515E"/>
                          </a:solidFill>
                          <a:latin typeface="Montserrat"/>
                        </a:defRPr>
                      </a:pPr>
                      <a:r>
                        <a:t>99</a:t>
                      </a:r>
                    </a:p>
                  </a:txBody>
                  <a:tcPr marL="36576" marR="36576" marT="36576" marB="36576" anchor="ctr">
                    <a:solidFill>
                      <a:srgbClr val="D3E9E7"/>
                    </a:solidFill>
                  </a:tcPr>
                </a:tc>
                <a:extLst>
                  <a:ext uri="{0D108BD9-81ED-4DB2-BD59-A6C34878D82A}">
                    <a16:rowId xmlns:a16="http://schemas.microsoft.com/office/drawing/2014/main" val="10004"/>
                  </a:ext>
                </a:extLst>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xmlns:r="http://schemas.openxmlformats.org/officeDocument/2006/relationships" r:id="rId10"/>
          </a:graphicData>
        </a:graphic>
      </p:graphicFrame>
      <p:sp>
        <p:nvSpPr>
          <p:cNvPr id="321" name="TextBox 320"/>
          <p:cNvSpPr txBox="1"/>
          <p:nvPr/>
        </p:nvSpPr>
        <p:spPr>
          <a:xfrm>
            <a:off x="324000" y="4888800"/>
            <a:ext cx="7286399" cy="331200"/>
          </a:xfrm>
          <a:prstGeom prst="rect">
            <a:avLst/>
          </a:prstGeom>
          <a:noFill/>
        </p:spPr>
        <p:txBody>
          <a:bodyPr wrap="square" lIns="0" tIns="0" rIns="0" bIns="0">
            <a:spAutoFit/>
          </a:bodyPr>
          <a:lstStyle/>
          <a:p>
            <a:pPr algn="l">
              <a:defRPr sz="900">
                <a:solidFill>
                  <a:srgbClr val="000000"/>
                </a:solidFill>
                <a:latin typeface="Montserrat"/>
              </a:defRPr>
            </a:pPr>
            <a:r>
              <a:t>Fuente: Dirección de Administración. Base SIAP comparativa del diciembre 2018 con el 15 de junio 2026.</a:t>
            </a:r>
          </a:p>
        </p:txBody>
      </p:sp>
      <p:sp>
        <p:nvSpPr>
          <p:cNvPr id="322" name="TextBox 321"/>
          <p:cNvSpPr txBox="1"/>
          <p:nvPr/>
        </p:nvSpPr>
        <p:spPr>
          <a:xfrm>
            <a:off x="162000" y="7405200"/>
            <a:ext cx="3888000" cy="370800"/>
          </a:xfrm>
          <a:prstGeom prst="rect">
            <a:avLst/>
          </a:prstGeom>
          <a:noFill/>
        </p:spPr>
        <p:txBody>
          <a:bodyPr wrap="square" lIns="0" tIns="0" rIns="0" b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lIns="0" tIns="0" rIns="0" bIns="0">
            <a:spAutoFit/>
          </a:bodyPr>
          <a:lstStyle/>
          <a:p>
            <a:pPr algn="l">
              <a:defRPr sz="800">
                <a:solidFill>
                  <a:srgbClr val="000000"/>
                </a:solidFill>
                <a:latin typeface="Montserrat"/>
              </a:defRPr>
            </a:pPr>
            <a:r>
              <a:t>Fuente: Sistema de Información Operativa. Personal de base. Corte de información: mayo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5,281</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321</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35</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59</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1,189</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586</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8</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7,377</a:t>
            </a:r>
          </a:p>
        </p:txBody>
      </p:sp>
      <p:graphicFrame>
        <p:nvGraphicFramePr>
          <p:cNvPr id="344" name="Table 343"/>
          <p:cNvGraphicFramePr>
            <a:graphicFrameLocks noGrp="1"/>
          </p:cNvGraphicFramePr>
          <p:nvPr>
            <p:extLst>
              <p:ext uri="{D42A27DB-BD31-4B8C-83A1-F6EECF244321}">
                <p14:modId xmlns:p14="http://schemas.microsoft.com/office/powerpoint/2010/main" val="2254800402"/>
              </p:ext>
            </p:extLst>
          </p:nvPr>
        </p:nvGraphicFramePr>
        <p:xfrm>
          <a:off x="88974" y="1548000"/>
          <a:ext cx="7567200" cy="3552840"/>
        </p:xfrm>
        <a:graphic>
          <a:graphicData uri="http://schemas.openxmlformats.org/drawingml/2006/table">
            <a:tbl>
              <a:tblPr firstRow="1" bandRow="1">
                <a:tableStyleId>{5C22544A-7EE6-4342-B048-85BDC9FD1C3A}</a:tableStyleId>
              </a:tblPr>
              <a:tblGrid>
                <a:gridCol w="1472400">
                  <a:extLst>
                    <a:ext uri="{9D8B030D-6E8A-4147-A177-3AD203B41FA5}">
                      <a16:colId xmlns:a16="http://schemas.microsoft.com/office/drawing/2014/main" val="20000"/>
                    </a:ext>
                  </a:extLst>
                </a:gridCol>
                <a:gridCol w="1468800">
                  <a:extLst>
                    <a:ext uri="{9D8B030D-6E8A-4147-A177-3AD203B41FA5}">
                      <a16:colId xmlns:a16="http://schemas.microsoft.com/office/drawing/2014/main" val="20001"/>
                    </a:ext>
                  </a:extLst>
                </a:gridCol>
                <a:gridCol w="1479600">
                  <a:extLst>
                    <a:ext uri="{9D8B030D-6E8A-4147-A177-3AD203B41FA5}">
                      <a16:colId xmlns:a16="http://schemas.microsoft.com/office/drawing/2014/main" val="20002"/>
                    </a:ext>
                  </a:extLst>
                </a:gridCol>
                <a:gridCol w="1602000">
                  <a:extLst>
                    <a:ext uri="{9D8B030D-6E8A-4147-A177-3AD203B41FA5}">
                      <a16:colId xmlns:a16="http://schemas.microsoft.com/office/drawing/2014/main" val="20003"/>
                    </a:ext>
                  </a:extLst>
                </a:gridCol>
                <a:gridCol w="1544400">
                  <a:extLst>
                    <a:ext uri="{9D8B030D-6E8A-4147-A177-3AD203B41FA5}">
                      <a16:colId xmlns:a16="http://schemas.microsoft.com/office/drawing/2014/main" val="20004"/>
                    </a:ext>
                  </a:extLst>
                </a:gridCol>
              </a:tblGrid>
              <a:tr h="489600">
                <a:tc>
                  <a:txBody>
                    <a:bodyPr/>
                    <a:lstStyle/>
                    <a:p>
                      <a:pPr algn="ctr">
                        <a:defRPr sz="1000" b="1">
                          <a:solidFill>
                            <a:srgbClr val="FFFFFF"/>
                          </a:solidFill>
                          <a:latin typeface="Montserrat"/>
                        </a:defRPr>
                      </a:pPr>
                      <a:r>
                        <a:t>Medicina Familiar</a:t>
                      </a:r>
                    </a:p>
                  </a:txBody>
                  <a:tcPr anchor="ctr">
                    <a:solidFill>
                      <a:srgbClr val="006455"/>
                    </a:solidFill>
                  </a:tcPr>
                </a:tc>
                <a:tc>
                  <a:txBody>
                    <a:bodyPr/>
                    <a:lstStyle/>
                    <a:p>
                      <a:pPr algn="ctr">
                        <a:defRPr sz="1000" b="1">
                          <a:solidFill>
                            <a:srgbClr val="FFFFFF"/>
                          </a:solidFill>
                          <a:latin typeface="Montserrat"/>
                        </a:defRPr>
                      </a:pPr>
                      <a:r>
                        <a:t>Especialidades</a:t>
                      </a:r>
                    </a:p>
                  </a:txBody>
                  <a:tcPr anchor="ctr">
                    <a:solidFill>
                      <a:srgbClr val="006455"/>
                    </a:solidFill>
                  </a:tcPr>
                </a:tc>
                <a:tc>
                  <a:txBody>
                    <a:bodyPr/>
                    <a:lstStyle/>
                    <a:p>
                      <a:pPr algn="ctr">
                        <a:defRPr sz="1000" b="1">
                          <a:solidFill>
                            <a:srgbClr val="FFFFFF"/>
                          </a:solidFill>
                          <a:latin typeface="Montserrat"/>
                        </a:defRPr>
                      </a:pPr>
                      <a:r>
                        <a:t>Cirugías</a:t>
                      </a:r>
                    </a:p>
                  </a:txBody>
                  <a:tcPr anchor="ctr">
                    <a:solidFill>
                      <a:srgbClr val="006455"/>
                    </a:solidFill>
                  </a:tcPr>
                </a:tc>
                <a:tc>
                  <a:txBody>
                    <a:bodyPr/>
                    <a:lstStyle/>
                    <a:p>
                      <a:pPr algn="ctr">
                        <a:defRPr sz="1000" b="1">
                          <a:solidFill>
                            <a:srgbClr val="FFFFFF"/>
                          </a:solidFill>
                          <a:latin typeface="Montserrat"/>
                        </a:defRPr>
                      </a:pPr>
                      <a:r>
                        <a:t>Egresos</a:t>
                      </a:r>
                    </a:p>
                  </a:txBody>
                  <a:tcPr anchor="ctr">
                    <a:solidFill>
                      <a:srgbClr val="006455"/>
                    </a:solidFill>
                  </a:tcPr>
                </a:tc>
                <a:tc>
                  <a:txBody>
                    <a:bodyPr/>
                    <a:lstStyle/>
                    <a:p>
                      <a:pPr algn="ctr">
                        <a:defRPr sz="1000" b="1">
                          <a:solidFill>
                            <a:srgbClr val="FFFFFF"/>
                          </a:solidFill>
                          <a:latin typeface="Montserrat"/>
                        </a:defRPr>
                      </a:pPr>
                      <a:r>
                        <a:t>Defunciones</a:t>
                      </a:r>
                    </a:p>
                  </a:txBody>
                  <a:tcPr anchor="ctr">
                    <a:solidFill>
                      <a:srgbClr val="006455"/>
                    </a:solidFill>
                  </a:tcPr>
                </a:tc>
                <a:extLst>
                  <a:ext uri="{0D108BD9-81ED-4DB2-BD59-A6C34878D82A}">
                    <a16:rowId xmlns:a16="http://schemas.microsoft.com/office/drawing/2014/main" val="10000"/>
                  </a:ext>
                </a:extLst>
              </a:tr>
              <a:tr h="489600">
                <a:tc>
                  <a:txBody>
                    <a:bodyPr/>
                    <a:lstStyle/>
                    <a:p>
                      <a:pPr algn="ctr"/>
                      <a:r>
                        <a:rPr sz="900" b="0" dirty="0" err="1">
                          <a:latin typeface="Montserrat"/>
                        </a:rPr>
                        <a:t>Enfermedades</a:t>
                      </a:r>
                      <a:r>
                        <a:rPr sz="900" b="0" dirty="0">
                          <a:latin typeface="Montserrat"/>
                        </a:rPr>
                        <a:t> del </a:t>
                      </a:r>
                      <a:r>
                        <a:rPr sz="900" b="0" dirty="0" err="1">
                          <a:latin typeface="Montserrat"/>
                        </a:rPr>
                        <a:t>corazón</a:t>
                      </a:r>
                      <a:r>
                        <a:rPr sz="900" b="0" dirty="0">
                          <a:latin typeface="Montserrat"/>
                        </a:rPr>
                        <a:t>
(75,104)</a:t>
                      </a:r>
                    </a:p>
                  </a:txBody>
                  <a:tcPr anchor="ctr">
                    <a:solidFill>
                      <a:srgbClr val="FFFFFF"/>
                    </a:solidFill>
                  </a:tcPr>
                </a:tc>
                <a:tc>
                  <a:txBody>
                    <a:bodyPr/>
                    <a:lstStyle/>
                    <a:p>
                      <a:pPr algn="ctr"/>
                      <a:r>
                        <a:rPr sz="900" b="0">
                          <a:latin typeface="Montserrat"/>
                        </a:rPr>
                        <a:t>Enfermedades y trastornos de las articulaciones
(5,566)</a:t>
                      </a:r>
                    </a:p>
                  </a:txBody>
                  <a:tcPr anchor="ctr">
                    <a:solidFill>
                      <a:srgbClr val="FFFFFF"/>
                    </a:solidFill>
                  </a:tcPr>
                </a:tc>
                <a:tc>
                  <a:txBody>
                    <a:bodyPr/>
                    <a:lstStyle/>
                    <a:p>
                      <a:pPr algn="ctr"/>
                      <a:r>
                        <a:rPr sz="900" b="0" dirty="0" err="1">
                          <a:latin typeface="Montserrat"/>
                        </a:rPr>
                        <a:t>Traumatismos</a:t>
                      </a:r>
                      <a:r>
                        <a:rPr sz="900" b="0" dirty="0">
                          <a:latin typeface="Montserrat"/>
                        </a:rPr>
                        <a:t> y </a:t>
                      </a:r>
                      <a:r>
                        <a:rPr sz="900" b="0" dirty="0" err="1">
                          <a:latin typeface="Montserrat"/>
                        </a:rPr>
                        <a:t>envenenamientos</a:t>
                      </a:r>
                      <a:r>
                        <a:rPr sz="900" b="0" dirty="0">
                          <a:latin typeface="Montserrat"/>
                        </a:rPr>
                        <a:t>
(557)</a:t>
                      </a:r>
                    </a:p>
                  </a:txBody>
                  <a:tcPr anchor="ctr">
                    <a:solidFill>
                      <a:srgbClr val="FFFFFF"/>
                    </a:solidFill>
                  </a:tcPr>
                </a:tc>
                <a:tc>
                  <a:txBody>
                    <a:bodyPr/>
                    <a:lstStyle/>
                    <a:p>
                      <a:pPr algn="ctr"/>
                      <a:r>
                        <a:rPr sz="900" b="0">
                          <a:latin typeface="Montserrat"/>
                        </a:rPr>
                        <a:t>Embarazo, parto y puerperio
(1,603)</a:t>
                      </a:r>
                    </a:p>
                  </a:txBody>
                  <a:tcPr anchor="ctr">
                    <a:solidFill>
                      <a:srgbClr val="FFFFFF"/>
                    </a:solidFill>
                  </a:tcPr>
                </a:tc>
                <a:tc>
                  <a:txBody>
                    <a:bodyPr/>
                    <a:lstStyle/>
                    <a:p>
                      <a:pPr algn="ctr"/>
                      <a:r>
                        <a:rPr sz="900" b="0">
                          <a:latin typeface="Montserrat"/>
                        </a:rPr>
                        <a:t>Tumores malignos
(54)</a:t>
                      </a:r>
                    </a:p>
                  </a:txBody>
                  <a:tcPr anchor="ctr">
                    <a:solidFill>
                      <a:srgbClr val="FFFFFF"/>
                    </a:solidFill>
                  </a:tcPr>
                </a:tc>
                <a:extLst>
                  <a:ext uri="{0D108BD9-81ED-4DB2-BD59-A6C34878D82A}">
                    <a16:rowId xmlns:a16="http://schemas.microsoft.com/office/drawing/2014/main" val="10001"/>
                  </a:ext>
                </a:extLst>
              </a:tr>
              <a:tr h="489600">
                <a:tc>
                  <a:txBody>
                    <a:bodyPr/>
                    <a:lstStyle/>
                    <a:p>
                      <a:pPr algn="ctr"/>
                      <a:r>
                        <a:rPr sz="900" b="0" dirty="0">
                          <a:latin typeface="Montserrat"/>
                        </a:rPr>
                        <a:t>Diabetes mellitus
(70,268)</a:t>
                      </a:r>
                    </a:p>
                  </a:txBody>
                  <a:tcPr anchor="ctr">
                    <a:solidFill>
                      <a:srgbClr val="EFEFEF"/>
                    </a:solidFill>
                  </a:tcPr>
                </a:tc>
                <a:tc>
                  <a:txBody>
                    <a:bodyPr/>
                    <a:lstStyle/>
                    <a:p>
                      <a:pPr algn="ctr"/>
                      <a:r>
                        <a:rPr sz="900" b="0">
                          <a:latin typeface="Montserrat"/>
                        </a:rPr>
                        <a:t>Tumores malignos
(4,848)</a:t>
                      </a:r>
                    </a:p>
                  </a:txBody>
                  <a:tcPr anchor="ctr">
                    <a:solidFill>
                      <a:srgbClr val="EFEFEF"/>
                    </a:solidFill>
                  </a:tcPr>
                </a:tc>
                <a:tc>
                  <a:txBody>
                    <a:bodyPr/>
                    <a:lstStyle/>
                    <a:p>
                      <a:pPr algn="ctr"/>
                      <a:r>
                        <a:rPr sz="900" b="0">
                          <a:latin typeface="Montserrat"/>
                        </a:rPr>
                        <a:t>Cesárea
(318)</a:t>
                      </a:r>
                    </a:p>
                  </a:txBody>
                  <a:tcPr anchor="ctr">
                    <a:solidFill>
                      <a:srgbClr val="EFEFEF"/>
                    </a:solidFill>
                  </a:tcPr>
                </a:tc>
                <a:tc>
                  <a:txBody>
                    <a:bodyPr/>
                    <a:lstStyle/>
                    <a:p>
                      <a:pPr algn="ctr"/>
                      <a:r>
                        <a:rPr sz="900" b="0" dirty="0" err="1">
                          <a:latin typeface="Montserrat"/>
                        </a:rPr>
                        <a:t>Traumatismos</a:t>
                      </a:r>
                      <a:r>
                        <a:rPr sz="900" b="0" dirty="0">
                          <a:latin typeface="Montserrat"/>
                        </a:rPr>
                        <a:t> e </a:t>
                      </a:r>
                      <a:r>
                        <a:rPr sz="900" b="0" dirty="0" err="1">
                          <a:latin typeface="Montserrat"/>
                        </a:rPr>
                        <a:t>intoxicaciones</a:t>
                      </a:r>
                      <a:r>
                        <a:rPr sz="900" b="0" dirty="0">
                          <a:latin typeface="Montserrat"/>
                        </a:rPr>
                        <a:t>
(708)</a:t>
                      </a:r>
                    </a:p>
                  </a:txBody>
                  <a:tcPr anchor="ctr">
                    <a:solidFill>
                      <a:srgbClr val="EFEFEF"/>
                    </a:solidFill>
                  </a:tcPr>
                </a:tc>
                <a:tc>
                  <a:txBody>
                    <a:bodyPr/>
                    <a:lstStyle/>
                    <a:p>
                      <a:pPr algn="ctr"/>
                      <a:r>
                        <a:rPr sz="900" b="0">
                          <a:latin typeface="Montserrat"/>
                        </a:rPr>
                        <a:t>Enfermedades del corazón
(53)</a:t>
                      </a:r>
                    </a:p>
                  </a:txBody>
                  <a:tcPr anchor="ctr">
                    <a:solidFill>
                      <a:srgbClr val="EFEFEF"/>
                    </a:solidFill>
                  </a:tcPr>
                </a:tc>
                <a:extLst>
                  <a:ext uri="{0D108BD9-81ED-4DB2-BD59-A6C34878D82A}">
                    <a16:rowId xmlns:a16="http://schemas.microsoft.com/office/drawing/2014/main" val="10002"/>
                  </a:ext>
                </a:extLst>
              </a:tr>
              <a:tr h="489600">
                <a:tc>
                  <a:txBody>
                    <a:bodyPr/>
                    <a:lstStyle/>
                    <a:p>
                      <a:pPr algn="ctr"/>
                      <a:r>
                        <a:rPr sz="900" b="0">
                          <a:latin typeface="Montserrat"/>
                        </a:rPr>
                        <a:t>Infecciones respiratorias agudas
(21,794)</a:t>
                      </a:r>
                    </a:p>
                  </a:txBody>
                  <a:tcPr anchor="ctr">
                    <a:solidFill>
                      <a:srgbClr val="FFFFFF"/>
                    </a:solidFill>
                  </a:tcPr>
                </a:tc>
                <a:tc>
                  <a:txBody>
                    <a:bodyPr/>
                    <a:lstStyle/>
                    <a:p>
                      <a:pPr algn="ctr"/>
                      <a:r>
                        <a:rPr sz="900" b="0">
                          <a:latin typeface="Montserrat"/>
                        </a:rPr>
                        <a:t>Traumatismos e intoxicaciones
(4,078)</a:t>
                      </a:r>
                    </a:p>
                  </a:txBody>
                  <a:tcPr anchor="ctr">
                    <a:solidFill>
                      <a:srgbClr val="FFFFFF"/>
                    </a:solidFill>
                  </a:tcPr>
                </a:tc>
                <a:tc>
                  <a:txBody>
                    <a:bodyPr/>
                    <a:lstStyle/>
                    <a:p>
                      <a:pPr algn="ctr"/>
                      <a:r>
                        <a:rPr sz="900" b="0">
                          <a:latin typeface="Montserrat"/>
                        </a:rPr>
                        <a:t>Cirugía de Hernias (Hernioplastía)
(317)</a:t>
                      </a:r>
                    </a:p>
                  </a:txBody>
                  <a:tcPr anchor="ctr">
                    <a:solidFill>
                      <a:srgbClr val="FFFFFF"/>
                    </a:solidFill>
                  </a:tcPr>
                </a:tc>
                <a:tc>
                  <a:txBody>
                    <a:bodyPr/>
                    <a:lstStyle/>
                    <a:p>
                      <a:pPr algn="ctr"/>
                      <a:r>
                        <a:rPr sz="900" b="0" dirty="0" err="1">
                          <a:latin typeface="Montserrat"/>
                        </a:rPr>
                        <a:t>Insuficiencia</a:t>
                      </a:r>
                      <a:r>
                        <a:rPr sz="900" b="0" dirty="0">
                          <a:latin typeface="Montserrat"/>
                        </a:rPr>
                        <a:t> renal
(557)</a:t>
                      </a:r>
                    </a:p>
                  </a:txBody>
                  <a:tcPr anchor="ctr">
                    <a:solidFill>
                      <a:srgbClr val="FFFFFF"/>
                    </a:solidFill>
                  </a:tcPr>
                </a:tc>
                <a:tc>
                  <a:txBody>
                    <a:bodyPr/>
                    <a:lstStyle/>
                    <a:p>
                      <a:pPr algn="ctr"/>
                      <a:r>
                        <a:rPr sz="900" b="0" dirty="0">
                          <a:latin typeface="Montserrat"/>
                        </a:rPr>
                        <a:t>Diabetes mellitus
(49)</a:t>
                      </a:r>
                    </a:p>
                  </a:txBody>
                  <a:tcPr anchor="ctr">
                    <a:solidFill>
                      <a:srgbClr val="FFFFFF"/>
                    </a:solidFill>
                  </a:tcPr>
                </a:tc>
                <a:extLst>
                  <a:ext uri="{0D108BD9-81ED-4DB2-BD59-A6C34878D82A}">
                    <a16:rowId xmlns:a16="http://schemas.microsoft.com/office/drawing/2014/main" val="10003"/>
                  </a:ext>
                </a:extLst>
              </a:tr>
              <a:tr h="489600">
                <a:tc>
                  <a:txBody>
                    <a:bodyPr/>
                    <a:lstStyle/>
                    <a:p>
                      <a:pPr algn="ctr"/>
                      <a:r>
                        <a:rPr sz="900" b="0">
                          <a:latin typeface="Montserrat"/>
                        </a:rPr>
                        <a:t>traumatismos e intoxicaciones
(12,137)</a:t>
                      </a:r>
                    </a:p>
                  </a:txBody>
                  <a:tcPr anchor="ctr">
                    <a:solidFill>
                      <a:srgbClr val="EFEFEF"/>
                    </a:solidFill>
                  </a:tcPr>
                </a:tc>
                <a:tc>
                  <a:txBody>
                    <a:bodyPr/>
                    <a:lstStyle/>
                    <a:p>
                      <a:pPr algn="ctr"/>
                      <a:r>
                        <a:rPr sz="900" b="0">
                          <a:latin typeface="Montserrat"/>
                        </a:rPr>
                        <a:t>Enfermedades del corazón
(3,392)</a:t>
                      </a:r>
                    </a:p>
                  </a:txBody>
                  <a:tcPr anchor="ctr">
                    <a:solidFill>
                      <a:srgbClr val="EFEFEF"/>
                    </a:solidFill>
                  </a:tcPr>
                </a:tc>
                <a:tc>
                  <a:txBody>
                    <a:bodyPr/>
                    <a:lstStyle/>
                    <a:p>
                      <a:pPr algn="ctr"/>
                      <a:r>
                        <a:rPr sz="900" b="0">
                          <a:latin typeface="Montserrat"/>
                        </a:rPr>
                        <a:t>Cirugía de vesicula biliar (Colecistectomía)
(312)</a:t>
                      </a:r>
                    </a:p>
                  </a:txBody>
                  <a:tcPr anchor="ctr">
                    <a:solidFill>
                      <a:srgbClr val="EFEFEF"/>
                    </a:solidFill>
                  </a:tcPr>
                </a:tc>
                <a:tc>
                  <a:txBody>
                    <a:bodyPr/>
                    <a:lstStyle/>
                    <a:p>
                      <a:pPr algn="ctr"/>
                      <a:r>
                        <a:rPr sz="900" b="0">
                          <a:latin typeface="Montserrat"/>
                        </a:rPr>
                        <a:t>Enfermedades de la vesicula biliar
(363)</a:t>
                      </a:r>
                    </a:p>
                  </a:txBody>
                  <a:tcPr anchor="ctr">
                    <a:solidFill>
                      <a:srgbClr val="EFEFEF"/>
                    </a:solidFill>
                  </a:tcPr>
                </a:tc>
                <a:tc>
                  <a:txBody>
                    <a:bodyPr/>
                    <a:lstStyle/>
                    <a:p>
                      <a:pPr algn="ctr"/>
                      <a:r>
                        <a:rPr sz="900" b="0" dirty="0" err="1">
                          <a:latin typeface="Montserrat"/>
                        </a:rPr>
                        <a:t>Neumonía</a:t>
                      </a:r>
                      <a:r>
                        <a:rPr sz="900" b="0" dirty="0">
                          <a:latin typeface="Montserrat"/>
                        </a:rPr>
                        <a:t> e influenza
(37)</a:t>
                      </a:r>
                    </a:p>
                  </a:txBody>
                  <a:tcPr anchor="ctr">
                    <a:solidFill>
                      <a:srgbClr val="EFEFEF"/>
                    </a:solidFill>
                  </a:tcPr>
                </a:tc>
                <a:extLst>
                  <a:ext uri="{0D108BD9-81ED-4DB2-BD59-A6C34878D82A}">
                    <a16:rowId xmlns:a16="http://schemas.microsoft.com/office/drawing/2014/main" val="10004"/>
                  </a:ext>
                </a:extLst>
              </a:tr>
              <a:tr h="489600">
                <a:tc>
                  <a:txBody>
                    <a:bodyPr/>
                    <a:lstStyle/>
                    <a:p>
                      <a:pPr algn="ctr"/>
                      <a:r>
                        <a:rPr sz="900" b="0">
                          <a:latin typeface="Montserrat"/>
                        </a:rPr>
                        <a:t>Enfermedades y trastornos de las articulaciones
(9,962)</a:t>
                      </a:r>
                    </a:p>
                  </a:txBody>
                  <a:tcPr anchor="ctr">
                    <a:solidFill>
                      <a:srgbClr val="FFFFFF"/>
                    </a:solidFill>
                  </a:tcPr>
                </a:tc>
                <a:tc>
                  <a:txBody>
                    <a:bodyPr/>
                    <a:lstStyle/>
                    <a:p>
                      <a:pPr algn="ctr"/>
                      <a:r>
                        <a:rPr sz="900" b="0">
                          <a:latin typeface="Montserrat"/>
                        </a:rPr>
                        <a:t>Problemas y enfermedades de la columna vertebral
(3,379)</a:t>
                      </a:r>
                    </a:p>
                  </a:txBody>
                  <a:tcPr anchor="ctr">
                    <a:solidFill>
                      <a:srgbClr val="FFFFFF"/>
                    </a:solidFill>
                  </a:tcPr>
                </a:tc>
                <a:tc>
                  <a:txBody>
                    <a:bodyPr/>
                    <a:lstStyle/>
                    <a:p>
                      <a:pPr algn="ctr"/>
                      <a:r>
                        <a:rPr sz="900" b="0">
                          <a:latin typeface="Montserrat"/>
                        </a:rPr>
                        <a:t>Cirugía de cataratas (Facoemulsificación con implante de lente intraocular)
(167)</a:t>
                      </a:r>
                    </a:p>
                  </a:txBody>
                  <a:tcPr anchor="ctr">
                    <a:solidFill>
                      <a:srgbClr val="FFFFFF"/>
                    </a:solidFill>
                  </a:tcPr>
                </a:tc>
                <a:tc>
                  <a:txBody>
                    <a:bodyPr/>
                    <a:lstStyle/>
                    <a:p>
                      <a:pPr algn="ctr"/>
                      <a:r>
                        <a:rPr sz="900" b="0">
                          <a:latin typeface="Montserrat"/>
                        </a:rPr>
                        <a:t>Hernias
(360)</a:t>
                      </a:r>
                    </a:p>
                  </a:txBody>
                  <a:tcPr anchor="ctr">
                    <a:solidFill>
                      <a:srgbClr val="FFFFFF"/>
                    </a:solidFill>
                  </a:tcPr>
                </a:tc>
                <a:tc>
                  <a:txBody>
                    <a:bodyPr/>
                    <a:lstStyle/>
                    <a:p>
                      <a:pPr algn="ctr"/>
                      <a:r>
                        <a:rPr sz="900" b="0" dirty="0" err="1">
                          <a:latin typeface="Montserrat"/>
                        </a:rPr>
                        <a:t>Insuficiencia</a:t>
                      </a:r>
                      <a:r>
                        <a:rPr sz="900" b="0" dirty="0">
                          <a:latin typeface="Montserrat"/>
                        </a:rPr>
                        <a:t> renal
(29)</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345" name="TextBox 344"/>
          <p:cNvSpPr txBox="1"/>
          <p:nvPr/>
        </p:nvSpPr>
        <p:spPr>
          <a:xfrm>
            <a:off x="219600" y="5608800"/>
            <a:ext cx="5331600" cy="432000"/>
          </a:xfrm>
          <a:prstGeom prst="rect">
            <a:avLst/>
          </a:prstGeom>
          <a:noFill/>
        </p:spPr>
        <p:txBody>
          <a:bodyPr wrap="square" lIns="0" tIns="0" rIns="0" b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lIns="0" tIns="0" rIns="0" b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ZACATECAS</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mayo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
        <p:nvSpPr>
          <p:cNvPr id="8" name="TextBox 7"/>
          <p:cNvSpPr txBox="1"/>
          <p:nvPr/>
        </p:nvSpPr>
        <p:spPr>
          <a:xfrm>
            <a:off x="274320" y="5943600"/>
            <a:ext cx="4144083" cy="369332"/>
          </a:xfrm>
          <a:prstGeom prst="rect">
            <a:avLst/>
          </a:prstGeom>
          <a:noFill/>
        </p:spPr>
        <p:txBody>
          <a:bodyPr wrap="none">
            <a:spAutoFit/>
          </a:bodyPr>
          <a:lstStyle/>
          <a:p>
            <a:pPr algn="l">
              <a:defRPr sz="2000" b="0">
                <a:solidFill>
                  <a:srgbClr val="BC955C"/>
                </a:solidFill>
                <a:latin typeface="Montserrat"/>
              </a:defRPr>
            </a:pPr>
            <a:r>
              <a:rPr sz="1800" b="1" dirty="0" err="1"/>
              <a:t>Recetas</a:t>
            </a:r>
            <a:r>
              <a:rPr sz="1800" b="1" dirty="0"/>
              <a:t> </a:t>
            </a:r>
            <a:r>
              <a:rPr sz="1800" b="1" dirty="0" err="1"/>
              <a:t>manuales</a:t>
            </a:r>
            <a:r>
              <a:rPr sz="1800" b="1" dirty="0"/>
              <a:t> y </a:t>
            </a:r>
            <a:r>
              <a:rPr sz="1800" b="1" dirty="0" err="1"/>
              <a:t>electrónicas</a:t>
            </a:r>
            <a:endParaRPr sz="1800" b="1" dirty="0"/>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1036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extLst>
                  <a:ext uri="{0D108BD9-81ED-4DB2-BD59-A6C34878D82A}">
                    <a16:rowId xmlns:a16="http://schemas.microsoft.com/office/drawing/2014/main" val="10000"/>
                  </a:ext>
                </a:extLst>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67,592</a:t>
                      </a:r>
                    </a:p>
                  </a:txBody>
                  <a:tcPr>
                    <a:solidFill>
                      <a:srgbClr val="FFFFFF"/>
                    </a:solidFill>
                  </a:tcPr>
                </a:tc>
                <a:tc>
                  <a:txBody>
                    <a:bodyPr/>
                    <a:lstStyle/>
                    <a:p>
                      <a:pPr algn="ctr"/>
                      <a:r>
                        <a:rPr sz="1100" b="0">
                          <a:solidFill>
                            <a:srgbClr val="434343"/>
                          </a:solidFill>
                          <a:latin typeface="Montserrat"/>
                        </a:rPr>
                        <a:t>1,064,807</a:t>
                      </a:r>
                    </a:p>
                  </a:txBody>
                  <a:tcPr>
                    <a:solidFill>
                      <a:srgbClr val="FFFFFF"/>
                    </a:solidFill>
                  </a:tcPr>
                </a:tc>
                <a:tc>
                  <a:txBody>
                    <a:bodyPr/>
                    <a:lstStyle/>
                    <a:p>
                      <a:pPr algn="ctr"/>
                      <a:r>
                        <a:rPr sz="1100" b="0">
                          <a:solidFill>
                            <a:srgbClr val="434343"/>
                          </a:solidFill>
                          <a:latin typeface="Montserrat"/>
                        </a:rPr>
                        <a:t>94.0%</a:t>
                      </a:r>
                    </a:p>
                  </a:txBody>
                  <a:tcPr>
                    <a:solidFill>
                      <a:srgbClr val="FFFFFF"/>
                    </a:solidFill>
                  </a:tcPr>
                </a:tc>
                <a:extLst>
                  <a:ext uri="{0D108BD9-81ED-4DB2-BD59-A6C34878D82A}">
                    <a16:rowId xmlns:a16="http://schemas.microsoft.com/office/drawing/2014/main" val="10001"/>
                  </a:ext>
                </a:extLst>
              </a:tr>
              <a:tr h="304800">
                <a:tc>
                  <a:txBody>
                    <a:bodyPr/>
                    <a:lstStyle/>
                    <a:p>
                      <a:pPr algn="ctr"/>
                      <a:r>
                        <a:rPr sz="1100" b="0" dirty="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56,563</a:t>
                      </a:r>
                    </a:p>
                  </a:txBody>
                  <a:tcPr>
                    <a:solidFill>
                      <a:srgbClr val="D9D9D9"/>
                    </a:solidFill>
                  </a:tcPr>
                </a:tc>
                <a:tc>
                  <a:txBody>
                    <a:bodyPr/>
                    <a:lstStyle/>
                    <a:p>
                      <a:pPr algn="ctr"/>
                      <a:r>
                        <a:rPr sz="1100" b="1">
                          <a:solidFill>
                            <a:srgbClr val="006455"/>
                          </a:solidFill>
                          <a:latin typeface="Montserrat"/>
                        </a:rPr>
                        <a:t>1,191,957</a:t>
                      </a:r>
                    </a:p>
                  </a:txBody>
                  <a:tcPr>
                    <a:solidFill>
                      <a:srgbClr val="D9D9D9"/>
                    </a:solidFill>
                  </a:tcPr>
                </a:tc>
                <a:tc>
                  <a:txBody>
                    <a:bodyPr/>
                    <a:lstStyle/>
                    <a:p>
                      <a:pPr algn="ctr"/>
                      <a:r>
                        <a:rPr sz="1100" b="1" dirty="0">
                          <a:solidFill>
                            <a:srgbClr val="006455"/>
                          </a:solidFill>
                          <a:latin typeface="Montserrat"/>
                        </a:rPr>
                        <a:t>95.5%</a:t>
                      </a:r>
                    </a:p>
                  </a:txBody>
                  <a:tcPr>
                    <a:solidFill>
                      <a:srgbClr val="D9D9D9"/>
                    </a:solidFill>
                  </a:tcPr>
                </a:tc>
                <a:extLst>
                  <a:ext uri="{0D108BD9-81ED-4DB2-BD59-A6C34878D82A}">
                    <a16:rowId xmlns:a16="http://schemas.microsoft.com/office/drawing/2014/main" val="10002"/>
                  </a:ext>
                </a:extLst>
              </a:tr>
            </a:tbl>
          </a:graphicData>
        </a:graphic>
      </p:graphicFrame>
      <p:sp>
        <p:nvSpPr>
          <p:cNvPr id="11" name="TextBox 10"/>
          <p:cNvSpPr txBox="1"/>
          <p:nvPr/>
        </p:nvSpPr>
        <p:spPr>
          <a:xfrm>
            <a:off x="457200" y="9651600"/>
            <a:ext cx="6858000" cy="274320"/>
          </a:xfrm>
          <a:prstGeom prst="rect">
            <a:avLst/>
          </a:prstGeom>
          <a:noFill/>
        </p:spPr>
        <p:txBody>
          <a:bodyPr wrap="none">
            <a:spAutoFit/>
          </a:bodyPr>
          <a:lstStyle/>
          <a:p>
            <a:pPr algn="l">
              <a:defRPr sz="800" b="0">
                <a:solidFill>
                  <a:srgbClr val="FFFFFF"/>
                </a:solidFill>
                <a:latin typeface="Montserrat"/>
              </a:defRPr>
            </a:pPr>
            <a:r>
              <a:t>Fuente: Portal de Control de Abasto. En 2026, se muestra lo correspondiente al periodo del 1 de enero al 31 de mayo de 2026.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95B2A-B30D-20A6-2F96-14454410C42B}"/>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ZACATECAS</a:t>
            </a:r>
          </a:p>
        </p:txBody>
      </p:sp>
      <p:sp>
        <p:nvSpPr>
          <p:cNvPr id="3" name="TextBox 2"/>
          <p:cNvSpPr txBox="1"/>
          <p:nvPr/>
        </p:nvSpPr>
        <p:spPr>
          <a:xfrm>
            <a:off x="180000" y="720855"/>
            <a:ext cx="5400000" cy="324000"/>
          </a:xfrm>
          <a:prstGeom prst="rect">
            <a:avLst/>
          </a:prstGeom>
          <a:noFill/>
        </p:spPr>
        <p:txBody>
          <a:bodyPr wrap="none" lIns="0" tIns="0" r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1122104"/>
            <a:ext cx="2205732" cy="276999"/>
          </a:xfrm>
          <a:prstGeom prst="rect">
            <a:avLst/>
          </a:prstGeom>
          <a:noFill/>
        </p:spPr>
        <p:txBody>
          <a:bodyPr wrap="none" lIns="0" tIns="0" rIns="0" bIns="0">
            <a:spAutoFit/>
          </a:bodyPr>
          <a:lstStyle/>
          <a:p>
            <a:pPr algn="l">
              <a:defRPr sz="1500" b="0">
                <a:solidFill>
                  <a:srgbClr val="BC955C"/>
                </a:solidFill>
                <a:latin typeface="Montserrat"/>
              </a:defRPr>
            </a:pPr>
            <a:r>
              <a:rPr sz="1800" dirty="0" err="1"/>
              <a:t>Piezas</a:t>
            </a:r>
            <a:r>
              <a:rPr sz="1800" dirty="0"/>
              <a:t> </a:t>
            </a:r>
            <a:r>
              <a:rPr sz="1800" dirty="0" err="1"/>
              <a:t>consumidas</a:t>
            </a:r>
            <a:endParaRPr dirty="0"/>
          </a:p>
        </p:txBody>
      </p:sp>
      <p:cxnSp>
        <p:nvCxnSpPr>
          <p:cNvPr id="5" name="Connector 4"/>
          <p:cNvCxnSpPr/>
          <p:nvPr/>
        </p:nvCxnSpPr>
        <p:spPr>
          <a:xfrm>
            <a:off x="180000" y="1392105"/>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32.png"/>
          <p:cNvPicPr>
            <a:picLocks noChangeAspect="1"/>
          </p:cNvPicPr>
          <p:nvPr/>
        </p:nvPicPr>
        <p:blipFill>
          <a:blip r:embed="rId2"/>
          <a:stretch>
            <a:fillRect/>
          </a:stretch>
        </p:blipFill>
        <p:spPr>
          <a:xfrm>
            <a:off x="129600" y="1564905"/>
            <a:ext cx="7441200" cy="2178000"/>
          </a:xfrm>
          <a:prstGeom prst="rect">
            <a:avLst/>
          </a:prstGeom>
        </p:spPr>
      </p:pic>
      <p:sp>
        <p:nvSpPr>
          <p:cNvPr id="7" name="TextBox 6"/>
          <p:cNvSpPr txBox="1"/>
          <p:nvPr/>
        </p:nvSpPr>
        <p:spPr>
          <a:xfrm>
            <a:off x="180000" y="3984959"/>
            <a:ext cx="6840000" cy="288000"/>
          </a:xfrm>
          <a:prstGeom prst="rect">
            <a:avLst/>
          </a:prstGeom>
          <a:noFill/>
        </p:spPr>
        <p:txBody>
          <a:bodyPr wrap="none" lIns="0" tIns="0" rIns="0" bIns="0">
            <a:spAutoFit/>
          </a:bodyPr>
          <a:lstStyle/>
          <a:p>
            <a:pPr algn="l">
              <a:defRPr sz="1800" b="0">
                <a:solidFill>
                  <a:srgbClr val="BC955C"/>
                </a:solidFill>
                <a:latin typeface="Montserrat"/>
              </a:defRPr>
            </a:pPr>
            <a:r>
              <a:rPr dirty="0" err="1"/>
              <a:t>Medicamentos</a:t>
            </a:r>
            <a:r>
              <a:rPr dirty="0"/>
              <a:t> con mayor </a:t>
            </a:r>
            <a:r>
              <a:rPr dirty="0" err="1"/>
              <a:t>demanda</a:t>
            </a:r>
            <a:endParaRPr dirty="0"/>
          </a:p>
        </p:txBody>
      </p:sp>
      <p:cxnSp>
        <p:nvCxnSpPr>
          <p:cNvPr id="8" name="Connector 7"/>
          <p:cNvCxnSpPr/>
          <p:nvPr/>
        </p:nvCxnSpPr>
        <p:spPr>
          <a:xfrm>
            <a:off x="180000" y="425495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extLst>
              <p:ext uri="{D42A27DB-BD31-4B8C-83A1-F6EECF244321}">
                <p14:modId xmlns:p14="http://schemas.microsoft.com/office/powerpoint/2010/main" val="1311276497"/>
              </p:ext>
            </p:extLst>
          </p:nvPr>
        </p:nvGraphicFramePr>
        <p:xfrm>
          <a:off x="180000" y="4434959"/>
          <a:ext cx="7200000" cy="2145600"/>
        </p:xfrm>
        <a:graphic>
          <a:graphicData uri="http://schemas.openxmlformats.org/drawingml/2006/table">
            <a:tbl>
              <a:tblPr firstRow="1" bandRow="1">
                <a:tableStyleId>{5C22544A-7EE6-4342-B048-85BDC9FD1C3A}</a:tableStyleId>
              </a:tblPr>
              <a:tblGrid>
                <a:gridCol w="5400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endParaRPr/>
                    </a:p>
                  </a:txBody>
                  <a:tcPr/>
                </a:tc>
                <a:extLst>
                  <a:ext uri="{0D108BD9-81ED-4DB2-BD59-A6C34878D82A}">
                    <a16:rowId xmlns:a16="http://schemas.microsoft.com/office/drawing/2014/main" val="10000"/>
                  </a:ext>
                </a:extLst>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extLst>
                  <a:ext uri="{0D108BD9-81ED-4DB2-BD59-A6C34878D82A}">
                    <a16:rowId xmlns:a16="http://schemas.microsoft.com/office/drawing/2014/main" val="10001"/>
                  </a:ext>
                </a:extLst>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457,409</a:t>
                      </a:r>
                    </a:p>
                  </a:txBody>
                  <a:tcPr marL="18000" marR="18000" marT="18000" marB="18000" anchor="ctr">
                    <a:solidFill>
                      <a:srgbClr val="F2F2F2"/>
                    </a:solidFill>
                  </a:tcPr>
                </a:tc>
                <a:extLst>
                  <a:ext uri="{0D108BD9-81ED-4DB2-BD59-A6C34878D82A}">
                    <a16:rowId xmlns:a16="http://schemas.microsoft.com/office/drawing/2014/main" val="10002"/>
                  </a:ext>
                </a:extLst>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209,840</a:t>
                      </a:r>
                    </a:p>
                  </a:txBody>
                  <a:tcPr marL="18000" marR="18000" marT="18000" marB="18000" anchor="ctr">
                    <a:solidFill>
                      <a:srgbClr val="FFFFFF"/>
                    </a:solidFill>
                  </a:tcPr>
                </a:tc>
                <a:extLst>
                  <a:ext uri="{0D108BD9-81ED-4DB2-BD59-A6C34878D82A}">
                    <a16:rowId xmlns:a16="http://schemas.microsoft.com/office/drawing/2014/main" val="10003"/>
                  </a:ext>
                </a:extLst>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166,530</a:t>
                      </a:r>
                    </a:p>
                  </a:txBody>
                  <a:tcPr marL="18000" marR="18000" marT="18000" marB="18000" anchor="ctr">
                    <a:solidFill>
                      <a:srgbClr val="F2F2F2"/>
                    </a:solidFill>
                  </a:tcPr>
                </a:tc>
                <a:extLst>
                  <a:ext uri="{0D108BD9-81ED-4DB2-BD59-A6C34878D82A}">
                    <a16:rowId xmlns:a16="http://schemas.microsoft.com/office/drawing/2014/main" val="10004"/>
                  </a:ext>
                </a:extLst>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144,488</a:t>
                      </a:r>
                    </a:p>
                  </a:txBody>
                  <a:tcPr marL="18000" marR="18000" marT="18000" marB="18000" anchor="ctr">
                    <a:solidFill>
                      <a:srgbClr val="FFFFFF"/>
                    </a:solidFill>
                  </a:tcPr>
                </a:tc>
                <a:extLst>
                  <a:ext uri="{0D108BD9-81ED-4DB2-BD59-A6C34878D82A}">
                    <a16:rowId xmlns:a16="http://schemas.microsoft.com/office/drawing/2014/main" val="10005"/>
                  </a:ext>
                </a:extLst>
              </a:tr>
              <a:tr h="162000">
                <a:tc>
                  <a:txBody>
                    <a:bodyPr/>
                    <a:lstStyle/>
                    <a:p>
                      <a:pPr algn="l">
                        <a:defRPr sz="900" b="0">
                          <a:solidFill>
                            <a:srgbClr val="333333"/>
                          </a:solidFill>
                          <a:latin typeface="Montserrat"/>
                        </a:defRPr>
                      </a:pPr>
                      <a:r>
                        <a:t>Dieta polimérica con fibra, suspensión oral o enteral  (nutrición)</a:t>
                      </a:r>
                    </a:p>
                  </a:txBody>
                  <a:tcPr marL="18000" marR="18000" marT="18000" marB="18000" anchor="ctr">
                    <a:solidFill>
                      <a:srgbClr val="F2F2F2"/>
                    </a:solidFill>
                  </a:tcPr>
                </a:tc>
                <a:tc>
                  <a:txBody>
                    <a:bodyPr/>
                    <a:lstStyle/>
                    <a:p>
                      <a:pPr algn="ctr">
                        <a:defRPr sz="900" b="0">
                          <a:solidFill>
                            <a:srgbClr val="333333"/>
                          </a:solidFill>
                          <a:latin typeface="Montserrat"/>
                        </a:defRPr>
                      </a:pPr>
                      <a:r>
                        <a:t>134,071</a:t>
                      </a:r>
                    </a:p>
                  </a:txBody>
                  <a:tcPr marL="18000" marR="18000" marT="18000" marB="18000" anchor="ctr">
                    <a:solidFill>
                      <a:srgbClr val="F2F2F2"/>
                    </a:solidFill>
                  </a:tcPr>
                </a:tc>
                <a:extLst>
                  <a:ext uri="{0D108BD9-81ED-4DB2-BD59-A6C34878D82A}">
                    <a16:rowId xmlns:a16="http://schemas.microsoft.com/office/drawing/2014/main" val="10006"/>
                  </a:ext>
                </a:extLst>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89,084</a:t>
                      </a:r>
                    </a:p>
                  </a:txBody>
                  <a:tcPr marL="18000" marR="18000" marT="18000" marB="18000" anchor="ctr">
                    <a:solidFill>
                      <a:srgbClr val="FFFFFF"/>
                    </a:solidFill>
                  </a:tcPr>
                </a:tc>
                <a:extLst>
                  <a:ext uri="{0D108BD9-81ED-4DB2-BD59-A6C34878D82A}">
                    <a16:rowId xmlns:a16="http://schemas.microsoft.com/office/drawing/2014/main" val="10007"/>
                  </a:ext>
                </a:extLst>
              </a:tr>
              <a:tr h="162000">
                <a:tc>
                  <a:txBody>
                    <a:bodyPr/>
                    <a:lstStyle/>
                    <a:p>
                      <a:pPr algn="l">
                        <a:defRPr sz="900" b="0">
                          <a:solidFill>
                            <a:srgbClr val="333333"/>
                          </a:solidFill>
                          <a:latin typeface="Montserrat"/>
                        </a:defRPr>
                      </a:pPr>
                      <a:r>
                        <a:t>Hidroclorotiazida, tableta (diurético)</a:t>
                      </a:r>
                    </a:p>
                  </a:txBody>
                  <a:tcPr marL="18000" marR="18000" marT="18000" marB="18000" anchor="ctr">
                    <a:solidFill>
                      <a:srgbClr val="F2F2F2"/>
                    </a:solidFill>
                  </a:tcPr>
                </a:tc>
                <a:tc>
                  <a:txBody>
                    <a:bodyPr/>
                    <a:lstStyle/>
                    <a:p>
                      <a:pPr algn="ctr">
                        <a:defRPr sz="900" b="0">
                          <a:solidFill>
                            <a:srgbClr val="333333"/>
                          </a:solidFill>
                          <a:latin typeface="Montserrat"/>
                        </a:defRPr>
                      </a:pPr>
                      <a:r>
                        <a:t>83,202</a:t>
                      </a:r>
                    </a:p>
                  </a:txBody>
                  <a:tcPr marL="18000" marR="18000" marT="18000" marB="18000" anchor="ctr">
                    <a:solidFill>
                      <a:srgbClr val="F2F2F2"/>
                    </a:solidFill>
                  </a:tcPr>
                </a:tc>
                <a:extLst>
                  <a:ext uri="{0D108BD9-81ED-4DB2-BD59-A6C34878D82A}">
                    <a16:rowId xmlns:a16="http://schemas.microsoft.com/office/drawing/2014/main" val="10008"/>
                  </a:ext>
                </a:extLst>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81,943</a:t>
                      </a:r>
                    </a:p>
                  </a:txBody>
                  <a:tcPr marL="18000" marR="18000" marT="18000" marB="18000" anchor="ctr">
                    <a:solidFill>
                      <a:srgbClr val="FFFFFF"/>
                    </a:solidFill>
                  </a:tcPr>
                </a:tc>
                <a:extLst>
                  <a:ext uri="{0D108BD9-81ED-4DB2-BD59-A6C34878D82A}">
                    <a16:rowId xmlns:a16="http://schemas.microsoft.com/office/drawing/2014/main" val="10009"/>
                  </a:ext>
                </a:extLst>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73,093</a:t>
                      </a:r>
                    </a:p>
                  </a:txBody>
                  <a:tcPr marL="18000" marR="18000" marT="18000" marB="18000" anchor="ctr">
                    <a:solidFill>
                      <a:srgbClr val="F2F2F2"/>
                    </a:solidFill>
                  </a:tcPr>
                </a:tc>
                <a:extLst>
                  <a:ext uri="{0D108BD9-81ED-4DB2-BD59-A6C34878D82A}">
                    <a16:rowId xmlns:a16="http://schemas.microsoft.com/office/drawing/2014/main" val="10010"/>
                  </a:ext>
                </a:extLst>
              </a:tr>
              <a:tr h="162000">
                <a:tc>
                  <a:txBody>
                    <a:bodyPr/>
                    <a:lstStyle/>
                    <a:p>
                      <a:pPr algn="l">
                        <a:defRPr sz="900" b="0">
                          <a:solidFill>
                            <a:srgbClr val="333333"/>
                          </a:solidFill>
                          <a:latin typeface="Montserrat"/>
                        </a:defRPr>
                      </a:pPr>
                      <a:r>
                        <a:t>Dieta polimérica sin fibra, suspensión (nutrición)</a:t>
                      </a:r>
                    </a:p>
                  </a:txBody>
                  <a:tcPr marL="18000" marR="18000" marT="18000" marB="18000" anchor="ctr">
                    <a:solidFill>
                      <a:srgbClr val="FFFFFF"/>
                    </a:solidFill>
                  </a:tcPr>
                </a:tc>
                <a:tc>
                  <a:txBody>
                    <a:bodyPr/>
                    <a:lstStyle/>
                    <a:p>
                      <a:pPr algn="ctr">
                        <a:defRPr sz="900" b="0">
                          <a:solidFill>
                            <a:srgbClr val="333333"/>
                          </a:solidFill>
                          <a:latin typeface="Montserrat"/>
                        </a:defRPr>
                      </a:pPr>
                      <a:r>
                        <a:t>70,674</a:t>
                      </a:r>
                    </a:p>
                  </a:txBody>
                  <a:tcPr marL="18000" marR="18000" marT="18000" marB="18000" anchor="ctr">
                    <a:solidFill>
                      <a:srgbClr val="FFFFFF"/>
                    </a:solidFill>
                  </a:tcPr>
                </a:tc>
                <a:extLst>
                  <a:ext uri="{0D108BD9-81ED-4DB2-BD59-A6C34878D82A}">
                    <a16:rowId xmlns:a16="http://schemas.microsoft.com/office/drawing/2014/main" val="10011"/>
                  </a:ext>
                </a:extLst>
              </a:tr>
            </a:tbl>
          </a:graphicData>
        </a:graphic>
      </p:graphicFrame>
      <p:sp>
        <p:nvSpPr>
          <p:cNvPr id="10" name="TextBox 9"/>
          <p:cNvSpPr txBox="1"/>
          <p:nvPr/>
        </p:nvSpPr>
        <p:spPr>
          <a:xfrm>
            <a:off x="457200" y="9651600"/>
            <a:ext cx="6858000" cy="273600"/>
          </a:xfrm>
          <a:prstGeom prst="rect">
            <a:avLst/>
          </a:prstGeom>
          <a:noFill/>
        </p:spPr>
        <p:txBody>
          <a:bodyPr wrap="square" lIns="0" tIns="0" rIns="0" bIns="0">
            <a:spAutoFit/>
          </a:bodyPr>
          <a:lstStyle/>
          <a:p>
            <a:pPr algn="l">
              <a:defRPr sz="800">
                <a:solidFill>
                  <a:srgbClr val="FFFFFF"/>
                </a:solidFill>
                <a:latin typeface="Montserrat"/>
              </a:defRPr>
            </a:pPr>
            <a:r>
              <a:t>Fuente: Portal de Control de Abasto. En 2026, se muestra lo correspondiente al periodo del 1 de enero al 30 de abril de 2026.</a:t>
            </a:r>
          </a:p>
        </p:txBody>
      </p:sp>
    </p:spTree>
    <p:extLst>
      <p:ext uri="{BB962C8B-B14F-4D97-AF65-F5344CB8AC3E}">
        <p14:creationId xmlns:p14="http://schemas.microsoft.com/office/powerpoint/2010/main" val="2488437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sp>
        <p:nvSpPr>
          <p:cNvPr id="13" name="TextBox 1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9" name="Google Shape;394;p15">
            <a:extLst>
              <a:ext uri="{FF2B5EF4-FFF2-40B4-BE49-F238E27FC236}">
                <a16:creationId xmlns:a16="http://schemas.microsoft.com/office/drawing/2014/main" id="{22FA56AE-82C7-E63A-764B-FC437AACB2C7}"/>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Acciones 2025</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9" name="Google Shape;395;p15">
            <a:extLst>
              <a:ext uri="{FF2B5EF4-FFF2-40B4-BE49-F238E27FC236}">
                <a16:creationId xmlns:a16="http://schemas.microsoft.com/office/drawing/2014/main" id="{5753F332-ADC1-2521-8967-5F32977FC694}"/>
              </a:ext>
            </a:extLst>
          </p:cNvPr>
          <p:cNvPicPr preferRelativeResize="0"/>
          <p:nvPr/>
        </p:nvPicPr>
        <p:blipFill rotWithShape="1">
          <a:blip r:embed="rId4">
            <a:alphaModFix/>
          </a:blip>
          <a:srcRect/>
          <a:stretch/>
        </p:blipFill>
        <p:spPr>
          <a:xfrm>
            <a:off x="5590550" y="728870"/>
            <a:ext cx="1599000" cy="758330"/>
          </a:xfrm>
          <a:prstGeom prst="rect">
            <a:avLst/>
          </a:prstGeom>
          <a:noFill/>
          <a:ln>
            <a:noFill/>
          </a:ln>
        </p:spPr>
      </p:pic>
      <p:sp>
        <p:nvSpPr>
          <p:cNvPr id="21" name="Google Shape;396;p15">
            <a:extLst>
              <a:ext uri="{FF2B5EF4-FFF2-40B4-BE49-F238E27FC236}">
                <a16:creationId xmlns:a16="http://schemas.microsoft.com/office/drawing/2014/main" id="{09FD9022-CE70-0BE0-B905-1A3B018CFFBB}"/>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a:ln>
                <a:noFill/>
              </a:ln>
              <a:solidFill>
                <a:srgbClr val="BC955C"/>
              </a:solidFill>
              <a:effectLst/>
              <a:uLnTx/>
              <a:uFillTx/>
              <a:latin typeface="Arial"/>
              <a:ea typeface="Arial"/>
              <a:cs typeface="Arial"/>
              <a:sym typeface="Arial"/>
            </a:endParaRPr>
          </a:p>
        </p:txBody>
      </p:sp>
      <p:sp>
        <p:nvSpPr>
          <p:cNvPr id="23" name="CuadroTexto 10">
            <a:extLst>
              <a:ext uri="{FF2B5EF4-FFF2-40B4-BE49-F238E27FC236}">
                <a16:creationId xmlns:a16="http://schemas.microsoft.com/office/drawing/2014/main" id="{8F9305E2-C3D1-D6DB-8CF6-990876EB7EFC}"/>
              </a:ext>
            </a:extLst>
          </p:cNvPr>
          <p:cNvSpPr txBox="1"/>
          <p:nvPr/>
        </p:nvSpPr>
        <p:spPr>
          <a:xfrm>
            <a:off x="-987419" y="159973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25" name="Imagen 24" descr="Forma, Círculo&#10;&#10;El contenido generado por IA puede ser incorrecto.">
            <a:extLst>
              <a:ext uri="{FF2B5EF4-FFF2-40B4-BE49-F238E27FC236}">
                <a16:creationId xmlns:a16="http://schemas.microsoft.com/office/drawing/2014/main" id="{582BABA2-42C1-46D5-CAA4-72942A90D7DE}"/>
              </a:ext>
            </a:extLst>
          </p:cNvPr>
          <p:cNvPicPr>
            <a:picLocks noChangeAspect="1"/>
          </p:cNvPicPr>
          <p:nvPr/>
        </p:nvPicPr>
        <p:blipFill>
          <a:blip r:embed="rId5"/>
          <a:srcRect b="-847"/>
          <a:stretch>
            <a:fillRect/>
          </a:stretch>
        </p:blipFill>
        <p:spPr>
          <a:xfrm>
            <a:off x="444908" y="2024686"/>
            <a:ext cx="875508" cy="854908"/>
          </a:xfrm>
          <a:prstGeom prst="rect">
            <a:avLst/>
          </a:prstGeom>
        </p:spPr>
      </p:pic>
      <p:sp>
        <p:nvSpPr>
          <p:cNvPr id="27" name="CuadroTexto 12">
            <a:extLst>
              <a:ext uri="{FF2B5EF4-FFF2-40B4-BE49-F238E27FC236}">
                <a16:creationId xmlns:a16="http://schemas.microsoft.com/office/drawing/2014/main" id="{591D5CA6-0137-2B71-275A-CD1A774A0318}"/>
              </a:ext>
            </a:extLst>
          </p:cNvPr>
          <p:cNvSpPr txBox="1"/>
          <p:nvPr/>
        </p:nvSpPr>
        <p:spPr>
          <a:xfrm>
            <a:off x="-1060438" y="2095357"/>
            <a:ext cx="3886200" cy="6463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i="0" u="none" strike="noStrike" dirty="0">
                <a:solidFill>
                  <a:srgbClr val="BC955C"/>
                </a:solidFill>
                <a:latin typeface="Montserrat"/>
                <a:ea typeface="Montserrat"/>
                <a:cs typeface="Montserrat"/>
              </a:rPr>
              <a:t>4</a:t>
            </a:r>
          </a:p>
          <a:p>
            <a:pPr algn="ctr"/>
            <a:r>
              <a:rPr lang="en-US" sz="800" b="1" dirty="0">
                <a:solidFill>
                  <a:srgbClr val="BC955C"/>
                </a:solidFill>
                <a:latin typeface="Montserrat"/>
              </a:rPr>
              <a:t>Residencias</a:t>
            </a:r>
          </a:p>
          <a:p>
            <a:pPr algn="ctr"/>
            <a:r>
              <a:rPr lang="en-US" sz="800" b="1" dirty="0" err="1">
                <a:solidFill>
                  <a:srgbClr val="BC955C"/>
                </a:solidFill>
                <a:latin typeface="Montserrat"/>
              </a:rPr>
              <a:t>Médicas</a:t>
            </a:r>
            <a:endParaRPr lang="en-US" sz="800" dirty="0"/>
          </a:p>
        </p:txBody>
      </p:sp>
      <p:sp>
        <p:nvSpPr>
          <p:cNvPr id="29" name="CuadroTexto 10">
            <a:extLst>
              <a:ext uri="{FF2B5EF4-FFF2-40B4-BE49-F238E27FC236}">
                <a16:creationId xmlns:a16="http://schemas.microsoft.com/office/drawing/2014/main" id="{4FF503CA-AC58-CB7F-F613-D5FA18369A40}"/>
              </a:ext>
            </a:extLst>
          </p:cNvPr>
          <p:cNvSpPr txBox="1"/>
          <p:nvPr/>
        </p:nvSpPr>
        <p:spPr>
          <a:xfrm>
            <a:off x="-1003288" y="2912088"/>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31" name="Imagen 30" descr="Forma, Círculo&#10;&#10;El contenido generado por IA puede ser incorrecto.">
            <a:extLst>
              <a:ext uri="{FF2B5EF4-FFF2-40B4-BE49-F238E27FC236}">
                <a16:creationId xmlns:a16="http://schemas.microsoft.com/office/drawing/2014/main" id="{EA96B5C5-CEC3-81FE-3C79-DD4F4F478A7A}"/>
              </a:ext>
            </a:extLst>
          </p:cNvPr>
          <p:cNvPicPr>
            <a:picLocks noChangeAspect="1"/>
          </p:cNvPicPr>
          <p:nvPr/>
        </p:nvPicPr>
        <p:blipFill>
          <a:blip r:embed="rId5"/>
          <a:srcRect b="-847"/>
          <a:stretch>
            <a:fillRect/>
          </a:stretch>
        </p:blipFill>
        <p:spPr>
          <a:xfrm>
            <a:off x="432202" y="3308163"/>
            <a:ext cx="875508" cy="854908"/>
          </a:xfrm>
          <a:prstGeom prst="rect">
            <a:avLst/>
          </a:prstGeom>
        </p:spPr>
      </p:pic>
      <p:sp>
        <p:nvSpPr>
          <p:cNvPr id="33" name="CuadroTexto 12">
            <a:extLst>
              <a:ext uri="{FF2B5EF4-FFF2-40B4-BE49-F238E27FC236}">
                <a16:creationId xmlns:a16="http://schemas.microsoft.com/office/drawing/2014/main" id="{20125409-2443-9639-D03B-2B8622F587FF}"/>
              </a:ext>
            </a:extLst>
          </p:cNvPr>
          <p:cNvSpPr txBox="1"/>
          <p:nvPr/>
        </p:nvSpPr>
        <p:spPr>
          <a:xfrm>
            <a:off x="-1071799" y="3452924"/>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solidFill>
                  <a:srgbClr val="BC955C"/>
                </a:solidFill>
                <a:latin typeface="Montserrat"/>
                <a:ea typeface="Montserrat"/>
                <a:cs typeface="Montserrat"/>
              </a:rPr>
              <a:t>2</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Tomógrafos</a:t>
            </a:r>
            <a:endParaRPr lang="en-US" sz="700" b="1" dirty="0">
              <a:solidFill>
                <a:srgbClr val="BC955C"/>
              </a:solidFill>
              <a:latin typeface="Montserrat"/>
            </a:endParaRPr>
          </a:p>
        </p:txBody>
      </p:sp>
      <p:graphicFrame>
        <p:nvGraphicFramePr>
          <p:cNvPr id="35" name="Table 16">
            <a:extLst>
              <a:ext uri="{FF2B5EF4-FFF2-40B4-BE49-F238E27FC236}">
                <a16:creationId xmlns:a16="http://schemas.microsoft.com/office/drawing/2014/main" id="{1AC37E79-F8DF-43C5-332A-CDD8E47CCF50}"/>
              </a:ext>
            </a:extLst>
          </p:cNvPr>
          <p:cNvGraphicFramePr>
            <a:graphicFrameLocks noGrp="1"/>
          </p:cNvGraphicFramePr>
          <p:nvPr>
            <p:extLst>
              <p:ext uri="{D42A27DB-BD31-4B8C-83A1-F6EECF244321}">
                <p14:modId xmlns:p14="http://schemas.microsoft.com/office/powerpoint/2010/main" val="3382455985"/>
              </p:ext>
            </p:extLst>
          </p:nvPr>
        </p:nvGraphicFramePr>
        <p:xfrm>
          <a:off x="1785600" y="1584000"/>
          <a:ext cx="5295600" cy="1440000"/>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60000">
                <a:tc>
                  <a:txBody>
                    <a:bodyPr/>
                    <a:lstStyle/>
                    <a:p>
                      <a:pPr algn="ctr">
                        <a:defRPr sz="1000" b="1">
                          <a:solidFill>
                            <a:srgbClr val="FFFFFF"/>
                          </a:solidFill>
                          <a:latin typeface="Montserrat"/>
                        </a:defRPr>
                      </a:pPr>
                      <a:r>
                        <a:rPr sz="1000" dirty="0"/>
                        <a:t>Obras de </a:t>
                      </a:r>
                      <a:r>
                        <a:rPr sz="1000" dirty="0" err="1"/>
                        <a:t>Infraestructura</a:t>
                      </a:r>
                      <a:r>
                        <a:rPr sz="1000" dirty="0"/>
                        <a:t> 2025</a:t>
                      </a:r>
                    </a:p>
                  </a:txBody>
                  <a:tcPr marL="3600" marR="3600" marT="3600" marB="3600" anchor="ctr">
                    <a:solidFill>
                      <a:srgbClr val="BC955C"/>
                    </a:solidFill>
                  </a:tcPr>
                </a:tc>
                <a:tc>
                  <a:txBody>
                    <a:bodyPr/>
                    <a:lstStyle/>
                    <a:p>
                      <a:pPr algn="ctr">
                        <a:defRPr sz="1000" b="1">
                          <a:solidFill>
                            <a:srgbClr val="FFFFFF"/>
                          </a:solidFill>
                          <a:latin typeface="Montserrat"/>
                        </a:defRPr>
                      </a:pPr>
                      <a:r>
                        <a:rPr sz="1000"/>
                        <a:t>Monto (mdp)</a:t>
                      </a:r>
                    </a:p>
                  </a:txBody>
                  <a:tcPr marL="3600" marR="3600" marT="3600" marB="3600" anchor="ctr">
                    <a:solidFill>
                      <a:srgbClr val="BC955C"/>
                    </a:solidFill>
                  </a:tcPr>
                </a:tc>
                <a:extLst>
                  <a:ext uri="{0D108BD9-81ED-4DB2-BD59-A6C34878D82A}">
                    <a16:rowId xmlns:a16="http://schemas.microsoft.com/office/drawing/2014/main" val="10000"/>
                  </a:ext>
                </a:extLst>
              </a:tr>
              <a:tr h="360000">
                <a:tc>
                  <a:txBody>
                    <a:bodyPr/>
                    <a:lstStyle/>
                    <a:p>
                      <a:pPr algn="l">
                        <a:lnSpc>
                          <a:spcPct val="100000"/>
                        </a:lnSpc>
                      </a:pPr>
                      <a:r>
                        <a:rPr sz="1000" dirty="0" err="1">
                          <a:latin typeface="Montserrat"/>
                        </a:rPr>
                        <a:t>Estudios</a:t>
                      </a:r>
                      <a:r>
                        <a:rPr sz="1000" dirty="0">
                          <a:latin typeface="Montserrat"/>
                        </a:rPr>
                        <a:t> de </a:t>
                      </a:r>
                      <a:r>
                        <a:rPr sz="1000" dirty="0" err="1">
                          <a:latin typeface="Montserrat"/>
                        </a:rPr>
                        <a:t>preinversión</a:t>
                      </a:r>
                      <a:r>
                        <a:rPr sz="1000" dirty="0">
                          <a:latin typeface="Montserrat"/>
                        </a:rPr>
                        <a:t> del HGR de 216 camas, Guadalupe</a:t>
                      </a:r>
                    </a:p>
                  </a:txBody>
                  <a:tcPr marL="3600" marR="3600" marT="3600" marB="3600" anchor="ctr">
                    <a:solidFill>
                      <a:schemeClr val="bg1"/>
                    </a:solidFill>
                  </a:tcPr>
                </a:tc>
                <a:tc>
                  <a:txBody>
                    <a:bodyPr/>
                    <a:lstStyle/>
                    <a:p>
                      <a:pPr algn="ctr">
                        <a:lnSpc>
                          <a:spcPct val="100000"/>
                        </a:lnSpc>
                      </a:pPr>
                      <a:r>
                        <a:rPr sz="1000">
                          <a:latin typeface="Montserrat"/>
                        </a:rPr>
                        <a:t>$21.9</a:t>
                      </a:r>
                    </a:p>
                  </a:txBody>
                  <a:tcPr marL="3600" marR="3600" marT="3600" marB="3600" anchor="ctr">
                    <a:solidFill>
                      <a:schemeClr val="bg1"/>
                    </a:solidFill>
                  </a:tcPr>
                </a:tc>
                <a:extLst>
                  <a:ext uri="{0D108BD9-81ED-4DB2-BD59-A6C34878D82A}">
                    <a16:rowId xmlns:a16="http://schemas.microsoft.com/office/drawing/2014/main" val="10002"/>
                  </a:ext>
                </a:extLst>
              </a:tr>
              <a:tr h="360000">
                <a:tc>
                  <a:txBody>
                    <a:bodyPr/>
                    <a:lstStyle/>
                    <a:p>
                      <a:pPr algn="l">
                        <a:lnSpc>
                          <a:spcPct val="100000"/>
                        </a:lnSpc>
                      </a:pPr>
                      <a:r>
                        <a:rPr sz="1000" err="1">
                          <a:latin typeface="Montserrat"/>
                        </a:rPr>
                        <a:t>Remodelación</a:t>
                      </a:r>
                      <a:r>
                        <a:rPr sz="1000">
                          <a:latin typeface="Montserrat"/>
                        </a:rPr>
                        <a:t> de </a:t>
                      </a:r>
                      <a:r>
                        <a:rPr sz="1000" err="1">
                          <a:latin typeface="Montserrat"/>
                        </a:rPr>
                        <a:t>gradas</a:t>
                      </a:r>
                      <a:r>
                        <a:rPr sz="1000">
                          <a:latin typeface="Montserrat"/>
                        </a:rPr>
                        <a:t>, </a:t>
                      </a:r>
                      <a:r>
                        <a:rPr sz="1000" err="1">
                          <a:latin typeface="Montserrat"/>
                        </a:rPr>
                        <a:t>baños</a:t>
                      </a:r>
                      <a:r>
                        <a:rPr sz="1000">
                          <a:latin typeface="Montserrat"/>
                        </a:rPr>
                        <a:t> y </a:t>
                      </a:r>
                      <a:r>
                        <a:rPr sz="1000" err="1">
                          <a:latin typeface="Montserrat"/>
                        </a:rPr>
                        <a:t>vestidores</a:t>
                      </a:r>
                      <a:r>
                        <a:rPr sz="1000">
                          <a:latin typeface="Montserrat"/>
                        </a:rPr>
                        <a:t> </a:t>
                      </a:r>
                      <a:r>
                        <a:rPr sz="1000" err="1">
                          <a:latin typeface="Montserrat"/>
                        </a:rPr>
                        <a:t>en</a:t>
                      </a:r>
                      <a:r>
                        <a:rPr sz="1000">
                          <a:latin typeface="Montserrat"/>
                        </a:rPr>
                        <a:t> </a:t>
                      </a:r>
                      <a:r>
                        <a:rPr sz="1000" err="1">
                          <a:latin typeface="Montserrat"/>
                        </a:rPr>
                        <a:t>gimnasio</a:t>
                      </a:r>
                      <a:r>
                        <a:rPr sz="1000">
                          <a:latin typeface="Montserrat"/>
                        </a:rPr>
                        <a:t> de </a:t>
                      </a:r>
                      <a:r>
                        <a:rPr sz="1000" err="1">
                          <a:latin typeface="Montserrat"/>
                        </a:rPr>
                        <a:t>basquetbol</a:t>
                      </a:r>
                      <a:r>
                        <a:rPr sz="1000">
                          <a:latin typeface="Montserrat"/>
                        </a:rPr>
                        <a:t> del CSS Zacatecas</a:t>
                      </a:r>
                    </a:p>
                  </a:txBody>
                  <a:tcPr marL="3600" marR="3600" marT="3600" marB="3600" anchor="ctr">
                    <a:solidFill>
                      <a:schemeClr val="tx2">
                        <a:lumMod val="90000"/>
                      </a:schemeClr>
                    </a:solidFill>
                  </a:tcPr>
                </a:tc>
                <a:tc>
                  <a:txBody>
                    <a:bodyPr/>
                    <a:lstStyle/>
                    <a:p>
                      <a:pPr algn="ctr">
                        <a:lnSpc>
                          <a:spcPct val="100000"/>
                        </a:lnSpc>
                      </a:pPr>
                      <a:r>
                        <a:rPr sz="1000">
                          <a:latin typeface="Montserrat"/>
                        </a:rPr>
                        <a:t>$9.6</a:t>
                      </a:r>
                    </a:p>
                  </a:txBody>
                  <a:tcPr marL="3600" marR="3600" marT="3600" marB="3600" anchor="ctr">
                    <a:solidFill>
                      <a:schemeClr val="tx2">
                        <a:lumMod val="90000"/>
                      </a:schemeClr>
                    </a:solidFill>
                  </a:tcPr>
                </a:tc>
                <a:extLst>
                  <a:ext uri="{0D108BD9-81ED-4DB2-BD59-A6C34878D82A}">
                    <a16:rowId xmlns:a16="http://schemas.microsoft.com/office/drawing/2014/main" val="10003"/>
                  </a:ext>
                </a:extLst>
              </a:tr>
              <a:tr h="360000">
                <a:tc>
                  <a:txBody>
                    <a:bodyPr/>
                    <a:lstStyle/>
                    <a:p>
                      <a:pPr algn="l">
                        <a:lnSpc>
                          <a:spcPct val="100000"/>
                        </a:lnSpc>
                        <a:defRPr sz="900" b="1">
                          <a:solidFill>
                            <a:srgbClr val="BC955C"/>
                          </a:solidFill>
                          <a:latin typeface="Montserrat"/>
                        </a:defRPr>
                      </a:pPr>
                      <a:r>
                        <a:rPr sz="1000" dirty="0"/>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rPr sz="1000" dirty="0"/>
                        <a:t>$</a:t>
                      </a:r>
                      <a:r>
                        <a:rPr lang="es-MX" sz="1000" dirty="0"/>
                        <a:t>31.5</a:t>
                      </a:r>
                      <a:endParaRPr sz="1000" dirty="0"/>
                    </a:p>
                  </a:txBody>
                  <a:tcPr marL="3600" marR="3600" marT="3600" marB="3600" anchor="ctr">
                    <a:solidFill>
                      <a:srgbClr val="ECE1D2"/>
                    </a:solidFill>
                  </a:tcPr>
                </a:tc>
                <a:extLst>
                  <a:ext uri="{0D108BD9-81ED-4DB2-BD59-A6C34878D82A}">
                    <a16:rowId xmlns:a16="http://schemas.microsoft.com/office/drawing/2014/main" val="10004"/>
                  </a:ext>
                </a:extLst>
              </a:tr>
            </a:tbl>
          </a:graphicData>
        </a:graphic>
      </p:graphicFrame>
      <p:graphicFrame>
        <p:nvGraphicFramePr>
          <p:cNvPr id="37" name="Table 17">
            <a:extLst>
              <a:ext uri="{FF2B5EF4-FFF2-40B4-BE49-F238E27FC236}">
                <a16:creationId xmlns:a16="http://schemas.microsoft.com/office/drawing/2014/main" id="{D483D585-F699-A4B4-2376-707C66A5DD4D}"/>
              </a:ext>
            </a:extLst>
          </p:cNvPr>
          <p:cNvGraphicFramePr>
            <a:graphicFrameLocks noGrp="1"/>
          </p:cNvGraphicFramePr>
          <p:nvPr>
            <p:extLst>
              <p:ext uri="{D42A27DB-BD31-4B8C-83A1-F6EECF244321}">
                <p14:modId xmlns:p14="http://schemas.microsoft.com/office/powerpoint/2010/main" val="3513609493"/>
              </p:ext>
            </p:extLst>
          </p:nvPr>
        </p:nvGraphicFramePr>
        <p:xfrm>
          <a:off x="1785600" y="3143922"/>
          <a:ext cx="5295600" cy="2048400"/>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96000">
                <a:tc>
                  <a:txBody>
                    <a:bodyPr/>
                    <a:lstStyle/>
                    <a:p>
                      <a:pPr algn="ctr">
                        <a:defRPr sz="1000" b="1">
                          <a:solidFill>
                            <a:srgbClr val="FFFFFF"/>
                          </a:solidFill>
                          <a:latin typeface="Montserrat"/>
                        </a:defRPr>
                      </a:pPr>
                      <a:r>
                        <a:rPr sz="1000"/>
                        <a:t>Obras de </a:t>
                      </a:r>
                      <a:r>
                        <a:rPr sz="1000" err="1"/>
                        <a:t>Conservación</a:t>
                      </a:r>
                      <a:r>
                        <a:rPr sz="1000"/>
                        <a:t> 2025</a:t>
                      </a:r>
                    </a:p>
                  </a:txBody>
                  <a:tcPr marL="3600" marR="3600" marT="3600" marB="3600" anchor="ctr">
                    <a:solidFill>
                      <a:srgbClr val="BC955C"/>
                    </a:solidFill>
                  </a:tcPr>
                </a:tc>
                <a:tc>
                  <a:txBody>
                    <a:bodyPr/>
                    <a:lstStyle/>
                    <a:p>
                      <a:pPr algn="ctr">
                        <a:defRPr sz="1000" b="1">
                          <a:solidFill>
                            <a:srgbClr val="FFFFFF"/>
                          </a:solidFill>
                          <a:latin typeface="Montserrat"/>
                        </a:defRPr>
                      </a:pPr>
                      <a:r>
                        <a:rPr sz="1000"/>
                        <a:t>Monto (mdp)</a:t>
                      </a:r>
                    </a:p>
                  </a:txBody>
                  <a:tcPr marL="3600" marR="3600" marT="3600" marB="3600" anchor="ctr">
                    <a:solidFill>
                      <a:srgbClr val="BC955C"/>
                    </a:solidFill>
                  </a:tcPr>
                </a:tc>
                <a:extLst>
                  <a:ext uri="{0D108BD9-81ED-4DB2-BD59-A6C34878D82A}">
                    <a16:rowId xmlns:a16="http://schemas.microsoft.com/office/drawing/2014/main" val="10000"/>
                  </a:ext>
                </a:extLst>
              </a:tr>
              <a:tr h="396000">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2025)</a:t>
                      </a:r>
                    </a:p>
                  </a:txBody>
                  <a:tcPr marL="3600" marR="3600" marT="3600" marB="3600" anchor="ctr">
                    <a:solidFill>
                      <a:srgbClr val="FFFFFF"/>
                    </a:solidFill>
                  </a:tcPr>
                </a:tc>
                <a:tc>
                  <a:txBody>
                    <a:bodyPr/>
                    <a:lstStyle/>
                    <a:p>
                      <a:pPr algn="ctr">
                        <a:lnSpc>
                          <a:spcPct val="100000"/>
                        </a:lnSpc>
                      </a:pPr>
                      <a:r>
                        <a:rPr sz="1000">
                          <a:latin typeface="Montserrat"/>
                        </a:rPr>
                        <a:t>$435.2</a:t>
                      </a:r>
                    </a:p>
                  </a:txBody>
                  <a:tcPr marL="3600" marR="3600" marT="3600" marB="3600" anchor="ctr">
                    <a:solidFill>
                      <a:srgbClr val="FFFFFF"/>
                    </a:solidFill>
                  </a:tcPr>
                </a:tc>
                <a:extLst>
                  <a:ext uri="{0D108BD9-81ED-4DB2-BD59-A6C34878D82A}">
                    <a16:rowId xmlns:a16="http://schemas.microsoft.com/office/drawing/2014/main" val="10001"/>
                  </a:ext>
                </a:extLst>
              </a:tr>
              <a:tr h="396000">
                <a:tc>
                  <a:txBody>
                    <a:bodyPr/>
                    <a:lstStyle/>
                    <a:p>
                      <a:pPr algn="l">
                        <a:lnSpc>
                          <a:spcPct val="100000"/>
                        </a:lnSpc>
                      </a:pPr>
                      <a:r>
                        <a:rPr sz="1000" err="1">
                          <a:latin typeface="Montserrat"/>
                        </a:rPr>
                        <a:t>Intervención</a:t>
                      </a:r>
                      <a:r>
                        <a:rPr sz="1000">
                          <a:latin typeface="Montserrat"/>
                        </a:rPr>
                        <a:t> </a:t>
                      </a:r>
                      <a:r>
                        <a:rPr sz="1000" err="1">
                          <a:latin typeface="Montserrat"/>
                        </a:rPr>
                        <a:t>en</a:t>
                      </a:r>
                      <a:r>
                        <a:rPr sz="1000">
                          <a:latin typeface="Montserrat"/>
                        </a:rPr>
                        <a:t> </a:t>
                      </a:r>
                      <a:r>
                        <a:rPr sz="1000" err="1">
                          <a:latin typeface="Montserrat"/>
                        </a:rPr>
                        <a:t>áreas</a:t>
                      </a:r>
                      <a:r>
                        <a:rPr sz="1000">
                          <a:latin typeface="Montserrat"/>
                        </a:rPr>
                        <a:t> de </a:t>
                      </a:r>
                      <a:r>
                        <a:rPr sz="1000" err="1">
                          <a:latin typeface="Montserrat"/>
                        </a:rPr>
                        <a:t>Hospitales</a:t>
                      </a:r>
                      <a:r>
                        <a:rPr sz="1000">
                          <a:latin typeface="Montserrat"/>
                        </a:rPr>
                        <a:t> </a:t>
                      </a:r>
                      <a:r>
                        <a:rPr sz="1000" err="1">
                          <a:latin typeface="Montserrat"/>
                        </a:rPr>
                        <a:t>Prioritarios</a:t>
                      </a:r>
                      <a:r>
                        <a:rPr sz="1000">
                          <a:latin typeface="Montserrat"/>
                        </a:rPr>
                        <a:t> </a:t>
                      </a:r>
                      <a:r>
                        <a:rPr sz="1000" err="1">
                          <a:latin typeface="Montserrat"/>
                        </a:rPr>
                        <a:t>en</a:t>
                      </a:r>
                      <a:r>
                        <a:rPr sz="1000">
                          <a:latin typeface="Montserrat"/>
                        </a:rPr>
                        <a:t> </a:t>
                      </a:r>
                      <a:r>
                        <a:rPr sz="1000" err="1">
                          <a:latin typeface="Montserrat"/>
                        </a:rPr>
                        <a:t>el</a:t>
                      </a:r>
                      <a:r>
                        <a:rPr sz="1000">
                          <a:latin typeface="Montserrat"/>
                        </a:rPr>
                        <a:t> HGZ No. 1 Zacatecas y HGZ No. 2 Fresnillo</a:t>
                      </a:r>
                    </a:p>
                  </a:txBody>
                  <a:tcPr marL="3600" marR="3600" marT="3600" marB="3600" anchor="ctr">
                    <a:solidFill>
                      <a:srgbClr val="D9D9D9"/>
                    </a:solidFill>
                  </a:tcPr>
                </a:tc>
                <a:tc>
                  <a:txBody>
                    <a:bodyPr/>
                    <a:lstStyle/>
                    <a:p>
                      <a:pPr algn="ctr">
                        <a:lnSpc>
                          <a:spcPct val="100000"/>
                        </a:lnSpc>
                      </a:pPr>
                      <a:r>
                        <a:rPr sz="1000">
                          <a:latin typeface="Montserrat"/>
                        </a:rPr>
                        <a:t>$210.4</a:t>
                      </a:r>
                    </a:p>
                  </a:txBody>
                  <a:tcPr marL="3600" marR="3600" marT="3600" marB="3600" anchor="ctr">
                    <a:solidFill>
                      <a:srgbClr val="D9D9D9"/>
                    </a:solidFill>
                  </a:tcPr>
                </a:tc>
                <a:extLst>
                  <a:ext uri="{0D108BD9-81ED-4DB2-BD59-A6C34878D82A}">
                    <a16:rowId xmlns:a16="http://schemas.microsoft.com/office/drawing/2014/main" val="10002"/>
                  </a:ext>
                </a:extLst>
              </a:tr>
              <a:tr h="396000">
                <a:tc>
                  <a:txBody>
                    <a:bodyPr/>
                    <a:lstStyle/>
                    <a:p>
                      <a:pPr algn="l">
                        <a:lnSpc>
                          <a:spcPct val="100000"/>
                        </a:lnSpc>
                      </a:pPr>
                      <a:r>
                        <a:rPr sz="1000" err="1">
                          <a:latin typeface="Montserrat"/>
                        </a:rPr>
                        <a:t>Intervención</a:t>
                      </a:r>
                      <a:r>
                        <a:rPr sz="1000">
                          <a:latin typeface="Montserrat"/>
                        </a:rPr>
                        <a:t> </a:t>
                      </a:r>
                      <a:r>
                        <a:rPr sz="1000" err="1">
                          <a:latin typeface="Montserrat"/>
                        </a:rPr>
                        <a:t>en</a:t>
                      </a:r>
                      <a:r>
                        <a:rPr sz="1000">
                          <a:latin typeface="Montserrat"/>
                        </a:rPr>
                        <a:t> </a:t>
                      </a:r>
                      <a:r>
                        <a:rPr sz="1000" err="1">
                          <a:latin typeface="Montserrat"/>
                        </a:rPr>
                        <a:t>áreas</a:t>
                      </a:r>
                      <a:r>
                        <a:rPr sz="1000">
                          <a:latin typeface="Montserrat"/>
                        </a:rPr>
                        <a:t> de residencias </a:t>
                      </a:r>
                      <a:r>
                        <a:rPr sz="1000" err="1">
                          <a:latin typeface="Montserrat"/>
                        </a:rPr>
                        <a:t>médicas</a:t>
                      </a:r>
                      <a:r>
                        <a:rPr sz="1000">
                          <a:latin typeface="Montserrat"/>
                        </a:rPr>
                        <a:t> </a:t>
                      </a:r>
                      <a:r>
                        <a:rPr sz="1000" err="1">
                          <a:latin typeface="Montserrat"/>
                        </a:rPr>
                        <a:t>en</a:t>
                      </a:r>
                      <a:r>
                        <a:rPr sz="1000">
                          <a:latin typeface="Montserrat"/>
                        </a:rPr>
                        <a:t> 4 </a:t>
                      </a:r>
                      <a:r>
                        <a:rPr sz="1000" err="1">
                          <a:latin typeface="Montserrat"/>
                        </a:rPr>
                        <a:t>unidades</a:t>
                      </a:r>
                      <a:r>
                        <a:rPr sz="1000">
                          <a:latin typeface="Montserrat"/>
                        </a:rPr>
                        <a:t> (HGZ No.1 Zacatecas, HGZ No.2 Fresnillo, UMF No.55 Fresnillo, UMF No.57  Zacatecas)</a:t>
                      </a:r>
                    </a:p>
                  </a:txBody>
                  <a:tcPr marL="3600" marR="3600" marT="3600" marB="3600" anchor="ctr">
                    <a:solidFill>
                      <a:srgbClr val="FFFFFF"/>
                    </a:solidFill>
                  </a:tcPr>
                </a:tc>
                <a:tc>
                  <a:txBody>
                    <a:bodyPr/>
                    <a:lstStyle/>
                    <a:p>
                      <a:pPr algn="ctr">
                        <a:lnSpc>
                          <a:spcPct val="100000"/>
                        </a:lnSpc>
                      </a:pPr>
                      <a:r>
                        <a:rPr sz="1000">
                          <a:latin typeface="Montserrat"/>
                        </a:rPr>
                        <a:t>$16.1</a:t>
                      </a:r>
                    </a:p>
                  </a:txBody>
                  <a:tcPr marL="3600" marR="3600" marT="3600" marB="3600" anchor="ctr">
                    <a:solidFill>
                      <a:srgbClr val="FFFFFF"/>
                    </a:solidFill>
                  </a:tcPr>
                </a:tc>
                <a:extLst>
                  <a:ext uri="{0D108BD9-81ED-4DB2-BD59-A6C34878D82A}">
                    <a16:rowId xmlns:a16="http://schemas.microsoft.com/office/drawing/2014/main" val="10003"/>
                  </a:ext>
                </a:extLst>
              </a:tr>
              <a:tr h="396000">
                <a:tc>
                  <a:txBody>
                    <a:bodyPr/>
                    <a:lstStyle/>
                    <a:p>
                      <a:pPr algn="l">
                        <a:lnSpc>
                          <a:spcPct val="100000"/>
                        </a:lnSpc>
                        <a:defRPr sz="900" b="1">
                          <a:solidFill>
                            <a:srgbClr val="BC955C"/>
                          </a:solidFill>
                          <a:latin typeface="Montserrat"/>
                        </a:defRPr>
                      </a:pPr>
                      <a:r>
                        <a:rPr sz="1000"/>
                        <a:t>Subtotal</a:t>
                      </a:r>
                    </a:p>
                  </a:txBody>
                  <a:tcPr marL="3600" marR="3600" marT="3600" marB="3600" anchor="ctr">
                    <a:solidFill>
                      <a:srgbClr val="ECE1D2"/>
                    </a:solidFill>
                  </a:tcPr>
                </a:tc>
                <a:tc>
                  <a:txBody>
                    <a:bodyPr/>
                    <a:lstStyle/>
                    <a:p>
                      <a:pPr algn="ctr">
                        <a:lnSpc>
                          <a:spcPct val="100000"/>
                        </a:lnSpc>
                        <a:defRPr sz="900" b="1">
                          <a:solidFill>
                            <a:srgbClr val="BC955C"/>
                          </a:solidFill>
                          <a:latin typeface="Montserrat"/>
                        </a:defRPr>
                      </a:pPr>
                      <a:r>
                        <a:rPr sz="1000"/>
                        <a:t>$661.7</a:t>
                      </a:r>
                    </a:p>
                  </a:txBody>
                  <a:tcPr marL="3600" marR="3600" marT="3600" marB="3600" anchor="ctr">
                    <a:solidFill>
                      <a:srgbClr val="ECE1D2"/>
                    </a:solidFill>
                  </a:tcPr>
                </a:tc>
                <a:extLst>
                  <a:ext uri="{0D108BD9-81ED-4DB2-BD59-A6C34878D82A}">
                    <a16:rowId xmlns:a16="http://schemas.microsoft.com/office/drawing/2014/main" val="10004"/>
                  </a:ext>
                </a:extLst>
              </a:tr>
            </a:tbl>
          </a:graphicData>
        </a:graphic>
      </p:graphicFrame>
      <p:graphicFrame>
        <p:nvGraphicFramePr>
          <p:cNvPr id="39" name="Table 18">
            <a:extLst>
              <a:ext uri="{FF2B5EF4-FFF2-40B4-BE49-F238E27FC236}">
                <a16:creationId xmlns:a16="http://schemas.microsoft.com/office/drawing/2014/main" id="{35487A79-3CFD-DD14-CE79-EF9327860D22}"/>
              </a:ext>
            </a:extLst>
          </p:cNvPr>
          <p:cNvGraphicFramePr>
            <a:graphicFrameLocks noGrp="1"/>
          </p:cNvGraphicFramePr>
          <p:nvPr>
            <p:extLst>
              <p:ext uri="{D42A27DB-BD31-4B8C-83A1-F6EECF244321}">
                <p14:modId xmlns:p14="http://schemas.microsoft.com/office/powerpoint/2010/main" val="2170786161"/>
              </p:ext>
            </p:extLst>
          </p:nvPr>
        </p:nvGraphicFramePr>
        <p:xfrm>
          <a:off x="1785600" y="5312245"/>
          <a:ext cx="5295600" cy="1008656"/>
        </p:xfrm>
        <a:graphic>
          <a:graphicData uri="http://schemas.openxmlformats.org/drawingml/2006/table">
            <a:tbl>
              <a:tblPr firstRow="1" bandRow="1">
                <a:tableStyleId>{5C22544A-7EE6-4342-B048-85BDC9FD1C3A}</a:tableStyleId>
              </a:tblPr>
              <a:tblGrid>
                <a:gridCol w="4176000">
                  <a:extLst>
                    <a:ext uri="{9D8B030D-6E8A-4147-A177-3AD203B41FA5}">
                      <a16:colId xmlns:a16="http://schemas.microsoft.com/office/drawing/2014/main" val="20000"/>
                    </a:ext>
                  </a:extLst>
                </a:gridCol>
                <a:gridCol w="1119600">
                  <a:extLst>
                    <a:ext uri="{9D8B030D-6E8A-4147-A177-3AD203B41FA5}">
                      <a16:colId xmlns:a16="http://schemas.microsoft.com/office/drawing/2014/main" val="20001"/>
                    </a:ext>
                  </a:extLst>
                </a:gridCol>
              </a:tblGrid>
              <a:tr h="368363">
                <a:tc>
                  <a:txBody>
                    <a:bodyPr/>
                    <a:lstStyle/>
                    <a:p>
                      <a:pPr algn="ctr">
                        <a:defRPr sz="1000" b="1">
                          <a:solidFill>
                            <a:srgbClr val="FFFFFF"/>
                          </a:solidFill>
                          <a:latin typeface="Montserrat"/>
                        </a:defRPr>
                      </a:pPr>
                      <a:r>
                        <a:t>Equipo Médico 2025, </a:t>
                      </a:r>
                      <a:r>
                        <a:rPr err="1"/>
                        <a:t>Instalación</a:t>
                      </a:r>
                      <a:r>
                        <a:t> 2026</a:t>
                      </a:r>
                    </a:p>
                  </a:txBody>
                  <a:tcPr marL="3600" marR="3600" marT="3600" marB="3600" anchor="ctr">
                    <a:lnB w="12700" cap="flat" cmpd="sng" algn="ctr">
                      <a:noFill/>
                      <a:prstDash val="solid"/>
                      <a:round/>
                      <a:headEnd type="none" w="med" len="med"/>
                      <a:tailEnd type="none" w="med" len="med"/>
                    </a:lnB>
                    <a:solidFill>
                      <a:srgbClr val="BC955C"/>
                    </a:solidFill>
                  </a:tcPr>
                </a:tc>
                <a:tc>
                  <a:txBody>
                    <a:bodyPr/>
                    <a:lstStyle/>
                    <a:p>
                      <a:pPr algn="ctr">
                        <a:defRPr sz="1000" b="1">
                          <a:solidFill>
                            <a:srgbClr val="FFFFFF"/>
                          </a:solidFill>
                          <a:latin typeface="Montserrat"/>
                        </a:defRPr>
                      </a:pPr>
                      <a:r>
                        <a:t>Monto (mdp)</a:t>
                      </a:r>
                    </a:p>
                  </a:txBody>
                  <a:tcPr marL="3600" marR="3600" marT="3600" marB="3600" anchor="ctr">
                    <a:lnB w="12700" cap="flat" cmpd="sng" algn="ctr">
                      <a:noFill/>
                      <a:prstDash val="solid"/>
                      <a:round/>
                      <a:headEnd type="none" w="med" len="med"/>
                      <a:tailEnd type="none" w="med" len="med"/>
                    </a:lnB>
                    <a:solidFill>
                      <a:srgbClr val="BC955C"/>
                    </a:solidFill>
                  </a:tcPr>
                </a:tc>
                <a:extLst>
                  <a:ext uri="{0D108BD9-81ED-4DB2-BD59-A6C34878D82A}">
                    <a16:rowId xmlns:a16="http://schemas.microsoft.com/office/drawing/2014/main" val="10000"/>
                  </a:ext>
                </a:extLst>
              </a:tr>
              <a:tr h="640293">
                <a:tc>
                  <a:txBody>
                    <a:bodyPr/>
                    <a:lstStyle/>
                    <a:p>
                      <a:pPr algn="l">
                        <a:lnSpc>
                          <a:spcPct val="100000"/>
                        </a:lnSpc>
                      </a:pPr>
                      <a:r>
                        <a:rPr sz="1000" err="1">
                          <a:latin typeface="Montserrat"/>
                        </a:rPr>
                        <a:t>Adquisición</a:t>
                      </a:r>
                      <a:r>
                        <a:rPr sz="1000">
                          <a:latin typeface="Montserrat"/>
                        </a:rPr>
                        <a:t> de 5 </a:t>
                      </a:r>
                      <a:r>
                        <a:rPr sz="1000" err="1">
                          <a:latin typeface="Montserrat"/>
                        </a:rPr>
                        <a:t>piezas</a:t>
                      </a:r>
                      <a:r>
                        <a:rPr sz="1000">
                          <a:latin typeface="Montserrat"/>
                        </a:rPr>
                        <a:t> de </a:t>
                      </a:r>
                      <a:r>
                        <a:rPr sz="1000" err="1">
                          <a:latin typeface="Montserrat"/>
                        </a:rPr>
                        <a:t>equipo</a:t>
                      </a:r>
                      <a:r>
                        <a:rPr sz="1000">
                          <a:latin typeface="Montserrat"/>
                        </a:rPr>
                        <a:t> </a:t>
                      </a:r>
                      <a:r>
                        <a:rPr sz="1000" err="1">
                          <a:latin typeface="Montserrat"/>
                        </a:rPr>
                        <a:t>médico</a:t>
                      </a:r>
                      <a:r>
                        <a:rPr sz="1000">
                          <a:latin typeface="Montserrat"/>
                        </a:rPr>
                        <a:t>: 1 </a:t>
                      </a:r>
                      <a:r>
                        <a:rPr sz="1000" err="1">
                          <a:latin typeface="Montserrat"/>
                        </a:rPr>
                        <a:t>refrigerador</a:t>
                      </a:r>
                      <a:r>
                        <a:rPr sz="1000">
                          <a:latin typeface="Montserrat"/>
                        </a:rPr>
                        <a:t> </a:t>
                      </a:r>
                      <a:r>
                        <a:rPr sz="1000" err="1">
                          <a:latin typeface="Montserrat"/>
                        </a:rPr>
                        <a:t>congelador</a:t>
                      </a:r>
                      <a:r>
                        <a:rPr sz="1000">
                          <a:latin typeface="Montserrat"/>
                        </a:rPr>
                        <a:t> de 5.4 pies </a:t>
                      </a:r>
                      <a:r>
                        <a:rPr sz="1000" err="1">
                          <a:latin typeface="Montserrat"/>
                        </a:rPr>
                        <a:t>cúbicos</a:t>
                      </a:r>
                      <a:r>
                        <a:rPr sz="1000">
                          <a:latin typeface="Montserrat"/>
                        </a:rPr>
                        <a:t>, 2 </a:t>
                      </a:r>
                      <a:r>
                        <a:rPr sz="1000" err="1">
                          <a:latin typeface="Montserrat"/>
                        </a:rPr>
                        <a:t>mastógrafos</a:t>
                      </a:r>
                      <a:r>
                        <a:rPr sz="1000">
                          <a:latin typeface="Montserrat"/>
                        </a:rPr>
                        <a:t> </a:t>
                      </a:r>
                      <a:r>
                        <a:rPr sz="1000" err="1">
                          <a:latin typeface="Montserrat"/>
                        </a:rPr>
                        <a:t>digitales</a:t>
                      </a:r>
                      <a:r>
                        <a:rPr sz="1000">
                          <a:latin typeface="Montserrat"/>
                        </a:rPr>
                        <a:t> con </a:t>
                      </a:r>
                      <a:r>
                        <a:rPr sz="1000" err="1">
                          <a:latin typeface="Montserrat"/>
                        </a:rPr>
                        <a:t>estereotaxia</a:t>
                      </a:r>
                      <a:r>
                        <a:rPr sz="1000">
                          <a:latin typeface="Montserrat"/>
                        </a:rPr>
                        <a:t> y </a:t>
                      </a:r>
                      <a:r>
                        <a:rPr sz="1000" err="1">
                          <a:latin typeface="Montserrat"/>
                        </a:rPr>
                        <a:t>tomosíntesis</a:t>
                      </a:r>
                      <a:r>
                        <a:rPr sz="1000">
                          <a:latin typeface="Montserrat"/>
                        </a:rPr>
                        <a:t>, 2 </a:t>
                      </a:r>
                      <a:r>
                        <a:rPr sz="1000" err="1">
                          <a:latin typeface="Montserrat"/>
                        </a:rPr>
                        <a:t>tomógrafos</a:t>
                      </a:r>
                      <a:r>
                        <a:rPr sz="1000">
                          <a:latin typeface="Montserrat"/>
                        </a:rPr>
                        <a:t> </a:t>
                      </a:r>
                      <a:r>
                        <a:rPr sz="1000" err="1">
                          <a:latin typeface="Montserrat"/>
                        </a:rPr>
                        <a:t>axiales</a:t>
                      </a:r>
                      <a:r>
                        <a:rPr sz="1000">
                          <a:latin typeface="Montserrat"/>
                        </a:rPr>
                        <a:t> </a:t>
                      </a:r>
                      <a:r>
                        <a:rPr sz="1000" err="1">
                          <a:latin typeface="Montserrat"/>
                        </a:rPr>
                        <a:t>computarizados</a:t>
                      </a:r>
                      <a:r>
                        <a:rPr sz="1000">
                          <a:latin typeface="Montserrat"/>
                        </a:rPr>
                        <a:t> de </a:t>
                      </a:r>
                      <a:r>
                        <a:rPr sz="1000" err="1">
                          <a:latin typeface="Montserrat"/>
                        </a:rPr>
                        <a:t>alta</a:t>
                      </a:r>
                      <a:r>
                        <a:rPr sz="1000">
                          <a:latin typeface="Montserrat"/>
                        </a:rPr>
                        <a:t> </a:t>
                      </a:r>
                      <a:r>
                        <a:rPr sz="1000" err="1">
                          <a:latin typeface="Montserrat"/>
                        </a:rPr>
                        <a:t>resolución</a:t>
                      </a:r>
                      <a:endParaRPr sz="1000">
                        <a:latin typeface="Montserrat"/>
                      </a:endParaRPr>
                    </a:p>
                  </a:txBody>
                  <a:tcPr marL="3600" marR="3600" marT="3600" marB="36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FFFFFF"/>
                    </a:solidFill>
                  </a:tcPr>
                </a:tc>
                <a:tc>
                  <a:txBody>
                    <a:bodyPr/>
                    <a:lstStyle/>
                    <a:p>
                      <a:pPr algn="ctr">
                        <a:lnSpc>
                          <a:spcPct val="100000"/>
                        </a:lnSpc>
                      </a:pPr>
                      <a:r>
                        <a:rPr sz="1000" b="1">
                          <a:latin typeface="Montserrat"/>
                        </a:rPr>
                        <a:t>$68.0</a:t>
                      </a:r>
                    </a:p>
                  </a:txBody>
                  <a:tcPr marL="3600" marR="3600" marT="3600" marB="36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C955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41" name="TextBox 19">
            <a:extLst>
              <a:ext uri="{FF2B5EF4-FFF2-40B4-BE49-F238E27FC236}">
                <a16:creationId xmlns:a16="http://schemas.microsoft.com/office/drawing/2014/main" id="{497921F7-F8EA-428C-83FE-F5617431CB07}"/>
              </a:ext>
            </a:extLst>
          </p:cNvPr>
          <p:cNvSpPr txBox="1"/>
          <p:nvPr/>
        </p:nvSpPr>
        <p:spPr>
          <a:xfrm>
            <a:off x="6176144" y="849824"/>
            <a:ext cx="631904" cy="523220"/>
          </a:xfrm>
          <a:prstGeom prst="rect">
            <a:avLst/>
          </a:prstGeom>
          <a:noFill/>
        </p:spPr>
        <p:txBody>
          <a:bodyPr wrap="none">
            <a:spAutoFit/>
          </a:bodyPr>
          <a:lstStyle/>
          <a:p>
            <a:pPr algn="ctr">
              <a:defRPr sz="1400" b="1">
                <a:solidFill>
                  <a:srgbClr val="FFFFFF"/>
                </a:solidFill>
                <a:latin typeface="Montserrat"/>
              </a:defRPr>
            </a:pPr>
            <a:r>
              <a:t>7</a:t>
            </a:r>
            <a:r>
              <a:rPr lang="es-MX"/>
              <a:t>61.2</a:t>
            </a:r>
            <a:endParaRPr/>
          </a:p>
          <a:p>
            <a:pPr algn="ctr">
              <a:defRPr sz="1400" b="1">
                <a:solidFill>
                  <a:srgbClr val="FFFFFF"/>
                </a:solidFill>
                <a:latin typeface="Montserrat"/>
              </a:defRPr>
            </a:pPr>
            <a:r>
              <a:rPr err="1"/>
              <a:t>mdp</a:t>
            </a:r>
            <a:endParaRPr/>
          </a:p>
        </p:txBody>
      </p:sp>
    </p:spTree>
    <p:extLst>
      <p:ext uri="{BB962C8B-B14F-4D97-AF65-F5344CB8AC3E}">
        <p14:creationId xmlns:p14="http://schemas.microsoft.com/office/powerpoint/2010/main" val="3240565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9" name="Google Shape;394;p15">
            <a:extLst>
              <a:ext uri="{FF2B5EF4-FFF2-40B4-BE49-F238E27FC236}">
                <a16:creationId xmlns:a16="http://schemas.microsoft.com/office/drawing/2014/main" id="{5F6EC0DB-7831-F0D1-583B-6215A34D5336}"/>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9F2241"/>
                          </a:solidFill>
                          <a:latin typeface="Montserrat"/>
                          <a:ea typeface="Montserrat"/>
                          <a:cs typeface="Montserrat"/>
                          <a:sym typeface="Montserrat"/>
                        </a:rPr>
                        <a:t>Acciones 2026</a:t>
                      </a:r>
                      <a:endParaRPr sz="2100" b="1" u="none" strike="noStrike" cap="none">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18" name="Google Shape;396;p15">
            <a:extLst>
              <a:ext uri="{FF2B5EF4-FFF2-40B4-BE49-F238E27FC236}">
                <a16:creationId xmlns:a16="http://schemas.microsoft.com/office/drawing/2014/main" id="{C060BD36-37A1-581C-85DC-ECE1C2EF9D40}"/>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a:ln>
                <a:noFill/>
              </a:ln>
              <a:solidFill>
                <a:srgbClr val="9F2241"/>
              </a:solidFill>
              <a:effectLst/>
              <a:uLnTx/>
              <a:uFillTx/>
              <a:latin typeface="Arial"/>
              <a:ea typeface="Arial"/>
              <a:cs typeface="Arial"/>
              <a:sym typeface="Arial"/>
            </a:endParaRPr>
          </a:p>
        </p:txBody>
      </p:sp>
      <p:pic>
        <p:nvPicPr>
          <p:cNvPr id="20" name="Google Shape;395;p15">
            <a:extLst>
              <a:ext uri="{FF2B5EF4-FFF2-40B4-BE49-F238E27FC236}">
                <a16:creationId xmlns:a16="http://schemas.microsoft.com/office/drawing/2014/main" id="{3EF0DE8B-9CB3-EE34-4401-670A68D31F52}"/>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15617"/>
            <a:ext cx="1599000" cy="773189"/>
          </a:xfrm>
          <a:prstGeom prst="rect">
            <a:avLst/>
          </a:prstGeom>
          <a:noFill/>
          <a:ln>
            <a:noFill/>
          </a:ln>
        </p:spPr>
      </p:pic>
      <p:sp>
        <p:nvSpPr>
          <p:cNvPr id="22" name="CuadroTexto 9">
            <a:extLst>
              <a:ext uri="{FF2B5EF4-FFF2-40B4-BE49-F238E27FC236}">
                <a16:creationId xmlns:a16="http://schemas.microsoft.com/office/drawing/2014/main" id="{B14BFE6B-ED0C-F0A9-62F4-272391B25F9F}"/>
              </a:ext>
            </a:extLst>
          </p:cNvPr>
          <p:cNvSpPr txBox="1"/>
          <p:nvPr/>
        </p:nvSpPr>
        <p:spPr>
          <a:xfrm>
            <a:off x="-1041219" y="1610722"/>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A42145"/>
                </a:solidFill>
                <a:latin typeface="Montserrat"/>
                <a:ea typeface="Montserrat"/>
                <a:cs typeface="Montserrat"/>
              </a:rPr>
              <a:t>Construcción</a:t>
            </a:r>
            <a:r>
              <a:rPr lang="en-US" sz="1200" b="1" i="0" u="none" strike="noStrike" dirty="0">
                <a:solidFill>
                  <a:srgbClr val="A42145"/>
                </a:solidFill>
                <a:latin typeface="Montserrat"/>
                <a:ea typeface="Montserrat"/>
                <a:cs typeface="Montserrat"/>
              </a:rPr>
              <a:t>: </a:t>
            </a:r>
          </a:p>
        </p:txBody>
      </p:sp>
      <p:pic>
        <p:nvPicPr>
          <p:cNvPr id="24" name="Imagen 23" descr="Forma, Círculo&#10;&#10;El contenido generado por IA puede ser incorrecto.">
            <a:extLst>
              <a:ext uri="{FF2B5EF4-FFF2-40B4-BE49-F238E27FC236}">
                <a16:creationId xmlns:a16="http://schemas.microsoft.com/office/drawing/2014/main" id="{78399325-0040-2F83-C9E3-81C3EE3E523F}"/>
              </a:ext>
            </a:extLst>
          </p:cNvPr>
          <p:cNvPicPr>
            <a:picLocks noChangeAspect="1"/>
          </p:cNvPicPr>
          <p:nvPr/>
        </p:nvPicPr>
        <p:blipFill>
          <a:blip r:embed="rId5"/>
          <a:stretch>
            <a:fillRect/>
          </a:stretch>
        </p:blipFill>
        <p:spPr>
          <a:xfrm>
            <a:off x="403745" y="1922643"/>
            <a:ext cx="872667" cy="849944"/>
          </a:xfrm>
          <a:prstGeom prst="rect">
            <a:avLst/>
          </a:prstGeom>
        </p:spPr>
      </p:pic>
      <p:sp>
        <p:nvSpPr>
          <p:cNvPr id="26" name="CuadroTexto 11">
            <a:extLst>
              <a:ext uri="{FF2B5EF4-FFF2-40B4-BE49-F238E27FC236}">
                <a16:creationId xmlns:a16="http://schemas.microsoft.com/office/drawing/2014/main" id="{E2360EED-B0A4-133A-E21B-E3ABC3CF04BB}"/>
              </a:ext>
            </a:extLst>
          </p:cNvPr>
          <p:cNvSpPr txBox="1"/>
          <p:nvPr/>
        </p:nvSpPr>
        <p:spPr>
          <a:xfrm>
            <a:off x="-1098714" y="2049777"/>
            <a:ext cx="3886200" cy="523220"/>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dirty="0">
                <a:solidFill>
                  <a:srgbClr val="A42145"/>
                </a:solidFill>
                <a:latin typeface="Montserrat"/>
                <a:ea typeface="Montserrat"/>
                <a:cs typeface="Montserrat"/>
              </a:rPr>
              <a:t>1</a:t>
            </a:r>
            <a:endParaRPr lang="en-US" sz="2000" b="1" i="0" u="none" strike="noStrike" dirty="0">
              <a:solidFill>
                <a:srgbClr val="A42145"/>
              </a:solidFill>
              <a:latin typeface="Montserrat"/>
              <a:ea typeface="Montserrat"/>
              <a:cs typeface="Montserrat"/>
            </a:endParaRPr>
          </a:p>
          <a:p>
            <a:pPr algn="ctr"/>
            <a:r>
              <a:rPr lang="en-US" sz="800" b="1" dirty="0">
                <a:solidFill>
                  <a:srgbClr val="A42145"/>
                </a:solidFill>
                <a:latin typeface="Montserrat"/>
                <a:ea typeface="Montserrat"/>
                <a:cs typeface="Montserrat"/>
              </a:rPr>
              <a:t>Hospital</a:t>
            </a:r>
            <a:endParaRPr lang="en-US" sz="800" b="1" i="0" u="none" strike="noStrike" dirty="0">
              <a:solidFill>
                <a:srgbClr val="A42145"/>
              </a:solidFill>
              <a:latin typeface="Montserrat"/>
              <a:ea typeface="Montserrat"/>
              <a:cs typeface="Montserrat"/>
            </a:endParaRPr>
          </a:p>
        </p:txBody>
      </p:sp>
      <p:pic>
        <p:nvPicPr>
          <p:cNvPr id="28" name="Imagen 27" descr="Forma, Círculo&#10;&#10;El contenido generado por IA puede ser incorrecto.">
            <a:extLst>
              <a:ext uri="{FF2B5EF4-FFF2-40B4-BE49-F238E27FC236}">
                <a16:creationId xmlns:a16="http://schemas.microsoft.com/office/drawing/2014/main" id="{D7A623D2-ABE2-D303-048F-2DB389C50BC3}"/>
              </a:ext>
            </a:extLst>
          </p:cNvPr>
          <p:cNvPicPr>
            <a:picLocks noChangeAspect="1"/>
          </p:cNvPicPr>
          <p:nvPr/>
        </p:nvPicPr>
        <p:blipFill>
          <a:blip r:embed="rId5"/>
          <a:stretch>
            <a:fillRect/>
          </a:stretch>
        </p:blipFill>
        <p:spPr>
          <a:xfrm>
            <a:off x="429171" y="2828596"/>
            <a:ext cx="872667" cy="849944"/>
          </a:xfrm>
          <a:prstGeom prst="rect">
            <a:avLst/>
          </a:prstGeom>
        </p:spPr>
      </p:pic>
      <p:sp>
        <p:nvSpPr>
          <p:cNvPr id="30" name="CuadroTexto 11">
            <a:extLst>
              <a:ext uri="{FF2B5EF4-FFF2-40B4-BE49-F238E27FC236}">
                <a16:creationId xmlns:a16="http://schemas.microsoft.com/office/drawing/2014/main" id="{87A5FACB-8FFB-C71D-050A-69DE32674569}"/>
              </a:ext>
            </a:extLst>
          </p:cNvPr>
          <p:cNvSpPr txBox="1"/>
          <p:nvPr/>
        </p:nvSpPr>
        <p:spPr>
          <a:xfrm>
            <a:off x="-1073949" y="2849870"/>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A42145"/>
                </a:solidFill>
                <a:latin typeface="Montserrat"/>
                <a:ea typeface="Montserrat"/>
                <a:cs typeface="Montserrat"/>
              </a:rPr>
              <a:t>1</a:t>
            </a:r>
            <a:endParaRPr lang="en-US" sz="2000" b="1" i="0" u="none" strike="noStrike">
              <a:solidFill>
                <a:srgbClr val="A42145"/>
              </a:solidFill>
              <a:latin typeface="Montserrat"/>
              <a:ea typeface="Montserrat"/>
              <a:cs typeface="Montserrat"/>
            </a:endParaRPr>
          </a:p>
          <a:p>
            <a:pPr algn="ctr"/>
            <a:r>
              <a:rPr lang="en-US" sz="700" b="1">
                <a:solidFill>
                  <a:srgbClr val="A42145"/>
                </a:solidFill>
                <a:latin typeface="Montserrat"/>
              </a:rPr>
              <a:t>Centro de</a:t>
            </a:r>
            <a:endParaRPr lang="en-US" sz="700" b="1">
              <a:latin typeface="Montserrat"/>
            </a:endParaRPr>
          </a:p>
          <a:p>
            <a:pPr algn="ctr"/>
            <a:r>
              <a:rPr lang="en-US" sz="700" b="1" err="1">
                <a:solidFill>
                  <a:srgbClr val="A42145"/>
                </a:solidFill>
                <a:latin typeface="Montserrat"/>
              </a:rPr>
              <a:t>Biomedicina</a:t>
            </a:r>
            <a:r>
              <a:rPr lang="en-US" sz="700" b="1">
                <a:solidFill>
                  <a:srgbClr val="A42145"/>
                </a:solidFill>
                <a:latin typeface="Montserrat"/>
              </a:rPr>
              <a:t> </a:t>
            </a:r>
          </a:p>
          <a:p>
            <a:pPr algn="ctr"/>
            <a:r>
              <a:rPr lang="en-US" sz="700" b="1">
                <a:solidFill>
                  <a:srgbClr val="A42145"/>
                </a:solidFill>
                <a:latin typeface="Montserrat"/>
              </a:rPr>
              <a:t>Molecular</a:t>
            </a:r>
            <a:endParaRPr lang="en-US" sz="700" b="1">
              <a:latin typeface="Montserrat"/>
            </a:endParaRPr>
          </a:p>
        </p:txBody>
      </p:sp>
      <p:graphicFrame>
        <p:nvGraphicFramePr>
          <p:cNvPr id="32" name="Table 12">
            <a:extLst>
              <a:ext uri="{FF2B5EF4-FFF2-40B4-BE49-F238E27FC236}">
                <a16:creationId xmlns:a16="http://schemas.microsoft.com/office/drawing/2014/main" id="{BBEB1F9F-D2CD-E2C8-4AC3-5385156AE9F2}"/>
              </a:ext>
            </a:extLst>
          </p:cNvPr>
          <p:cNvGraphicFramePr>
            <a:graphicFrameLocks noGrp="1"/>
          </p:cNvGraphicFramePr>
          <p:nvPr>
            <p:extLst>
              <p:ext uri="{D42A27DB-BD31-4B8C-83A1-F6EECF244321}">
                <p14:modId xmlns:p14="http://schemas.microsoft.com/office/powerpoint/2010/main" val="507016091"/>
              </p:ext>
            </p:extLst>
          </p:nvPr>
        </p:nvGraphicFramePr>
        <p:xfrm>
          <a:off x="1785600" y="1584000"/>
          <a:ext cx="5396400" cy="1067997"/>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rPr sz="1000"/>
                        <a:t>Obras de </a:t>
                      </a:r>
                      <a:r>
                        <a:rPr sz="1000" err="1"/>
                        <a:t>Infraestructura</a:t>
                      </a:r>
                      <a:r>
                        <a:rPr sz="1000"/>
                        <a:t> 2026</a:t>
                      </a:r>
                    </a:p>
                  </a:txBody>
                  <a:tcPr marL="3600" marR="3600" marT="3600" marB="3600" anchor="ctr">
                    <a:solidFill>
                      <a:srgbClr val="9F2241"/>
                    </a:solidFill>
                  </a:tcPr>
                </a:tc>
                <a:tc>
                  <a:txBody>
                    <a:bodyPr/>
                    <a:lstStyle/>
                    <a:p>
                      <a:pPr algn="ctr">
                        <a:defRPr sz="1000" b="1">
                          <a:solidFill>
                            <a:srgbClr val="FFFFFF"/>
                          </a:solidFill>
                          <a:latin typeface="Montserrat"/>
                        </a:defRPr>
                      </a:pPr>
                      <a:r>
                        <a:rPr sz="1000"/>
                        <a:t>Monto (mdp)</a:t>
                      </a:r>
                    </a:p>
                  </a:txBody>
                  <a:tcPr marL="3600" marR="3600" marT="3600" marB="3600" anchor="ctr">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a:latin typeface="Montserrat"/>
                        </a:rPr>
                        <a:t>Hospital General Regional Guadalupe</a:t>
                      </a:r>
                    </a:p>
                  </a:txBody>
                  <a:tcPr marL="3600" marR="3600" marT="3600" marB="3600" anchor="ctr">
                    <a:solidFill>
                      <a:srgbClr val="FFFFFF"/>
                    </a:solidFill>
                  </a:tcPr>
                </a:tc>
                <a:tc>
                  <a:txBody>
                    <a:bodyPr/>
                    <a:lstStyle/>
                    <a:p>
                      <a:pPr algn="ctr">
                        <a:lnSpc>
                          <a:spcPct val="100000"/>
                        </a:lnSpc>
                      </a:pPr>
                      <a:r>
                        <a:rPr sz="1000">
                          <a:latin typeface="Montserrat"/>
                        </a:rPr>
                        <a:t>$2,941.5</a:t>
                      </a:r>
                    </a:p>
                  </a:txBody>
                  <a:tcPr marL="3600" marR="3600" marT="3600" marB="3600" anchor="ctr">
                    <a:solidFill>
                      <a:srgbClr val="FFFFFF"/>
                    </a:solidFill>
                  </a:tcPr>
                </a:tc>
                <a:extLst>
                  <a:ext uri="{0D108BD9-81ED-4DB2-BD59-A6C34878D82A}">
                    <a16:rowId xmlns:a16="http://schemas.microsoft.com/office/drawing/2014/main" val="10001"/>
                  </a:ext>
                </a:extLst>
              </a:tr>
              <a:tr h="251999">
                <a:tc>
                  <a:txBody>
                    <a:bodyPr/>
                    <a:lstStyle/>
                    <a:p>
                      <a:pPr algn="l">
                        <a:lnSpc>
                          <a:spcPct val="100000"/>
                        </a:lnSpc>
                      </a:pPr>
                      <a:r>
                        <a:rPr sz="1000" err="1">
                          <a:latin typeface="Montserrat"/>
                        </a:rPr>
                        <a:t>Construcción</a:t>
                      </a:r>
                      <a:r>
                        <a:rPr sz="1000">
                          <a:latin typeface="Montserrat"/>
                        </a:rPr>
                        <a:t> del Centro de </a:t>
                      </a:r>
                      <a:r>
                        <a:rPr sz="1000" err="1">
                          <a:latin typeface="Montserrat"/>
                        </a:rPr>
                        <a:t>Investigación</a:t>
                      </a:r>
                      <a:r>
                        <a:rPr sz="1000">
                          <a:latin typeface="Montserrat"/>
                        </a:rPr>
                        <a:t> </a:t>
                      </a:r>
                      <a:r>
                        <a:rPr sz="1000" err="1">
                          <a:latin typeface="Montserrat"/>
                        </a:rPr>
                        <a:t>en</a:t>
                      </a:r>
                      <a:r>
                        <a:rPr sz="1000">
                          <a:latin typeface="Montserrat"/>
                        </a:rPr>
                        <a:t> </a:t>
                      </a:r>
                      <a:r>
                        <a:rPr sz="1000" err="1">
                          <a:latin typeface="Montserrat"/>
                        </a:rPr>
                        <a:t>Biomedicina</a:t>
                      </a:r>
                      <a:r>
                        <a:rPr sz="1000">
                          <a:latin typeface="Montserrat"/>
                        </a:rPr>
                        <a:t> Molecular</a:t>
                      </a:r>
                    </a:p>
                  </a:txBody>
                  <a:tcPr marL="3600" marR="3600" marT="3600" marB="3600" anchor="ctr">
                    <a:solidFill>
                      <a:srgbClr val="D9D9D9"/>
                    </a:solidFill>
                  </a:tcPr>
                </a:tc>
                <a:tc>
                  <a:txBody>
                    <a:bodyPr/>
                    <a:lstStyle/>
                    <a:p>
                      <a:pPr algn="ctr">
                        <a:lnSpc>
                          <a:spcPct val="100000"/>
                        </a:lnSpc>
                      </a:pPr>
                      <a:r>
                        <a:rPr sz="1000">
                          <a:latin typeface="Montserrat"/>
                        </a:rPr>
                        <a:t>$145.0</a:t>
                      </a:r>
                    </a:p>
                  </a:txBody>
                  <a:tcPr marL="3600" marR="3600" marT="3600" marB="3600" anchor="ctr">
                    <a:solidFill>
                      <a:srgbClr val="D9D9D9"/>
                    </a:solidFill>
                  </a:tcPr>
                </a:tc>
                <a:extLst>
                  <a:ext uri="{0D108BD9-81ED-4DB2-BD59-A6C34878D82A}">
                    <a16:rowId xmlns:a16="http://schemas.microsoft.com/office/drawing/2014/main" val="10002"/>
                  </a:ext>
                </a:extLst>
              </a:tr>
              <a:tr h="251999">
                <a:tc>
                  <a:txBody>
                    <a:bodyPr/>
                    <a:lstStyle/>
                    <a:p>
                      <a:pPr algn="l">
                        <a:lnSpc>
                          <a:spcPct val="100000"/>
                        </a:lnSpc>
                        <a:defRPr sz="900" b="1">
                          <a:solidFill>
                            <a:srgbClr val="FFFFFF"/>
                          </a:solidFill>
                          <a:latin typeface="Montserrat"/>
                        </a:defRPr>
                      </a:pPr>
                      <a:r>
                        <a:rPr sz="1000"/>
                        <a:t>Subtotal</a:t>
                      </a:r>
                    </a:p>
                  </a:txBody>
                  <a:tcPr marL="3600" marR="3600" marT="3600" marB="3600" anchor="ctr">
                    <a:solidFill>
                      <a:srgbClr val="9F2241"/>
                    </a:solidFill>
                  </a:tcPr>
                </a:tc>
                <a:tc>
                  <a:txBody>
                    <a:bodyPr/>
                    <a:lstStyle/>
                    <a:p>
                      <a:pPr algn="ctr">
                        <a:lnSpc>
                          <a:spcPct val="100000"/>
                        </a:lnSpc>
                        <a:defRPr sz="900" b="1">
                          <a:solidFill>
                            <a:srgbClr val="FFFFFF"/>
                          </a:solidFill>
                          <a:latin typeface="Montserrat"/>
                        </a:defRPr>
                      </a:pPr>
                      <a:r>
                        <a:rPr sz="1000"/>
                        <a:t>$3,086.5</a:t>
                      </a:r>
                    </a:p>
                  </a:txBody>
                  <a:tcPr marL="3600" marR="3600" marT="3600" marB="3600" anchor="ctr">
                    <a:solidFill>
                      <a:srgbClr val="9F2241"/>
                    </a:solidFill>
                  </a:tcPr>
                </a:tc>
                <a:extLst>
                  <a:ext uri="{0D108BD9-81ED-4DB2-BD59-A6C34878D82A}">
                    <a16:rowId xmlns:a16="http://schemas.microsoft.com/office/drawing/2014/main" val="10003"/>
                  </a:ext>
                </a:extLst>
              </a:tr>
            </a:tbl>
          </a:graphicData>
        </a:graphic>
      </p:graphicFrame>
      <p:graphicFrame>
        <p:nvGraphicFramePr>
          <p:cNvPr id="34" name="Table 13">
            <a:extLst>
              <a:ext uri="{FF2B5EF4-FFF2-40B4-BE49-F238E27FC236}">
                <a16:creationId xmlns:a16="http://schemas.microsoft.com/office/drawing/2014/main" id="{538CDAB4-4914-0A6D-CAB4-70D4D6F6EAF9}"/>
              </a:ext>
            </a:extLst>
          </p:cNvPr>
          <p:cNvGraphicFramePr>
            <a:graphicFrameLocks noGrp="1"/>
          </p:cNvGraphicFramePr>
          <p:nvPr>
            <p:extLst>
              <p:ext uri="{D42A27DB-BD31-4B8C-83A1-F6EECF244321}">
                <p14:modId xmlns:p14="http://schemas.microsoft.com/office/powerpoint/2010/main" val="1839626980"/>
              </p:ext>
            </p:extLst>
          </p:nvPr>
        </p:nvGraphicFramePr>
        <p:xfrm>
          <a:off x="1785600" y="2771996"/>
          <a:ext cx="5396400" cy="503998"/>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rPr sz="1000"/>
                        <a:t>Obras de </a:t>
                      </a:r>
                      <a:r>
                        <a:rPr sz="1000" err="1"/>
                        <a:t>Conservación</a:t>
                      </a:r>
                      <a:r>
                        <a:rPr sz="1000"/>
                        <a:t> 2026</a:t>
                      </a:r>
                    </a:p>
                  </a:txBody>
                  <a:tcPr marL="3600" marR="3600" marT="3600" marB="3600" anchor="ctr">
                    <a:lnB w="12700" cap="flat" cmpd="sng" algn="ctr">
                      <a:noFill/>
                      <a:prstDash val="solid"/>
                      <a:round/>
                      <a:headEnd type="none" w="med" len="med"/>
                      <a:tailEnd type="none" w="med" len="med"/>
                    </a:lnB>
                    <a:solidFill>
                      <a:srgbClr val="9F2241"/>
                    </a:solidFill>
                  </a:tcPr>
                </a:tc>
                <a:tc>
                  <a:txBody>
                    <a:bodyPr/>
                    <a:lstStyle/>
                    <a:p>
                      <a:pPr algn="ctr">
                        <a:defRPr sz="1000" b="1">
                          <a:solidFill>
                            <a:srgbClr val="FFFFFF"/>
                          </a:solidFill>
                          <a:latin typeface="Montserrat"/>
                        </a:defRPr>
                      </a:pPr>
                      <a:r>
                        <a:rPr sz="1000"/>
                        <a:t>Monto (mdp)</a:t>
                      </a:r>
                    </a:p>
                  </a:txBody>
                  <a:tcPr marL="3600" marR="3600" marT="3600" marB="3600" anchor="ctr">
                    <a:lnB w="12700" cap="flat" cmpd="sng" algn="ctr">
                      <a:noFill/>
                      <a:prstDash val="solid"/>
                      <a:round/>
                      <a:headEnd type="none" w="med" len="med"/>
                      <a:tailEnd type="none" w="med" len="med"/>
                    </a:lnB>
                    <a:solidFill>
                      <a:srgbClr val="9F2241"/>
                    </a:solidFill>
                  </a:tcPr>
                </a:tc>
                <a:extLst>
                  <a:ext uri="{0D108BD9-81ED-4DB2-BD59-A6C34878D82A}">
                    <a16:rowId xmlns:a16="http://schemas.microsoft.com/office/drawing/2014/main" val="10000"/>
                  </a:ext>
                </a:extLst>
              </a:tr>
              <a:tr h="251999">
                <a:tc>
                  <a:txBody>
                    <a:bodyPr/>
                    <a:lstStyle/>
                    <a:p>
                      <a:pPr algn="l">
                        <a:lnSpc>
                          <a:spcPct val="100000"/>
                        </a:lnSpc>
                      </a:pPr>
                      <a:r>
                        <a:rPr sz="1000" err="1">
                          <a:latin typeface="Montserrat"/>
                        </a:rPr>
                        <a:t>Mantenimiento</a:t>
                      </a:r>
                      <a:r>
                        <a:rPr sz="1000">
                          <a:latin typeface="Montserrat"/>
                        </a:rPr>
                        <a:t> de </a:t>
                      </a:r>
                      <a:r>
                        <a:rPr sz="1000" err="1">
                          <a:latin typeface="Montserrat"/>
                        </a:rPr>
                        <a:t>infraestructura</a:t>
                      </a:r>
                      <a:r>
                        <a:rPr sz="1000">
                          <a:latin typeface="Montserrat"/>
                        </a:rPr>
                        <a:t> (PAO 2026)</a:t>
                      </a:r>
                    </a:p>
                  </a:txBody>
                  <a:tcPr marL="3600" marR="3600" marT="3600" marB="36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solidFill>
                      <a:srgbClr val="FFFFFF"/>
                    </a:solidFill>
                  </a:tcPr>
                </a:tc>
                <a:tc>
                  <a:txBody>
                    <a:bodyPr/>
                    <a:lstStyle/>
                    <a:p>
                      <a:pPr algn="ctr">
                        <a:lnSpc>
                          <a:spcPct val="100000"/>
                        </a:lnSpc>
                      </a:pPr>
                      <a:r>
                        <a:rPr sz="1000" b="1">
                          <a:latin typeface="Montserrat"/>
                        </a:rPr>
                        <a:t>$118.7</a:t>
                      </a:r>
                    </a:p>
                  </a:txBody>
                  <a:tcPr marL="3600" marR="3600" marT="3600" marB="36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graphicFrame>
        <p:nvGraphicFramePr>
          <p:cNvPr id="36" name="Table 14">
            <a:extLst>
              <a:ext uri="{FF2B5EF4-FFF2-40B4-BE49-F238E27FC236}">
                <a16:creationId xmlns:a16="http://schemas.microsoft.com/office/drawing/2014/main" id="{7336F7D9-63CD-FED1-EBFA-6B6AFAAEADD6}"/>
              </a:ext>
            </a:extLst>
          </p:cNvPr>
          <p:cNvGraphicFramePr>
            <a:graphicFrameLocks noGrp="1"/>
          </p:cNvGraphicFramePr>
          <p:nvPr>
            <p:extLst>
              <p:ext uri="{D42A27DB-BD31-4B8C-83A1-F6EECF244321}">
                <p14:modId xmlns:p14="http://schemas.microsoft.com/office/powerpoint/2010/main" val="257062986"/>
              </p:ext>
            </p:extLst>
          </p:nvPr>
        </p:nvGraphicFramePr>
        <p:xfrm>
          <a:off x="1793400" y="3393189"/>
          <a:ext cx="5396400" cy="740738"/>
        </p:xfrm>
        <a:graphic>
          <a:graphicData uri="http://schemas.openxmlformats.org/drawingml/2006/table">
            <a:tbl>
              <a:tblPr firstRow="1" bandRow="1">
                <a:tableStyleId>{5C22544A-7EE6-4342-B048-85BDC9FD1C3A}</a:tableStyleId>
              </a:tblPr>
              <a:tblGrid>
                <a:gridCol w="4255200">
                  <a:extLst>
                    <a:ext uri="{9D8B030D-6E8A-4147-A177-3AD203B41FA5}">
                      <a16:colId xmlns:a16="http://schemas.microsoft.com/office/drawing/2014/main" val="20000"/>
                    </a:ext>
                  </a:extLst>
                </a:gridCol>
                <a:gridCol w="1141200">
                  <a:extLst>
                    <a:ext uri="{9D8B030D-6E8A-4147-A177-3AD203B41FA5}">
                      <a16:colId xmlns:a16="http://schemas.microsoft.com/office/drawing/2014/main" val="20001"/>
                    </a:ext>
                  </a:extLst>
                </a:gridCol>
              </a:tblGrid>
              <a:tr h="256476">
                <a:tc>
                  <a:txBody>
                    <a:bodyPr/>
                    <a:lstStyle/>
                    <a:p>
                      <a:pPr algn="ctr">
                        <a:defRPr sz="1000" b="1">
                          <a:solidFill>
                            <a:srgbClr val="FFFFFF"/>
                          </a:solidFill>
                          <a:latin typeface="Montserrat"/>
                        </a:defRPr>
                      </a:pPr>
                      <a:r>
                        <a:t>Equip</a:t>
                      </a:r>
                      <a:r>
                        <a:rPr lang="es-MX"/>
                        <a:t>o</a:t>
                      </a:r>
                      <a:r>
                        <a:t> </a:t>
                      </a:r>
                      <a:r>
                        <a:rPr err="1"/>
                        <a:t>Electromecánico</a:t>
                      </a:r>
                      <a:r>
                        <a:t> 2026</a:t>
                      </a:r>
                    </a:p>
                  </a:txBody>
                  <a:tcPr marL="3600" marR="3600" marT="3600" marB="3600" anchor="ctr">
                    <a:lnB w="12700" cap="flat" cmpd="sng" algn="ctr">
                      <a:noFill/>
                      <a:prstDash val="solid"/>
                      <a:round/>
                      <a:headEnd type="none" w="med" len="med"/>
                      <a:tailEnd type="none" w="med" len="med"/>
                    </a:lnB>
                    <a:solidFill>
                      <a:srgbClr val="9F2241"/>
                    </a:solidFill>
                  </a:tcPr>
                </a:tc>
                <a:tc>
                  <a:txBody>
                    <a:bodyPr/>
                    <a:lstStyle/>
                    <a:p>
                      <a:pPr algn="ctr">
                        <a:defRPr sz="1000" b="1">
                          <a:solidFill>
                            <a:srgbClr val="FFFFFF"/>
                          </a:solidFill>
                          <a:latin typeface="Montserrat"/>
                        </a:defRPr>
                      </a:pPr>
                      <a:r>
                        <a:t>Monto (mdp)</a:t>
                      </a:r>
                    </a:p>
                  </a:txBody>
                  <a:tcPr marL="3600" marR="3600" marT="3600" marB="3600" anchor="ctr">
                    <a:lnB w="12700" cap="flat" cmpd="sng" algn="ctr">
                      <a:noFill/>
                      <a:prstDash val="solid"/>
                      <a:round/>
                      <a:headEnd type="none" w="med" len="med"/>
                      <a:tailEnd type="none" w="med" len="med"/>
                    </a:lnB>
                    <a:solidFill>
                      <a:srgbClr val="9F2241"/>
                    </a:solidFill>
                  </a:tcPr>
                </a:tc>
                <a:extLst>
                  <a:ext uri="{0D108BD9-81ED-4DB2-BD59-A6C34878D82A}">
                    <a16:rowId xmlns:a16="http://schemas.microsoft.com/office/drawing/2014/main" val="10000"/>
                  </a:ext>
                </a:extLst>
              </a:tr>
              <a:tr h="484262">
                <a:tc>
                  <a:txBody>
                    <a:bodyPr/>
                    <a:lstStyle/>
                    <a:p>
                      <a:pPr algn="l">
                        <a:lnSpc>
                          <a:spcPct val="100000"/>
                        </a:lnSpc>
                      </a:pPr>
                      <a:r>
                        <a:rPr sz="1000">
                          <a:latin typeface="Montserrat"/>
                        </a:rPr>
                        <a:t>13 </a:t>
                      </a:r>
                      <a:r>
                        <a:rPr sz="1000" err="1">
                          <a:latin typeface="Montserrat"/>
                        </a:rPr>
                        <a:t>Equipos</a:t>
                      </a:r>
                      <a:r>
                        <a:rPr sz="1000">
                          <a:latin typeface="Montserrat"/>
                        </a:rPr>
                        <a:t> </a:t>
                      </a:r>
                      <a:r>
                        <a:rPr sz="1000" err="1">
                          <a:latin typeface="Montserrat"/>
                        </a:rPr>
                        <a:t>electromecánicos</a:t>
                      </a:r>
                      <a:r>
                        <a:rPr sz="1000">
                          <a:latin typeface="Montserrat"/>
                        </a:rPr>
                        <a:t> para 2 </a:t>
                      </a:r>
                      <a:r>
                        <a:rPr sz="1000" err="1">
                          <a:latin typeface="Montserrat"/>
                        </a:rPr>
                        <a:t>unidades</a:t>
                      </a:r>
                      <a:r>
                        <a:rPr sz="1000">
                          <a:latin typeface="Montserrat"/>
                        </a:rPr>
                        <a:t> </a:t>
                      </a:r>
                      <a:r>
                        <a:rPr sz="1000" err="1">
                          <a:latin typeface="Montserrat"/>
                        </a:rPr>
                        <a:t>Médicas</a:t>
                      </a:r>
                      <a:r>
                        <a:rPr sz="1000">
                          <a:latin typeface="Montserrat"/>
                        </a:rPr>
                        <a:t>; 1 </a:t>
                      </a:r>
                      <a:r>
                        <a:rPr sz="1000" err="1">
                          <a:latin typeface="Montserrat"/>
                        </a:rPr>
                        <a:t>elevador</a:t>
                      </a:r>
                      <a:r>
                        <a:rPr sz="1000">
                          <a:latin typeface="Montserrat"/>
                        </a:rPr>
                        <a:t>, 6 </a:t>
                      </a:r>
                      <a:r>
                        <a:rPr sz="1000" err="1">
                          <a:latin typeface="Montserrat"/>
                        </a:rPr>
                        <a:t>equipos</a:t>
                      </a:r>
                      <a:r>
                        <a:rPr sz="1000">
                          <a:latin typeface="Montserrat"/>
                        </a:rPr>
                        <a:t> para casa de </a:t>
                      </a:r>
                      <a:r>
                        <a:rPr sz="1000" err="1">
                          <a:latin typeface="Montserrat"/>
                        </a:rPr>
                        <a:t>máquinas</a:t>
                      </a:r>
                      <a:r>
                        <a:rPr sz="1000">
                          <a:latin typeface="Montserrat"/>
                        </a:rPr>
                        <a:t>, 3 </a:t>
                      </a:r>
                      <a:r>
                        <a:rPr sz="1000" err="1">
                          <a:latin typeface="Montserrat"/>
                        </a:rPr>
                        <a:t>lavadoras</a:t>
                      </a:r>
                      <a:r>
                        <a:rPr sz="1000">
                          <a:latin typeface="Montserrat"/>
                        </a:rPr>
                        <a:t> y 3 </a:t>
                      </a:r>
                      <a:r>
                        <a:rPr sz="1000" err="1">
                          <a:latin typeface="Montserrat"/>
                        </a:rPr>
                        <a:t>secadoras</a:t>
                      </a:r>
                      <a:r>
                        <a:rPr sz="1000">
                          <a:latin typeface="Montserrat"/>
                        </a:rPr>
                        <a:t>. Zacatecas</a:t>
                      </a:r>
                    </a:p>
                  </a:txBody>
                  <a:tcPr marL="3600" marR="3600" marT="3600" marB="3600" anchor="ctr">
                    <a:lnL w="12700" cap="flat" cmpd="sng" algn="ctr">
                      <a:noFill/>
                      <a:prstDash val="solid"/>
                      <a:round/>
                      <a:headEnd type="none" w="med" len="med"/>
                      <a:tailEnd type="none" w="med" len="med"/>
                    </a:lnL>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solidFill>
                      <a:srgbClr val="FFFFFF"/>
                    </a:solidFill>
                  </a:tcPr>
                </a:tc>
                <a:tc>
                  <a:txBody>
                    <a:bodyPr/>
                    <a:lstStyle/>
                    <a:p>
                      <a:pPr algn="ctr">
                        <a:lnSpc>
                          <a:spcPct val="100000"/>
                        </a:lnSpc>
                      </a:pPr>
                      <a:r>
                        <a:rPr sz="1000" b="1">
                          <a:latin typeface="Montserrat"/>
                        </a:rPr>
                        <a:t>$64.8</a:t>
                      </a:r>
                    </a:p>
                  </a:txBody>
                  <a:tcPr marL="3600" marR="3600" marT="3600" marB="3600" anchor="ctr">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38" name="TextBox 15">
            <a:extLst>
              <a:ext uri="{FF2B5EF4-FFF2-40B4-BE49-F238E27FC236}">
                <a16:creationId xmlns:a16="http://schemas.microsoft.com/office/drawing/2014/main" id="{3AFAD683-B9E2-85D7-8634-E401C9679A61}"/>
              </a:ext>
            </a:extLst>
          </p:cNvPr>
          <p:cNvSpPr txBox="1"/>
          <p:nvPr/>
        </p:nvSpPr>
        <p:spPr>
          <a:xfrm>
            <a:off x="6097407" y="878400"/>
            <a:ext cx="675185" cy="523220"/>
          </a:xfrm>
          <a:prstGeom prst="rect">
            <a:avLst/>
          </a:prstGeom>
          <a:noFill/>
        </p:spPr>
        <p:txBody>
          <a:bodyPr wrap="none">
            <a:spAutoFit/>
          </a:bodyPr>
          <a:lstStyle/>
          <a:p>
            <a:pPr algn="ctr">
              <a:defRPr sz="1400" b="1">
                <a:solidFill>
                  <a:srgbClr val="FFFFFF"/>
                </a:solidFill>
                <a:latin typeface="Montserrat"/>
              </a:defRPr>
            </a:pPr>
            <a:r>
              <a:t>3,</a:t>
            </a:r>
            <a:r>
              <a:rPr lang="es-MX"/>
              <a:t>270</a:t>
            </a:r>
            <a:endParaRPr/>
          </a:p>
          <a:p>
            <a:pPr algn="ctr">
              <a:defRPr sz="1400" b="1">
                <a:solidFill>
                  <a:srgbClr val="FFFFFF"/>
                </a:solidFill>
                <a:latin typeface="Montserrat"/>
              </a:defRPr>
            </a:pPr>
            <a:r>
              <a:rPr err="1"/>
              <a:t>mdp</a:t>
            </a:r>
            <a:endParaRPr/>
          </a:p>
        </p:txBody>
      </p:sp>
      <p:graphicFrame>
        <p:nvGraphicFramePr>
          <p:cNvPr id="40" name="Google Shape;394;p15">
            <a:extLst>
              <a:ext uri="{FF2B5EF4-FFF2-40B4-BE49-F238E27FC236}">
                <a16:creationId xmlns:a16="http://schemas.microsoft.com/office/drawing/2014/main" id="{2489E18C-3438-D0B1-49F4-3C4D37895011}"/>
              </a:ext>
            </a:extLst>
          </p:cNvPr>
          <p:cNvGraphicFramePr/>
          <p:nvPr>
            <p:extLst>
              <p:ext uri="{D42A27DB-BD31-4B8C-83A1-F6EECF244321}">
                <p14:modId xmlns:p14="http://schemas.microsoft.com/office/powerpoint/2010/main" val="2947029664"/>
              </p:ext>
            </p:extLst>
          </p:nvPr>
        </p:nvGraphicFramePr>
        <p:xfrm>
          <a:off x="305456" y="438103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9F2241"/>
                          </a:solidFill>
                          <a:latin typeface="Montserrat"/>
                          <a:ea typeface="Montserrat"/>
                          <a:cs typeface="Montserrat"/>
                          <a:sym typeface="Montserrat"/>
                        </a:rPr>
                        <a:t>Acciones en planeación</a:t>
                      </a:r>
                      <a:endParaRPr sz="2100" b="1" u="none" strike="noStrike" cap="none">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2" name="Table 19">
            <a:extLst>
              <a:ext uri="{FF2B5EF4-FFF2-40B4-BE49-F238E27FC236}">
                <a16:creationId xmlns:a16="http://schemas.microsoft.com/office/drawing/2014/main" id="{702ECBE6-918F-D3BB-2067-63A8EF1AFA04}"/>
              </a:ext>
            </a:extLst>
          </p:cNvPr>
          <p:cNvGraphicFramePr>
            <a:graphicFrameLocks noGrp="1"/>
          </p:cNvGraphicFramePr>
          <p:nvPr>
            <p:extLst>
              <p:ext uri="{D42A27DB-BD31-4B8C-83A1-F6EECF244321}">
                <p14:modId xmlns:p14="http://schemas.microsoft.com/office/powerpoint/2010/main" val="3330723132"/>
              </p:ext>
            </p:extLst>
          </p:nvPr>
        </p:nvGraphicFramePr>
        <p:xfrm>
          <a:off x="708956" y="4849364"/>
          <a:ext cx="6390000" cy="755997"/>
        </p:xfrm>
        <a:graphic>
          <a:graphicData uri="http://schemas.openxmlformats.org/drawingml/2006/table">
            <a:tbl>
              <a:tblPr firstRow="1" bandRow="1">
                <a:tableStyleId>{5C22544A-7EE6-4342-B048-85BDC9FD1C3A}</a:tableStyleId>
              </a:tblPr>
              <a:tblGrid>
                <a:gridCol w="5040000">
                  <a:extLst>
                    <a:ext uri="{9D8B030D-6E8A-4147-A177-3AD203B41FA5}">
                      <a16:colId xmlns:a16="http://schemas.microsoft.com/office/drawing/2014/main" val="20000"/>
                    </a:ext>
                  </a:extLst>
                </a:gridCol>
                <a:gridCol w="1350000">
                  <a:extLst>
                    <a:ext uri="{9D8B030D-6E8A-4147-A177-3AD203B41FA5}">
                      <a16:colId xmlns:a16="http://schemas.microsoft.com/office/drawing/2014/main" val="20001"/>
                    </a:ext>
                  </a:extLst>
                </a:gridCol>
              </a:tblGrid>
              <a:tr h="251999">
                <a:tc>
                  <a:txBody>
                    <a:bodyPr/>
                    <a:lstStyle/>
                    <a:p>
                      <a:pPr algn="ctr">
                        <a:defRPr sz="1000" b="1">
                          <a:solidFill>
                            <a:srgbClr val="FFFFFF"/>
                          </a:solidFill>
                          <a:latin typeface="Montserrat"/>
                        </a:defRPr>
                      </a:pPr>
                      <a:r>
                        <a:t>Obras de Infraestructura</a:t>
                      </a:r>
                    </a:p>
                  </a:txBody>
                  <a:tcPr>
                    <a:solidFill>
                      <a:srgbClr val="9F2241"/>
                    </a:solidFill>
                  </a:tcPr>
                </a:tc>
                <a:tc>
                  <a:txBody>
                    <a:bodyPr/>
                    <a:lstStyle/>
                    <a:p>
                      <a:pPr algn="ctr">
                        <a:defRPr sz="1000" b="1">
                          <a:solidFill>
                            <a:srgbClr val="FFFFFF"/>
                          </a:solidFill>
                          <a:latin typeface="Montserrat"/>
                        </a:defRPr>
                      </a:pPr>
                      <a:r>
                        <a:t>Monto (mdp)</a:t>
                      </a:r>
                    </a:p>
                  </a:txBody>
                  <a:tcPr>
                    <a:solidFill>
                      <a:srgbClr val="9F2241"/>
                    </a:solidFill>
                  </a:tcPr>
                </a:tc>
                <a:extLst>
                  <a:ext uri="{0D108BD9-81ED-4DB2-BD59-A6C34878D82A}">
                    <a16:rowId xmlns:a16="http://schemas.microsoft.com/office/drawing/2014/main" val="10000"/>
                  </a:ext>
                </a:extLst>
              </a:tr>
              <a:tr h="251999">
                <a:tc>
                  <a:txBody>
                    <a:bodyPr/>
                    <a:lstStyle/>
                    <a:p>
                      <a:pPr algn="l">
                        <a:defRPr sz="1000">
                          <a:latin typeface="Montserrat"/>
                        </a:defRPr>
                      </a:pPr>
                      <a:r>
                        <a:rPr lang="es-MX"/>
                        <a:t>Fortalecimiento del </a:t>
                      </a:r>
                      <a:r>
                        <a:t>Hospital Rural </a:t>
                      </a:r>
                      <a:r>
                        <a:rPr lang="es-MX"/>
                        <a:t>de </a:t>
                      </a:r>
                      <a:r>
                        <a:t>Fresnillo</a:t>
                      </a:r>
                    </a:p>
                  </a:txBody>
                  <a:tcPr>
                    <a:lnB w="12700" cap="flat" cmpd="sng" algn="ctr">
                      <a:noFill/>
                      <a:prstDash val="solid"/>
                      <a:round/>
                      <a:headEnd type="none" w="med" len="med"/>
                      <a:tailEnd type="none" w="med" len="med"/>
                    </a:lnB>
                    <a:solidFill>
                      <a:srgbClr val="FFFFFF"/>
                    </a:solidFill>
                  </a:tcPr>
                </a:tc>
                <a:tc>
                  <a:txBody>
                    <a:bodyPr/>
                    <a:lstStyle/>
                    <a:p>
                      <a:pPr algn="ctr">
                        <a:defRPr sz="1000">
                          <a:latin typeface="Montserrat"/>
                        </a:defRPr>
                      </a:pPr>
                      <a:r>
                        <a:t>$40.0</a:t>
                      </a:r>
                    </a:p>
                  </a:txBody>
                  <a:tcPr>
                    <a:lnB w="12700" cap="flat" cmpd="sng" algn="ctr">
                      <a:no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1999">
                <a:tc>
                  <a:txBody>
                    <a:bodyPr/>
                    <a:lstStyle/>
                    <a:p>
                      <a:pPr algn="l">
                        <a:lnSpc>
                          <a:spcPct val="100000"/>
                        </a:lnSpc>
                      </a:pPr>
                      <a:r>
                        <a:rPr lang="es-MX" sz="1000">
                          <a:latin typeface="Montserrat"/>
                        </a:rPr>
                        <a:t>  </a:t>
                      </a:r>
                      <a:r>
                        <a:rPr sz="1000" err="1">
                          <a:latin typeface="Montserrat"/>
                        </a:rPr>
                        <a:t>Fortalecimiento</a:t>
                      </a:r>
                      <a:r>
                        <a:rPr sz="1000">
                          <a:latin typeface="Montserrat"/>
                        </a:rPr>
                        <a:t> de UCIN </a:t>
                      </a:r>
                      <a:r>
                        <a:rPr sz="1000" err="1">
                          <a:latin typeface="Montserrat"/>
                        </a:rPr>
                        <a:t>en</a:t>
                      </a:r>
                      <a:r>
                        <a:rPr sz="1000">
                          <a:latin typeface="Montserrat"/>
                        </a:rPr>
                        <a:t> HGZ 1 Zacatecas</a:t>
                      </a:r>
                    </a:p>
                  </a:txBody>
                  <a:tcPr marL="3600" marR="3600" marT="3600" marB="36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solidFill>
                      <a:schemeClr val="tx2">
                        <a:lumMod val="90000"/>
                      </a:schemeClr>
                    </a:solidFill>
                  </a:tcPr>
                </a:tc>
                <a:tc>
                  <a:txBody>
                    <a:bodyPr/>
                    <a:lstStyle/>
                    <a:p>
                      <a:pPr algn="ctr">
                        <a:lnSpc>
                          <a:spcPct val="100000"/>
                        </a:lnSpc>
                      </a:pPr>
                      <a:r>
                        <a:rPr lang="es-MX" sz="1000" dirty="0">
                          <a:latin typeface="Montserrat"/>
                        </a:rPr>
                        <a:t>$39.5</a:t>
                      </a:r>
                    </a:p>
                  </a:txBody>
                  <a:tcPr marL="3600" marR="3600" marT="3600" marB="36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9F224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3490813938"/>
                  </a:ext>
                </a:extLst>
              </a:tr>
            </a:tbl>
          </a:graphicData>
        </a:graphic>
      </p:graphicFrame>
      <p:pic>
        <p:nvPicPr>
          <p:cNvPr id="44" name="Google Shape;551;g3d0ffe769cd_0_0">
            <a:extLst>
              <a:ext uri="{FF2B5EF4-FFF2-40B4-BE49-F238E27FC236}">
                <a16:creationId xmlns:a16="http://schemas.microsoft.com/office/drawing/2014/main" id="{4672E1E1-B576-5F1A-0CBF-AE1DCE207AFE}"/>
              </a:ext>
            </a:extLst>
          </p:cNvPr>
          <p:cNvPicPr preferRelativeResize="0"/>
          <p:nvPr/>
        </p:nvPicPr>
        <p:blipFill rotWithShape="1">
          <a:blip r:embed="rId6">
            <a:alphaModFix/>
          </a:blip>
          <a:srcRect l="382" t="14684" r="1598" b="17771"/>
          <a:stretch/>
        </p:blipFill>
        <p:spPr>
          <a:xfrm>
            <a:off x="230902" y="6369803"/>
            <a:ext cx="7368300" cy="2862900"/>
          </a:xfrm>
          <a:prstGeom prst="rect">
            <a:avLst/>
          </a:prstGeom>
          <a:noFill/>
          <a:ln>
            <a:noFill/>
          </a:ln>
        </p:spPr>
      </p:pic>
      <p:graphicFrame>
        <p:nvGraphicFramePr>
          <p:cNvPr id="46" name="Google Shape;559;g3d0ffe769cd_0_0">
            <a:extLst>
              <a:ext uri="{FF2B5EF4-FFF2-40B4-BE49-F238E27FC236}">
                <a16:creationId xmlns:a16="http://schemas.microsoft.com/office/drawing/2014/main" id="{7BFD252D-779A-6C0E-9605-B43E94B79306}"/>
              </a:ext>
            </a:extLst>
          </p:cNvPr>
          <p:cNvGraphicFramePr/>
          <p:nvPr>
            <p:extLst>
              <p:ext uri="{D42A27DB-BD31-4B8C-83A1-F6EECF244321}">
                <p14:modId xmlns:p14="http://schemas.microsoft.com/office/powerpoint/2010/main" val="13299773"/>
              </p:ext>
            </p:extLst>
          </p:nvPr>
        </p:nvGraphicFramePr>
        <p:xfrm>
          <a:off x="147600" y="5856512"/>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8" name="Google Shape;552;g3d0ffe769cd_0_0">
            <a:extLst>
              <a:ext uri="{FF2B5EF4-FFF2-40B4-BE49-F238E27FC236}">
                <a16:creationId xmlns:a16="http://schemas.microsoft.com/office/drawing/2014/main" id="{86812AFB-664A-617F-F7E3-A471E68A17CA}"/>
              </a:ext>
            </a:extLst>
          </p:cNvPr>
          <p:cNvSpPr/>
          <p:nvPr/>
        </p:nvSpPr>
        <p:spPr>
          <a:xfrm>
            <a:off x="234692" y="6391917"/>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50" name="Google Shape;556;g3d0ffe769cd_0_0">
            <a:extLst>
              <a:ext uri="{FF2B5EF4-FFF2-40B4-BE49-F238E27FC236}">
                <a16:creationId xmlns:a16="http://schemas.microsoft.com/office/drawing/2014/main" id="{03EDD222-526B-E4C9-5334-4750B989D815}"/>
              </a:ext>
            </a:extLst>
          </p:cNvPr>
          <p:cNvSpPr/>
          <p:nvPr/>
        </p:nvSpPr>
        <p:spPr>
          <a:xfrm>
            <a:off x="852084" y="6532214"/>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52" name="Google Shape;553;g3d0ffe769cd_0_0">
            <a:extLst>
              <a:ext uri="{FF2B5EF4-FFF2-40B4-BE49-F238E27FC236}">
                <a16:creationId xmlns:a16="http://schemas.microsoft.com/office/drawing/2014/main" id="{CCFC286F-EDD9-BC64-A79C-B314E3D35791}"/>
              </a:ext>
            </a:extLst>
          </p:cNvPr>
          <p:cNvSpPr/>
          <p:nvPr/>
        </p:nvSpPr>
        <p:spPr>
          <a:xfrm>
            <a:off x="290798" y="7298861"/>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54" name="Google Shape;554;g3d0ffe769cd_0_0">
            <a:extLst>
              <a:ext uri="{FF2B5EF4-FFF2-40B4-BE49-F238E27FC236}">
                <a16:creationId xmlns:a16="http://schemas.microsoft.com/office/drawing/2014/main" id="{6A01AC7A-D126-22C9-3C25-7B63A87FE7E5}"/>
              </a:ext>
            </a:extLst>
          </p:cNvPr>
          <p:cNvSpPr txBox="1"/>
          <p:nvPr/>
        </p:nvSpPr>
        <p:spPr>
          <a:xfrm>
            <a:off x="276701" y="7889848"/>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56" name="Google Shape;562;g3d0ffe769cd_0_0">
            <a:extLst>
              <a:ext uri="{FF2B5EF4-FFF2-40B4-BE49-F238E27FC236}">
                <a16:creationId xmlns:a16="http://schemas.microsoft.com/office/drawing/2014/main" id="{E34F531C-5D9D-2302-A5EA-5EEAA5710159}"/>
              </a:ext>
            </a:extLst>
          </p:cNvPr>
          <p:cNvSpPr txBox="1"/>
          <p:nvPr/>
        </p:nvSpPr>
        <p:spPr>
          <a:xfrm rot="16200000">
            <a:off x="1905685" y="7663811"/>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graphicFrame>
        <p:nvGraphicFramePr>
          <p:cNvPr id="58" name="Table 21">
            <a:extLst>
              <a:ext uri="{FF2B5EF4-FFF2-40B4-BE49-F238E27FC236}">
                <a16:creationId xmlns:a16="http://schemas.microsoft.com/office/drawing/2014/main" id="{F28C06A2-9D46-00BC-F710-33DB231B53C6}"/>
              </a:ext>
            </a:extLst>
          </p:cNvPr>
          <p:cNvGraphicFramePr>
            <a:graphicFrameLocks noGrp="1"/>
          </p:cNvGraphicFramePr>
          <p:nvPr>
            <p:extLst>
              <p:ext uri="{D42A27DB-BD31-4B8C-83A1-F6EECF244321}">
                <p14:modId xmlns:p14="http://schemas.microsoft.com/office/powerpoint/2010/main" val="1670674099"/>
              </p:ext>
            </p:extLst>
          </p:nvPr>
        </p:nvGraphicFramePr>
        <p:xfrm>
          <a:off x="2475845" y="6491004"/>
          <a:ext cx="4928400" cy="1861200"/>
        </p:xfrm>
        <a:graphic>
          <a:graphicData uri="http://schemas.openxmlformats.org/drawingml/2006/table">
            <a:tbl>
              <a:tblPr firstRow="1" bandRow="1">
                <a:tableStyleId>{5C22544A-7EE6-4342-B048-85BDC9FD1C3A}</a:tableStyleId>
              </a:tblPr>
              <a:tblGrid>
                <a:gridCol w="471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628000">
                  <a:extLst>
                    <a:ext uri="{9D8B030D-6E8A-4147-A177-3AD203B41FA5}">
                      <a16:colId xmlns:a16="http://schemas.microsoft.com/office/drawing/2014/main" val="20002"/>
                    </a:ext>
                  </a:extLst>
                </a:gridCol>
              </a:tblGrid>
              <a:tr h="465300">
                <a:tc gridSpan="3">
                  <a:txBody>
                    <a:bodyPr/>
                    <a:lstStyle/>
                    <a:p>
                      <a:pPr algn="ctr">
                        <a:defRPr sz="1400" b="1">
                          <a:solidFill>
                            <a:srgbClr val="FFFFFF"/>
                          </a:solidFill>
                          <a:latin typeface="Montserrat"/>
                        </a:defRPr>
                      </a:pPr>
                      <a:r>
                        <a:rPr dirty="0"/>
                        <a:t>4 </a:t>
                      </a:r>
                      <a:r>
                        <a:rPr dirty="0" err="1"/>
                        <a:t>Predios</a:t>
                      </a:r>
                      <a:r>
                        <a:rPr dirty="0"/>
                        <a:t> </a:t>
                      </a:r>
                      <a:r>
                        <a:rPr dirty="0" err="1"/>
                        <a:t>en</a:t>
                      </a:r>
                      <a:r>
                        <a:rPr dirty="0"/>
                        <a:t> </a:t>
                      </a:r>
                      <a:r>
                        <a:rPr dirty="0" err="1"/>
                        <a:t>ruta</a:t>
                      </a:r>
                      <a:r>
                        <a:rPr dirty="0"/>
                        <a:t> 2026</a:t>
                      </a:r>
                    </a:p>
                  </a:txBody>
                  <a:tcPr marL="72000" marR="72000" anchor="ctr">
                    <a:solidFill>
                      <a:srgbClr val="705085"/>
                    </a:solidFill>
                  </a:tcPr>
                </a:tc>
                <a:tc hMerge="1">
                  <a:txBody>
                    <a:bodyPr/>
                    <a:lstStyle/>
                    <a:p>
                      <a:endParaRPr/>
                    </a:p>
                  </a:txBody>
                  <a:tcPr marL="72000" marR="72000" anchor="ctr"/>
                </a:tc>
                <a:tc hMerge="1">
                  <a:txBody>
                    <a:bodyPr/>
                    <a:lstStyle/>
                    <a:p>
                      <a:endParaRPr/>
                    </a:p>
                  </a:txBody>
                  <a:tcPr marL="72000" marR="72000" anchor="ctr"/>
                </a:tc>
                <a:extLst>
                  <a:ext uri="{0D108BD9-81ED-4DB2-BD59-A6C34878D82A}">
                    <a16:rowId xmlns:a16="http://schemas.microsoft.com/office/drawing/2014/main" val="10000"/>
                  </a:ext>
                </a:extLst>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endParaRPr/>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extLst>
                  <a:ext uri="{0D108BD9-81ED-4DB2-BD59-A6C34878D82A}">
                    <a16:rowId xmlns:a16="http://schemas.microsoft.com/office/drawing/2014/main" val="10001"/>
                  </a:ext>
                </a:extLst>
              </a:tr>
              <a:tr h="465300">
                <a:tc rowSpan="2">
                  <a:txBody>
                    <a:bodyPr/>
                    <a:lstStyle/>
                    <a:p>
                      <a:endParaRPr dirty="0"/>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Zacatecas, Pinos</a:t>
                      </a:r>
                    </a:p>
                  </a:txBody>
                  <a:tcPr marL="72000" marR="72000" anchor="ctr">
                    <a:noFill/>
                  </a:tcPr>
                </a:tc>
                <a:extLst>
                  <a:ext uri="{0D108BD9-81ED-4DB2-BD59-A6C34878D82A}">
                    <a16:rowId xmlns:a16="http://schemas.microsoft.com/office/drawing/2014/main" val="10002"/>
                  </a:ext>
                </a:extLst>
              </a:tr>
              <a:tr h="465300">
                <a:tc vMerge="1">
                  <a:txBody>
                    <a:bodyPr/>
                    <a:lstStyle/>
                    <a:p>
                      <a:endParaRPr/>
                    </a:p>
                  </a:txBody>
                  <a:tcPr marL="72000" marR="72000" anchor="ctr"/>
                </a:tc>
                <a:tc>
                  <a:txBody>
                    <a:bodyPr/>
                    <a:lstStyle/>
                    <a:p>
                      <a:pPr algn="ctr">
                        <a:defRPr sz="1200" b="1">
                          <a:solidFill>
                            <a:srgbClr val="FFFFFF"/>
                          </a:solidFill>
                          <a:latin typeface="Montserrat"/>
                        </a:defRPr>
                      </a:pPr>
                      <a:r>
                        <a:rPr lang="es-MX" dirty="0"/>
                        <a:t>2</a:t>
                      </a:r>
                      <a:r>
                        <a:rPr dirty="0"/>
                        <a:t> </a:t>
                      </a:r>
                      <a:r>
                        <a:rPr dirty="0" err="1"/>
                        <a:t>Donación</a:t>
                      </a:r>
                      <a:endParaRPr dirty="0"/>
                    </a:p>
                  </a:txBody>
                  <a:tcPr marL="72000" marR="72000" anchor="ctr">
                    <a:noFill/>
                  </a:tcPr>
                </a:tc>
                <a:tc>
                  <a:txBody>
                    <a:bodyPr/>
                    <a:lstStyle/>
                    <a:p>
                      <a:pPr algn="ctr">
                        <a:defRPr sz="1200" b="0">
                          <a:solidFill>
                            <a:srgbClr val="FFFFFF"/>
                          </a:solidFill>
                          <a:latin typeface="Montserrat"/>
                        </a:defRPr>
                      </a:pPr>
                      <a:r>
                        <a:rPr dirty="0" err="1"/>
                        <a:t>Sombrerete</a:t>
                      </a:r>
                      <a:r>
                        <a:rPr lang="es-MX" dirty="0"/>
                        <a:t>, Fresnillo</a:t>
                      </a:r>
                      <a:r>
                        <a:rPr lang="es-MX" baseline="30000" dirty="0"/>
                        <a:t>2</a:t>
                      </a:r>
                      <a:endParaRPr baseline="30000" dirty="0"/>
                    </a:p>
                  </a:txBody>
                  <a:tcPr marL="72000" marR="72000" anchor="ctr">
                    <a:noFill/>
                  </a:tcPr>
                </a:tc>
                <a:extLst>
                  <a:ext uri="{0D108BD9-81ED-4DB2-BD59-A6C34878D82A}">
                    <a16:rowId xmlns:a16="http://schemas.microsoft.com/office/drawing/2014/main" val="10003"/>
                  </a:ext>
                </a:extLst>
              </a:tr>
            </a:tbl>
          </a:graphicData>
        </a:graphic>
      </p:graphicFrame>
      <p:sp>
        <p:nvSpPr>
          <p:cNvPr id="60" name="Oval 22">
            <a:extLst>
              <a:ext uri="{FF2B5EF4-FFF2-40B4-BE49-F238E27FC236}">
                <a16:creationId xmlns:a16="http://schemas.microsoft.com/office/drawing/2014/main" id="{1056A295-4088-58AD-0C76-6416131D3436}"/>
              </a:ext>
            </a:extLst>
          </p:cNvPr>
          <p:cNvSpPr/>
          <p:nvPr/>
        </p:nvSpPr>
        <p:spPr>
          <a:xfrm>
            <a:off x="885600" y="6555083"/>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705085"/>
                </a:solidFill>
                <a:latin typeface="Montserrat"/>
              </a:defRPr>
            </a:pPr>
            <a:r>
              <a:t>12</a:t>
            </a:r>
          </a:p>
        </p:txBody>
      </p:sp>
      <p:sp>
        <p:nvSpPr>
          <p:cNvPr id="62" name="Rectangle 23">
            <a:extLst>
              <a:ext uri="{FF2B5EF4-FFF2-40B4-BE49-F238E27FC236}">
                <a16:creationId xmlns:a16="http://schemas.microsoft.com/office/drawing/2014/main" id="{4B441A92-12CE-3D9E-F75D-1ED175F55FA1}"/>
              </a:ext>
            </a:extLst>
          </p:cNvPr>
          <p:cNvSpPr/>
          <p:nvPr/>
        </p:nvSpPr>
        <p:spPr>
          <a:xfrm>
            <a:off x="363600" y="7339883"/>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36000" tIns="36000" rIns="36000" bIns="36000" rtlCol="0" anchor="ctr"/>
          <a:lstStyle/>
          <a:p>
            <a:pPr algn="ctr">
              <a:defRPr sz="1500" b="1">
                <a:solidFill>
                  <a:srgbClr val="FFFFFF"/>
                </a:solidFill>
                <a:latin typeface="Montserrat"/>
              </a:defRPr>
            </a:pPr>
            <a:r>
              <a:t>10 CECI IMSS</a:t>
            </a:r>
          </a:p>
          <a:p>
            <a:pPr algn="ctr">
              <a:defRPr sz="1500" b="1">
                <a:solidFill>
                  <a:srgbClr val="FFFFFF"/>
                </a:solidFill>
                <a:latin typeface="Montserrat"/>
              </a:defRPr>
            </a:pPr>
            <a:r>
              <a:t>2 CECI CAMPO</a:t>
            </a:r>
          </a:p>
        </p:txBody>
      </p:sp>
      <p:sp>
        <p:nvSpPr>
          <p:cNvPr id="64" name="TextBox 24">
            <a:extLst>
              <a:ext uri="{FF2B5EF4-FFF2-40B4-BE49-F238E27FC236}">
                <a16:creationId xmlns:a16="http://schemas.microsoft.com/office/drawing/2014/main" id="{A7F9AE37-84C2-8A9A-EA4B-FA37BE636B1B}"/>
              </a:ext>
            </a:extLst>
          </p:cNvPr>
          <p:cNvSpPr txBox="1"/>
          <p:nvPr/>
        </p:nvSpPr>
        <p:spPr>
          <a:xfrm>
            <a:off x="2501195" y="8402533"/>
            <a:ext cx="4877700" cy="415498"/>
          </a:xfrm>
          <a:prstGeom prst="rect">
            <a:avLst/>
          </a:prstGeom>
          <a:noFill/>
        </p:spPr>
        <p:txBody>
          <a:bodyPr wrap="square" lIns="0" tIns="0" rIns="0" bIns="0">
            <a:spAutoFit/>
          </a:bodyPr>
          <a:lstStyle/>
          <a:p>
            <a:pPr algn="l">
              <a:defRPr sz="900">
                <a:solidFill>
                  <a:srgbClr val="FFFFFF"/>
                </a:solidFill>
                <a:latin typeface="Montserrat"/>
              </a:defRPr>
            </a:pPr>
            <a:r>
              <a:rPr dirty="0"/>
              <a:t>¹ </a:t>
            </a:r>
            <a:r>
              <a:rPr dirty="0" err="1"/>
              <a:t>Terrenos</a:t>
            </a:r>
            <a:r>
              <a:rPr dirty="0"/>
              <a:t> </a:t>
            </a:r>
            <a:r>
              <a:rPr dirty="0" err="1"/>
              <a:t>validados</a:t>
            </a:r>
            <a:r>
              <a:rPr dirty="0"/>
              <a:t>. 2 CECI para </a:t>
            </a:r>
            <a:r>
              <a:rPr dirty="0" err="1"/>
              <a:t>entregar</a:t>
            </a:r>
            <a:r>
              <a:rPr dirty="0"/>
              <a:t> a SICT </a:t>
            </a:r>
            <a:r>
              <a:rPr dirty="0" err="1"/>
              <a:t>en</a:t>
            </a:r>
            <a:r>
              <a:rPr dirty="0"/>
              <a:t> Pinos y Zacatecas.</a:t>
            </a:r>
            <a:br>
              <a:rPr dirty="0"/>
            </a:br>
            <a:r>
              <a:rPr dirty="0"/>
              <a:t>2 CECI </a:t>
            </a:r>
            <a:r>
              <a:rPr dirty="0" err="1"/>
              <a:t>en</a:t>
            </a:r>
            <a:r>
              <a:rPr dirty="0"/>
              <a:t> </a:t>
            </a:r>
            <a:r>
              <a:rPr dirty="0" err="1"/>
              <a:t>integración</a:t>
            </a:r>
            <a:r>
              <a:rPr dirty="0"/>
              <a:t> de </a:t>
            </a:r>
            <a:r>
              <a:rPr dirty="0" err="1"/>
              <a:t>expediente</a:t>
            </a:r>
            <a:r>
              <a:rPr dirty="0"/>
              <a:t> para </a:t>
            </a:r>
            <a:r>
              <a:rPr dirty="0" err="1"/>
              <a:t>donación</a:t>
            </a:r>
            <a:r>
              <a:rPr dirty="0"/>
              <a:t> </a:t>
            </a:r>
            <a:r>
              <a:rPr dirty="0" err="1"/>
              <a:t>en</a:t>
            </a:r>
            <a:r>
              <a:rPr dirty="0"/>
              <a:t> </a:t>
            </a:r>
            <a:r>
              <a:rPr dirty="0" err="1"/>
              <a:t>Sombrerete</a:t>
            </a:r>
            <a:r>
              <a:rPr dirty="0"/>
              <a:t> y Fresnillo.</a:t>
            </a:r>
            <a:endParaRPr lang="es-MX" dirty="0"/>
          </a:p>
          <a:p>
            <a:pPr>
              <a:defRPr sz="900">
                <a:solidFill>
                  <a:srgbClr val="FFFFFF"/>
                </a:solidFill>
                <a:latin typeface="Montserrat"/>
              </a:defRPr>
            </a:pPr>
            <a:r>
              <a:rPr lang="es-MX" baseline="30000" dirty="0"/>
              <a:t>2</a:t>
            </a:r>
            <a:r>
              <a:rPr lang="es-MX" dirty="0"/>
              <a:t> Terreno como dación de pago. </a:t>
            </a:r>
            <a:endParaRPr dirty="0"/>
          </a:p>
        </p:txBody>
      </p:sp>
    </p:spTree>
    <p:extLst>
      <p:ext uri="{BB962C8B-B14F-4D97-AF65-F5344CB8AC3E}">
        <p14:creationId xmlns:p14="http://schemas.microsoft.com/office/powerpoint/2010/main" val="364733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ZACATECAS</a:t>
            </a:r>
          </a:p>
        </p:txBody>
      </p:sp>
      <p:graphicFrame>
        <p:nvGraphicFramePr>
          <p:cNvPr id="467" name="Table 466"/>
          <p:cNvGraphicFramePr>
            <a:graphicFrameLocks noGrp="1"/>
          </p:cNvGraphicFramePr>
          <p:nvPr>
            <p:extLst>
              <p:ext uri="{D42A27DB-BD31-4B8C-83A1-F6EECF244321}">
                <p14:modId xmlns:p14="http://schemas.microsoft.com/office/powerpoint/2010/main" val="3416679575"/>
              </p:ext>
            </p:extLst>
          </p:nvPr>
        </p:nvGraphicFramePr>
        <p:xfrm>
          <a:off x="2311200" y="1670400"/>
          <a:ext cx="5032800" cy="90864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60000">
                <a:tc gridSpan="2">
                  <a:txBody>
                    <a:bodyPr/>
                    <a:lstStyle/>
                    <a:p>
                      <a:pPr algn="ctr"/>
                      <a:r>
                        <a:rPr sz="1000" b="1" dirty="0">
                          <a:solidFill>
                            <a:srgbClr val="FFFFFF"/>
                          </a:solidFill>
                          <a:latin typeface="Montserrat"/>
                        </a:rPr>
                        <a:t>GUARDERÍAS</a:t>
                      </a:r>
                    </a:p>
                  </a:txBody>
                  <a:tcPr marL="0" marR="0" marT="0" marB="0" anchor="ctr">
                    <a:solidFill>
                      <a:srgbClr val="006455"/>
                    </a:solidFill>
                  </a:tcPr>
                </a:tc>
                <a:tc hMerge="1">
                  <a:txBody>
                    <a:bodyPr/>
                    <a:lstStyle/>
                    <a:p>
                      <a:endParaRPr/>
                    </a:p>
                  </a:txBody>
                  <a:tcPr/>
                </a:tc>
                <a:extLst>
                  <a:ext uri="{0D108BD9-81ED-4DB2-BD59-A6C34878D82A}">
                    <a16:rowId xmlns:a16="http://schemas.microsoft.com/office/drawing/2014/main" val="10000"/>
                  </a:ext>
                </a:extLst>
              </a:tr>
              <a:tr h="333000">
                <a:tc>
                  <a:txBody>
                    <a:bodyPr/>
                    <a:lstStyle/>
                    <a:p>
                      <a:pPr algn="ctr"/>
                      <a:r>
                        <a:rPr sz="1000" b="1">
                          <a:latin typeface="Montserrat"/>
                        </a:rPr>
                        <a:t>28 unidades</a:t>
                      </a:r>
                    </a:p>
                    <a:p>
                      <a:pPr algn="ctr">
                        <a:defRPr sz="1000">
                          <a:solidFill>
                            <a:srgbClr val="505050"/>
                          </a:solidFill>
                          <a:latin typeface="Montserrat"/>
                        </a:defRPr>
                      </a:pPr>
                      <a:r>
                        <a:t>0 directas</a:t>
                      </a:r>
                    </a:p>
                    <a:p>
                      <a:pPr algn="ctr">
                        <a:defRPr sz="1000">
                          <a:solidFill>
                            <a:srgbClr val="505050"/>
                          </a:solidFill>
                          <a:latin typeface="Montserrat"/>
                        </a:defRPr>
                      </a:pPr>
                      <a:r>
                        <a:t>28 indirectas</a:t>
                      </a:r>
                    </a:p>
                  </a:txBody>
                  <a:tcPr anchor="ctr">
                    <a:solidFill>
                      <a:srgbClr val="FFFFFF"/>
                    </a:solidFill>
                  </a:tcPr>
                </a:tc>
                <a:tc>
                  <a:txBody>
                    <a:bodyPr/>
                    <a:lstStyle/>
                    <a:p>
                      <a:pPr algn="ctr"/>
                      <a:r>
                        <a:rPr sz="1000" b="1" dirty="0">
                          <a:latin typeface="Montserrat"/>
                        </a:rPr>
                        <a:t>3,655 </a:t>
                      </a:r>
                      <a:r>
                        <a:rPr sz="1000" b="1" dirty="0" err="1">
                          <a:latin typeface="Montserrat"/>
                        </a:rPr>
                        <a:t>inscritos</a:t>
                      </a:r>
                      <a:endParaRPr sz="1000" b="1" dirty="0">
                        <a:latin typeface="Montserrat"/>
                      </a:endParaRPr>
                    </a:p>
                    <a:p>
                      <a:pPr algn="ctr">
                        <a:defRPr sz="1000">
                          <a:solidFill>
                            <a:srgbClr val="505050"/>
                          </a:solidFill>
                          <a:latin typeface="Montserrat"/>
                        </a:defRPr>
                      </a:pPr>
                      <a:r>
                        <a:rPr dirty="0"/>
                        <a:t>257 </a:t>
                      </a:r>
                      <a:r>
                        <a:rPr dirty="0" err="1"/>
                        <a:t>en</a:t>
                      </a:r>
                      <a:r>
                        <a:rPr dirty="0"/>
                        <a:t> </a:t>
                      </a:r>
                      <a:r>
                        <a:rPr dirty="0" err="1"/>
                        <a:t>espera</a:t>
                      </a:r>
                      <a:endParaRPr dirty="0"/>
                    </a:p>
                  </a:txBody>
                  <a:tcPr anchor="ctr">
                    <a:solidFill>
                      <a:srgbClr val="FFFFFF"/>
                    </a:solidFill>
                  </a:tcPr>
                </a:tc>
                <a:extLst>
                  <a:ext uri="{0D108BD9-81ED-4DB2-BD59-A6C34878D82A}">
                    <a16:rowId xmlns:a16="http://schemas.microsoft.com/office/drawing/2014/main" val="10001"/>
                  </a:ext>
                </a:extLst>
              </a:tr>
            </a:tbl>
          </a:graphicData>
        </a:graphic>
      </p:graphicFrame>
      <p:graphicFrame>
        <p:nvGraphicFramePr>
          <p:cNvPr id="468" name="Table 467"/>
          <p:cNvGraphicFramePr>
            <a:graphicFrameLocks noGrp="1"/>
          </p:cNvGraphicFramePr>
          <p:nvPr>
            <p:extLst>
              <p:ext uri="{D42A27DB-BD31-4B8C-83A1-F6EECF244321}">
                <p14:modId xmlns:p14="http://schemas.microsoft.com/office/powerpoint/2010/main" val="1983498574"/>
              </p:ext>
            </p:extLst>
          </p:nvPr>
        </p:nvGraphicFramePr>
        <p:xfrm>
          <a:off x="2311200" y="2809881"/>
          <a:ext cx="5032800" cy="192870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60000">
                <a:tc gridSpan="2">
                  <a:txBody>
                    <a:bodyPr/>
                    <a:lstStyle/>
                    <a:p>
                      <a:pPr algn="ctr">
                        <a:defRPr sz="1000" b="1">
                          <a:solidFill>
                            <a:srgbClr val="FFFFFF"/>
                          </a:solidFill>
                          <a:latin typeface="Montserrat"/>
                        </a:defRPr>
                      </a:pPr>
                      <a:r>
                        <a:rPr dirty="0"/>
                        <a:t>BIENESTAR SOCIAL</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522899">
                <a:tc>
                  <a:txBody>
                    <a:bodyPr/>
                    <a:lstStyle/>
                    <a:p>
                      <a:pPr algn="ctr">
                        <a:defRPr sz="800" b="1">
                          <a:latin typeface="Montserrat"/>
                        </a:defRPr>
                      </a:pPr>
                      <a:r>
                        <a:rPr sz="1000" dirty="0"/>
                        <a:t>6 CEBIS</a:t>
                      </a:r>
                    </a:p>
                  </a:txBody>
                  <a:tcPr marL="28800" marR="28800" marT="0" marB="0" anchor="ctr">
                    <a:solidFill>
                      <a:srgbClr val="FFFFFF"/>
                    </a:solidFill>
                  </a:tcPr>
                </a:tc>
                <a:tc>
                  <a:txBody>
                    <a:bodyPr/>
                    <a:lstStyle/>
                    <a:p>
                      <a:pPr algn="ctr">
                        <a:defRPr sz="800">
                          <a:latin typeface="Montserrat"/>
                        </a:defRPr>
                      </a:pPr>
                      <a:r>
                        <a:rPr sz="1000" dirty="0"/>
                        <a:t>González Ortega, Felipe </a:t>
                      </a:r>
                      <a:r>
                        <a:rPr sz="1000" dirty="0" err="1"/>
                        <a:t>Angeles,Jerez</a:t>
                      </a:r>
                      <a:r>
                        <a:rPr sz="1000" dirty="0"/>
                        <a:t>, Río Grande, Emiliano Zapata, Calera de Víctor Rosales</a:t>
                      </a:r>
                    </a:p>
                  </a:txBody>
                  <a:tcPr marL="28800" marR="28800" marT="0" marB="0" anchor="ctr">
                    <a:solidFill>
                      <a:srgbClr val="FFFFFF"/>
                    </a:solidFill>
                  </a:tcPr>
                </a:tc>
                <a:extLst>
                  <a:ext uri="{0D108BD9-81ED-4DB2-BD59-A6C34878D82A}">
                    <a16:rowId xmlns:a16="http://schemas.microsoft.com/office/drawing/2014/main" val="10001"/>
                  </a:ext>
                </a:extLst>
              </a:tr>
              <a:tr h="522899">
                <a:tc>
                  <a:txBody>
                    <a:bodyPr/>
                    <a:lstStyle/>
                    <a:p>
                      <a:pPr algn="ctr">
                        <a:defRPr sz="800" b="1">
                          <a:latin typeface="Montserrat"/>
                        </a:defRPr>
                      </a:pPr>
                      <a:r>
                        <a:rPr sz="1000"/>
                        <a:t>2 Centros de Seguridad Social</a:t>
                      </a:r>
                    </a:p>
                  </a:txBody>
                  <a:tcPr marL="28800" marR="28800" marT="0" marB="0" anchor="ctr">
                    <a:solidFill>
                      <a:srgbClr val="EFEFEF"/>
                    </a:solidFill>
                  </a:tcPr>
                </a:tc>
                <a:tc>
                  <a:txBody>
                    <a:bodyPr/>
                    <a:lstStyle/>
                    <a:p>
                      <a:pPr algn="ctr">
                        <a:defRPr sz="800">
                          <a:latin typeface="Montserrat"/>
                        </a:defRPr>
                      </a:pPr>
                      <a:r>
                        <a:rPr sz="1000" dirty="0"/>
                        <a:t>Fresnillo y Zacatecas</a:t>
                      </a:r>
                    </a:p>
                  </a:txBody>
                  <a:tcPr marL="28800" marR="28800" marT="0" marB="0" anchor="ctr">
                    <a:solidFill>
                      <a:srgbClr val="EFEFEF"/>
                    </a:solidFill>
                  </a:tcPr>
                </a:tc>
                <a:extLst>
                  <a:ext uri="{0D108BD9-81ED-4DB2-BD59-A6C34878D82A}">
                    <a16:rowId xmlns:a16="http://schemas.microsoft.com/office/drawing/2014/main" val="10002"/>
                  </a:ext>
                </a:extLst>
              </a:tr>
              <a:tr h="522902">
                <a:tc>
                  <a:txBody>
                    <a:bodyPr/>
                    <a:lstStyle/>
                    <a:p>
                      <a:pPr algn="ctr">
                        <a:defRPr sz="800" b="1">
                          <a:latin typeface="Montserrat"/>
                        </a:defRPr>
                      </a:pPr>
                      <a:r>
                        <a:rPr sz="1000"/>
                        <a:t>1 Teatro</a:t>
                      </a:r>
                    </a:p>
                  </a:txBody>
                  <a:tcPr marL="28800" marR="28800" marT="0" marB="0" anchor="ctr">
                    <a:solidFill>
                      <a:srgbClr val="FFFFFF"/>
                    </a:solidFill>
                  </a:tcPr>
                </a:tc>
                <a:tc>
                  <a:txBody>
                    <a:bodyPr/>
                    <a:lstStyle/>
                    <a:p>
                      <a:pPr algn="ctr">
                        <a:defRPr sz="800">
                          <a:latin typeface="Montserrat"/>
                        </a:defRPr>
                      </a:pPr>
                      <a:r>
                        <a:rPr sz="1000" dirty="0"/>
                        <a:t>Zacatecas</a:t>
                      </a:r>
                    </a:p>
                  </a:txBody>
                  <a:tcPr marL="28800" marR="28800" marT="0" marB="0"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469" name="Table 468"/>
          <p:cNvGraphicFramePr>
            <a:graphicFrameLocks noGrp="1"/>
          </p:cNvGraphicFramePr>
          <p:nvPr>
            <p:extLst>
              <p:ext uri="{D42A27DB-BD31-4B8C-83A1-F6EECF244321}">
                <p14:modId xmlns:p14="http://schemas.microsoft.com/office/powerpoint/2010/main" val="1808404016"/>
              </p:ext>
            </p:extLst>
          </p:nvPr>
        </p:nvGraphicFramePr>
        <p:xfrm>
          <a:off x="2311200" y="4910400"/>
          <a:ext cx="5032800" cy="768600"/>
        </p:xfrm>
        <a:graphic>
          <a:graphicData uri="http://schemas.openxmlformats.org/drawingml/2006/table">
            <a:tbl>
              <a:tblPr firstRow="1" bandRow="1">
                <a:tableStyleId>{5C22544A-7EE6-4342-B048-85BDC9FD1C3A}</a:tableStyleId>
              </a:tblPr>
              <a:tblGrid>
                <a:gridCol w="1576800">
                  <a:extLst>
                    <a:ext uri="{9D8B030D-6E8A-4147-A177-3AD203B41FA5}">
                      <a16:colId xmlns:a16="http://schemas.microsoft.com/office/drawing/2014/main" val="20000"/>
                    </a:ext>
                  </a:extLst>
                </a:gridCol>
                <a:gridCol w="3456000">
                  <a:extLst>
                    <a:ext uri="{9D8B030D-6E8A-4147-A177-3AD203B41FA5}">
                      <a16:colId xmlns:a16="http://schemas.microsoft.com/office/drawing/2014/main" val="20001"/>
                    </a:ext>
                  </a:extLst>
                </a:gridCol>
              </a:tblGrid>
              <a:tr h="360000">
                <a:tc gridSpan="2">
                  <a:txBody>
                    <a:bodyPr/>
                    <a:lstStyle/>
                    <a:p>
                      <a:pPr algn="ctr">
                        <a:defRPr sz="1000" b="1">
                          <a:solidFill>
                            <a:srgbClr val="FFFFFF"/>
                          </a:solidFill>
                          <a:latin typeface="Montserrat"/>
                        </a:defRPr>
                      </a:pPr>
                      <a:r>
                        <a:rPr dirty="0"/>
                        <a:t>CENTROS VACACIONALES, VELATORIOS Y TIENDAS</a:t>
                      </a:r>
                    </a:p>
                  </a:txBody>
                  <a:tcPr anchor="ctr">
                    <a:solidFill>
                      <a:srgbClr val="006455"/>
                    </a:solidFill>
                  </a:tcPr>
                </a:tc>
                <a:tc hMerge="1">
                  <a:txBody>
                    <a:bodyPr/>
                    <a:lstStyle/>
                    <a:p>
                      <a:endParaRPr/>
                    </a:p>
                  </a:txBody>
                  <a:tcPr/>
                </a:tc>
                <a:extLst>
                  <a:ext uri="{0D108BD9-81ED-4DB2-BD59-A6C34878D82A}">
                    <a16:rowId xmlns:a16="http://schemas.microsoft.com/office/drawing/2014/main" val="10000"/>
                  </a:ext>
                </a:extLst>
              </a:tr>
              <a:tr h="408600">
                <a:tc>
                  <a:txBody>
                    <a:bodyPr/>
                    <a:lstStyle/>
                    <a:p>
                      <a:pPr algn="ctr">
                        <a:defRPr sz="800" b="1">
                          <a:latin typeface="Montserrat"/>
                        </a:defRPr>
                      </a:pPr>
                      <a:r>
                        <a:rPr sz="1000" dirty="0"/>
                        <a:t>4 Tiendas IMSS-SNTSS</a:t>
                      </a:r>
                    </a:p>
                  </a:txBody>
                  <a:tcPr marL="28800" marR="28800" marT="0" marB="0" anchor="ctr">
                    <a:solidFill>
                      <a:srgbClr val="FFFFFF"/>
                    </a:solidFill>
                  </a:tcPr>
                </a:tc>
                <a:tc>
                  <a:txBody>
                    <a:bodyPr/>
                    <a:lstStyle/>
                    <a:p>
                      <a:pPr algn="ctr">
                        <a:defRPr sz="800">
                          <a:latin typeface="Montserrat"/>
                        </a:defRPr>
                      </a:pPr>
                      <a:r>
                        <a:rPr sz="1000" dirty="0"/>
                        <a:t>No. 140 Concepción del Oro, No. 143 Río Grande, No. 100 </a:t>
                      </a:r>
                      <a:r>
                        <a:rPr sz="1000" dirty="0" err="1"/>
                        <a:t>Sombrerete</a:t>
                      </a:r>
                      <a:r>
                        <a:rPr sz="1000" dirty="0"/>
                        <a:t> y No. 60 Zacatecas</a:t>
                      </a:r>
                    </a:p>
                  </a:txBody>
                  <a:tcPr marL="28800" marR="28800" marT="0" marB="0" anchor="ctr">
                    <a:solidFill>
                      <a:srgbClr val="FFFFFF"/>
                    </a:solidFill>
                  </a:tcPr>
                </a:tc>
                <a:extLst>
                  <a:ext uri="{0D108BD9-81ED-4DB2-BD59-A6C34878D82A}">
                    <a16:rowId xmlns:a16="http://schemas.microsoft.com/office/drawing/2014/main" val="10001"/>
                  </a:ext>
                </a:extLst>
              </a:tr>
            </a:tbl>
          </a:graphicData>
        </a:graphic>
      </p:graphicFrame>
      <p:sp>
        <p:nvSpPr>
          <p:cNvPr id="471" name="TextBox 470"/>
          <p:cNvSpPr txBox="1"/>
          <p:nvPr/>
        </p:nvSpPr>
        <p:spPr>
          <a:xfrm>
            <a:off x="928800" y="6598799"/>
            <a:ext cx="1364400" cy="244800"/>
          </a:xfrm>
          <a:prstGeom prst="rect">
            <a:avLst/>
          </a:prstGeom>
          <a:noFill/>
        </p:spPr>
        <p:txBody>
          <a:bodyPr wrap="none">
            <a:spAutoFit/>
          </a:bodyPr>
          <a:lstStyle/>
          <a:p>
            <a:pPr algn="ctr">
              <a:defRPr sz="1000" b="0">
                <a:solidFill>
                  <a:srgbClr val="000000"/>
                </a:solidFill>
                <a:latin typeface="Montserrat"/>
              </a:defRPr>
            </a:pPr>
            <a:r>
              <a:t>Guarderías    28</a:t>
            </a:r>
          </a:p>
        </p:txBody>
      </p:sp>
      <p:sp>
        <p:nvSpPr>
          <p:cNvPr id="472" name="TextBox 471"/>
          <p:cNvSpPr txBox="1"/>
          <p:nvPr/>
        </p:nvSpPr>
        <p:spPr>
          <a:xfrm>
            <a:off x="0" y="9640800"/>
            <a:ext cx="4258800" cy="230400"/>
          </a:xfrm>
          <a:prstGeom prst="rect">
            <a:avLst/>
          </a:prstGeom>
          <a:noFill/>
        </p:spPr>
        <p:txBody>
          <a:bodyPr wrap="square" lIns="0" tIns="0" rIns="0" bIns="0">
            <a:spAutoFit/>
          </a:bodyPr>
          <a:lstStyle/>
          <a:p>
            <a:pPr algn="l">
              <a:defRPr sz="900">
                <a:solidFill>
                  <a:srgbClr val="FFFFFF"/>
                </a:solidFill>
                <a:latin typeface="Montserrat"/>
              </a:defRPr>
            </a:pPr>
            <a:r>
              <a:t>Fuente: Dirección de Prestaciones Económicas y Sociales, mayo de 2026.</a:t>
            </a:r>
          </a:p>
        </p:txBody>
      </p:sp>
      <p:pic>
        <p:nvPicPr>
          <p:cNvPr id="3" name="Picture 469" descr="map_tipo2_32_zac.png">
            <a:extLst>
              <a:ext uri="{FF2B5EF4-FFF2-40B4-BE49-F238E27FC236}">
                <a16:creationId xmlns:a16="http://schemas.microsoft.com/office/drawing/2014/main" id="{DE3A532A-B473-09A8-AC1E-2F1A44DC6035}"/>
              </a:ext>
            </a:extLst>
          </p:cNvPr>
          <p:cNvPicPr>
            <a:picLocks noChangeAspect="1"/>
          </p:cNvPicPr>
          <p:nvPr/>
        </p:nvPicPr>
        <p:blipFill>
          <a:blip r:embed="rId6"/>
          <a:stretch>
            <a:fillRect/>
          </a:stretch>
        </p:blipFill>
        <p:spPr>
          <a:xfrm>
            <a:off x="2822400" y="5994513"/>
            <a:ext cx="4014000" cy="310172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extLst>
              <p:ext uri="{D42A27DB-BD31-4B8C-83A1-F6EECF244321}">
                <p14:modId xmlns:p14="http://schemas.microsoft.com/office/powerpoint/2010/main" val="2816370329"/>
              </p:ext>
            </p:extLst>
          </p:nvPr>
        </p:nvGraphicFramePr>
        <p:xfrm>
          <a:off x="209550" y="581083"/>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4121204377"/>
              </p:ext>
            </p:extLst>
          </p:nvPr>
        </p:nvGraphicFramePr>
        <p:xfrm>
          <a:off x="282450" y="4005848"/>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extLst>
              <p:ext uri="{D42A27DB-BD31-4B8C-83A1-F6EECF244321}">
                <p14:modId xmlns:p14="http://schemas.microsoft.com/office/powerpoint/2010/main" val="3298703184"/>
              </p:ext>
            </p:extLst>
          </p:nvPr>
        </p:nvGraphicFramePr>
        <p:xfrm>
          <a:off x="231775" y="7877237"/>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 de trabajo, por tipo de contratación</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graphicFrame>
        <p:nvGraphicFramePr>
          <p:cNvPr id="479" name="Table 478"/>
          <p:cNvGraphicFramePr>
            <a:graphicFrameLocks noGrp="1"/>
          </p:cNvGraphicFramePr>
          <p:nvPr>
            <p:extLst>
              <p:ext uri="{D42A27DB-BD31-4B8C-83A1-F6EECF244321}">
                <p14:modId xmlns:p14="http://schemas.microsoft.com/office/powerpoint/2010/main" val="1608580229"/>
              </p:ext>
            </p:extLst>
          </p:nvPr>
        </p:nvGraphicFramePr>
        <p:xfrm>
          <a:off x="284400" y="1021885"/>
          <a:ext cx="6984000" cy="2974432"/>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92000">
                  <a:extLst>
                    <a:ext uri="{9D8B030D-6E8A-4147-A177-3AD203B41FA5}">
                      <a16:colId xmlns:a16="http://schemas.microsoft.com/office/drawing/2014/main" val="20003"/>
                    </a:ext>
                  </a:extLst>
                </a:gridCol>
                <a:gridCol w="126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92000">
                  <a:extLst>
                    <a:ext uri="{9D8B030D-6E8A-4147-A177-3AD203B41FA5}">
                      <a16:colId xmlns:a16="http://schemas.microsoft.com/office/drawing/2014/main" val="20007"/>
                    </a:ext>
                  </a:extLst>
                </a:gridCol>
              </a:tblGrid>
              <a:tr h="208987">
                <a:tc gridSpan="8">
                  <a:txBody>
                    <a:bodyPr/>
                    <a:lstStyle/>
                    <a:p>
                      <a:pPr algn="ctr">
                        <a:defRPr sz="1000" b="1">
                          <a:solidFill>
                            <a:srgbClr val="FFFFFF"/>
                          </a:solidFill>
                          <a:latin typeface="Montserrat"/>
                        </a:defRPr>
                      </a:pPr>
                      <a:r>
                        <a:rPr sz="800" dirty="0"/>
                        <a:t>PRINCIPALES EMPLEADORES</a:t>
                      </a:r>
                    </a:p>
                  </a:txBody>
                  <a:tcPr anchor="ctr">
                    <a:solidFill>
                      <a:srgbClr val="BC955C"/>
                    </a:solidFill>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298554">
                <a:tc>
                  <a:txBody>
                    <a:bodyPr/>
                    <a:lstStyle/>
                    <a:p>
                      <a:pPr algn="ctr">
                        <a:defRPr sz="850" b="1">
                          <a:solidFill>
                            <a:srgbClr val="FFFFFF"/>
                          </a:solidFill>
                          <a:latin typeface="Montserrat"/>
                        </a:defRPr>
                      </a:pPr>
                      <a:r>
                        <a:rPr sz="800" dirty="0" err="1"/>
                        <a:t>Empleador</a:t>
                      </a:r>
                      <a:r>
                        <a:rPr sz="800" dirty="0"/>
                        <a:t> </a:t>
                      </a:r>
                      <a:r>
                        <a:rPr sz="800" dirty="0" err="1"/>
                        <a:t>público</a:t>
                      </a:r>
                      <a:endParaRPr sz="800" dirty="0"/>
                    </a:p>
                  </a:txBody>
                  <a:tcPr anchor="ctr">
                    <a:solidFill>
                      <a:srgbClr val="BC955C"/>
                    </a:solidFill>
                  </a:tcPr>
                </a:tc>
                <a:tc>
                  <a:txBody>
                    <a:bodyPr/>
                    <a:lstStyle/>
                    <a:p>
                      <a:pPr algn="ctr">
                        <a:defRPr sz="850" b="1">
                          <a:solidFill>
                            <a:srgbClr val="FFFFFF"/>
                          </a:solidFill>
                          <a:latin typeface="Montserrat"/>
                        </a:defRPr>
                      </a:pPr>
                      <a:r>
                        <a:rPr sz="800" dirty="0" err="1"/>
                        <a:t>Empleos</a:t>
                      </a:r>
                      <a:r>
                        <a:rPr sz="800" dirty="0"/>
                        <a:t> Anterior</a:t>
                      </a:r>
                    </a:p>
                  </a:txBody>
                  <a:tcPr anchor="ctr">
                    <a:solidFill>
                      <a:srgbClr val="BC955C"/>
                    </a:solidFill>
                  </a:tcPr>
                </a:tc>
                <a:tc>
                  <a:txBody>
                    <a:bodyPr/>
                    <a:lstStyle/>
                    <a:p>
                      <a:pPr algn="ctr">
                        <a:defRPr sz="850" b="1">
                          <a:solidFill>
                            <a:srgbClr val="FFFFFF"/>
                          </a:solidFill>
                          <a:latin typeface="Montserrat"/>
                        </a:defRPr>
                      </a:pPr>
                      <a:r>
                        <a:rPr sz="800"/>
                        <a:t>Empleos Actual</a:t>
                      </a:r>
                    </a:p>
                  </a:txBody>
                  <a:tcPr anchor="ctr">
                    <a:solidFill>
                      <a:srgbClr val="BC955C"/>
                    </a:solidFill>
                  </a:tcPr>
                </a:tc>
                <a:tc>
                  <a:txBody>
                    <a:bodyPr/>
                    <a:lstStyle/>
                    <a:p>
                      <a:pPr algn="ctr">
                        <a:defRPr sz="850" b="1">
                          <a:solidFill>
                            <a:srgbClr val="FFFFFF"/>
                          </a:solidFill>
                          <a:latin typeface="Montserrat"/>
                        </a:defRPr>
                      </a:pPr>
                      <a:r>
                        <a:rPr sz="800" dirty="0" err="1"/>
                        <a:t>Variación</a:t>
                      </a:r>
                      <a:endParaRPr sz="800" dirty="0"/>
                    </a:p>
                  </a:txBody>
                  <a:tcPr anchor="ctr">
                    <a:solidFill>
                      <a:srgbClr val="BC955C"/>
                    </a:solidFill>
                  </a:tcPr>
                </a:tc>
                <a:tc>
                  <a:txBody>
                    <a:bodyPr/>
                    <a:lstStyle/>
                    <a:p>
                      <a:pPr algn="ctr">
                        <a:defRPr sz="850" b="1">
                          <a:solidFill>
                            <a:srgbClr val="FFFFFF"/>
                          </a:solidFill>
                          <a:latin typeface="Montserrat"/>
                        </a:defRPr>
                      </a:pPr>
                      <a:r>
                        <a:rPr sz="800" dirty="0" err="1"/>
                        <a:t>Empleador</a:t>
                      </a:r>
                      <a:r>
                        <a:rPr sz="800" dirty="0"/>
                        <a:t> Privado</a:t>
                      </a:r>
                    </a:p>
                  </a:txBody>
                  <a:tcPr anchor="ctr">
                    <a:solidFill>
                      <a:srgbClr val="BC955C"/>
                    </a:solidFill>
                  </a:tcPr>
                </a:tc>
                <a:tc>
                  <a:txBody>
                    <a:bodyPr/>
                    <a:lstStyle/>
                    <a:p>
                      <a:pPr algn="ctr">
                        <a:defRPr sz="850" b="1">
                          <a:solidFill>
                            <a:srgbClr val="FFFFFF"/>
                          </a:solidFill>
                          <a:latin typeface="Montserrat"/>
                        </a:defRPr>
                      </a:pPr>
                      <a:r>
                        <a:rPr sz="800"/>
                        <a:t>Empleos Anterior</a:t>
                      </a:r>
                    </a:p>
                  </a:txBody>
                  <a:tcPr anchor="ctr">
                    <a:solidFill>
                      <a:srgbClr val="BC955C"/>
                    </a:solidFill>
                  </a:tcPr>
                </a:tc>
                <a:tc>
                  <a:txBody>
                    <a:bodyPr/>
                    <a:lstStyle/>
                    <a:p>
                      <a:pPr algn="ctr">
                        <a:defRPr sz="850" b="1">
                          <a:solidFill>
                            <a:srgbClr val="FFFFFF"/>
                          </a:solidFill>
                          <a:latin typeface="Montserrat"/>
                        </a:defRPr>
                      </a:pPr>
                      <a:r>
                        <a:rPr sz="800"/>
                        <a:t>Empleos Actual</a:t>
                      </a:r>
                    </a:p>
                  </a:txBody>
                  <a:tcPr anchor="ctr">
                    <a:solidFill>
                      <a:srgbClr val="BC955C"/>
                    </a:solidFill>
                  </a:tcPr>
                </a:tc>
                <a:tc>
                  <a:txBody>
                    <a:bodyPr/>
                    <a:lstStyle/>
                    <a:p>
                      <a:pPr algn="ctr">
                        <a:defRPr sz="850" b="1">
                          <a:solidFill>
                            <a:srgbClr val="FFFFFF"/>
                          </a:solidFill>
                          <a:latin typeface="Montserrat"/>
                        </a:defRPr>
                      </a:pPr>
                      <a:r>
                        <a:rPr sz="800"/>
                        <a:t>Variación</a:t>
                      </a:r>
                    </a:p>
                  </a:txBody>
                  <a:tcPr anchor="ctr">
                    <a:solidFill>
                      <a:srgbClr val="BC955C"/>
                    </a:solidFill>
                  </a:tcPr>
                </a:tc>
                <a:extLst>
                  <a:ext uri="{0D108BD9-81ED-4DB2-BD59-A6C34878D82A}">
                    <a16:rowId xmlns:a16="http://schemas.microsoft.com/office/drawing/2014/main" val="10001"/>
                  </a:ext>
                </a:extLst>
              </a:tr>
              <a:tr h="290692">
                <a:tc>
                  <a:txBody>
                    <a:bodyPr/>
                    <a:lstStyle/>
                    <a:p>
                      <a:pPr algn="ctr">
                        <a:defRPr sz="850">
                          <a:latin typeface="Montserrat"/>
                        </a:defRPr>
                      </a:pPr>
                      <a:r>
                        <a:rPr sz="800"/>
                        <a:t>Municipio de Zacatecas</a:t>
                      </a:r>
                    </a:p>
                  </a:txBody>
                  <a:tcPr anchor="ctr">
                    <a:solidFill>
                      <a:srgbClr val="FFFFFF"/>
                    </a:solidFill>
                  </a:tcPr>
                </a:tc>
                <a:tc>
                  <a:txBody>
                    <a:bodyPr/>
                    <a:lstStyle/>
                    <a:p>
                      <a:pPr algn="ctr">
                        <a:defRPr sz="850">
                          <a:latin typeface="Montserrat"/>
                        </a:defRPr>
                      </a:pPr>
                      <a:r>
                        <a:rPr sz="800" dirty="0"/>
                        <a:t>1,651</a:t>
                      </a:r>
                    </a:p>
                  </a:txBody>
                  <a:tcPr anchor="ctr">
                    <a:solidFill>
                      <a:srgbClr val="FFFFFF"/>
                    </a:solidFill>
                  </a:tcPr>
                </a:tc>
                <a:tc>
                  <a:txBody>
                    <a:bodyPr/>
                    <a:lstStyle/>
                    <a:p>
                      <a:pPr algn="ctr">
                        <a:defRPr sz="850">
                          <a:latin typeface="Montserrat"/>
                        </a:defRPr>
                      </a:pPr>
                      <a:r>
                        <a:rPr sz="800"/>
                        <a:t>1,638</a:t>
                      </a:r>
                    </a:p>
                  </a:txBody>
                  <a:tcPr anchor="ctr">
                    <a:solidFill>
                      <a:srgbClr val="FFFFFF"/>
                    </a:solidFill>
                  </a:tcPr>
                </a:tc>
                <a:tc>
                  <a:txBody>
                    <a:bodyPr/>
                    <a:lstStyle/>
                    <a:p>
                      <a:pPr algn="ctr">
                        <a:defRPr sz="850" b="1">
                          <a:solidFill>
                            <a:srgbClr val="691C32"/>
                          </a:solidFill>
                          <a:latin typeface="Montserrat"/>
                        </a:defRPr>
                      </a:pPr>
                      <a:r>
                        <a:rPr sz="800"/>
                        <a:t>-0.8%</a:t>
                      </a:r>
                    </a:p>
                  </a:txBody>
                  <a:tcPr anchor="ctr">
                    <a:solidFill>
                      <a:srgbClr val="FFFFFF"/>
                    </a:solidFill>
                  </a:tcPr>
                </a:tc>
                <a:tc>
                  <a:txBody>
                    <a:bodyPr/>
                    <a:lstStyle/>
                    <a:p>
                      <a:pPr algn="ctr">
                        <a:defRPr sz="850">
                          <a:latin typeface="Montserrat"/>
                        </a:defRPr>
                      </a:pPr>
                      <a:r>
                        <a:rPr sz="800" dirty="0"/>
                        <a:t>Ocampo Mining S.A. de C.V.</a:t>
                      </a:r>
                    </a:p>
                  </a:txBody>
                  <a:tcPr anchor="ctr">
                    <a:solidFill>
                      <a:srgbClr val="FFFFFF"/>
                    </a:solidFill>
                  </a:tcPr>
                </a:tc>
                <a:tc>
                  <a:txBody>
                    <a:bodyPr/>
                    <a:lstStyle/>
                    <a:p>
                      <a:pPr algn="ctr">
                        <a:defRPr sz="850">
                          <a:latin typeface="Montserrat"/>
                        </a:defRPr>
                      </a:pPr>
                      <a:r>
                        <a:rPr sz="800"/>
                        <a:t>1,505</a:t>
                      </a:r>
                    </a:p>
                  </a:txBody>
                  <a:tcPr anchor="ctr">
                    <a:solidFill>
                      <a:srgbClr val="FFFFFF"/>
                    </a:solidFill>
                  </a:tcPr>
                </a:tc>
                <a:tc>
                  <a:txBody>
                    <a:bodyPr/>
                    <a:lstStyle/>
                    <a:p>
                      <a:pPr algn="ctr">
                        <a:defRPr sz="850">
                          <a:latin typeface="Montserrat"/>
                        </a:defRPr>
                      </a:pPr>
                      <a:r>
                        <a:rPr sz="800"/>
                        <a:t>1,507</a:t>
                      </a:r>
                    </a:p>
                  </a:txBody>
                  <a:tcPr anchor="ctr">
                    <a:solidFill>
                      <a:srgbClr val="FFFFFF"/>
                    </a:solidFill>
                  </a:tcPr>
                </a:tc>
                <a:tc>
                  <a:txBody>
                    <a:bodyPr/>
                    <a:lstStyle/>
                    <a:p>
                      <a:pPr algn="ctr">
                        <a:defRPr sz="850" b="1">
                          <a:solidFill>
                            <a:srgbClr val="006455"/>
                          </a:solidFill>
                          <a:latin typeface="Montserrat"/>
                        </a:defRPr>
                      </a:pPr>
                      <a:r>
                        <a:rPr sz="800"/>
                        <a:t>0.1%</a:t>
                      </a:r>
                    </a:p>
                  </a:txBody>
                  <a:tcPr anchor="ctr">
                    <a:solidFill>
                      <a:srgbClr val="FFFFFF"/>
                    </a:solidFill>
                  </a:tcPr>
                </a:tc>
                <a:extLst>
                  <a:ext uri="{0D108BD9-81ED-4DB2-BD59-A6C34878D82A}">
                    <a16:rowId xmlns:a16="http://schemas.microsoft.com/office/drawing/2014/main" val="10002"/>
                  </a:ext>
                </a:extLst>
              </a:tr>
              <a:tr h="398122">
                <a:tc>
                  <a:txBody>
                    <a:bodyPr/>
                    <a:lstStyle/>
                    <a:p>
                      <a:pPr algn="ctr">
                        <a:defRPr sz="850">
                          <a:latin typeface="Montserrat"/>
                        </a:defRPr>
                      </a:pPr>
                      <a:r>
                        <a:rPr sz="800"/>
                        <a:t>Secretaría de Educación</a:t>
                      </a:r>
                    </a:p>
                  </a:txBody>
                  <a:tcPr anchor="ctr">
                    <a:solidFill>
                      <a:srgbClr val="D9D9D9"/>
                    </a:solidFill>
                  </a:tcPr>
                </a:tc>
                <a:tc>
                  <a:txBody>
                    <a:bodyPr/>
                    <a:lstStyle/>
                    <a:p>
                      <a:pPr algn="ctr">
                        <a:defRPr sz="850">
                          <a:latin typeface="Montserrat"/>
                        </a:defRPr>
                      </a:pPr>
                      <a:r>
                        <a:rPr sz="800" dirty="0"/>
                        <a:t>15,913</a:t>
                      </a:r>
                    </a:p>
                  </a:txBody>
                  <a:tcPr anchor="ctr">
                    <a:solidFill>
                      <a:srgbClr val="D9D9D9"/>
                    </a:solidFill>
                  </a:tcPr>
                </a:tc>
                <a:tc>
                  <a:txBody>
                    <a:bodyPr/>
                    <a:lstStyle/>
                    <a:p>
                      <a:pPr algn="ctr">
                        <a:defRPr sz="850">
                          <a:latin typeface="Montserrat"/>
                        </a:defRPr>
                      </a:pPr>
                      <a:r>
                        <a:rPr sz="800"/>
                        <a:t>15,948</a:t>
                      </a:r>
                    </a:p>
                  </a:txBody>
                  <a:tcPr anchor="ctr">
                    <a:solidFill>
                      <a:srgbClr val="D9D9D9"/>
                    </a:solidFill>
                  </a:tcPr>
                </a:tc>
                <a:tc>
                  <a:txBody>
                    <a:bodyPr/>
                    <a:lstStyle/>
                    <a:p>
                      <a:pPr algn="ctr">
                        <a:defRPr sz="850" b="1">
                          <a:solidFill>
                            <a:srgbClr val="006455"/>
                          </a:solidFill>
                          <a:latin typeface="Montserrat"/>
                        </a:defRPr>
                      </a:pPr>
                      <a:r>
                        <a:rPr sz="800"/>
                        <a:t>0.2%</a:t>
                      </a:r>
                    </a:p>
                  </a:txBody>
                  <a:tcPr anchor="ctr">
                    <a:solidFill>
                      <a:srgbClr val="D9D9D9"/>
                    </a:solidFill>
                  </a:tcPr>
                </a:tc>
                <a:tc>
                  <a:txBody>
                    <a:bodyPr/>
                    <a:lstStyle/>
                    <a:p>
                      <a:pPr algn="ctr">
                        <a:defRPr sz="850">
                          <a:latin typeface="Montserrat"/>
                        </a:defRPr>
                      </a:pPr>
                      <a:r>
                        <a:rPr sz="800" dirty="0"/>
                        <a:t>Aptiv Contract Services Zacatecas S. de R.L. de C.V.</a:t>
                      </a:r>
                    </a:p>
                  </a:txBody>
                  <a:tcPr anchor="ctr">
                    <a:solidFill>
                      <a:srgbClr val="D9D9D9"/>
                    </a:solidFill>
                  </a:tcPr>
                </a:tc>
                <a:tc>
                  <a:txBody>
                    <a:bodyPr/>
                    <a:lstStyle/>
                    <a:p>
                      <a:pPr algn="ctr">
                        <a:defRPr sz="850">
                          <a:latin typeface="Montserrat"/>
                        </a:defRPr>
                      </a:pPr>
                      <a:r>
                        <a:rPr sz="800"/>
                        <a:t>10,538</a:t>
                      </a:r>
                    </a:p>
                  </a:txBody>
                  <a:tcPr anchor="ctr">
                    <a:solidFill>
                      <a:srgbClr val="D9D9D9"/>
                    </a:solidFill>
                  </a:tcPr>
                </a:tc>
                <a:tc>
                  <a:txBody>
                    <a:bodyPr/>
                    <a:lstStyle/>
                    <a:p>
                      <a:pPr algn="ctr">
                        <a:defRPr sz="850">
                          <a:latin typeface="Montserrat"/>
                        </a:defRPr>
                      </a:pPr>
                      <a:r>
                        <a:rPr sz="800"/>
                        <a:t>10,512</a:t>
                      </a:r>
                    </a:p>
                  </a:txBody>
                  <a:tcPr anchor="ctr">
                    <a:solidFill>
                      <a:srgbClr val="D9D9D9"/>
                    </a:solidFill>
                  </a:tcPr>
                </a:tc>
                <a:tc>
                  <a:txBody>
                    <a:bodyPr/>
                    <a:lstStyle/>
                    <a:p>
                      <a:pPr algn="ctr">
                        <a:defRPr sz="850" b="1">
                          <a:solidFill>
                            <a:srgbClr val="691C32"/>
                          </a:solidFill>
                          <a:latin typeface="Montserrat"/>
                        </a:defRPr>
                      </a:pPr>
                      <a:r>
                        <a:rPr sz="800"/>
                        <a:t>-0.3%</a:t>
                      </a:r>
                    </a:p>
                  </a:txBody>
                  <a:tcPr anchor="ctr">
                    <a:solidFill>
                      <a:srgbClr val="D9D9D9"/>
                    </a:solidFill>
                  </a:tcPr>
                </a:tc>
                <a:extLst>
                  <a:ext uri="{0D108BD9-81ED-4DB2-BD59-A6C34878D82A}">
                    <a16:rowId xmlns:a16="http://schemas.microsoft.com/office/drawing/2014/main" val="10003"/>
                  </a:ext>
                </a:extLst>
              </a:tr>
              <a:tr h="398122">
                <a:tc>
                  <a:txBody>
                    <a:bodyPr/>
                    <a:lstStyle/>
                    <a:p>
                      <a:pPr algn="ctr">
                        <a:defRPr sz="850">
                          <a:latin typeface="Montserrat"/>
                        </a:defRPr>
                      </a:pPr>
                      <a:r>
                        <a:rPr sz="800"/>
                        <a:t>Instituto Mexicano del Seguro Social</a:t>
                      </a:r>
                    </a:p>
                  </a:txBody>
                  <a:tcPr anchor="ctr">
                    <a:solidFill>
                      <a:srgbClr val="FFFFFF"/>
                    </a:solidFill>
                  </a:tcPr>
                </a:tc>
                <a:tc>
                  <a:txBody>
                    <a:bodyPr/>
                    <a:lstStyle/>
                    <a:p>
                      <a:pPr algn="ctr">
                        <a:defRPr sz="850">
                          <a:latin typeface="Montserrat"/>
                        </a:defRPr>
                      </a:pPr>
                      <a:r>
                        <a:rPr sz="800" dirty="0"/>
                        <a:t>6,414</a:t>
                      </a:r>
                    </a:p>
                  </a:txBody>
                  <a:tcPr anchor="ctr">
                    <a:solidFill>
                      <a:srgbClr val="FFFFFF"/>
                    </a:solidFill>
                  </a:tcPr>
                </a:tc>
                <a:tc>
                  <a:txBody>
                    <a:bodyPr/>
                    <a:lstStyle/>
                    <a:p>
                      <a:pPr algn="ctr">
                        <a:defRPr sz="850">
                          <a:latin typeface="Montserrat"/>
                        </a:defRPr>
                      </a:pPr>
                      <a:r>
                        <a:rPr sz="800"/>
                        <a:t>6,358</a:t>
                      </a:r>
                    </a:p>
                  </a:txBody>
                  <a:tcPr anchor="ctr">
                    <a:solidFill>
                      <a:srgbClr val="FFFFFF"/>
                    </a:solidFill>
                  </a:tcPr>
                </a:tc>
                <a:tc>
                  <a:txBody>
                    <a:bodyPr/>
                    <a:lstStyle/>
                    <a:p>
                      <a:pPr algn="ctr">
                        <a:defRPr sz="850" b="1">
                          <a:solidFill>
                            <a:srgbClr val="691C32"/>
                          </a:solidFill>
                          <a:latin typeface="Montserrat"/>
                        </a:defRPr>
                      </a:pPr>
                      <a:r>
                        <a:rPr sz="800"/>
                        <a:t>-0.9%</a:t>
                      </a:r>
                    </a:p>
                  </a:txBody>
                  <a:tcPr anchor="ctr">
                    <a:solidFill>
                      <a:srgbClr val="FFFFFF"/>
                    </a:solidFill>
                  </a:tcPr>
                </a:tc>
                <a:tc>
                  <a:txBody>
                    <a:bodyPr/>
                    <a:lstStyle/>
                    <a:p>
                      <a:pPr algn="ctr">
                        <a:defRPr sz="850">
                          <a:latin typeface="Montserrat"/>
                        </a:defRPr>
                      </a:pPr>
                      <a:r>
                        <a:rPr sz="800"/>
                        <a:t>Entrada Group de México S. de R.L. de C.V.</a:t>
                      </a:r>
                    </a:p>
                  </a:txBody>
                  <a:tcPr anchor="ctr">
                    <a:solidFill>
                      <a:srgbClr val="FFFFFF"/>
                    </a:solidFill>
                  </a:tcPr>
                </a:tc>
                <a:tc>
                  <a:txBody>
                    <a:bodyPr/>
                    <a:lstStyle/>
                    <a:p>
                      <a:pPr algn="ctr">
                        <a:defRPr sz="850">
                          <a:latin typeface="Montserrat"/>
                        </a:defRPr>
                      </a:pPr>
                      <a:r>
                        <a:rPr sz="800"/>
                        <a:t>4,250</a:t>
                      </a:r>
                    </a:p>
                  </a:txBody>
                  <a:tcPr anchor="ctr">
                    <a:solidFill>
                      <a:srgbClr val="FFFFFF"/>
                    </a:solidFill>
                  </a:tcPr>
                </a:tc>
                <a:tc>
                  <a:txBody>
                    <a:bodyPr/>
                    <a:lstStyle/>
                    <a:p>
                      <a:pPr algn="ctr">
                        <a:defRPr sz="850">
                          <a:latin typeface="Montserrat"/>
                        </a:defRPr>
                      </a:pPr>
                      <a:r>
                        <a:rPr sz="800"/>
                        <a:t>4,276</a:t>
                      </a:r>
                    </a:p>
                  </a:txBody>
                  <a:tcPr anchor="ctr">
                    <a:solidFill>
                      <a:srgbClr val="FFFFFF"/>
                    </a:solidFill>
                  </a:tcPr>
                </a:tc>
                <a:tc>
                  <a:txBody>
                    <a:bodyPr/>
                    <a:lstStyle/>
                    <a:p>
                      <a:pPr algn="ctr">
                        <a:defRPr sz="850" b="1">
                          <a:solidFill>
                            <a:srgbClr val="006455"/>
                          </a:solidFill>
                          <a:latin typeface="Montserrat"/>
                        </a:defRPr>
                      </a:pPr>
                      <a:r>
                        <a:rPr sz="800" dirty="0"/>
                        <a:t>0.6%</a:t>
                      </a:r>
                    </a:p>
                  </a:txBody>
                  <a:tcPr anchor="ctr">
                    <a:solidFill>
                      <a:srgbClr val="FFFFFF"/>
                    </a:solidFill>
                  </a:tcPr>
                </a:tc>
                <a:extLst>
                  <a:ext uri="{0D108BD9-81ED-4DB2-BD59-A6C34878D82A}">
                    <a16:rowId xmlns:a16="http://schemas.microsoft.com/office/drawing/2014/main" val="10004"/>
                  </a:ext>
                </a:extLst>
              </a:tr>
              <a:tr h="290692">
                <a:tc>
                  <a:txBody>
                    <a:bodyPr/>
                    <a:lstStyle/>
                    <a:p>
                      <a:pPr algn="ctr">
                        <a:defRPr sz="850">
                          <a:latin typeface="Montserrat"/>
                        </a:defRPr>
                      </a:pPr>
                      <a:r>
                        <a:rPr sz="800"/>
                        <a:t>Municipio de Guadalupe Zac</a:t>
                      </a:r>
                    </a:p>
                  </a:txBody>
                  <a:tcPr anchor="ctr">
                    <a:solidFill>
                      <a:srgbClr val="D9D9D9"/>
                    </a:solidFill>
                  </a:tcPr>
                </a:tc>
                <a:tc>
                  <a:txBody>
                    <a:bodyPr/>
                    <a:lstStyle/>
                    <a:p>
                      <a:pPr algn="ctr">
                        <a:defRPr sz="850">
                          <a:latin typeface="Montserrat"/>
                        </a:defRPr>
                      </a:pPr>
                      <a:r>
                        <a:rPr sz="800"/>
                        <a:t>1,349</a:t>
                      </a:r>
                    </a:p>
                  </a:txBody>
                  <a:tcPr anchor="ctr">
                    <a:solidFill>
                      <a:srgbClr val="D9D9D9"/>
                    </a:solidFill>
                  </a:tcPr>
                </a:tc>
                <a:tc>
                  <a:txBody>
                    <a:bodyPr/>
                    <a:lstStyle/>
                    <a:p>
                      <a:pPr algn="ctr">
                        <a:defRPr sz="850">
                          <a:latin typeface="Montserrat"/>
                        </a:defRPr>
                      </a:pPr>
                      <a:r>
                        <a:rPr sz="800"/>
                        <a:t>1,347</a:t>
                      </a:r>
                    </a:p>
                  </a:txBody>
                  <a:tcPr anchor="ctr">
                    <a:solidFill>
                      <a:srgbClr val="D9D9D9"/>
                    </a:solidFill>
                  </a:tcPr>
                </a:tc>
                <a:tc>
                  <a:txBody>
                    <a:bodyPr/>
                    <a:lstStyle/>
                    <a:p>
                      <a:pPr algn="ctr">
                        <a:defRPr sz="850" b="1">
                          <a:solidFill>
                            <a:srgbClr val="691C32"/>
                          </a:solidFill>
                          <a:latin typeface="Montserrat"/>
                        </a:defRPr>
                      </a:pPr>
                      <a:r>
                        <a:rPr sz="800"/>
                        <a:t>-0.2%</a:t>
                      </a:r>
                    </a:p>
                  </a:txBody>
                  <a:tcPr anchor="ctr">
                    <a:solidFill>
                      <a:srgbClr val="D9D9D9"/>
                    </a:solidFill>
                  </a:tcPr>
                </a:tc>
                <a:tc>
                  <a:txBody>
                    <a:bodyPr/>
                    <a:lstStyle/>
                    <a:p>
                      <a:pPr algn="ctr">
                        <a:defRPr sz="850">
                          <a:latin typeface="Montserrat"/>
                        </a:defRPr>
                      </a:pPr>
                      <a:r>
                        <a:rPr sz="800" dirty="0"/>
                        <a:t>Minera Fresnillo S.A. de C.V.</a:t>
                      </a:r>
                    </a:p>
                  </a:txBody>
                  <a:tcPr anchor="ctr">
                    <a:solidFill>
                      <a:srgbClr val="D9D9D9"/>
                    </a:solidFill>
                  </a:tcPr>
                </a:tc>
                <a:tc>
                  <a:txBody>
                    <a:bodyPr/>
                    <a:lstStyle/>
                    <a:p>
                      <a:pPr algn="ctr">
                        <a:defRPr sz="850">
                          <a:latin typeface="Montserrat"/>
                        </a:defRPr>
                      </a:pPr>
                      <a:r>
                        <a:rPr sz="800"/>
                        <a:t>1,477</a:t>
                      </a:r>
                    </a:p>
                  </a:txBody>
                  <a:tcPr anchor="ctr">
                    <a:solidFill>
                      <a:srgbClr val="D9D9D9"/>
                    </a:solidFill>
                  </a:tcPr>
                </a:tc>
                <a:tc>
                  <a:txBody>
                    <a:bodyPr/>
                    <a:lstStyle/>
                    <a:p>
                      <a:pPr algn="ctr">
                        <a:defRPr sz="850">
                          <a:latin typeface="Montserrat"/>
                        </a:defRPr>
                      </a:pPr>
                      <a:r>
                        <a:rPr sz="800"/>
                        <a:t>1,483</a:t>
                      </a:r>
                    </a:p>
                  </a:txBody>
                  <a:tcPr anchor="ctr">
                    <a:solidFill>
                      <a:srgbClr val="D9D9D9"/>
                    </a:solidFill>
                  </a:tcPr>
                </a:tc>
                <a:tc>
                  <a:txBody>
                    <a:bodyPr/>
                    <a:lstStyle/>
                    <a:p>
                      <a:pPr algn="ctr">
                        <a:defRPr sz="850" b="1">
                          <a:solidFill>
                            <a:srgbClr val="006455"/>
                          </a:solidFill>
                          <a:latin typeface="Montserrat"/>
                        </a:defRPr>
                      </a:pPr>
                      <a:r>
                        <a:rPr sz="800"/>
                        <a:t>0.4%</a:t>
                      </a:r>
                    </a:p>
                  </a:txBody>
                  <a:tcPr anchor="ctr">
                    <a:solidFill>
                      <a:srgbClr val="D9D9D9"/>
                    </a:solidFill>
                  </a:tcPr>
                </a:tc>
                <a:extLst>
                  <a:ext uri="{0D108BD9-81ED-4DB2-BD59-A6C34878D82A}">
                    <a16:rowId xmlns:a16="http://schemas.microsoft.com/office/drawing/2014/main" val="10005"/>
                  </a:ext>
                </a:extLst>
              </a:tr>
              <a:tr h="505552">
                <a:tc>
                  <a:txBody>
                    <a:bodyPr/>
                    <a:lstStyle/>
                    <a:p>
                      <a:pPr algn="ctr">
                        <a:defRPr sz="850">
                          <a:latin typeface="Montserrat"/>
                        </a:defRPr>
                      </a:pPr>
                      <a:r>
                        <a:rPr sz="800"/>
                        <a:t>Colegio de Bachilleres de Estado De Zacatecas</a:t>
                      </a:r>
                    </a:p>
                  </a:txBody>
                  <a:tcPr anchor="ctr">
                    <a:solidFill>
                      <a:srgbClr val="FFFFFF"/>
                    </a:solidFill>
                  </a:tcPr>
                </a:tc>
                <a:tc>
                  <a:txBody>
                    <a:bodyPr/>
                    <a:lstStyle/>
                    <a:p>
                      <a:pPr algn="ctr">
                        <a:defRPr sz="850">
                          <a:latin typeface="Montserrat"/>
                        </a:defRPr>
                      </a:pPr>
                      <a:r>
                        <a:rPr sz="800"/>
                        <a:t>1,322</a:t>
                      </a:r>
                    </a:p>
                  </a:txBody>
                  <a:tcPr anchor="ctr">
                    <a:solidFill>
                      <a:srgbClr val="FFFFFF"/>
                    </a:solidFill>
                  </a:tcPr>
                </a:tc>
                <a:tc>
                  <a:txBody>
                    <a:bodyPr/>
                    <a:lstStyle/>
                    <a:p>
                      <a:pPr algn="ctr">
                        <a:defRPr sz="850">
                          <a:latin typeface="Montserrat"/>
                        </a:defRPr>
                      </a:pPr>
                      <a:r>
                        <a:rPr sz="800" dirty="0"/>
                        <a:t>1,323</a:t>
                      </a:r>
                    </a:p>
                  </a:txBody>
                  <a:tcPr anchor="ctr">
                    <a:solidFill>
                      <a:srgbClr val="FFFFFF"/>
                    </a:solidFill>
                  </a:tcPr>
                </a:tc>
                <a:tc>
                  <a:txBody>
                    <a:bodyPr/>
                    <a:lstStyle/>
                    <a:p>
                      <a:pPr algn="ctr">
                        <a:defRPr sz="850" b="1">
                          <a:solidFill>
                            <a:srgbClr val="006455"/>
                          </a:solidFill>
                          <a:latin typeface="Montserrat"/>
                        </a:defRPr>
                      </a:pPr>
                      <a:r>
                        <a:rPr sz="800"/>
                        <a:t>0.1%</a:t>
                      </a:r>
                    </a:p>
                  </a:txBody>
                  <a:tcPr anchor="ctr">
                    <a:solidFill>
                      <a:srgbClr val="FFFFFF"/>
                    </a:solidFill>
                  </a:tcPr>
                </a:tc>
                <a:tc>
                  <a:txBody>
                    <a:bodyPr/>
                    <a:lstStyle/>
                    <a:p>
                      <a:pPr algn="ctr">
                        <a:defRPr sz="850">
                          <a:latin typeface="Montserrat"/>
                        </a:defRPr>
                      </a:pPr>
                      <a:r>
                        <a:rPr sz="800" dirty="0"/>
                        <a:t>Minera </a:t>
                      </a:r>
                      <a:r>
                        <a:rPr sz="800" dirty="0" err="1"/>
                        <a:t>Saucito</a:t>
                      </a:r>
                      <a:r>
                        <a:rPr sz="800" dirty="0"/>
                        <a:t> S.A. de C.V.</a:t>
                      </a:r>
                    </a:p>
                  </a:txBody>
                  <a:tcPr anchor="ctr">
                    <a:solidFill>
                      <a:srgbClr val="FFFFFF"/>
                    </a:solidFill>
                  </a:tcPr>
                </a:tc>
                <a:tc>
                  <a:txBody>
                    <a:bodyPr/>
                    <a:lstStyle/>
                    <a:p>
                      <a:pPr algn="ctr">
                        <a:defRPr sz="850">
                          <a:latin typeface="Montserrat"/>
                        </a:defRPr>
                      </a:pPr>
                      <a:r>
                        <a:rPr sz="800" dirty="0"/>
                        <a:t>1,468</a:t>
                      </a:r>
                    </a:p>
                  </a:txBody>
                  <a:tcPr anchor="ctr">
                    <a:solidFill>
                      <a:srgbClr val="FFFFFF"/>
                    </a:solidFill>
                  </a:tcPr>
                </a:tc>
                <a:tc>
                  <a:txBody>
                    <a:bodyPr/>
                    <a:lstStyle/>
                    <a:p>
                      <a:pPr algn="ctr">
                        <a:defRPr sz="850">
                          <a:latin typeface="Montserrat"/>
                        </a:defRPr>
                      </a:pPr>
                      <a:r>
                        <a:rPr sz="800" dirty="0"/>
                        <a:t>1,473</a:t>
                      </a:r>
                    </a:p>
                  </a:txBody>
                  <a:tcPr anchor="ctr">
                    <a:solidFill>
                      <a:srgbClr val="FFFFFF"/>
                    </a:solidFill>
                  </a:tcPr>
                </a:tc>
                <a:tc>
                  <a:txBody>
                    <a:bodyPr/>
                    <a:lstStyle/>
                    <a:p>
                      <a:pPr algn="ctr">
                        <a:defRPr sz="850" b="1">
                          <a:solidFill>
                            <a:srgbClr val="006455"/>
                          </a:solidFill>
                          <a:latin typeface="Montserrat"/>
                        </a:defRPr>
                      </a:pPr>
                      <a:r>
                        <a:rPr sz="800" dirty="0"/>
                        <a:t>0.3%</a:t>
                      </a:r>
                    </a:p>
                  </a:txBody>
                  <a:tcPr anchor="ctr">
                    <a:solidFill>
                      <a:srgbClr val="FFFFFF"/>
                    </a:solidFill>
                  </a:tcPr>
                </a:tc>
                <a:extLst>
                  <a:ext uri="{0D108BD9-81ED-4DB2-BD59-A6C34878D82A}">
                    <a16:rowId xmlns:a16="http://schemas.microsoft.com/office/drawing/2014/main" val="10006"/>
                  </a:ext>
                </a:extLst>
              </a:tr>
              <a:tr h="290692">
                <a:tc>
                  <a:txBody>
                    <a:bodyPr/>
                    <a:lstStyle/>
                    <a:p>
                      <a:pPr algn="ctr">
                        <a:defRPr sz="850">
                          <a:latin typeface="Montserrat"/>
                        </a:defRPr>
                      </a:pPr>
                      <a:r>
                        <a:rPr sz="800"/>
                        <a:t>Municipio de Fresnillo Zacatecas</a:t>
                      </a:r>
                    </a:p>
                  </a:txBody>
                  <a:tcPr anchor="ctr">
                    <a:solidFill>
                      <a:srgbClr val="D9D9D9"/>
                    </a:solidFill>
                  </a:tcPr>
                </a:tc>
                <a:tc>
                  <a:txBody>
                    <a:bodyPr/>
                    <a:lstStyle/>
                    <a:p>
                      <a:pPr algn="ctr">
                        <a:defRPr sz="850">
                          <a:latin typeface="Montserrat"/>
                        </a:defRPr>
                      </a:pPr>
                      <a:r>
                        <a:rPr sz="800"/>
                        <a:t>1,708</a:t>
                      </a:r>
                    </a:p>
                  </a:txBody>
                  <a:tcPr anchor="ctr">
                    <a:solidFill>
                      <a:srgbClr val="D9D9D9"/>
                    </a:solidFill>
                  </a:tcPr>
                </a:tc>
                <a:tc>
                  <a:txBody>
                    <a:bodyPr/>
                    <a:lstStyle/>
                    <a:p>
                      <a:pPr algn="ctr">
                        <a:defRPr sz="850">
                          <a:latin typeface="Montserrat"/>
                        </a:defRPr>
                      </a:pPr>
                      <a:r>
                        <a:rPr sz="800" dirty="0"/>
                        <a:t>1,713</a:t>
                      </a:r>
                    </a:p>
                  </a:txBody>
                  <a:tcPr anchor="ctr">
                    <a:solidFill>
                      <a:srgbClr val="D9D9D9"/>
                    </a:solidFill>
                  </a:tcPr>
                </a:tc>
                <a:tc>
                  <a:txBody>
                    <a:bodyPr/>
                    <a:lstStyle/>
                    <a:p>
                      <a:pPr algn="ctr">
                        <a:defRPr sz="850" b="1">
                          <a:solidFill>
                            <a:srgbClr val="006455"/>
                          </a:solidFill>
                          <a:latin typeface="Montserrat"/>
                        </a:defRPr>
                      </a:pPr>
                      <a:r>
                        <a:rPr sz="800" dirty="0"/>
                        <a:t>0.3%</a:t>
                      </a:r>
                    </a:p>
                  </a:txBody>
                  <a:tcPr anchor="ctr">
                    <a:solidFill>
                      <a:srgbClr val="D9D9D9"/>
                    </a:solidFill>
                  </a:tcPr>
                </a:tc>
                <a:tc>
                  <a:txBody>
                    <a:bodyPr/>
                    <a:lstStyle/>
                    <a:p>
                      <a:pPr algn="ctr">
                        <a:defRPr sz="850">
                          <a:latin typeface="Montserrat"/>
                        </a:defRPr>
                      </a:pPr>
                      <a:r>
                        <a:rPr sz="800" dirty="0"/>
                        <a:t>Minera </a:t>
                      </a:r>
                      <a:r>
                        <a:rPr sz="800" dirty="0" err="1"/>
                        <a:t>Peñasquito</a:t>
                      </a:r>
                      <a:r>
                        <a:rPr sz="800" dirty="0"/>
                        <a:t> S.A. de C.V.</a:t>
                      </a:r>
                    </a:p>
                  </a:txBody>
                  <a:tcPr anchor="ctr">
                    <a:solidFill>
                      <a:srgbClr val="D9D9D9"/>
                    </a:solidFill>
                  </a:tcPr>
                </a:tc>
                <a:tc>
                  <a:txBody>
                    <a:bodyPr/>
                    <a:lstStyle/>
                    <a:p>
                      <a:pPr algn="ctr">
                        <a:defRPr sz="850">
                          <a:latin typeface="Montserrat"/>
                        </a:defRPr>
                      </a:pPr>
                      <a:r>
                        <a:rPr sz="800" dirty="0"/>
                        <a:t>2,176</a:t>
                      </a:r>
                    </a:p>
                  </a:txBody>
                  <a:tcPr anchor="ctr">
                    <a:solidFill>
                      <a:srgbClr val="D9D9D9"/>
                    </a:solidFill>
                  </a:tcPr>
                </a:tc>
                <a:tc>
                  <a:txBody>
                    <a:bodyPr/>
                    <a:lstStyle/>
                    <a:p>
                      <a:pPr algn="ctr">
                        <a:defRPr sz="850">
                          <a:latin typeface="Montserrat"/>
                        </a:defRPr>
                      </a:pPr>
                      <a:r>
                        <a:rPr sz="800" dirty="0"/>
                        <a:t>2,169</a:t>
                      </a:r>
                    </a:p>
                  </a:txBody>
                  <a:tcPr anchor="ctr">
                    <a:solidFill>
                      <a:srgbClr val="D9D9D9"/>
                    </a:solidFill>
                  </a:tcPr>
                </a:tc>
                <a:tc>
                  <a:txBody>
                    <a:bodyPr/>
                    <a:lstStyle/>
                    <a:p>
                      <a:pPr algn="ctr">
                        <a:defRPr sz="850" b="1">
                          <a:solidFill>
                            <a:srgbClr val="691C32"/>
                          </a:solidFill>
                          <a:latin typeface="Montserrat"/>
                        </a:defRPr>
                      </a:pPr>
                      <a:r>
                        <a:rPr sz="800" dirty="0"/>
                        <a:t>-0.3%</a:t>
                      </a:r>
                    </a:p>
                  </a:txBody>
                  <a:tcPr anchor="ctr">
                    <a:solidFill>
                      <a:srgbClr val="D9D9D9"/>
                    </a:solidFill>
                  </a:tcPr>
                </a:tc>
                <a:extLst>
                  <a:ext uri="{0D108BD9-81ED-4DB2-BD59-A6C34878D82A}">
                    <a16:rowId xmlns:a16="http://schemas.microsoft.com/office/drawing/2014/main" val="10007"/>
                  </a:ext>
                </a:extLst>
              </a:tr>
            </a:tbl>
          </a:graphicData>
        </a:graphic>
      </p:graphicFrame>
      <p:graphicFrame>
        <p:nvGraphicFramePr>
          <p:cNvPr id="480" name="Chart 479"/>
          <p:cNvGraphicFramePr>
            <a:graphicFrameLocks noGrp="1"/>
          </p:cNvGraphicFramePr>
          <p:nvPr>
            <p:extLst>
              <p:ext uri="{D42A27DB-BD31-4B8C-83A1-F6EECF244321}">
                <p14:modId xmlns:p14="http://schemas.microsoft.com/office/powerpoint/2010/main" val="2407557581"/>
              </p:ext>
            </p:extLst>
          </p:nvPr>
        </p:nvGraphicFramePr>
        <p:xfrm>
          <a:off x="72000" y="4238218"/>
          <a:ext cx="7016399" cy="3726000"/>
        </p:xfrm>
        <a:graphic>
          <a:graphicData uri="http://schemas.openxmlformats.org/drawingml/2006/chart">
            <c:chart xmlns:c="http://schemas.openxmlformats.org/drawingml/2006/chart" xmlns:r="http://schemas.openxmlformats.org/officeDocument/2006/relationships" r:id="rId4"/>
          </a:graphicData>
        </a:graphic>
      </p:graphicFrame>
      <p:sp>
        <p:nvSpPr>
          <p:cNvPr id="481" name="Rounded Rectangle 480"/>
          <p:cNvSpPr/>
          <p:nvPr/>
        </p:nvSpPr>
        <p:spPr>
          <a:xfrm>
            <a:off x="7020000" y="4367818"/>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-42.00%</a:t>
            </a:r>
          </a:p>
        </p:txBody>
      </p:sp>
      <p:sp>
        <p:nvSpPr>
          <p:cNvPr id="482" name="Rounded Rectangle 481"/>
          <p:cNvSpPr/>
          <p:nvPr/>
        </p:nvSpPr>
        <p:spPr>
          <a:xfrm>
            <a:off x="7020000" y="4763818"/>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-1.25%</a:t>
            </a:r>
          </a:p>
        </p:txBody>
      </p:sp>
      <p:sp>
        <p:nvSpPr>
          <p:cNvPr id="483" name="Rounded Rectangle 482"/>
          <p:cNvSpPr/>
          <p:nvPr/>
        </p:nvSpPr>
        <p:spPr>
          <a:xfrm>
            <a:off x="7020000" y="5159818"/>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+0.06%</a:t>
            </a:r>
          </a:p>
        </p:txBody>
      </p:sp>
      <p:sp>
        <p:nvSpPr>
          <p:cNvPr id="484" name="Rounded Rectangle 483"/>
          <p:cNvSpPr/>
          <p:nvPr/>
        </p:nvSpPr>
        <p:spPr>
          <a:xfrm>
            <a:off x="7020000" y="5555818"/>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+0.38%</a:t>
            </a:r>
          </a:p>
        </p:txBody>
      </p:sp>
      <p:sp>
        <p:nvSpPr>
          <p:cNvPr id="485" name="Rounded Rectangle 484"/>
          <p:cNvSpPr/>
          <p:nvPr/>
        </p:nvSpPr>
        <p:spPr>
          <a:xfrm>
            <a:off x="7020000" y="5951818"/>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+1.87%</a:t>
            </a:r>
          </a:p>
        </p:txBody>
      </p:sp>
      <p:sp>
        <p:nvSpPr>
          <p:cNvPr id="486" name="Rounded Rectangle 485"/>
          <p:cNvSpPr/>
          <p:nvPr/>
        </p:nvSpPr>
        <p:spPr>
          <a:xfrm>
            <a:off x="7020000" y="6347818"/>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+3.15%</a:t>
            </a:r>
          </a:p>
        </p:txBody>
      </p:sp>
      <p:sp>
        <p:nvSpPr>
          <p:cNvPr id="487" name="Rounded Rectangle 486"/>
          <p:cNvSpPr/>
          <p:nvPr/>
        </p:nvSpPr>
        <p:spPr>
          <a:xfrm>
            <a:off x="7020000" y="6743818"/>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+3.39%</a:t>
            </a:r>
          </a:p>
        </p:txBody>
      </p:sp>
      <p:sp>
        <p:nvSpPr>
          <p:cNvPr id="488" name="Rounded Rectangle 487"/>
          <p:cNvSpPr/>
          <p:nvPr/>
        </p:nvSpPr>
        <p:spPr>
          <a:xfrm>
            <a:off x="7020000" y="7139818"/>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+3.70%</a:t>
            </a:r>
          </a:p>
        </p:txBody>
      </p:sp>
      <p:sp>
        <p:nvSpPr>
          <p:cNvPr id="489" name="Rounded Rectangle 488"/>
          <p:cNvSpPr/>
          <p:nvPr/>
        </p:nvSpPr>
        <p:spPr>
          <a:xfrm>
            <a:off x="7020000" y="7535818"/>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+6.04%</a:t>
            </a:r>
          </a:p>
        </p:txBody>
      </p:sp>
      <p:sp>
        <p:nvSpPr>
          <p:cNvPr id="490" name="Rounded Rectangle 489"/>
          <p:cNvSpPr/>
          <p:nvPr/>
        </p:nvSpPr>
        <p:spPr>
          <a:xfrm>
            <a:off x="4525200" y="4079817"/>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2025</a:t>
            </a:r>
          </a:p>
        </p:txBody>
      </p:sp>
      <p:sp>
        <p:nvSpPr>
          <p:cNvPr id="491" name="Rounded Rectangle 490"/>
          <p:cNvSpPr/>
          <p:nvPr/>
        </p:nvSpPr>
        <p:spPr>
          <a:xfrm>
            <a:off x="5425200" y="4079817"/>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May 2026</a:t>
            </a:r>
          </a:p>
        </p:txBody>
      </p:sp>
      <p:graphicFrame>
        <p:nvGraphicFramePr>
          <p:cNvPr id="492" name="Table 491"/>
          <p:cNvGraphicFramePr>
            <a:graphicFrameLocks noGrp="1"/>
          </p:cNvGraphicFramePr>
          <p:nvPr>
            <p:extLst>
              <p:ext uri="{D42A27DB-BD31-4B8C-83A1-F6EECF244321}">
                <p14:modId xmlns:p14="http://schemas.microsoft.com/office/powerpoint/2010/main" val="50900868"/>
              </p:ext>
            </p:extLst>
          </p:nvPr>
        </p:nvGraphicFramePr>
        <p:xfrm>
          <a:off x="853200" y="8327138"/>
          <a:ext cx="5875200" cy="1066800"/>
        </p:xfrm>
        <a:graphic>
          <a:graphicData uri="http://schemas.openxmlformats.org/drawingml/2006/table">
            <a:tbl>
              <a:tblPr firstRow="1" bandRow="1">
                <a:tableStyleId>{5C22544A-7EE6-4342-B048-85BDC9FD1C3A}</a:tableStyleId>
              </a:tblPr>
              <a:tblGrid>
                <a:gridCol w="1260000">
                  <a:extLst>
                    <a:ext uri="{9D8B030D-6E8A-4147-A177-3AD203B41FA5}">
                      <a16:colId xmlns:a16="http://schemas.microsoft.com/office/drawing/2014/main" val="20000"/>
                    </a:ext>
                  </a:extLst>
                </a:gridCol>
                <a:gridCol w="838800">
                  <a:extLst>
                    <a:ext uri="{9D8B030D-6E8A-4147-A177-3AD203B41FA5}">
                      <a16:colId xmlns:a16="http://schemas.microsoft.com/office/drawing/2014/main" val="20001"/>
                    </a:ext>
                  </a:extLst>
                </a:gridCol>
                <a:gridCol w="838800">
                  <a:extLst>
                    <a:ext uri="{9D8B030D-6E8A-4147-A177-3AD203B41FA5}">
                      <a16:colId xmlns:a16="http://schemas.microsoft.com/office/drawing/2014/main" val="20002"/>
                    </a:ext>
                  </a:extLst>
                </a:gridCol>
                <a:gridCol w="838800">
                  <a:extLst>
                    <a:ext uri="{9D8B030D-6E8A-4147-A177-3AD203B41FA5}">
                      <a16:colId xmlns:a16="http://schemas.microsoft.com/office/drawing/2014/main" val="20003"/>
                    </a:ext>
                  </a:extLst>
                </a:gridCol>
                <a:gridCol w="838800">
                  <a:extLst>
                    <a:ext uri="{9D8B030D-6E8A-4147-A177-3AD203B41FA5}">
                      <a16:colId xmlns:a16="http://schemas.microsoft.com/office/drawing/2014/main" val="20004"/>
                    </a:ext>
                  </a:extLst>
                </a:gridCol>
                <a:gridCol w="1260000">
                  <a:extLst>
                    <a:ext uri="{9D8B030D-6E8A-4147-A177-3AD203B41FA5}">
                      <a16:colId xmlns:a16="http://schemas.microsoft.com/office/drawing/2014/main" val="20005"/>
                    </a:ext>
                  </a:extLst>
                </a:gridCol>
              </a:tblGrid>
              <a:tr h="122386">
                <a:tc rowSpan="2">
                  <a:txBody>
                    <a:bodyPr/>
                    <a:lstStyle/>
                    <a:p>
                      <a:pPr algn="ctr">
                        <a:defRPr sz="1000" b="1">
                          <a:solidFill>
                            <a:srgbClr val="FFFFFF"/>
                          </a:solidFill>
                          <a:latin typeface="Montserrat"/>
                        </a:defRPr>
                      </a:pPr>
                      <a:r>
                        <a:rPr sz="800" dirty="0"/>
                        <a:t>Mes</a:t>
                      </a:r>
                    </a:p>
                  </a:txBody>
                  <a:tcPr anchor="ctr">
                    <a:solidFill>
                      <a:srgbClr val="BC955C"/>
                    </a:solidFill>
                  </a:tcPr>
                </a:tc>
                <a:tc gridSpan="2">
                  <a:txBody>
                    <a:bodyPr/>
                    <a:lstStyle/>
                    <a:p>
                      <a:pPr algn="ctr">
                        <a:defRPr sz="1000" b="1">
                          <a:solidFill>
                            <a:srgbClr val="FFFFFF"/>
                          </a:solidFill>
                          <a:latin typeface="Montserrat"/>
                        </a:defRPr>
                      </a:pPr>
                      <a:r>
                        <a:rPr sz="800" dirty="0"/>
                        <a:t>Permanente</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gridSpan="2">
                  <a:txBody>
                    <a:bodyPr/>
                    <a:lstStyle/>
                    <a:p>
                      <a:pPr algn="ctr">
                        <a:defRPr sz="1000" b="1">
                          <a:solidFill>
                            <a:srgbClr val="FFFFFF"/>
                          </a:solidFill>
                          <a:latin typeface="Montserrat"/>
                        </a:defRPr>
                      </a:pPr>
                      <a:r>
                        <a:rPr sz="800" dirty="0"/>
                        <a:t>Eventual</a:t>
                      </a:r>
                    </a:p>
                  </a:txBody>
                  <a:tcPr anchor="ctr">
                    <a:solidFill>
                      <a:srgbClr val="BC955C"/>
                    </a:solidFill>
                  </a:tcPr>
                </a:tc>
                <a:tc hMerge="1">
                  <a:txBody>
                    <a:bodyPr/>
                    <a:lstStyle/>
                    <a:p>
                      <a:pPr algn="ctr">
                        <a:defRPr sz="1000" b="1">
                          <a:solidFill>
                            <a:srgbClr val="FFFFFF"/>
                          </a:solidFill>
                          <a:latin typeface="Montserrat"/>
                        </a:defRPr>
                      </a:pPr>
                      <a:endParaRPr/>
                    </a:p>
                  </a:txBody>
                  <a:tcPr anchor="ctr">
                    <a:solidFill>
                      <a:srgbClr val="BC955C"/>
                    </a:solidFill>
                  </a:tcPr>
                </a:tc>
                <a:tc rowSpan="2">
                  <a:txBody>
                    <a:bodyPr/>
                    <a:lstStyle/>
                    <a:p>
                      <a:pPr algn="ctr">
                        <a:defRPr sz="1000" b="1">
                          <a:solidFill>
                            <a:srgbClr val="FFFFFF"/>
                          </a:solidFill>
                          <a:latin typeface="Montserrat"/>
                        </a:defRPr>
                      </a:pPr>
                      <a:r>
                        <a:rPr sz="800"/>
                        <a:t>Total</a:t>
                      </a:r>
                    </a:p>
                  </a:txBody>
                  <a:tcPr anchor="ctr">
                    <a:solidFill>
                      <a:srgbClr val="BC955C"/>
                    </a:solidFill>
                  </a:tcPr>
                </a:tc>
                <a:extLst>
                  <a:ext uri="{0D108BD9-81ED-4DB2-BD59-A6C34878D82A}">
                    <a16:rowId xmlns:a16="http://schemas.microsoft.com/office/drawing/2014/main" val="10000"/>
                  </a:ext>
                </a:extLst>
              </a:tr>
              <a:tr h="122386">
                <a:tc vMerge="1">
                  <a:txBody>
                    <a:bodyPr/>
                    <a:lstStyle/>
                    <a:p>
                      <a:pPr algn="ctr">
                        <a:defRPr sz="1000" b="1">
                          <a:solidFill>
                            <a:srgbClr val="FFFFFF"/>
                          </a:solidFill>
                          <a:latin typeface="Montserrat"/>
                        </a:defRPr>
                      </a:pPr>
                      <a:endParaRPr/>
                    </a:p>
                  </a:txBody>
                  <a:tcPr anchor="ctr">
                    <a:solidFill>
                      <a:srgbClr val="BC955C"/>
                    </a:solidFill>
                  </a:tcPr>
                </a:tc>
                <a:tc>
                  <a:txBody>
                    <a:bodyPr/>
                    <a:lstStyle/>
                    <a:p>
                      <a:pPr algn="ctr">
                        <a:defRPr sz="1000" b="1">
                          <a:solidFill>
                            <a:srgbClr val="FFFFFF"/>
                          </a:solidFill>
                          <a:latin typeface="Montserrat"/>
                        </a:defRPr>
                      </a:pPr>
                      <a:r>
                        <a:rPr sz="800"/>
                        <a:t>Urbano</a:t>
                      </a:r>
                    </a:p>
                  </a:txBody>
                  <a:tcPr anchor="ctr">
                    <a:solidFill>
                      <a:srgbClr val="BC955C"/>
                    </a:solidFill>
                  </a:tcPr>
                </a:tc>
                <a:tc>
                  <a:txBody>
                    <a:bodyPr/>
                    <a:lstStyle/>
                    <a:p>
                      <a:pPr algn="ctr">
                        <a:defRPr sz="1000" b="1">
                          <a:solidFill>
                            <a:srgbClr val="FFFFFF"/>
                          </a:solidFill>
                          <a:latin typeface="Montserrat"/>
                        </a:defRPr>
                      </a:pPr>
                      <a:r>
                        <a:rPr sz="800"/>
                        <a:t>Campo</a:t>
                      </a:r>
                    </a:p>
                  </a:txBody>
                  <a:tcPr anchor="ctr">
                    <a:solidFill>
                      <a:srgbClr val="BC955C"/>
                    </a:solidFill>
                  </a:tcPr>
                </a:tc>
                <a:tc>
                  <a:txBody>
                    <a:bodyPr/>
                    <a:lstStyle/>
                    <a:p>
                      <a:pPr algn="ctr">
                        <a:defRPr sz="1000" b="1">
                          <a:solidFill>
                            <a:srgbClr val="FFFFFF"/>
                          </a:solidFill>
                          <a:latin typeface="Montserrat"/>
                        </a:defRPr>
                      </a:pPr>
                      <a:r>
                        <a:rPr sz="800"/>
                        <a:t>Urbano</a:t>
                      </a:r>
                    </a:p>
                  </a:txBody>
                  <a:tcPr anchor="ctr">
                    <a:solidFill>
                      <a:srgbClr val="BC955C"/>
                    </a:solidFill>
                  </a:tcPr>
                </a:tc>
                <a:tc>
                  <a:txBody>
                    <a:bodyPr/>
                    <a:lstStyle/>
                    <a:p>
                      <a:pPr algn="ctr">
                        <a:defRPr sz="1000" b="1">
                          <a:solidFill>
                            <a:srgbClr val="FFFFFF"/>
                          </a:solidFill>
                          <a:latin typeface="Montserrat"/>
                        </a:defRPr>
                      </a:pPr>
                      <a:r>
                        <a:rPr sz="800" dirty="0"/>
                        <a:t>Campo</a:t>
                      </a:r>
                    </a:p>
                  </a:txBody>
                  <a:tcPr anchor="ctr">
                    <a:solidFill>
                      <a:srgbClr val="BC955C"/>
                    </a:solidFill>
                  </a:tcPr>
                </a:tc>
                <a:tc vMerge="1">
                  <a:txBody>
                    <a:bodyPr/>
                    <a:lstStyle/>
                    <a:p>
                      <a:pPr algn="ctr">
                        <a:defRPr sz="1000" b="1">
                          <a:solidFill>
                            <a:srgbClr val="FFFFFF"/>
                          </a:solidFill>
                          <a:latin typeface="Montserrat"/>
                        </a:defRPr>
                      </a:pPr>
                      <a:endParaRPr/>
                    </a:p>
                  </a:txBody>
                  <a:tcPr anchor="ctr">
                    <a:solidFill>
                      <a:srgbClr val="BC955C"/>
                    </a:solidFill>
                  </a:tcPr>
                </a:tc>
                <a:extLst>
                  <a:ext uri="{0D108BD9-81ED-4DB2-BD59-A6C34878D82A}">
                    <a16:rowId xmlns:a16="http://schemas.microsoft.com/office/drawing/2014/main" val="10001"/>
                  </a:ext>
                </a:extLst>
              </a:tr>
              <a:tr h="122386">
                <a:tc>
                  <a:txBody>
                    <a:bodyPr/>
                    <a:lstStyle/>
                    <a:p>
                      <a:pPr algn="ctr">
                        <a:defRPr sz="900">
                          <a:latin typeface="Montserrat"/>
                        </a:defRPr>
                      </a:pPr>
                      <a:r>
                        <a:rPr sz="800"/>
                        <a:t>May 2025</a:t>
                      </a:r>
                    </a:p>
                  </a:txBody>
                  <a:tcPr>
                    <a:solidFill>
                      <a:srgbClr val="FFFFFF"/>
                    </a:solidFill>
                  </a:tcPr>
                </a:tc>
                <a:tc>
                  <a:txBody>
                    <a:bodyPr/>
                    <a:lstStyle/>
                    <a:p>
                      <a:pPr algn="ctr">
                        <a:defRPr sz="900">
                          <a:latin typeface="Montserrat"/>
                        </a:defRPr>
                      </a:pPr>
                      <a:r>
                        <a:rPr sz="800"/>
                        <a:t>156,015</a:t>
                      </a:r>
                    </a:p>
                  </a:txBody>
                  <a:tcPr>
                    <a:solidFill>
                      <a:srgbClr val="FFFFFF"/>
                    </a:solidFill>
                  </a:tcPr>
                </a:tc>
                <a:tc>
                  <a:txBody>
                    <a:bodyPr/>
                    <a:lstStyle/>
                    <a:p>
                      <a:pPr algn="ctr">
                        <a:defRPr sz="900">
                          <a:latin typeface="Montserrat"/>
                        </a:defRPr>
                      </a:pPr>
                      <a:r>
                        <a:rPr sz="800"/>
                        <a:t>3,591</a:t>
                      </a:r>
                    </a:p>
                  </a:txBody>
                  <a:tcPr>
                    <a:solidFill>
                      <a:srgbClr val="FFFFFF"/>
                    </a:solidFill>
                  </a:tcPr>
                </a:tc>
                <a:tc>
                  <a:txBody>
                    <a:bodyPr/>
                    <a:lstStyle/>
                    <a:p>
                      <a:pPr algn="ctr">
                        <a:defRPr sz="900">
                          <a:latin typeface="Montserrat"/>
                        </a:defRPr>
                      </a:pPr>
                      <a:r>
                        <a:rPr sz="800" dirty="0"/>
                        <a:t>28,475</a:t>
                      </a:r>
                    </a:p>
                  </a:txBody>
                  <a:tcPr>
                    <a:solidFill>
                      <a:srgbClr val="FFFFFF"/>
                    </a:solidFill>
                  </a:tcPr>
                </a:tc>
                <a:tc>
                  <a:txBody>
                    <a:bodyPr/>
                    <a:lstStyle/>
                    <a:p>
                      <a:pPr algn="ctr">
                        <a:defRPr sz="900">
                          <a:latin typeface="Montserrat"/>
                        </a:defRPr>
                      </a:pPr>
                      <a:r>
                        <a:rPr sz="800"/>
                        <a:t>1,779</a:t>
                      </a:r>
                    </a:p>
                  </a:txBody>
                  <a:tcPr>
                    <a:solidFill>
                      <a:srgbClr val="FFFFFF"/>
                    </a:solidFill>
                  </a:tcPr>
                </a:tc>
                <a:tc>
                  <a:txBody>
                    <a:bodyPr/>
                    <a:lstStyle/>
                    <a:p>
                      <a:pPr algn="ctr">
                        <a:defRPr sz="900">
                          <a:latin typeface="Montserrat"/>
                        </a:defRPr>
                      </a:pPr>
                      <a:r>
                        <a:rPr sz="800" dirty="0"/>
                        <a:t>189,860</a:t>
                      </a:r>
                    </a:p>
                  </a:txBody>
                  <a:tcPr>
                    <a:solidFill>
                      <a:srgbClr val="FFFFFF"/>
                    </a:solidFill>
                  </a:tcPr>
                </a:tc>
                <a:extLst>
                  <a:ext uri="{0D108BD9-81ED-4DB2-BD59-A6C34878D82A}">
                    <a16:rowId xmlns:a16="http://schemas.microsoft.com/office/drawing/2014/main" val="10002"/>
                  </a:ext>
                </a:extLst>
              </a:tr>
              <a:tr h="122386">
                <a:tc>
                  <a:txBody>
                    <a:bodyPr/>
                    <a:lstStyle/>
                    <a:p>
                      <a:pPr algn="ctr">
                        <a:defRPr sz="900">
                          <a:latin typeface="Montserrat"/>
                        </a:defRPr>
                      </a:pPr>
                      <a:r>
                        <a:rPr sz="800"/>
                        <a:t>May 2026</a:t>
                      </a:r>
                    </a:p>
                  </a:txBody>
                  <a:tcPr>
                    <a:solidFill>
                      <a:srgbClr val="D9D9D9"/>
                    </a:solidFill>
                  </a:tcPr>
                </a:tc>
                <a:tc>
                  <a:txBody>
                    <a:bodyPr/>
                    <a:lstStyle/>
                    <a:p>
                      <a:pPr algn="ctr">
                        <a:defRPr sz="900">
                          <a:latin typeface="Montserrat"/>
                        </a:defRPr>
                      </a:pPr>
                      <a:r>
                        <a:rPr sz="800"/>
                        <a:t>158,643</a:t>
                      </a:r>
                    </a:p>
                  </a:txBody>
                  <a:tcPr>
                    <a:solidFill>
                      <a:srgbClr val="D9D9D9"/>
                    </a:solidFill>
                  </a:tcPr>
                </a:tc>
                <a:tc>
                  <a:txBody>
                    <a:bodyPr/>
                    <a:lstStyle/>
                    <a:p>
                      <a:pPr algn="ctr">
                        <a:defRPr sz="900">
                          <a:latin typeface="Montserrat"/>
                        </a:defRPr>
                      </a:pPr>
                      <a:r>
                        <a:rPr sz="800"/>
                        <a:t>2,178</a:t>
                      </a:r>
                    </a:p>
                  </a:txBody>
                  <a:tcPr>
                    <a:solidFill>
                      <a:srgbClr val="D9D9D9"/>
                    </a:solidFill>
                  </a:tcPr>
                </a:tc>
                <a:tc>
                  <a:txBody>
                    <a:bodyPr/>
                    <a:lstStyle/>
                    <a:p>
                      <a:pPr algn="ctr">
                        <a:defRPr sz="900">
                          <a:latin typeface="Montserrat"/>
                        </a:defRPr>
                      </a:pPr>
                      <a:r>
                        <a:rPr sz="800"/>
                        <a:t>28,661</a:t>
                      </a:r>
                    </a:p>
                  </a:txBody>
                  <a:tcPr>
                    <a:solidFill>
                      <a:srgbClr val="D9D9D9"/>
                    </a:solidFill>
                  </a:tcPr>
                </a:tc>
                <a:tc>
                  <a:txBody>
                    <a:bodyPr/>
                    <a:lstStyle/>
                    <a:p>
                      <a:pPr algn="ctr">
                        <a:defRPr sz="900">
                          <a:latin typeface="Montserrat"/>
                        </a:defRPr>
                      </a:pPr>
                      <a:r>
                        <a:rPr sz="800"/>
                        <a:t>454</a:t>
                      </a:r>
                    </a:p>
                  </a:txBody>
                  <a:tcPr>
                    <a:solidFill>
                      <a:srgbClr val="D9D9D9"/>
                    </a:solidFill>
                  </a:tcPr>
                </a:tc>
                <a:tc>
                  <a:txBody>
                    <a:bodyPr/>
                    <a:lstStyle/>
                    <a:p>
                      <a:pPr algn="ctr">
                        <a:defRPr sz="900">
                          <a:latin typeface="Montserrat"/>
                        </a:defRPr>
                      </a:pPr>
                      <a:r>
                        <a:rPr sz="800" dirty="0"/>
                        <a:t>189,936</a:t>
                      </a:r>
                    </a:p>
                  </a:txBody>
                  <a:tcPr>
                    <a:solidFill>
                      <a:srgbClr val="D9D9D9"/>
                    </a:solidFill>
                  </a:tcPr>
                </a:tc>
                <a:extLst>
                  <a:ext uri="{0D108BD9-81ED-4DB2-BD59-A6C34878D82A}">
                    <a16:rowId xmlns:a16="http://schemas.microsoft.com/office/drawing/2014/main" val="10003"/>
                  </a:ext>
                </a:extLst>
              </a:tr>
              <a:tr h="122386">
                <a:tc>
                  <a:txBody>
                    <a:bodyPr/>
                    <a:lstStyle/>
                    <a:p>
                      <a:pPr algn="ctr">
                        <a:defRPr sz="900">
                          <a:latin typeface="Montserrat"/>
                        </a:defRPr>
                      </a:pPr>
                      <a:r>
                        <a:rPr sz="800"/>
                        <a:t>Variación %</a:t>
                      </a:r>
                    </a:p>
                  </a:txBody>
                  <a:tcPr>
                    <a:solidFill>
                      <a:srgbClr val="FFFFFF"/>
                    </a:solidFill>
                  </a:tcPr>
                </a:tc>
                <a:tc>
                  <a:txBody>
                    <a:bodyPr/>
                    <a:lstStyle/>
                    <a:p>
                      <a:pPr algn="ctr">
                        <a:defRPr sz="900" b="1">
                          <a:solidFill>
                            <a:srgbClr val="006455"/>
                          </a:solidFill>
                          <a:latin typeface="Montserrat"/>
                        </a:defRPr>
                      </a:pPr>
                      <a:r>
                        <a:rPr sz="800"/>
                        <a:t>+1.7%</a:t>
                      </a:r>
                    </a:p>
                  </a:txBody>
                  <a:tcPr>
                    <a:solidFill>
                      <a:srgbClr val="FFFFFF"/>
                    </a:solidFill>
                  </a:tcPr>
                </a:tc>
                <a:tc>
                  <a:txBody>
                    <a:bodyPr/>
                    <a:lstStyle/>
                    <a:p>
                      <a:pPr algn="ctr">
                        <a:defRPr sz="900" b="0">
                          <a:solidFill>
                            <a:srgbClr val="691C32"/>
                          </a:solidFill>
                          <a:latin typeface="Montserrat"/>
                        </a:defRPr>
                      </a:pPr>
                      <a:r>
                        <a:rPr sz="800"/>
                        <a:t>-39.3%</a:t>
                      </a:r>
                    </a:p>
                  </a:txBody>
                  <a:tcPr>
                    <a:solidFill>
                      <a:srgbClr val="FFFFFF"/>
                    </a:solidFill>
                  </a:tcPr>
                </a:tc>
                <a:tc>
                  <a:txBody>
                    <a:bodyPr/>
                    <a:lstStyle/>
                    <a:p>
                      <a:pPr algn="ctr">
                        <a:defRPr sz="900" b="1">
                          <a:solidFill>
                            <a:srgbClr val="006455"/>
                          </a:solidFill>
                          <a:latin typeface="Montserrat"/>
                        </a:defRPr>
                      </a:pPr>
                      <a:r>
                        <a:rPr sz="800" dirty="0"/>
                        <a:t>+0.7%</a:t>
                      </a:r>
                    </a:p>
                  </a:txBody>
                  <a:tcPr>
                    <a:solidFill>
                      <a:srgbClr val="FFFFFF"/>
                    </a:solidFill>
                  </a:tcPr>
                </a:tc>
                <a:tc>
                  <a:txBody>
                    <a:bodyPr/>
                    <a:lstStyle/>
                    <a:p>
                      <a:pPr algn="ctr">
                        <a:defRPr sz="900" b="0">
                          <a:solidFill>
                            <a:srgbClr val="691C32"/>
                          </a:solidFill>
                          <a:latin typeface="Montserrat"/>
                        </a:defRPr>
                      </a:pPr>
                      <a:r>
                        <a:rPr sz="800"/>
                        <a:t>-74.5%</a:t>
                      </a:r>
                    </a:p>
                  </a:txBody>
                  <a:tcPr>
                    <a:solidFill>
                      <a:srgbClr val="FFFFFF"/>
                    </a:solidFill>
                  </a:tcPr>
                </a:tc>
                <a:tc>
                  <a:txBody>
                    <a:bodyPr/>
                    <a:lstStyle/>
                    <a:p>
                      <a:pPr algn="ctr">
                        <a:defRPr sz="900">
                          <a:latin typeface="Montserrat"/>
                        </a:defRPr>
                      </a:pPr>
                      <a:r>
                        <a:rPr sz="800" dirty="0"/>
                        <a:t>+0.0%</a:t>
                      </a:r>
                    </a:p>
                  </a:txBody>
                  <a:tcPr>
                    <a:solidFill>
                      <a:srgbClr val="FFFFFF"/>
                    </a:solidFill>
                  </a:tcPr>
                </a:tc>
                <a:extLst>
                  <a:ext uri="{0D108BD9-81ED-4DB2-BD59-A6C34878D82A}">
                    <a16:rowId xmlns:a16="http://schemas.microsoft.com/office/drawing/2014/main" val="10004"/>
                  </a:ext>
                </a:extLst>
              </a:tr>
            </a:tbl>
          </a:graphicData>
        </a:graphic>
      </p:graphicFrame>
      <p:sp>
        <p:nvSpPr>
          <p:cNvPr id="493" name="TextBox 492"/>
          <p:cNvSpPr txBox="1"/>
          <p:nvPr/>
        </p:nvSpPr>
        <p:spPr>
          <a:xfrm>
            <a:off x="208800" y="96444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624E426C-214B-9408-8FCC-3D097E7961AD}"/>
              </a:ext>
            </a:extLst>
          </p:cNvPr>
          <p:cNvSpPr/>
          <p:nvPr/>
        </p:nvSpPr>
        <p:spPr>
          <a:xfrm>
            <a:off x="751977" y="1145142"/>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ZACATECAS</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$601.00</a:t>
            </a:r>
          </a:p>
          <a:p>
            <a:pPr algn="ctr">
              <a:defRPr sz="800" b="1">
                <a:solidFill>
                  <a:srgbClr val="FFFFFF"/>
                </a:solidFill>
                <a:latin typeface="Montserrat"/>
              </a:defRPr>
            </a:pPr>
            <a:r>
              <a:t>SBC</a:t>
            </a:r>
          </a:p>
          <a:p>
            <a:pPr algn="ctr">
              <a:defRPr sz="800" b="0">
                <a:solidFill>
                  <a:srgbClr val="FFFFFF"/>
                </a:solidFill>
                <a:latin typeface="Montserrat"/>
              </a:defRPr>
            </a:pPr>
            <a:r>
              <a:t>Mayo</a:t>
            </a:r>
          </a:p>
        </p:txBody>
      </p:sp>
      <p:graphicFrame>
        <p:nvGraphicFramePr>
          <p:cNvPr id="503" name="Table 502"/>
          <p:cNvGraphicFramePr>
            <a:graphicFrameLocks noGrp="1"/>
          </p:cNvGraphicFramePr>
          <p:nvPr/>
        </p:nvGraphicFramePr>
        <p:xfrm>
          <a:off x="478800" y="1130400"/>
          <a:ext cx="6638400" cy="1021080"/>
        </p:xfrm>
        <a:graphic>
          <a:graphicData uri="http://schemas.openxmlformats.org/drawingml/2006/table">
            <a:tbl>
              <a:tblPr firstRow="1" bandRow="1">
                <a:tableStyleId>{5C22544A-7EE6-4342-B048-85BDC9FD1C3A}</a:tableStyleId>
              </a:tblPr>
              <a:tblGrid>
                <a:gridCol w="1106400">
                  <a:extLst>
                    <a:ext uri="{9D8B030D-6E8A-4147-A177-3AD203B41FA5}">
                      <a16:colId xmlns:a16="http://schemas.microsoft.com/office/drawing/2014/main" val="20000"/>
                    </a:ext>
                  </a:extLst>
                </a:gridCol>
                <a:gridCol w="1106400">
                  <a:extLst>
                    <a:ext uri="{9D8B030D-6E8A-4147-A177-3AD203B41FA5}">
                      <a16:colId xmlns:a16="http://schemas.microsoft.com/office/drawing/2014/main" val="20001"/>
                    </a:ext>
                  </a:extLst>
                </a:gridCol>
                <a:gridCol w="1106400">
                  <a:extLst>
                    <a:ext uri="{9D8B030D-6E8A-4147-A177-3AD203B41FA5}">
                      <a16:colId xmlns:a16="http://schemas.microsoft.com/office/drawing/2014/main" val="20002"/>
                    </a:ext>
                  </a:extLst>
                </a:gridCol>
                <a:gridCol w="1106400">
                  <a:extLst>
                    <a:ext uri="{9D8B030D-6E8A-4147-A177-3AD203B41FA5}">
                      <a16:colId xmlns:a16="http://schemas.microsoft.com/office/drawing/2014/main" val="20003"/>
                    </a:ext>
                  </a:extLst>
                </a:gridCol>
                <a:gridCol w="1106400">
                  <a:extLst>
                    <a:ext uri="{9D8B030D-6E8A-4147-A177-3AD203B41FA5}">
                      <a16:colId xmlns:a16="http://schemas.microsoft.com/office/drawing/2014/main" val="20004"/>
                    </a:ext>
                  </a:extLst>
                </a:gridCol>
                <a:gridCol w="1106400">
                  <a:extLst>
                    <a:ext uri="{9D8B030D-6E8A-4147-A177-3AD203B41FA5}">
                      <a16:colId xmlns:a16="http://schemas.microsoft.com/office/drawing/2014/main" val="20005"/>
                    </a:ext>
                  </a:extLst>
                </a:gridCol>
              </a:tblGrid>
              <a:tr h="288000">
                <a:tc>
                  <a:txBody>
                    <a:bodyPr/>
                    <a:lstStyle/>
                    <a:p>
                      <a:pPr algn="ctr">
                        <a:defRPr sz="1100" b="1">
                          <a:solidFill>
                            <a:srgbClr val="FFFFFF"/>
                          </a:solidFill>
                          <a:latin typeface="Montserrat"/>
                        </a:defRPr>
                      </a:pPr>
                      <a:endParaRPr/>
                    </a:p>
                  </a:txBody>
                  <a:tcPr anchor="ctr">
                    <a:noFill/>
                  </a:tcPr>
                </a:tc>
                <a:tc>
                  <a:txBody>
                    <a:bodyPr/>
                    <a:lstStyle/>
                    <a:p>
                      <a:pPr algn="ctr">
                        <a:defRPr sz="1100" b="1">
                          <a:solidFill>
                            <a:srgbClr val="FFFFFF"/>
                          </a:solidFill>
                          <a:latin typeface="Montserrat"/>
                        </a:defRPr>
                      </a:pPr>
                      <a:r>
                        <a:t>2018 diciembre</a:t>
                      </a:r>
                    </a:p>
                  </a:txBody>
                  <a:tcPr anchor="ctr">
                    <a:solidFill>
                      <a:srgbClr val="A42145"/>
                    </a:solidFill>
                  </a:tcPr>
                </a:tc>
                <a:tc>
                  <a:txBody>
                    <a:bodyPr/>
                    <a:lstStyle/>
                    <a:p>
                      <a:pPr algn="ctr">
                        <a:defRPr sz="1100" b="1">
                          <a:solidFill>
                            <a:srgbClr val="FFFFFF"/>
                          </a:solidFill>
                          <a:latin typeface="Montserrat"/>
                        </a:defRPr>
                      </a:pPr>
                      <a:r>
                        <a:t>2026 Mayo</a:t>
                      </a:r>
                    </a:p>
                  </a:txBody>
                  <a:tcPr anchor="ctr">
                    <a:solidFill>
                      <a:srgbClr val="A42145"/>
                    </a:solidFill>
                  </a:tcPr>
                </a:tc>
                <a:tc>
                  <a:txBody>
                    <a:bodyPr/>
                    <a:lstStyle/>
                    <a:p>
                      <a:pPr algn="ctr">
                        <a:defRPr sz="1100" b="1">
                          <a:solidFill>
                            <a:srgbClr val="FFFFFF"/>
                          </a:solidFill>
                          <a:latin typeface="Montserrat"/>
                        </a:defRPr>
                      </a:pPr>
                      <a:r>
                        <a:t>Variación %</a:t>
                      </a:r>
                    </a:p>
                  </a:txBody>
                  <a:tcPr anchor="ctr">
                    <a:solidFill>
                      <a:srgbClr val="A42145"/>
                    </a:solidFill>
                  </a:tcPr>
                </a:tc>
                <a:tc>
                  <a:txBody>
                    <a:bodyPr/>
                    <a:lstStyle/>
                    <a:p>
                      <a:pPr algn="ctr">
                        <a:defRPr sz="1100" b="1">
                          <a:solidFill>
                            <a:srgbClr val="FFFFFF"/>
                          </a:solidFill>
                          <a:latin typeface="Montserrat"/>
                        </a:defRPr>
                      </a:pPr>
                      <a:r>
                        <a:t>Nacional 2026</a:t>
                      </a:r>
                    </a:p>
                  </a:txBody>
                  <a:tcPr anchor="ctr">
                    <a:solidFill>
                      <a:srgbClr val="A42145"/>
                    </a:solidFill>
                  </a:tcPr>
                </a:tc>
                <a:tc>
                  <a:txBody>
                    <a:bodyPr/>
                    <a:lstStyle/>
                    <a:p>
                      <a:pPr algn="ctr">
                        <a:defRPr sz="1100" b="1">
                          <a:solidFill>
                            <a:srgbClr val="FFFFFF"/>
                          </a:solidFill>
                          <a:latin typeface="Montserrat"/>
                        </a:defRPr>
                      </a:pPr>
                      <a:r>
                        <a:t>Salario Mensual</a:t>
                      </a:r>
                    </a:p>
                  </a:txBody>
                  <a:tcPr anchor="ctr">
                    <a:solidFill>
                      <a:srgbClr val="A42145"/>
                    </a:solidFill>
                  </a:tcPr>
                </a:tc>
                <a:extLst>
                  <a:ext uri="{0D108BD9-81ED-4DB2-BD59-A6C34878D82A}">
                    <a16:rowId xmlns:a16="http://schemas.microsoft.com/office/drawing/2014/main" val="10000"/>
                  </a:ext>
                </a:extLst>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$326.91</a:t>
                      </a:r>
                    </a:p>
                  </a:txBody>
                  <a:tcPr anchor="ctr">
                    <a:solidFill>
                      <a:srgbClr val="EEEEEE"/>
                    </a:solidFill>
                  </a:tcPr>
                </a:tc>
                <a:tc>
                  <a:txBody>
                    <a:bodyPr/>
                    <a:lstStyle/>
                    <a:p>
                      <a:pPr algn="ctr">
                        <a:defRPr sz="1100" b="1">
                          <a:latin typeface="Montserrat"/>
                        </a:defRPr>
                      </a:pPr>
                      <a:r>
                        <a:t>$601.00</a:t>
                      </a:r>
                    </a:p>
                  </a:txBody>
                  <a:tcPr anchor="ctr">
                    <a:solidFill>
                      <a:srgbClr val="EEEEEE"/>
                    </a:solidFill>
                  </a:tcPr>
                </a:tc>
                <a:tc>
                  <a:txBody>
                    <a:bodyPr/>
                    <a:lstStyle/>
                    <a:p>
                      <a:pPr algn="ctr">
                        <a:defRPr sz="1100">
                          <a:latin typeface="Montserrat"/>
                        </a:defRPr>
                      </a:pPr>
                      <a:r>
                        <a:t>30.0%</a:t>
                      </a:r>
                    </a:p>
                  </a:txBody>
                  <a:tcPr anchor="ctr">
                    <a:solidFill>
                      <a:srgbClr val="EEEEEE"/>
                    </a:solidFill>
                  </a:tcPr>
                </a:tc>
                <a:tc>
                  <a:txBody>
                    <a:bodyPr/>
                    <a:lstStyle/>
                    <a:p>
                      <a:pPr algn="ctr">
                        <a:defRPr sz="1100" b="1">
                          <a:latin typeface="Montserrat"/>
                        </a:defRPr>
                      </a:pPr>
                      <a:r>
                        <a:t>$671.25</a:t>
                      </a:r>
                    </a:p>
                  </a:txBody>
                  <a:tcPr anchor="ctr">
                    <a:solidFill>
                      <a:srgbClr val="EEEEEE"/>
                    </a:solidFill>
                  </a:tcPr>
                </a:tc>
                <a:tc>
                  <a:txBody>
                    <a:bodyPr/>
                    <a:lstStyle/>
                    <a:p>
                      <a:pPr algn="ctr">
                        <a:defRPr sz="1100" b="1">
                          <a:solidFill>
                            <a:srgbClr val="9F2241"/>
                          </a:solidFill>
                          <a:latin typeface="Montserrat"/>
                        </a:defRPr>
                      </a:pPr>
                      <a:r>
                        <a:rPr dirty="0"/>
                        <a:t>$18,030.0</a:t>
                      </a:r>
                    </a:p>
                  </a:txBody>
                  <a:tcPr anchor="ctr">
                    <a:solidFill>
                      <a:srgbClr val="EEEEEE"/>
                    </a:solidFill>
                  </a:tcPr>
                </a:tc>
                <a:extLst>
                  <a:ext uri="{0D108BD9-81ED-4DB2-BD59-A6C34878D82A}">
                    <a16:rowId xmlns:a16="http://schemas.microsoft.com/office/drawing/2014/main" val="10001"/>
                  </a:ext>
                </a:extLst>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xmlns:r="http://schemas.openxmlformats.org/officeDocument/2006/relationships"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extLst>
              <p:ext uri="{D42A27DB-BD31-4B8C-83A1-F6EECF244321}">
                <p14:modId xmlns:p14="http://schemas.microsoft.com/office/powerpoint/2010/main" val="1484436068"/>
              </p:ext>
            </p:extLst>
          </p:nvPr>
        </p:nvGraphicFramePr>
        <p:xfrm>
          <a:off x="320400" y="6649200"/>
          <a:ext cx="7038000" cy="241380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20000"/>
                    </a:ext>
                  </a:extLst>
                </a:gridCol>
                <a:gridCol w="3240000">
                  <a:extLst>
                    <a:ext uri="{9D8B030D-6E8A-4147-A177-3AD203B41FA5}">
                      <a16:colId xmlns:a16="http://schemas.microsoft.com/office/drawing/2014/main" val="20001"/>
                    </a:ext>
                  </a:extLst>
                </a:gridCol>
                <a:gridCol w="1278000">
                  <a:extLst>
                    <a:ext uri="{9D8B030D-6E8A-4147-A177-3AD203B41FA5}">
                      <a16:colId xmlns:a16="http://schemas.microsoft.com/office/drawing/2014/main" val="20002"/>
                    </a:ext>
                  </a:extLst>
                </a:gridCol>
              </a:tblGrid>
              <a:tr h="251999">
                <a:tc gridSpan="3">
                  <a:txBody>
                    <a:bodyPr/>
                    <a:lstStyle/>
                    <a:p>
                      <a:pPr algn="ctr">
                        <a:defRPr sz="1100" b="1">
                          <a:solidFill>
                            <a:srgbClr val="FFFFFF"/>
                          </a:solidFill>
                          <a:latin typeface="Montserrat"/>
                        </a:defRPr>
                      </a:pPr>
                      <a:r>
                        <a:rPr dirty="0"/>
                        <a:t>PRINCIPALES DEUDORES</a:t>
                      </a:r>
                    </a:p>
                  </a:txBody>
                  <a:tcPr anchor="ctr">
                    <a:solidFill>
                      <a:srgbClr val="006455"/>
                    </a:solidFill>
                  </a:tcPr>
                </a:tc>
                <a:tc hMerge="1">
                  <a:txBody>
                    <a:bodyPr/>
                    <a:lstStyle/>
                    <a:p>
                      <a:endParaRPr/>
                    </a:p>
                  </a:txBody>
                  <a:tcPr/>
                </a:tc>
                <a:tc hMerge="1">
                  <a:txBody>
                    <a:bodyPr/>
                    <a:lstStyle/>
                    <a:p>
                      <a:endParaRPr/>
                    </a:p>
                  </a:txBody>
                  <a:tcPr/>
                </a:tc>
                <a:extLst>
                  <a:ext uri="{0D108BD9-81ED-4DB2-BD59-A6C34878D82A}">
                    <a16:rowId xmlns:a16="http://schemas.microsoft.com/office/drawing/2014/main" val="10000"/>
                  </a:ext>
                </a:extLst>
              </a:tr>
              <a:tr h="360000">
                <a:tc>
                  <a:txBody>
                    <a:bodyPr/>
                    <a:lstStyle/>
                    <a:p>
                      <a:pPr algn="ctr">
                        <a:defRPr sz="1100" b="1">
                          <a:solidFill>
                            <a:srgbClr val="FFFFFF"/>
                          </a:solidFill>
                          <a:latin typeface="Montserrat"/>
                        </a:defRPr>
                      </a:pPr>
                      <a:r>
                        <a:t>Categoría</a:t>
                      </a:r>
                    </a:p>
                  </a:txBody>
                  <a:tcPr anchor="ctr">
                    <a:solidFill>
                      <a:srgbClr val="006455"/>
                    </a:solidFill>
                  </a:tcPr>
                </a:tc>
                <a:tc>
                  <a:txBody>
                    <a:bodyPr/>
                    <a:lstStyle/>
                    <a:p>
                      <a:pPr algn="ctr">
                        <a:defRPr sz="1100" b="1">
                          <a:solidFill>
                            <a:srgbClr val="FFFFFF"/>
                          </a:solidFill>
                          <a:latin typeface="Montserrat"/>
                        </a:defRPr>
                      </a:pPr>
                      <a:r>
                        <a:rPr dirty="0" err="1"/>
                        <a:t>Deudores</a:t>
                      </a:r>
                      <a:endParaRPr dirty="0"/>
                    </a:p>
                  </a:txBody>
                  <a:tcPr anchor="ctr">
                    <a:solidFill>
                      <a:srgbClr val="006455"/>
                    </a:solidFill>
                  </a:tcPr>
                </a:tc>
                <a:tc>
                  <a:txBody>
                    <a:bodyPr/>
                    <a:lstStyle/>
                    <a:p>
                      <a:pPr algn="ctr">
                        <a:defRPr sz="1100" b="1">
                          <a:solidFill>
                            <a:srgbClr val="FFFFFF"/>
                          </a:solidFill>
                          <a:latin typeface="Montserrat"/>
                        </a:defRPr>
                      </a:pPr>
                      <a:r>
                        <a:t>Monto de deuda (mdp)</a:t>
                      </a:r>
                    </a:p>
                  </a:txBody>
                  <a:tcPr anchor="ctr">
                    <a:solidFill>
                      <a:srgbClr val="006455"/>
                    </a:solidFill>
                  </a:tcPr>
                </a:tc>
                <a:extLst>
                  <a:ext uri="{0D108BD9-81ED-4DB2-BD59-A6C34878D82A}">
                    <a16:rowId xmlns:a16="http://schemas.microsoft.com/office/drawing/2014/main" val="10001"/>
                  </a:ext>
                </a:extLst>
              </a:tr>
              <a:tr h="288000">
                <a:tc rowSpan="3">
                  <a:txBody>
                    <a:bodyPr/>
                    <a:lstStyle/>
                    <a:p>
                      <a:pPr algn="ctr">
                        <a:defRPr sz="1100">
                          <a:solidFill>
                            <a:srgbClr val="FFFFFF"/>
                          </a:solidFill>
                          <a:latin typeface="Montserrat"/>
                        </a:defRPr>
                      </a:pPr>
                      <a:r>
                        <a:rPr dirty="0"/>
                        <a:t>Principal</a:t>
                      </a:r>
                      <a:r>
                        <a:rPr lang="es-MX" dirty="0"/>
                        <a:t>es</a:t>
                      </a:r>
                      <a:r>
                        <a:rPr dirty="0"/>
                        <a:t> </a:t>
                      </a:r>
                      <a:r>
                        <a:rPr dirty="0" err="1"/>
                        <a:t>deudor</a:t>
                      </a:r>
                      <a:r>
                        <a:rPr lang="es-MX" dirty="0"/>
                        <a:t>es</a:t>
                      </a:r>
                      <a:r>
                        <a:rPr dirty="0"/>
                        <a:t> </a:t>
                      </a:r>
                      <a:r>
                        <a:rPr dirty="0" err="1"/>
                        <a:t>público</a:t>
                      </a:r>
                      <a:r>
                        <a:rPr lang="es-MX" dirty="0"/>
                        <a:t>s</a:t>
                      </a:r>
                      <a:endParaRPr dirty="0"/>
                    </a:p>
                  </a:txBody>
                  <a:tcPr anchor="ctr">
                    <a:solidFill>
                      <a:srgbClr val="006455"/>
                    </a:solidFill>
                  </a:tcPr>
                </a:tc>
                <a:tc>
                  <a:txBody>
                    <a:bodyPr/>
                    <a:lstStyle/>
                    <a:p>
                      <a:pPr algn="ctr">
                        <a:defRPr sz="900">
                          <a:latin typeface="Montserrat"/>
                        </a:defRPr>
                      </a:pPr>
                      <a:r>
                        <a:rPr dirty="0" err="1"/>
                        <a:t>Secretaría</a:t>
                      </a:r>
                      <a:r>
                        <a:rPr dirty="0"/>
                        <a:t> de </a:t>
                      </a:r>
                      <a:r>
                        <a:rPr dirty="0" err="1"/>
                        <a:t>Educación</a:t>
                      </a:r>
                      <a:endParaRPr dirty="0"/>
                    </a:p>
                  </a:txBody>
                  <a:tcPr anchor="ctr">
                    <a:solidFill>
                      <a:srgbClr val="FFFFFF"/>
                    </a:solidFill>
                  </a:tcPr>
                </a:tc>
                <a:tc>
                  <a:txBody>
                    <a:bodyPr/>
                    <a:lstStyle/>
                    <a:p>
                      <a:pPr algn="ctr">
                        <a:defRPr sz="900">
                          <a:latin typeface="Montserrat"/>
                        </a:defRPr>
                      </a:pPr>
                      <a:r>
                        <a:t>$219.46</a:t>
                      </a:r>
                    </a:p>
                  </a:txBody>
                  <a:tcPr anchor="ctr">
                    <a:solidFill>
                      <a:srgbClr val="FFFFFF"/>
                    </a:solidFill>
                  </a:tcPr>
                </a:tc>
                <a:extLst>
                  <a:ext uri="{0D108BD9-81ED-4DB2-BD59-A6C34878D82A}">
                    <a16:rowId xmlns:a16="http://schemas.microsoft.com/office/drawing/2014/main" val="10002"/>
                  </a:ext>
                </a:extLst>
              </a:tr>
              <a:tr h="288000">
                <a:tc vMerge="1">
                  <a:txBody>
                    <a:bodyPr/>
                    <a:lstStyle/>
                    <a:p>
                      <a:endParaRPr/>
                    </a:p>
                  </a:txBody>
                  <a:tcPr>
                    <a:solidFill>
                      <a:srgbClr val="EEEEEE"/>
                    </a:solidFill>
                  </a:tcPr>
                </a:tc>
                <a:tc>
                  <a:txBody>
                    <a:bodyPr/>
                    <a:lstStyle/>
                    <a:p>
                      <a:pPr algn="ctr">
                        <a:defRPr sz="900">
                          <a:latin typeface="Montserrat"/>
                        </a:defRPr>
                      </a:pPr>
                      <a:r>
                        <a:rPr dirty="0"/>
                        <a:t>Municipio de </a:t>
                      </a:r>
                      <a:r>
                        <a:rPr dirty="0" err="1"/>
                        <a:t>Sombrerete</a:t>
                      </a:r>
                      <a:endParaRPr dirty="0"/>
                    </a:p>
                  </a:txBody>
                  <a:tcPr anchor="ctr">
                    <a:solidFill>
                      <a:srgbClr val="EEEEEE"/>
                    </a:solidFill>
                  </a:tcPr>
                </a:tc>
                <a:tc>
                  <a:txBody>
                    <a:bodyPr/>
                    <a:lstStyle/>
                    <a:p>
                      <a:pPr algn="ctr">
                        <a:defRPr sz="900">
                          <a:latin typeface="Montserrat"/>
                        </a:defRPr>
                      </a:pPr>
                      <a:r>
                        <a:t>$138.93</a:t>
                      </a:r>
                    </a:p>
                  </a:txBody>
                  <a:tcPr anchor="ctr">
                    <a:solidFill>
                      <a:srgbClr val="EEEEEE"/>
                    </a:solidFill>
                  </a:tcPr>
                </a:tc>
                <a:extLst>
                  <a:ext uri="{0D108BD9-81ED-4DB2-BD59-A6C34878D82A}">
                    <a16:rowId xmlns:a16="http://schemas.microsoft.com/office/drawing/2014/main" val="10003"/>
                  </a:ext>
                </a:extLst>
              </a:tr>
              <a:tr h="288000">
                <a:tc vMerge="1">
                  <a:txBody>
                    <a:bodyPr/>
                    <a:lstStyle/>
                    <a:p>
                      <a:endParaRPr/>
                    </a:p>
                  </a:txBody>
                  <a:tcPr>
                    <a:solidFill>
                      <a:srgbClr val="FFFFFF"/>
                    </a:solidFill>
                  </a:tcPr>
                </a:tc>
                <a:tc>
                  <a:txBody>
                    <a:bodyPr/>
                    <a:lstStyle/>
                    <a:p>
                      <a:pPr algn="ctr">
                        <a:defRPr sz="900">
                          <a:latin typeface="Montserrat"/>
                        </a:defRPr>
                      </a:pPr>
                      <a:r>
                        <a:rPr dirty="0"/>
                        <a:t>Municipio de Trancoso</a:t>
                      </a:r>
                    </a:p>
                  </a:txBody>
                  <a:tcPr anchor="ctr">
                    <a:solidFill>
                      <a:srgbClr val="FFFFFF"/>
                    </a:solidFill>
                  </a:tcPr>
                </a:tc>
                <a:tc>
                  <a:txBody>
                    <a:bodyPr/>
                    <a:lstStyle/>
                    <a:p>
                      <a:pPr algn="ctr">
                        <a:defRPr sz="900">
                          <a:latin typeface="Montserrat"/>
                        </a:defRPr>
                      </a:pPr>
                      <a:r>
                        <a:t>$60.21</a:t>
                      </a:r>
                    </a:p>
                  </a:txBody>
                  <a:tcPr anchor="ctr">
                    <a:solidFill>
                      <a:srgbClr val="FFFFFF"/>
                    </a:solidFill>
                  </a:tcPr>
                </a:tc>
                <a:extLst>
                  <a:ext uri="{0D108BD9-81ED-4DB2-BD59-A6C34878D82A}">
                    <a16:rowId xmlns:a16="http://schemas.microsoft.com/office/drawing/2014/main" val="10004"/>
                  </a:ext>
                </a:extLst>
              </a:tr>
              <a:tr h="288000">
                <a:tc rowSpan="3">
                  <a:txBody>
                    <a:bodyPr/>
                    <a:lstStyle/>
                    <a:p>
                      <a:pPr algn="ctr">
                        <a:defRPr sz="1100">
                          <a:solidFill>
                            <a:srgbClr val="FFFFFF"/>
                          </a:solidFill>
                          <a:latin typeface="Montserrat"/>
                        </a:defRPr>
                      </a:pPr>
                      <a:r>
                        <a:rPr dirty="0"/>
                        <a:t>Principal</a:t>
                      </a:r>
                      <a:r>
                        <a:rPr lang="es-MX" dirty="0"/>
                        <a:t>es</a:t>
                      </a:r>
                      <a:r>
                        <a:rPr dirty="0"/>
                        <a:t> </a:t>
                      </a:r>
                      <a:r>
                        <a:rPr dirty="0" err="1"/>
                        <a:t>deudor</a:t>
                      </a:r>
                      <a:r>
                        <a:rPr lang="es-MX" dirty="0"/>
                        <a:t>es</a:t>
                      </a:r>
                      <a:r>
                        <a:rPr dirty="0"/>
                        <a:t> privado</a:t>
                      </a:r>
                      <a:r>
                        <a:rPr lang="es-MX" dirty="0"/>
                        <a:t>s</a:t>
                      </a:r>
                      <a:endParaRPr dirty="0"/>
                    </a:p>
                  </a:txBody>
                  <a:tcPr anchor="ctr">
                    <a:solidFill>
                      <a:srgbClr val="006455"/>
                    </a:solidFill>
                  </a:tcPr>
                </a:tc>
                <a:tc>
                  <a:txBody>
                    <a:bodyPr/>
                    <a:lstStyle/>
                    <a:p>
                      <a:pPr algn="ctr">
                        <a:defRPr sz="900">
                          <a:latin typeface="Montserrat"/>
                        </a:defRPr>
                      </a:pPr>
                      <a:r>
                        <a:rPr dirty="0"/>
                        <a:t>Jose Luis Alvarez Barajas</a:t>
                      </a:r>
                    </a:p>
                  </a:txBody>
                  <a:tcPr anchor="ctr">
                    <a:solidFill>
                      <a:srgbClr val="EEEEEE"/>
                    </a:solidFill>
                  </a:tcPr>
                </a:tc>
                <a:tc>
                  <a:txBody>
                    <a:bodyPr/>
                    <a:lstStyle/>
                    <a:p>
                      <a:pPr algn="ctr">
                        <a:defRPr sz="900">
                          <a:latin typeface="Montserrat"/>
                        </a:defRPr>
                      </a:pPr>
                      <a:r>
                        <a:t>$40.27</a:t>
                      </a:r>
                    </a:p>
                  </a:txBody>
                  <a:tcPr anchor="ctr">
                    <a:solidFill>
                      <a:srgbClr val="EEEEEE"/>
                    </a:solidFill>
                  </a:tcPr>
                </a:tc>
                <a:extLst>
                  <a:ext uri="{0D108BD9-81ED-4DB2-BD59-A6C34878D82A}">
                    <a16:rowId xmlns:a16="http://schemas.microsoft.com/office/drawing/2014/main" val="10005"/>
                  </a:ext>
                </a:extLst>
              </a:tr>
              <a:tr h="288000">
                <a:tc vMerge="1">
                  <a:txBody>
                    <a:bodyPr/>
                    <a:lstStyle/>
                    <a:p>
                      <a:endParaRPr/>
                    </a:p>
                  </a:txBody>
                  <a:tcPr>
                    <a:solidFill>
                      <a:srgbClr val="FFFFFF"/>
                    </a:solidFill>
                  </a:tcPr>
                </a:tc>
                <a:tc>
                  <a:txBody>
                    <a:bodyPr/>
                    <a:lstStyle/>
                    <a:p>
                      <a:pPr algn="ctr">
                        <a:defRPr sz="900">
                          <a:latin typeface="Montserrat"/>
                        </a:defRPr>
                      </a:pPr>
                      <a:r>
                        <a:rPr dirty="0" err="1"/>
                        <a:t>Paravillage</a:t>
                      </a:r>
                      <a:r>
                        <a:rPr dirty="0"/>
                        <a:t> </a:t>
                      </a:r>
                      <a:r>
                        <a:rPr dirty="0" err="1"/>
                        <a:t>Trasnporte</a:t>
                      </a:r>
                      <a:r>
                        <a:rPr dirty="0"/>
                        <a:t> y </a:t>
                      </a:r>
                      <a:r>
                        <a:rPr dirty="0" err="1"/>
                        <a:t>Logística</a:t>
                      </a:r>
                      <a:r>
                        <a:rPr dirty="0"/>
                        <a:t> SAS de CV</a:t>
                      </a:r>
                    </a:p>
                  </a:txBody>
                  <a:tcPr anchor="ctr">
                    <a:solidFill>
                      <a:srgbClr val="FFFFFF"/>
                    </a:solidFill>
                  </a:tcPr>
                </a:tc>
                <a:tc>
                  <a:txBody>
                    <a:bodyPr/>
                    <a:lstStyle/>
                    <a:p>
                      <a:pPr algn="ctr">
                        <a:defRPr sz="900">
                          <a:latin typeface="Montserrat"/>
                        </a:defRPr>
                      </a:pPr>
                      <a:r>
                        <a:rPr dirty="0"/>
                        <a:t>$10.85</a:t>
                      </a:r>
                    </a:p>
                  </a:txBody>
                  <a:tcPr anchor="ctr">
                    <a:solidFill>
                      <a:srgbClr val="FFFFFF"/>
                    </a:solidFill>
                  </a:tcPr>
                </a:tc>
                <a:extLst>
                  <a:ext uri="{0D108BD9-81ED-4DB2-BD59-A6C34878D82A}">
                    <a16:rowId xmlns:a16="http://schemas.microsoft.com/office/drawing/2014/main" val="10006"/>
                  </a:ext>
                </a:extLst>
              </a:tr>
              <a:tr h="288000">
                <a:tc vMerge="1">
                  <a:txBody>
                    <a:bodyPr/>
                    <a:lstStyle/>
                    <a:p>
                      <a:endParaRPr/>
                    </a:p>
                  </a:txBody>
                  <a:tcPr>
                    <a:solidFill>
                      <a:srgbClr val="006455"/>
                    </a:solidFill>
                  </a:tcPr>
                </a:tc>
                <a:tc>
                  <a:txBody>
                    <a:bodyPr/>
                    <a:lstStyle/>
                    <a:p>
                      <a:pPr algn="ctr">
                        <a:defRPr sz="900">
                          <a:latin typeface="Montserrat"/>
                        </a:defRPr>
                      </a:pPr>
                      <a:r>
                        <a:rPr dirty="0" err="1"/>
                        <a:t>Servicios</a:t>
                      </a:r>
                      <a:r>
                        <a:rPr dirty="0"/>
                        <a:t> de </a:t>
                      </a:r>
                      <a:r>
                        <a:rPr dirty="0" err="1"/>
                        <a:t>Repostería</a:t>
                      </a:r>
                      <a:r>
                        <a:rPr dirty="0"/>
                        <a:t> Medina SAS de CV</a:t>
                      </a:r>
                    </a:p>
                  </a:txBody>
                  <a:tcPr anchor="ctr">
                    <a:solidFill>
                      <a:srgbClr val="EEEEEE"/>
                    </a:solidFill>
                  </a:tcPr>
                </a:tc>
                <a:tc>
                  <a:txBody>
                    <a:bodyPr/>
                    <a:lstStyle/>
                    <a:p>
                      <a:pPr algn="ctr">
                        <a:defRPr sz="900">
                          <a:latin typeface="Montserrat"/>
                        </a:defRPr>
                      </a:pPr>
                      <a:r>
                        <a:rPr dirty="0"/>
                        <a:t>$7.52</a:t>
                      </a:r>
                    </a:p>
                  </a:txBody>
                  <a:tcPr anchor="ctr">
                    <a:solidFill>
                      <a:srgbClr val="EEEEEE"/>
                    </a:solidFill>
                  </a:tcPr>
                </a:tc>
                <a:extLst>
                  <a:ext uri="{0D108BD9-81ED-4DB2-BD59-A6C34878D82A}">
                    <a16:rowId xmlns:a16="http://schemas.microsoft.com/office/drawing/2014/main" val="10007"/>
                  </a:ext>
                </a:extLst>
              </a:tr>
            </a:tbl>
          </a:graphicData>
        </a:graphic>
      </p:graphicFrame>
      <p:sp>
        <p:nvSpPr>
          <p:cNvPr id="515" name="TextBox 514"/>
          <p:cNvSpPr txBox="1"/>
          <p:nvPr/>
        </p:nvSpPr>
        <p:spPr>
          <a:xfrm>
            <a:off x="251999" y="2350800"/>
            <a:ext cx="4316400" cy="244800"/>
          </a:xfrm>
          <a:prstGeom prst="rect">
            <a:avLst/>
          </a:prstGeom>
          <a:noFill/>
        </p:spPr>
        <p:txBody>
          <a:bodyPr wrap="square" lIns="0" tIns="0" rIns="0" bIns="0">
            <a:spAutoFit/>
          </a:bodyPr>
          <a:lstStyle/>
          <a:p>
            <a:pPr algn="l">
              <a:defRPr sz="800">
                <a:solidFill>
                  <a:srgbClr val="FFFFFF"/>
                </a:solidFill>
                <a:latin typeface="Montserrat"/>
              </a:defRPr>
            </a:pPr>
            <a:r>
              <a:rPr dirty="0">
                <a:solidFill>
                  <a:schemeClr val="tx1"/>
                </a:solidFill>
              </a:rPr>
              <a:t>Salario Base de </a:t>
            </a:r>
            <a:r>
              <a:rPr dirty="0" err="1">
                <a:solidFill>
                  <a:schemeClr val="tx1"/>
                </a:solidFill>
              </a:rPr>
              <a:t>Cotización</a:t>
            </a:r>
            <a:r>
              <a:rPr dirty="0">
                <a:solidFill>
                  <a:schemeClr val="tx1"/>
                </a:solidFill>
              </a:rPr>
              <a:t>: </a:t>
            </a:r>
            <a:r>
              <a:rPr dirty="0" err="1">
                <a:solidFill>
                  <a:schemeClr val="tx1"/>
                </a:solidFill>
              </a:rPr>
              <a:t>tado</a:t>
            </a:r>
            <a:r>
              <a:rPr dirty="0">
                <a:solidFill>
                  <a:schemeClr val="tx1"/>
                </a:solidFill>
              </a:rPr>
              <a:t>: Se </a:t>
            </a:r>
            <a:r>
              <a:rPr dirty="0" err="1">
                <a:solidFill>
                  <a:schemeClr val="tx1"/>
                </a:solidFill>
              </a:rPr>
              <a:t>utilizó</a:t>
            </a:r>
            <a:r>
              <a:rPr dirty="0">
                <a:solidFill>
                  <a:schemeClr val="tx1"/>
                </a:solidFill>
              </a:rPr>
              <a:t> </a:t>
            </a:r>
            <a:r>
              <a:rPr dirty="0" err="1">
                <a:solidFill>
                  <a:schemeClr val="tx1"/>
                </a:solidFill>
              </a:rPr>
              <a:t>como</a:t>
            </a:r>
            <a:r>
              <a:rPr dirty="0">
                <a:solidFill>
                  <a:schemeClr val="tx1"/>
                </a:solidFill>
              </a:rPr>
              <a:t> </a:t>
            </a:r>
            <a:r>
              <a:rPr dirty="0" err="1">
                <a:solidFill>
                  <a:schemeClr val="tx1"/>
                </a:solidFill>
              </a:rPr>
              <a:t>deflactor</a:t>
            </a:r>
            <a:r>
              <a:rPr dirty="0">
                <a:solidFill>
                  <a:schemeClr val="tx1"/>
                </a:solidFill>
              </a:rPr>
              <a:t> del </a:t>
            </a:r>
            <a:r>
              <a:rPr dirty="0" err="1">
                <a:solidFill>
                  <a:schemeClr val="tx1"/>
                </a:solidFill>
              </a:rPr>
              <a:t>salario</a:t>
            </a:r>
            <a:r>
              <a:rPr dirty="0">
                <a:solidFill>
                  <a:schemeClr val="tx1"/>
                </a:solidFill>
              </a:rPr>
              <a:t> el </a:t>
            </a:r>
            <a:r>
              <a:rPr dirty="0" err="1">
                <a:solidFill>
                  <a:schemeClr val="tx1"/>
                </a:solidFill>
              </a:rPr>
              <a:t>cociente</a:t>
            </a:r>
            <a:r>
              <a:rPr dirty="0">
                <a:solidFill>
                  <a:schemeClr val="tx1"/>
                </a:solidFill>
              </a:rPr>
              <a:t> del INPC entre </a:t>
            </a:r>
            <a:r>
              <a:rPr dirty="0" err="1">
                <a:solidFill>
                  <a:schemeClr val="tx1"/>
                </a:solidFill>
              </a:rPr>
              <a:t>diciembre</a:t>
            </a:r>
            <a:r>
              <a:rPr dirty="0">
                <a:solidFill>
                  <a:schemeClr val="tx1"/>
                </a:solidFill>
              </a:rPr>
              <a:t> 2018 (103.02) y </a:t>
            </a:r>
            <a:r>
              <a:rPr dirty="0" err="1">
                <a:solidFill>
                  <a:schemeClr val="tx1"/>
                </a:solidFill>
              </a:rPr>
              <a:t>abril</a:t>
            </a:r>
            <a:r>
              <a:rPr dirty="0">
                <a:solidFill>
                  <a:schemeClr val="tx1"/>
                </a:solidFill>
              </a:rPr>
              <a:t> 2026 (145.831) de 0.706434.</a:t>
            </a:r>
          </a:p>
        </p:txBody>
      </p:sp>
      <p:sp>
        <p:nvSpPr>
          <p:cNvPr id="516" name="TextBox 515"/>
          <p:cNvSpPr txBox="1"/>
          <p:nvPr/>
        </p:nvSpPr>
        <p:spPr>
          <a:xfrm>
            <a:off x="251999" y="9561600"/>
            <a:ext cx="4316400" cy="244800"/>
          </a:xfrm>
          <a:prstGeom prst="rect">
            <a:avLst/>
          </a:prstGeom>
          <a:noFill/>
        </p:spPr>
        <p:txBody>
          <a:bodyPr wrap="square" lIns="0" tIns="0" rIns="0" bIns="0">
            <a:spAutoFit/>
          </a:bodyPr>
          <a:lstStyle/>
          <a:p>
            <a:pPr algn="l">
              <a:defRPr sz="800">
                <a:solidFill>
                  <a:srgbClr val="FFFFFF"/>
                </a:solidFill>
                <a:latin typeface="Montserrat"/>
              </a:defRPr>
            </a:pPr>
            <a:r>
              <a:t>Fuente: Dirección de Incorporación y Recaudación. Corte de información mayo 2026.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505"/>
        <p:cNvGrpSpPr/>
        <p:nvPr/>
      </p:nvGrpSpPr>
      <p:grpSpPr>
        <a:xfrm>
          <a:off x="0" y="0"/>
          <a:ext cx="0" cy="0"/>
          <a:chOff x="0" y="0"/>
          <a:chExt cx="0" cy="0"/>
        </a:xfrm>
      </p:grpSpPr>
      <p:graphicFrame>
        <p:nvGraphicFramePr>
          <p:cNvPr id="512" name="Google Shape;512;g370e87ffe7a_0_0"/>
          <p:cNvGraphicFramePr/>
          <p:nvPr/>
        </p:nvGraphicFramePr>
        <p:xfrm>
          <a:off x="-126" y="2788487"/>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3. Productividad</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18" name="Google Shape;518;g370e87ffe7a_0_0"/>
          <p:cNvGraphicFramePr/>
          <p:nvPr/>
        </p:nvGraphicFramePr>
        <p:xfrm>
          <a:off x="0" y="5391789"/>
          <a:ext cx="7772400" cy="31594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2136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4. Personal</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0" name="Google Shape;520;g370e87ffe7a_0_0"/>
          <p:cNvGraphicFramePr/>
          <p:nvPr/>
        </p:nvGraphicFramePr>
        <p:xfrm>
          <a:off x="-2134" y="811308"/>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635000" marR="0" lvl="0" indent="-336550" algn="l" rtl="0">
                        <a:lnSpc>
                          <a:spcPct val="100000"/>
                        </a:lnSpc>
                        <a:spcBef>
                          <a:spcPts val="0"/>
                        </a:spcBef>
                        <a:spcAft>
                          <a:spcPts val="0"/>
                        </a:spcAft>
                        <a:buClr>
                          <a:srgbClr val="006455"/>
                        </a:buClr>
                        <a:buSzPts val="1700"/>
                        <a:buFont typeface="Montserrat"/>
                        <a:buAutoNum type="arabicPeriod"/>
                      </a:pPr>
                      <a:r>
                        <a:rPr lang="es" sz="1600" b="1" u="none" strike="noStrike" cap="none" dirty="0">
                          <a:solidFill>
                            <a:srgbClr val="006455"/>
                          </a:solidFill>
                          <a:latin typeface="Montserrat"/>
                          <a:ea typeface="Montserrat"/>
                          <a:cs typeface="Montserrat"/>
                          <a:sym typeface="Montserrat"/>
                        </a:rPr>
                        <a:t>Infraestructura</a:t>
                      </a:r>
                      <a:endParaRPr sz="17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1" name="Google Shape;521;g370e87ffe7a_0_0"/>
          <p:cNvGraphicFramePr/>
          <p:nvPr/>
        </p:nvGraphicFramePr>
        <p:xfrm>
          <a:off x="-126" y="7519253"/>
          <a:ext cx="7772400" cy="396050"/>
        </p:xfrm>
        <a:graphic>
          <a:graphicData uri="http://schemas.openxmlformats.org/drawingml/2006/table">
            <a:tbl>
              <a:tblPr>
                <a:noFill/>
                <a:tableStyleId>{3C216991-1C96-4F05-AC00-DA6B9BB01C7E}</a:tableStyleId>
              </a:tblPr>
              <a:tblGrid>
                <a:gridCol w="7772400">
                  <a:extLst>
                    <a:ext uri="{9D8B030D-6E8A-4147-A177-3AD203B41FA5}">
                      <a16:colId xmlns:a16="http://schemas.microsoft.com/office/drawing/2014/main" val="20000"/>
                    </a:ext>
                  </a:extLst>
                </a:gridCol>
              </a:tblGrid>
              <a:tr h="396050">
                <a:tc>
                  <a:txBody>
                    <a:bodyPr/>
                    <a:lstStyle/>
                    <a:p>
                      <a:pPr marL="266700" marR="0" lvl="0" indent="0" algn="l" rtl="0">
                        <a:lnSpc>
                          <a:spcPct val="100000"/>
                        </a:lnSpc>
                        <a:spcBef>
                          <a:spcPts val="0"/>
                        </a:spcBef>
                        <a:spcAft>
                          <a:spcPts val="0"/>
                        </a:spcAft>
                        <a:buClr>
                          <a:srgbClr val="000000"/>
                        </a:buClr>
                        <a:buSzPts val="1600"/>
                        <a:buFont typeface="Arial"/>
                        <a:buNone/>
                      </a:pPr>
                      <a:r>
                        <a:rPr lang="es" sz="1600" b="1" u="none" strike="noStrike" cap="none">
                          <a:solidFill>
                            <a:srgbClr val="006455"/>
                          </a:solidFill>
                          <a:latin typeface="Montserrat"/>
                          <a:ea typeface="Montserrat"/>
                          <a:cs typeface="Montserrat"/>
                          <a:sym typeface="Montserrat"/>
                        </a:rPr>
                        <a:t>5. Organización comunitaria</a:t>
                      </a:r>
                      <a:endParaRPr sz="1700" b="1" u="none" strike="noStrike" cap="none">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523" name="Google Shape;523;g370e87ffe7a_0_0"/>
          <p:cNvGraphicFramePr/>
          <p:nvPr>
            <p:extLst>
              <p:ext uri="{D42A27DB-BD31-4B8C-83A1-F6EECF244321}">
                <p14:modId xmlns:p14="http://schemas.microsoft.com/office/powerpoint/2010/main" val="605969589"/>
              </p:ext>
            </p:extLst>
          </p:nvPr>
        </p:nvGraphicFramePr>
        <p:xfrm>
          <a:off x="3884217" y="807530"/>
          <a:ext cx="3886325" cy="315940"/>
        </p:xfrm>
        <a:graphic>
          <a:graphicData uri="http://schemas.openxmlformats.org/drawingml/2006/table">
            <a:tbl>
              <a:tblPr>
                <a:noFill/>
                <a:tableStyleId>{3C216991-1C96-4F05-AC00-DA6B9BB01C7E}</a:tableStyleId>
              </a:tblPr>
              <a:tblGrid>
                <a:gridCol w="3886325">
                  <a:extLst>
                    <a:ext uri="{9D8B030D-6E8A-4147-A177-3AD203B41FA5}">
                      <a16:colId xmlns:a16="http://schemas.microsoft.com/office/drawing/2014/main" val="20000"/>
                    </a:ext>
                  </a:extLst>
                </a:gridCol>
              </a:tblGrid>
              <a:tr h="213650">
                <a:tc>
                  <a:txBody>
                    <a:bodyPr/>
                    <a:lstStyle/>
                    <a:p>
                      <a:pPr marL="0" marR="0" lvl="0" indent="0" algn="l" rtl="0">
                        <a:lnSpc>
                          <a:spcPct val="100000"/>
                        </a:lnSpc>
                        <a:spcBef>
                          <a:spcPts val="0"/>
                        </a:spcBef>
                        <a:spcAft>
                          <a:spcPts val="0"/>
                        </a:spcAft>
                        <a:buClr>
                          <a:srgbClr val="000000"/>
                        </a:buClr>
                        <a:buSzPts val="1600"/>
                        <a:buFont typeface="Arial"/>
                        <a:buNone/>
                      </a:pPr>
                      <a:r>
                        <a:rPr lang="es" sz="1600" b="1" u="none" strike="noStrike" cap="none" dirty="0">
                          <a:solidFill>
                            <a:srgbClr val="006455"/>
                          </a:solidFill>
                          <a:latin typeface="Montserrat"/>
                          <a:ea typeface="Montserrat"/>
                          <a:cs typeface="Montserrat"/>
                          <a:sym typeface="Montserrat"/>
                        </a:rPr>
                        <a:t>2.  Población beneficiada </a:t>
                      </a:r>
                      <a:endParaRPr sz="1600" b="1" u="none" strike="noStrike" cap="none" dirty="0">
                        <a:solidFill>
                          <a:srgbClr val="006455"/>
                        </a:solidFill>
                        <a:latin typeface="Montserrat"/>
                        <a:ea typeface="Montserrat"/>
                        <a:cs typeface="Montserrat"/>
                        <a:sym typeface="Montserrat"/>
                      </a:endParaRPr>
                    </a:p>
                  </a:txBody>
                  <a:tcPr marL="72300" marR="36150" marT="36050" marB="3605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645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524" name="Google Shape;524;g370e87ffe7a_0_0"/>
          <p:cNvCxnSpPr/>
          <p:nvPr/>
        </p:nvCxnSpPr>
        <p:spPr>
          <a:xfrm>
            <a:off x="6018294" y="1355079"/>
            <a:ext cx="0" cy="524700"/>
          </a:xfrm>
          <a:prstGeom prst="straightConnector1">
            <a:avLst/>
          </a:prstGeom>
          <a:noFill/>
          <a:ln w="19050" cap="flat" cmpd="sng">
            <a:solidFill>
              <a:srgbClr val="A48250"/>
            </a:solidFill>
            <a:prstDash val="solid"/>
            <a:round/>
            <a:headEnd type="none" w="sm" len="sm"/>
            <a:tailEnd type="none" w="sm" len="sm"/>
          </a:ln>
        </p:spPr>
      </p:cxnSp>
      <p:cxnSp>
        <p:nvCxnSpPr>
          <p:cNvPr id="529" name="Google Shape;529;g370e87ffe7a_0_0"/>
          <p:cNvCxnSpPr/>
          <p:nvPr/>
        </p:nvCxnSpPr>
        <p:spPr>
          <a:xfrm>
            <a:off x="6018294" y="2225029"/>
            <a:ext cx="0" cy="524700"/>
          </a:xfrm>
          <a:prstGeom prst="straightConnector1">
            <a:avLst/>
          </a:prstGeom>
          <a:noFill/>
          <a:ln w="19050" cap="flat" cmpd="sng">
            <a:solidFill>
              <a:srgbClr val="A48250"/>
            </a:solidFill>
            <a:prstDash val="solid"/>
            <a:round/>
            <a:headEnd type="none" w="sm" len="sm"/>
            <a:tailEnd type="none" w="sm" len="sm"/>
          </a:ln>
        </p:spPr>
      </p:cxnSp>
      <p:sp>
        <p:nvSpPr>
          <p:cNvPr id="530" name="TextBox 529"/>
          <p:cNvSpPr txBox="1"/>
          <p:nvPr/>
        </p:nvSpPr>
        <p:spPr>
          <a:xfrm>
            <a:off x="0" y="27432"/>
            <a:ext cx="7772400" cy="548640"/>
          </a:xfrm>
          <a:prstGeom prst="rect">
            <a:avLst/>
          </a:prstGeom>
          <a:noFill/>
        </p:spPr>
        <p:txBody>
          <a:bodyPr wrap="none">
            <a:spAutoFit/>
          </a:bodyPr>
          <a:lstStyle/>
          <a:p>
            <a:pPr algn="l">
              <a:defRPr sz="2000">
                <a:solidFill>
                  <a:srgbClr val="FFFFFF"/>
                </a:solidFill>
                <a:latin typeface="Montserrat"/>
              </a:defRPr>
            </a:pPr>
            <a:r>
              <a:t>ZACATECAS PROGRAMA IMSS-COPLAMAR</a:t>
            </a:r>
          </a:p>
        </p:txBody>
      </p:sp>
      <p:sp>
        <p:nvSpPr>
          <p:cNvPr id="531" name="TextBox 530"/>
          <p:cNvSpPr txBox="1"/>
          <p:nvPr/>
        </p:nvSpPr>
        <p:spPr>
          <a:xfrm>
            <a:off x="309600" y="5119200"/>
            <a:ext cx="1958400" cy="123111"/>
          </a:xfrm>
          <a:prstGeom prst="rect">
            <a:avLst/>
          </a:prstGeom>
          <a:noFill/>
        </p:spPr>
        <p:txBody>
          <a:bodyPr wrap="square" lIns="0" tIns="0" rIns="0" bIns="0">
            <a:spAutoFit/>
          </a:bodyPr>
          <a:lstStyle/>
          <a:p>
            <a:pPr algn="l">
              <a:defRPr sz="800">
                <a:solidFill>
                  <a:srgbClr val="FFFFFF"/>
                </a:solidFill>
                <a:latin typeface="Montserrat"/>
              </a:defRPr>
            </a:pPr>
            <a:r>
              <a:rPr>
                <a:solidFill>
                  <a:schemeClr val="tx1"/>
                </a:solidFill>
              </a:rPr>
              <a:t>enero-diciembre 2025</a:t>
            </a:r>
          </a:p>
        </p:txBody>
      </p:sp>
      <p:sp>
        <p:nvSpPr>
          <p:cNvPr id="532" name="TextBox 531"/>
          <p:cNvSpPr txBox="1"/>
          <p:nvPr/>
        </p:nvSpPr>
        <p:spPr>
          <a:xfrm>
            <a:off x="309600" y="9622800"/>
            <a:ext cx="1958400" cy="270000"/>
          </a:xfrm>
          <a:prstGeom prst="rect">
            <a:avLst/>
          </a:prstGeom>
          <a:noFill/>
        </p:spPr>
        <p:txBody>
          <a:bodyPr wrap="square" lIns="0" tIns="0" rIns="0" bIns="0">
            <a:spAutoFit/>
          </a:bodyPr>
          <a:lstStyle/>
          <a:p>
            <a:pPr algn="l">
              <a:defRPr sz="800">
                <a:solidFill>
                  <a:srgbClr val="FFFFFF"/>
                </a:solidFill>
                <a:latin typeface="Montserrat"/>
              </a:defRPr>
            </a:pPr>
            <a:r>
              <a:t>enero-diciembre 2025</a:t>
            </a:r>
          </a:p>
        </p:txBody>
      </p:sp>
      <p:graphicFrame>
        <p:nvGraphicFramePr>
          <p:cNvPr id="533" name="Table 532"/>
          <p:cNvGraphicFramePr>
            <a:graphicFrameLocks noGrp="1"/>
          </p:cNvGraphicFramePr>
          <p:nvPr/>
        </p:nvGraphicFramePr>
        <p:xfrm>
          <a:off x="310896" y="1335024"/>
          <a:ext cx="3575304" cy="1464348"/>
        </p:xfrm>
        <a:graphic>
          <a:graphicData uri="http://schemas.openxmlformats.org/drawingml/2006/table">
            <a:tbl>
              <a:tblPr firstRow="1" bandRow="1">
                <a:tableStyleId>{5C22544A-7EE6-4342-B048-85BDC9FD1C3A}</a:tableStyleId>
              </a:tblPr>
              <a:tblGrid>
                <a:gridCol w="2551176">
                  <a:extLst>
                    <a:ext uri="{9D8B030D-6E8A-4147-A177-3AD203B41FA5}">
                      <a16:colId xmlns:a16="http://schemas.microsoft.com/office/drawing/2014/main" val="20000"/>
                    </a:ext>
                  </a:extLst>
                </a:gridCol>
                <a:gridCol w="1024128">
                  <a:extLst>
                    <a:ext uri="{9D8B030D-6E8A-4147-A177-3AD203B41FA5}">
                      <a16:colId xmlns:a16="http://schemas.microsoft.com/office/drawing/2014/main" val="20001"/>
                    </a:ext>
                  </a:extLst>
                </a:gridCol>
              </a:tblGrid>
              <a:tr h="177654">
                <a:tc>
                  <a:txBody>
                    <a:bodyPr/>
                    <a:lstStyle/>
                    <a:p>
                      <a:pPr algn="ctr">
                        <a:defRPr sz="1100" b="1">
                          <a:solidFill>
                            <a:srgbClr val="FFFFFF"/>
                          </a:solidFill>
                          <a:latin typeface="Montserrat"/>
                        </a:defRPr>
                      </a:pPr>
                      <a:r>
                        <a:t>Unidades</a:t>
                      </a:r>
                    </a:p>
                  </a:txBody>
                  <a:tcPr marL="36576" marR="36576" marT="36576" marB="36576">
                    <a:solidFill>
                      <a:srgbClr val="006455"/>
                    </a:solidFill>
                  </a:tcPr>
                </a:tc>
                <a:tc>
                  <a:txBody>
                    <a:bodyPr/>
                    <a:lstStyle/>
                    <a:p>
                      <a:pPr algn="ctr">
                        <a:defRPr sz="1100" b="1">
                          <a:solidFill>
                            <a:srgbClr val="FFFFFF"/>
                          </a:solidFill>
                          <a:latin typeface="Montserrat"/>
                        </a:defRPr>
                      </a:pPr>
                      <a:r>
                        <a:t>Total</a:t>
                      </a:r>
                    </a:p>
                  </a:txBody>
                  <a:tcPr marL="36576" marR="36576" marT="36576" marB="36576">
                    <a:solidFill>
                      <a:srgbClr val="006455"/>
                    </a:solidFill>
                  </a:tcPr>
                </a:tc>
                <a:extLst>
                  <a:ext uri="{0D108BD9-81ED-4DB2-BD59-A6C34878D82A}">
                    <a16:rowId xmlns:a16="http://schemas.microsoft.com/office/drawing/2014/main" val="10000"/>
                  </a:ext>
                </a:extLst>
              </a:tr>
              <a:tr h="177654">
                <a:tc>
                  <a:txBody>
                    <a:bodyPr/>
                    <a:lstStyle/>
                    <a:p>
                      <a:pPr algn="l">
                        <a:defRPr sz="1100" b="0">
                          <a:solidFill>
                            <a:srgbClr val="000000"/>
                          </a:solidFill>
                          <a:latin typeface="Montserrat"/>
                        </a:defRPr>
                      </a:pPr>
                      <a:r>
                        <a:t>Hospital Rural</a:t>
                      </a:r>
                    </a:p>
                  </a:txBody>
                  <a:tcPr marL="73152" marR="73152" marT="0" marB="0" anchor="ctr">
                    <a:solidFill>
                      <a:srgbClr val="FFFFFF"/>
                    </a:solidFill>
                  </a:tcPr>
                </a:tc>
                <a:tc>
                  <a:txBody>
                    <a:bodyPr/>
                    <a:lstStyle/>
                    <a:p>
                      <a:pPr algn="ctr">
                        <a:defRPr sz="1000" b="1">
                          <a:solidFill>
                            <a:srgbClr val="006455"/>
                          </a:solidFill>
                          <a:latin typeface="Montserrat"/>
                        </a:defRPr>
                      </a:pPr>
                      <a:r>
                        <a:t>5</a:t>
                      </a:r>
                    </a:p>
                  </a:txBody>
                  <a:tcPr marL="73152" marR="73152" marT="0" marB="0" anchor="ctr">
                    <a:solidFill>
                      <a:srgbClr val="D3E9E7"/>
                    </a:solidFill>
                  </a:tcPr>
                </a:tc>
                <a:extLst>
                  <a:ext uri="{0D108BD9-81ED-4DB2-BD59-A6C34878D82A}">
                    <a16:rowId xmlns:a16="http://schemas.microsoft.com/office/drawing/2014/main" val="10001"/>
                  </a:ext>
                </a:extLst>
              </a:tr>
              <a:tr h="177654">
                <a:tc>
                  <a:txBody>
                    <a:bodyPr/>
                    <a:lstStyle/>
                    <a:p>
                      <a:pPr algn="l">
                        <a:defRPr sz="1100" b="0">
                          <a:solidFill>
                            <a:srgbClr val="000000"/>
                          </a:solidFill>
                          <a:latin typeface="Montserrat"/>
                        </a:defRPr>
                      </a:pPr>
                      <a:r>
                        <a:t>Unidad Médica Rural</a:t>
                      </a:r>
                    </a:p>
                  </a:txBody>
                  <a:tcPr marL="73152" marR="73152" marT="0" marB="0" anchor="ctr">
                    <a:solidFill>
                      <a:srgbClr val="EFEFEF"/>
                    </a:solidFill>
                  </a:tcPr>
                </a:tc>
                <a:tc>
                  <a:txBody>
                    <a:bodyPr/>
                    <a:lstStyle/>
                    <a:p>
                      <a:pPr algn="ctr">
                        <a:defRPr sz="1000" b="1">
                          <a:solidFill>
                            <a:srgbClr val="006455"/>
                          </a:solidFill>
                          <a:latin typeface="Montserrat"/>
                        </a:defRPr>
                      </a:pPr>
                      <a:r>
                        <a:t>141</a:t>
                      </a:r>
                    </a:p>
                  </a:txBody>
                  <a:tcPr marL="73152" marR="73152" marT="0" marB="0" anchor="ctr">
                    <a:solidFill>
                      <a:srgbClr val="D3E9E7"/>
                    </a:solidFill>
                  </a:tcPr>
                </a:tc>
                <a:extLst>
                  <a:ext uri="{0D108BD9-81ED-4DB2-BD59-A6C34878D82A}">
                    <a16:rowId xmlns:a16="http://schemas.microsoft.com/office/drawing/2014/main" val="10002"/>
                  </a:ext>
                </a:extLst>
              </a:tr>
              <a:tr h="177654">
                <a:tc>
                  <a:txBody>
                    <a:bodyPr/>
                    <a:lstStyle/>
                    <a:p>
                      <a:pPr algn="l">
                        <a:defRPr sz="1100" b="0">
                          <a:solidFill>
                            <a:srgbClr val="000000"/>
                          </a:solidFill>
                          <a:latin typeface="Montserrat"/>
                        </a:defRPr>
                      </a:pPr>
                      <a:r>
                        <a:t>Brigada Salud</a:t>
                      </a:r>
                    </a:p>
                  </a:txBody>
                  <a:tcPr marL="73152" marR="73152" marT="0" marB="0" anchor="ctr">
                    <a:solidFill>
                      <a:srgbClr val="FFFFFF"/>
                    </a:solidFill>
                  </a:tcPr>
                </a:tc>
                <a:tc>
                  <a:txBody>
                    <a:bodyPr/>
                    <a:lstStyle/>
                    <a:p>
                      <a:pPr algn="ctr">
                        <a:defRPr sz="1000" b="1">
                          <a:solidFill>
                            <a:srgbClr val="006455"/>
                          </a:solidFill>
                          <a:latin typeface="Montserrat"/>
                        </a:defRPr>
                      </a:pPr>
                      <a:r>
                        <a:t>12</a:t>
                      </a:r>
                    </a:p>
                  </a:txBody>
                  <a:tcPr marL="73152" marR="73152" marT="0" marB="0" anchor="ctr">
                    <a:solidFill>
                      <a:srgbClr val="D3E9E7"/>
                    </a:solidFill>
                  </a:tcPr>
                </a:tc>
                <a:extLst>
                  <a:ext uri="{0D108BD9-81ED-4DB2-BD59-A6C34878D82A}">
                    <a16:rowId xmlns:a16="http://schemas.microsoft.com/office/drawing/2014/main" val="10003"/>
                  </a:ext>
                </a:extLst>
              </a:tr>
              <a:tr h="177654">
                <a:tc>
                  <a:txBody>
                    <a:bodyPr/>
                    <a:lstStyle/>
                    <a:p>
                      <a:pPr algn="l">
                        <a:defRPr sz="1100" b="0">
                          <a:solidFill>
                            <a:srgbClr val="000000"/>
                          </a:solidFill>
                          <a:latin typeface="Montserrat"/>
                        </a:defRPr>
                      </a:pPr>
                      <a:r>
                        <a:t>Unidad Médica Móvil</a:t>
                      </a:r>
                    </a:p>
                  </a:txBody>
                  <a:tcPr marL="73152" marR="73152" marT="0" marB="0" anchor="ctr">
                    <a:solidFill>
                      <a:srgbClr val="EFEFEF"/>
                    </a:solidFill>
                  </a:tcPr>
                </a:tc>
                <a:tc>
                  <a:txBody>
                    <a:bodyPr/>
                    <a:lstStyle/>
                    <a:p>
                      <a:pPr algn="ctr">
                        <a:defRPr sz="1000" b="1">
                          <a:solidFill>
                            <a:srgbClr val="006455"/>
                          </a:solidFill>
                          <a:latin typeface="Montserrat"/>
                        </a:defRPr>
                      </a:pPr>
                      <a:r>
                        <a:t>0</a:t>
                      </a:r>
                    </a:p>
                  </a:txBody>
                  <a:tcPr marL="73152" marR="73152" marT="0" marB="0" anchor="ctr">
                    <a:solidFill>
                      <a:srgbClr val="D3E9E7"/>
                    </a:solidFill>
                  </a:tcPr>
                </a:tc>
                <a:extLst>
                  <a:ext uri="{0D108BD9-81ED-4DB2-BD59-A6C34878D82A}">
                    <a16:rowId xmlns:a16="http://schemas.microsoft.com/office/drawing/2014/main" val="10004"/>
                  </a:ext>
                </a:extLst>
              </a:tr>
              <a:tr h="177654">
                <a:tc>
                  <a:txBody>
                    <a:bodyPr/>
                    <a:lstStyle/>
                    <a:p>
                      <a:pPr algn="l">
                        <a:defRPr sz="1100" b="0">
                          <a:solidFill>
                            <a:srgbClr val="000000"/>
                          </a:solidFill>
                          <a:latin typeface="Montserrat"/>
                        </a:defRPr>
                      </a:pPr>
                      <a:r>
                        <a:t>Centros de Atención Rural Obstétrica</a:t>
                      </a:r>
                    </a:p>
                  </a:txBody>
                  <a:tcPr marL="73152" marR="73152" marT="0" marB="0" anchor="ctr">
                    <a:solidFill>
                      <a:srgbClr val="FFFFFF"/>
                    </a:solidFill>
                  </a:tcPr>
                </a:tc>
                <a:tc>
                  <a:txBody>
                    <a:bodyPr/>
                    <a:lstStyle/>
                    <a:p>
                      <a:pPr algn="ctr">
                        <a:defRPr sz="1000" b="1">
                          <a:solidFill>
                            <a:srgbClr val="006455"/>
                          </a:solidFill>
                          <a:latin typeface="Montserrat"/>
                        </a:defRPr>
                      </a:pPr>
                      <a:r>
                        <a:t>0</a:t>
                      </a:r>
                    </a:p>
                  </a:txBody>
                  <a:tcPr marL="73152" marR="73152" marT="0" marB="0" anchor="ctr">
                    <a:solidFill>
                      <a:srgbClr val="D3E9E7"/>
                    </a:solidFill>
                  </a:tcPr>
                </a:tc>
                <a:extLst>
                  <a:ext uri="{0D108BD9-81ED-4DB2-BD59-A6C34878D82A}">
                    <a16:rowId xmlns:a16="http://schemas.microsoft.com/office/drawing/2014/main" val="10005"/>
                  </a:ext>
                </a:extLst>
              </a:tr>
              <a:tr h="177660">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t>158</a:t>
                      </a:r>
                    </a:p>
                  </a:txBody>
                  <a:tcPr marL="73152" marR="73152" marT="0" marB="0" anchor="ctr">
                    <a:solidFill>
                      <a:srgbClr val="D3E9E7"/>
                    </a:solidFill>
                  </a:tcPr>
                </a:tc>
                <a:extLst>
                  <a:ext uri="{0D108BD9-81ED-4DB2-BD59-A6C34878D82A}">
                    <a16:rowId xmlns:a16="http://schemas.microsoft.com/office/drawing/2014/main" val="10006"/>
                  </a:ext>
                </a:extLst>
              </a:tr>
            </a:tbl>
          </a:graphicData>
        </a:graphic>
      </p:graphicFrame>
      <p:graphicFrame>
        <p:nvGraphicFramePr>
          <p:cNvPr id="534" name="Table 533"/>
          <p:cNvGraphicFramePr>
            <a:graphicFrameLocks noGrp="1"/>
          </p:cNvGraphicFramePr>
          <p:nvPr/>
        </p:nvGraphicFramePr>
        <p:xfrm>
          <a:off x="310896" y="3209544"/>
          <a:ext cx="4965192" cy="1744472"/>
        </p:xfrm>
        <a:graphic>
          <a:graphicData uri="http://schemas.openxmlformats.org/drawingml/2006/table">
            <a:tbl>
              <a:tblPr firstRow="1" bandRow="1">
                <a:tableStyleId>{5C22544A-7EE6-4342-B048-85BDC9FD1C3A}</a:tableStyleId>
              </a:tblPr>
              <a:tblGrid>
                <a:gridCol w="1655064">
                  <a:extLst>
                    <a:ext uri="{9D8B030D-6E8A-4147-A177-3AD203B41FA5}">
                      <a16:colId xmlns:a16="http://schemas.microsoft.com/office/drawing/2014/main" val="20000"/>
                    </a:ext>
                  </a:extLst>
                </a:gridCol>
                <a:gridCol w="1655064">
                  <a:extLst>
                    <a:ext uri="{9D8B030D-6E8A-4147-A177-3AD203B41FA5}">
                      <a16:colId xmlns:a16="http://schemas.microsoft.com/office/drawing/2014/main" val="20001"/>
                    </a:ext>
                  </a:extLst>
                </a:gridCol>
                <a:gridCol w="1655064">
                  <a:extLst>
                    <a:ext uri="{9D8B030D-6E8A-4147-A177-3AD203B41FA5}">
                      <a16:colId xmlns:a16="http://schemas.microsoft.com/office/drawing/2014/main" val="20002"/>
                    </a:ext>
                  </a:extLst>
                </a:gridCol>
              </a:tblGrid>
              <a:tr h="187960">
                <a:tc>
                  <a:txBody>
                    <a:bodyPr/>
                    <a:lstStyle/>
                    <a:p>
                      <a:pPr algn="ctr">
                        <a:defRPr sz="1100" b="1">
                          <a:solidFill>
                            <a:srgbClr val="FFFFFF"/>
                          </a:solidFill>
                          <a:latin typeface="Montserrat"/>
                        </a:defRPr>
                      </a:pPr>
                      <a:r>
                        <a:t>Concepto</a:t>
                      </a:r>
                    </a:p>
                  </a:txBody>
                  <a:tcPr marL="36576" marR="36576" marT="36576" marB="36576">
                    <a:solidFill>
                      <a:srgbClr val="006455"/>
                    </a:solidFill>
                  </a:tcPr>
                </a:tc>
                <a:tc>
                  <a:txBody>
                    <a:bodyPr/>
                    <a:lstStyle/>
                    <a:p>
                      <a:pPr algn="ctr">
                        <a:defRPr sz="1100" b="1">
                          <a:solidFill>
                            <a:srgbClr val="FFFFFF"/>
                          </a:solidFill>
                          <a:latin typeface="Montserrat"/>
                        </a:defRPr>
                      </a:pPr>
                      <a:r>
                        <a:t>Productividad</a:t>
                      </a:r>
                    </a:p>
                  </a:txBody>
                  <a:tcPr marL="36576" marR="36576" marT="36576" marB="36576">
                    <a:solidFill>
                      <a:srgbClr val="006455"/>
                    </a:solidFill>
                  </a:tcPr>
                </a:tc>
                <a:tc>
                  <a:txBody>
                    <a:bodyPr/>
                    <a:lstStyle/>
                    <a:p>
                      <a:pPr algn="ctr">
                        <a:defRPr sz="1100" b="1">
                          <a:solidFill>
                            <a:srgbClr val="FFFFFF"/>
                          </a:solidFill>
                          <a:latin typeface="Montserrat"/>
                        </a:defRPr>
                      </a:pPr>
                      <a:r>
                        <a:t>Día Típico</a:t>
                      </a:r>
                    </a:p>
                  </a:txBody>
                  <a:tcPr marL="36576" marR="36576" marT="36576" marB="36576">
                    <a:solidFill>
                      <a:srgbClr val="006455"/>
                    </a:solidFill>
                  </a:tcPr>
                </a:tc>
                <a:extLst>
                  <a:ext uri="{0D108BD9-81ED-4DB2-BD59-A6C34878D82A}">
                    <a16:rowId xmlns:a16="http://schemas.microsoft.com/office/drawing/2014/main" val="10000"/>
                  </a:ext>
                </a:extLst>
              </a:tr>
              <a:tr h="187960">
                <a:tc>
                  <a:txBody>
                    <a:bodyPr/>
                    <a:lstStyle/>
                    <a:p>
                      <a:pPr algn="l">
                        <a:defRPr sz="1100" b="1">
                          <a:solidFill>
                            <a:srgbClr val="006455"/>
                          </a:solidFill>
                          <a:latin typeface="Montserrat"/>
                        </a:defRPr>
                      </a:pPr>
                      <a:r>
                        <a:t>Total consultas</a:t>
                      </a:r>
                    </a:p>
                  </a:txBody>
                  <a:tcPr marL="73152" marR="73152" marT="0" marB="0" anchor="ctr">
                    <a:solidFill>
                      <a:srgbClr val="D3E9E7"/>
                    </a:solidFill>
                  </a:tcPr>
                </a:tc>
                <a:tc>
                  <a:txBody>
                    <a:bodyPr/>
                    <a:lstStyle/>
                    <a:p>
                      <a:pPr algn="ctr">
                        <a:defRPr sz="1000" b="1">
                          <a:solidFill>
                            <a:srgbClr val="006455"/>
                          </a:solidFill>
                          <a:latin typeface="Montserrat"/>
                        </a:defRPr>
                      </a:pPr>
                      <a:r>
                        <a:t>498,544</a:t>
                      </a:r>
                    </a:p>
                  </a:txBody>
                  <a:tcPr marL="73152" marR="73152" marT="0" marB="0" anchor="ctr">
                    <a:solidFill>
                      <a:srgbClr val="D3E9E7"/>
                    </a:solidFill>
                  </a:tcPr>
                </a:tc>
                <a:tc>
                  <a:txBody>
                    <a:bodyPr/>
                    <a:lstStyle/>
                    <a:p>
                      <a:pPr algn="ctr">
                        <a:defRPr sz="1000" b="1">
                          <a:solidFill>
                            <a:srgbClr val="006455"/>
                          </a:solidFill>
                          <a:latin typeface="Montserrat"/>
                        </a:defRPr>
                      </a:pPr>
                      <a:r>
                        <a:t>1,877</a:t>
                      </a:r>
                    </a:p>
                  </a:txBody>
                  <a:tcPr marL="73152" marR="73152" marT="0" marB="0" anchor="ctr">
                    <a:solidFill>
                      <a:srgbClr val="D3E9E7"/>
                    </a:solidFill>
                  </a:tcPr>
                </a:tc>
                <a:extLst>
                  <a:ext uri="{0D108BD9-81ED-4DB2-BD59-A6C34878D82A}">
                    <a16:rowId xmlns:a16="http://schemas.microsoft.com/office/drawing/2014/main" val="10001"/>
                  </a:ext>
                </a:extLst>
              </a:tr>
              <a:tr h="187960">
                <a:tc>
                  <a:txBody>
                    <a:bodyPr/>
                    <a:lstStyle/>
                    <a:p>
                      <a:pPr algn="ctr">
                        <a:defRPr sz="1100" b="0">
                          <a:solidFill>
                            <a:srgbClr val="000000"/>
                          </a:solidFill>
                          <a:latin typeface="Montserrat"/>
                        </a:defRPr>
                      </a:pPr>
                      <a:r>
                        <a:t>Familiar</a:t>
                      </a:r>
                    </a:p>
                  </a:txBody>
                  <a:tcPr marL="73152" marR="73152" marT="0" marB="0" anchor="ctr">
                    <a:solidFill>
                      <a:srgbClr val="FFFFFF"/>
                    </a:solidFill>
                  </a:tcPr>
                </a:tc>
                <a:tc>
                  <a:txBody>
                    <a:bodyPr/>
                    <a:lstStyle/>
                    <a:p>
                      <a:pPr algn="ctr">
                        <a:defRPr sz="1000" b="0">
                          <a:solidFill>
                            <a:srgbClr val="000000"/>
                          </a:solidFill>
                          <a:latin typeface="Montserrat"/>
                        </a:defRPr>
                      </a:pPr>
                      <a:r>
                        <a:t>434,079</a:t>
                      </a:r>
                    </a:p>
                  </a:txBody>
                  <a:tcPr marL="73152" marR="73152" marT="0" marB="0" anchor="ctr">
                    <a:solidFill>
                      <a:srgbClr val="FFFFFF"/>
                    </a:solidFill>
                  </a:tcPr>
                </a:tc>
                <a:tc>
                  <a:txBody>
                    <a:bodyPr/>
                    <a:lstStyle/>
                    <a:p>
                      <a:pPr algn="ctr">
                        <a:defRPr sz="1000" b="0">
                          <a:solidFill>
                            <a:srgbClr val="000000"/>
                          </a:solidFill>
                          <a:latin typeface="Montserrat"/>
                        </a:defRPr>
                      </a:pPr>
                      <a:r>
                        <a:t>1,663</a:t>
                      </a:r>
                    </a:p>
                  </a:txBody>
                  <a:tcPr marL="73152" marR="73152" marT="0" marB="0" anchor="ctr">
                    <a:solidFill>
                      <a:srgbClr val="FFFFFF"/>
                    </a:solidFill>
                  </a:tcPr>
                </a:tc>
                <a:extLst>
                  <a:ext uri="{0D108BD9-81ED-4DB2-BD59-A6C34878D82A}">
                    <a16:rowId xmlns:a16="http://schemas.microsoft.com/office/drawing/2014/main" val="10002"/>
                  </a:ext>
                </a:extLst>
              </a:tr>
              <a:tr h="187960">
                <a:tc>
                  <a:txBody>
                    <a:bodyPr/>
                    <a:lstStyle/>
                    <a:p>
                      <a:pPr algn="ctr">
                        <a:defRPr sz="1100" b="0">
                          <a:solidFill>
                            <a:srgbClr val="000000"/>
                          </a:solidFill>
                          <a:latin typeface="Montserrat"/>
                        </a:defRPr>
                      </a:pPr>
                      <a:r>
                        <a:t>Estomatología</a:t>
                      </a:r>
                    </a:p>
                  </a:txBody>
                  <a:tcPr marL="73152" marR="73152" marT="0" marB="0" anchor="ctr">
                    <a:solidFill>
                      <a:srgbClr val="EFEFEF"/>
                    </a:solidFill>
                  </a:tcPr>
                </a:tc>
                <a:tc>
                  <a:txBody>
                    <a:bodyPr/>
                    <a:lstStyle/>
                    <a:p>
                      <a:pPr algn="ctr">
                        <a:defRPr sz="1000" b="0">
                          <a:solidFill>
                            <a:srgbClr val="000000"/>
                          </a:solidFill>
                          <a:latin typeface="Montserrat"/>
                        </a:defRPr>
                      </a:pPr>
                      <a:r>
                        <a:t>10,990</a:t>
                      </a:r>
                    </a:p>
                  </a:txBody>
                  <a:tcPr marL="73152" marR="73152" marT="0" marB="0" anchor="ctr">
                    <a:solidFill>
                      <a:srgbClr val="EFEFEF"/>
                    </a:solidFill>
                  </a:tcPr>
                </a:tc>
                <a:tc>
                  <a:txBody>
                    <a:bodyPr/>
                    <a:lstStyle/>
                    <a:p>
                      <a:pPr algn="ctr">
                        <a:defRPr sz="1000" b="0">
                          <a:solidFill>
                            <a:srgbClr val="000000"/>
                          </a:solidFill>
                          <a:latin typeface="Montserrat"/>
                        </a:defRPr>
                      </a:pPr>
                      <a:r>
                        <a:t>42</a:t>
                      </a:r>
                    </a:p>
                  </a:txBody>
                  <a:tcPr marL="73152" marR="73152" marT="0" marB="0" anchor="ctr">
                    <a:solidFill>
                      <a:srgbClr val="EFEFEF"/>
                    </a:solidFill>
                  </a:tcPr>
                </a:tc>
                <a:extLst>
                  <a:ext uri="{0D108BD9-81ED-4DB2-BD59-A6C34878D82A}">
                    <a16:rowId xmlns:a16="http://schemas.microsoft.com/office/drawing/2014/main" val="10003"/>
                  </a:ext>
                </a:extLst>
              </a:tr>
              <a:tr h="187960">
                <a:tc>
                  <a:txBody>
                    <a:bodyPr/>
                    <a:lstStyle/>
                    <a:p>
                      <a:pPr algn="ctr">
                        <a:defRPr sz="1100" b="0">
                          <a:solidFill>
                            <a:srgbClr val="000000"/>
                          </a:solidFill>
                          <a:latin typeface="Montserrat"/>
                        </a:defRPr>
                      </a:pPr>
                      <a:r>
                        <a:t>Urgencias</a:t>
                      </a:r>
                    </a:p>
                  </a:txBody>
                  <a:tcPr marL="73152" marR="73152" marT="0" marB="0" anchor="ctr">
                    <a:solidFill>
                      <a:srgbClr val="FFFFFF"/>
                    </a:solidFill>
                  </a:tcPr>
                </a:tc>
                <a:tc>
                  <a:txBody>
                    <a:bodyPr/>
                    <a:lstStyle/>
                    <a:p>
                      <a:pPr algn="ctr">
                        <a:defRPr sz="1000" b="0">
                          <a:solidFill>
                            <a:srgbClr val="000000"/>
                          </a:solidFill>
                          <a:latin typeface="Montserrat"/>
                        </a:defRPr>
                      </a:pPr>
                      <a:r>
                        <a:t>30,470</a:t>
                      </a:r>
                    </a:p>
                  </a:txBody>
                  <a:tcPr marL="73152" marR="73152" marT="0" marB="0" anchor="ctr">
                    <a:solidFill>
                      <a:srgbClr val="FFFFFF"/>
                    </a:solidFill>
                  </a:tcPr>
                </a:tc>
                <a:tc>
                  <a:txBody>
                    <a:bodyPr/>
                    <a:lstStyle/>
                    <a:p>
                      <a:pPr algn="ctr">
                        <a:defRPr sz="1000" b="0">
                          <a:solidFill>
                            <a:srgbClr val="000000"/>
                          </a:solidFill>
                          <a:latin typeface="Montserrat"/>
                        </a:defRPr>
                      </a:pPr>
                      <a:r>
                        <a:t>83</a:t>
                      </a:r>
                    </a:p>
                  </a:txBody>
                  <a:tcPr marL="73152" marR="73152" marT="0" marB="0" anchor="ctr">
                    <a:solidFill>
                      <a:srgbClr val="FFFFFF"/>
                    </a:solidFill>
                  </a:tcPr>
                </a:tc>
                <a:extLst>
                  <a:ext uri="{0D108BD9-81ED-4DB2-BD59-A6C34878D82A}">
                    <a16:rowId xmlns:a16="http://schemas.microsoft.com/office/drawing/2014/main" val="10004"/>
                  </a:ext>
                </a:extLst>
              </a:tr>
              <a:tr h="187960">
                <a:tc>
                  <a:txBody>
                    <a:bodyPr/>
                    <a:lstStyle/>
                    <a:p>
                      <a:pPr algn="ctr">
                        <a:defRPr sz="1100" b="0">
                          <a:solidFill>
                            <a:srgbClr val="000000"/>
                          </a:solidFill>
                          <a:latin typeface="Montserrat"/>
                        </a:defRPr>
                      </a:pPr>
                      <a:r>
                        <a:t>Especialidades</a:t>
                      </a:r>
                    </a:p>
                  </a:txBody>
                  <a:tcPr marL="73152" marR="73152" marT="0" marB="0" anchor="ctr">
                    <a:solidFill>
                      <a:srgbClr val="EFEFEF"/>
                    </a:solidFill>
                  </a:tcPr>
                </a:tc>
                <a:tc>
                  <a:txBody>
                    <a:bodyPr/>
                    <a:lstStyle/>
                    <a:p>
                      <a:pPr algn="ctr">
                        <a:defRPr sz="1000" b="0">
                          <a:solidFill>
                            <a:srgbClr val="000000"/>
                          </a:solidFill>
                          <a:latin typeface="Montserrat"/>
                        </a:defRPr>
                      </a:pPr>
                      <a:r>
                        <a:t>23,005</a:t>
                      </a:r>
                    </a:p>
                  </a:txBody>
                  <a:tcPr marL="73152" marR="73152" marT="0" marB="0" anchor="ctr">
                    <a:solidFill>
                      <a:srgbClr val="EFEFEF"/>
                    </a:solidFill>
                  </a:tcPr>
                </a:tc>
                <a:tc>
                  <a:txBody>
                    <a:bodyPr/>
                    <a:lstStyle/>
                    <a:p>
                      <a:pPr algn="ctr">
                        <a:defRPr sz="1000" b="0">
                          <a:solidFill>
                            <a:srgbClr val="000000"/>
                          </a:solidFill>
                          <a:latin typeface="Montserrat"/>
                        </a:defRPr>
                      </a:pPr>
                      <a:r>
                        <a:t>88</a:t>
                      </a:r>
                    </a:p>
                  </a:txBody>
                  <a:tcPr marL="73152" marR="73152" marT="0" marB="0" anchor="ctr">
                    <a:solidFill>
                      <a:srgbClr val="EFEFEF"/>
                    </a:solidFill>
                  </a:tcPr>
                </a:tc>
                <a:extLst>
                  <a:ext uri="{0D108BD9-81ED-4DB2-BD59-A6C34878D82A}">
                    <a16:rowId xmlns:a16="http://schemas.microsoft.com/office/drawing/2014/main" val="10005"/>
                  </a:ext>
                </a:extLst>
              </a:tr>
              <a:tr h="187960">
                <a:tc>
                  <a:txBody>
                    <a:bodyPr/>
                    <a:lstStyle/>
                    <a:p>
                      <a:pPr algn="l">
                        <a:defRPr sz="1100" b="1">
                          <a:solidFill>
                            <a:srgbClr val="000000"/>
                          </a:solidFill>
                          <a:latin typeface="Montserrat"/>
                        </a:defRPr>
                      </a:pPr>
                      <a:r>
                        <a:t>Cirugías</a:t>
                      </a:r>
                    </a:p>
                  </a:txBody>
                  <a:tcPr marL="73152" marR="73152" marT="0" marB="0" anchor="ctr">
                    <a:solidFill>
                      <a:srgbClr val="FFFFFF"/>
                    </a:solidFill>
                  </a:tcPr>
                </a:tc>
                <a:tc>
                  <a:txBody>
                    <a:bodyPr/>
                    <a:lstStyle/>
                    <a:p>
                      <a:pPr algn="ctr">
                        <a:defRPr sz="1000" b="0">
                          <a:solidFill>
                            <a:srgbClr val="000000"/>
                          </a:solidFill>
                          <a:latin typeface="Montserrat"/>
                        </a:defRPr>
                      </a:pPr>
                      <a:r>
                        <a:t>2,575</a:t>
                      </a:r>
                    </a:p>
                  </a:txBody>
                  <a:tcPr marL="73152" marR="73152" marT="0" marB="0" anchor="ctr">
                    <a:solidFill>
                      <a:srgbClr val="FFFFFF"/>
                    </a:solidFill>
                  </a:tcPr>
                </a:tc>
                <a:tc>
                  <a:txBody>
                    <a:bodyPr/>
                    <a:lstStyle/>
                    <a:p>
                      <a:pPr algn="ctr">
                        <a:defRPr sz="1000" b="0">
                          <a:solidFill>
                            <a:srgbClr val="000000"/>
                          </a:solidFill>
                          <a:latin typeface="Montserrat"/>
                        </a:defRPr>
                      </a:pPr>
                      <a:r>
                        <a:t>7</a:t>
                      </a:r>
                    </a:p>
                  </a:txBody>
                  <a:tcPr marL="73152" marR="73152" marT="0" marB="0" anchor="ctr">
                    <a:solidFill>
                      <a:srgbClr val="FFFFFF"/>
                    </a:solidFill>
                  </a:tcPr>
                </a:tc>
                <a:extLst>
                  <a:ext uri="{0D108BD9-81ED-4DB2-BD59-A6C34878D82A}">
                    <a16:rowId xmlns:a16="http://schemas.microsoft.com/office/drawing/2014/main" val="10006"/>
                  </a:ext>
                </a:extLst>
              </a:tr>
              <a:tr h="187960">
                <a:tc>
                  <a:txBody>
                    <a:bodyPr/>
                    <a:lstStyle/>
                    <a:p>
                      <a:pPr algn="l">
                        <a:defRPr sz="1100" b="1">
                          <a:solidFill>
                            <a:srgbClr val="000000"/>
                          </a:solidFill>
                          <a:latin typeface="Montserrat"/>
                        </a:defRPr>
                      </a:pPr>
                      <a:r>
                        <a:t>Partos</a:t>
                      </a:r>
                    </a:p>
                  </a:txBody>
                  <a:tcPr marL="73152" marR="73152" marT="0" marB="0" anchor="ctr">
                    <a:solidFill>
                      <a:srgbClr val="EFEFEF"/>
                    </a:solidFill>
                  </a:tcPr>
                </a:tc>
                <a:tc>
                  <a:txBody>
                    <a:bodyPr/>
                    <a:lstStyle/>
                    <a:p>
                      <a:pPr algn="ctr">
                        <a:defRPr sz="1000" b="0">
                          <a:solidFill>
                            <a:srgbClr val="000000"/>
                          </a:solidFill>
                          <a:latin typeface="Montserrat"/>
                        </a:defRPr>
                      </a:pPr>
                      <a:r>
                        <a:t>1,861</a:t>
                      </a:r>
                    </a:p>
                  </a:txBody>
                  <a:tcPr marL="73152" marR="73152" marT="0" marB="0" anchor="ctr">
                    <a:solidFill>
                      <a:srgbClr val="EFEFEF"/>
                    </a:solidFill>
                  </a:tcPr>
                </a:tc>
                <a:tc>
                  <a:txBody>
                    <a:bodyPr/>
                    <a:lstStyle/>
                    <a:p>
                      <a:pPr algn="ctr">
                        <a:defRPr sz="1000" b="0">
                          <a:solidFill>
                            <a:srgbClr val="000000"/>
                          </a:solidFill>
                          <a:latin typeface="Montserrat"/>
                        </a:defRPr>
                      </a:pPr>
                      <a:r>
                        <a:t>5</a:t>
                      </a:r>
                    </a:p>
                  </a:txBody>
                  <a:tcPr marL="73152" marR="73152" marT="0" marB="0" anchor="ctr">
                    <a:solidFill>
                      <a:srgbClr val="EFEFEF"/>
                    </a:solidFill>
                  </a:tcPr>
                </a:tc>
                <a:extLst>
                  <a:ext uri="{0D108BD9-81ED-4DB2-BD59-A6C34878D82A}">
                    <a16:rowId xmlns:a16="http://schemas.microsoft.com/office/drawing/2014/main" val="10007"/>
                  </a:ext>
                </a:extLst>
              </a:tr>
              <a:tr h="187960">
                <a:tc>
                  <a:txBody>
                    <a:bodyPr/>
                    <a:lstStyle/>
                    <a:p>
                      <a:pPr algn="l">
                        <a:defRPr sz="1100" b="1">
                          <a:solidFill>
                            <a:srgbClr val="000000"/>
                          </a:solidFill>
                          <a:latin typeface="Montserrat"/>
                        </a:defRPr>
                      </a:pPr>
                      <a:r>
                        <a:rPr dirty="0" err="1"/>
                        <a:t>Egresos</a:t>
                      </a:r>
                      <a:r>
                        <a:rPr dirty="0"/>
                        <a:t> Hosp.</a:t>
                      </a:r>
                    </a:p>
                  </a:txBody>
                  <a:tcPr marL="73152" marR="73152" marT="0" marB="0" anchor="ctr">
                    <a:solidFill>
                      <a:srgbClr val="FFFFFF"/>
                    </a:solidFill>
                  </a:tcPr>
                </a:tc>
                <a:tc>
                  <a:txBody>
                    <a:bodyPr/>
                    <a:lstStyle/>
                    <a:p>
                      <a:pPr algn="ctr">
                        <a:defRPr sz="1000" b="0">
                          <a:solidFill>
                            <a:srgbClr val="000000"/>
                          </a:solidFill>
                          <a:latin typeface="Montserrat"/>
                        </a:defRPr>
                      </a:pPr>
                      <a:r>
                        <a:t>8,048</a:t>
                      </a:r>
                    </a:p>
                  </a:txBody>
                  <a:tcPr marL="73152" marR="73152" marT="0" marB="0" anchor="ctr">
                    <a:solidFill>
                      <a:srgbClr val="FFFFFF"/>
                    </a:solidFill>
                  </a:tcPr>
                </a:tc>
                <a:tc>
                  <a:txBody>
                    <a:bodyPr/>
                    <a:lstStyle/>
                    <a:p>
                      <a:pPr algn="ctr">
                        <a:defRPr sz="1000" b="0">
                          <a:solidFill>
                            <a:srgbClr val="000000"/>
                          </a:solidFill>
                          <a:latin typeface="Montserrat"/>
                        </a:defRPr>
                      </a:pPr>
                      <a:r>
                        <a:rPr dirty="0"/>
                        <a:t>22</a:t>
                      </a:r>
                    </a:p>
                  </a:txBody>
                  <a:tcPr marL="73152" marR="73152" marT="0" marB="0" anchor="ctr">
                    <a:solidFill>
                      <a:srgbClr val="FFFFFF"/>
                    </a:solidFill>
                  </a:tcPr>
                </a:tc>
                <a:extLst>
                  <a:ext uri="{0D108BD9-81ED-4DB2-BD59-A6C34878D82A}">
                    <a16:rowId xmlns:a16="http://schemas.microsoft.com/office/drawing/2014/main" val="10008"/>
                  </a:ext>
                </a:extLst>
              </a:tr>
            </a:tbl>
          </a:graphicData>
        </a:graphic>
      </p:graphicFrame>
      <p:graphicFrame>
        <p:nvGraphicFramePr>
          <p:cNvPr id="535" name="Table 534"/>
          <p:cNvGraphicFramePr>
            <a:graphicFrameLocks noGrp="1"/>
          </p:cNvGraphicFramePr>
          <p:nvPr/>
        </p:nvGraphicFramePr>
        <p:xfrm>
          <a:off x="310896" y="5815584"/>
          <a:ext cx="7022592" cy="1648968"/>
        </p:xfrm>
        <a:graphic>
          <a:graphicData uri="http://schemas.openxmlformats.org/drawingml/2006/table">
            <a:tbl>
              <a:tblPr firstRow="1" bandRow="1">
                <a:tableStyleId>{5C22544A-7EE6-4342-B048-85BDC9FD1C3A}</a:tableStyleId>
              </a:tblPr>
              <a:tblGrid>
                <a:gridCol w="1664208">
                  <a:extLst>
                    <a:ext uri="{9D8B030D-6E8A-4147-A177-3AD203B41FA5}">
                      <a16:colId xmlns:a16="http://schemas.microsoft.com/office/drawing/2014/main" val="20000"/>
                    </a:ext>
                  </a:extLst>
                </a:gridCol>
                <a:gridCol w="923544">
                  <a:extLst>
                    <a:ext uri="{9D8B030D-6E8A-4147-A177-3AD203B41FA5}">
                      <a16:colId xmlns:a16="http://schemas.microsoft.com/office/drawing/2014/main" val="20001"/>
                    </a:ext>
                  </a:extLst>
                </a:gridCol>
                <a:gridCol w="1179576">
                  <a:extLst>
                    <a:ext uri="{9D8B030D-6E8A-4147-A177-3AD203B41FA5}">
                      <a16:colId xmlns:a16="http://schemas.microsoft.com/office/drawing/2014/main" val="20002"/>
                    </a:ext>
                  </a:extLst>
                </a:gridCol>
                <a:gridCol w="1179576">
                  <a:extLst>
                    <a:ext uri="{9D8B030D-6E8A-4147-A177-3AD203B41FA5}">
                      <a16:colId xmlns:a16="http://schemas.microsoft.com/office/drawing/2014/main" val="20003"/>
                    </a:ext>
                  </a:extLst>
                </a:gridCol>
                <a:gridCol w="1179576">
                  <a:extLst>
                    <a:ext uri="{9D8B030D-6E8A-4147-A177-3AD203B41FA5}">
                      <a16:colId xmlns:a16="http://schemas.microsoft.com/office/drawing/2014/main" val="20004"/>
                    </a:ext>
                  </a:extLst>
                </a:gridCol>
                <a:gridCol w="896112">
                  <a:extLst>
                    <a:ext uri="{9D8B030D-6E8A-4147-A177-3AD203B41FA5}">
                      <a16:colId xmlns:a16="http://schemas.microsoft.com/office/drawing/2014/main" val="20005"/>
                    </a:ext>
                  </a:extLst>
                </a:gridCol>
              </a:tblGrid>
              <a:tr h="201168">
                <a:tc>
                  <a:txBody>
                    <a:bodyPr/>
                    <a:lstStyle/>
                    <a:p>
                      <a:pPr algn="ctr">
                        <a:defRPr sz="1100" b="1">
                          <a:solidFill>
                            <a:srgbClr val="FFFFFF"/>
                          </a:solidFill>
                          <a:latin typeface="Montserrat"/>
                        </a:defRPr>
                      </a:pPr>
                      <a:r>
                        <a:t>Disciplina</a:t>
                      </a:r>
                    </a:p>
                  </a:txBody>
                  <a:tcPr marL="36576" marR="36576" marT="36576" marB="36576">
                    <a:solidFill>
                      <a:srgbClr val="006455"/>
                    </a:solidFill>
                  </a:tcPr>
                </a:tc>
                <a:tc>
                  <a:txBody>
                    <a:bodyPr/>
                    <a:lstStyle/>
                    <a:p>
                      <a:pPr algn="ctr">
                        <a:defRPr sz="1100" b="1">
                          <a:solidFill>
                            <a:srgbClr val="FFFFFF"/>
                          </a:solidFill>
                          <a:latin typeface="Montserrat"/>
                        </a:defRPr>
                      </a:pPr>
                      <a:r>
                        <a:t>Base</a:t>
                      </a:r>
                    </a:p>
                  </a:txBody>
                  <a:tcPr marL="36576" marR="36576" marT="36576" marB="36576">
                    <a:solidFill>
                      <a:srgbClr val="006455"/>
                    </a:solidFill>
                  </a:tcPr>
                </a:tc>
                <a:tc>
                  <a:txBody>
                    <a:bodyPr/>
                    <a:lstStyle/>
                    <a:p>
                      <a:pPr algn="ctr">
                        <a:defRPr sz="1100" b="1">
                          <a:solidFill>
                            <a:srgbClr val="FFFFFF"/>
                          </a:solidFill>
                          <a:latin typeface="Montserrat"/>
                        </a:defRPr>
                      </a:pPr>
                      <a:r>
                        <a:t>Confianza</a:t>
                      </a:r>
                    </a:p>
                  </a:txBody>
                  <a:tcPr marL="36576" marR="36576" marT="36576" marB="36576">
                    <a:solidFill>
                      <a:srgbClr val="006455"/>
                    </a:solidFill>
                  </a:tcPr>
                </a:tc>
                <a:tc>
                  <a:txBody>
                    <a:bodyPr/>
                    <a:lstStyle/>
                    <a:p>
                      <a:pPr algn="ctr">
                        <a:defRPr sz="1100" b="1">
                          <a:solidFill>
                            <a:srgbClr val="FFFFFF"/>
                          </a:solidFill>
                          <a:latin typeface="Montserrat"/>
                        </a:defRPr>
                      </a:pPr>
                      <a:r>
                        <a:t>Estatuto A</a:t>
                      </a:r>
                    </a:p>
                  </a:txBody>
                  <a:tcPr marL="36576" marR="36576" marT="36576" marB="36576">
                    <a:solidFill>
                      <a:srgbClr val="006455"/>
                    </a:solidFill>
                  </a:tcPr>
                </a:tc>
                <a:tc>
                  <a:txBody>
                    <a:bodyPr/>
                    <a:lstStyle/>
                    <a:p>
                      <a:pPr algn="ctr">
                        <a:defRPr sz="1100" b="1">
                          <a:solidFill>
                            <a:srgbClr val="FFFFFF"/>
                          </a:solidFill>
                          <a:latin typeface="Montserrat"/>
                        </a:defRPr>
                      </a:pPr>
                      <a:r>
                        <a:t>Sustitutos</a:t>
                      </a:r>
                    </a:p>
                  </a:txBody>
                  <a:tcPr marL="36576" marR="36576" marT="36576" marB="36576">
                    <a:solidFill>
                      <a:srgbClr val="006455"/>
                    </a:solidFill>
                  </a:tcPr>
                </a:tc>
                <a:tc>
                  <a:txBody>
                    <a:bodyPr/>
                    <a:lstStyle/>
                    <a:p>
                      <a:pPr algn="ctr">
                        <a:defRPr sz="1100" b="1">
                          <a:solidFill>
                            <a:srgbClr val="FFFFFF"/>
                          </a:solidFill>
                          <a:latin typeface="Montserrat"/>
                        </a:defRPr>
                      </a:pPr>
                      <a:r>
                        <a:t>Total</a:t>
                      </a:r>
                    </a:p>
                  </a:txBody>
                  <a:tcPr marL="36576" marR="36576" marT="36576" marB="36576">
                    <a:solidFill>
                      <a:srgbClr val="006455"/>
                    </a:solidFill>
                  </a:tcPr>
                </a:tc>
                <a:extLst>
                  <a:ext uri="{0D108BD9-81ED-4DB2-BD59-A6C34878D82A}">
                    <a16:rowId xmlns:a16="http://schemas.microsoft.com/office/drawing/2014/main" val="10000"/>
                  </a:ext>
                </a:extLst>
              </a:tr>
              <a:tr h="201168">
                <a:tc>
                  <a:txBody>
                    <a:bodyPr/>
                    <a:lstStyle/>
                    <a:p>
                      <a:pPr algn="l">
                        <a:defRPr sz="1100" b="0">
                          <a:solidFill>
                            <a:srgbClr val="000000"/>
                          </a:solidFill>
                          <a:latin typeface="Montserrat"/>
                        </a:defRPr>
                      </a:pPr>
                      <a:r>
                        <a:t>Médicos</a:t>
                      </a:r>
                    </a:p>
                  </a:txBody>
                  <a:tcPr marL="73152" marR="73152" marT="0" marB="0" anchor="ctr">
                    <a:solidFill>
                      <a:srgbClr val="FFFFFF"/>
                    </a:solidFill>
                  </a:tcPr>
                </a:tc>
                <a:tc>
                  <a:txBody>
                    <a:bodyPr/>
                    <a:lstStyle/>
                    <a:p>
                      <a:pPr algn="ctr">
                        <a:defRPr sz="1000" b="0">
                          <a:solidFill>
                            <a:srgbClr val="000000"/>
                          </a:solidFill>
                          <a:latin typeface="Montserrat"/>
                        </a:defRPr>
                      </a:pPr>
                      <a:r>
                        <a:t>216</a:t>
                      </a:r>
                    </a:p>
                  </a:txBody>
                  <a:tcPr marL="73152" marR="73152" marT="0" marB="0" anchor="ctr">
                    <a:solidFill>
                      <a:srgbClr val="FFFFFF"/>
                    </a:solidFill>
                  </a:tcPr>
                </a:tc>
                <a:tc>
                  <a:txBody>
                    <a:bodyPr/>
                    <a:lstStyle/>
                    <a:p>
                      <a:pPr algn="ctr">
                        <a:defRPr sz="1000" b="0">
                          <a:solidFill>
                            <a:srgbClr val="000000"/>
                          </a:solidFill>
                          <a:latin typeface="Montserrat"/>
                        </a:defRPr>
                      </a:pPr>
                      <a:r>
                        <a:t>18</a:t>
                      </a:r>
                    </a:p>
                  </a:txBody>
                  <a:tcPr marL="73152" marR="73152" marT="0" marB="0" anchor="ctr">
                    <a:solidFill>
                      <a:srgbClr val="FFFFFF"/>
                    </a:solidFill>
                  </a:tcPr>
                </a:tc>
                <a:tc>
                  <a:txBody>
                    <a:bodyPr/>
                    <a:lstStyle/>
                    <a:p>
                      <a:pPr algn="ctr">
                        <a:defRPr sz="1000" b="0">
                          <a:solidFill>
                            <a:srgbClr val="000000"/>
                          </a:solidFill>
                          <a:latin typeface="Montserrat"/>
                        </a:defRPr>
                      </a:pPr>
                      <a:r>
                        <a:t>6</a:t>
                      </a:r>
                    </a:p>
                  </a:txBody>
                  <a:tcPr marL="73152" marR="73152" marT="0" marB="0" anchor="ctr">
                    <a:solidFill>
                      <a:srgbClr val="FFFFFF"/>
                    </a:solidFill>
                  </a:tcPr>
                </a:tc>
                <a:tc>
                  <a:txBody>
                    <a:bodyPr/>
                    <a:lstStyle/>
                    <a:p>
                      <a:pPr algn="ctr">
                        <a:defRPr sz="1000" b="0">
                          <a:solidFill>
                            <a:srgbClr val="000000"/>
                          </a:solidFill>
                          <a:latin typeface="Montserrat"/>
                        </a:defRPr>
                      </a:pPr>
                      <a:r>
                        <a:t>13</a:t>
                      </a:r>
                    </a:p>
                  </a:txBody>
                  <a:tcPr marL="73152" marR="73152" marT="0" marB="0" anchor="ctr">
                    <a:solidFill>
                      <a:srgbClr val="FFFFFF"/>
                    </a:solidFill>
                  </a:tcPr>
                </a:tc>
                <a:tc>
                  <a:txBody>
                    <a:bodyPr/>
                    <a:lstStyle/>
                    <a:p>
                      <a:pPr algn="ctr">
                        <a:defRPr sz="1000" b="1">
                          <a:solidFill>
                            <a:srgbClr val="006455"/>
                          </a:solidFill>
                          <a:latin typeface="Montserrat"/>
                        </a:defRPr>
                      </a:pPr>
                      <a:r>
                        <a:t>253</a:t>
                      </a:r>
                    </a:p>
                  </a:txBody>
                  <a:tcPr marL="73152" marR="73152" marT="0" marB="0" anchor="ctr">
                    <a:solidFill>
                      <a:srgbClr val="D3E9E7"/>
                    </a:solidFill>
                  </a:tcPr>
                </a:tc>
                <a:extLst>
                  <a:ext uri="{0D108BD9-81ED-4DB2-BD59-A6C34878D82A}">
                    <a16:rowId xmlns:a16="http://schemas.microsoft.com/office/drawing/2014/main" val="10001"/>
                  </a:ext>
                </a:extLst>
              </a:tr>
              <a:tr h="201168">
                <a:tc>
                  <a:txBody>
                    <a:bodyPr/>
                    <a:lstStyle/>
                    <a:p>
                      <a:pPr algn="l">
                        <a:defRPr sz="1100" b="0">
                          <a:solidFill>
                            <a:srgbClr val="000000"/>
                          </a:solidFill>
                          <a:latin typeface="Montserrat"/>
                        </a:defRPr>
                      </a:pPr>
                      <a:r>
                        <a:t>Enfermeras</a:t>
                      </a:r>
                    </a:p>
                  </a:txBody>
                  <a:tcPr marL="73152" marR="73152" marT="0" marB="0" anchor="ctr">
                    <a:solidFill>
                      <a:srgbClr val="EFEFEF"/>
                    </a:solidFill>
                  </a:tcPr>
                </a:tc>
                <a:tc>
                  <a:txBody>
                    <a:bodyPr/>
                    <a:lstStyle/>
                    <a:p>
                      <a:pPr algn="ctr">
                        <a:defRPr sz="1000" b="0">
                          <a:solidFill>
                            <a:srgbClr val="000000"/>
                          </a:solidFill>
                          <a:latin typeface="Montserrat"/>
                        </a:defRPr>
                      </a:pPr>
                      <a:r>
                        <a:t>461</a:t>
                      </a:r>
                    </a:p>
                  </a:txBody>
                  <a:tcPr marL="73152" marR="73152" marT="0" marB="0" anchor="ctr">
                    <a:solidFill>
                      <a:srgbClr val="EFEFEF"/>
                    </a:solidFill>
                  </a:tcPr>
                </a:tc>
                <a:tc>
                  <a:txBody>
                    <a:bodyPr/>
                    <a:lstStyle/>
                    <a:p>
                      <a:pPr algn="ctr">
                        <a:defRPr sz="1000" b="0">
                          <a:solidFill>
                            <a:srgbClr val="000000"/>
                          </a:solidFill>
                          <a:latin typeface="Montserrat"/>
                        </a:defRPr>
                      </a:pPr>
                      <a:r>
                        <a:t>8</a:t>
                      </a:r>
                    </a:p>
                  </a:txBody>
                  <a:tcPr marL="73152" marR="73152" marT="0" marB="0" anchor="ctr">
                    <a:solidFill>
                      <a:srgbClr val="EFEFEF"/>
                    </a:solidFill>
                  </a:tcPr>
                </a:tc>
                <a:tc>
                  <a:txBody>
                    <a:bodyPr/>
                    <a:lstStyle/>
                    <a:p>
                      <a:pPr algn="ctr">
                        <a:defRPr sz="1000" b="0">
                          <a:solidFill>
                            <a:srgbClr val="000000"/>
                          </a:solidFill>
                          <a:latin typeface="Montserrat"/>
                        </a:defRPr>
                      </a:pPr>
                      <a:r>
                        <a:t>1</a:t>
                      </a:r>
                    </a:p>
                  </a:txBody>
                  <a:tcPr marL="73152" marR="73152" marT="0" marB="0" anchor="ctr">
                    <a:solidFill>
                      <a:srgbClr val="EFEFEF"/>
                    </a:solidFill>
                  </a:tcPr>
                </a:tc>
                <a:tc>
                  <a:txBody>
                    <a:bodyPr/>
                    <a:lstStyle/>
                    <a:p>
                      <a:pPr algn="ctr">
                        <a:defRPr sz="1000" b="0">
                          <a:solidFill>
                            <a:srgbClr val="000000"/>
                          </a:solidFill>
                          <a:latin typeface="Montserrat"/>
                        </a:defRPr>
                      </a:pPr>
                      <a:r>
                        <a:t>282</a:t>
                      </a:r>
                    </a:p>
                  </a:txBody>
                  <a:tcPr marL="73152" marR="73152" marT="0" marB="0" anchor="ctr">
                    <a:solidFill>
                      <a:srgbClr val="EFEFEF"/>
                    </a:solidFill>
                  </a:tcPr>
                </a:tc>
                <a:tc>
                  <a:txBody>
                    <a:bodyPr/>
                    <a:lstStyle/>
                    <a:p>
                      <a:pPr algn="ctr">
                        <a:defRPr sz="1000" b="1">
                          <a:solidFill>
                            <a:srgbClr val="006455"/>
                          </a:solidFill>
                          <a:latin typeface="Montserrat"/>
                        </a:defRPr>
                      </a:pPr>
                      <a:r>
                        <a:t>752</a:t>
                      </a:r>
                    </a:p>
                  </a:txBody>
                  <a:tcPr marL="73152" marR="73152" marT="0" marB="0" anchor="ctr">
                    <a:solidFill>
                      <a:srgbClr val="D3E9E7"/>
                    </a:solidFill>
                  </a:tcPr>
                </a:tc>
                <a:extLst>
                  <a:ext uri="{0D108BD9-81ED-4DB2-BD59-A6C34878D82A}">
                    <a16:rowId xmlns:a16="http://schemas.microsoft.com/office/drawing/2014/main" val="10002"/>
                  </a:ext>
                </a:extLst>
              </a:tr>
              <a:tr h="201168">
                <a:tc>
                  <a:txBody>
                    <a:bodyPr/>
                    <a:lstStyle/>
                    <a:p>
                      <a:pPr algn="l">
                        <a:defRPr sz="1100" b="0">
                          <a:solidFill>
                            <a:srgbClr val="000000"/>
                          </a:solidFill>
                          <a:latin typeface="Montserrat"/>
                        </a:defRPr>
                      </a:pPr>
                      <a:r>
                        <a:t>Paramédicos</a:t>
                      </a:r>
                    </a:p>
                  </a:txBody>
                  <a:tcPr marL="73152" marR="73152" marT="0" marB="0" anchor="ctr">
                    <a:solidFill>
                      <a:srgbClr val="FFFFFF"/>
                    </a:solidFill>
                  </a:tcPr>
                </a:tc>
                <a:tc>
                  <a:txBody>
                    <a:bodyPr/>
                    <a:lstStyle/>
                    <a:p>
                      <a:pPr algn="ctr">
                        <a:defRPr sz="1000" b="0">
                          <a:solidFill>
                            <a:srgbClr val="000000"/>
                          </a:solidFill>
                          <a:latin typeface="Montserrat"/>
                        </a:defRPr>
                      </a:pPr>
                      <a:r>
                        <a:t>59</a:t>
                      </a:r>
                    </a:p>
                  </a:txBody>
                  <a:tcPr marL="73152" marR="73152" marT="0" marB="0" anchor="ctr">
                    <a:solidFill>
                      <a:srgbClr val="FFFFFF"/>
                    </a:solidFill>
                  </a:tcPr>
                </a:tc>
                <a:tc>
                  <a:txBody>
                    <a:bodyPr/>
                    <a:lstStyle/>
                    <a:p>
                      <a:pPr algn="ctr">
                        <a:defRPr sz="1000" b="0">
                          <a:solidFill>
                            <a:srgbClr val="000000"/>
                          </a:solidFill>
                          <a:latin typeface="Montserrat"/>
                        </a:defRPr>
                      </a:pPr>
                      <a:r>
                        <a:t>0</a:t>
                      </a:r>
                    </a:p>
                  </a:txBody>
                  <a:tcPr marL="73152" marR="73152" marT="0" marB="0" anchor="ctr">
                    <a:solidFill>
                      <a:srgbClr val="FFFFFF"/>
                    </a:solidFill>
                  </a:tcPr>
                </a:tc>
                <a:tc>
                  <a:txBody>
                    <a:bodyPr/>
                    <a:lstStyle/>
                    <a:p>
                      <a:pPr algn="ctr">
                        <a:defRPr sz="1000" b="0">
                          <a:solidFill>
                            <a:srgbClr val="000000"/>
                          </a:solidFill>
                          <a:latin typeface="Montserrat"/>
                        </a:defRPr>
                      </a:pPr>
                      <a:r>
                        <a:t>5</a:t>
                      </a:r>
                    </a:p>
                  </a:txBody>
                  <a:tcPr marL="73152" marR="73152" marT="0" marB="0" anchor="ctr">
                    <a:solidFill>
                      <a:srgbClr val="FFFFFF"/>
                    </a:solidFill>
                  </a:tcPr>
                </a:tc>
                <a:tc>
                  <a:txBody>
                    <a:bodyPr/>
                    <a:lstStyle/>
                    <a:p>
                      <a:pPr algn="ctr">
                        <a:defRPr sz="1000" b="0">
                          <a:solidFill>
                            <a:srgbClr val="000000"/>
                          </a:solidFill>
                          <a:latin typeface="Montserrat"/>
                        </a:defRPr>
                      </a:pPr>
                      <a:r>
                        <a:t>32</a:t>
                      </a:r>
                    </a:p>
                  </a:txBody>
                  <a:tcPr marL="73152" marR="73152" marT="0" marB="0" anchor="ctr">
                    <a:solidFill>
                      <a:srgbClr val="FFFFFF"/>
                    </a:solidFill>
                  </a:tcPr>
                </a:tc>
                <a:tc>
                  <a:txBody>
                    <a:bodyPr/>
                    <a:lstStyle/>
                    <a:p>
                      <a:pPr algn="ctr">
                        <a:defRPr sz="1000" b="1">
                          <a:solidFill>
                            <a:srgbClr val="006455"/>
                          </a:solidFill>
                          <a:latin typeface="Montserrat"/>
                        </a:defRPr>
                      </a:pPr>
                      <a:r>
                        <a:t>96</a:t>
                      </a:r>
                    </a:p>
                  </a:txBody>
                  <a:tcPr marL="73152" marR="73152" marT="0" marB="0" anchor="ctr">
                    <a:solidFill>
                      <a:srgbClr val="D3E9E7"/>
                    </a:solidFill>
                  </a:tcPr>
                </a:tc>
                <a:extLst>
                  <a:ext uri="{0D108BD9-81ED-4DB2-BD59-A6C34878D82A}">
                    <a16:rowId xmlns:a16="http://schemas.microsoft.com/office/drawing/2014/main" val="10003"/>
                  </a:ext>
                </a:extLst>
              </a:tr>
              <a:tr h="201168">
                <a:tc>
                  <a:txBody>
                    <a:bodyPr/>
                    <a:lstStyle/>
                    <a:p>
                      <a:pPr algn="l">
                        <a:defRPr sz="1100" b="0">
                          <a:solidFill>
                            <a:srgbClr val="000000"/>
                          </a:solidFill>
                          <a:latin typeface="Montserrat"/>
                        </a:defRPr>
                      </a:pPr>
                      <a:r>
                        <a:t>Administrativas</a:t>
                      </a:r>
                    </a:p>
                  </a:txBody>
                  <a:tcPr marL="73152" marR="73152" marT="0" marB="0" anchor="ctr">
                    <a:solidFill>
                      <a:srgbClr val="EFEFEF"/>
                    </a:solidFill>
                  </a:tcPr>
                </a:tc>
                <a:tc>
                  <a:txBody>
                    <a:bodyPr/>
                    <a:lstStyle/>
                    <a:p>
                      <a:pPr algn="ctr">
                        <a:defRPr sz="1000" b="0">
                          <a:solidFill>
                            <a:srgbClr val="000000"/>
                          </a:solidFill>
                          <a:latin typeface="Montserrat"/>
                        </a:defRPr>
                      </a:pPr>
                      <a:r>
                        <a:t>44</a:t>
                      </a:r>
                    </a:p>
                  </a:txBody>
                  <a:tcPr marL="73152" marR="73152" marT="0" marB="0" anchor="ctr">
                    <a:solidFill>
                      <a:srgbClr val="EFEFEF"/>
                    </a:solidFill>
                  </a:tcPr>
                </a:tc>
                <a:tc>
                  <a:txBody>
                    <a:bodyPr/>
                    <a:lstStyle/>
                    <a:p>
                      <a:pPr algn="ctr">
                        <a:defRPr sz="1000" b="0">
                          <a:solidFill>
                            <a:srgbClr val="000000"/>
                          </a:solidFill>
                          <a:latin typeface="Montserrat"/>
                        </a:defRPr>
                      </a:pPr>
                      <a:r>
                        <a:t>14</a:t>
                      </a:r>
                    </a:p>
                  </a:txBody>
                  <a:tcPr marL="73152" marR="73152" marT="0" marB="0" anchor="ctr">
                    <a:solidFill>
                      <a:srgbClr val="EFEFEF"/>
                    </a:solidFill>
                  </a:tcPr>
                </a:tc>
                <a:tc>
                  <a:txBody>
                    <a:bodyPr/>
                    <a:lstStyle/>
                    <a:p>
                      <a:pPr algn="ctr">
                        <a:defRPr sz="1000" b="0">
                          <a:solidFill>
                            <a:srgbClr val="000000"/>
                          </a:solidFill>
                          <a:latin typeface="Montserrat"/>
                        </a:defRPr>
                      </a:pPr>
                      <a:r>
                        <a:t>29</a:t>
                      </a:r>
                    </a:p>
                  </a:txBody>
                  <a:tcPr marL="73152" marR="73152" marT="0" marB="0" anchor="ctr">
                    <a:solidFill>
                      <a:srgbClr val="EFEFEF"/>
                    </a:solidFill>
                  </a:tcPr>
                </a:tc>
                <a:tc>
                  <a:txBody>
                    <a:bodyPr/>
                    <a:lstStyle/>
                    <a:p>
                      <a:pPr algn="ctr">
                        <a:defRPr sz="1000" b="0">
                          <a:solidFill>
                            <a:srgbClr val="000000"/>
                          </a:solidFill>
                          <a:latin typeface="Montserrat"/>
                        </a:defRPr>
                      </a:pPr>
                      <a:r>
                        <a:t>14</a:t>
                      </a:r>
                    </a:p>
                  </a:txBody>
                  <a:tcPr marL="73152" marR="73152" marT="0" marB="0" anchor="ctr">
                    <a:solidFill>
                      <a:srgbClr val="EFEFEF"/>
                    </a:solidFill>
                  </a:tcPr>
                </a:tc>
                <a:tc>
                  <a:txBody>
                    <a:bodyPr/>
                    <a:lstStyle/>
                    <a:p>
                      <a:pPr algn="ctr">
                        <a:defRPr sz="1000" b="1">
                          <a:solidFill>
                            <a:srgbClr val="006455"/>
                          </a:solidFill>
                          <a:latin typeface="Montserrat"/>
                        </a:defRPr>
                      </a:pPr>
                      <a:r>
                        <a:t>101</a:t>
                      </a:r>
                    </a:p>
                  </a:txBody>
                  <a:tcPr marL="73152" marR="73152" marT="0" marB="0" anchor="ctr">
                    <a:solidFill>
                      <a:srgbClr val="D3E9E7"/>
                    </a:solidFill>
                  </a:tcPr>
                </a:tc>
                <a:extLst>
                  <a:ext uri="{0D108BD9-81ED-4DB2-BD59-A6C34878D82A}">
                    <a16:rowId xmlns:a16="http://schemas.microsoft.com/office/drawing/2014/main" val="10004"/>
                  </a:ext>
                </a:extLst>
              </a:tr>
              <a:tr h="201168">
                <a:tc>
                  <a:txBody>
                    <a:bodyPr/>
                    <a:lstStyle/>
                    <a:p>
                      <a:pPr algn="l">
                        <a:defRPr sz="1100" b="0">
                          <a:solidFill>
                            <a:srgbClr val="000000"/>
                          </a:solidFill>
                          <a:latin typeface="Montserrat"/>
                        </a:defRPr>
                      </a:pPr>
                      <a:r>
                        <a:t>Servicios Generales</a:t>
                      </a:r>
                    </a:p>
                  </a:txBody>
                  <a:tcPr marL="73152" marR="73152" marT="0" marB="0" anchor="ctr">
                    <a:solidFill>
                      <a:srgbClr val="FFFFFF"/>
                    </a:solidFill>
                  </a:tcPr>
                </a:tc>
                <a:tc>
                  <a:txBody>
                    <a:bodyPr/>
                    <a:lstStyle/>
                    <a:p>
                      <a:pPr algn="ctr">
                        <a:defRPr sz="1000" b="0">
                          <a:solidFill>
                            <a:srgbClr val="000000"/>
                          </a:solidFill>
                          <a:latin typeface="Montserrat"/>
                        </a:defRPr>
                      </a:pPr>
                      <a:r>
                        <a:t>176</a:t>
                      </a:r>
                    </a:p>
                  </a:txBody>
                  <a:tcPr marL="73152" marR="73152" marT="0" marB="0" anchor="ctr">
                    <a:solidFill>
                      <a:srgbClr val="FFFFFF"/>
                    </a:solidFill>
                  </a:tcPr>
                </a:tc>
                <a:tc>
                  <a:txBody>
                    <a:bodyPr/>
                    <a:lstStyle/>
                    <a:p>
                      <a:pPr algn="ctr">
                        <a:defRPr sz="1000" b="0">
                          <a:solidFill>
                            <a:srgbClr val="000000"/>
                          </a:solidFill>
                          <a:latin typeface="Montserrat"/>
                        </a:defRPr>
                      </a:pPr>
                      <a:r>
                        <a:t>8</a:t>
                      </a:r>
                    </a:p>
                  </a:txBody>
                  <a:tcPr marL="73152" marR="73152" marT="0" marB="0" anchor="ctr">
                    <a:solidFill>
                      <a:srgbClr val="FFFFFF"/>
                    </a:solidFill>
                  </a:tcPr>
                </a:tc>
                <a:tc>
                  <a:txBody>
                    <a:bodyPr/>
                    <a:lstStyle/>
                    <a:p>
                      <a:pPr algn="ctr">
                        <a:defRPr sz="1000" b="0">
                          <a:solidFill>
                            <a:srgbClr val="000000"/>
                          </a:solidFill>
                          <a:latin typeface="Montserrat"/>
                        </a:defRPr>
                      </a:pPr>
                      <a:r>
                        <a:t>8</a:t>
                      </a:r>
                    </a:p>
                  </a:txBody>
                  <a:tcPr marL="73152" marR="73152" marT="0" marB="0" anchor="ctr">
                    <a:solidFill>
                      <a:srgbClr val="FFFFFF"/>
                    </a:solidFill>
                  </a:tcPr>
                </a:tc>
                <a:tc>
                  <a:txBody>
                    <a:bodyPr/>
                    <a:lstStyle/>
                    <a:p>
                      <a:pPr algn="ctr">
                        <a:defRPr sz="1000" b="0">
                          <a:solidFill>
                            <a:srgbClr val="000000"/>
                          </a:solidFill>
                          <a:latin typeface="Montserrat"/>
                        </a:defRPr>
                      </a:pPr>
                      <a:r>
                        <a:t>84</a:t>
                      </a:r>
                    </a:p>
                  </a:txBody>
                  <a:tcPr marL="73152" marR="73152" marT="0" marB="0" anchor="ctr">
                    <a:solidFill>
                      <a:srgbClr val="FFFFFF"/>
                    </a:solidFill>
                  </a:tcPr>
                </a:tc>
                <a:tc>
                  <a:txBody>
                    <a:bodyPr/>
                    <a:lstStyle/>
                    <a:p>
                      <a:pPr algn="ctr">
                        <a:defRPr sz="1000" b="1">
                          <a:solidFill>
                            <a:srgbClr val="006455"/>
                          </a:solidFill>
                          <a:latin typeface="Montserrat"/>
                        </a:defRPr>
                      </a:pPr>
                      <a:r>
                        <a:t>276</a:t>
                      </a:r>
                    </a:p>
                  </a:txBody>
                  <a:tcPr marL="73152" marR="73152" marT="0" marB="0" anchor="ctr">
                    <a:solidFill>
                      <a:srgbClr val="D3E9E7"/>
                    </a:solidFill>
                  </a:tcPr>
                </a:tc>
                <a:extLst>
                  <a:ext uri="{0D108BD9-81ED-4DB2-BD59-A6C34878D82A}">
                    <a16:rowId xmlns:a16="http://schemas.microsoft.com/office/drawing/2014/main" val="10005"/>
                  </a:ext>
                </a:extLst>
              </a:tr>
              <a:tr h="201168">
                <a:tc>
                  <a:txBody>
                    <a:bodyPr/>
                    <a:lstStyle/>
                    <a:p>
                      <a:pPr algn="l">
                        <a:defRPr sz="1100" b="0">
                          <a:solidFill>
                            <a:srgbClr val="000000"/>
                          </a:solidFill>
                          <a:latin typeface="Montserrat"/>
                        </a:defRPr>
                      </a:pPr>
                      <a:r>
                        <a:t>Acción Comunitaria</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0">
                          <a:solidFill>
                            <a:srgbClr val="000000"/>
                          </a:solidFill>
                          <a:latin typeface="Montserrat"/>
                        </a:defRPr>
                      </a:pPr>
                      <a:r>
                        <a:t>3</a:t>
                      </a:r>
                    </a:p>
                  </a:txBody>
                  <a:tcPr marL="73152" marR="73152" marT="0" marB="0" anchor="ctr">
                    <a:solidFill>
                      <a:srgbClr val="EFEFEF"/>
                    </a:solidFill>
                  </a:tcPr>
                </a:tc>
                <a:tc>
                  <a:txBody>
                    <a:bodyPr/>
                    <a:lstStyle/>
                    <a:p>
                      <a:pPr algn="ctr">
                        <a:defRPr sz="1000" b="0">
                          <a:solidFill>
                            <a:srgbClr val="000000"/>
                          </a:solidFill>
                          <a:latin typeface="Montserrat"/>
                        </a:defRPr>
                      </a:pPr>
                      <a:r>
                        <a:t>7</a:t>
                      </a:r>
                    </a:p>
                  </a:txBody>
                  <a:tcPr marL="73152" marR="73152" marT="0" marB="0" anchor="ctr">
                    <a:solidFill>
                      <a:srgbClr val="EFEFEF"/>
                    </a:solidFill>
                  </a:tcPr>
                </a:tc>
                <a:tc>
                  <a:txBody>
                    <a:bodyPr/>
                    <a:lstStyle/>
                    <a:p>
                      <a:pPr algn="ctr">
                        <a:defRPr sz="1000" b="0">
                          <a:solidFill>
                            <a:srgbClr val="000000"/>
                          </a:solidFill>
                          <a:latin typeface="Montserrat"/>
                        </a:defRPr>
                      </a:pPr>
                      <a:r>
                        <a:t>0</a:t>
                      </a:r>
                    </a:p>
                  </a:txBody>
                  <a:tcPr marL="73152" marR="73152" marT="0" marB="0" anchor="ctr">
                    <a:solidFill>
                      <a:srgbClr val="EFEFEF"/>
                    </a:solidFill>
                  </a:tcPr>
                </a:tc>
                <a:tc>
                  <a:txBody>
                    <a:bodyPr/>
                    <a:lstStyle/>
                    <a:p>
                      <a:pPr algn="ctr">
                        <a:defRPr sz="1000" b="1">
                          <a:solidFill>
                            <a:srgbClr val="006455"/>
                          </a:solidFill>
                          <a:latin typeface="Montserrat"/>
                        </a:defRPr>
                      </a:pPr>
                      <a:r>
                        <a:t>10</a:t>
                      </a:r>
                    </a:p>
                  </a:txBody>
                  <a:tcPr marL="73152" marR="73152" marT="0" marB="0" anchor="ctr">
                    <a:solidFill>
                      <a:srgbClr val="D3E9E7"/>
                    </a:solidFill>
                  </a:tcPr>
                </a:tc>
                <a:extLst>
                  <a:ext uri="{0D108BD9-81ED-4DB2-BD59-A6C34878D82A}">
                    <a16:rowId xmlns:a16="http://schemas.microsoft.com/office/drawing/2014/main" val="10006"/>
                  </a:ext>
                </a:extLst>
              </a:tr>
              <a:tr h="201168">
                <a:tc>
                  <a:txBody>
                    <a:bodyPr/>
                    <a:lstStyle/>
                    <a:p>
                      <a:pPr algn="l">
                        <a:defRPr sz="1100" b="1">
                          <a:solidFill>
                            <a:srgbClr val="006455"/>
                          </a:solidFill>
                          <a:latin typeface="Montserrat"/>
                        </a:defRPr>
                      </a:pPr>
                      <a:r>
                        <a:t>Total</a:t>
                      </a:r>
                    </a:p>
                  </a:txBody>
                  <a:tcPr marL="73152" marR="73152" marT="0" marB="0" anchor="ctr">
                    <a:solidFill>
                      <a:srgbClr val="D3E9E7"/>
                    </a:solidFill>
                  </a:tcPr>
                </a:tc>
                <a:tc>
                  <a:txBody>
                    <a:bodyPr/>
                    <a:lstStyle/>
                    <a:p>
                      <a:pPr algn="ctr">
                        <a:defRPr sz="1000" b="1">
                          <a:solidFill>
                            <a:srgbClr val="006455"/>
                          </a:solidFill>
                          <a:latin typeface="Montserrat"/>
                        </a:defRPr>
                      </a:pPr>
                      <a:r>
                        <a:t>956</a:t>
                      </a:r>
                    </a:p>
                  </a:txBody>
                  <a:tcPr marL="73152" marR="73152" marT="0" marB="0" anchor="ctr">
                    <a:solidFill>
                      <a:srgbClr val="D3E9E7"/>
                    </a:solidFill>
                  </a:tcPr>
                </a:tc>
                <a:tc>
                  <a:txBody>
                    <a:bodyPr/>
                    <a:lstStyle/>
                    <a:p>
                      <a:pPr algn="ctr">
                        <a:defRPr sz="1000" b="1">
                          <a:solidFill>
                            <a:srgbClr val="006455"/>
                          </a:solidFill>
                          <a:latin typeface="Montserrat"/>
                        </a:defRPr>
                      </a:pPr>
                      <a:r>
                        <a:t>51</a:t>
                      </a:r>
                    </a:p>
                  </a:txBody>
                  <a:tcPr marL="73152" marR="73152" marT="0" marB="0" anchor="ctr">
                    <a:solidFill>
                      <a:srgbClr val="D3E9E7"/>
                    </a:solidFill>
                  </a:tcPr>
                </a:tc>
                <a:tc>
                  <a:txBody>
                    <a:bodyPr/>
                    <a:lstStyle/>
                    <a:p>
                      <a:pPr algn="ctr">
                        <a:defRPr sz="1000" b="1">
                          <a:solidFill>
                            <a:srgbClr val="006455"/>
                          </a:solidFill>
                          <a:latin typeface="Montserrat"/>
                        </a:defRPr>
                      </a:pPr>
                      <a:r>
                        <a:t>56</a:t>
                      </a:r>
                    </a:p>
                  </a:txBody>
                  <a:tcPr marL="73152" marR="73152" marT="0" marB="0" anchor="ctr">
                    <a:solidFill>
                      <a:srgbClr val="D3E9E7"/>
                    </a:solidFill>
                  </a:tcPr>
                </a:tc>
                <a:tc>
                  <a:txBody>
                    <a:bodyPr/>
                    <a:lstStyle/>
                    <a:p>
                      <a:pPr algn="ctr">
                        <a:defRPr sz="1000" b="1">
                          <a:solidFill>
                            <a:srgbClr val="006455"/>
                          </a:solidFill>
                          <a:latin typeface="Montserrat"/>
                        </a:defRPr>
                      </a:pPr>
                      <a:r>
                        <a:t>425</a:t>
                      </a:r>
                    </a:p>
                  </a:txBody>
                  <a:tcPr marL="73152" marR="73152" marT="0" marB="0" anchor="ctr">
                    <a:solidFill>
                      <a:srgbClr val="D3E9E7"/>
                    </a:solidFill>
                  </a:tcPr>
                </a:tc>
                <a:tc>
                  <a:txBody>
                    <a:bodyPr/>
                    <a:lstStyle/>
                    <a:p>
                      <a:pPr algn="ctr">
                        <a:defRPr sz="1000" b="1">
                          <a:solidFill>
                            <a:srgbClr val="006455"/>
                          </a:solidFill>
                          <a:latin typeface="Montserrat"/>
                        </a:defRPr>
                      </a:pPr>
                      <a:r>
                        <a:t>1,488</a:t>
                      </a:r>
                    </a:p>
                  </a:txBody>
                  <a:tcPr marL="73152" marR="73152" marT="0" marB="0" anchor="ctr">
                    <a:solidFill>
                      <a:srgbClr val="D3E9E7"/>
                    </a:solidFill>
                  </a:tcPr>
                </a:tc>
                <a:extLst>
                  <a:ext uri="{0D108BD9-81ED-4DB2-BD59-A6C34878D82A}">
                    <a16:rowId xmlns:a16="http://schemas.microsoft.com/office/drawing/2014/main" val="10007"/>
                  </a:ext>
                </a:extLst>
              </a:tr>
            </a:tbl>
          </a:graphicData>
        </a:graphic>
      </p:graphicFrame>
      <p:graphicFrame>
        <p:nvGraphicFramePr>
          <p:cNvPr id="536" name="Table 535"/>
          <p:cNvGraphicFramePr>
            <a:graphicFrameLocks noGrp="1"/>
          </p:cNvGraphicFramePr>
          <p:nvPr>
            <p:extLst>
              <p:ext uri="{D42A27DB-BD31-4B8C-83A1-F6EECF244321}">
                <p14:modId xmlns:p14="http://schemas.microsoft.com/office/powerpoint/2010/main" val="388646049"/>
              </p:ext>
            </p:extLst>
          </p:nvPr>
        </p:nvGraphicFramePr>
        <p:xfrm>
          <a:off x="310896" y="7991856"/>
          <a:ext cx="7004303" cy="714756"/>
        </p:xfrm>
        <a:graphic>
          <a:graphicData uri="http://schemas.openxmlformats.org/drawingml/2006/table">
            <a:tbl>
              <a:tblPr firstRow="1" bandRow="1">
                <a:tableStyleId>{5C22544A-7EE6-4342-B048-85BDC9FD1C3A}</a:tableStyleId>
              </a:tblPr>
              <a:tblGrid>
                <a:gridCol w="996696">
                  <a:extLst>
                    <a:ext uri="{9D8B030D-6E8A-4147-A177-3AD203B41FA5}">
                      <a16:colId xmlns:a16="http://schemas.microsoft.com/office/drawing/2014/main" val="20000"/>
                    </a:ext>
                  </a:extLst>
                </a:gridCol>
                <a:gridCol w="996696">
                  <a:extLst>
                    <a:ext uri="{9D8B030D-6E8A-4147-A177-3AD203B41FA5}">
                      <a16:colId xmlns:a16="http://schemas.microsoft.com/office/drawing/2014/main" val="20001"/>
                    </a:ext>
                  </a:extLst>
                </a:gridCol>
                <a:gridCol w="832104">
                  <a:extLst>
                    <a:ext uri="{9D8B030D-6E8A-4147-A177-3AD203B41FA5}">
                      <a16:colId xmlns:a16="http://schemas.microsoft.com/office/drawing/2014/main" val="20002"/>
                    </a:ext>
                  </a:extLst>
                </a:gridCol>
                <a:gridCol w="1060704">
                  <a:extLst>
                    <a:ext uri="{9D8B030D-6E8A-4147-A177-3AD203B41FA5}">
                      <a16:colId xmlns:a16="http://schemas.microsoft.com/office/drawing/2014/main" val="20003"/>
                    </a:ext>
                  </a:extLst>
                </a:gridCol>
                <a:gridCol w="969264">
                  <a:extLst>
                    <a:ext uri="{9D8B030D-6E8A-4147-A177-3AD203B41FA5}">
                      <a16:colId xmlns:a16="http://schemas.microsoft.com/office/drawing/2014/main" val="20004"/>
                    </a:ext>
                  </a:extLst>
                </a:gridCol>
                <a:gridCol w="1042415">
                  <a:extLst>
                    <a:ext uri="{9D8B030D-6E8A-4147-A177-3AD203B41FA5}">
                      <a16:colId xmlns:a16="http://schemas.microsoft.com/office/drawing/2014/main" val="20005"/>
                    </a:ext>
                  </a:extLst>
                </a:gridCol>
                <a:gridCol w="1106424">
                  <a:extLst>
                    <a:ext uri="{9D8B030D-6E8A-4147-A177-3AD203B41FA5}">
                      <a16:colId xmlns:a16="http://schemas.microsoft.com/office/drawing/2014/main" val="20006"/>
                    </a:ext>
                  </a:extLst>
                </a:gridCol>
              </a:tblGrid>
              <a:tr h="306324">
                <a:tc>
                  <a:txBody>
                    <a:bodyPr/>
                    <a:lstStyle/>
                    <a:p>
                      <a:pPr algn="ctr">
                        <a:defRPr sz="1100" b="1">
                          <a:solidFill>
                            <a:srgbClr val="FFFFFF"/>
                          </a:solidFill>
                          <a:latin typeface="Montserrat"/>
                        </a:defRPr>
                      </a:pPr>
                      <a:r>
                        <a:rPr lang="es-MX" dirty="0"/>
                        <a:t>Concepto</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Voluntarios</a:t>
                      </a:r>
                      <a:r>
                        <a:rPr dirty="0"/>
                        <a:t> Rurales</a:t>
                      </a:r>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Comités</a:t>
                      </a:r>
                      <a:r>
                        <a:rPr dirty="0"/>
                        <a:t> de Salud</a:t>
                      </a:r>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Integrantes</a:t>
                      </a:r>
                      <a:r>
                        <a:rPr dirty="0"/>
                        <a:t> de </a:t>
                      </a:r>
                      <a:r>
                        <a:rPr dirty="0" err="1"/>
                        <a:t>Comités</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Voluntarios</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a:t>Parteras </a:t>
                      </a:r>
                      <a:r>
                        <a:rPr dirty="0" err="1"/>
                        <a:t>Voluntarias</a:t>
                      </a:r>
                      <a:endParaRPr dirty="0"/>
                    </a:p>
                  </a:txBody>
                  <a:tcPr marL="36576" marR="36576" marT="36576" marB="36576" anchor="ctr">
                    <a:solidFill>
                      <a:srgbClr val="006455"/>
                    </a:solidFill>
                  </a:tcPr>
                </a:tc>
                <a:tc>
                  <a:txBody>
                    <a:bodyPr/>
                    <a:lstStyle/>
                    <a:p>
                      <a:pPr algn="ctr">
                        <a:defRPr sz="1100" b="1">
                          <a:solidFill>
                            <a:srgbClr val="FFFFFF"/>
                          </a:solidFill>
                          <a:latin typeface="Montserrat"/>
                        </a:defRPr>
                      </a:pPr>
                      <a:r>
                        <a:rPr dirty="0" err="1"/>
                        <a:t>Médicos</a:t>
                      </a:r>
                      <a:r>
                        <a:rPr dirty="0"/>
                        <a:t> </a:t>
                      </a:r>
                      <a:r>
                        <a:rPr dirty="0" err="1"/>
                        <a:t>Tradicionales</a:t>
                      </a:r>
                      <a:endParaRPr dirty="0"/>
                    </a:p>
                  </a:txBody>
                  <a:tcPr marL="36576" marR="36576" marT="36576" marB="36576" anchor="ctr">
                    <a:solidFill>
                      <a:srgbClr val="006455"/>
                    </a:solidFill>
                  </a:tcPr>
                </a:tc>
                <a:extLst>
                  <a:ext uri="{0D108BD9-81ED-4DB2-BD59-A6C34878D82A}">
                    <a16:rowId xmlns:a16="http://schemas.microsoft.com/office/drawing/2014/main" val="10000"/>
                  </a:ext>
                </a:extLst>
              </a:tr>
              <a:tr h="306324">
                <a:tc>
                  <a:txBody>
                    <a:bodyPr/>
                    <a:lstStyle/>
                    <a:p>
                      <a:pPr algn="l">
                        <a:defRPr sz="1000" b="1">
                          <a:solidFill>
                            <a:srgbClr val="006455"/>
                          </a:solidFill>
                          <a:latin typeface="Montserrat"/>
                        </a:defRPr>
                      </a:pPr>
                      <a:r>
                        <a:t>Total Programa</a:t>
                      </a:r>
                    </a:p>
                  </a:txBody>
                  <a:tcPr marL="73152" marR="73152" marT="0" marB="0" anchor="ctr">
                    <a:solidFill>
                      <a:srgbClr val="D3E9E7"/>
                    </a:solidFill>
                  </a:tcPr>
                </a:tc>
                <a:tc>
                  <a:txBody>
                    <a:bodyPr/>
                    <a:lstStyle/>
                    <a:p>
                      <a:pPr algn="ctr">
                        <a:defRPr sz="1000" b="1">
                          <a:solidFill>
                            <a:srgbClr val="006455"/>
                          </a:solidFill>
                          <a:latin typeface="Montserrat"/>
                        </a:defRPr>
                      </a:pPr>
                      <a:r>
                        <a:t>722</a:t>
                      </a:r>
                    </a:p>
                  </a:txBody>
                  <a:tcPr marL="73152" marR="73152" marT="0" marB="0" anchor="ctr">
                    <a:solidFill>
                      <a:srgbClr val="D3E9E7"/>
                    </a:solidFill>
                  </a:tcPr>
                </a:tc>
                <a:tc>
                  <a:txBody>
                    <a:bodyPr/>
                    <a:lstStyle/>
                    <a:p>
                      <a:pPr algn="ctr">
                        <a:defRPr sz="1000" b="1">
                          <a:solidFill>
                            <a:srgbClr val="006455"/>
                          </a:solidFill>
                          <a:latin typeface="Montserrat"/>
                        </a:defRPr>
                      </a:pPr>
                      <a:r>
                        <a:t>647</a:t>
                      </a:r>
                    </a:p>
                  </a:txBody>
                  <a:tcPr marL="73152" marR="73152" marT="0" marB="0" anchor="ctr">
                    <a:solidFill>
                      <a:srgbClr val="D3E9E7"/>
                    </a:solidFill>
                  </a:tcPr>
                </a:tc>
                <a:tc>
                  <a:txBody>
                    <a:bodyPr/>
                    <a:lstStyle/>
                    <a:p>
                      <a:pPr algn="ctr">
                        <a:defRPr sz="1000" b="1">
                          <a:solidFill>
                            <a:srgbClr val="006455"/>
                          </a:solidFill>
                          <a:latin typeface="Montserrat"/>
                        </a:defRPr>
                      </a:pPr>
                      <a:r>
                        <a:t>3,866</a:t>
                      </a:r>
                    </a:p>
                  </a:txBody>
                  <a:tcPr marL="73152" marR="73152" marT="0" marB="0" anchor="ctr">
                    <a:solidFill>
                      <a:srgbClr val="D3E9E7"/>
                    </a:solidFill>
                  </a:tcPr>
                </a:tc>
                <a:tc>
                  <a:txBody>
                    <a:bodyPr/>
                    <a:lstStyle/>
                    <a:p>
                      <a:pPr algn="ctr">
                        <a:defRPr sz="1000" b="1">
                          <a:solidFill>
                            <a:srgbClr val="006455"/>
                          </a:solidFill>
                          <a:latin typeface="Montserrat"/>
                        </a:defRPr>
                      </a:pPr>
                      <a:r>
                        <a:t>4,743</a:t>
                      </a:r>
                    </a:p>
                  </a:txBody>
                  <a:tcPr marL="73152" marR="73152" marT="0" marB="0" anchor="ctr">
                    <a:solidFill>
                      <a:srgbClr val="D3E9E7"/>
                    </a:solidFill>
                  </a:tcPr>
                </a:tc>
                <a:tc>
                  <a:txBody>
                    <a:bodyPr/>
                    <a:lstStyle/>
                    <a:p>
                      <a:pPr algn="ctr">
                        <a:defRPr sz="1000" b="1">
                          <a:solidFill>
                            <a:srgbClr val="006455"/>
                          </a:solidFill>
                          <a:latin typeface="Montserrat"/>
                        </a:defRPr>
                      </a:pPr>
                      <a:r>
                        <a:t>8</a:t>
                      </a:r>
                    </a:p>
                  </a:txBody>
                  <a:tcPr marL="73152" marR="73152" marT="0" marB="0" anchor="ctr">
                    <a:solidFill>
                      <a:srgbClr val="D3E9E7"/>
                    </a:solidFill>
                  </a:tcPr>
                </a:tc>
                <a:tc>
                  <a:txBody>
                    <a:bodyPr/>
                    <a:lstStyle/>
                    <a:p>
                      <a:pPr algn="ctr">
                        <a:defRPr sz="1000" b="1">
                          <a:solidFill>
                            <a:srgbClr val="006455"/>
                          </a:solidFill>
                          <a:latin typeface="Montserrat"/>
                        </a:defRPr>
                      </a:pPr>
                      <a:r>
                        <a:rPr dirty="0"/>
                        <a:t>10</a:t>
                      </a:r>
                    </a:p>
                  </a:txBody>
                  <a:tcPr marL="73152" marR="73152" marT="0" marB="0" anchor="ctr">
                    <a:solidFill>
                      <a:srgbClr val="D3E9E7"/>
                    </a:solidFill>
                  </a:tcPr>
                </a:tc>
                <a:extLst>
                  <a:ext uri="{0D108BD9-81ED-4DB2-BD59-A6C34878D82A}">
                    <a16:rowId xmlns:a16="http://schemas.microsoft.com/office/drawing/2014/main" val="10001"/>
                  </a:ext>
                </a:extLst>
              </a:tr>
            </a:tbl>
          </a:graphicData>
        </a:graphic>
      </p:graphicFrame>
      <p:sp>
        <p:nvSpPr>
          <p:cNvPr id="537" name="Rounded Rectangle 536"/>
          <p:cNvSpPr/>
          <p:nvPr/>
        </p:nvSpPr>
        <p:spPr>
          <a:xfrm rot="16200000">
            <a:off x="5452461" y="-93600"/>
            <a:ext cx="7920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38" name="Connector 537"/>
          <p:cNvCxnSpPr/>
          <p:nvPr/>
        </p:nvCxnSpPr>
        <p:spPr>
          <a:xfrm>
            <a:off x="6017661" y="1353600"/>
            <a:ext cx="0" cy="5760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39" name="TextBox 538"/>
          <p:cNvSpPr txBox="1"/>
          <p:nvPr/>
        </p:nvSpPr>
        <p:spPr>
          <a:xfrm>
            <a:off x="4282461" y="1429200"/>
            <a:ext cx="1645200" cy="500399"/>
          </a:xfrm>
          <a:prstGeom prst="rect">
            <a:avLst/>
          </a:prstGeom>
          <a:noFill/>
        </p:spPr>
        <p:txBody>
          <a:bodyPr wrap="none">
            <a:spAutoFit/>
          </a:bodyPr>
          <a:lstStyle/>
          <a:p>
            <a:pPr algn="ctr">
              <a:defRPr sz="2000" b="1">
                <a:solidFill>
                  <a:srgbClr val="A08250"/>
                </a:solidFill>
                <a:latin typeface="Montserrat"/>
              </a:defRPr>
            </a:pPr>
            <a:r>
              <a:t>409,391</a:t>
            </a:r>
          </a:p>
          <a:p>
            <a:pPr algn="ctr">
              <a:defRPr sz="1000">
                <a:solidFill>
                  <a:srgbClr val="A08250"/>
                </a:solidFill>
                <a:latin typeface="Montserrat"/>
              </a:defRPr>
            </a:pPr>
            <a:r>
              <a:t>Población beneficiaria</a:t>
            </a:r>
          </a:p>
        </p:txBody>
      </p:sp>
      <p:sp>
        <p:nvSpPr>
          <p:cNvPr id="540" name="TextBox 539"/>
          <p:cNvSpPr txBox="1"/>
          <p:nvPr/>
        </p:nvSpPr>
        <p:spPr>
          <a:xfrm>
            <a:off x="6197661" y="1195200"/>
            <a:ext cx="1137600" cy="500399"/>
          </a:xfrm>
          <a:prstGeom prst="rect">
            <a:avLst/>
          </a:prstGeom>
          <a:noFill/>
        </p:spPr>
        <p:txBody>
          <a:bodyPr wrap="none">
            <a:spAutoFit/>
          </a:bodyPr>
          <a:lstStyle/>
          <a:p>
            <a:pPr algn="ctr">
              <a:defRPr sz="1500" b="1">
                <a:solidFill>
                  <a:srgbClr val="A08250"/>
                </a:solidFill>
                <a:latin typeface="Montserrat"/>
              </a:defRPr>
            </a:pPr>
            <a:r>
              <a:t>129,722</a:t>
            </a:r>
          </a:p>
          <a:p>
            <a:pPr algn="ctr">
              <a:defRPr sz="1000">
                <a:solidFill>
                  <a:srgbClr val="A08250"/>
                </a:solidFill>
                <a:latin typeface="Montserrat"/>
              </a:defRPr>
            </a:pPr>
            <a:r>
              <a:t>Derechohabiente</a:t>
            </a:r>
          </a:p>
        </p:txBody>
      </p:sp>
      <p:sp>
        <p:nvSpPr>
          <p:cNvPr id="541" name="TextBox 540"/>
          <p:cNvSpPr txBox="1"/>
          <p:nvPr/>
        </p:nvSpPr>
        <p:spPr>
          <a:xfrm>
            <a:off x="5247261" y="1602000"/>
            <a:ext cx="2998800" cy="370800"/>
          </a:xfrm>
          <a:prstGeom prst="rect">
            <a:avLst/>
          </a:prstGeom>
          <a:noFill/>
        </p:spPr>
        <p:txBody>
          <a:bodyPr wrap="none">
            <a:spAutoFit/>
          </a:bodyPr>
          <a:lstStyle/>
          <a:p>
            <a:pPr algn="ctr">
              <a:defRPr sz="1500" b="1">
                <a:solidFill>
                  <a:srgbClr val="A08250"/>
                </a:solidFill>
                <a:latin typeface="Montserrat"/>
              </a:defRPr>
            </a:pPr>
            <a:r>
              <a:t>279,669</a:t>
            </a:r>
          </a:p>
          <a:p>
            <a:pPr algn="ctr">
              <a:defRPr sz="1000">
                <a:solidFill>
                  <a:srgbClr val="A08250"/>
                </a:solidFill>
                <a:latin typeface="Montserrat"/>
              </a:defRPr>
            </a:pPr>
            <a:r>
              <a:t>Población abierta</a:t>
            </a:r>
          </a:p>
        </p:txBody>
      </p:sp>
      <p:sp>
        <p:nvSpPr>
          <p:cNvPr id="542" name="Rounded Rectangle 541"/>
          <p:cNvSpPr/>
          <p:nvPr/>
        </p:nvSpPr>
        <p:spPr>
          <a:xfrm rot="16200000">
            <a:off x="5456061" y="802800"/>
            <a:ext cx="763200" cy="3466800"/>
          </a:xfrm>
          <a:prstGeom prst="round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43" name="Connector 542"/>
          <p:cNvCxnSpPr/>
          <p:nvPr/>
        </p:nvCxnSpPr>
        <p:spPr>
          <a:xfrm>
            <a:off x="6017661" y="2224800"/>
            <a:ext cx="0" cy="525600"/>
          </a:xfrm>
          <a:prstGeom prst="line">
            <a:avLst/>
          </a:prstGeom>
          <a:ln w="12700">
            <a:solidFill>
              <a:srgbClr val="A08250"/>
            </a:solidFill>
          </a:ln>
        </p:spPr>
        <p:style>
          <a:lnRef idx="2">
            <a:schemeClr val="accent1"/>
          </a:lnRef>
          <a:fillRef idx="0">
            <a:schemeClr val="accent1"/>
          </a:fillRef>
          <a:effectRef idx="1">
            <a:schemeClr val="accent1"/>
          </a:effectRef>
          <a:fontRef idx="minor">
            <a:schemeClr val="tx1"/>
          </a:fontRef>
        </p:style>
      </p:cxnSp>
      <p:sp>
        <p:nvSpPr>
          <p:cNvPr id="544" name="TextBox 543"/>
          <p:cNvSpPr txBox="1"/>
          <p:nvPr/>
        </p:nvSpPr>
        <p:spPr>
          <a:xfrm>
            <a:off x="4476861" y="2289600"/>
            <a:ext cx="1198800" cy="432000"/>
          </a:xfrm>
          <a:prstGeom prst="rect">
            <a:avLst/>
          </a:prstGeom>
          <a:noFill/>
        </p:spPr>
        <p:txBody>
          <a:bodyPr wrap="none">
            <a:spAutoFit/>
          </a:bodyPr>
          <a:lstStyle/>
          <a:p>
            <a:pPr algn="ctr">
              <a:defRPr sz="2000" b="1">
                <a:solidFill>
                  <a:srgbClr val="A08250"/>
                </a:solidFill>
                <a:latin typeface="Montserrat"/>
              </a:defRPr>
            </a:pPr>
            <a:r>
              <a:t>69</a:t>
            </a:r>
          </a:p>
        </p:txBody>
      </p:sp>
      <p:sp>
        <p:nvSpPr>
          <p:cNvPr id="545" name="TextBox 544"/>
          <p:cNvSpPr txBox="1"/>
          <p:nvPr/>
        </p:nvSpPr>
        <p:spPr>
          <a:xfrm>
            <a:off x="6305661" y="2163600"/>
            <a:ext cx="1007999" cy="500399"/>
          </a:xfrm>
          <a:prstGeom prst="rect">
            <a:avLst/>
          </a:prstGeom>
          <a:noFill/>
        </p:spPr>
        <p:txBody>
          <a:bodyPr wrap="square">
            <a:spAutoFit/>
          </a:bodyPr>
          <a:lstStyle/>
          <a:p>
            <a:pPr algn="ctr">
              <a:defRPr sz="1000" b="1">
                <a:solidFill>
                  <a:srgbClr val="A08250"/>
                </a:solidFill>
                <a:latin typeface="Montserrat"/>
              </a:defRPr>
            </a:pPr>
            <a:r>
              <a:t>Población en localidades indígenas</a:t>
            </a:r>
          </a:p>
        </p:txBody>
      </p:sp>
      <p:sp>
        <p:nvSpPr>
          <p:cNvPr id="546" name="Rounded Rectangle 545"/>
          <p:cNvSpPr/>
          <p:nvPr/>
        </p:nvSpPr>
        <p:spPr>
          <a:xfrm>
            <a:off x="5456400" y="32904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7" name="TextBox 546"/>
          <p:cNvSpPr txBox="1"/>
          <p:nvPr/>
        </p:nvSpPr>
        <p:spPr>
          <a:xfrm>
            <a:off x="5456400" y="3290400"/>
            <a:ext cx="2163600" cy="684000"/>
          </a:xfrm>
          <a:prstGeom prst="rect">
            <a:avLst/>
          </a:prstGeom>
          <a:noFill/>
        </p:spPr>
        <p:txBody>
          <a:bodyPr wrap="none">
            <a:spAutoFit/>
          </a:bodyPr>
          <a:lstStyle/>
          <a:p>
            <a:pPr algn="ctr">
              <a:defRPr sz="2600" b="1">
                <a:solidFill>
                  <a:srgbClr val="FFFFFF"/>
                </a:solidFill>
                <a:latin typeface="Montserrat"/>
              </a:defRPr>
            </a:pPr>
            <a:r>
              <a:t>498,544</a:t>
            </a:r>
          </a:p>
          <a:p>
            <a:pPr algn="ctr">
              <a:defRPr sz="1600">
                <a:solidFill>
                  <a:srgbClr val="CFC48C"/>
                </a:solidFill>
                <a:latin typeface="Montserrat"/>
              </a:defRPr>
            </a:pPr>
            <a:r>
              <a:t>consultas anuales</a:t>
            </a:r>
          </a:p>
        </p:txBody>
      </p:sp>
      <p:sp>
        <p:nvSpPr>
          <p:cNvPr id="548" name="Rounded Rectangle 547"/>
          <p:cNvSpPr/>
          <p:nvPr/>
        </p:nvSpPr>
        <p:spPr>
          <a:xfrm>
            <a:off x="5456400" y="4212000"/>
            <a:ext cx="2163600" cy="6840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9" name="TextBox 548"/>
          <p:cNvSpPr txBox="1"/>
          <p:nvPr/>
        </p:nvSpPr>
        <p:spPr>
          <a:xfrm>
            <a:off x="5456400" y="4212000"/>
            <a:ext cx="2163600" cy="684000"/>
          </a:xfrm>
          <a:prstGeom prst="rect">
            <a:avLst/>
          </a:prstGeom>
          <a:noFill/>
        </p:spPr>
        <p:txBody>
          <a:bodyPr wrap="none">
            <a:spAutoFit/>
          </a:bodyPr>
          <a:lstStyle/>
          <a:p>
            <a:pPr algn="ctr">
              <a:defRPr sz="2600" b="1">
                <a:solidFill>
                  <a:srgbClr val="FFFFFF"/>
                </a:solidFill>
                <a:latin typeface="Montserrat"/>
              </a:defRPr>
            </a:pPr>
            <a:r>
              <a:t>2,575</a:t>
            </a:r>
          </a:p>
          <a:p>
            <a:pPr algn="ctr">
              <a:defRPr sz="1600">
                <a:solidFill>
                  <a:srgbClr val="CFC48C"/>
                </a:solidFill>
                <a:latin typeface="Montserrat"/>
              </a:defRPr>
            </a:pPr>
            <a:r>
              <a:t>cirugías anuales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475</TotalTime>
  <Words>4604</Words>
  <Application>Microsoft Office PowerPoint</Application>
  <PresentationFormat>Personalizado</PresentationFormat>
  <Paragraphs>1656</Paragraphs>
  <Slides>25</Slides>
  <Notes>19</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Montserrat</vt:lpstr>
      <vt:lpstr>Arial</vt:lpstr>
      <vt:lpstr>Noto Sans Black</vt:lpstr>
      <vt:lpstr>Calibri</vt:lpstr>
      <vt:lpstr>Noto Sans</vt: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 Martinez Flores</dc:creator>
  <cp:lastModifiedBy>Gerardo Jahir Lara Garcia</cp:lastModifiedBy>
  <cp:revision>146</cp:revision>
  <dcterms:modified xsi:type="dcterms:W3CDTF">2026-07-02T18:30:13Z</dcterms:modified>
</cp:coreProperties>
</file>