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89" r:id="rId3"/>
    <p:sldId id="258" r:id="rId4"/>
    <p:sldId id="259" r:id="rId5"/>
    <p:sldId id="260" r:id="rId6"/>
    <p:sldId id="301" r:id="rId7"/>
    <p:sldId id="261" r:id="rId8"/>
    <p:sldId id="302" r:id="rId9"/>
    <p:sldId id="262" r:id="rId10"/>
    <p:sldId id="303" r:id="rId11"/>
    <p:sldId id="263" r:id="rId12"/>
    <p:sldId id="304" r:id="rId13"/>
    <p:sldId id="280" r:id="rId14"/>
    <p:sldId id="267" r:id="rId15"/>
    <p:sldId id="298" r:id="rId16"/>
    <p:sldId id="309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281" r:id="rId25"/>
    <p:sldId id="318" r:id="rId26"/>
    <p:sldId id="288" r:id="rId27"/>
    <p:sldId id="270" r:id="rId28"/>
    <p:sldId id="271" r:id="rId29"/>
    <p:sldId id="272" r:id="rId30"/>
    <p:sldId id="300" r:id="rId31"/>
    <p:sldId id="297" r:id="rId32"/>
    <p:sldId id="284" r:id="rId33"/>
    <p:sldId id="299" r:id="rId34"/>
    <p:sldId id="277" r:id="rId35"/>
    <p:sldId id="278" r:id="rId36"/>
    <p:sldId id="279" r:id="rId37"/>
    <p:sldId id="282" r:id="rId38"/>
  </p:sldIdLst>
  <p:sldSz cx="7772400" cy="10058400"/>
  <p:notesSz cx="6858000" cy="9144000"/>
  <p:embeddedFontLst>
    <p:embeddedFont>
      <p:font typeface="Montserrat" panose="020B0604020202020204" charset="0"/>
      <p:regular r:id="rId40"/>
      <p:bold r:id="rId41"/>
      <p:italic r:id="rId42"/>
      <p:boldItalic r:id="rId43"/>
    </p:embeddedFont>
    <p:embeddedFont>
      <p:font typeface="Noto Sans" panose="020B0604020202020204" charset="0"/>
      <p:regular r:id="rId44"/>
      <p:bold r:id="rId45"/>
      <p:italic r:id="rId46"/>
      <p:boldItalic r:id="rId47"/>
    </p:embeddedFont>
    <p:embeddedFont>
      <p:font typeface="Noto Sans Black" panose="020B0604020202020204" charset="0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E9E7"/>
    <a:srgbClr val="9F2241"/>
    <a:srgbClr val="E6D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A91F2-CB2B-4854-9969-9A475FED06C6}" v="23" dt="2026-07-03T20:20:49.151"/>
    <p1510:client id="{6E1E8803-90B0-43EB-9301-307661302665}" v="61" dt="2026-07-03T20:40:49.958"/>
    <p1510:client id="{CC42A0C2-7B0D-4CAE-BA86-6853D4C5A8DA}" v="278" dt="2026-07-03T19:33:02.717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168"/>
        <p:guide pos="24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84d5cd65-4601-4e92-b448-a9da4809e012" providerId="ADAL" clId="{848F2E50-180B-4DB9-9EF6-4803D25AC9EC}"/>
    <pc:docChg chg="undo custSel modSld">
      <pc:chgData name="Gerardo Jahir Lara Garcia" userId="84d5cd65-4601-4e92-b448-a9da4809e012" providerId="ADAL" clId="{848F2E50-180B-4DB9-9EF6-4803D25AC9EC}" dt="2026-07-03T20:20:49.151" v="120" actId="14734"/>
      <pc:docMkLst>
        <pc:docMk/>
      </pc:docMkLst>
      <pc:sldChg chg="modSp mod">
        <pc:chgData name="Gerardo Jahir Lara Garcia" userId="84d5cd65-4601-4e92-b448-a9da4809e012" providerId="ADAL" clId="{848F2E50-180B-4DB9-9EF6-4803D25AC9EC}" dt="2026-07-03T20:20:49.151" v="120" actId="14734"/>
        <pc:sldMkLst>
          <pc:docMk/>
          <pc:sldMk cId="0" sldId="259"/>
        </pc:sldMkLst>
        <pc:graphicFrameChg chg="mod modGraphic">
          <ac:chgData name="Gerardo Jahir Lara Garcia" userId="84d5cd65-4601-4e92-b448-a9da4809e012" providerId="ADAL" clId="{848F2E50-180B-4DB9-9EF6-4803D25AC9EC}" dt="2026-07-03T20:20:49.151" v="120" actId="14734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18:02:31.675" v="11" actId="20577"/>
        <pc:sldMkLst>
          <pc:docMk/>
          <pc:sldMk cId="0" sldId="261"/>
        </pc:sldMkLst>
        <pc:graphicFrameChg chg="modGraphic">
          <ac:chgData name="Gerardo Jahir Lara Garcia" userId="84d5cd65-4601-4e92-b448-a9da4809e012" providerId="ADAL" clId="{848F2E50-180B-4DB9-9EF6-4803D25AC9EC}" dt="2026-07-02T18:02:31.675" v="11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848F2E50-180B-4DB9-9EF6-4803D25AC9EC}" dt="2026-07-02T18:11:17.444" v="109" actId="20577"/>
        <pc:sldMkLst>
          <pc:docMk/>
          <pc:sldMk cId="0" sldId="282"/>
        </pc:sldMkLst>
        <pc:graphicFrameChg chg="modGraphic">
          <ac:chgData name="Gerardo Jahir Lara Garcia" userId="84d5cd65-4601-4e92-b448-a9da4809e012" providerId="ADAL" clId="{848F2E50-180B-4DB9-9EF6-4803D25AC9EC}" dt="2026-07-02T18:10:38.529" v="97" actId="20577"/>
          <ac:graphicFrameMkLst>
            <pc:docMk/>
            <pc:sldMk cId="0" sldId="282"/>
            <ac:graphicFrameMk id="535" creationId="{00000000-0000-0000-0000-000000000000}"/>
          </ac:graphicFrameMkLst>
        </pc:graphicFrameChg>
        <pc:graphicFrameChg chg="modGraphic">
          <ac:chgData name="Gerardo Jahir Lara Garcia" userId="84d5cd65-4601-4e92-b448-a9da4809e012" providerId="ADAL" clId="{848F2E50-180B-4DB9-9EF6-4803D25AC9EC}" dt="2026-07-02T18:11:17.444" v="109" actId="20577"/>
          <ac:graphicFrameMkLst>
            <pc:docMk/>
            <pc:sldMk cId="0" sldId="282"/>
            <ac:graphicFrameMk id="536" creationId="{00000000-0000-0000-0000-000000000000}"/>
          </ac:graphicFrameMkLst>
        </pc:graphicFrame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8:52.019" v="2" actId="22"/>
      <pc:docMkLst>
        <pc:docMk/>
      </pc:docMkLst>
    </pc:docChg>
  </pc:docChgLst>
  <pc:docChgLst>
    <pc:chgData name="Laura Patricia Galvan Chavez" userId="S::laura.galvan@imss.gob.mx::6b13af50-ce8b-483e-8fc4-f994efaf3289" providerId="AD" clId="Web-{ED3236B6-C16B-2FDC-FF49-93F275F10DA9}"/>
    <pc:docChg chg="modSld">
      <pc:chgData name="Laura Patricia Galvan Chavez" userId="S::laura.galvan@imss.gob.mx::6b13af50-ce8b-483e-8fc4-f994efaf3289" providerId="AD" clId="Web-{ED3236B6-C16B-2FDC-FF49-93F275F10DA9}" dt="2026-06-23T20:05:59.622" v="15" actId="1076"/>
      <pc:docMkLst>
        <pc:docMk/>
      </pc:docMkLst>
      <pc:sldChg chg="addSp delSp modSp">
        <pc:chgData name="Laura Patricia Galvan Chavez" userId="S::laura.galvan@imss.gob.mx::6b13af50-ce8b-483e-8fc4-f994efaf3289" providerId="AD" clId="Web-{ED3236B6-C16B-2FDC-FF49-93F275F10DA9}" dt="2026-06-23T20:05:59.622" v="15" actId="1076"/>
        <pc:sldMkLst>
          <pc:docMk/>
          <pc:sldMk cId="0" sldId="260"/>
        </pc:sldMkLst>
        <pc:picChg chg="add mod">
          <ac:chgData name="Laura Patricia Galvan Chavez" userId="S::laura.galvan@imss.gob.mx::6b13af50-ce8b-483e-8fc4-f994efaf3289" providerId="AD" clId="Web-{ED3236B6-C16B-2FDC-FF49-93F275F10DA9}" dt="2026-06-23T20:05:59.622" v="15" actId="1076"/>
          <ac:picMkLst>
            <pc:docMk/>
            <pc:sldMk cId="0" sldId="260"/>
            <ac:picMk id="2" creationId="{D74B1848-27E2-5A0E-2D12-9905C5940BEB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3T20:40:49.958" v="68" actId="1076"/>
      <pc:docMkLst>
        <pc:docMk/>
      </pc:docMkLst>
      <pc:sldChg chg="modSp mod">
        <pc:chgData name="Laura Patricia Galvan Chavez" userId="6b13af50-ce8b-483e-8fc4-f994efaf3289" providerId="ADAL" clId="{655D084B-7DF1-4C24-9447-417D7DC498B8}" dt="2026-07-03T20:40:49.958" v="68" actId="1076"/>
        <pc:sldMkLst>
          <pc:docMk/>
          <pc:sldMk cId="0" sldId="258"/>
        </pc:sldMkLst>
        <pc:spChg chg="mod">
          <ac:chgData name="Laura Patricia Galvan Chavez" userId="6b13af50-ce8b-483e-8fc4-f994efaf3289" providerId="ADAL" clId="{655D084B-7DF1-4C24-9447-417D7DC498B8}" dt="2026-07-03T20:40:18.548" v="63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7-03T20:40:49.958" v="68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7-03T20:40:32.485" v="66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7-03T20:40:25.765" v="65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7-03T20:40:21.292" v="64" actId="1076"/>
          <ac:spMkLst>
            <pc:docMk/>
            <pc:sldMk cId="0" sldId="258"/>
            <ac:spMk id="126" creationId="{00000000-0000-0000-0000-000000000000}"/>
          </ac:spMkLst>
        </pc:spChg>
        <pc:picChg chg="mod">
          <ac:chgData name="Laura Patricia Galvan Chavez" userId="6b13af50-ce8b-483e-8fc4-f994efaf3289" providerId="ADAL" clId="{655D084B-7DF1-4C24-9447-417D7DC498B8}" dt="2026-07-03T20:40:41.995" v="67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Laura Patricia Galvan Chavez" userId="6b13af50-ce8b-483e-8fc4-f994efaf3289" providerId="ADAL" clId="{655D084B-7DF1-4C24-9447-417D7DC498B8}" dt="2026-07-03T20:40:11.849" v="62" actId="1076"/>
          <ac:picMkLst>
            <pc:docMk/>
            <pc:sldMk cId="0" sldId="258"/>
            <ac:picMk id="125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3T20:34:42.575" v="51" actId="14100"/>
        <pc:sldMkLst>
          <pc:docMk/>
          <pc:sldMk cId="0" sldId="262"/>
        </pc:sldMkLst>
        <pc:graphicFrameChg chg="modGraphic">
          <ac:chgData name="Laura Patricia Galvan Chavez" userId="6b13af50-ce8b-483e-8fc4-f994efaf3289" providerId="ADAL" clId="{655D084B-7DF1-4C24-9447-417D7DC498B8}" dt="2026-07-03T20:34:42.575" v="51" actId="14100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0:34:58.276" v="52" actId="14100"/>
        <pc:sldMkLst>
          <pc:docMk/>
          <pc:sldMk cId="0" sldId="263"/>
        </pc:sldMkLst>
        <pc:graphicFrameChg chg="mod modGraphic">
          <ac:chgData name="Laura Patricia Galvan Chavez" userId="6b13af50-ce8b-483e-8fc4-f994efaf3289" providerId="ADAL" clId="{655D084B-7DF1-4C24-9447-417D7DC498B8}" dt="2026-07-03T20:34:58.276" v="52" actId="14100"/>
          <ac:graphicFrameMkLst>
            <pc:docMk/>
            <pc:sldMk cId="0" sldId="263"/>
            <ac:graphicFrameMk id="1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0:35:56.302" v="53" actId="1076"/>
        <pc:sldMkLst>
          <pc:docMk/>
          <pc:sldMk cId="0" sldId="272"/>
        </pc:sldMkLst>
        <pc:spChg chg="mod">
          <ac:chgData name="Laura Patricia Galvan Chavez" userId="6b13af50-ce8b-483e-8fc4-f994efaf3289" providerId="ADAL" clId="{655D084B-7DF1-4C24-9447-417D7DC498B8}" dt="2026-07-03T20:35:56.302" v="53" actId="1076"/>
          <ac:spMkLst>
            <pc:docMk/>
            <pc:sldMk cId="0" sldId="272"/>
            <ac:spMk id="8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20:35:56.302" v="53" actId="1076"/>
          <ac:graphicFrameMkLst>
            <pc:docMk/>
            <pc:sldMk cId="0" sldId="272"/>
            <ac:graphicFrameMk id="10" creationId="{00000000-0000-0000-0000-000000000000}"/>
          </ac:graphicFrameMkLst>
        </pc:graphicFrameChg>
        <pc:cxnChg chg="mod">
          <ac:chgData name="Laura Patricia Galvan Chavez" userId="6b13af50-ce8b-483e-8fc4-f994efaf3289" providerId="ADAL" clId="{655D084B-7DF1-4C24-9447-417D7DC498B8}" dt="2026-07-03T20:35:56.302" v="53" actId="1076"/>
          <ac:cxnSpMkLst>
            <pc:docMk/>
            <pc:sldMk cId="0" sldId="272"/>
            <ac:cxnSpMk id="9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6-29T18:38:32.433" v="4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8:38:32.433" v="4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0:39:11.993" v="60" actId="1076"/>
        <pc:sldMkLst>
          <pc:docMk/>
          <pc:sldMk cId="364733940" sldId="284"/>
        </pc:sldMkLst>
        <pc:graphicFrameChg chg="modGraphic">
          <ac:chgData name="Laura Patricia Galvan Chavez" userId="6b13af50-ce8b-483e-8fc4-f994efaf3289" providerId="ADAL" clId="{655D084B-7DF1-4C24-9447-417D7DC498B8}" dt="2026-07-03T20:38:11.529" v="57" actId="113"/>
          <ac:graphicFrameMkLst>
            <pc:docMk/>
            <pc:sldMk cId="364733940" sldId="284"/>
            <ac:graphicFrameMk id="40" creationId="{381CB825-FA42-991B-5AE6-F768A238F7B3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20:38:15.923" v="58" actId="113"/>
          <ac:graphicFrameMkLst>
            <pc:docMk/>
            <pc:sldMk cId="364733940" sldId="284"/>
            <ac:graphicFrameMk id="42" creationId="{42534B28-DA07-D992-33E1-4C3AA77AAC4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7-03T20:39:11.993" v="60" actId="1076"/>
          <ac:graphicFrameMkLst>
            <pc:docMk/>
            <pc:sldMk cId="364733940" sldId="284"/>
            <ac:graphicFrameMk id="48" creationId="{4599F1CE-DF31-31DA-87E3-5F8004FF61BF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20:02:56.874" v="7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20:02:56.874" v="7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20:27:24.954" v="44" actId="20577"/>
        <pc:sldMkLst>
          <pc:docMk/>
          <pc:sldMk cId="3763779569" sldId="289"/>
        </pc:sldMkLst>
        <pc:graphicFrameChg chg="modGraphic">
          <ac:chgData name="Laura Patricia Galvan Chavez" userId="6b13af50-ce8b-483e-8fc4-f994efaf3289" providerId="ADAL" clId="{655D084B-7DF1-4C24-9447-417D7DC498B8}" dt="2026-07-03T20:27:24.954" v="44" actId="20577"/>
          <ac:graphicFrameMkLst>
            <pc:docMk/>
            <pc:sldMk cId="3763779569" sldId="289"/>
            <ac:graphicFrameMk id="5" creationId="{ECCAC80A-9280-6555-A055-3F20C304AF0D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0:37:31.413" v="56" actId="113"/>
        <pc:sldMkLst>
          <pc:docMk/>
          <pc:sldMk cId="3240565764" sldId="297"/>
        </pc:sldMkLst>
        <pc:graphicFrameChg chg="modGraphic">
          <ac:chgData name="Laura Patricia Galvan Chavez" userId="6b13af50-ce8b-483e-8fc4-f994efaf3289" providerId="ADAL" clId="{655D084B-7DF1-4C24-9447-417D7DC498B8}" dt="2026-07-03T20:37:31.413" v="56" actId="113"/>
          <ac:graphicFrameMkLst>
            <pc:docMk/>
            <pc:sldMk cId="3240565764" sldId="297"/>
            <ac:graphicFrameMk id="79" creationId="{654BDA68-E7C3-775F-0DCD-7AFB92F1988C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20:37:23.624" v="55" actId="113"/>
          <ac:graphicFrameMkLst>
            <pc:docMk/>
            <pc:sldMk cId="3240565764" sldId="297"/>
            <ac:graphicFrameMk id="83" creationId="{06A73C77-DE75-9E1A-74DF-49CB05AC8894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0:36:07.198" v="54" actId="1076"/>
        <pc:sldMkLst>
          <pc:docMk/>
          <pc:sldMk cId="2650410011" sldId="300"/>
        </pc:sldMkLst>
        <pc:spChg chg="mod">
          <ac:chgData name="Laura Patricia Galvan Chavez" userId="6b13af50-ce8b-483e-8fc4-f994efaf3289" providerId="ADAL" clId="{655D084B-7DF1-4C24-9447-417D7DC498B8}" dt="2026-07-03T20:36:07.198" v="54" actId="1076"/>
          <ac:spMkLst>
            <pc:docMk/>
            <pc:sldMk cId="2650410011" sldId="300"/>
            <ac:spMk id="7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7-03T20:36:07.198" v="54" actId="1076"/>
          <ac:graphicFrameMkLst>
            <pc:docMk/>
            <pc:sldMk cId="2650410011" sldId="300"/>
            <ac:graphicFrameMk id="9" creationId="{00000000-0000-0000-0000-000000000000}"/>
          </ac:graphicFrameMkLst>
        </pc:graphicFrameChg>
        <pc:cxnChg chg="mod">
          <ac:chgData name="Laura Patricia Galvan Chavez" userId="6b13af50-ce8b-483e-8fc4-f994efaf3289" providerId="ADAL" clId="{655D084B-7DF1-4C24-9447-417D7DC498B8}" dt="2026-07-03T20:36:07.198" v="54" actId="1076"/>
          <ac:cxnSpMkLst>
            <pc:docMk/>
            <pc:sldMk cId="2650410011" sldId="300"/>
            <ac:cxnSpMk id="8" creationId="{00000000-0000-0000-0000-000000000000}"/>
          </ac:cxnSpMkLst>
        </pc:cxnChg>
      </pc:sldChg>
      <pc:sldChg chg="modSp mod">
        <pc:chgData name="Laura Patricia Galvan Chavez" userId="6b13af50-ce8b-483e-8fc4-f994efaf3289" providerId="ADAL" clId="{655D084B-7DF1-4C24-9447-417D7DC498B8}" dt="2026-07-03T20:33:50.114" v="50" actId="20577"/>
        <pc:sldMkLst>
          <pc:docMk/>
          <pc:sldMk cId="0" sldId="302"/>
        </pc:sldMkLst>
        <pc:graphicFrameChg chg="modGraphic">
          <ac:chgData name="Laura Patricia Galvan Chavez" userId="6b13af50-ce8b-483e-8fc4-f994efaf3289" providerId="ADAL" clId="{655D084B-7DF1-4C24-9447-417D7DC498B8}" dt="2026-07-03T20:33:50.114" v="50" actId="20577"/>
          <ac:graphicFrameMkLst>
            <pc:docMk/>
            <pc:sldMk cId="0" sldId="302"/>
            <ac:graphicFrameMk id="5" creationId="{00000000-0000-0000-0000-000000000000}"/>
          </ac:graphicFrameMkLst>
        </pc:graphicFrameChg>
      </pc:sldChg>
    </pc:docChg>
  </pc:docChgLst>
  <pc:docChgLst>
    <pc:chgData name="Laura Patricia Galvan Chavez" userId="S::laura.galvan@imss.gob.mx::6b13af50-ce8b-483e-8fc4-f994efaf3289" providerId="AD" clId="Web-{B754B34D-F220-C5D6-6227-9C0D75B29701}"/>
    <pc:docChg chg="modSld">
      <pc:chgData name="Laura Patricia Galvan Chavez" userId="S::laura.galvan@imss.gob.mx::6b13af50-ce8b-483e-8fc4-f994efaf3289" providerId="AD" clId="Web-{B754B34D-F220-C5D6-6227-9C0D75B29701}" dt="2026-06-23T22:58:12.777" v="21" actId="20577"/>
      <pc:docMkLst>
        <pc:docMk/>
      </pc:docMkLst>
      <pc:sldChg chg="delSp modSp">
        <pc:chgData name="Laura Patricia Galvan Chavez" userId="S::laura.galvan@imss.gob.mx::6b13af50-ce8b-483e-8fc4-f994efaf3289" providerId="AD" clId="Web-{B754B34D-F220-C5D6-6227-9C0D75B29701}" dt="2026-06-23T22:58:12.777" v="21" actId="20577"/>
        <pc:sldMkLst>
          <pc:docMk/>
          <pc:sldMk cId="364733940" sldId="284"/>
        </pc:sldMkLst>
      </pc:sldChg>
      <pc:sldChg chg="modSp">
        <pc:chgData name="Laura Patricia Galvan Chavez" userId="S::laura.galvan@imss.gob.mx::6b13af50-ce8b-483e-8fc4-f994efaf3289" providerId="AD" clId="Web-{B754B34D-F220-C5D6-6227-9C0D75B29701}" dt="2026-06-23T22:57:41.746" v="15" actId="1076"/>
        <pc:sldMkLst>
          <pc:docMk/>
          <pc:sldMk cId="3240565764" sldId="297"/>
        </pc:sldMkLst>
      </pc:sldChg>
    </pc:docChg>
  </pc:docChgLst>
  <pc:docChgLst>
    <pc:chgData name="Gerardo Jahir Lara Garcia" userId="84d5cd65-4601-4e92-b448-a9da4809e012" providerId="ADAL" clId="{BA9F21CB-C856-4722-9843-EB6EBB1F5325}"/>
    <pc:docChg chg="undo custSel modSld">
      <pc:chgData name="Gerardo Jahir Lara Garcia" userId="84d5cd65-4601-4e92-b448-a9da4809e012" providerId="ADAL" clId="{BA9F21CB-C856-4722-9843-EB6EBB1F5325}" dt="2026-07-03T19:33:02.717" v="277" actId="2062"/>
      <pc:docMkLst>
        <pc:docMk/>
      </pc:docMkLst>
      <pc:sldChg chg="modSp mod">
        <pc:chgData name="Gerardo Jahir Lara Garcia" userId="84d5cd65-4601-4e92-b448-a9da4809e012" providerId="ADAL" clId="{BA9F21CB-C856-4722-9843-EB6EBB1F5325}" dt="2026-07-03T19:13:18.069" v="154" actId="20577"/>
        <pc:sldMkLst>
          <pc:docMk/>
          <pc:sldMk cId="0" sldId="258"/>
        </pc:sldMkLst>
        <pc:graphicFrameChg chg="modGraphic">
          <ac:chgData name="Gerardo Jahir Lara Garcia" userId="84d5cd65-4601-4e92-b448-a9da4809e012" providerId="ADAL" clId="{BA9F21CB-C856-4722-9843-EB6EBB1F5325}" dt="2026-07-03T19:13:18.069" v="154" actId="20577"/>
          <ac:graphicFrameMkLst>
            <pc:docMk/>
            <pc:sldMk cId="0" sldId="258"/>
            <ac:graphicFrameMk id="139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BA9F21CB-C856-4722-9843-EB6EBB1F5325}" dt="2026-07-03T18:06:07.236" v="26" actId="14734"/>
        <pc:sldMkLst>
          <pc:docMk/>
          <pc:sldMk cId="0" sldId="259"/>
        </pc:sldMkLst>
        <pc:graphicFrameChg chg="modGraphic">
          <ac:chgData name="Gerardo Jahir Lara Garcia" userId="84d5cd65-4601-4e92-b448-a9da4809e012" providerId="ADAL" clId="{BA9F21CB-C856-4722-9843-EB6EBB1F5325}" dt="2026-07-03T17:55:24.828" v="4" actId="2062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7-03T18:06:07.236" v="26" actId="14734"/>
          <ac:graphicFrameMkLst>
            <pc:docMk/>
            <pc:sldMk cId="0" sldId="259"/>
            <ac:graphicFrameMk id="136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BA9F21CB-C856-4722-9843-EB6EBB1F5325}" dt="2026-07-03T19:33:02.717" v="277" actId="2062"/>
        <pc:sldMkLst>
          <pc:docMk/>
          <pc:sldMk cId="0" sldId="262"/>
        </pc:sldMkLst>
        <pc:graphicFrameChg chg="modGraphic">
          <ac:chgData name="Gerardo Jahir Lara Garcia" userId="84d5cd65-4601-4e92-b448-a9da4809e012" providerId="ADAL" clId="{BA9F21CB-C856-4722-9843-EB6EBB1F5325}" dt="2026-07-03T19:33:02.717" v="277" actId="2062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">
        <pc:chgData name="Gerardo Jahir Lara Garcia" userId="84d5cd65-4601-4e92-b448-a9da4809e012" providerId="ADAL" clId="{BA9F21CB-C856-4722-9843-EB6EBB1F5325}" dt="2026-07-03T19:09:30.890" v="144" actId="20577"/>
        <pc:sldMkLst>
          <pc:docMk/>
          <pc:sldMk cId="3763779569" sldId="289"/>
        </pc:sldMkLst>
        <pc:graphicFrameChg chg="modGraphic">
          <ac:chgData name="Gerardo Jahir Lara Garcia" userId="84d5cd65-4601-4e92-b448-a9da4809e012" providerId="ADAL" clId="{BA9F21CB-C856-4722-9843-EB6EBB1F5325}" dt="2026-07-03T19:09:30.890" v="144" actId="20577"/>
          <ac:graphicFrameMkLst>
            <pc:docMk/>
            <pc:sldMk cId="3763779569" sldId="289"/>
            <ac:graphicFrameMk id="5" creationId="{ECCAC80A-9280-6555-A055-3F20C304AF0D}"/>
          </ac:graphicFrameMkLst>
        </pc:graphicFrameChg>
      </pc:sldChg>
      <pc:sldChg chg="modSp mod">
        <pc:chgData name="Gerardo Jahir Lara Garcia" userId="84d5cd65-4601-4e92-b448-a9da4809e012" providerId="ADAL" clId="{BA9F21CB-C856-4722-9843-EB6EBB1F5325}" dt="2026-07-03T19:17:56.211" v="276" actId="20577"/>
        <pc:sldMkLst>
          <pc:docMk/>
          <pc:sldMk cId="30077326" sldId="299"/>
        </pc:sldMkLst>
        <pc:spChg chg="mod">
          <ac:chgData name="Gerardo Jahir Lara Garcia" userId="84d5cd65-4601-4e92-b448-a9da4809e012" providerId="ADAL" clId="{BA9F21CB-C856-4722-9843-EB6EBB1F5325}" dt="2026-07-03T19:17:56.211" v="276" actId="20577"/>
          <ac:spMkLst>
            <pc:docMk/>
            <pc:sldMk cId="30077326" sldId="299"/>
            <ac:spMk id="25" creationId="{00000000-0000-0000-0000-000000000000}"/>
          </ac:spMkLst>
        </pc:spChg>
      </pc:sldChg>
      <pc:sldChg chg="delSp modSp mod">
        <pc:chgData name="Gerardo Jahir Lara Garcia" userId="84d5cd65-4601-4e92-b448-a9da4809e012" providerId="ADAL" clId="{BA9F21CB-C856-4722-9843-EB6EBB1F5325}" dt="2026-07-03T18:54:44.533" v="116" actId="14734"/>
        <pc:sldMkLst>
          <pc:docMk/>
          <pc:sldMk cId="0" sldId="313"/>
        </pc:sldMkLst>
        <pc:graphicFrameChg chg="mod">
          <ac:chgData name="Gerardo Jahir Lara Garcia" userId="84d5cd65-4601-4e92-b448-a9da4809e012" providerId="ADAL" clId="{BA9F21CB-C856-4722-9843-EB6EBB1F5325}" dt="2026-07-03T18:54:15.951" v="62" actId="1036"/>
          <ac:graphicFrameMkLst>
            <pc:docMk/>
            <pc:sldMk cId="0" sldId="313"/>
            <ac:graphicFrameMk id="9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7-03T18:54:26.117" v="96" actId="1035"/>
          <ac:graphicFrameMkLst>
            <pc:docMk/>
            <pc:sldMk cId="0" sldId="313"/>
            <ac:graphicFrameMk id="10" creationId="{00000000-0000-0000-0000-000000000000}"/>
          </ac:graphicFrameMkLst>
        </pc:graphicFrameChg>
        <pc:graphicFrameChg chg="mod modGraphic">
          <ac:chgData name="Gerardo Jahir Lara Garcia" userId="84d5cd65-4601-4e92-b448-a9da4809e012" providerId="ADAL" clId="{BA9F21CB-C856-4722-9843-EB6EBB1F5325}" dt="2026-07-03T18:54:44.533" v="116" actId="14734"/>
          <ac:graphicFrameMkLst>
            <pc:docMk/>
            <pc:sldMk cId="0" sldId="313"/>
            <ac:graphicFrameMk id="11" creationId="{00000000-0000-0000-0000-000000000000}"/>
          </ac:graphicFrameMkLst>
        </pc:graphicFrameChg>
        <pc:graphicFrameChg chg="del">
          <ac:chgData name="Gerardo Jahir Lara Garcia" userId="84d5cd65-4601-4e92-b448-a9da4809e012" providerId="ADAL" clId="{BA9F21CB-C856-4722-9843-EB6EBB1F5325}" dt="2026-07-03T18:53:35.187" v="36" actId="478"/>
          <ac:graphicFrameMkLst>
            <pc:docMk/>
            <pc:sldMk cId="0" sldId="313"/>
            <ac:graphicFrameMk id="12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2F_0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8_203AAD76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E_0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6_0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7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4171-4A92-9278-C97229CFDAA4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</c:spPr>
            <c:extLst>
              <c:ext xmlns:c16="http://schemas.microsoft.com/office/drawing/2014/chart" uri="{C3380CC4-5D6E-409C-BE32-E72D297353CC}">
                <c16:uniqueId val="{00000003-4171-4A92-9278-C97229CFDAA4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4171-4A92-9278-C97229CFDAA4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4171-4A92-9278-C97229CFDAA4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4171-4A92-9278-C97229CFDAA4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7842348</c:v>
                </c:pt>
                <c:pt idx="1">
                  <c:v>66902</c:v>
                </c:pt>
                <c:pt idx="2">
                  <c:v>1299505</c:v>
                </c:pt>
                <c:pt idx="3">
                  <c:v>8464388</c:v>
                </c:pt>
                <c:pt idx="4">
                  <c:v>149277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171-4A92-9278-C97229CFD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4FC-48A7-BE50-2E63B60306F4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4FC-48A7-BE50-2E63B60306F4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43.571043639080429</c:v>
                </c:pt>
                <c:pt idx="1">
                  <c:v>56.428956360919571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FC-48A7-BE50-2E63B6030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897-498C-8C14-1012470A646F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897-498C-8C14-1012470A646F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8.8547776351999996</c:v>
                </c:pt>
                <c:pt idx="1">
                  <c:v>91.145222364800006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97-498C-8C14-1012470A64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F5F-44F2-AD4E-F9EE74B80CBF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F5F-44F2-AD4E-F9EE74B80CBF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42.28</c:v>
                </c:pt>
                <c:pt idx="1">
                  <c:v>57.72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F5F-44F2-AD4E-F9EE74B80C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1AE-49B6-86D8-C6EE6A11E16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1AE-49B6-86D8-C6EE6A11E16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39.06</c:v>
                </c:pt>
                <c:pt idx="1">
                  <c:v>60.94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1AE-49B6-86D8-C6EE6A11E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C196-48F7-AF4C-19A5AE62B1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</c:v>
                </c:pt>
                <c:pt idx="1">
                  <c:v>407</c:v>
                </c:pt>
                <c:pt idx="2">
                  <c:v>446</c:v>
                </c:pt>
                <c:pt idx="3">
                  <c:v>422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196-48F7-AF4C-19A5AE62B10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 Eléctrica y Captación y Suministro de Agua Potable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Industrias Extractivas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4360</c:v>
                </c:pt>
                <c:pt idx="1">
                  <c:v>10220</c:v>
                </c:pt>
                <c:pt idx="2">
                  <c:v>589271</c:v>
                </c:pt>
                <c:pt idx="3">
                  <c:v>137815</c:v>
                </c:pt>
                <c:pt idx="4">
                  <c:v>134275</c:v>
                </c:pt>
                <c:pt idx="5">
                  <c:v>3498</c:v>
                </c:pt>
                <c:pt idx="6">
                  <c:v>485691</c:v>
                </c:pt>
                <c:pt idx="7">
                  <c:v>328549</c:v>
                </c:pt>
                <c:pt idx="8">
                  <c:v>219850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218-4074-98E2-65D5FDE292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 Eléctrica y Captación y Suministro de Agua Potable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Servicios Sociales y Comunales</c:v>
                </c:pt>
                <c:pt idx="5">
                  <c:v>Industrias Extractivas</c:v>
                </c:pt>
                <c:pt idx="6">
                  <c:v>Comercio</c:v>
                </c:pt>
                <c:pt idx="7">
                  <c:v>Servicios para Empresas, Personas y el Hogar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4110</c:v>
                </c:pt>
                <c:pt idx="1">
                  <c:v>9846</c:v>
                </c:pt>
                <c:pt idx="2">
                  <c:v>579190</c:v>
                </c:pt>
                <c:pt idx="3">
                  <c:v>137243</c:v>
                </c:pt>
                <c:pt idx="4">
                  <c:v>137522</c:v>
                </c:pt>
                <c:pt idx="5">
                  <c:v>3709</c:v>
                </c:pt>
                <c:pt idx="6">
                  <c:v>515425</c:v>
                </c:pt>
                <c:pt idx="7">
                  <c:v>357981</c:v>
                </c:pt>
                <c:pt idx="8">
                  <c:v>320597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218-4074-98E2-65D5FDE29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1599580</c:v>
                </c:pt>
                <c:pt idx="1">
                  <c:v>1645164</c:v>
                </c:pt>
                <c:pt idx="2">
                  <c:v>1580188</c:v>
                </c:pt>
                <c:pt idx="3">
                  <c:v>1620929</c:v>
                </c:pt>
                <c:pt idx="4">
                  <c:v>1686619</c:v>
                </c:pt>
                <c:pt idx="5">
                  <c:v>1770513</c:v>
                </c:pt>
                <c:pt idx="6">
                  <c:v>1848724</c:v>
                </c:pt>
                <c:pt idx="7">
                  <c:v>1913529</c:v>
                </c:pt>
                <c:pt idx="8">
                  <c:v>2065623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130-4C57-9068-EE1AFFF2E5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jpeg"/><Relationship Id="rId17" Type="http://schemas.openxmlformats.org/officeDocument/2006/relationships/image" Target="../media/image18.jpeg"/><Relationship Id="rId2" Type="http://schemas.openxmlformats.org/officeDocument/2006/relationships/image" Target="../media/image3.pn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jpeg"/><Relationship Id="rId4" Type="http://schemas.openxmlformats.org/officeDocument/2006/relationships/image" Target="../media/image5.png"/><Relationship Id="rId9" Type="http://schemas.openxmlformats.org/officeDocument/2006/relationships/image" Target="../media/image10.jpeg"/><Relationship Id="rId1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chart" Target="../charts/chart1.xml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chart" Target="../charts/chart6.xml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Estado de México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err="1"/>
              <a:t>Ficha</a:t>
            </a:r>
            <a:r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 err="1"/>
              <a:t>li</a:t>
            </a:r>
            <a:r>
              <a:t>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5" name="Google Shape;66;p15">
            <a:extLst>
              <a:ext uri="{FF2B5EF4-FFF2-40B4-BE49-F238E27FC236}">
                <a16:creationId xmlns:a16="http://schemas.microsoft.com/office/drawing/2014/main" id="{ECCAC80A-9280-6555-A055-3F20C304AF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241922"/>
              </p:ext>
            </p:extLst>
          </p:nvPr>
        </p:nvGraphicFramePr>
        <p:xfrm>
          <a:off x="890615" y="4224418"/>
          <a:ext cx="6047700" cy="456547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Dra. Emilia Chavira Pacheco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Cirujana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14 de abril de 2025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Jefatura de Servicios de Prestaciones Médicas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Salvador Gómez García 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Epidemiólogo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junio de 2025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875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Érika Miranda Vázquez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Mtra.. </a:t>
                      </a:r>
                      <a:r>
                        <a:rPr lang="es" sz="8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Relaciones Internacionales y Comercio Exterior 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13 de mayo de 2024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Jefatura de Servicios de Salud en el Trabajo, Prestaciones Económicas y Sociales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VACANTE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25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María Isabel Ramírez Hernández</a:t>
                      </a:r>
                      <a:endParaRPr lang="es-MX"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Informática</a:t>
                      </a: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09 de junio de 2025</a:t>
                      </a:r>
                      <a:endParaRPr lang="es-MX"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Jefatura de Servicios de Afiliación y Cobranza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Héctor Javier López Moreno 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en Derecho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28 de febrero de 2025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925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Lenin Miguel Ángel Vega Velasco  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Mtro.. en Derecho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julio de 2020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Jefatura de Servicios de Desarrollo de Personal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Mauricio Javier Leyva Rayón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Ciencias de la Comunicación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octubre de 2020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875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Israel Torres Serrano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defTabSz="914400" rtl="0" eaLnBrk="1" fontAlgn="auto" latinLnBrk="0" hangingPunct="1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Ing. en Automatización y Control de Procesos. </a:t>
                      </a:r>
                      <a:r>
                        <a:rPr lang="es-MX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en Administración</a:t>
                      </a:r>
                      <a:endParaRPr lang="es"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15 de diciembre de 2015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Jefatura de Servicios de Finanzas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José Trinidad Rosas Olmedo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en Administración de Empresas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octubre de 2016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6150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Jorge Heriberto Martínez Ortega 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</a:t>
                      </a:r>
                      <a:r>
                        <a:rPr lang="es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Ingeniería</a:t>
                      </a: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Mecánica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Mtro. Administración </a:t>
                      </a:r>
                      <a:r>
                        <a:rPr lang="es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Pública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8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05 de marzo</a:t>
                      </a: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 2026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Jefatura de Servicios Administrativos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Teresa de Jesús Osceguera Aguilera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Administración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19 de febrero de 2025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José Francisco Justo Romero 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febrero de 2023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Jefatura de Servicios Jurídicos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José Gilberto Jiménez Flores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 en Derecho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febrero de 2021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675"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Sección V Estado de México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Ramiro de Jesús Caballero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Familiar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16 de agosto de 2025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50"/>
                        <a:buFont typeface="Arial"/>
                        <a:buNone/>
                      </a:pPr>
                      <a:r>
                        <a:rPr lang="es" sz="850" b="1" u="none" strike="noStrike" cap="none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Secretario General SNTSS</a:t>
                      </a:r>
                      <a:endParaRPr sz="850" b="1" u="none" strike="noStrike" cap="none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b="1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Sección XXXVII Poniente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Ricardo Hernández Quintanar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Derecho </a:t>
                      </a:r>
                      <a:endParaRPr sz="800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35999" marR="35999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800" u="none" strike="noStrike" cap="non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17 de agosto de 2025</a:t>
                      </a:r>
                      <a:endParaRPr sz="800" b="1" u="none" strike="noStrike" cap="non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Google Shape;67;p15">
            <a:extLst>
              <a:ext uri="{FF2B5EF4-FFF2-40B4-BE49-F238E27FC236}">
                <a16:creationId xmlns:a16="http://schemas.microsoft.com/office/drawing/2014/main" id="{81C815D4-8B2F-2665-AD24-5EF9E739B8AF}"/>
              </a:ext>
            </a:extLst>
          </p:cNvPr>
          <p:cNvSpPr txBox="1"/>
          <p:nvPr/>
        </p:nvSpPr>
        <p:spPr>
          <a:xfrm>
            <a:off x="2798775" y="545725"/>
            <a:ext cx="41988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Dr. Jorge Mart</a:t>
            </a:r>
            <a:r>
              <a:rPr lang="es" sz="1200" b="1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ínez Torres</a:t>
            </a:r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715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Licenciatura </a:t>
            </a: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como</a:t>
            </a:r>
            <a:r>
              <a:rPr lang="e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Médico</a:t>
            </a:r>
            <a:r>
              <a:rPr lang="e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Cirujano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715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Medicina Familiar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4715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Char char="●"/>
            </a:pPr>
            <a:r>
              <a:rPr lang="e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Maestría en </a:t>
            </a:r>
            <a:r>
              <a:rPr lang="e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Ciencias Médicas e Investigación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</a:t>
            </a:r>
            <a:r>
              <a:rPr lang="es" sz="11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16</a:t>
            </a:r>
            <a:r>
              <a:rPr lang="es" sz="11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de abril de 202</a:t>
            </a:r>
            <a:r>
              <a:rPr lang="es" sz="11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11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Montserrat"/>
                <a:ea typeface="Montserrat"/>
                <a:cs typeface="Montserrat"/>
                <a:sym typeface="Montserrat"/>
              </a:rPr>
              <a:t>Fue Titular de los Órganos de Operación Administrativa Desconcentrados en Oaxaca, Nayarit, Veracruz Norte y Veracruz Sur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68;p15">
            <a:extLst>
              <a:ext uri="{FF2B5EF4-FFF2-40B4-BE49-F238E27FC236}">
                <a16:creationId xmlns:a16="http://schemas.microsoft.com/office/drawing/2014/main" id="{5FFBF459-019E-162C-1E74-84BF82BD2E8D}"/>
              </a:ext>
            </a:extLst>
          </p:cNvPr>
          <p:cNvSpPr txBox="1"/>
          <p:nvPr/>
        </p:nvSpPr>
        <p:spPr>
          <a:xfrm>
            <a:off x="2798775" y="2113325"/>
            <a:ext cx="41988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Dr. Tonatihu Ortiz Castillo</a:t>
            </a:r>
            <a:endParaRPr sz="9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3445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Medicina Familiar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69999" marR="0" lvl="0" indent="-13445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s"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Maestro en Administración de Organizaciones de la Salud</a:t>
            </a:r>
            <a:endParaRPr sz="11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01 de</a:t>
            </a:r>
            <a:r>
              <a:rPr lang="es" sz="11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diciembre</a:t>
            </a:r>
            <a:r>
              <a:rPr lang="es" sz="11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de 202</a:t>
            </a:r>
            <a:r>
              <a:rPr lang="es" sz="11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11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Fue titular del OOAD Nuevo León 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latin typeface="Montserrat"/>
                <a:ea typeface="Montserrat"/>
                <a:cs typeface="Montserrat"/>
                <a:sym typeface="Montserrat"/>
              </a:rPr>
              <a:t>Inicio en el cargo: 01 de febrero 2022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" name="Google Shape;69;p15" title="Captura de pantalla 2025-07-21 a la(s) 14.25.53.png">
            <a:extLst>
              <a:ext uri="{FF2B5EF4-FFF2-40B4-BE49-F238E27FC236}">
                <a16:creationId xmlns:a16="http://schemas.microsoft.com/office/drawing/2014/main" id="{648B8972-ED62-E296-3015-9475450BBC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76600" y="2479025"/>
            <a:ext cx="1256075" cy="131762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71;p15">
            <a:extLst>
              <a:ext uri="{FF2B5EF4-FFF2-40B4-BE49-F238E27FC236}">
                <a16:creationId xmlns:a16="http://schemas.microsoft.com/office/drawing/2014/main" id="{A14E8EF1-5DEF-C7F9-E07E-860EABC59BBC}"/>
              </a:ext>
            </a:extLst>
          </p:cNvPr>
          <p:cNvSpPr txBox="1"/>
          <p:nvPr/>
        </p:nvSpPr>
        <p:spPr>
          <a:xfrm>
            <a:off x="806161" y="3915879"/>
            <a:ext cx="22773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Edo. México Oriente</a:t>
            </a:r>
            <a:endParaRPr sz="12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B4E98433-DE3B-7DE7-96F5-E0FA56C74F68}"/>
              </a:ext>
            </a:extLst>
          </p:cNvPr>
          <p:cNvSpPr txBox="1"/>
          <p:nvPr/>
        </p:nvSpPr>
        <p:spPr>
          <a:xfrm>
            <a:off x="4869307" y="3915892"/>
            <a:ext cx="22773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Edo. México Poniente</a:t>
            </a:r>
            <a:endParaRPr sz="12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" name="Google Shape;73;p15">
            <a:extLst>
              <a:ext uri="{FF2B5EF4-FFF2-40B4-BE49-F238E27FC236}">
                <a16:creationId xmlns:a16="http://schemas.microsoft.com/office/drawing/2014/main" id="{0AF8E497-F61C-63C7-CADF-9722FCEE08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5227" y="5306921"/>
            <a:ext cx="668169" cy="5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4;p15">
            <a:extLst>
              <a:ext uri="{FF2B5EF4-FFF2-40B4-BE49-F238E27FC236}">
                <a16:creationId xmlns:a16="http://schemas.microsoft.com/office/drawing/2014/main" id="{CF9E4426-48EB-7966-9C65-3E020E01A2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5227" y="5871099"/>
            <a:ext cx="674850" cy="5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75;p15">
            <a:extLst>
              <a:ext uri="{FF2B5EF4-FFF2-40B4-BE49-F238E27FC236}">
                <a16:creationId xmlns:a16="http://schemas.microsoft.com/office/drawing/2014/main" id="{A87C24B0-47C1-901E-9F99-ED7154C0BB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8552" y="6463075"/>
            <a:ext cx="674844" cy="6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76;p15">
            <a:extLst>
              <a:ext uri="{FF2B5EF4-FFF2-40B4-BE49-F238E27FC236}">
                <a16:creationId xmlns:a16="http://schemas.microsoft.com/office/drawing/2014/main" id="{D6E00858-455E-5A71-8006-78AAE00A2B8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28552" y="7069475"/>
            <a:ext cx="674850" cy="6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77;p15">
            <a:extLst>
              <a:ext uri="{FF2B5EF4-FFF2-40B4-BE49-F238E27FC236}">
                <a16:creationId xmlns:a16="http://schemas.microsoft.com/office/drawing/2014/main" id="{731C00F1-8D00-2C44-5E33-08B2561662B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28552" y="7714425"/>
            <a:ext cx="674850" cy="6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78;p15">
            <a:extLst>
              <a:ext uri="{FF2B5EF4-FFF2-40B4-BE49-F238E27FC236}">
                <a16:creationId xmlns:a16="http://schemas.microsoft.com/office/drawing/2014/main" id="{C8B4A3D7-A691-8A9F-80E1-C371C62C441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850" y="5169450"/>
            <a:ext cx="728726" cy="69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79;p15">
            <a:extLst>
              <a:ext uri="{FF2B5EF4-FFF2-40B4-BE49-F238E27FC236}">
                <a16:creationId xmlns:a16="http://schemas.microsoft.com/office/drawing/2014/main" id="{C311C156-7B20-2B26-D88E-5A48C518880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849" y="6463075"/>
            <a:ext cx="728726" cy="6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80;p15">
            <a:extLst>
              <a:ext uri="{FF2B5EF4-FFF2-40B4-BE49-F238E27FC236}">
                <a16:creationId xmlns:a16="http://schemas.microsoft.com/office/drawing/2014/main" id="{43545EDE-8B9E-3393-6D7D-1488F0D3734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849" y="4625975"/>
            <a:ext cx="728727" cy="57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81;p15">
            <a:extLst>
              <a:ext uri="{FF2B5EF4-FFF2-40B4-BE49-F238E27FC236}">
                <a16:creationId xmlns:a16="http://schemas.microsoft.com/office/drawing/2014/main" id="{EE6652EC-75D8-3CC5-5426-FFBD06BAC6C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76" y="7714425"/>
            <a:ext cx="728724" cy="6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82;p15">
            <a:extLst>
              <a:ext uri="{FF2B5EF4-FFF2-40B4-BE49-F238E27FC236}">
                <a16:creationId xmlns:a16="http://schemas.microsoft.com/office/drawing/2014/main" id="{11573C47-3A5D-0F8D-2B44-35839B0C3D5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250" y="5851500"/>
            <a:ext cx="742325" cy="6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83;p15">
            <a:extLst>
              <a:ext uri="{FF2B5EF4-FFF2-40B4-BE49-F238E27FC236}">
                <a16:creationId xmlns:a16="http://schemas.microsoft.com/office/drawing/2014/main" id="{27DDEC41-1966-D4B5-A59C-C5FD8CC9837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875" y="8245400"/>
            <a:ext cx="728726" cy="60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84;p15">
            <a:extLst>
              <a:ext uri="{FF2B5EF4-FFF2-40B4-BE49-F238E27FC236}">
                <a16:creationId xmlns:a16="http://schemas.microsoft.com/office/drawing/2014/main" id="{EB271C69-12B9-34C3-56B3-0C50F9DBA5B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0849" y="3942599"/>
            <a:ext cx="728726" cy="6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85;p15">
            <a:extLst>
              <a:ext uri="{FF2B5EF4-FFF2-40B4-BE49-F238E27FC236}">
                <a16:creationId xmlns:a16="http://schemas.microsoft.com/office/drawing/2014/main" id="{762B0090-A765-4982-5EFB-E2074CE56606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028546" y="8265238"/>
            <a:ext cx="674850" cy="60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86;p15" title="pruea 2.jpg">
            <a:extLst>
              <a:ext uri="{FF2B5EF4-FFF2-40B4-BE49-F238E27FC236}">
                <a16:creationId xmlns:a16="http://schemas.microsoft.com/office/drawing/2014/main" id="{853A4752-8A7C-2125-4728-708E008C6DF6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 l="32816" t="16466" r="29803" b="19440"/>
          <a:stretch/>
        </p:blipFill>
        <p:spPr>
          <a:xfrm>
            <a:off x="1018313" y="754925"/>
            <a:ext cx="1572659" cy="151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87;p15" title="WhatsApp Image 2026-04-22 at 4.37.02 PM.jpeg">
            <a:extLst>
              <a:ext uri="{FF2B5EF4-FFF2-40B4-BE49-F238E27FC236}">
                <a16:creationId xmlns:a16="http://schemas.microsoft.com/office/drawing/2014/main" id="{8212F9B9-E5E3-4B61-37CA-C812C16A1066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4874" y="7050275"/>
            <a:ext cx="724701" cy="686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88;p15">
            <a:extLst>
              <a:ext uri="{FF2B5EF4-FFF2-40B4-BE49-F238E27FC236}">
                <a16:creationId xmlns:a16="http://schemas.microsoft.com/office/drawing/2014/main" id="{4952E03A-EFCE-09EE-100F-69BC0FD7DF17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028546" y="3942599"/>
            <a:ext cx="668169" cy="7902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44%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869434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747046"/>
              </p:ext>
            </p:extLst>
          </p:nvPr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274240" y="194008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7,842,348</a:t>
            </a:r>
            <a:br>
              <a:rPr/>
            </a:br>
            <a:r>
              <a:t>44%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4035" y="1958083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551200" y="211629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670975" y="396609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66,902</a:t>
            </a:r>
            <a:br>
              <a:rPr/>
            </a:br>
            <a:r>
              <a:t>0.38%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4982" y="4019464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07582" y="4146863"/>
            <a:ext cx="122400" cy="1224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327965" y="4233586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1,299,505</a:t>
            </a:r>
            <a:br>
              <a:rPr/>
            </a:br>
            <a:r>
              <a:t>7%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5252" y="42547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3970948" y="4424386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83200" y="3200985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8,464,388</a:t>
            </a:r>
            <a:br>
              <a:rPr/>
            </a:br>
            <a:r>
              <a:t>47%</a:t>
            </a:r>
          </a:p>
        </p:txBody>
      </p:sp>
      <p:pic>
        <p:nvPicPr>
          <p:cNvPr id="128" name="Picture 127" descr="1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969" y="2789625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044800" y="2957284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413151" y="1114085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149,277</a:t>
            </a:r>
            <a:br>
              <a:rPr/>
            </a:br>
            <a:r>
              <a:t>0.84%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5086" y="1103507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2573086" y="1230285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17,822,420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066730"/>
              </p:ext>
            </p:extLst>
          </p:nvPr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Categoría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5,902,344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7,842,348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3,030,502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4,865,696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1,627,196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2,065,623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522,831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756,891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797,838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1,265,784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 anchor="ctr"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767,449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1,234,327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15,361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15,028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2,871,842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2,976,652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1,010,566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1,106,699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1,265,436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1,063,083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595,840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806,870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005794"/>
              </p:ext>
            </p:extLst>
          </p:nvPr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Variación</a:t>
                      </a:r>
                      <a:endParaRPr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6,211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5,403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85329"/>
              </p:ext>
            </p:extLst>
          </p:nvPr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Variación</a:t>
                      </a:r>
                      <a:endParaRPr/>
                    </a:p>
                  </a:txBody>
                  <a:tcPr marL="0" marR="0" marT="216000" marB="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29,157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rPr lang="es-MX"/>
                        <a:t>42,219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0" name="Table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575342"/>
              </p:ext>
            </p:extLst>
          </p:nvPr>
        </p:nvGraphicFramePr>
        <p:xfrm>
          <a:off x="5947200" y="8733600"/>
          <a:ext cx="1738800" cy="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93,039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1368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pic>
        <p:nvPicPr>
          <p:cNvPr id="142" name="Picture 141" descr="PTP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5_m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79586"/>
              </p:ext>
            </p:extLst>
          </p:nvPr>
        </p:nvGraphicFramePr>
        <p:xfrm>
          <a:off x="97200" y="6854400"/>
          <a:ext cx="4359600" cy="149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  <a:r>
                        <a:rPr lang="es-MX" sz="1000">
                          <a:latin typeface="Montserrat"/>
                        </a:rPr>
                        <a:t>5</a:t>
                      </a:r>
                      <a:r>
                        <a:rPr lang="es-MX" sz="1050" baseline="30000">
                          <a:latin typeface="Montserrat"/>
                        </a:rPr>
                        <a:t>1</a:t>
                      </a:r>
                      <a:endParaRPr sz="700" baseline="30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895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3,322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927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3,638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1,671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380215"/>
              </p:ext>
            </p:extLst>
          </p:nvPr>
        </p:nvGraphicFramePr>
        <p:xfrm>
          <a:off x="4536000" y="6854400"/>
          <a:ext cx="3096000" cy="148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2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Unidades</a:t>
                      </a:r>
                      <a:endParaRPr/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  <a:r>
                        <a:rPr lang="es-MX" sz="1050" baseline="30000"/>
                        <a:t>2</a:t>
                      </a:r>
                      <a:endParaRPr baseline="30000"/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3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81 UMF, 1 UMFH, 3 UMF-UMAA y no incluye 20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2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70;g3d0b4d3c5c9_0_28">
            <a:extLst>
              <a:ext uri="{FF2B5EF4-FFF2-40B4-BE49-F238E27FC236}">
                <a16:creationId xmlns:a16="http://schemas.microsoft.com/office/drawing/2014/main" id="{741BCDF9-9B3B-C012-20BC-D6BE8EB947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361998"/>
              </p:ext>
            </p:extLst>
          </p:nvPr>
        </p:nvGraphicFramePr>
        <p:xfrm>
          <a:off x="28685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Clínica‑hospital de atención directa, Estado de México</a:t>
                      </a:r>
                      <a:endParaRPr sz="1800" b="1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71;g3d0b4d3c5c9_0_28">
            <a:extLst>
              <a:ext uri="{FF2B5EF4-FFF2-40B4-BE49-F238E27FC236}">
                <a16:creationId xmlns:a16="http://schemas.microsoft.com/office/drawing/2014/main" id="{3965F5C1-B3F7-C607-8820-60A6F58686A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738" y="2142706"/>
            <a:ext cx="3385901" cy="280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74B1848-27E2-5A0E-2D12-9905C5940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243" y="2048192"/>
            <a:ext cx="3650179" cy="29711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domex_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230971"/>
            <a:ext cx="7488000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588772"/>
              </p:ext>
            </p:extLst>
          </p:nvPr>
        </p:nvGraphicFramePr>
        <p:xfrm>
          <a:off x="75600" y="6244169"/>
          <a:ext cx="7650000" cy="280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HGOMF 60 Tlanepantla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68 Tulpetlac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58 Las Margaritas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220 Toluca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76 Xalostoc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57 La Quebrada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221 Toluca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53 Los Reyes Paz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98 Coacalco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72 Gustavo Baz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Noviembre</a:t>
                      </a:r>
                      <a:r>
                        <a:t>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624521"/>
              </p:ext>
            </p:extLst>
          </p:nvPr>
        </p:nvGraphicFramePr>
        <p:xfrm>
          <a:off x="56550" y="1234800"/>
          <a:ext cx="7650000" cy="27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71 Chalco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196 Fidel Velázquez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194 El Molinito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197 Texcoco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199 Tlalnepantla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200 Tecamac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251 Metepec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252 Atlacomulco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3,322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017798"/>
              </p:ext>
            </p:extLst>
          </p:nvPr>
        </p:nvGraphicFramePr>
        <p:xfrm>
          <a:off x="56550" y="4089300"/>
          <a:ext cx="7650000" cy="119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Amanalco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Jose del Rincon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686753"/>
              </p:ext>
            </p:extLst>
          </p:nvPr>
        </p:nvGraphicFramePr>
        <p:xfrm>
          <a:off x="56550" y="5466150"/>
          <a:ext cx="7650000" cy="119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3,694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1,538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>
            <p:extLst>
              <p:ext uri="{D42A27DB-BD31-4B8C-83A1-F6EECF244321}">
                <p14:modId xmlns:p14="http://schemas.microsoft.com/office/powerpoint/2010/main" val="768577422"/>
              </p:ext>
            </p:extLst>
          </p:nvPr>
        </p:nvGraphicFramePr>
        <p:xfrm>
          <a:off x="149075" y="5890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FAECA191-944A-0FDE-DBEA-FFCC3C6138D0}"/>
              </a:ext>
            </a:extLst>
          </p:cNvPr>
          <p:cNvGrpSpPr/>
          <p:nvPr/>
        </p:nvGrpSpPr>
        <p:grpSpPr>
          <a:xfrm>
            <a:off x="0" y="5892697"/>
            <a:ext cx="7947618" cy="3712962"/>
            <a:chOff x="0" y="5092597"/>
            <a:chExt cx="7947618" cy="3712962"/>
          </a:xfrm>
        </p:grpSpPr>
        <p:sp>
          <p:nvSpPr>
            <p:cNvPr id="3" name="Google Shape;187;g3d62d805bc0_1_198">
              <a:extLst>
                <a:ext uri="{FF2B5EF4-FFF2-40B4-BE49-F238E27FC236}">
                  <a16:creationId xmlns:a16="http://schemas.microsoft.com/office/drawing/2014/main" id="{4F60AF3E-1876-B7D6-F04F-99D850FB305D}"/>
                </a:ext>
              </a:extLst>
            </p:cNvPr>
            <p:cNvSpPr txBox="1"/>
            <p:nvPr/>
          </p:nvSpPr>
          <p:spPr>
            <a:xfrm>
              <a:off x="0" y="5092597"/>
              <a:ext cx="7772400" cy="703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</a:t>
              </a:r>
              <a:endParaRPr sz="20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" name="Google Shape;201;g3d62d805bc0_1_198">
              <a:extLst>
                <a:ext uri="{FF2B5EF4-FFF2-40B4-BE49-F238E27FC236}">
                  <a16:creationId xmlns:a16="http://schemas.microsoft.com/office/drawing/2014/main" id="{A4BAE97D-45B4-EBF3-3DB3-14EB1F7D01A2}"/>
                </a:ext>
              </a:extLst>
            </p:cNvPr>
            <p:cNvSpPr/>
            <p:nvPr/>
          </p:nvSpPr>
          <p:spPr>
            <a:xfrm>
              <a:off x="278969" y="7053011"/>
              <a:ext cx="420174" cy="361913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7" name="Google Shape;202;g3d62d805bc0_1_198">
              <a:extLst>
                <a:ext uri="{FF2B5EF4-FFF2-40B4-BE49-F238E27FC236}">
                  <a16:creationId xmlns:a16="http://schemas.microsoft.com/office/drawing/2014/main" id="{CB7B6156-EE1D-943E-4952-DC5ABB5E7BFE}"/>
                </a:ext>
              </a:extLst>
            </p:cNvPr>
            <p:cNvSpPr/>
            <p:nvPr/>
          </p:nvSpPr>
          <p:spPr>
            <a:xfrm>
              <a:off x="699145" y="7053018"/>
              <a:ext cx="1608262" cy="361913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03;g3d62d805bc0_1_198">
              <a:extLst>
                <a:ext uri="{FF2B5EF4-FFF2-40B4-BE49-F238E27FC236}">
                  <a16:creationId xmlns:a16="http://schemas.microsoft.com/office/drawing/2014/main" id="{C9C2D92B-4C45-753C-CA94-C773F99DD879}"/>
                </a:ext>
              </a:extLst>
            </p:cNvPr>
            <p:cNvSpPr txBox="1"/>
            <p:nvPr/>
          </p:nvSpPr>
          <p:spPr>
            <a:xfrm>
              <a:off x="258421" y="7366892"/>
              <a:ext cx="2487842" cy="522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196 Fidel Velázquez </a:t>
              </a:r>
              <a:b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98 Coacalco </a:t>
              </a: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251 </a:t>
              </a:r>
              <a:r>
                <a:rPr lang="es" sz="1300">
                  <a:solidFill>
                    <a:srgbClr val="595959"/>
                  </a:solidFill>
                  <a:latin typeface="Montserrat"/>
                  <a:sym typeface="Montserrat"/>
                </a:rPr>
                <a:t>Metepe</a:t>
              </a:r>
              <a:r>
                <a:rPr lang="es" sz="1300">
                  <a:solidFill>
                    <a:srgbClr val="595959"/>
                  </a:solidFill>
                  <a:latin typeface="Montserrat"/>
                  <a:sym typeface="Noto Sans"/>
                </a:rPr>
                <a:t>c</a:t>
              </a:r>
            </a:p>
            <a:p>
              <a:pPr marL="0" lvl="0" indent="0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sym typeface="Noto Sans"/>
                </a:rPr>
                <a:t>$12.9 mdp</a:t>
              </a:r>
              <a:endParaRPr sz="1300" b="1">
                <a:solidFill>
                  <a:srgbClr val="595959"/>
                </a:solidFill>
                <a:latin typeface="Montserrat"/>
                <a:sym typeface="Noto Sans"/>
              </a:endParaRPr>
            </a:p>
          </p:txBody>
        </p:sp>
        <p:pic>
          <p:nvPicPr>
            <p:cNvPr id="19" name="Google Shape;204;g3d62d805bc0_1_198">
              <a:extLst>
                <a:ext uri="{FF2B5EF4-FFF2-40B4-BE49-F238E27FC236}">
                  <a16:creationId xmlns:a16="http://schemas.microsoft.com/office/drawing/2014/main" id="{451F91CF-93FB-EA3D-9381-7C3B9B2B409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5268" y="5652770"/>
              <a:ext cx="2222170" cy="1484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6;g3d62d805bc0_1_198">
              <a:extLst>
                <a:ext uri="{FF2B5EF4-FFF2-40B4-BE49-F238E27FC236}">
                  <a16:creationId xmlns:a16="http://schemas.microsoft.com/office/drawing/2014/main" id="{D252CDEC-9F77-AACC-2354-758852F6A30A}"/>
                </a:ext>
              </a:extLst>
            </p:cNvPr>
            <p:cNvSpPr/>
            <p:nvPr/>
          </p:nvSpPr>
          <p:spPr>
            <a:xfrm>
              <a:off x="5807355" y="7142546"/>
              <a:ext cx="1766730" cy="363037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07;g3d62d805bc0_1_198">
              <a:extLst>
                <a:ext uri="{FF2B5EF4-FFF2-40B4-BE49-F238E27FC236}">
                  <a16:creationId xmlns:a16="http://schemas.microsoft.com/office/drawing/2014/main" id="{62DB79BF-ACF2-9AEC-14CE-71D1A285F9DB}"/>
                </a:ext>
              </a:extLst>
            </p:cNvPr>
            <p:cNvSpPr/>
            <p:nvPr/>
          </p:nvSpPr>
          <p:spPr>
            <a:xfrm>
              <a:off x="5370018" y="7138492"/>
              <a:ext cx="469019" cy="367091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4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2" name="Google Shape;208;g3d62d805bc0_1_198">
              <a:extLst>
                <a:ext uri="{FF2B5EF4-FFF2-40B4-BE49-F238E27FC236}">
                  <a16:creationId xmlns:a16="http://schemas.microsoft.com/office/drawing/2014/main" id="{13007340-E7E5-C117-C189-4BEF7E4AC742}"/>
                </a:ext>
              </a:extLst>
            </p:cNvPr>
            <p:cNvSpPr txBox="1"/>
            <p:nvPr/>
          </p:nvSpPr>
          <p:spPr>
            <a:xfrm>
              <a:off x="5370018" y="7493563"/>
              <a:ext cx="2577600" cy="1311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68 Tulpetlac</a:t>
              </a: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196 Fidel Velázquez</a:t>
              </a: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220 Toluca</a:t>
              </a: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251 Metepec     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$118.7 mdp</a:t>
              </a:r>
              <a:endParaRPr b="1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3" name="Google Shape;209;g3d62d805bc0_1_198">
              <a:extLst>
                <a:ext uri="{FF2B5EF4-FFF2-40B4-BE49-F238E27FC236}">
                  <a16:creationId xmlns:a16="http://schemas.microsoft.com/office/drawing/2014/main" id="{75773726-C190-B437-3E6C-E65FD3ECDA6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70018" y="5662186"/>
              <a:ext cx="2204067" cy="1484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" name="Google Shape;210;g3d62d805bc0_1_198">
              <a:extLst>
                <a:ext uri="{FF2B5EF4-FFF2-40B4-BE49-F238E27FC236}">
                  <a16:creationId xmlns:a16="http://schemas.microsoft.com/office/drawing/2014/main" id="{BD6CB805-2855-E429-D67E-2F1DF7DD5D3E}"/>
                </a:ext>
              </a:extLst>
            </p:cNvPr>
            <p:cNvSpPr/>
            <p:nvPr/>
          </p:nvSpPr>
          <p:spPr>
            <a:xfrm>
              <a:off x="3153984" y="7150858"/>
              <a:ext cx="1859701" cy="358779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Resonadores magnéticos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" name="Google Shape;211;g3d62d805bc0_1_198">
              <a:extLst>
                <a:ext uri="{FF2B5EF4-FFF2-40B4-BE49-F238E27FC236}">
                  <a16:creationId xmlns:a16="http://schemas.microsoft.com/office/drawing/2014/main" id="{EEC50945-236D-E9D0-9528-BDE7C5C47447}"/>
                </a:ext>
              </a:extLst>
            </p:cNvPr>
            <p:cNvSpPr txBox="1"/>
            <p:nvPr/>
          </p:nvSpPr>
          <p:spPr>
            <a:xfrm>
              <a:off x="2956350" y="7493563"/>
              <a:ext cx="2291100" cy="8925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200 Tecamac</a:t>
              </a: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251 Metepec </a:t>
              </a:r>
            </a:p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sym typeface="Montserrat"/>
                </a:rPr>
                <a:t>$76.4 mdp</a:t>
              </a:r>
              <a:endParaRPr b="1"/>
            </a:p>
          </p:txBody>
        </p:sp>
        <p:pic>
          <p:nvPicPr>
            <p:cNvPr id="26" name="Google Shape;212;g3d62d805bc0_1_198">
              <a:extLst>
                <a:ext uri="{FF2B5EF4-FFF2-40B4-BE49-F238E27FC236}">
                  <a16:creationId xmlns:a16="http://schemas.microsoft.com/office/drawing/2014/main" id="{C0BF6096-DE09-8CA3-38A5-BA0CF2181DC8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58715" y="5669796"/>
              <a:ext cx="2254970" cy="14840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13;g3d62d805bc0_1_198">
              <a:extLst>
                <a:ext uri="{FF2B5EF4-FFF2-40B4-BE49-F238E27FC236}">
                  <a16:creationId xmlns:a16="http://schemas.microsoft.com/office/drawing/2014/main" id="{2B9E1775-2BC7-3994-FA03-07F86A6B211B}"/>
                </a:ext>
              </a:extLst>
            </p:cNvPr>
            <p:cNvSpPr/>
            <p:nvPr/>
          </p:nvSpPr>
          <p:spPr>
            <a:xfrm>
              <a:off x="2761430" y="7155464"/>
              <a:ext cx="420174" cy="354174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2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633041"/>
              </p:ext>
            </p:extLst>
          </p:nvPr>
        </p:nvGraphicFramePr>
        <p:xfrm>
          <a:off x="93600" y="1009350"/>
          <a:ext cx="7534799" cy="4938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147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 err="1"/>
                        <a:t>Aparatos</a:t>
                      </a:r>
                      <a:r>
                        <a:rPr sz="900"/>
                        <a:t> de </a:t>
                      </a:r>
                      <a:r>
                        <a:rPr sz="900" err="1"/>
                        <a:t>Tomografía</a:t>
                      </a:r>
                      <a:endParaRPr sz="90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 err="1"/>
                        <a:t>Equipos</a:t>
                      </a:r>
                      <a:r>
                        <a:rPr sz="900"/>
                        <a:t> de </a:t>
                      </a:r>
                      <a:r>
                        <a:rPr sz="900" err="1"/>
                        <a:t>Resonancia</a:t>
                      </a:r>
                      <a:r>
                        <a:rPr sz="900"/>
                        <a:t> </a:t>
                      </a:r>
                      <a:r>
                        <a:rPr sz="900" err="1"/>
                        <a:t>Magnética</a:t>
                      </a:r>
                      <a:endParaRPr sz="90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900"/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71 Chalco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HGOMF 60 Tlanepantla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UMAA 199 Tlalnepantla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68 Tulpetlac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196 Fidel Velázquez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53 Los Reyes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57 La Quebrada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200 Tecamac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252 Atlacomulco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98 Coacalco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HGO 221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72 Gustavo Baz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HGZMF 76 Xalostoc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197 Texcoco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220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sz="900"/>
                        <a:t>2</a:t>
                      </a:r>
                      <a:endParaRPr sz="900"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sz="900"/>
                        <a:t>3</a:t>
                      </a:r>
                      <a:endParaRPr sz="9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194 El Molinito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HGZ 58 Las Margaritas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sz="900"/>
                        <a:t>HGR 251 </a:t>
                      </a:r>
                      <a:r>
                        <a:rPr sz="900" err="1"/>
                        <a:t>Metepec</a:t>
                      </a:r>
                      <a:endParaRPr sz="90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sz="900"/>
                        <a:t>3</a:t>
                      </a:r>
                      <a:endParaRPr sz="90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44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900"/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  <a:r>
                        <a:rPr lang="es-MX" sz="900"/>
                        <a:t>6</a:t>
                      </a:r>
                      <a:endParaRPr sz="90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900"/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900"/>
                        <a:t>1</a:t>
                      </a:r>
                      <a:r>
                        <a:rPr lang="es-MX" sz="900"/>
                        <a:t>4</a:t>
                      </a:r>
                      <a:endParaRPr sz="90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900"/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t>Proyectos de implementación/sustitución 2019-2025. Incluye equipo de la compra 2025-2026.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755053"/>
              </p:ext>
            </p:extLst>
          </p:nvPr>
        </p:nvGraphicFramePr>
        <p:xfrm>
          <a:off x="93600" y="1158600"/>
          <a:ext cx="7534799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8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23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5199" y="2583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6799" y="24822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Proyectos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 err="1">
                <a:solidFill>
                  <a:schemeClr val="tx1"/>
                </a:solidFill>
              </a:rPr>
              <a:t>implementación</a:t>
            </a:r>
            <a:r>
              <a:rPr>
                <a:solidFill>
                  <a:schemeClr val="tx1"/>
                </a:solidFill>
              </a:rPr>
              <a:t>/</a:t>
            </a:r>
            <a:r>
              <a:rPr err="1">
                <a:solidFill>
                  <a:schemeClr val="tx1"/>
                </a:solidFill>
              </a:rPr>
              <a:t>sustitución</a:t>
            </a:r>
            <a:r>
              <a:rPr>
                <a:solidFill>
                  <a:schemeClr val="tx1"/>
                </a:solidFill>
              </a:rPr>
              <a:t> 2019-2025. </a:t>
            </a:r>
            <a:r>
              <a:rPr err="1">
                <a:solidFill>
                  <a:schemeClr val="tx1"/>
                </a:solidFill>
              </a:rPr>
              <a:t>Incluye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equipo</a:t>
            </a:r>
            <a:r>
              <a:rPr>
                <a:solidFill>
                  <a:schemeClr val="tx1"/>
                </a:solidFill>
              </a:rPr>
              <a:t> de la </a:t>
            </a:r>
            <a:r>
              <a:rPr err="1">
                <a:solidFill>
                  <a:schemeClr val="tx1"/>
                </a:solidFill>
              </a:rPr>
              <a:t>compra</a:t>
            </a:r>
            <a:r>
              <a:rPr>
                <a:solidFill>
                  <a:schemeClr val="tx1"/>
                </a:solidFill>
              </a:rPr>
              <a:t> 2025-2026.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Fuente: Cédula de </a:t>
            </a:r>
            <a:r>
              <a:rPr err="1">
                <a:solidFill>
                  <a:schemeClr val="tx1"/>
                </a:solidFill>
              </a:rPr>
              <a:t>actualización</a:t>
            </a:r>
            <a:r>
              <a:rPr>
                <a:solidFill>
                  <a:schemeClr val="tx1"/>
                </a:solidFill>
              </a:rPr>
              <a:t> de variables </a:t>
            </a:r>
            <a:r>
              <a:rPr err="1">
                <a:solidFill>
                  <a:schemeClr val="tx1"/>
                </a:solidFill>
              </a:rPr>
              <a:t>seleccionadas</a:t>
            </a:r>
            <a:r>
              <a:rPr>
                <a:solidFill>
                  <a:schemeClr val="tx1"/>
                </a:solidFill>
              </a:rPr>
              <a:t> del IFU, </a:t>
            </a:r>
            <a:r>
              <a:rPr err="1">
                <a:solidFill>
                  <a:schemeClr val="tx1"/>
                </a:solidFill>
              </a:rPr>
              <a:t>enviadas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por</a:t>
            </a:r>
            <a:r>
              <a:rPr>
                <a:solidFill>
                  <a:schemeClr val="tx1"/>
                </a:solidFill>
              </a:rPr>
              <a:t> el OOAD.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marzo</a:t>
            </a:r>
            <a:r>
              <a:rPr>
                <a:solidFill>
                  <a:schemeClr val="tx1"/>
                </a:solidFill>
              </a:rPr>
              <a:t> de 2026</a:t>
            </a:r>
          </a:p>
        </p:txBody>
      </p:sp>
      <p:graphicFrame>
        <p:nvGraphicFramePr>
          <p:cNvPr id="8" name="Google Shape;230;g370e87ffe7a_2_137">
            <a:extLst>
              <a:ext uri="{FF2B5EF4-FFF2-40B4-BE49-F238E27FC236}">
                <a16:creationId xmlns:a16="http://schemas.microsoft.com/office/drawing/2014/main" id="{5EE806AA-5B10-7818-DE52-FF70B92170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6662466"/>
              </p:ext>
            </p:extLst>
          </p:nvPr>
        </p:nvGraphicFramePr>
        <p:xfrm>
          <a:off x="143502" y="305512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Google Shape;230;g370e87ffe7a_2_137">
            <a:extLst>
              <a:ext uri="{FF2B5EF4-FFF2-40B4-BE49-F238E27FC236}">
                <a16:creationId xmlns:a16="http://schemas.microsoft.com/office/drawing/2014/main" id="{E3F8191F-5F6D-DD7C-2D59-482347C8D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8998663"/>
              </p:ext>
            </p:extLst>
          </p:nvPr>
        </p:nvGraphicFramePr>
        <p:xfrm>
          <a:off x="143502" y="5552705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6BC30E64-34B9-55D6-A6A4-DC138EA0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17185" y="6028401"/>
            <a:ext cx="2656114" cy="3302668"/>
          </a:xfrm>
          <a:prstGeom prst="rect">
            <a:avLst/>
          </a:prstGeom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64E743F-5032-21D6-2D12-185DB9A6A5E4}"/>
              </a:ext>
            </a:extLst>
          </p:cNvPr>
          <p:cNvCxnSpPr>
            <a:cxnSpLocks/>
          </p:cNvCxnSpPr>
          <p:nvPr/>
        </p:nvCxnSpPr>
        <p:spPr>
          <a:xfrm>
            <a:off x="5210629" y="6953463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49DF70E-4831-E42D-D6C5-E13CC291EF74}"/>
              </a:ext>
            </a:extLst>
          </p:cNvPr>
          <p:cNvCxnSpPr>
            <a:cxnSpLocks/>
          </p:cNvCxnSpPr>
          <p:nvPr/>
        </p:nvCxnSpPr>
        <p:spPr>
          <a:xfrm>
            <a:off x="5210629" y="8310549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1A90E0-33AA-ABDD-9C82-42AF20E120F3}"/>
              </a:ext>
            </a:extLst>
          </p:cNvPr>
          <p:cNvSpPr txBox="1"/>
          <p:nvPr/>
        </p:nvSpPr>
        <p:spPr>
          <a:xfrm>
            <a:off x="5064096" y="7514735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CuadroTexto 6">
            <a:extLst>
              <a:ext uri="{FF2B5EF4-FFF2-40B4-BE49-F238E27FC236}">
                <a16:creationId xmlns:a16="http://schemas.microsoft.com/office/drawing/2014/main" id="{F35CD598-98DC-27B9-06F6-FFD5ABEE4BA1}"/>
              </a:ext>
            </a:extLst>
          </p:cNvPr>
          <p:cNvSpPr txBox="1"/>
          <p:nvPr/>
        </p:nvSpPr>
        <p:spPr>
          <a:xfrm>
            <a:off x="5064096" y="885549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CuadroTexto 8">
            <a:extLst>
              <a:ext uri="{FF2B5EF4-FFF2-40B4-BE49-F238E27FC236}">
                <a16:creationId xmlns:a16="http://schemas.microsoft.com/office/drawing/2014/main" id="{01D418C7-6CFD-AF67-5EBC-EA48E9CFFC02}"/>
              </a:ext>
            </a:extLst>
          </p:cNvPr>
          <p:cNvSpPr txBox="1"/>
          <p:nvPr/>
        </p:nvSpPr>
        <p:spPr>
          <a:xfrm>
            <a:off x="4701239" y="6168345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232">
            <a:extLst>
              <a:ext uri="{FF2B5EF4-FFF2-40B4-BE49-F238E27FC236}">
                <a16:creationId xmlns:a16="http://schemas.microsoft.com/office/drawing/2014/main" id="{EE58117C-A4D6-C7BD-220C-AE3828572074}"/>
              </a:ext>
            </a:extLst>
          </p:cNvPr>
          <p:cNvSpPr txBox="1"/>
          <p:nvPr/>
        </p:nvSpPr>
        <p:spPr>
          <a:xfrm>
            <a:off x="5270400" y="8416535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+23,964</a:t>
            </a:r>
          </a:p>
        </p:txBody>
      </p:sp>
      <p:sp>
        <p:nvSpPr>
          <p:cNvPr id="17" name="TextBox 233">
            <a:extLst>
              <a:ext uri="{FF2B5EF4-FFF2-40B4-BE49-F238E27FC236}">
                <a16:creationId xmlns:a16="http://schemas.microsoft.com/office/drawing/2014/main" id="{819BF4E7-D337-A8A4-53FF-87C548DF83D7}"/>
              </a:ext>
            </a:extLst>
          </p:cNvPr>
          <p:cNvSpPr txBox="1"/>
          <p:nvPr/>
        </p:nvSpPr>
        <p:spPr>
          <a:xfrm>
            <a:off x="5270400" y="5714585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+1,177,836</a:t>
            </a:r>
          </a:p>
        </p:txBody>
      </p:sp>
      <p:sp>
        <p:nvSpPr>
          <p:cNvPr id="18" name="TextBox 234">
            <a:extLst>
              <a:ext uri="{FF2B5EF4-FFF2-40B4-BE49-F238E27FC236}">
                <a16:creationId xmlns:a16="http://schemas.microsoft.com/office/drawing/2014/main" id="{1FF9C3F6-F2F2-2611-AAF0-254911B210C5}"/>
              </a:ext>
            </a:extLst>
          </p:cNvPr>
          <p:cNvSpPr txBox="1"/>
          <p:nvPr/>
        </p:nvSpPr>
        <p:spPr>
          <a:xfrm>
            <a:off x="5270400" y="7068335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+357,840</a:t>
            </a:r>
          </a:p>
        </p:txBody>
      </p:sp>
      <p:graphicFrame>
        <p:nvGraphicFramePr>
          <p:cNvPr id="19" name="Table 235">
            <a:extLst>
              <a:ext uri="{FF2B5EF4-FFF2-40B4-BE49-F238E27FC236}">
                <a16:creationId xmlns:a16="http://schemas.microsoft.com/office/drawing/2014/main" id="{2A8FABC6-F1B2-270F-9241-F903E2C25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399803"/>
              </p:ext>
            </p:extLst>
          </p:nvPr>
        </p:nvGraphicFramePr>
        <p:xfrm>
          <a:off x="144000" y="3596285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11,934,572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1,177,836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5,380,951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12,143,816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2,250,335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357,840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1,074,511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2,541,495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155,218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23,964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74,780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191,452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31">
            <a:extLst>
              <a:ext uri="{FF2B5EF4-FFF2-40B4-BE49-F238E27FC236}">
                <a16:creationId xmlns:a16="http://schemas.microsoft.com/office/drawing/2014/main" id="{840E0CB6-75FB-CE29-BFEF-E3AA57B87299}"/>
              </a:ext>
            </a:extLst>
          </p:cNvPr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err="1"/>
              <a:t>semana</a:t>
            </a:r>
            <a:r>
              <a:t> 24, 7 </a:t>
            </a:r>
            <a:r>
              <a:rPr err="1"/>
              <a:t>junio</a:t>
            </a:r>
            <a:r>
              <a:t> 2026</a:t>
            </a:r>
            <a:br>
              <a:rPr/>
            </a:br>
            <a:r>
              <a:t>¹Las </a:t>
            </a:r>
            <a:r>
              <a:rPr err="1"/>
              <a:t>consultas</a:t>
            </a:r>
            <a:r>
              <a:t> de </a:t>
            </a:r>
            <a:r>
              <a:rPr err="1"/>
              <a:t>medicina</a:t>
            </a:r>
            <a:r>
              <a:t> familiar </a:t>
            </a:r>
            <a:r>
              <a:rPr err="1"/>
              <a:t>incluyen</a:t>
            </a:r>
            <a:r>
              <a:t> </a:t>
            </a:r>
            <a:r>
              <a:rPr err="1"/>
              <a:t>los</a:t>
            </a:r>
            <a:r>
              <a:t> </a:t>
            </a:r>
            <a:r>
              <a:rPr err="1"/>
              <a:t>hospitales</a:t>
            </a:r>
            <a:r>
              <a:t> con MF.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85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47067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44 UMF de lunes a </a:t>
            </a:r>
            <a:r>
              <a:rPr err="1"/>
              <a:t>viernes</a:t>
            </a:r>
            <a:r>
              <a:rPr lang="es-MX"/>
              <a:t> (1 de 2)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85394"/>
              </p:ext>
            </p:extLst>
          </p:nvPr>
        </p:nvGraphicFramePr>
        <p:xfrm>
          <a:off x="132150" y="1692000"/>
          <a:ext cx="7473599" cy="703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024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74 San Rafael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60,861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27,509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Amecameca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34,474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15,202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245 Aculco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4,896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6,944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59 Lechería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6,678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225 Toluca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226 Ixtlahuaca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79,623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10,489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37,841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227 Ixtapan Sal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27,754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14,026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12,891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237 Malinalco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6,211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2,826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75 Netzahualcoyotl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356,832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10,976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161,505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400,896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Las Margaritas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258,692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15,983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113,128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250,560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232 Villa Gro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9,347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4,199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Apaxco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75,964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17,020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34,956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Jilotepec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73,223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4,897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35,462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77 San Agustín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432,640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15,182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190,349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463,536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228 Santiago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119,529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33,168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57,467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78 Netzahualcoyotl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252,835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-1,224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113,707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250,560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97 San Bartolo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142,437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21,963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64,848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150,336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239 Tejupilco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9,352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4,307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233 Valle Bravo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16,362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8,219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234 Colorínes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22,630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9,031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11,266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85 Tezoyuca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10,061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81 Juchitepec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22,779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4,697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10,507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87 Ozumba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25,777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12,010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238 Sultepec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4,409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-710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2,331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88 Sta. Anita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27,571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12,833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95 Pantaco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63,186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3,840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29,142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235 Atlacomulco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63,046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30,421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242 Tenango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66,238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29,818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240 Temascaltepec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7,268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2,695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236 El Oro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13,384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96 Tepozanes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129,449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57,462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230 Toluca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8,098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4,189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229 Tenancingo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27,096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13,454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80 Satélite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26,537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9,733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10,943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186 Iztacala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68,527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29,934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192 Atizapán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25,712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4,163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10,918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UMF-UMAA 231 Metepec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126,430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21,372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57,694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731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241 Temoaya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19,976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85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47564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44 UMF de lunes a </a:t>
            </a:r>
            <a:r>
              <a:rPr err="1"/>
              <a:t>viernes</a:t>
            </a:r>
            <a:r>
              <a:rPr lang="es-MX"/>
              <a:t> (2 de 2)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692000"/>
          <a:ext cx="74735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243 V.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190 Huixquilucan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95,377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43,556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246 Jocotitlán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24,994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247 Zictepec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244 Toluca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32,460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250 La Magdalena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156,668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69,093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3,131,277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303,584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1,422,978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3,265,880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868205"/>
              </p:ext>
            </p:extLst>
          </p:nvPr>
        </p:nvGraphicFramePr>
        <p:xfrm>
          <a:off x="4208400" y="33930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8400" y="4113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8400" y="5013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4250" y="369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3,265,880 </a:t>
            </a:r>
            <a:br>
              <a:rPr/>
            </a:br>
            <a:r>
              <a:t>Meta 2026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22AE2F2F-566F-6DD7-ECEB-C411634C8889}"/>
              </a:ext>
            </a:extLst>
          </p:cNvPr>
          <p:cNvSpPr txBox="1"/>
          <p:nvPr/>
        </p:nvSpPr>
        <p:spPr>
          <a:xfrm>
            <a:off x="147600" y="9561600"/>
            <a:ext cx="7473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</a:t>
            </a:r>
            <a:r>
              <a:rPr err="1"/>
              <a:t>año</a:t>
            </a:r>
            <a:r>
              <a:t> 2025 no </a:t>
            </a:r>
            <a:r>
              <a:rPr err="1"/>
              <a:t>incluye</a:t>
            </a:r>
            <a:r>
              <a:t> </a:t>
            </a:r>
            <a:r>
              <a:rPr err="1"/>
              <a:t>información</a:t>
            </a:r>
            <a:r>
              <a:t> de HR y UMR</a:t>
            </a:r>
            <a:br>
              <a:rPr/>
            </a:br>
            <a:r>
              <a:t>No </a:t>
            </a:r>
            <a:r>
              <a:rPr err="1"/>
              <a:t>incluye</a:t>
            </a:r>
            <a:r>
              <a:t> </a:t>
            </a:r>
            <a:r>
              <a:rPr err="1"/>
              <a:t>Unidades</a:t>
            </a:r>
            <a:r>
              <a:t> </a:t>
            </a:r>
            <a:r>
              <a:rPr err="1"/>
              <a:t>Auxiliares</a:t>
            </a:r>
            <a:r>
              <a:t> de Medicina Familiar, </a:t>
            </a:r>
            <a:r>
              <a:rPr err="1"/>
              <a:t>ni</a:t>
            </a:r>
            <a:r>
              <a:t> </a:t>
            </a:r>
            <a:r>
              <a:rPr err="1"/>
              <a:t>hospitales</a:t>
            </a:r>
            <a:r>
              <a:t> con </a:t>
            </a:r>
            <a:r>
              <a:rPr err="1"/>
              <a:t>servicio</a:t>
            </a:r>
            <a:r>
              <a:t> de </a:t>
            </a:r>
            <a:r>
              <a:rPr err="1"/>
              <a:t>medicina</a:t>
            </a:r>
            <a:r>
              <a:t> familiar.</a:t>
            </a:r>
            <a:br>
              <a:rPr/>
            </a:br>
            <a:r>
              <a:t>El </a:t>
            </a:r>
            <a:r>
              <a:rPr err="1"/>
              <a:t>año</a:t>
            </a:r>
            <a:r>
              <a:t> de </a:t>
            </a:r>
            <a:r>
              <a:rPr err="1"/>
              <a:t>proceso</a:t>
            </a:r>
            <a:r>
              <a:t> </a:t>
            </a:r>
            <a:r>
              <a:rPr err="1"/>
              <a:t>inicia</a:t>
            </a:r>
            <a:r>
              <a:t> del 26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anterior al 25 de </a:t>
            </a:r>
            <a:r>
              <a:rPr err="1"/>
              <a:t>diciembre</a:t>
            </a:r>
            <a:r>
              <a:t> del </a:t>
            </a:r>
            <a:r>
              <a:rPr err="1"/>
              <a:t>año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curso</a:t>
            </a:r>
            <a:r>
              <a:t>:</a:t>
            </a:r>
            <a:r>
              <a:rPr lang="es-MX"/>
              <a:t> </a:t>
            </a:r>
            <a:r>
              <a:t>2025 (del 26 de </a:t>
            </a:r>
            <a:r>
              <a:rPr err="1"/>
              <a:t>dic</a:t>
            </a:r>
            <a:r>
              <a:t> de 2024 al 25 de </a:t>
            </a:r>
            <a:r>
              <a:rPr err="1"/>
              <a:t>dic</a:t>
            </a:r>
            <a:r>
              <a:t> de 2025).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Semana 24, 7 </a:t>
            </a:r>
            <a:r>
              <a:rPr err="1"/>
              <a:t>junio</a:t>
            </a:r>
            <a:r>
              <a:t>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85 Unidades de Medicina Familiar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" y="917999"/>
            <a:ext cx="739657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41 </a:t>
            </a:r>
            <a:r>
              <a:rPr err="1"/>
              <a:t>Unidades</a:t>
            </a:r>
            <a:r>
              <a:t> </a:t>
            </a:r>
            <a:r>
              <a:rPr err="1"/>
              <a:t>Médicas</a:t>
            </a:r>
            <a:r>
              <a:t> de </a:t>
            </a:r>
            <a:r>
              <a:rPr err="1"/>
              <a:t>tiempo</a:t>
            </a:r>
            <a:r>
              <a:t> </a:t>
            </a:r>
            <a:r>
              <a:rPr err="1"/>
              <a:t>completo</a:t>
            </a:r>
            <a:r>
              <a:t> (183 </a:t>
            </a:r>
            <a:r>
              <a:rPr err="1"/>
              <a:t>consultorios</a:t>
            </a:r>
            <a:r>
              <a:t>)</a:t>
            </a:r>
            <a:r>
              <a:rPr lang="es-MX"/>
              <a:t> (1 de 2)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90825"/>
              </p:ext>
            </p:extLst>
          </p:nvPr>
        </p:nvGraphicFramePr>
        <p:xfrm>
          <a:off x="151200" y="1695599"/>
          <a:ext cx="7473599" cy="568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115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66 Progreso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87,744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41,689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Texcoco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243,613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37,986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114,537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250,560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62 Cuautitlán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414,411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37,247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175,896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440,832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Río Hondo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23,645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64,794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63 San Ildefonso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320,274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10,858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316,848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Tequesquinahuac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474,869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10,670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212,564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488,592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61 Naucalpan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464,730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57,129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194,493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454,608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222 Toluca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350,845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54,300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157,960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Ayotla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185,267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84,331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187,920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68 Tulpetlac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320,264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19,213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143,555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344,400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67 Santa Clara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200,089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25,102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84,010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224 Zinacatepec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147,634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71,007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223 Lerma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176,053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29,309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78,486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55 Zumpango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182,243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8,944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79,957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220 Toluca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339,192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51,835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154,265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89 Otumba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72,366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13,987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33,241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84 Chimalhuacán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162,507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19,066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74,692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83 Chicoloapan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159,300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74,173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82 Atenco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36,145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3,030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86 Ixtapaluca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10,753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69,320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93 Cerro Gordo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411,568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23,790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188,793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425,952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1213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91 Villa de las Flores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264,142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118,598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85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382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41 </a:t>
            </a:r>
            <a:r>
              <a:rPr err="1"/>
              <a:t>Unidades</a:t>
            </a:r>
            <a:r>
              <a:t> </a:t>
            </a:r>
            <a:r>
              <a:rPr err="1"/>
              <a:t>Médicas</a:t>
            </a:r>
            <a:r>
              <a:t> de </a:t>
            </a:r>
            <a:r>
              <a:rPr err="1"/>
              <a:t>tiempo</a:t>
            </a:r>
            <a:r>
              <a:t> </a:t>
            </a:r>
            <a:r>
              <a:rPr err="1"/>
              <a:t>completo</a:t>
            </a:r>
            <a:r>
              <a:t> (183 </a:t>
            </a:r>
            <a:r>
              <a:rPr err="1"/>
              <a:t>consultorios</a:t>
            </a:r>
            <a:r>
              <a:t>)</a:t>
            </a:r>
            <a:r>
              <a:rPr lang="es-MX"/>
              <a:t> (2 de 2)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5600"/>
          <a:ext cx="747359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79 Valle de Ceylan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138,659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14,024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65,608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52 Cuautitlán Izcalli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431,482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20,423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187,556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468,384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92 Cd. Azteca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417,187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48,052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183,979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440,832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51 Sta. Mónica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158,447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69,669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187 La Higuera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8,750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67,127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184 Infonavit Sur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93,843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41,722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180 Chalco 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131,150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181 Chalco II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145,243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16,848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67,313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183 Rey Neza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91,178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10,981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43,226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188 Tepalcapa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94,682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40,900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191 Ecatepec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112,659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51,764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182 El Sol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85,780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40,784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189 Chimalhuacán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95,524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9,518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43,331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193 Chalco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159,231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6,887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70,973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185 Lomas de Cartagena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107,631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13,740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51,563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195 Chalco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206,863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11,944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95,161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198 San Rafael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166,767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14,732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77,710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249 Santiago Tlaxomulco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168,172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80,006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248 Sn Mateo Atenco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143,421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28,484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66,109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8,397,601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821,710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3,786,796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8,464,560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0" name="TextBox 14">
            <a:extLst>
              <a:ext uri="{FF2B5EF4-FFF2-40B4-BE49-F238E27FC236}">
                <a16:creationId xmlns:a16="http://schemas.microsoft.com/office/drawing/2014/main" id="{6D3C2A9C-2BB7-A717-E463-FD0D384DDB06}"/>
              </a:ext>
            </a:extLst>
          </p:cNvPr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A2BA592-15ED-8B30-2FE7-98995A6FA291}"/>
              </a:ext>
            </a:extLst>
          </p:cNvPr>
          <p:cNvSpPr txBox="1"/>
          <p:nvPr/>
        </p:nvSpPr>
        <p:spPr>
          <a:xfrm>
            <a:off x="4820702" y="6181061"/>
            <a:ext cx="30066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kumimoji="0" lang="es-MX" sz="1600" b="1" i="0" u="none" strike="noStrike" kern="0" cap="none" spc="0" normalizeH="0" baseline="0" noProof="0">
                <a:ln>
                  <a:noFill/>
                </a:ln>
                <a:solidFill>
                  <a:srgbClr val="5B0F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Incremento de 21 consultorios en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461C1F2-8850-524C-DE84-EDC79F91C500}"/>
              </a:ext>
            </a:extLst>
          </p:cNvPr>
          <p:cNvSpPr txBox="1"/>
          <p:nvPr/>
        </p:nvSpPr>
        <p:spPr>
          <a:xfrm>
            <a:off x="5009287" y="6712210"/>
            <a:ext cx="3006672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93 Cerro Gordo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193 Chalco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63 San Ildefonso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224 Zinacantepec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223 Lerma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222 Toluca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220 Toluca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00E965-90FA-F864-88A9-8A0D94079944}"/>
              </a:ext>
            </a:extLst>
          </p:cNvPr>
          <p:cNvSpPr txBox="1"/>
          <p:nvPr/>
        </p:nvSpPr>
        <p:spPr>
          <a:xfrm>
            <a:off x="2052381" y="5907995"/>
            <a:ext cx="3481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kumimoji="0" lang="es-MX" sz="1600" b="1" i="0" u="none" strike="noStrike" kern="0" cap="none" spc="0" normalizeH="0" baseline="0" noProof="0">
                <a:ln>
                  <a:noFill/>
                </a:ln>
                <a:solidFill>
                  <a:srgbClr val="5B0F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Proyectos 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kumimoji="0" lang="es-MX" sz="1600" b="1" i="0" u="none" strike="noStrike" kern="0" cap="none" spc="0" normalizeH="0" baseline="0" noProof="0">
                <a:ln>
                  <a:noFill/>
                </a:ln>
                <a:solidFill>
                  <a:srgbClr val="5B0F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10 Nuevas UMTC con</a:t>
            </a:r>
            <a:br>
              <a:rPr kumimoji="0" lang="es-MX" sz="1600" b="1" i="0" u="none" strike="noStrike" kern="0" cap="none" spc="0" normalizeH="0" baseline="0" noProof="0">
                <a:ln>
                  <a:noFill/>
                </a:ln>
                <a:solidFill>
                  <a:srgbClr val="5B0F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</a:br>
            <a:r>
              <a:rPr kumimoji="0" lang="es-MX" sz="1600" b="1" i="0" u="none" strike="noStrike" kern="0" cap="none" spc="0" normalizeH="0" baseline="0" noProof="0">
                <a:ln>
                  <a:noFill/>
                </a:ln>
                <a:solidFill>
                  <a:srgbClr val="5B0F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37 consultorios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32AB1F1-45B8-F89E-1234-47DDA04FD3A7}"/>
              </a:ext>
            </a:extLst>
          </p:cNvPr>
          <p:cNvSpPr txBox="1"/>
          <p:nvPr/>
        </p:nvSpPr>
        <p:spPr>
          <a:xfrm>
            <a:off x="2429888" y="6710826"/>
            <a:ext cx="339412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HGOMF 60 Tlanepantla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77 San Agustín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75 Netzahualcóyotl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78 Netzahualcóyotl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228 Santiago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242 Tenango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235 Atlacomulco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UMF-UMAA 231 Metepec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250 La Magdalena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arenR"/>
              <a:tabLst/>
              <a:defRPr/>
            </a:pPr>
            <a:r>
              <a:rPr kumimoji="0" lang="es-MX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cs typeface="Arial"/>
                <a:sym typeface="Arial"/>
              </a:rPr>
              <a:t>UMF 58 Las Margaritas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B92AA0D0-4161-60F8-085A-2E86021307E7}"/>
              </a:ext>
            </a:extLst>
          </p:cNvPr>
          <p:cNvSpPr txBox="1"/>
          <p:nvPr/>
        </p:nvSpPr>
        <p:spPr>
          <a:xfrm>
            <a:off x="382199" y="5935891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1600" b="1">
                <a:solidFill>
                  <a:srgbClr val="000000"/>
                </a:solidFill>
                <a:latin typeface="Montserrat"/>
              </a:defRPr>
            </a:pP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de las </a:t>
            </a:r>
            <a:r>
              <a:rPr kumimoji="0" sz="16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consultas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16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2025 </a:t>
            </a:r>
            <a:r>
              <a:rPr kumimoji="0" sz="16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fueron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sz="16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fin de </a:t>
            </a:r>
            <a:r>
              <a:rPr kumimoji="0" sz="16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semana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(905,889 </a:t>
            </a:r>
            <a:r>
              <a:rPr kumimoji="0" sz="1600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consultas</a:t>
            </a:r>
            <a:r>
              <a:rPr kumimoji="0" sz="1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)</a:t>
            </a:r>
          </a:p>
        </p:txBody>
      </p:sp>
      <p:graphicFrame>
        <p:nvGraphicFramePr>
          <p:cNvPr id="22" name="Chart 17">
            <a:extLst>
              <a:ext uri="{FF2B5EF4-FFF2-40B4-BE49-F238E27FC236}">
                <a16:creationId xmlns:a16="http://schemas.microsoft.com/office/drawing/2014/main" id="{0E4C1A5F-0490-05A5-C8CB-6ED1949F5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107360"/>
              </p:ext>
            </p:extLst>
          </p:nvPr>
        </p:nvGraphicFramePr>
        <p:xfrm>
          <a:off x="378563" y="728445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xtBox 18">
            <a:extLst>
              <a:ext uri="{FF2B5EF4-FFF2-40B4-BE49-F238E27FC236}">
                <a16:creationId xmlns:a16="http://schemas.microsoft.com/office/drawing/2014/main" id="{84BEB61F-533B-852A-1CCD-4E53454B901D}"/>
              </a:ext>
            </a:extLst>
          </p:cNvPr>
          <p:cNvSpPr txBox="1"/>
          <p:nvPr/>
        </p:nvSpPr>
        <p:spPr>
          <a:xfrm>
            <a:off x="378563" y="7992324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2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8%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11139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992688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err="1"/>
              <a:t>Productividad</a:t>
            </a:r>
            <a:r>
              <a:t> de </a:t>
            </a:r>
            <a:r>
              <a:rPr err="1"/>
              <a:t>consultas</a:t>
            </a:r>
            <a:r>
              <a:t> de </a:t>
            </a:r>
            <a:r>
              <a:rPr err="1"/>
              <a:t>especialidad</a:t>
            </a:r>
            <a:r>
              <a:t>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118480"/>
              </p:ext>
            </p:extLst>
          </p:nvPr>
        </p:nvGraphicFramePr>
        <p:xfrm>
          <a:off x="216570" y="1377888"/>
          <a:ext cx="7340399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190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</a:t>
                      </a:r>
                      <a:r>
                        <a:rPr err="1"/>
                        <a:t>Cumplimiento</a:t>
                      </a:r>
                      <a:r>
                        <a:t>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60 Tlanepantla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194 El Molinito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55,431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251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224,256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110,556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57 La Quebrada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126,197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64,871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220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103,185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221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-4,698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21,011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58 Las Margaritas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56,317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68 Tulpetlac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85,949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40,618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53 Los Reyes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99,015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50,411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72 Gustavo Baz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222,576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97,785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229,950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196 Fidel Velázquez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200 Tecamac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170,958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32,567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85,016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197 Texcoco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57,591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142,715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76 Xalostoc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123,391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51,109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98 Coacalco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41,665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111,690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231 Metepec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180 Chalco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71 Chalco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33,876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99,280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5417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198 San Rafael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983470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199 Tlalnepantla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36,866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14,317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931329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252 Atlacomulco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30,228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60853"/>
                  </a:ext>
                </a:extLst>
              </a:tr>
              <a:tr h="21460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2,170,026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353,601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chemeClr val="tx2"/>
                          </a:solidFill>
                        </a:rPr>
                        <a:t>1,029,818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chemeClr val="tx2"/>
                          </a:solidFill>
                        </a:rPr>
                        <a:t>2,449,515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>
                          <a:solidFill>
                            <a:schemeClr val="tx2"/>
                          </a:solidFill>
                        </a:rPr>
                        <a:t>42.0%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84560"/>
                  </a:ext>
                </a:extLst>
              </a:tr>
            </a:tbl>
          </a:graphicData>
        </a:graphic>
      </p:graphicFrame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5E41F88E-60C6-489F-BA6A-156DE436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549069"/>
              </p:ext>
            </p:extLst>
          </p:nvPr>
        </p:nvGraphicFramePr>
        <p:xfrm>
          <a:off x="216570" y="7186875"/>
          <a:ext cx="7314629" cy="121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9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80,309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80,309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4,239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44,693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2,250,335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357,840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1,074,511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2,541,495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7">
            <a:extLst>
              <a:ext uri="{FF2B5EF4-FFF2-40B4-BE49-F238E27FC236}">
                <a16:creationId xmlns:a16="http://schemas.microsoft.com/office/drawing/2014/main" id="{6AA4FD9D-B9C3-A09A-96BD-622FDB9AA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303062"/>
              </p:ext>
            </p:extLst>
          </p:nvPr>
        </p:nvGraphicFramePr>
        <p:xfrm>
          <a:off x="3808345" y="8209367"/>
          <a:ext cx="1199086" cy="1433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8">
            <a:extLst>
              <a:ext uri="{FF2B5EF4-FFF2-40B4-BE49-F238E27FC236}">
                <a16:creationId xmlns:a16="http://schemas.microsoft.com/office/drawing/2014/main" id="{67CB254A-E89D-6010-F901-90C50857AA15}"/>
              </a:ext>
            </a:extLst>
          </p:cNvPr>
          <p:cNvSpPr txBox="1"/>
          <p:nvPr/>
        </p:nvSpPr>
        <p:spPr>
          <a:xfrm>
            <a:off x="3808345" y="8750197"/>
            <a:ext cx="11990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F2241"/>
                </a:solidFill>
                <a:latin typeface="Montserrat"/>
              </a:rPr>
              <a:t>42.3%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095D664-9A84-8A22-F46F-74AF27DCBEC9}"/>
              </a:ext>
            </a:extLst>
          </p:cNvPr>
          <p:cNvSpPr txBox="1"/>
          <p:nvPr/>
        </p:nvSpPr>
        <p:spPr>
          <a:xfrm>
            <a:off x="4783705" y="8757935"/>
            <a:ext cx="1199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05B072-0CF3-E76B-904B-60FB3F2453A4}"/>
              </a:ext>
            </a:extLst>
          </p:cNvPr>
          <p:cNvSpPr txBox="1"/>
          <p:nvPr/>
        </p:nvSpPr>
        <p:spPr>
          <a:xfrm>
            <a:off x="1412971" y="8540398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/>
              <a:t>2,541,495 </a:t>
            </a:r>
            <a:br>
              <a:rPr sz="2400"/>
            </a:br>
            <a:r>
              <a:rPr sz="2400"/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40708780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590343"/>
              </p:ext>
            </p:extLst>
          </p:nvPr>
        </p:nvGraphicFramePr>
        <p:xfrm>
          <a:off x="144000" y="1137600"/>
          <a:ext cx="7340399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4338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200 Tecamac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71 Chalco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196 Fidel Velázquez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198 San Rafael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221 Toluca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57 La Quebrada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251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220 Toluca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13,563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6,616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53 Los Reyes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180 Chalco 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194 El Molinito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58 Las Margaritas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231 Metepec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68 Tulpetlac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72 Gustavo Baz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60 Tlanepantla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76 </a:t>
                      </a:r>
                      <a:r>
                        <a:rPr err="1"/>
                        <a:t>Xalostoc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197 Texcoco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891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98 Coacalco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051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252 Atlacomulco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629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199 Tlalnepantla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5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137,493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21,263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66,278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163,852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041124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80636B56-3B79-171A-4D2F-6A91470FA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11206"/>
              </p:ext>
            </p:extLst>
          </p:nvPr>
        </p:nvGraphicFramePr>
        <p:xfrm>
          <a:off x="158750" y="6930467"/>
          <a:ext cx="7325650" cy="121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6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4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Lomas Verdes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27,600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17,725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2,701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8,502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27,600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155,218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23,964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74,780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191,452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Chart 6">
            <a:extLst>
              <a:ext uri="{FF2B5EF4-FFF2-40B4-BE49-F238E27FC236}">
                <a16:creationId xmlns:a16="http://schemas.microsoft.com/office/drawing/2014/main" id="{6B1C9611-EFE5-9C43-E2D3-0182B0B49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611420"/>
              </p:ext>
            </p:extLst>
          </p:nvPr>
        </p:nvGraphicFramePr>
        <p:xfrm>
          <a:off x="3524249" y="8101183"/>
          <a:ext cx="1459921" cy="1460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Box 7">
            <a:extLst>
              <a:ext uri="{FF2B5EF4-FFF2-40B4-BE49-F238E27FC236}">
                <a16:creationId xmlns:a16="http://schemas.microsoft.com/office/drawing/2014/main" id="{CC8CC951-B6DE-36D4-19EA-62226E934FB0}"/>
              </a:ext>
            </a:extLst>
          </p:cNvPr>
          <p:cNvSpPr txBox="1"/>
          <p:nvPr/>
        </p:nvSpPr>
        <p:spPr>
          <a:xfrm>
            <a:off x="3524249" y="8625717"/>
            <a:ext cx="1459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F2241"/>
                </a:solidFill>
                <a:latin typeface="Montserrat"/>
              </a:rPr>
              <a:t>39.1%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06EC1136-E304-6ED0-982C-40E8DE3E7E2A}"/>
              </a:ext>
            </a:extLst>
          </p:cNvPr>
          <p:cNvSpPr txBox="1"/>
          <p:nvPr/>
        </p:nvSpPr>
        <p:spPr>
          <a:xfrm>
            <a:off x="4679949" y="8656776"/>
            <a:ext cx="1459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922005DE-6BED-E7B9-79C9-A1E67ED7C883}"/>
              </a:ext>
            </a:extLst>
          </p:cNvPr>
          <p:cNvSpPr txBox="1"/>
          <p:nvPr/>
        </p:nvSpPr>
        <p:spPr>
          <a:xfrm>
            <a:off x="1108109" y="8333612"/>
            <a:ext cx="2854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800"/>
              <a:t>191,452 </a:t>
            </a:r>
            <a:br>
              <a:rPr sz="2800"/>
            </a:br>
            <a:r>
              <a:rPr sz="2800"/>
              <a:t>Meta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462 en Hospitales, 6 en sede, 105 en UMF y 550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57341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462 </a:t>
            </a:r>
            <a:r>
              <a:rPr err="1"/>
              <a:t>en</a:t>
            </a:r>
            <a:r>
              <a:t> Hospitales</a:t>
            </a:r>
            <a:r>
              <a:rPr lang="es-MX"/>
              <a:t> (1 de 9)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196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33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083999"/>
          <a:ext cx="3456000" cy="239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781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2310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462 </a:t>
            </a:r>
            <a:r>
              <a:rPr err="1"/>
              <a:t>en</a:t>
            </a:r>
            <a:r>
              <a:t> Hospitales (</a:t>
            </a:r>
            <a:r>
              <a:rPr lang="es-MX"/>
              <a:t>2 de 9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952916"/>
              </p:ext>
            </p:extLst>
          </p:nvPr>
        </p:nvGraphicFramePr>
        <p:xfrm>
          <a:off x="360000" y="1569600"/>
          <a:ext cx="3456000" cy="400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72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2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Neurología</a:t>
                      </a:r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Pediatría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Urología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6096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  <a:r>
                        <a:rPr lang="es-MX"/>
                        <a:t>9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871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092130"/>
              </p:ext>
            </p:extLst>
          </p:nvPr>
        </p:nvGraphicFramePr>
        <p:xfrm>
          <a:off x="3956402" y="1569600"/>
          <a:ext cx="3456000" cy="22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</a:t>
                      </a:r>
                      <a:r>
                        <a:rPr err="1"/>
                        <a:t>Subzona</a:t>
                      </a:r>
                      <a:r>
                        <a:t> "</a:t>
                      </a:r>
                      <a:r>
                        <a:rPr err="1"/>
                        <a:t>Chicoloapan</a:t>
                      </a:r>
                      <a:r>
                        <a:t>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B0B0B848-429E-6128-83F2-CCB82530C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54195"/>
              </p:ext>
            </p:extLst>
          </p:nvPr>
        </p:nvGraphicFramePr>
        <p:xfrm>
          <a:off x="360000" y="5703450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194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9C59D92D-568E-8C67-5E65-FAF177452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601084"/>
              </p:ext>
            </p:extLst>
          </p:nvPr>
        </p:nvGraphicFramePr>
        <p:xfrm>
          <a:off x="3960000" y="5703450"/>
          <a:ext cx="3456000" cy="33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197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247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462 </a:t>
            </a:r>
            <a:r>
              <a:rPr err="1"/>
              <a:t>en</a:t>
            </a:r>
            <a:r>
              <a:t> Hospitales (</a:t>
            </a:r>
            <a:r>
              <a:rPr lang="es-MX"/>
              <a:t>3 de 9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79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997599"/>
          <a:ext cx="3456000" cy="2830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997599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4875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462 </a:t>
            </a:r>
            <a:r>
              <a:rPr err="1"/>
              <a:t>en</a:t>
            </a:r>
            <a:r>
              <a:t> Hospitales (</a:t>
            </a:r>
            <a:r>
              <a:rPr lang="es-MX"/>
              <a:t>4 de 9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06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49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71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24644"/>
              </p:ext>
            </p:extLst>
          </p:nvPr>
        </p:nvGraphicFramePr>
        <p:xfrm>
          <a:off x="360000" y="4237949"/>
          <a:ext cx="3456000" cy="292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98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011069"/>
              </p:ext>
            </p:extLst>
          </p:nvPr>
        </p:nvGraphicFramePr>
        <p:xfrm>
          <a:off x="3960000" y="4237949"/>
          <a:ext cx="3456000" cy="36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100630"/>
              </p:ext>
            </p:extLst>
          </p:nvPr>
        </p:nvGraphicFramePr>
        <p:xfrm>
          <a:off x="360000" y="734714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Especialidad</a:t>
                      </a: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6247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462 </a:t>
            </a:r>
            <a:r>
              <a:rPr err="1"/>
              <a:t>en</a:t>
            </a:r>
            <a:r>
              <a:t> Hospitales (</a:t>
            </a:r>
            <a:r>
              <a:rPr lang="es-MX"/>
              <a:t>5 de 9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Amanalco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473228"/>
              </p:ext>
            </p:extLst>
          </p:nvPr>
        </p:nvGraphicFramePr>
        <p:xfrm>
          <a:off x="3956402" y="5455333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Sn José Rincón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488533"/>
              </p:ext>
            </p:extLst>
          </p:nvPr>
        </p:nvGraphicFramePr>
        <p:xfrm>
          <a:off x="360000" y="40831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221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984477"/>
              </p:ext>
            </p:extLst>
          </p:nvPr>
        </p:nvGraphicFramePr>
        <p:xfrm>
          <a:off x="4008150" y="705287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Gineco</a:t>
                      </a:r>
                      <a:r>
                        <a:t> </a:t>
                      </a:r>
                      <a:r>
                        <a:rPr err="1"/>
                        <a:t>Obstetricia</a:t>
                      </a:r>
                      <a:r>
                        <a:t> C/</a:t>
                      </a:r>
                      <a:r>
                        <a:rPr lang="es-MX"/>
                        <a:t>MF</a:t>
                      </a:r>
                      <a:r>
                        <a:t> 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540787"/>
              </p:ext>
            </p:extLst>
          </p:nvPr>
        </p:nvGraphicFramePr>
        <p:xfrm>
          <a:off x="360000" y="5452911"/>
          <a:ext cx="3456000" cy="208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</a:t>
                      </a: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r>
                        <a:rPr lang="es-MX"/>
                        <a:t> Lomas Verdes</a:t>
                      </a: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Cirugía</a:t>
                      </a:r>
                      <a:r>
                        <a:t> </a:t>
                      </a:r>
                      <a:r>
                        <a:rPr err="1"/>
                        <a:t>Plástica</a:t>
                      </a:r>
                      <a:r>
                        <a:t> y </a:t>
                      </a:r>
                      <a:r>
                        <a:rPr err="1"/>
                        <a:t>Reconstructiva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Neurocirugía</a:t>
                      </a:r>
                      <a:endParaRPr/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Traumatología</a:t>
                      </a:r>
                      <a:r>
                        <a:t> y </a:t>
                      </a:r>
                      <a:r>
                        <a:rPr err="1"/>
                        <a:t>Ortopedia</a:t>
                      </a: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</a:t>
                      </a:r>
                      <a:r>
                        <a:rPr err="1"/>
                        <a:t>en</a:t>
                      </a:r>
                      <a:r>
                        <a:t> Estado </a:t>
                      </a:r>
                      <a:r>
                        <a:rPr err="1"/>
                        <a:t>Crítico</a:t>
                      </a:r>
                      <a:endParaRPr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9164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  <a:r>
                        <a:rPr lang="es-MX"/>
                        <a:t>4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E8F61A1E-1252-D40B-3A12-2B053D50F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73075"/>
              </p:ext>
            </p:extLst>
          </p:nvPr>
        </p:nvGraphicFramePr>
        <p:xfrm>
          <a:off x="3960000" y="1555948"/>
          <a:ext cx="3456000" cy="359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Oncológico Pediátrico "Ecatepec"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 Infantil y de la Adolescencia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968" y="684000"/>
            <a:ext cx="71224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</a:t>
            </a:r>
            <a:r>
              <a:rPr lang="es-MX"/>
              <a:t>,</a:t>
            </a:r>
            <a:r>
              <a:t>123 total </a:t>
            </a:r>
            <a:r>
              <a:rPr err="1"/>
              <a:t>especialistas</a:t>
            </a:r>
            <a:r>
              <a:t> </a:t>
            </a:r>
            <a:r>
              <a:rPr err="1"/>
              <a:t>contratados</a:t>
            </a:r>
            <a:r>
              <a:t> </a:t>
            </a:r>
            <a:r>
              <a:rPr err="1"/>
              <a:t>en</a:t>
            </a:r>
            <a:r>
              <a:t>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39517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</a:t>
            </a:r>
            <a:r>
              <a:rPr err="1"/>
              <a:t>Sede</a:t>
            </a:r>
            <a:r>
              <a:t> </a:t>
            </a:r>
            <a:r>
              <a:rPr err="1"/>
              <a:t>delegacional</a:t>
            </a:r>
            <a:r>
              <a:rPr lang="es-MX"/>
              <a:t> (6 de 9)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340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105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80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73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Coordinación Clínica de Medicina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873599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Detección y Diagnóstico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773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773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673597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673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825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825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977595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977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30332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105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7 de 9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46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469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773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773597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825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825595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725594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7725594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31454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105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8 de 9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973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973600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125599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125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277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277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177597"/>
          <a:ext cx="3456000" cy="9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177597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86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329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329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1123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30813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105 </a:t>
            </a:r>
            <a:r>
              <a:rPr err="1"/>
              <a:t>en</a:t>
            </a:r>
            <a:r>
              <a:t>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9 de 9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97360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97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180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125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198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125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513103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550 especialistas (sustitutos)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552703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636563"/>
              </p:ext>
            </p:extLst>
          </p:nvPr>
        </p:nvGraphicFramePr>
        <p:xfrm>
          <a:off x="360000" y="5599030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987142"/>
              </p:ext>
            </p:extLst>
          </p:nvPr>
        </p:nvGraphicFramePr>
        <p:xfrm>
          <a:off x="3960000" y="5599030"/>
          <a:ext cx="3456000" cy="2830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86200" y="9520870"/>
            <a:ext cx="72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err="1">
                <a:solidFill>
                  <a:schemeClr val="bg1"/>
                </a:solidFill>
              </a:rPr>
              <a:t>Sustitutos</a:t>
            </a:r>
            <a:r>
              <a:rPr>
                <a:solidFill>
                  <a:schemeClr val="bg1"/>
                </a:solidFill>
              </a:rPr>
              <a:t> se </a:t>
            </a:r>
            <a:r>
              <a:rPr err="1">
                <a:solidFill>
                  <a:schemeClr val="bg1"/>
                </a:solidFill>
              </a:rPr>
              <a:t>integran</a:t>
            </a:r>
            <a:r>
              <a:rPr>
                <a:solidFill>
                  <a:schemeClr val="bg1"/>
                </a:solidFill>
              </a:rPr>
              <a:t> a </a:t>
            </a:r>
            <a:r>
              <a:rPr err="1">
                <a:solidFill>
                  <a:schemeClr val="bg1"/>
                </a:solidFill>
              </a:rPr>
              <a:t>los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Listados</a:t>
            </a:r>
            <a:r>
              <a:rPr>
                <a:solidFill>
                  <a:schemeClr val="bg1"/>
                </a:solidFill>
              </a:rPr>
              <a:t> de Bolsa de </a:t>
            </a:r>
            <a:r>
              <a:rPr err="1">
                <a:solidFill>
                  <a:schemeClr val="bg1"/>
                </a:solidFill>
              </a:rPr>
              <a:t>Trabajo</a:t>
            </a:r>
            <a:r>
              <a:rPr>
                <a:solidFill>
                  <a:schemeClr val="bg1"/>
                </a:solidFill>
              </a:rPr>
              <a:t>, para </a:t>
            </a:r>
            <a:r>
              <a:rPr err="1">
                <a:solidFill>
                  <a:schemeClr val="bg1"/>
                </a:solidFill>
              </a:rPr>
              <a:t>cubrir</a:t>
            </a:r>
            <a:r>
              <a:rPr>
                <a:solidFill>
                  <a:schemeClr val="bg1"/>
                </a:solidFill>
              </a:rPr>
              <a:t> las </a:t>
            </a:r>
            <a:r>
              <a:rPr err="1">
                <a:solidFill>
                  <a:schemeClr val="bg1"/>
                </a:solidFill>
              </a:rPr>
              <a:t>futuras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vacantes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por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jubilación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renuncia</a:t>
            </a:r>
            <a:r>
              <a:rPr>
                <a:solidFill>
                  <a:schemeClr val="bg1"/>
                </a:solidFill>
              </a:rPr>
              <a:t>, </a:t>
            </a:r>
            <a:r>
              <a:rPr err="1">
                <a:solidFill>
                  <a:schemeClr val="bg1"/>
                </a:solidFill>
              </a:rPr>
              <a:t>fallecimiento</a:t>
            </a:r>
            <a:r>
              <a:rPr>
                <a:solidFill>
                  <a:schemeClr val="bg1"/>
                </a:solidFill>
              </a:rPr>
              <a:t>, etc., </a:t>
            </a:r>
            <a:r>
              <a:rPr err="1">
                <a:solidFill>
                  <a:schemeClr val="bg1"/>
                </a:solidFill>
              </a:rPr>
              <a:t>así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como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ausentismo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programado</a:t>
            </a:r>
            <a:r>
              <a:rPr>
                <a:solidFill>
                  <a:schemeClr val="bg1"/>
                </a:solidFill>
              </a:rPr>
              <a:t> y no </a:t>
            </a:r>
            <a:r>
              <a:rPr err="1">
                <a:solidFill>
                  <a:schemeClr val="bg1"/>
                </a:solidFill>
              </a:rPr>
              <a:t>programado</a:t>
            </a:r>
            <a:r>
              <a:rPr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(1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103145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3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8480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103147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886294"/>
              </p:ext>
            </p:extLst>
          </p:nvPr>
        </p:nvGraphicFramePr>
        <p:xfrm>
          <a:off x="1007999" y="1372972"/>
          <a:ext cx="5756399" cy="752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Psiquiatría</a:t>
                      </a:r>
                      <a:r>
                        <a:t> </a:t>
                      </a:r>
                      <a:r>
                        <a:rPr err="1"/>
                        <a:t>Infantil</a:t>
                      </a:r>
                      <a:r>
                        <a:t> y de la </a:t>
                      </a:r>
                      <a:r>
                        <a:rPr err="1"/>
                        <a:t>Adolescencia</a:t>
                      </a:r>
                      <a:endParaRPr/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Radioncología</a:t>
                      </a:r>
                      <a:r>
                        <a:t> Directa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Servicios de Sangre</a:t>
                      </a:r>
                      <a:endParaRPr/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766110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 marL="45720" marR="4572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3047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8533EBB-A0AA-06F1-FB10-87CB61CA7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033981"/>
              </p:ext>
            </p:extLst>
          </p:nvPr>
        </p:nvGraphicFramePr>
        <p:xfrm>
          <a:off x="287050" y="718702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2400" y="4374056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236117"/>
              </p:ext>
            </p:extLst>
          </p:nvPr>
        </p:nvGraphicFramePr>
        <p:xfrm>
          <a:off x="32400" y="1514574"/>
          <a:ext cx="36395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Medicina Interna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14,829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207209"/>
              </p:ext>
            </p:extLst>
          </p:nvPr>
        </p:nvGraphicFramePr>
        <p:xfrm>
          <a:off x="3992400" y="1888974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3,956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F4EDB3FA-B45A-19AC-30BF-570CD3BF750C}"/>
              </a:ext>
            </a:extLst>
          </p:cNvPr>
          <p:cNvSpPr txBox="1"/>
          <p:nvPr/>
        </p:nvSpPr>
        <p:spPr>
          <a:xfrm>
            <a:off x="642541" y="6401840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61E667E5-DDBA-1DBB-4E7E-18F6E5A472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0643097"/>
              </p:ext>
            </p:extLst>
          </p:nvPr>
        </p:nvGraphicFramePr>
        <p:xfrm>
          <a:off x="200058" y="511758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4D835993-76FA-3D4C-9F14-75D24439B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793784"/>
              </p:ext>
            </p:extLst>
          </p:nvPr>
        </p:nvGraphicFramePr>
        <p:xfrm>
          <a:off x="659906" y="5612120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7,740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6,495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1,690,397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u="none" strike="noStrike" cap="none">
                          <a:solidFill>
                            <a:srgbClr val="006455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1,182,284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15227A9D-DDDE-2ABD-8249-3679893CA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097563"/>
              </p:ext>
            </p:extLst>
          </p:nvPr>
        </p:nvGraphicFramePr>
        <p:xfrm>
          <a:off x="1735038" y="6684555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460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9C70B144-64AB-0087-7948-4B320920FD22}"/>
              </a:ext>
            </a:extLst>
          </p:cNvPr>
          <p:cNvSpPr txBox="1"/>
          <p:nvPr/>
        </p:nvSpPr>
        <p:spPr>
          <a:xfrm>
            <a:off x="1735038" y="743542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/>
              <a:t>En cada brigada participan 5 personas del IMSS.</a:t>
            </a:r>
            <a:endParaRPr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70DE60E-49B2-F2E8-C2C9-1E54845C389B}"/>
              </a:ext>
            </a:extLst>
          </p:cNvPr>
          <p:cNvSpPr txBox="1"/>
          <p:nvPr/>
        </p:nvSpPr>
        <p:spPr>
          <a:xfrm>
            <a:off x="480451" y="8413500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32,433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6A274F9-9674-99AF-F61F-C20EB91DD621}"/>
              </a:ext>
            </a:extLst>
          </p:cNvPr>
          <p:cNvSpPr txBox="1"/>
          <p:nvPr/>
        </p:nvSpPr>
        <p:spPr>
          <a:xfrm>
            <a:off x="3076400" y="8413500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50,225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605203-111D-EB8D-DBD5-0A2BB4FD8644}"/>
              </a:ext>
            </a:extLst>
          </p:cNvPr>
          <p:cNvSpPr txBox="1"/>
          <p:nvPr/>
        </p:nvSpPr>
        <p:spPr>
          <a:xfrm>
            <a:off x="5501338" y="8413500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40,021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BA8FE46F-8D27-9FD5-402D-9A263A9AEA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341" y="7800437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4BE973E6-0E45-0829-89AA-DD31D6BB6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968" y="7947468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BE53C885-A542-EAA9-3D75-D934B720CC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402" y="7782426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46,236	 Personal de Salud: 31,375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+96.4%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28593"/>
              </p:ext>
            </p:extLst>
          </p:nvPr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332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+31.2%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744966"/>
              </p:ext>
            </p:extLst>
          </p:nvPr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5,780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7,583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+17.5%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347225"/>
              </p:ext>
            </p:extLst>
          </p:nvPr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9,847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11,566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661684"/>
              </p:ext>
            </p:extLst>
          </p:nvPr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7,965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9,034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+104.1%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490660"/>
              </p:ext>
            </p:extLst>
          </p:nvPr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1,435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-12.5%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748464"/>
              </p:ext>
            </p:extLst>
          </p:nvPr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1,628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1,425</a:t>
                      </a:r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404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432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1,090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655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2,581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49,087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3,256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455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590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9,646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3,721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65,710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45232"/>
              </p:ext>
            </p:extLst>
          </p:nvPr>
        </p:nvGraphicFramePr>
        <p:xfrm>
          <a:off x="88974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(699,859)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Traumatismos</a:t>
                      </a:r>
                      <a:r>
                        <a:rPr sz="900" b="0">
                          <a:latin typeface="Montserrat"/>
                        </a:rPr>
                        <a:t> e </a:t>
                      </a:r>
                      <a:r>
                        <a:rPr sz="900" b="0" err="1">
                          <a:latin typeface="Montserrat"/>
                        </a:rPr>
                        <a:t>intoxicaciones</a:t>
                      </a:r>
                      <a:r>
                        <a:rPr sz="900" b="0">
                          <a:latin typeface="Montserrat"/>
                        </a:rPr>
                        <a:t>
(42,598)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(7,327)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(14,320)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(566)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(559,703)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(36,043)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Traumatismos</a:t>
                      </a:r>
                      <a:r>
                        <a:rPr sz="900" b="0">
                          <a:latin typeface="Montserrat"/>
                        </a:rPr>
                        <a:t> y </a:t>
                      </a:r>
                      <a:r>
                        <a:rPr sz="900" b="0" err="1">
                          <a:latin typeface="Montserrat"/>
                        </a:rPr>
                        <a:t>envenenamientos</a:t>
                      </a:r>
                      <a:r>
                        <a:rPr sz="900" b="0">
                          <a:latin typeface="Montserrat"/>
                        </a:rPr>
                        <a:t>
(5,809)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(7,628)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(503)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(168,188)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(35,692)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Cirugía</a:t>
                      </a:r>
                      <a:r>
                        <a:rPr sz="900" b="0">
                          <a:latin typeface="Montserrat"/>
                        </a:rPr>
                        <a:t> de Hernias (</a:t>
                      </a:r>
                      <a:r>
                        <a:rPr sz="900" b="0" err="1">
                          <a:latin typeface="Montserrat"/>
                        </a:rPr>
                        <a:t>Hernioplastía</a:t>
                      </a:r>
                      <a:r>
                        <a:rPr sz="900" b="0">
                          <a:latin typeface="Montserrat"/>
                        </a:rPr>
                        <a:t>)
(4,246)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Insuficiencia</a:t>
                      </a:r>
                      <a:r>
                        <a:rPr sz="900" b="0">
                          <a:latin typeface="Montserrat"/>
                        </a:rPr>
                        <a:t> renal
(6,095)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(386)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(160,461)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(24,352)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(3,153)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(4,874)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err="1">
                          <a:latin typeface="Montserrat"/>
                        </a:rPr>
                        <a:t>Insuficiencia</a:t>
                      </a:r>
                      <a:r>
                        <a:rPr sz="900" b="0">
                          <a:latin typeface="Montserrat"/>
                        </a:rPr>
                        <a:t> renal
(376)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(100,566)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(23,179)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(2,739)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(4,282)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(329)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Recetas</a:t>
            </a:r>
            <a:r>
              <a:t> </a:t>
            </a:r>
            <a:r>
              <a:rPr err="1"/>
              <a:t>surtidas</a:t>
            </a:r>
            <a:r>
              <a:t> y </a:t>
            </a:r>
            <a:r>
              <a:rPr err="1"/>
              <a:t>negadas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758" y="6683821"/>
            <a:ext cx="41440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rPr sz="1800" b="1" err="1"/>
              <a:t>Recetas</a:t>
            </a:r>
            <a:r>
              <a:rPr sz="1800" b="1"/>
              <a:t> </a:t>
            </a:r>
            <a:r>
              <a:rPr sz="1800" b="1" err="1"/>
              <a:t>manuales</a:t>
            </a:r>
            <a:r>
              <a:rPr sz="1800" b="1"/>
              <a:t> y </a:t>
            </a:r>
            <a:r>
              <a:rPr sz="1800" b="1" err="1"/>
              <a:t>electrónicas</a:t>
            </a:r>
            <a:endParaRPr sz="1800" b="1"/>
          </a:p>
        </p:txBody>
      </p:sp>
      <p:cxnSp>
        <p:nvCxnSpPr>
          <p:cNvPr id="9" name="Connector 8"/>
          <p:cNvCxnSpPr/>
          <p:nvPr/>
        </p:nvCxnSpPr>
        <p:spPr>
          <a:xfrm>
            <a:off x="314758" y="7049581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1268"/>
              </p:ext>
            </p:extLst>
          </p:nvPr>
        </p:nvGraphicFramePr>
        <p:xfrm>
          <a:off x="497638" y="7323901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1,442,375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8,688,393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698,608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9,818,585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4DF-241E-4FFE-716A-5A71478EB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77313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048625"/>
            <a:ext cx="2205732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rPr sz="1800" err="1"/>
              <a:t>Piezas</a:t>
            </a:r>
            <a:r>
              <a:rPr sz="1800"/>
              <a:t> </a:t>
            </a:r>
            <a:r>
              <a:rPr sz="1800" err="1"/>
              <a:t>consumidas</a:t>
            </a:r>
            <a:endParaRPr sz="1800"/>
          </a:p>
        </p:txBody>
      </p:sp>
      <p:cxnSp>
        <p:nvCxnSpPr>
          <p:cNvPr id="5" name="Connector 4"/>
          <p:cNvCxnSpPr/>
          <p:nvPr/>
        </p:nvCxnSpPr>
        <p:spPr>
          <a:xfrm>
            <a:off x="180000" y="1318626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491426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5218713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err="1"/>
              <a:t>Medicamentos</a:t>
            </a:r>
            <a:r>
              <a:t> con mayor </a:t>
            </a:r>
            <a:r>
              <a:rPr err="1"/>
              <a:t>demanda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80000" y="5488713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21775"/>
              </p:ext>
            </p:extLst>
          </p:nvPr>
        </p:nvGraphicFramePr>
        <p:xfrm>
          <a:off x="180000" y="5668713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1,433,626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858,481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739,953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560,846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551,610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525,860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488,590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457,663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450,835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426,363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</a:t>
            </a:r>
            <a:r>
              <a:rPr lang="es-MX"/>
              <a:t>1</a:t>
            </a:r>
            <a:r>
              <a:t> de </a:t>
            </a:r>
            <a:r>
              <a:rPr lang="es-MX"/>
              <a:t>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2650410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47" name="Google Shape;394;p15">
            <a:extLst>
              <a:ext uri="{FF2B5EF4-FFF2-40B4-BE49-F238E27FC236}">
                <a16:creationId xmlns:a16="http://schemas.microsoft.com/office/drawing/2014/main" id="{32C6B40A-C0B8-9A8E-ACD8-DA991B563852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" name="Google Shape;395;p15">
            <a:extLst>
              <a:ext uri="{FF2B5EF4-FFF2-40B4-BE49-F238E27FC236}">
                <a16:creationId xmlns:a16="http://schemas.microsoft.com/office/drawing/2014/main" id="{3F9172B9-C82F-F250-18B2-584D6C6508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42122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396;p15">
            <a:extLst>
              <a:ext uri="{FF2B5EF4-FFF2-40B4-BE49-F238E27FC236}">
                <a16:creationId xmlns:a16="http://schemas.microsoft.com/office/drawing/2014/main" id="{24190F7C-1E7E-759C-A948-4F01FA846B39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CuadroTexto 10">
            <a:extLst>
              <a:ext uri="{FF2B5EF4-FFF2-40B4-BE49-F238E27FC236}">
                <a16:creationId xmlns:a16="http://schemas.microsoft.com/office/drawing/2014/main" id="{43E2D57F-6032-5767-D91F-679E398A6800}"/>
              </a:ext>
            </a:extLst>
          </p:cNvPr>
          <p:cNvSpPr txBox="1"/>
          <p:nvPr/>
        </p:nvSpPr>
        <p:spPr>
          <a:xfrm>
            <a:off x="-1060564" y="3022765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55" name="Imagen 5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5348BD09-4FB9-03CC-B8F5-1BD25D07A3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44782" y="3435969"/>
            <a:ext cx="875508" cy="854908"/>
          </a:xfrm>
          <a:prstGeom prst="rect">
            <a:avLst/>
          </a:prstGeom>
        </p:spPr>
      </p:pic>
      <p:sp>
        <p:nvSpPr>
          <p:cNvPr id="57" name="CuadroTexto 12">
            <a:extLst>
              <a:ext uri="{FF2B5EF4-FFF2-40B4-BE49-F238E27FC236}">
                <a16:creationId xmlns:a16="http://schemas.microsoft.com/office/drawing/2014/main" id="{CB6FCF21-8709-08E6-6945-AFBFDBB29992}"/>
              </a:ext>
            </a:extLst>
          </p:cNvPr>
          <p:cNvSpPr txBox="1"/>
          <p:nvPr/>
        </p:nvSpPr>
        <p:spPr>
          <a:xfrm>
            <a:off x="-1060564" y="3435969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8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59" name="Imagen 58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DA6AA003-1B44-613C-2A17-FE4C2AD55E6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44782" y="4409534"/>
            <a:ext cx="875508" cy="854908"/>
          </a:xfrm>
          <a:prstGeom prst="rect">
            <a:avLst/>
          </a:prstGeom>
        </p:spPr>
      </p:pic>
      <p:sp>
        <p:nvSpPr>
          <p:cNvPr id="61" name="CuadroTexto 12">
            <a:extLst>
              <a:ext uri="{FF2B5EF4-FFF2-40B4-BE49-F238E27FC236}">
                <a16:creationId xmlns:a16="http://schemas.microsoft.com/office/drawing/2014/main" id="{682DFADE-75C7-37D5-9749-945043D499BD}"/>
              </a:ext>
            </a:extLst>
          </p:cNvPr>
          <p:cNvSpPr txBox="1"/>
          <p:nvPr/>
        </p:nvSpPr>
        <p:spPr>
          <a:xfrm>
            <a:off x="-1060564" y="444994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63" name="CuadroTexto 10">
            <a:extLst>
              <a:ext uri="{FF2B5EF4-FFF2-40B4-BE49-F238E27FC236}">
                <a16:creationId xmlns:a16="http://schemas.microsoft.com/office/drawing/2014/main" id="{AE2EFA66-FA59-163A-1626-51C3DA2D4561}"/>
              </a:ext>
            </a:extLst>
          </p:cNvPr>
          <p:cNvSpPr txBox="1"/>
          <p:nvPr/>
        </p:nvSpPr>
        <p:spPr>
          <a:xfrm>
            <a:off x="-1060564" y="539231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65" name="Imagen 6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D0AA4419-1BDF-CB2B-7ED6-FEA8EC1FBB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42855" y="5775874"/>
            <a:ext cx="875508" cy="854908"/>
          </a:xfrm>
          <a:prstGeom prst="rect">
            <a:avLst/>
          </a:prstGeom>
        </p:spPr>
      </p:pic>
      <p:sp>
        <p:nvSpPr>
          <p:cNvPr id="67" name="CuadroTexto 12">
            <a:extLst>
              <a:ext uri="{FF2B5EF4-FFF2-40B4-BE49-F238E27FC236}">
                <a16:creationId xmlns:a16="http://schemas.microsoft.com/office/drawing/2014/main" id="{718A8A10-F42C-7B82-DFB1-F9AA2511AD1A}"/>
              </a:ext>
            </a:extLst>
          </p:cNvPr>
          <p:cNvSpPr txBox="1"/>
          <p:nvPr/>
        </p:nvSpPr>
        <p:spPr>
          <a:xfrm>
            <a:off x="-1060564" y="5839758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Resonancias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Magnéticas</a:t>
            </a:r>
          </a:p>
        </p:txBody>
      </p:sp>
      <p:sp>
        <p:nvSpPr>
          <p:cNvPr id="69" name="CuadroTexto 10">
            <a:extLst>
              <a:ext uri="{FF2B5EF4-FFF2-40B4-BE49-F238E27FC236}">
                <a16:creationId xmlns:a16="http://schemas.microsoft.com/office/drawing/2014/main" id="{B85073DC-A9EF-825F-CB79-4F5233F2CB6E}"/>
              </a:ext>
            </a:extLst>
          </p:cNvPr>
          <p:cNvSpPr txBox="1"/>
          <p:nvPr/>
        </p:nvSpPr>
        <p:spPr>
          <a:xfrm>
            <a:off x="-1028285" y="1675120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71" name="Imagen 7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21C20FF1-F6D1-9E12-75FF-2B82294A55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39471" y="2031652"/>
            <a:ext cx="875508" cy="854908"/>
          </a:xfrm>
          <a:prstGeom prst="rect">
            <a:avLst/>
          </a:prstGeom>
        </p:spPr>
      </p:pic>
      <p:sp>
        <p:nvSpPr>
          <p:cNvPr id="73" name="CuadroTexto 12">
            <a:extLst>
              <a:ext uri="{FF2B5EF4-FFF2-40B4-BE49-F238E27FC236}">
                <a16:creationId xmlns:a16="http://schemas.microsoft.com/office/drawing/2014/main" id="{0AF7041D-A22D-4E85-CB6E-CF7CFDE3EC2D}"/>
              </a:ext>
            </a:extLst>
          </p:cNvPr>
          <p:cNvSpPr txBox="1"/>
          <p:nvPr/>
        </p:nvSpPr>
        <p:spPr>
          <a:xfrm>
            <a:off x="-1060564" y="2195342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UMF</a:t>
            </a:r>
          </a:p>
        </p:txBody>
      </p:sp>
      <p:graphicFrame>
        <p:nvGraphicFramePr>
          <p:cNvPr id="75" name="Table 16">
            <a:extLst>
              <a:ext uri="{FF2B5EF4-FFF2-40B4-BE49-F238E27FC236}">
                <a16:creationId xmlns:a16="http://schemas.microsoft.com/office/drawing/2014/main" id="{96CEF22C-CD39-08A9-E4BC-17943A799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350884"/>
              </p:ext>
            </p:extLst>
          </p:nvPr>
        </p:nvGraphicFramePr>
        <p:xfrm>
          <a:off x="1785600" y="1509496"/>
          <a:ext cx="5295600" cy="1956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56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Reestructuración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edificio</a:t>
                      </a:r>
                      <a:r>
                        <a:rPr sz="1000">
                          <a:latin typeface="Montserrat"/>
                        </a:rPr>
                        <a:t> principal y </a:t>
                      </a:r>
                      <a:r>
                        <a:rPr sz="1000" err="1">
                          <a:latin typeface="Montserrat"/>
                        </a:rPr>
                        <a:t>edificio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área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gobierno</a:t>
                      </a:r>
                      <a:r>
                        <a:rPr sz="1000">
                          <a:latin typeface="Montserrat"/>
                        </a:rPr>
                        <a:t> del HGZ No. 98, </a:t>
                      </a:r>
                      <a:r>
                        <a:rPr sz="1000" err="1">
                          <a:latin typeface="Montserrat"/>
                        </a:rPr>
                        <a:t>Coacalco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$634.7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93 Cerro Gordo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$532.7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2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Construcción</a:t>
                      </a:r>
                      <a:r>
                        <a:rPr sz="1000">
                          <a:latin typeface="Montserrat"/>
                        </a:rPr>
                        <a:t> y </a:t>
                      </a:r>
                      <a:r>
                        <a:rPr sz="1000" err="1">
                          <a:latin typeface="Montserrat"/>
                        </a:rPr>
                        <a:t>Equipamiento</a:t>
                      </a:r>
                      <a:r>
                        <a:rPr sz="1000">
                          <a:latin typeface="Montserrat"/>
                        </a:rPr>
                        <a:t> del Centro </a:t>
                      </a:r>
                      <a:r>
                        <a:rPr sz="1000" err="1">
                          <a:latin typeface="Montserrat"/>
                        </a:rPr>
                        <a:t>Oncológico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Hospital de </a:t>
                      </a:r>
                      <a:r>
                        <a:rPr sz="1000" err="1">
                          <a:latin typeface="Montserrat"/>
                        </a:rPr>
                        <a:t>Metepec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$250.0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2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Instalación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dispositivos</a:t>
                      </a:r>
                      <a:r>
                        <a:rPr sz="1000">
                          <a:latin typeface="Montserrat"/>
                        </a:rPr>
                        <a:t> de control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pilotes</a:t>
                      </a:r>
                      <a:r>
                        <a:rPr sz="1000">
                          <a:latin typeface="Montserrat"/>
                        </a:rPr>
                        <a:t> de 5 </a:t>
                      </a:r>
                      <a:r>
                        <a:rPr sz="1000" err="1">
                          <a:latin typeface="Montserrat"/>
                        </a:rPr>
                        <a:t>edificios</a:t>
                      </a:r>
                      <a:r>
                        <a:rPr sz="1000">
                          <a:latin typeface="Montserrat"/>
                        </a:rPr>
                        <a:t> del HGR No. 196, Ecatepec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$70.5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Velatorio</a:t>
                      </a:r>
                      <a:r>
                        <a:rPr sz="1000">
                          <a:latin typeface="Montserrat"/>
                        </a:rPr>
                        <a:t> de 4 </a:t>
                      </a:r>
                      <a:r>
                        <a:rPr sz="1000" err="1">
                          <a:latin typeface="Montserrat"/>
                        </a:rPr>
                        <a:t>capillas</a:t>
                      </a:r>
                      <a:r>
                        <a:rPr sz="1000">
                          <a:latin typeface="Montserrat"/>
                        </a:rPr>
                        <a:t>, Santiago </a:t>
                      </a:r>
                      <a:r>
                        <a:rPr sz="1000" err="1">
                          <a:latin typeface="Montserrat"/>
                        </a:rPr>
                        <a:t>Tlaxomulco</a:t>
                      </a:r>
                      <a:r>
                        <a:rPr sz="1000">
                          <a:latin typeface="Montserrat"/>
                        </a:rPr>
                        <a:t>, Toluca</a:t>
                      </a:r>
                    </a:p>
                  </a:txBody>
                  <a:tcPr marL="3600" marR="3600" marT="3600" marB="36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$45.8</a:t>
                      </a:r>
                    </a:p>
                  </a:txBody>
                  <a:tcPr marL="3600" marR="3600" marT="3600" marB="36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2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Demolición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edificio</a:t>
                      </a:r>
                      <a:r>
                        <a:rPr sz="1000">
                          <a:latin typeface="Montserrat"/>
                        </a:rPr>
                        <a:t> del </a:t>
                      </a:r>
                      <a:r>
                        <a:rPr sz="1000" err="1">
                          <a:latin typeface="Montserrat"/>
                        </a:rPr>
                        <a:t>área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farmacia</a:t>
                      </a:r>
                      <a:r>
                        <a:rPr sz="1000">
                          <a:latin typeface="Montserrat"/>
                        </a:rPr>
                        <a:t> HGZ/MF No. 68, Ecatepec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$1.4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8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$1,</a:t>
                      </a:r>
                      <a:r>
                        <a:rPr lang="es-MX" sz="1000"/>
                        <a:t>535.1</a:t>
                      </a:r>
                      <a:endParaRPr sz="1000"/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7" name="Table 17">
            <a:extLst>
              <a:ext uri="{FF2B5EF4-FFF2-40B4-BE49-F238E27FC236}">
                <a16:creationId xmlns:a16="http://schemas.microsoft.com/office/drawing/2014/main" id="{1B4686DC-BAD7-ACD1-913A-93D11BE4A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224209"/>
              </p:ext>
            </p:extLst>
          </p:nvPr>
        </p:nvGraphicFramePr>
        <p:xfrm>
          <a:off x="1785600" y="3547222"/>
          <a:ext cx="5295600" cy="3651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7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Conservación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$1,248.6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5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HGZ No. 68 Tultepac y HGZMF No. 76 Xalostoc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$157.7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5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residencias </a:t>
                      </a:r>
                      <a:r>
                        <a:rPr sz="1000" err="1">
                          <a:latin typeface="Montserrat"/>
                        </a:rPr>
                        <a:t>médicas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29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Estado de México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91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terapia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intensiva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8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 (HGR  No.196 Ecatepec de Morelos, HGR No. 200 </a:t>
                      </a:r>
                      <a:r>
                        <a:rPr sz="1000" err="1">
                          <a:latin typeface="Montserrat"/>
                        </a:rPr>
                        <a:t>Tecámac</a:t>
                      </a:r>
                      <a:r>
                        <a:rPr sz="1000">
                          <a:latin typeface="Montserrat"/>
                        </a:rPr>
                        <a:t>, HGR No.72 Tlalnepantla, HGZ No.194 Naucalpan, HGZ No. 58 Tlalnepantla, HGR No. 251 </a:t>
                      </a:r>
                      <a:r>
                        <a:rPr sz="1000" err="1">
                          <a:latin typeface="Montserrat"/>
                        </a:rPr>
                        <a:t>Metepec</a:t>
                      </a:r>
                      <a:r>
                        <a:rPr sz="1000">
                          <a:latin typeface="Montserrat"/>
                        </a:rPr>
                        <a:t>, HGR No. 220 Toluca, H. de Traum. y </a:t>
                      </a:r>
                      <a:r>
                        <a:rPr sz="1000" err="1">
                          <a:latin typeface="Montserrat"/>
                        </a:rPr>
                        <a:t>Ortopedia</a:t>
                      </a:r>
                      <a:r>
                        <a:rPr sz="1000">
                          <a:latin typeface="Montserrat"/>
                        </a:rPr>
                        <a:t>. L. Verdes Naucalpan)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$131.1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5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accesibilidad</a:t>
                      </a:r>
                      <a:r>
                        <a:rPr sz="1000">
                          <a:latin typeface="Montserrat"/>
                        </a:rPr>
                        <a:t> (</a:t>
                      </a:r>
                      <a:r>
                        <a:rPr sz="1000" err="1">
                          <a:latin typeface="Montserrat"/>
                        </a:rPr>
                        <a:t>rampas</a:t>
                      </a:r>
                      <a:r>
                        <a:rPr sz="1000">
                          <a:latin typeface="Montserrat"/>
                        </a:rPr>
                        <a:t>)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18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, Estado de México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$39.0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6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Atención Médica Continua en 4 unidades (UMF No.55 Zumpango, UMF No.70 Ixtapaluca, UMF No.74 Tlalmanalco, UMF No.84 Chimalhuacán)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$17.9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4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Intervención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áreas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mejora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en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Subdelegacion</a:t>
                      </a:r>
                      <a:r>
                        <a:rPr sz="1000">
                          <a:latin typeface="Montserrat"/>
                        </a:rPr>
                        <a:t> Toluca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6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3 unidades (UMAA  No.199 Tlalnepantla, HGR No.251 Metepec, UMAA No. 231 Metepec)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$8.5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5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UMAE HTO Lomas Verdes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4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sz="1000"/>
                        <a:t>$1,763.9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79" name="Table 19">
            <a:extLst>
              <a:ext uri="{FF2B5EF4-FFF2-40B4-BE49-F238E27FC236}">
                <a16:creationId xmlns:a16="http://schemas.microsoft.com/office/drawing/2014/main" id="{654BDA68-E7C3-775F-0DCD-7AFB92F19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320474"/>
              </p:ext>
            </p:extLst>
          </p:nvPr>
        </p:nvGraphicFramePr>
        <p:xfrm>
          <a:off x="1785600" y="8847543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</a:t>
                      </a:r>
                      <a:r>
                        <a:rPr lang="es-MX"/>
                        <a:t>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Adquisición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latin typeface="Montserrat"/>
                        </a:rPr>
                        <a:t>$92.7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" name="TextBox 20">
            <a:extLst>
              <a:ext uri="{FF2B5EF4-FFF2-40B4-BE49-F238E27FC236}">
                <a16:creationId xmlns:a16="http://schemas.microsoft.com/office/drawing/2014/main" id="{E30125D1-F5B4-3F12-E9C1-28C5D17827BF}"/>
              </a:ext>
            </a:extLst>
          </p:cNvPr>
          <p:cNvSpPr txBox="1"/>
          <p:nvPr/>
        </p:nvSpPr>
        <p:spPr>
          <a:xfrm>
            <a:off x="6023682" y="878400"/>
            <a:ext cx="8082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</a:t>
            </a:r>
            <a:r>
              <a:rPr lang="es-MX"/>
              <a:t>608.1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  <p:graphicFrame>
        <p:nvGraphicFramePr>
          <p:cNvPr id="83" name="Table 16">
            <a:extLst>
              <a:ext uri="{FF2B5EF4-FFF2-40B4-BE49-F238E27FC236}">
                <a16:creationId xmlns:a16="http://schemas.microsoft.com/office/drawing/2014/main" id="{06A73C77-DE75-9E1A-74DF-49CB05AC8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5202"/>
              </p:ext>
            </p:extLst>
          </p:nvPr>
        </p:nvGraphicFramePr>
        <p:xfrm>
          <a:off x="1785600" y="7283852"/>
          <a:ext cx="5295600" cy="1478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73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sz="1000"/>
                        <a:t>Equipo Médico</a:t>
                      </a:r>
                      <a:r>
                        <a:rPr sz="1000"/>
                        <a:t> 2025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56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s-MX" sz="1000">
                          <a:latin typeface="Montserrat"/>
                        </a:rPr>
                        <a:t>Adquisición de </a:t>
                      </a:r>
                      <a:r>
                        <a:rPr lang="es-MX" sz="1000" b="1">
                          <a:latin typeface="Montserrat"/>
                        </a:rPr>
                        <a:t>37  piezas </a:t>
                      </a:r>
                      <a:r>
                        <a:rPr lang="es-MX" sz="1000">
                          <a:latin typeface="Montserrat"/>
                        </a:rPr>
                        <a:t>de equipo médico: 2 congeladores horizontales de refrigerantes para vacunas, 8 refrigeradores para vacunas, 14 refrigeradores congeladores de 5.4 pies cúbicos, 2 monitores de signos vitales para el traslado del paciente (con protección antimagnética), 2 unidades de anestesia básica (con protección antimagnética), 2 resonancias magnéticas, 4 tomógrafos axiales computarizados de alta resolución, 3 </a:t>
                      </a:r>
                      <a:r>
                        <a:rPr lang="es-MX" sz="1000" err="1">
                          <a:latin typeface="Montserrat"/>
                        </a:rPr>
                        <a:t>mastógrafos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latin typeface="Montserrat"/>
                        </a:rPr>
                        <a:t>$</a:t>
                      </a:r>
                      <a:r>
                        <a:rPr lang="es-MX" sz="1000" b="0">
                          <a:latin typeface="Montserrat"/>
                        </a:rPr>
                        <a:t>216.4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95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11" name="Google Shape;394;p15">
            <a:extLst>
              <a:ext uri="{FF2B5EF4-FFF2-40B4-BE49-F238E27FC236}">
                <a16:creationId xmlns:a16="http://schemas.microsoft.com/office/drawing/2014/main" id="{293C56C3-CEF4-E7FF-00D0-2D470BB87979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Google Shape;396;p15">
            <a:extLst>
              <a:ext uri="{FF2B5EF4-FFF2-40B4-BE49-F238E27FC236}">
                <a16:creationId xmlns:a16="http://schemas.microsoft.com/office/drawing/2014/main" id="{38D3DB20-F3B0-319F-5077-B64714125FB4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395;p15">
            <a:extLst>
              <a:ext uri="{FF2B5EF4-FFF2-40B4-BE49-F238E27FC236}">
                <a16:creationId xmlns:a16="http://schemas.microsoft.com/office/drawing/2014/main" id="{CB118B4F-38A9-BF5A-B122-4084AC405613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CuadroTexto 9">
            <a:extLst>
              <a:ext uri="{FF2B5EF4-FFF2-40B4-BE49-F238E27FC236}">
                <a16:creationId xmlns:a16="http://schemas.microsoft.com/office/drawing/2014/main" id="{C271D592-606B-B3C1-A667-0A1B39436606}"/>
              </a:ext>
            </a:extLst>
          </p:cNvPr>
          <p:cNvSpPr txBox="1"/>
          <p:nvPr/>
        </p:nvSpPr>
        <p:spPr>
          <a:xfrm>
            <a:off x="-1052116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26" name="Imagen 2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40370BD-99D7-6DEF-D5B5-4096BC250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56" y="2027418"/>
            <a:ext cx="872667" cy="849944"/>
          </a:xfrm>
          <a:prstGeom prst="rect">
            <a:avLst/>
          </a:prstGeom>
        </p:spPr>
      </p:pic>
      <p:sp>
        <p:nvSpPr>
          <p:cNvPr id="28" name="CuadroTexto 11">
            <a:extLst>
              <a:ext uri="{FF2B5EF4-FFF2-40B4-BE49-F238E27FC236}">
                <a16:creationId xmlns:a16="http://schemas.microsoft.com/office/drawing/2014/main" id="{DAEB39FA-0259-849F-0FA7-C4A6B8232516}"/>
              </a:ext>
            </a:extLst>
          </p:cNvPr>
          <p:cNvSpPr txBox="1"/>
          <p:nvPr/>
        </p:nvSpPr>
        <p:spPr>
          <a:xfrm>
            <a:off x="-1081330" y="213569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30" name="Imagen 2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038A236C-CB18-77AF-BA41-55FB44091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49" y="2938439"/>
            <a:ext cx="872667" cy="849944"/>
          </a:xfrm>
          <a:prstGeom prst="rect">
            <a:avLst/>
          </a:prstGeom>
        </p:spPr>
      </p:pic>
      <p:sp>
        <p:nvSpPr>
          <p:cNvPr id="32" name="CuadroTexto 11">
            <a:extLst>
              <a:ext uri="{FF2B5EF4-FFF2-40B4-BE49-F238E27FC236}">
                <a16:creationId xmlns:a16="http://schemas.microsoft.com/office/drawing/2014/main" id="{88B6D84E-652E-1388-C57E-3AC0B04B4EE5}"/>
              </a:ext>
            </a:extLst>
          </p:cNvPr>
          <p:cNvSpPr txBox="1"/>
          <p:nvPr/>
        </p:nvSpPr>
        <p:spPr>
          <a:xfrm>
            <a:off x="-1082824" y="2982101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</a:rPr>
              <a:t>Hospitales</a:t>
            </a:r>
            <a:r>
              <a:rPr lang="en-US" sz="800" b="1">
                <a:solidFill>
                  <a:srgbClr val="A42145"/>
                </a:solidFill>
                <a:latin typeface="Montserrat"/>
              </a:rPr>
              <a:t> 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de </a:t>
            </a:r>
            <a:r>
              <a:rPr lang="en-US" sz="800" b="1" err="1">
                <a:solidFill>
                  <a:srgbClr val="A42145"/>
                </a:solidFill>
                <a:latin typeface="Montserrat"/>
              </a:rPr>
              <a:t>Rescate</a:t>
            </a:r>
            <a:endParaRPr lang="en-US" err="1"/>
          </a:p>
        </p:txBody>
      </p:sp>
      <p:pic>
        <p:nvPicPr>
          <p:cNvPr id="34" name="Imagen 3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75D0B06F-CD2E-05EA-946F-A63C932FE4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56" y="3849460"/>
            <a:ext cx="872667" cy="849944"/>
          </a:xfrm>
          <a:prstGeom prst="rect">
            <a:avLst/>
          </a:prstGeom>
        </p:spPr>
      </p:pic>
      <p:sp>
        <p:nvSpPr>
          <p:cNvPr id="36" name="CuadroTexto 11">
            <a:extLst>
              <a:ext uri="{FF2B5EF4-FFF2-40B4-BE49-F238E27FC236}">
                <a16:creationId xmlns:a16="http://schemas.microsoft.com/office/drawing/2014/main" id="{035F0B3D-062E-6FBB-39AF-9AF20C488DC6}"/>
              </a:ext>
            </a:extLst>
          </p:cNvPr>
          <p:cNvSpPr txBox="1"/>
          <p:nvPr/>
        </p:nvSpPr>
        <p:spPr>
          <a:xfrm>
            <a:off x="-1090927" y="3972339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</a:p>
        </p:txBody>
      </p:sp>
      <p:graphicFrame>
        <p:nvGraphicFramePr>
          <p:cNvPr id="38" name="Table 14">
            <a:extLst>
              <a:ext uri="{FF2B5EF4-FFF2-40B4-BE49-F238E27FC236}">
                <a16:creationId xmlns:a16="http://schemas.microsoft.com/office/drawing/2014/main" id="{F65EE70F-A8C8-896C-7505-372F92A76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949568"/>
              </p:ext>
            </p:extLst>
          </p:nvPr>
        </p:nvGraphicFramePr>
        <p:xfrm>
          <a:off x="1785600" y="1584002"/>
          <a:ext cx="5396400" cy="2343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1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r>
                        <a:rPr sz="1000"/>
                        <a:t> 2026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</a:t>
                      </a:r>
                      <a:r>
                        <a:rPr sz="1000" err="1"/>
                        <a:t>mdp</a:t>
                      </a:r>
                      <a:r>
                        <a:rPr sz="1000"/>
                        <a:t>)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260 camas, </a:t>
                      </a:r>
                      <a:r>
                        <a:rPr sz="1000" err="1">
                          <a:latin typeface="Montserrat"/>
                        </a:rPr>
                        <a:t>Chimalhuacán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$3,690.0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</a:t>
                      </a:r>
                      <a:r>
                        <a:rPr sz="1000" err="1">
                          <a:latin typeface="Montserrat"/>
                        </a:rPr>
                        <a:t>Oncológico</a:t>
                      </a:r>
                      <a:r>
                        <a:rPr sz="1000">
                          <a:latin typeface="Montserrat"/>
                        </a:rPr>
                        <a:t> de Ecatepec, 40 camas (</a:t>
                      </a:r>
                      <a:r>
                        <a:rPr sz="1000" err="1">
                          <a:latin typeface="Montserrat"/>
                        </a:rPr>
                        <a:t>Rescate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$1,500.0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1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de </a:t>
                      </a:r>
                      <a:r>
                        <a:rPr sz="1000" err="1">
                          <a:latin typeface="Montserrat"/>
                        </a:rPr>
                        <a:t>Subzona</a:t>
                      </a:r>
                      <a:r>
                        <a:rPr sz="1000">
                          <a:latin typeface="Montserrat"/>
                        </a:rPr>
                        <a:t>, </a:t>
                      </a:r>
                      <a:r>
                        <a:rPr sz="1000" err="1">
                          <a:latin typeface="Montserrat"/>
                        </a:rPr>
                        <a:t>Chicoloapan</a:t>
                      </a:r>
                      <a:r>
                        <a:rPr sz="1000">
                          <a:latin typeface="Montserrat"/>
                        </a:rPr>
                        <a:t> (</a:t>
                      </a:r>
                      <a:r>
                        <a:rPr sz="1000" err="1">
                          <a:latin typeface="Montserrat"/>
                        </a:rPr>
                        <a:t>Rescate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</a:t>
                      </a:r>
                      <a:r>
                        <a:rPr lang="es-MX" sz="1000">
                          <a:latin typeface="Montserrat"/>
                        </a:rPr>
                        <a:t>248</a:t>
                      </a:r>
                      <a:endParaRPr sz="1000">
                        <a:latin typeface="Montserrat"/>
                      </a:endParaRP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110 Chalco, CECI 150 </a:t>
                      </a:r>
                      <a:r>
                        <a:rPr sz="1000" err="1">
                          <a:latin typeface="Montserrat"/>
                        </a:rPr>
                        <a:t>Nezahualcóyotl</a:t>
                      </a:r>
                      <a:r>
                        <a:rPr sz="1000">
                          <a:latin typeface="Montserrat"/>
                        </a:rPr>
                        <a:t>, CECI 150 Tlalnepantla, CECI 250 Valle de Chalco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$205.5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19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Clínica de Hemodiálisis Ecatepec de Morelos (40 sillones)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$190.0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538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</a:t>
                      </a:r>
                      <a:r>
                        <a:rPr sz="1000" err="1">
                          <a:latin typeface="Montserrat"/>
                        </a:rPr>
                        <a:t>Capacitación</a:t>
                      </a:r>
                      <a:r>
                        <a:rPr sz="1000">
                          <a:latin typeface="Montserrat"/>
                        </a:rPr>
                        <a:t> para la </a:t>
                      </a:r>
                      <a:r>
                        <a:rPr sz="1000" err="1">
                          <a:latin typeface="Montserrat"/>
                        </a:rPr>
                        <a:t>Diálisis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Ambulatoria</a:t>
                      </a:r>
                      <a:r>
                        <a:rPr sz="1000">
                          <a:latin typeface="Montserrat"/>
                        </a:rPr>
                        <a:t>/ Unidad de Control </a:t>
                      </a:r>
                      <a:r>
                        <a:rPr sz="1000" err="1">
                          <a:latin typeface="Montserrat"/>
                        </a:rPr>
                        <a:t>Metabólico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Ambulatorio</a:t>
                      </a:r>
                      <a:r>
                        <a:rPr sz="1000">
                          <a:latin typeface="Montserrat"/>
                        </a:rPr>
                        <a:t>/ Centro de </a:t>
                      </a:r>
                      <a:r>
                        <a:rPr sz="1000" err="1">
                          <a:latin typeface="Montserrat"/>
                        </a:rPr>
                        <a:t>Atención</a:t>
                      </a:r>
                      <a:r>
                        <a:rPr sz="1000">
                          <a:latin typeface="Montserrat"/>
                        </a:rPr>
                        <a:t> a la Diabetes (En </a:t>
                      </a:r>
                      <a:r>
                        <a:rPr sz="1000" err="1">
                          <a:latin typeface="Montserrat"/>
                        </a:rPr>
                        <a:t>definición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$96.0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Subtotal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$</a:t>
                      </a:r>
                      <a:r>
                        <a:rPr lang="es-MX" sz="1000"/>
                        <a:t>5,929.5</a:t>
                      </a:r>
                      <a:endParaRPr sz="1000"/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0" name="Table 15">
            <a:extLst>
              <a:ext uri="{FF2B5EF4-FFF2-40B4-BE49-F238E27FC236}">
                <a16:creationId xmlns:a16="http://schemas.microsoft.com/office/drawing/2014/main" id="{381CB825-FA42-991B-5AE6-F768A238F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596791"/>
              </p:ext>
            </p:extLst>
          </p:nvPr>
        </p:nvGraphicFramePr>
        <p:xfrm>
          <a:off x="1777356" y="411444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</a:t>
                      </a:r>
                      <a:r>
                        <a:rPr err="1"/>
                        <a:t>Conservación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err="1">
                          <a:latin typeface="Montserrat"/>
                        </a:rPr>
                        <a:t>Mantenimiento</a:t>
                      </a:r>
                      <a:r>
                        <a:rPr sz="1000">
                          <a:latin typeface="Montserrat"/>
                        </a:rPr>
                        <a:t> de </a:t>
                      </a:r>
                      <a:r>
                        <a:rPr sz="1000" err="1">
                          <a:latin typeface="Montserrat"/>
                        </a:rPr>
                        <a:t>infraestructura</a:t>
                      </a:r>
                      <a:r>
                        <a:rPr sz="1000">
                          <a:latin typeface="Montserrat"/>
                        </a:rPr>
                        <a:t> (PAO 2026)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latin typeface="Montserrat"/>
                        </a:rPr>
                        <a:t>$561.6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2" name="Table 16">
            <a:extLst>
              <a:ext uri="{FF2B5EF4-FFF2-40B4-BE49-F238E27FC236}">
                <a16:creationId xmlns:a16="http://schemas.microsoft.com/office/drawing/2014/main" id="{42534B28-DA07-D992-33E1-4C3AA77AA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734776"/>
              </p:ext>
            </p:extLst>
          </p:nvPr>
        </p:nvGraphicFramePr>
        <p:xfrm>
          <a:off x="1777356" y="4780494"/>
          <a:ext cx="5396400" cy="552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52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</a:t>
                      </a:r>
                      <a:r>
                        <a:rPr lang="es-MX"/>
                        <a:t>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4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21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8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8 </a:t>
                      </a:r>
                      <a:r>
                        <a:rPr sz="1000" err="1">
                          <a:latin typeface="Montserrat"/>
                        </a:rPr>
                        <a:t>elevadores</a:t>
                      </a:r>
                      <a:r>
                        <a:rPr sz="1000">
                          <a:latin typeface="Montserrat"/>
                        </a:rPr>
                        <a:t>, 7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casa de </a:t>
                      </a:r>
                      <a:r>
                        <a:rPr sz="1000" err="1">
                          <a:latin typeface="Montserrat"/>
                        </a:rPr>
                        <a:t>máquinas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 y 2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r>
                        <a:rPr sz="1000">
                          <a:latin typeface="Montserrat"/>
                        </a:rPr>
                        <a:t>.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latin typeface="Montserrat"/>
                        </a:rPr>
                        <a:t>$194.8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TextBox 17">
            <a:extLst>
              <a:ext uri="{FF2B5EF4-FFF2-40B4-BE49-F238E27FC236}">
                <a16:creationId xmlns:a16="http://schemas.microsoft.com/office/drawing/2014/main" id="{746F1C62-36A3-AD25-7000-1A286432C46E}"/>
              </a:ext>
            </a:extLst>
          </p:cNvPr>
          <p:cNvSpPr txBox="1"/>
          <p:nvPr/>
        </p:nvSpPr>
        <p:spPr>
          <a:xfrm>
            <a:off x="6098173" y="875903"/>
            <a:ext cx="8451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lang="es-MX"/>
              <a:t>6,685.9</a:t>
            </a:r>
            <a:endParaRPr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err="1"/>
              <a:t>mdp</a:t>
            </a:r>
            <a:endParaRPr/>
          </a:p>
        </p:txBody>
      </p:sp>
      <p:graphicFrame>
        <p:nvGraphicFramePr>
          <p:cNvPr id="46" name="Tabla 45">
            <a:extLst>
              <a:ext uri="{FF2B5EF4-FFF2-40B4-BE49-F238E27FC236}">
                <a16:creationId xmlns:a16="http://schemas.microsoft.com/office/drawing/2014/main" id="{C08DF469-1B46-2F43-58FF-7FB40311F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911068"/>
              </p:ext>
            </p:extLst>
          </p:nvPr>
        </p:nvGraphicFramePr>
        <p:xfrm>
          <a:off x="753269" y="6089155"/>
          <a:ext cx="6265862" cy="277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793">
                  <a:extLst>
                    <a:ext uri="{9D8B030D-6E8A-4147-A177-3AD203B41FA5}">
                      <a16:colId xmlns:a16="http://schemas.microsoft.com/office/drawing/2014/main" val="1924968774"/>
                    </a:ext>
                  </a:extLst>
                </a:gridCol>
                <a:gridCol w="1325069">
                  <a:extLst>
                    <a:ext uri="{9D8B030D-6E8A-4147-A177-3AD203B41FA5}">
                      <a16:colId xmlns:a16="http://schemas.microsoft.com/office/drawing/2014/main" val="2343482585"/>
                    </a:ext>
                  </a:extLst>
                </a:gridCol>
              </a:tblGrid>
              <a:tr h="3049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Obras de </a:t>
                      </a:r>
                      <a:r>
                        <a:rPr sz="1000" err="1"/>
                        <a:t>Infraestructura</a:t>
                      </a:r>
                      <a:endParaRPr sz="1000"/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sz="1000"/>
                        <a:t>Monto (</a:t>
                      </a:r>
                      <a:r>
                        <a:rPr sz="1000" err="1"/>
                        <a:t>mdp</a:t>
                      </a:r>
                      <a:r>
                        <a:rPr sz="1000"/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174032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HGZ 144 camas, </a:t>
                      </a:r>
                      <a:r>
                        <a:rPr sz="1000" b="0" err="1">
                          <a:solidFill>
                            <a:schemeClr val="tx1"/>
                          </a:solidFill>
                          <a:latin typeface="Montserrat"/>
                        </a:rPr>
                        <a:t>Nezahualcóyotl</a:t>
                      </a:r>
                      <a:endParaRPr sz="1000" b="0">
                        <a:solidFill>
                          <a:schemeClr val="tx1"/>
                        </a:solidFill>
                        <a:latin typeface="Montserrat"/>
                      </a:endParaRPr>
                    </a:p>
                  </a:txBody>
                  <a:tcPr marL="3600" marR="3600" marT="3600" marB="36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$2,128.0</a:t>
                      </a:r>
                    </a:p>
                  </a:txBody>
                  <a:tcPr marL="3600" marR="3600" marT="3600" marB="36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773710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UMF </a:t>
                      </a:r>
                      <a:r>
                        <a:rPr sz="1000" b="0" err="1">
                          <a:solidFill>
                            <a:schemeClr val="tx1"/>
                          </a:solidFill>
                          <a:latin typeface="Montserrat"/>
                        </a:rPr>
                        <a:t>Tequesquinahuac</a:t>
                      </a: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/Tlalnepantla (60 CMF + 20 </a:t>
                      </a:r>
                      <a:r>
                        <a:rPr sz="1000" b="0" err="1">
                          <a:solidFill>
                            <a:schemeClr val="tx1"/>
                          </a:solidFill>
                          <a:latin typeface="Montserrat"/>
                        </a:rPr>
                        <a:t>Enfermería</a:t>
                      </a: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 + </a:t>
                      </a:r>
                      <a:r>
                        <a:rPr sz="1000" b="0" err="1">
                          <a:solidFill>
                            <a:schemeClr val="tx1"/>
                          </a:solidFill>
                          <a:latin typeface="Montserrat"/>
                        </a:rPr>
                        <a:t>Urgencias</a:t>
                      </a: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 + 8 </a:t>
                      </a:r>
                      <a:r>
                        <a:rPr sz="1000" b="0" err="1">
                          <a:solidFill>
                            <a:schemeClr val="tx1"/>
                          </a:solidFill>
                          <a:latin typeface="Montserrat"/>
                        </a:rPr>
                        <a:t>Especialidades</a:t>
                      </a: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 + MFR + </a:t>
                      </a:r>
                      <a:r>
                        <a:rPr sz="1000" b="0" err="1">
                          <a:solidFill>
                            <a:schemeClr val="tx1"/>
                          </a:solidFill>
                          <a:latin typeface="Montserrat"/>
                        </a:rPr>
                        <a:t>Hemodiálisis</a:t>
                      </a: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chemeClr val="tx1"/>
                          </a:solidFill>
                          <a:latin typeface="Montserrat"/>
                        </a:rPr>
                        <a:t>$705.6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954150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Texcoco (60 CMF + 20 </a:t>
                      </a:r>
                      <a:r>
                        <a:rPr sz="1000" err="1">
                          <a:latin typeface="Montserrat"/>
                        </a:rPr>
                        <a:t>Enfermería</a:t>
                      </a:r>
                      <a:r>
                        <a:rPr sz="1000">
                          <a:latin typeface="Montserrat"/>
                        </a:rPr>
                        <a:t> +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+ 8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+ MFR +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$705.6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3341571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Valle de Chalco (40 CMF + 15 EEMF +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+ 8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+ MFR +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$657.9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04103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</a:t>
                      </a:r>
                      <a:r>
                        <a:rPr sz="1000" err="1">
                          <a:latin typeface="Montserrat"/>
                        </a:rPr>
                        <a:t>Nezahualcoyotl</a:t>
                      </a:r>
                      <a:r>
                        <a:rPr sz="1000">
                          <a:latin typeface="Montserrat"/>
                        </a:rPr>
                        <a:t> ( 20 CMF + 8 </a:t>
                      </a:r>
                      <a:r>
                        <a:rPr sz="1000" err="1">
                          <a:latin typeface="Montserrat"/>
                        </a:rPr>
                        <a:t>Enfermería</a:t>
                      </a:r>
                      <a:r>
                        <a:rPr sz="1000">
                          <a:latin typeface="Montserrat"/>
                        </a:rPr>
                        <a:t> +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+ 4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+ MFR +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$610.3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033482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Los Reyes la Paz (20 CMF + 8 </a:t>
                      </a:r>
                      <a:r>
                        <a:rPr sz="1000" err="1">
                          <a:latin typeface="Montserrat"/>
                        </a:rPr>
                        <a:t>Enfermería</a:t>
                      </a:r>
                      <a:r>
                        <a:rPr sz="1000">
                          <a:latin typeface="Montserrat"/>
                        </a:rPr>
                        <a:t> +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+ 4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 + MFR + </a:t>
                      </a:r>
                      <a:r>
                        <a:rPr sz="1000" err="1">
                          <a:latin typeface="Montserrat"/>
                        </a:rPr>
                        <a:t>Hemodiálisis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$610.3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38995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Chalco (20 CMF + 8 </a:t>
                      </a:r>
                      <a:r>
                        <a:rPr sz="1000" err="1">
                          <a:latin typeface="Montserrat"/>
                        </a:rPr>
                        <a:t>Enfermería</a:t>
                      </a:r>
                      <a:r>
                        <a:rPr sz="1000">
                          <a:latin typeface="Montserrat"/>
                        </a:rPr>
                        <a:t> +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+ 4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$490.5</a:t>
                      </a:r>
                    </a:p>
                  </a:txBody>
                  <a:tcPr marL="3600" marR="3600" marT="3600" marB="3600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151738"/>
                  </a:ext>
                </a:extLst>
              </a:tr>
              <a:tr h="3049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</a:t>
                      </a:r>
                      <a:r>
                        <a:rPr sz="1000" err="1">
                          <a:latin typeface="Montserrat"/>
                        </a:rPr>
                        <a:t>Ixtapaluca</a:t>
                      </a:r>
                      <a:r>
                        <a:rPr sz="1000">
                          <a:latin typeface="Montserrat"/>
                        </a:rPr>
                        <a:t> (10 CMF + 5 </a:t>
                      </a:r>
                      <a:r>
                        <a:rPr sz="1000" err="1">
                          <a:latin typeface="Montserrat"/>
                        </a:rPr>
                        <a:t>Enfermería</a:t>
                      </a:r>
                      <a:r>
                        <a:rPr sz="1000">
                          <a:latin typeface="Montserrat"/>
                        </a:rPr>
                        <a:t> + </a:t>
                      </a:r>
                      <a:r>
                        <a:rPr sz="1000" err="1">
                          <a:latin typeface="Montserrat"/>
                        </a:rPr>
                        <a:t>Urgencias</a:t>
                      </a:r>
                      <a:r>
                        <a:rPr sz="1000">
                          <a:latin typeface="Montserrat"/>
                        </a:rPr>
                        <a:t> + 4 </a:t>
                      </a:r>
                      <a:r>
                        <a:rPr sz="1000" err="1">
                          <a:latin typeface="Montserrat"/>
                        </a:rPr>
                        <a:t>Especialidades</a:t>
                      </a:r>
                      <a:r>
                        <a:rPr sz="1000">
                          <a:latin typeface="Montserrat"/>
                        </a:rPr>
                        <a:t>)</a:t>
                      </a:r>
                    </a:p>
                  </a:txBody>
                  <a:tcPr marL="3600" marR="3600" marT="3600" marB="36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346426"/>
                  </a:ext>
                </a:extLst>
              </a:tr>
            </a:tbl>
          </a:graphicData>
        </a:graphic>
      </p:graphicFrame>
      <p:graphicFrame>
        <p:nvGraphicFramePr>
          <p:cNvPr id="48" name="Google Shape;394;p15">
            <a:extLst>
              <a:ext uri="{FF2B5EF4-FFF2-40B4-BE49-F238E27FC236}">
                <a16:creationId xmlns:a16="http://schemas.microsoft.com/office/drawing/2014/main" id="{4599F1CE-DF31-31DA-87E3-5F8004FF61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2376966"/>
              </p:ext>
            </p:extLst>
          </p:nvPr>
        </p:nvGraphicFramePr>
        <p:xfrm>
          <a:off x="287700" y="5562842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01405" y="1464906"/>
            <a:ext cx="7368300" cy="39643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5039919"/>
              </p:ext>
            </p:extLst>
          </p:nvPr>
        </p:nvGraphicFramePr>
        <p:xfrm>
          <a:off x="147600" y="811157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05195" y="1487020"/>
            <a:ext cx="7338300" cy="3964343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22587" y="1627318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61301" y="2393965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47204" y="2984952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29353" y="2773387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67818"/>
              </p:ext>
            </p:extLst>
          </p:nvPr>
        </p:nvGraphicFramePr>
        <p:xfrm>
          <a:off x="2522903" y="1628587"/>
          <a:ext cx="4928400" cy="295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 </a:t>
                      </a:r>
                      <a:r>
                        <a:rPr err="1"/>
                        <a:t>Predios</a:t>
                      </a:r>
                      <a:r>
                        <a:t> </a:t>
                      </a:r>
                      <a:r>
                        <a:rPr err="1"/>
                        <a:t>en</a:t>
                      </a:r>
                      <a:r>
                        <a:t> </a:t>
                      </a:r>
                      <a:r>
                        <a:rPr err="1"/>
                        <a:t>ruta</a:t>
                      </a:r>
                      <a:r>
                        <a:t>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Chalco, </a:t>
                      </a:r>
                      <a:r>
                        <a:rPr err="1"/>
                        <a:t>Nezahualcóyotl</a:t>
                      </a:r>
                      <a:r>
                        <a:t>, Tlalnepantla de Baz, Valle de Chalco, </a:t>
                      </a:r>
                      <a:r>
                        <a:rPr err="1"/>
                        <a:t>Chimalhuacán</a:t>
                      </a:r>
                      <a:r>
                        <a:t>, </a:t>
                      </a:r>
                      <a:r>
                        <a:rPr err="1"/>
                        <a:t>Ixtapaluca</a:t>
                      </a:r>
                      <a:r>
                        <a:t>, Texcoco, </a:t>
                      </a:r>
                      <a:r>
                        <a:rPr err="1"/>
                        <a:t>Chicoloapan</a:t>
                      </a:r>
                      <a:r>
                        <a:t>, La Paz, Ecatepec (2), </a:t>
                      </a:r>
                      <a:r>
                        <a:rPr err="1"/>
                        <a:t>Mexicaltzingo</a:t>
                      </a:r>
                      <a:r>
                        <a:t>, </a:t>
                      </a:r>
                      <a:r>
                        <a:rPr err="1"/>
                        <a:t>Almoloya</a:t>
                      </a:r>
                      <a:r>
                        <a:t> de Juárez, Naucalpan de Juárez, Toluca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Oval 22"/>
          <p:cNvSpPr/>
          <p:nvPr/>
        </p:nvSpPr>
        <p:spPr>
          <a:xfrm>
            <a:off x="856103" y="1650187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4103" y="2434987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75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0 CECI CAMPO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2400" y="4614966"/>
            <a:ext cx="4898903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</a:t>
            </a:r>
            <a:r>
              <a:rPr err="1"/>
              <a:t>Terrenos</a:t>
            </a:r>
            <a:r>
              <a:t> </a:t>
            </a:r>
            <a:r>
              <a:rPr err="1"/>
              <a:t>validados</a:t>
            </a:r>
            <a:r>
              <a:t>. </a:t>
            </a:r>
            <a:r>
              <a:rPr lang="es-MX"/>
              <a:t>7</a:t>
            </a:r>
            <a:r>
              <a:t> CECI para </a:t>
            </a:r>
            <a:r>
              <a:rPr err="1"/>
              <a:t>entregar</a:t>
            </a:r>
            <a:r>
              <a:t> a SICT </a:t>
            </a:r>
            <a:r>
              <a:rPr err="1"/>
              <a:t>en</a:t>
            </a:r>
            <a:r>
              <a:t> Chalco, Valle de Chalco, </a:t>
            </a:r>
            <a:r>
              <a:rPr err="1"/>
              <a:t>Nezahualcóyotl</a:t>
            </a:r>
            <a:r>
              <a:t>, Tlalnepantla de Baz</a:t>
            </a:r>
            <a:r>
              <a:rPr lang="es-MX"/>
              <a:t>, Texcoco, Chicoloapan e Ixtapaluca.</a:t>
            </a:r>
            <a:br>
              <a:rPr/>
            </a:br>
            <a:r>
              <a:rPr lang="es-MX"/>
              <a:t>8</a:t>
            </a:r>
            <a:r>
              <a:t> CECI </a:t>
            </a:r>
            <a:r>
              <a:rPr err="1"/>
              <a:t>en</a:t>
            </a:r>
            <a:r>
              <a:t> </a:t>
            </a:r>
            <a:r>
              <a:rPr err="1"/>
              <a:t>integración</a:t>
            </a:r>
            <a:r>
              <a:t> de </a:t>
            </a:r>
            <a:r>
              <a:rPr err="1"/>
              <a:t>expediente</a:t>
            </a:r>
            <a:r>
              <a:t> para </a:t>
            </a:r>
            <a:r>
              <a:rPr err="1"/>
              <a:t>donación</a:t>
            </a:r>
            <a:r>
              <a:t> </a:t>
            </a:r>
            <a:r>
              <a:rPr err="1"/>
              <a:t>en</a:t>
            </a:r>
            <a:r>
              <a:t> </a:t>
            </a:r>
            <a:r>
              <a:rPr err="1"/>
              <a:t>Almoloya</a:t>
            </a:r>
            <a:r>
              <a:t>, Naucalpan, Ecatepec, Toluca, La Paz</a:t>
            </a:r>
            <a:r>
              <a:rPr lang="es-MX"/>
              <a:t> y </a:t>
            </a:r>
            <a:r>
              <a:rPr err="1"/>
              <a:t>Mexicaltzingo</a:t>
            </a:r>
            <a:r>
              <a:rPr lang="es-MX"/>
              <a:t>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5460" y="3030318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795" y="4826700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83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11,001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026133"/>
              </p:ext>
            </p:extLst>
          </p:nvPr>
        </p:nvGraphicFramePr>
        <p:xfrm>
          <a:off x="2311200" y="2570400"/>
          <a:ext cx="5032800" cy="2256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7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7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 Centro de </a:t>
                      </a:r>
                      <a:r>
                        <a:rPr sz="1000" err="1"/>
                        <a:t>Artesanias</a:t>
                      </a:r>
                      <a:endParaRPr sz="100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Cuauhtémoc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Naucalpan, Edo. Mex.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7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3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CEBIS 3 Chalco Alfredo Barandas, CEBIS 2 </a:t>
                      </a:r>
                      <a:r>
                        <a:rPr sz="1000" err="1"/>
                        <a:t>Culturas</a:t>
                      </a:r>
                      <a:r>
                        <a:rPr sz="1000"/>
                        <a:t> de México y </a:t>
                      </a:r>
                      <a:r>
                        <a:rPr sz="1000" err="1"/>
                        <a:t>Chimalhuacán</a:t>
                      </a:r>
                      <a:endParaRPr sz="1000"/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11 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Toluca, Progreso Industrial, San Ildefonso, Tejavanes, Tequesquináhuac, Santa Clara, Netzahualcóyotl, Texcoco, Chalco, San Rafael y Cuauhtémoc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7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2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Cuauhtémoc y Toluca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05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2 Unidades Deportivas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err="1"/>
                        <a:t>Nezahualcóyotl</a:t>
                      </a:r>
                      <a:r>
                        <a:rPr sz="1000"/>
                        <a:t> y Cuauhtémoc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622203"/>
              </p:ext>
            </p:extLst>
          </p:nvPr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2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/>
                        <a:t>No. 26 Toluca y No. 64 Tequesquinahuac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rPr sz="1000"/>
                        <a:t>3 Velatorios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sz="1000" err="1"/>
                        <a:t>Tequesquináhuac</a:t>
                      </a:r>
                      <a:r>
                        <a:rPr sz="1000"/>
                        <a:t>, Ecatepec y Toluca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83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  <p:pic>
        <p:nvPicPr>
          <p:cNvPr id="3" name="Picture 469" descr="map_tipo2_15_mex.png">
            <a:extLst>
              <a:ext uri="{FF2B5EF4-FFF2-40B4-BE49-F238E27FC236}">
                <a16:creationId xmlns:a16="http://schemas.microsoft.com/office/drawing/2014/main" id="{3B0C0832-9520-A3C1-379C-E37FA0B40F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01067"/>
              </p:ext>
            </p:extLst>
          </p:nvPr>
        </p:nvGraphicFramePr>
        <p:xfrm>
          <a:off x="284400" y="1087200"/>
          <a:ext cx="6984000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45,973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46,236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Itelevate Solutions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66,439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81,904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33,364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34,143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Meli Operaciones Logisticas Ii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18,621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21,965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-5.73%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-3.66%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-1.71%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+2.42%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+6.03%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+6.12%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+8.96%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+45.83%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308163"/>
              </p:ext>
            </p:extLst>
          </p:nvPr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1,635,622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4,415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272,432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1,913,529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1,696,459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4,266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363,948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2,065,623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75DC7414-44CC-7FA8-BFE8-B4876438CDE7}"/>
              </a:ext>
            </a:extLst>
          </p:cNvPr>
          <p:cNvSpPr/>
          <p:nvPr/>
        </p:nvSpPr>
        <p:spPr>
          <a:xfrm>
            <a:off x="740001" y="11397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$607.33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$341.64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$607.33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$18,219.9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871927"/>
              </p:ext>
            </p:extLst>
          </p:nvPr>
        </p:nvGraphicFramePr>
        <p:xfrm>
          <a:off x="320400" y="6649200"/>
          <a:ext cx="7038000" cy="183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Deudores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Pro Agua Potable de la Colmena A.C.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Madoc </a:t>
                      </a:r>
                      <a:r>
                        <a:rPr err="1"/>
                        <a:t>Productos</a:t>
                      </a:r>
                      <a:r>
                        <a:t> </a:t>
                      </a:r>
                      <a:r>
                        <a:rPr err="1"/>
                        <a:t>Médicos</a:t>
                      </a:r>
                      <a:r>
                        <a:t> SA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$59.19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err="1"/>
                        <a:t>Serprocorp</a:t>
                      </a:r>
                      <a:r>
                        <a:t> 89 SA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$45.94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LGC Global FM de México S de RL de CV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$36.28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tado</a:t>
            </a:r>
            <a:r>
              <a:rPr>
                <a:solidFill>
                  <a:schemeClr val="tx1"/>
                </a:solidFill>
              </a:rPr>
              <a:t>: Se </a:t>
            </a:r>
            <a:r>
              <a:rPr err="1">
                <a:solidFill>
                  <a:schemeClr val="tx1"/>
                </a:solidFill>
              </a:rPr>
              <a:t>utilizó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como</a:t>
            </a:r>
            <a:r>
              <a:rPr>
                <a:solidFill>
                  <a:schemeClr val="tx1"/>
                </a:solidFill>
              </a:rPr>
              <a:t> </a:t>
            </a:r>
            <a:r>
              <a:rPr err="1">
                <a:solidFill>
                  <a:schemeClr val="tx1"/>
                </a:solidFill>
              </a:rPr>
              <a:t>deflactor</a:t>
            </a:r>
            <a:r>
              <a:rPr>
                <a:solidFill>
                  <a:schemeClr val="tx1"/>
                </a:solidFill>
              </a:rPr>
              <a:t> del </a:t>
            </a:r>
            <a:r>
              <a:rPr err="1">
                <a:solidFill>
                  <a:schemeClr val="tx1"/>
                </a:solidFill>
              </a:rPr>
              <a:t>salario</a:t>
            </a:r>
            <a:r>
              <a:rPr>
                <a:solidFill>
                  <a:schemeClr val="tx1"/>
                </a:solidFill>
              </a:rPr>
              <a:t> el </a:t>
            </a:r>
            <a:r>
              <a:rPr err="1">
                <a:solidFill>
                  <a:schemeClr val="tx1"/>
                </a:solidFill>
              </a:rPr>
              <a:t>cociente</a:t>
            </a:r>
            <a:r>
              <a:rPr>
                <a:solidFill>
                  <a:schemeClr val="tx1"/>
                </a:solidFill>
              </a:rPr>
              <a:t> del INPC entre </a:t>
            </a:r>
            <a:r>
              <a:rPr err="1">
                <a:solidFill>
                  <a:schemeClr val="tx1"/>
                </a:solidFill>
              </a:rPr>
              <a:t>diciembre</a:t>
            </a:r>
            <a:r>
              <a:rPr>
                <a:solidFill>
                  <a:schemeClr val="tx1"/>
                </a:solidFill>
              </a:rPr>
              <a:t> 2018 (103.02) y </a:t>
            </a:r>
            <a:r>
              <a:rPr err="1">
                <a:solidFill>
                  <a:schemeClr val="tx1"/>
                </a:solidFill>
              </a:rPr>
              <a:t>abril</a:t>
            </a:r>
            <a:r>
              <a:rPr>
                <a:solidFill>
                  <a:schemeClr val="tx1"/>
                </a:solidFill>
              </a:rPr>
              <a:t>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>
            <p:extLst>
              <p:ext uri="{D42A27DB-BD31-4B8C-83A1-F6EECF244321}">
                <p14:modId xmlns:p14="http://schemas.microsoft.com/office/powerpoint/2010/main" val="2043073348"/>
              </p:ext>
            </p:extLst>
          </p:nvPr>
        </p:nvGraphicFramePr>
        <p:xfrm>
          <a:off x="3884217" y="81134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00468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00468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ESTADO DE MÉXICO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err="1">
                <a:solidFill>
                  <a:schemeClr val="tx1"/>
                </a:solidFill>
              </a:rPr>
              <a:t>enero-diciembre</a:t>
            </a:r>
            <a:r>
              <a:t>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97,111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68,820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5,787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10,259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12,245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1,667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1,303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2,754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562247"/>
              </p:ext>
            </p:extLst>
          </p:nvPr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73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5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82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14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69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  <a:r>
                        <a:rPr lang="es-MX"/>
                        <a:t>6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33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  <a:r>
                        <a:rPr lang="es-MX"/>
                        <a:t>8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17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9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13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  <a:r>
                        <a:rPr lang="es-MX"/>
                        <a:t>2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53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1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/>
                        <a:t>23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78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  <a:r>
                        <a:rPr lang="es-MX"/>
                        <a:t>90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  <a:r>
                        <a:rPr lang="es-MX"/>
                        <a:t>6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  <a:r>
                        <a:rPr lang="es-MX"/>
                        <a:t>6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  <a:r>
                        <a:rPr lang="es-MX"/>
                        <a:t>9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  <a:r>
                        <a:rPr lang="es-MX"/>
                        <a:t>1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217411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Concepto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Comités</a:t>
                      </a:r>
                      <a:r>
                        <a:t> de Salud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Voluntarios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</a:t>
                      </a:r>
                      <a:r>
                        <a:rPr err="1"/>
                        <a:t>Voluntarias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Médicos</a:t>
                      </a:r>
                      <a:r>
                        <a:t> </a:t>
                      </a:r>
                      <a:r>
                        <a:rPr err="1"/>
                        <a:t>Tradicionales</a:t>
                      </a:r>
                      <a:endParaRPr/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</a:t>
                      </a:r>
                      <a:r>
                        <a:rPr err="1"/>
                        <a:t>Programa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64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  <a:r>
                        <a:rPr lang="es-MX"/>
                        <a:t>84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  <a:r>
                        <a:rPr lang="es-MX"/>
                        <a:t>88</a:t>
                      </a:r>
                      <a:endParaRPr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43885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00405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26885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66,902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18405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13,291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23365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53,611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44245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00405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46325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14,353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29205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4564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4564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97,111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4564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4564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1,667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37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revision>1</cp:revision>
  <dcterms:modified xsi:type="dcterms:W3CDTF">2026-07-03T20:41:04Z</dcterms:modified>
</cp:coreProperties>
</file>