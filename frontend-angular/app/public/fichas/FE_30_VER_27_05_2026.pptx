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89" r:id="rId3"/>
    <p:sldId id="258" r:id="rId4"/>
    <p:sldId id="259" r:id="rId5"/>
    <p:sldId id="260" r:id="rId6"/>
    <p:sldId id="300" r:id="rId46"/>
    <p:sldId id="261" r:id="rId7"/>
    <p:sldId id="301" r:id="rId47"/>
    <p:sldId id="287" r:id="rId8"/>
    <p:sldId id="262" r:id="rId9"/>
    <p:sldId id="302" r:id="rId48"/>
    <p:sldId id="303" r:id="rId49"/>
    <p:sldId id="263" r:id="rId10"/>
    <p:sldId id="280" r:id="rId11"/>
    <p:sldId id="267" r:id="rId12"/>
    <p:sldId id="298" r:id="rId13"/>
    <p:sldId id="304" r:id="rId50"/>
    <p:sldId id="305" r:id="rId51"/>
    <p:sldId id="306" r:id="rId45"/>
    <p:sldId id="307" r:id="rId44"/>
    <p:sldId id="308" r:id="rId43"/>
    <p:sldId id="309" r:id="rId42"/>
    <p:sldId id="310" r:id="rId41"/>
    <p:sldId id="281" r:id="rId14"/>
    <p:sldId id="311" r:id="rId40"/>
    <p:sldId id="288" r:id="rId15"/>
    <p:sldId id="270" r:id="rId16"/>
    <p:sldId id="271" r:id="rId17"/>
    <p:sldId id="272" r:id="rId18"/>
    <p:sldId id="299" r:id="rId19"/>
    <p:sldId id="297" r:id="rId20"/>
    <p:sldId id="284" r:id="rId21"/>
    <p:sldId id="290" r:id="rId22"/>
    <p:sldId id="277" r:id="rId23"/>
    <p:sldId id="278" r:id="rId24"/>
    <p:sldId id="279" r:id="rId25"/>
    <p:sldId id="282" r:id="rId26"/>
  </p:sldIdLst>
  <p:sldSz cx="7772400" cy="10058400"/>
  <p:notesSz cx="6858000" cy="9144000"/>
  <p:embeddedFontLst>
    <p:embeddedFont>
      <p:font typeface="Montserrat" panose="00000500000000000000" pitchFamily="2" charset="0"/>
      <p:regular r:id="rId28"/>
      <p:bold r:id="rId29"/>
      <p:italic r:id="rId30"/>
      <p:boldItalic r:id="rId31"/>
    </p:embeddedFont>
    <p:embeddedFont>
      <p:font typeface="Noto Sans" panose="020B0502040504020204" pitchFamily="34" charset="0"/>
      <p:regular r:id="rId32"/>
      <p:bold r:id="rId33"/>
      <p:italic r:id="rId34"/>
      <p:boldItalic r:id="rId35"/>
    </p:embeddedFont>
    <p:embeddedFont>
      <p:font typeface="Noto Sans Black" panose="020B0604020202020204" charset="0"/>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10890F-37F4-B395-3B02-B8E435ABA334}" v="85" dt="2026-05-13T00:06:32.246"/>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p:restoredTop sz="94759"/>
  </p:normalViewPr>
  <p:slideViewPr>
    <p:cSldViewPr snapToGrid="0">
      <p:cViewPr varScale="1">
        <p:scale>
          <a:sx n="78" d="100"/>
          <a:sy n="78" d="100"/>
        </p:scale>
        <p:origin x="3024" y="18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font" Target="fonts/font6.fntdata"/><Relationship Id="rId34" Type="http://schemas.openxmlformats.org/officeDocument/2006/relationships/font" Target="fonts/font7.fntdata"/><Relationship Id="rId35" Type="http://schemas.openxmlformats.org/officeDocument/2006/relationships/font" Target="fonts/font8.fntdata"/><Relationship Id="rId36" Type="http://schemas.openxmlformats.org/officeDocument/2006/relationships/font" Target="fonts/font9.fntdata"/><Relationship Id="rId37" Type="http://schemas.openxmlformats.org/officeDocument/2006/relationships/font" Target="fonts/font10.fntdata"/><Relationship Id="rId38" Type="http://schemas.openxmlformats.org/officeDocument/2006/relationships/font" Target="fonts/font11.fntdata"/><Relationship Id="rId40" Type="http://schemas.openxmlformats.org/officeDocument/2006/relationships/slide" Target="slides/slide37.xml"/><Relationship Id="rId41" Type="http://schemas.openxmlformats.org/officeDocument/2006/relationships/slide" Target="slides/slide36.xml"/><Relationship Id="rId42" Type="http://schemas.openxmlformats.org/officeDocument/2006/relationships/slide" Target="slides/slide35.xml"/><Relationship Id="rId43" Type="http://schemas.openxmlformats.org/officeDocument/2006/relationships/slide" Target="slides/slide34.xml"/><Relationship Id="rId44" Type="http://schemas.openxmlformats.org/officeDocument/2006/relationships/slide" Target="slides/slide33.xml"/><Relationship Id="rId45" Type="http://schemas.openxmlformats.org/officeDocument/2006/relationships/slide" Target="slides/slide32.xml"/><Relationship Id="rId46" Type="http://schemas.openxmlformats.org/officeDocument/2006/relationships/slide" Target="slides/slide26.xml"/><Relationship Id="rId47" Type="http://schemas.openxmlformats.org/officeDocument/2006/relationships/slide" Target="slides/slide27.xml"/><Relationship Id="rId48" Type="http://schemas.openxmlformats.org/officeDocument/2006/relationships/slide" Target="slides/slide28.xml"/><Relationship Id="rId49" Type="http://schemas.openxmlformats.org/officeDocument/2006/relationships/slide" Target="slides/slide29.xml"/><Relationship Id="rId50" Type="http://schemas.openxmlformats.org/officeDocument/2006/relationships/slide" Target="slides/slide30.xml"/><Relationship Id="rId51" Type="http://schemas.openxmlformats.org/officeDocument/2006/relationships/slide" Target="slides/slide31.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 Esponda Rosales" userId="08a2b2cc-6d12-4dea-90fe-c484bece8186" providerId="ADAL" clId="{6846A1DD-3EC1-5A12-B3C5-9C410579EE4F}"/>
    <pc:docChg chg="addSld modSld">
      <pc:chgData name="Carlos Esponda Rosales" userId="08a2b2cc-6d12-4dea-90fe-c484bece8186" providerId="ADAL" clId="{6846A1DD-3EC1-5A12-B3C5-9C410579EE4F}" dt="2026-05-08T17:38:57.483" v="0"/>
      <pc:docMkLst>
        <pc:docMk/>
      </pc:docMkLst>
      <pc:sldChg chg="add">
        <pc:chgData name="Carlos Esponda Rosales" userId="08a2b2cc-6d12-4dea-90fe-c484bece8186" providerId="ADAL" clId="{6846A1DD-3EC1-5A12-B3C5-9C410579EE4F}" dt="2026-05-08T17:38:57.483" v="0"/>
        <pc:sldMkLst>
          <pc:docMk/>
          <pc:sldMk cId="711726351" sldId="299"/>
        </pc:sldMkLst>
      </pc:sldChg>
    </pc:docChg>
  </pc:docChgLst>
  <pc:docChgLst>
    <pc:chgData name="Edgar Rosales Ortega" userId="d1d54fc2-1570-4978-babc-e22e1526833f" providerId="ADAL" clId="{66BE7C30-C669-4152-AC74-10076FC0590C}"/>
    <pc:docChg chg="custSel modSld sldOrd">
      <pc:chgData name="Edgar Rosales Ortega" userId="d1d54fc2-1570-4978-babc-e22e1526833f" providerId="ADAL" clId="{66BE7C30-C669-4152-AC74-10076FC0590C}" dt="2026-05-07T19:28:44.894" v="106" actId="14100"/>
      <pc:docMkLst>
        <pc:docMk/>
      </pc:docMkLst>
      <pc:sldChg chg="addSp delSp modSp mod">
        <pc:chgData name="Edgar Rosales Ortega" userId="d1d54fc2-1570-4978-babc-e22e1526833f" providerId="ADAL" clId="{66BE7C30-C669-4152-AC74-10076FC0590C}" dt="2026-04-30T23:19:53.678" v="96" actId="1035"/>
        <pc:sldMkLst>
          <pc:docMk/>
          <pc:sldMk cId="0" sldId="260"/>
        </pc:sldMkLst>
        <pc:spChg chg="add mod">
          <ac:chgData name="Edgar Rosales Ortega" userId="d1d54fc2-1570-4978-babc-e22e1526833f" providerId="ADAL" clId="{66BE7C30-C669-4152-AC74-10076FC0590C}" dt="2026-04-30T23:19:53.678" v="96" actId="1035"/>
          <ac:spMkLst>
            <pc:docMk/>
            <pc:sldMk cId="0" sldId="260"/>
            <ac:spMk id="7" creationId="{69D23431-8F94-72E8-EE34-962CEA54B13E}"/>
          </ac:spMkLst>
        </pc:spChg>
        <pc:graphicFrameChg chg="add mod">
          <ac:chgData name="Edgar Rosales Ortega" userId="d1d54fc2-1570-4978-babc-e22e1526833f" providerId="ADAL" clId="{66BE7C30-C669-4152-AC74-10076FC0590C}" dt="2026-04-30T23:19:46.374" v="31" actId="1076"/>
          <ac:graphicFrameMkLst>
            <pc:docMk/>
            <pc:sldMk cId="0" sldId="260"/>
            <ac:graphicFrameMk id="5" creationId="{1B3B906C-9B27-4134-8860-07612707B13D}"/>
          </ac:graphicFrameMkLst>
        </pc:graphicFrameChg>
        <pc:picChg chg="add mod">
          <ac:chgData name="Edgar Rosales Ortega" userId="d1d54fc2-1570-4978-babc-e22e1526833f" providerId="ADAL" clId="{66BE7C30-C669-4152-AC74-10076FC0590C}" dt="2026-04-30T23:19:53.678" v="96" actId="1035"/>
          <ac:picMkLst>
            <pc:docMk/>
            <pc:sldMk cId="0" sldId="260"/>
            <ac:picMk id="6" creationId="{2FF17797-3B95-7227-C53B-8E2F57EEF272}"/>
          </ac:picMkLst>
        </pc:picChg>
      </pc:sldChg>
      <pc:sldChg chg="addSp delSp modSp mod">
        <pc:chgData name="Edgar Rosales Ortega" userId="d1d54fc2-1570-4978-babc-e22e1526833f" providerId="ADAL" clId="{66BE7C30-C669-4152-AC74-10076FC0590C}" dt="2026-04-23T16:57:18.540" v="15" actId="120"/>
        <pc:sldMkLst>
          <pc:docMk/>
          <pc:sldMk cId="0" sldId="261"/>
        </pc:sldMkLst>
        <pc:spChg chg="mod">
          <ac:chgData name="Edgar Rosales Ortega" userId="d1d54fc2-1570-4978-babc-e22e1526833f" providerId="ADAL" clId="{66BE7C30-C669-4152-AC74-10076FC0590C}" dt="2026-04-23T16:57:18.540" v="15" actId="120"/>
          <ac:spMkLst>
            <pc:docMk/>
            <pc:sldMk cId="0" sldId="261"/>
            <ac:spMk id="14" creationId="{EE681D78-F138-5B6A-49A3-11704BE15EE2}"/>
          </ac:spMkLst>
        </pc:spChg>
        <pc:spChg chg="mod">
          <ac:chgData name="Edgar Rosales Ortega" userId="d1d54fc2-1570-4978-babc-e22e1526833f" providerId="ADAL" clId="{66BE7C30-C669-4152-AC74-10076FC0590C}" dt="2026-04-23T16:53:49.867" v="14"/>
          <ac:spMkLst>
            <pc:docMk/>
            <pc:sldMk cId="0" sldId="261"/>
            <ac:spMk id="16" creationId="{9191DF1B-ECF1-0CA6-0E74-63BF2E94F6C6}"/>
          </ac:spMkLst>
        </pc:spChg>
        <pc:spChg chg="mod">
          <ac:chgData name="Edgar Rosales Ortega" userId="d1d54fc2-1570-4978-babc-e22e1526833f" providerId="ADAL" clId="{66BE7C30-C669-4152-AC74-10076FC0590C}" dt="2026-04-23T16:53:49.867" v="14"/>
          <ac:spMkLst>
            <pc:docMk/>
            <pc:sldMk cId="0" sldId="261"/>
            <ac:spMk id="17" creationId="{FCEF63C8-A679-E0CC-6FF7-C0B718C71643}"/>
          </ac:spMkLst>
        </pc:spChg>
        <pc:spChg chg="mod">
          <ac:chgData name="Edgar Rosales Ortega" userId="d1d54fc2-1570-4978-babc-e22e1526833f" providerId="ADAL" clId="{66BE7C30-C669-4152-AC74-10076FC0590C}" dt="2026-04-23T16:53:49.867" v="14"/>
          <ac:spMkLst>
            <pc:docMk/>
            <pc:sldMk cId="0" sldId="261"/>
            <ac:spMk id="19" creationId="{F98B3713-9F11-6908-475E-3EC642F247F0}"/>
          </ac:spMkLst>
        </pc:spChg>
        <pc:spChg chg="mod">
          <ac:chgData name="Edgar Rosales Ortega" userId="d1d54fc2-1570-4978-babc-e22e1526833f" providerId="ADAL" clId="{66BE7C30-C669-4152-AC74-10076FC0590C}" dt="2026-04-23T16:53:49.867" v="14"/>
          <ac:spMkLst>
            <pc:docMk/>
            <pc:sldMk cId="0" sldId="261"/>
            <ac:spMk id="20" creationId="{9A4639D2-2A45-ECAB-C69F-01F68DA7CB1C}"/>
          </ac:spMkLst>
        </pc:spChg>
        <pc:spChg chg="mod">
          <ac:chgData name="Edgar Rosales Ortega" userId="d1d54fc2-1570-4978-babc-e22e1526833f" providerId="ADAL" clId="{66BE7C30-C669-4152-AC74-10076FC0590C}" dt="2026-04-23T16:53:49.867" v="14"/>
          <ac:spMkLst>
            <pc:docMk/>
            <pc:sldMk cId="0" sldId="261"/>
            <ac:spMk id="21" creationId="{0AEE536E-F500-AF94-5A78-7A82CF39DA16}"/>
          </ac:spMkLst>
        </pc:spChg>
        <pc:spChg chg="mod">
          <ac:chgData name="Edgar Rosales Ortega" userId="d1d54fc2-1570-4978-babc-e22e1526833f" providerId="ADAL" clId="{66BE7C30-C669-4152-AC74-10076FC0590C}" dt="2026-04-23T16:53:49.867" v="14"/>
          <ac:spMkLst>
            <pc:docMk/>
            <pc:sldMk cId="0" sldId="261"/>
            <ac:spMk id="22" creationId="{00968F65-9ABB-C551-27DF-2E32DBF8A5A6}"/>
          </ac:spMkLst>
        </pc:spChg>
        <pc:grpChg chg="add mod">
          <ac:chgData name="Edgar Rosales Ortega" userId="d1d54fc2-1570-4978-babc-e22e1526833f" providerId="ADAL" clId="{66BE7C30-C669-4152-AC74-10076FC0590C}" dt="2026-04-23T16:53:49.867" v="14"/>
          <ac:grpSpMkLst>
            <pc:docMk/>
            <pc:sldMk cId="0" sldId="261"/>
            <ac:grpSpMk id="12" creationId="{FCA3ED39-0602-4B38-876B-E68101479DD2}"/>
          </ac:grpSpMkLst>
        </pc:grpChg>
        <pc:picChg chg="mod">
          <ac:chgData name="Edgar Rosales Ortega" userId="d1d54fc2-1570-4978-babc-e22e1526833f" providerId="ADAL" clId="{66BE7C30-C669-4152-AC74-10076FC0590C}" dt="2026-04-23T16:53:49.867" v="14"/>
          <ac:picMkLst>
            <pc:docMk/>
            <pc:sldMk cId="0" sldId="261"/>
            <ac:picMk id="13" creationId="{2B978486-56DF-538D-4A9C-AD46C97FAC8F}"/>
          </ac:picMkLst>
        </pc:picChg>
        <pc:picChg chg="mod">
          <ac:chgData name="Edgar Rosales Ortega" userId="d1d54fc2-1570-4978-babc-e22e1526833f" providerId="ADAL" clId="{66BE7C30-C669-4152-AC74-10076FC0590C}" dt="2026-04-23T16:53:49.867" v="14"/>
          <ac:picMkLst>
            <pc:docMk/>
            <pc:sldMk cId="0" sldId="261"/>
            <ac:picMk id="15" creationId="{E51CA27C-221A-AAF7-9B46-AF7ADE0D8E9C}"/>
          </ac:picMkLst>
        </pc:picChg>
      </pc:sldChg>
      <pc:sldChg chg="delSp mod">
        <pc:chgData name="Edgar Rosales Ortega" userId="d1d54fc2-1570-4978-babc-e22e1526833f" providerId="ADAL" clId="{66BE7C30-C669-4152-AC74-10076FC0590C}" dt="2026-05-07T19:28:15.112" v="99" actId="478"/>
        <pc:sldMkLst>
          <pc:docMk/>
          <pc:sldMk cId="0" sldId="262"/>
        </pc:sldMkLst>
      </pc:sldChg>
      <pc:sldChg chg="addSp delSp modSp mod">
        <pc:chgData name="Edgar Rosales Ortega" userId="d1d54fc2-1570-4978-babc-e22e1526833f" providerId="ADAL" clId="{66BE7C30-C669-4152-AC74-10076FC0590C}" dt="2026-05-07T19:28:19.702" v="101" actId="478"/>
        <pc:sldMkLst>
          <pc:docMk/>
          <pc:sldMk cId="0" sldId="263"/>
        </pc:sldMkLst>
      </pc:sldChg>
      <pc:sldChg chg="modSp mod ord">
        <pc:chgData name="Edgar Rosales Ortega" userId="d1d54fc2-1570-4978-babc-e22e1526833f" providerId="ADAL" clId="{66BE7C30-C669-4152-AC74-10076FC0590C}" dt="2026-04-30T15:58:05.109" v="27"/>
        <pc:sldMkLst>
          <pc:docMk/>
          <pc:sldMk cId="0" sldId="267"/>
        </pc:sldMkLst>
        <pc:graphicFrameChg chg="modGraphic">
          <ac:chgData name="Edgar Rosales Ortega" userId="d1d54fc2-1570-4978-babc-e22e1526833f" providerId="ADAL" clId="{66BE7C30-C669-4152-AC74-10076FC0590C}" dt="2026-04-30T00:24:36.166" v="16" actId="20577"/>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9:28:30.973" v="102"/>
        <pc:sldMkLst>
          <pc:docMk/>
          <pc:sldMk cId="0" sldId="272"/>
        </pc:sldMkLst>
        <pc:graphicFrameChg chg="mod">
          <ac:chgData name="Edgar Rosales Ortega" userId="d1d54fc2-1570-4978-babc-e22e1526833f" providerId="ADAL" clId="{66BE7C30-C669-4152-AC74-10076FC0590C}" dt="2026-05-07T19:28:30.973" v="102"/>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8:08:20.488" v="98" actId="1076"/>
        <pc:sldMkLst>
          <pc:docMk/>
          <pc:sldMk cId="0" sldId="279"/>
        </pc:sldMkLst>
        <pc:spChg chg="add mod">
          <ac:chgData name="Edgar Rosales Ortega" userId="d1d54fc2-1570-4978-babc-e22e1526833f" providerId="ADAL" clId="{66BE7C30-C669-4152-AC74-10076FC0590C}" dt="2026-04-30T16:32:10.338" v="28" actId="1076"/>
          <ac:spMkLst>
            <pc:docMk/>
            <pc:sldMk cId="0" sldId="279"/>
            <ac:spMk id="2" creationId="{CCD876A1-E3AF-88C2-A863-C9B44AAA3503}"/>
          </ac:spMkLst>
        </pc:spChg>
        <pc:spChg chg="mod">
          <ac:chgData name="Edgar Rosales Ortega" userId="d1d54fc2-1570-4978-babc-e22e1526833f" providerId="ADAL" clId="{66BE7C30-C669-4152-AC74-10076FC0590C}" dt="2026-05-05T18:08:20.488" v="98"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58:00.484" v="25"/>
        <pc:sldMkLst>
          <pc:docMk/>
          <pc:sldMk cId="540716406" sldId="280"/>
        </pc:sldMkLst>
        <pc:graphicFrameChg chg="modGraphic">
          <ac:chgData name="Edgar Rosales Ortega" userId="d1d54fc2-1570-4978-babc-e22e1526833f" providerId="ADAL" clId="{66BE7C30-C669-4152-AC74-10076FC0590C}" dt="2026-04-30T00:24:38.936" v="17" actId="20577"/>
          <ac:graphicFrameMkLst>
            <pc:docMk/>
            <pc:sldMk cId="540716406" sldId="280"/>
            <ac:graphicFrameMk id="230" creationId="{64EDC3BC-A199-227A-0CEC-FB808E16739F}"/>
          </ac:graphicFrameMkLst>
        </pc:graphicFrameChg>
      </pc:sldChg>
      <pc:sldChg chg="addSp delSp modSp mod">
        <pc:chgData name="Edgar Rosales Ortega" userId="d1d54fc2-1570-4978-babc-e22e1526833f" providerId="ADAL" clId="{66BE7C30-C669-4152-AC74-10076FC0590C}" dt="2026-05-05T18:08:06.907" v="97" actId="478"/>
        <pc:sldMkLst>
          <pc:docMk/>
          <pc:sldMk cId="3828482411" sldId="281"/>
        </pc:sldMkLst>
      </pc:sldChg>
      <pc:sldChg chg="modSp mod">
        <pc:chgData name="Edgar Rosales Ortega" userId="d1d54fc2-1570-4978-babc-e22e1526833f" providerId="ADAL" clId="{66BE7C30-C669-4152-AC74-10076FC0590C}" dt="2026-05-07T19:28:44.894" v="106" actId="14100"/>
        <pc:sldMkLst>
          <pc:docMk/>
          <pc:sldMk cId="364733940" sldId="284"/>
        </pc:sldMkLst>
        <pc:picChg chg="mod">
          <ac:chgData name="Edgar Rosales Ortega" userId="d1d54fc2-1570-4978-babc-e22e1526833f" providerId="ADAL" clId="{66BE7C30-C669-4152-AC74-10076FC0590C}" dt="2026-05-07T19:28:44.894" v="106" actId="14100"/>
          <ac:picMkLst>
            <pc:docMk/>
            <pc:sldMk cId="364733940" sldId="284"/>
            <ac:picMk id="2" creationId="{1B5687F4-45A0-92B4-9653-1598AF1BC42E}"/>
          </ac:picMkLst>
        </pc:picChg>
      </pc:sldChg>
      <pc:sldChg chg="modSp mod ord">
        <pc:chgData name="Edgar Rosales Ortega" userId="d1d54fc2-1570-4978-babc-e22e1526833f" providerId="ADAL" clId="{66BE7C30-C669-4152-AC74-10076FC0590C}" dt="2026-04-30T15:57:53.356" v="23"/>
        <pc:sldMkLst>
          <pc:docMk/>
          <pc:sldMk cId="748044913" sldId="287"/>
        </pc:sldMkLst>
        <pc:graphicFrameChg chg="modGraphic">
          <ac:chgData name="Edgar Rosales Ortega" userId="d1d54fc2-1570-4978-babc-e22e1526833f" providerId="ADAL" clId="{66BE7C30-C669-4152-AC74-10076FC0590C}" dt="2026-04-30T00:24:41.776" v="18" actId="20577"/>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9:28:40.485" v="105" actId="14100"/>
        <pc:sldMkLst>
          <pc:docMk/>
          <pc:sldMk cId="3240565764" sldId="297"/>
        </pc:sldMkLst>
        <pc:picChg chg="mod">
          <ac:chgData name="Edgar Rosales Ortega" userId="d1d54fc2-1570-4978-babc-e22e1526833f" providerId="ADAL" clId="{66BE7C30-C669-4152-AC74-10076FC0590C}" dt="2026-05-07T19:28:40.485" v="105" actId="14100"/>
          <ac:picMkLst>
            <pc:docMk/>
            <pc:sldMk cId="3240565764" sldId="297"/>
            <ac:picMk id="5" creationId="{4689FF38-8CFA-FB37-4E7B-B5603B7FC116}"/>
          </ac:picMkLst>
        </pc:picChg>
      </pc:sldChg>
      <pc:sldChg chg="ord">
        <pc:chgData name="Edgar Rosales Ortega" userId="d1d54fc2-1570-4978-babc-e22e1526833f" providerId="ADAL" clId="{66BE7C30-C669-4152-AC74-10076FC0590C}" dt="2026-04-17T20:44:05.223" v="1"/>
        <pc:sldMkLst>
          <pc:docMk/>
          <pc:sldMk cId="750523963" sldId="298"/>
        </pc:sldMkLst>
      </pc:sldChg>
    </pc:docChg>
  </pc:docChgLst>
  <pc:docChgLst>
    <pc:chgData name="Gerardo Jahir Lara Garcia" userId="S::gerardo.larag@imss.gob.mx::84d5cd65-4601-4e92-b448-a9da4809e012" providerId="AD" clId="Web-{B910890F-37F4-B395-3B02-B8E435ABA334}"/>
    <pc:docChg chg="modSld">
      <pc:chgData name="Gerardo Jahir Lara Garcia" userId="S::gerardo.larag@imss.gob.mx::84d5cd65-4601-4e92-b448-a9da4809e012" providerId="AD" clId="Web-{B910890F-37F4-B395-3B02-B8E435ABA334}" dt="2026-05-13T00:06:31.746" v="49" actId="20577"/>
      <pc:docMkLst>
        <pc:docMk/>
      </pc:docMkLst>
      <pc:sldChg chg="addSp delSp modSp">
        <pc:chgData name="Gerardo Jahir Lara Garcia" userId="S::gerardo.larag@imss.gob.mx::84d5cd65-4601-4e92-b448-a9da4809e012" providerId="AD" clId="Web-{B910890F-37F4-B395-3B02-B8E435ABA334}" dt="2026-05-13T00:06:31.746" v="49" actId="20577"/>
        <pc:sldMkLst>
          <pc:docMk/>
          <pc:sldMk cId="364733940" sldId="284"/>
        </pc:sldMkLst>
        <pc:spChg chg="add">
          <ac:chgData name="Gerardo Jahir Lara Garcia" userId="S::gerardo.larag@imss.gob.mx::84d5cd65-4601-4e92-b448-a9da4809e012" providerId="AD" clId="Web-{B910890F-37F4-B395-3B02-B8E435ABA334}" dt="2026-05-13T00:04:33.710" v="1"/>
          <ac:spMkLst>
            <pc:docMk/>
            <pc:sldMk cId="364733940" sldId="284"/>
            <ac:spMk id="3" creationId="{ABCC6279-D2EB-1F1F-D811-3FFF80887FF1}"/>
          </ac:spMkLst>
        </pc:spChg>
        <pc:spChg chg="add mod">
          <ac:chgData name="Gerardo Jahir Lara Garcia" userId="S::gerardo.larag@imss.gob.mx::84d5cd65-4601-4e92-b448-a9da4809e012" providerId="AD" clId="Web-{B910890F-37F4-B395-3B02-B8E435ABA334}" dt="2026-05-13T00:06:31.746" v="49" actId="20577"/>
          <ac:spMkLst>
            <pc:docMk/>
            <pc:sldMk cId="364733940" sldId="284"/>
            <ac:spMk id="6" creationId="{4578A0AA-9DC1-3453-263A-76BE5A8BE282}"/>
          </ac:spMkLst>
        </pc:spChg>
        <pc:spChg chg="add del">
          <ac:chgData name="Gerardo Jahir Lara Garcia" userId="S::gerardo.larag@imss.gob.mx::84d5cd65-4601-4e92-b448-a9da4809e012" providerId="AD" clId="Web-{B910890F-37F4-B395-3B02-B8E435ABA334}" dt="2026-05-13T00:06:01.963" v="13"/>
          <ac:spMkLst>
            <pc:docMk/>
            <pc:sldMk cId="364733940" sldId="284"/>
            <ac:spMk id="9" creationId="{907F7F6F-8FF8-56A0-795F-B2A127C97D4D}"/>
          </ac:spMkLst>
        </pc:spChg>
        <pc:spChg chg="add del">
          <ac:chgData name="Gerardo Jahir Lara Garcia" userId="S::gerardo.larag@imss.gob.mx::84d5cd65-4601-4e92-b448-a9da4809e012" providerId="AD" clId="Web-{B910890F-37F4-B395-3B02-B8E435ABA334}" dt="2026-05-13T00:06:01.963" v="11"/>
          <ac:spMkLst>
            <pc:docMk/>
            <pc:sldMk cId="364733940" sldId="284"/>
            <ac:spMk id="11" creationId="{2C157DF6-A7FD-940D-19DA-323ACD68454D}"/>
          </ac:spMkLst>
        </pc:spChg>
        <pc:picChg chg="add">
          <ac:chgData name="Gerardo Jahir Lara Garcia" userId="S::gerardo.larag@imss.gob.mx::84d5cd65-4601-4e92-b448-a9da4809e012" providerId="AD" clId="Web-{B910890F-37F4-B395-3B02-B8E435ABA334}" dt="2026-05-13T00:04:33.710" v="1"/>
          <ac:picMkLst>
            <pc:docMk/>
            <pc:sldMk cId="364733940" sldId="284"/>
            <ac:picMk id="4" creationId="{488C755F-8E2D-8CE1-6C1B-6DBB55EE2CD3}"/>
          </ac:picMkLst>
        </pc:picChg>
        <pc:picChg chg="add del">
          <ac:chgData name="Gerardo Jahir Lara Garcia" userId="S::gerardo.larag@imss.gob.mx::84d5cd65-4601-4e92-b448-a9da4809e012" providerId="AD" clId="Web-{B910890F-37F4-B395-3B02-B8E435ABA334}" dt="2026-05-13T00:06:01.963" v="14"/>
          <ac:picMkLst>
            <pc:docMk/>
            <pc:sldMk cId="364733940" sldId="284"/>
            <ac:picMk id="8" creationId="{4F2E1097-3694-6090-CBA5-667DCD67E48E}"/>
          </ac:picMkLst>
        </pc:picChg>
        <pc:picChg chg="add del">
          <ac:chgData name="Gerardo Jahir Lara Garcia" userId="S::gerardo.larag@imss.gob.mx::84d5cd65-4601-4e92-b448-a9da4809e012" providerId="AD" clId="Web-{B910890F-37F4-B395-3B02-B8E435ABA334}" dt="2026-05-13T00:06:01.963" v="12"/>
          <ac:picMkLst>
            <pc:docMk/>
            <pc:sldMk cId="364733940" sldId="284"/>
            <ac:picMk id="10" creationId="{CA24C0E7-282C-9B96-A7B5-7554B2C6EF8D}"/>
          </ac:picMkLst>
        </pc:picChg>
      </pc:sldChg>
      <pc:sldChg chg="addSp delSp modSp">
        <pc:chgData name="Gerardo Jahir Lara Garcia" userId="S::gerardo.larag@imss.gob.mx::84d5cd65-4601-4e92-b448-a9da4809e012" providerId="AD" clId="Web-{B910890F-37F4-B395-3B02-B8E435ABA334}" dt="2026-05-13T00:05:29.603" v="10" actId="1076"/>
        <pc:sldMkLst>
          <pc:docMk/>
          <pc:sldMk cId="3240565764" sldId="297"/>
        </pc:sldMkLst>
        <pc:spChg chg="add">
          <ac:chgData name="Gerardo Jahir Lara Garcia" userId="S::gerardo.larag@imss.gob.mx::84d5cd65-4601-4e92-b448-a9da4809e012" providerId="AD" clId="Web-{B910890F-37F4-B395-3B02-B8E435ABA334}" dt="2026-05-13T00:04:25.429" v="0"/>
          <ac:spMkLst>
            <pc:docMk/>
            <pc:sldMk cId="3240565764" sldId="297"/>
            <ac:spMk id="3" creationId="{21AE8FA6-CA77-F761-93C9-BF2570CBBE30}"/>
          </ac:spMkLst>
        </pc:spChg>
        <pc:spChg chg="add del mod">
          <ac:chgData name="Gerardo Jahir Lara Garcia" userId="S::gerardo.larag@imss.gob.mx::84d5cd65-4601-4e92-b448-a9da4809e012" providerId="AD" clId="Web-{B910890F-37F4-B395-3B02-B8E435ABA334}" dt="2026-05-13T00:05:18.071" v="5" actId="20577"/>
          <ac:spMkLst>
            <pc:docMk/>
            <pc:sldMk cId="3240565764" sldId="297"/>
            <ac:spMk id="7" creationId="{FD4175D4-66CF-7FBC-B843-C149C5339DF1}"/>
          </ac:spMkLst>
        </pc:spChg>
        <pc:spChg chg="add del">
          <ac:chgData name="Gerardo Jahir Lara Garcia" userId="S::gerardo.larag@imss.gob.mx::84d5cd65-4601-4e92-b448-a9da4809e012" providerId="AD" clId="Web-{B910890F-37F4-B395-3B02-B8E435ABA334}" dt="2026-05-13T00:05:22.728" v="6"/>
          <ac:spMkLst>
            <pc:docMk/>
            <pc:sldMk cId="3240565764" sldId="297"/>
            <ac:spMk id="9" creationId="{50F1217E-09B0-81A3-6E99-CB1DE729ADDF}"/>
          </ac:spMkLst>
        </pc:spChg>
        <pc:spChg chg="add mod">
          <ac:chgData name="Gerardo Jahir Lara Garcia" userId="S::gerardo.larag@imss.gob.mx::84d5cd65-4601-4e92-b448-a9da4809e012" providerId="AD" clId="Web-{B910890F-37F4-B395-3B02-B8E435ABA334}" dt="2026-05-13T00:05:29.587" v="8" actId="1076"/>
          <ac:spMkLst>
            <pc:docMk/>
            <pc:sldMk cId="3240565764" sldId="297"/>
            <ac:spMk id="10" creationId="{991C7EE4-1170-AC4C-597D-3383D8E8A8F9}"/>
          </ac:spMkLst>
        </pc:spChg>
        <pc:spChg chg="add mod">
          <ac:chgData name="Gerardo Jahir Lara Garcia" userId="S::gerardo.larag@imss.gob.mx::84d5cd65-4601-4e92-b448-a9da4809e012" providerId="AD" clId="Web-{B910890F-37F4-B395-3B02-B8E435ABA334}" dt="2026-05-13T00:05:29.603" v="10" actId="1076"/>
          <ac:spMkLst>
            <pc:docMk/>
            <pc:sldMk cId="3240565764" sldId="297"/>
            <ac:spMk id="12" creationId="{CA535D92-E281-11D7-D7CB-F8BAB9F176B8}"/>
          </ac:spMkLst>
        </pc:spChg>
        <pc:spChg chg="add">
          <ac:chgData name="Gerardo Jahir Lara Garcia" userId="S::gerardo.larag@imss.gob.mx::84d5cd65-4601-4e92-b448-a9da4809e012" providerId="AD" clId="Web-{B910890F-37F4-B395-3B02-B8E435ABA334}" dt="2026-05-13T00:04:25.429" v="0"/>
          <ac:spMkLst>
            <pc:docMk/>
            <pc:sldMk cId="3240565764" sldId="297"/>
            <ac:spMk id="13" creationId="{B9C2E918-974F-A566-8C8B-5DDE4ED4290B}"/>
          </ac:spMkLst>
        </pc:spChg>
        <pc:spChg chg="add">
          <ac:chgData name="Gerardo Jahir Lara Garcia" userId="S::gerardo.larag@imss.gob.mx::84d5cd65-4601-4e92-b448-a9da4809e012" providerId="AD" clId="Web-{B910890F-37F4-B395-3B02-B8E435ABA334}" dt="2026-05-13T00:04:25.429" v="0"/>
          <ac:spMkLst>
            <pc:docMk/>
            <pc:sldMk cId="3240565764" sldId="297"/>
            <ac:spMk id="15" creationId="{A0083CC0-370A-999A-F425-0B0E05DEB5CF}"/>
          </ac:spMkLst>
        </pc:spChg>
        <pc:picChg chg="add">
          <ac:chgData name="Gerardo Jahir Lara Garcia" userId="S::gerardo.larag@imss.gob.mx::84d5cd65-4601-4e92-b448-a9da4809e012" providerId="AD" clId="Web-{B910890F-37F4-B395-3B02-B8E435ABA334}" dt="2026-05-13T00:04:25.429" v="0"/>
          <ac:picMkLst>
            <pc:docMk/>
            <pc:sldMk cId="3240565764" sldId="297"/>
            <ac:picMk id="4" creationId="{AE9FD96F-084C-5DEE-6966-05F8D1633A42}"/>
          </ac:picMkLst>
        </pc:picChg>
        <pc:picChg chg="del">
          <ac:chgData name="Gerardo Jahir Lara Garcia" userId="S::gerardo.larag@imss.gob.mx::84d5cd65-4601-4e92-b448-a9da4809e012" providerId="AD" clId="Web-{B910890F-37F4-B395-3B02-B8E435ABA334}" dt="2026-05-13T00:05:22.728" v="7"/>
          <ac:picMkLst>
            <pc:docMk/>
            <pc:sldMk cId="3240565764" sldId="297"/>
            <ac:picMk id="8" creationId="{170CBE01-E044-2F44-556A-69D0B561DC01}"/>
          </ac:picMkLst>
        </pc:picChg>
        <pc:picChg chg="add mod">
          <ac:chgData name="Gerardo Jahir Lara Garcia" userId="S::gerardo.larag@imss.gob.mx::84d5cd65-4601-4e92-b448-a9da4809e012" providerId="AD" clId="Web-{B910890F-37F4-B395-3B02-B8E435ABA334}" dt="2026-05-13T00:05:29.603" v="9" actId="1076"/>
          <ac:picMkLst>
            <pc:docMk/>
            <pc:sldMk cId="3240565764" sldId="297"/>
            <ac:picMk id="11" creationId="{F7B31A16-FD1A-331A-6F76-259EB810FD76}"/>
          </ac:picMkLst>
        </pc:picChg>
        <pc:picChg chg="add">
          <ac:chgData name="Gerardo Jahir Lara Garcia" userId="S::gerardo.larag@imss.gob.mx::84d5cd65-4601-4e92-b448-a9da4809e012" providerId="AD" clId="Web-{B910890F-37F4-B395-3B02-B8E435ABA334}" dt="2026-05-13T00:04:25.429" v="0"/>
          <ac:picMkLst>
            <pc:docMk/>
            <pc:sldMk cId="3240565764" sldId="297"/>
            <ac:picMk id="14" creationId="{C365C7D6-999E-5396-FE1A-9AF265B06DAC}"/>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549ECF"/>
              </a:solidFill>
            </c:spPr>
          </c:dPt>
          <c:dPt>
            <c:idx val="2"/>
            <c:spPr>
              <a:solidFill>
                <a:srgbClr val="691C32"/>
              </a:solidFill>
            </c:spPr>
          </c:dPt>
          <c:dPt>
            <c:idx val="3"/>
            <c:spPr>
              <a:solidFill>
                <a:srgbClr val="BC955C"/>
              </a:solidFill>
            </c:spPr>
          </c:dPt>
          <c:dPt>
            <c:idx val="4"/>
            <c:spPr>
              <a:solidFill>
                <a:srgbClr val="9E9E9E"/>
              </a:solidFill>
            </c:spPr>
          </c:dPt>
          <c:cat>
            <c:strRef>
              <c:f>Sheet1!$A$2:$A$6</c:f>
              <c:strCache>
                <c:ptCount val="5"/>
                <c:pt idx="0">
                  <c:v>IMSS</c:v>
                </c:pt>
                <c:pt idx="1">
                  <c:v>IMSS Coplamar</c:v>
                </c:pt>
                <c:pt idx="2">
                  <c:v>ISSSTE</c:v>
                </c:pt>
                <c:pt idx="3">
                  <c:v>IMSS-BIENESTAR</c:v>
                </c:pt>
                <c:pt idx="4">
                  <c:v>Otros</c:v>
                </c:pt>
              </c:strCache>
            </c:strRef>
          </c:cat>
          <c:val>
            <c:numRef>
              <c:f>Sheet1!$B$2:$B$6</c:f>
              <c:numCache>
                <c:formatCode>General</c:formatCode>
                <c:ptCount val="5"/>
                <c:pt idx="0">
                  <c:v>2932750.0</c:v>
                </c:pt>
                <c:pt idx="1">
                  <c:v>1449130.0</c:v>
                </c:pt>
                <c:pt idx="2">
                  <c:v>683285.0</c:v>
                </c:pt>
                <c:pt idx="3">
                  <c:v>2802065.0</c:v>
                </c:pt>
                <c:pt idx="4">
                  <c:v>244583.0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38.90400986126393</c:v>
                </c:pt>
                <c:pt idx="1">
                  <c:v>61.09599013873607</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12.351245130299999</c:v>
                </c:pt>
                <c:pt idx="1">
                  <c:v>87.6487548697</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36.16</c:v>
                </c:pt>
                <c:pt idx="1">
                  <c:v>63.84</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32.1</c:v>
                </c:pt>
                <c:pt idx="1">
                  <c:v>67.9</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209</c:v>
                </c:pt>
                <c:pt idx="1">
                  <c:v>380</c:v>
                </c:pt>
                <c:pt idx="2">
                  <c:v>358</c:v>
                </c:pt>
                <c:pt idx="3">
                  <c:v>345</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Agricultura, Ganaderia, Silvicultura, Pesca y Caza</c:v>
                </c:pt>
                <c:pt idx="1">
                  <c:v>Ind Eléctrica y Captación y Suministro de Agua Potable</c:v>
                </c:pt>
                <c:pt idx="2">
                  <c:v>Industria de la Construcción</c:v>
                </c:pt>
                <c:pt idx="3">
                  <c:v>Industrias de la Transformación</c:v>
                </c:pt>
                <c:pt idx="4">
                  <c:v>Servicios para Empresas, Personas y el Hogar</c:v>
                </c:pt>
                <c:pt idx="5">
                  <c:v>Servicios Sociales y Comunales</c:v>
                </c:pt>
                <c:pt idx="6">
                  <c:v>Transportes y Comunicaciones</c:v>
                </c:pt>
                <c:pt idx="7">
                  <c:v>Industrias Extractivas</c:v>
                </c:pt>
                <c:pt idx="8">
                  <c:v>Comercio</c:v>
                </c:pt>
              </c:strCache>
            </c:strRef>
          </c:cat>
          <c:val>
            <c:numRef>
              <c:f>Sheet1!$B$2:$B$10</c:f>
              <c:numCache>
                <c:formatCode>General</c:formatCode>
                <c:ptCount val="9"/>
                <c:pt idx="0">
                  <c:v>54160</c:v>
                </c:pt>
                <c:pt idx="1">
                  <c:v>14426</c:v>
                </c:pt>
                <c:pt idx="2">
                  <c:v>68452</c:v>
                </c:pt>
                <c:pt idx="3">
                  <c:v>97167</c:v>
                </c:pt>
                <c:pt idx="4">
                  <c:v>114345</c:v>
                </c:pt>
                <c:pt idx="5">
                  <c:v>173178</c:v>
                </c:pt>
                <c:pt idx="6">
                  <c:v>59241</c:v>
                </c:pt>
                <c:pt idx="7">
                  <c:v>3761</c:v>
                </c:pt>
                <c:pt idx="8">
                  <c:v>196083</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Agricultura, Ganaderia, Silvicultura, Pesca y Caza</c:v>
                </c:pt>
                <c:pt idx="1">
                  <c:v>Ind Eléctrica y Captación y Suministro de Agua Potable</c:v>
                </c:pt>
                <c:pt idx="2">
                  <c:v>Industria de la Construcción</c:v>
                </c:pt>
                <c:pt idx="3">
                  <c:v>Industrias de la Transformación</c:v>
                </c:pt>
                <c:pt idx="4">
                  <c:v>Servicios para Empresas, Personas y el Hogar</c:v>
                </c:pt>
                <c:pt idx="5">
                  <c:v>Servicios Sociales y Comunales</c:v>
                </c:pt>
                <c:pt idx="6">
                  <c:v>Transportes y Comunicaciones</c:v>
                </c:pt>
                <c:pt idx="7">
                  <c:v>Industrias Extractivas</c:v>
                </c:pt>
                <c:pt idx="8">
                  <c:v>Comercio</c:v>
                </c:pt>
              </c:strCache>
            </c:strRef>
          </c:cat>
          <c:val>
            <c:numRef>
              <c:f>Sheet1!$C$2:$C$10</c:f>
              <c:numCache>
                <c:formatCode>General</c:formatCode>
                <c:ptCount val="9"/>
                <c:pt idx="0">
                  <c:v>48480</c:v>
                </c:pt>
                <c:pt idx="1">
                  <c:v>13937</c:v>
                </c:pt>
                <c:pt idx="2">
                  <c:v>67024</c:v>
                </c:pt>
                <c:pt idx="3">
                  <c:v>96849</c:v>
                </c:pt>
                <c:pt idx="4">
                  <c:v>114238</c:v>
                </c:pt>
                <c:pt idx="5">
                  <c:v>173081</c:v>
                </c:pt>
                <c:pt idx="6">
                  <c:v>59680</c:v>
                </c:pt>
                <c:pt idx="7">
                  <c:v>3795</c:v>
                </c:pt>
                <c:pt idx="8">
                  <c:v>198991</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745991</c:v>
                </c:pt>
                <c:pt idx="1">
                  <c:v>760303</c:v>
                </c:pt>
                <c:pt idx="2">
                  <c:v>744520</c:v>
                </c:pt>
                <c:pt idx="3">
                  <c:v>726105</c:v>
                </c:pt>
                <c:pt idx="4">
                  <c:v>746297</c:v>
                </c:pt>
                <c:pt idx="5">
                  <c:v>759530</c:v>
                </c:pt>
                <c:pt idx="6">
                  <c:v>785597</c:v>
                </c:pt>
                <c:pt idx="7">
                  <c:v>780813</c:v>
                </c:pt>
                <c:pt idx="8">
                  <c:v>776075</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70e87ffe7a_0_0: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g370e87ffe7a_0_0: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370e87ffe7a_0_0: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3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2.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Veracruz</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Mayo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30_Veracruz.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54% de la población (incluye COPLAMAR)</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2,932,750</a:t>
            </a:r>
            <a:br/>
            <a:r>
              <a:t>36%</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5600" y="2487600"/>
            <a:ext cx="1188000" cy="503999"/>
          </a:xfrm>
          <a:prstGeom prst="rect">
            <a:avLst/>
          </a:prstGeom>
          <a:noFill/>
        </p:spPr>
        <p:txBody>
          <a:bodyPr wrap="none"/>
          <a:lstStyle/>
          <a:p>
            <a:pPr algn="l">
              <a:defRPr sz="1400" b="1">
                <a:solidFill>
                  <a:srgbClr val="595959"/>
                </a:solidFill>
                <a:latin typeface="Montserrat"/>
              </a:defRPr>
            </a:pPr>
            <a:r>
              <a:t>1,449,130</a:t>
            </a:r>
            <a:br/>
            <a:r>
              <a:t>18%</a:t>
            </a:r>
          </a:p>
        </p:txBody>
      </p:sp>
      <p:pic>
        <p:nvPicPr>
          <p:cNvPr id="122" name="Picture 121" descr="imss_coplamar.png"/>
          <p:cNvPicPr>
            <a:picLocks noChangeAspect="1"/>
          </p:cNvPicPr>
          <p:nvPr/>
        </p:nvPicPr>
        <p:blipFill>
          <a:blip r:embed="rId7"/>
          <a:stretch>
            <a:fillRect/>
          </a:stretch>
        </p:blipFill>
        <p:spPr>
          <a:xfrm>
            <a:off x="6004800" y="2523600"/>
            <a:ext cx="586036" cy="468000"/>
          </a:xfrm>
          <a:prstGeom prst="rect">
            <a:avLst/>
          </a:prstGeom>
        </p:spPr>
      </p:pic>
      <p:sp>
        <p:nvSpPr>
          <p:cNvPr id="123" name="Rectangle 122"/>
          <p:cNvSpPr/>
          <p:nvPr/>
        </p:nvSpPr>
        <p:spPr>
          <a:xfrm>
            <a:off x="5796000" y="2696400"/>
            <a:ext cx="122400" cy="122400"/>
          </a:xfrm>
          <a:prstGeom prst="rect">
            <a:avLst/>
          </a:prstGeom>
          <a:solidFill>
            <a:srgbClr val="539ED0"/>
          </a:solidFill>
          <a:ln>
            <a:solidFill>
              <a:srgbClr val="539E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683,285</a:t>
            </a:r>
            <a:br/>
            <a:r>
              <a:t>8%</a:t>
            </a:r>
          </a:p>
        </p:txBody>
      </p:sp>
      <p:pic>
        <p:nvPicPr>
          <p:cNvPr id="125" name="Picture 124" descr="issste.png"/>
          <p:cNvPicPr>
            <a:picLocks noChangeAspect="1"/>
          </p:cNvPicPr>
          <p:nvPr/>
        </p:nvPicPr>
        <p:blipFill>
          <a:blip r:embed="rId8"/>
          <a:stretch>
            <a:fillRect/>
          </a:stretch>
        </p:blipFill>
        <p:spPr>
          <a:xfrm>
            <a:off x="5151600" y="3798000"/>
            <a:ext cx="1437091" cy="468000"/>
          </a:xfrm>
          <a:prstGeom prst="rect">
            <a:avLst/>
          </a:prstGeom>
        </p:spPr>
      </p:pic>
      <p:sp>
        <p:nvSpPr>
          <p:cNvPr id="126" name="Rectangle 125"/>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2,802,065</a:t>
            </a:r>
            <a:br/>
            <a:r>
              <a:t>35%</a:t>
            </a:r>
          </a:p>
        </p:txBody>
      </p:sp>
      <p:pic>
        <p:nvPicPr>
          <p:cNvPr id="128" name="Picture 127" descr="30.png"/>
          <p:cNvPicPr>
            <a:picLocks noChangeAspect="1"/>
          </p:cNvPicPr>
          <p:nvPr/>
        </p:nvPicPr>
        <p:blipFill>
          <a:blip r:embed="rId9"/>
          <a:stretch>
            <a:fillRect/>
          </a:stretch>
        </p:blipFill>
        <p:spPr>
          <a:xfrm>
            <a:off x="1220400" y="3290400"/>
            <a:ext cx="1904118" cy="468000"/>
          </a:xfrm>
          <a:prstGeom prst="rect">
            <a:avLst/>
          </a:prstGeom>
        </p:spPr>
      </p:pic>
      <p:sp>
        <p:nvSpPr>
          <p:cNvPr id="129" name="Rectangle 128"/>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244,583</a:t>
            </a:r>
            <a:br/>
            <a:r>
              <a:t>3%</a:t>
            </a:r>
          </a:p>
        </p:txBody>
      </p:sp>
      <p:pic>
        <p:nvPicPr>
          <p:cNvPr id="131" name="Picture 130" descr="otros.png"/>
          <p:cNvPicPr>
            <a:picLocks noChangeAspect="1"/>
          </p:cNvPicPr>
          <p:nvPr/>
        </p:nvPicPr>
        <p:blipFill>
          <a:blip r:embed="rId10"/>
          <a:stretch>
            <a:fillRect/>
          </a:stretch>
        </p:blipFill>
        <p:spPr>
          <a:xfrm>
            <a:off x="1220400" y="1800000"/>
            <a:ext cx="468000" cy="468000"/>
          </a:xfrm>
          <a:prstGeom prst="rect">
            <a:avLst/>
          </a:prstGeom>
        </p:spPr>
      </p:pic>
      <p:sp>
        <p:nvSpPr>
          <p:cNvPr id="132" name="Rectangle 131"/>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8,111,813</a:t>
            </a:r>
          </a:p>
        </p:txBody>
      </p:sp>
      <p:sp>
        <p:nvSpPr>
          <p:cNvPr id="134" name="TextBox 133"/>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5" name="TextBox 134"/>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6" name="TextBox 135"/>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7" name="Table 136"/>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2,742,560</a:t>
                      </a:r>
                    </a:p>
                  </a:txBody>
                  <a:tcPr>
                    <a:solidFill>
                      <a:srgbClr val="EBD2D9"/>
                    </a:solidFill>
                  </a:tcPr>
                </a:tc>
                <a:tc>
                  <a:txBody>
                    <a:bodyPr/>
                    <a:lstStyle/>
                    <a:p>
                      <a:pPr algn="ctr">
                        <a:defRPr sz="900" b="1">
                          <a:solidFill>
                            <a:srgbClr val="000000"/>
                          </a:solidFill>
                          <a:latin typeface="Montserrat"/>
                        </a:defRPr>
                      </a:pPr>
                      <a:r>
                        <a:t>2,932,750</a:t>
                      </a:r>
                    </a:p>
                  </a:txBody>
                  <a:tcPr>
                    <a:solidFill>
                      <a:srgbClr val="EBD2D9"/>
                    </a:solidFill>
                  </a:tcPr>
                </a:tc>
                <a:tc>
                  <a:txBody>
                    <a:bodyPr/>
                    <a:lstStyle/>
                    <a:p>
                      <a:pPr algn="ctr">
                        <a:defRPr sz="900" b="1">
                          <a:solidFill>
                            <a:srgbClr val="000000"/>
                          </a:solidFill>
                          <a:latin typeface="Montserrat"/>
                        </a:defRPr>
                      </a:pPr>
                      <a:r>
                        <a:t>7%</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1,515,234</a:t>
                      </a:r>
                    </a:p>
                  </a:txBody>
                  <a:tcPr>
                    <a:solidFill>
                      <a:srgbClr val="EBD2D9"/>
                    </a:solidFill>
                  </a:tcPr>
                </a:tc>
                <a:tc>
                  <a:txBody>
                    <a:bodyPr/>
                    <a:lstStyle/>
                    <a:p>
                      <a:pPr algn="ctr">
                        <a:defRPr sz="900" b="1">
                          <a:solidFill>
                            <a:srgbClr val="000000"/>
                          </a:solidFill>
                          <a:latin typeface="Montserrat"/>
                        </a:defRPr>
                      </a:pPr>
                      <a:r>
                        <a:t>1,699,465</a:t>
                      </a:r>
                    </a:p>
                  </a:txBody>
                  <a:tcPr>
                    <a:solidFill>
                      <a:srgbClr val="EBD2D9"/>
                    </a:solidFill>
                  </a:tcPr>
                </a:tc>
                <a:tc>
                  <a:txBody>
                    <a:bodyPr/>
                    <a:lstStyle/>
                    <a:p>
                      <a:pPr algn="ctr">
                        <a:defRPr sz="900" b="1">
                          <a:solidFill>
                            <a:srgbClr val="000000"/>
                          </a:solidFill>
                          <a:latin typeface="Montserrat"/>
                        </a:defRPr>
                      </a:pPr>
                      <a:r>
                        <a:t>12%</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752,659</a:t>
                      </a:r>
                    </a:p>
                  </a:txBody>
                  <a:tcPr>
                    <a:solidFill>
                      <a:srgbClr val="F8F4EC"/>
                    </a:solidFill>
                  </a:tcPr>
                </a:tc>
                <a:tc>
                  <a:txBody>
                    <a:bodyPr/>
                    <a:lstStyle/>
                    <a:p>
                      <a:pPr algn="ctr">
                        <a:defRPr sz="900" b="1">
                          <a:solidFill>
                            <a:srgbClr val="000000"/>
                          </a:solidFill>
                          <a:latin typeface="Montserrat"/>
                        </a:defRPr>
                      </a:pPr>
                      <a:r>
                        <a:t>776,075</a:t>
                      </a:r>
                    </a:p>
                  </a:txBody>
                  <a:tcPr>
                    <a:solidFill>
                      <a:srgbClr val="F8F4EC"/>
                    </a:solidFill>
                  </a:tcPr>
                </a:tc>
                <a:tc>
                  <a:txBody>
                    <a:bodyPr/>
                    <a:lstStyle/>
                    <a:p>
                      <a:pPr algn="ctr">
                        <a:defRPr sz="900" b="1">
                          <a:solidFill>
                            <a:srgbClr val="000000"/>
                          </a:solidFill>
                          <a:latin typeface="Montserrat"/>
                        </a:defRPr>
                      </a:pPr>
                      <a:r>
                        <a:t>3%</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246,025</a:t>
                      </a:r>
                    </a:p>
                  </a:txBody>
                  <a:tcPr>
                    <a:solidFill>
                      <a:srgbClr val="FFFFFF"/>
                    </a:solidFill>
                  </a:tcPr>
                </a:tc>
                <a:tc>
                  <a:txBody>
                    <a:bodyPr/>
                    <a:lstStyle/>
                    <a:p>
                      <a:pPr algn="ctr">
                        <a:defRPr sz="900">
                          <a:solidFill>
                            <a:srgbClr val="000000"/>
                          </a:solidFill>
                          <a:latin typeface="Montserrat"/>
                        </a:defRPr>
                      </a:pPr>
                      <a:r>
                        <a:t>319,036</a:t>
                      </a:r>
                    </a:p>
                  </a:txBody>
                  <a:tcPr>
                    <a:solidFill>
                      <a:srgbClr val="FFFFFF"/>
                    </a:solidFill>
                  </a:tcPr>
                </a:tc>
                <a:tc>
                  <a:txBody>
                    <a:bodyPr/>
                    <a:lstStyle/>
                    <a:p>
                      <a:pPr algn="ctr">
                        <a:defRPr sz="900">
                          <a:solidFill>
                            <a:srgbClr val="000000"/>
                          </a:solidFill>
                          <a:latin typeface="Montserrat"/>
                        </a:defRPr>
                      </a:pPr>
                      <a:r>
                        <a:t>30%</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26,786</a:t>
                      </a:r>
                    </a:p>
                  </a:txBody>
                  <a:tcPr>
                    <a:solidFill>
                      <a:srgbClr val="FFFFFF"/>
                    </a:solidFill>
                  </a:tcPr>
                </a:tc>
                <a:tc>
                  <a:txBody>
                    <a:bodyPr/>
                    <a:lstStyle/>
                    <a:p>
                      <a:pPr algn="ctr">
                        <a:defRPr sz="900">
                          <a:solidFill>
                            <a:srgbClr val="000000"/>
                          </a:solidFill>
                          <a:latin typeface="Montserrat"/>
                        </a:defRPr>
                      </a:pPr>
                      <a:r>
                        <a:t>31,449</a:t>
                      </a:r>
                    </a:p>
                  </a:txBody>
                  <a:tcPr>
                    <a:solidFill>
                      <a:srgbClr val="FFFFFF"/>
                    </a:solidFill>
                  </a:tcPr>
                </a:tc>
                <a:tc>
                  <a:txBody>
                    <a:bodyPr/>
                    <a:lstStyle/>
                    <a:p>
                      <a:pPr algn="ctr">
                        <a:defRPr sz="900">
                          <a:solidFill>
                            <a:srgbClr val="000000"/>
                          </a:solidFill>
                          <a:latin typeface="Montserrat"/>
                        </a:defRPr>
                      </a:pPr>
                      <a:r>
                        <a:t>17%</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489,764</a:t>
                      </a:r>
                    </a:p>
                  </a:txBody>
                  <a:tcPr>
                    <a:solidFill>
                      <a:srgbClr val="CCE0DD"/>
                    </a:solidFill>
                  </a:tcPr>
                </a:tc>
                <a:tc>
                  <a:txBody>
                    <a:bodyPr/>
                    <a:lstStyle/>
                    <a:p>
                      <a:pPr algn="ctr">
                        <a:defRPr sz="900" b="1">
                          <a:solidFill>
                            <a:srgbClr val="000000"/>
                          </a:solidFill>
                          <a:latin typeface="Montserrat"/>
                        </a:defRPr>
                      </a:pPr>
                      <a:r>
                        <a:t>443,370</a:t>
                      </a:r>
                    </a:p>
                  </a:txBody>
                  <a:tcPr>
                    <a:solidFill>
                      <a:srgbClr val="CCE0DD"/>
                    </a:solidFill>
                  </a:tcPr>
                </a:tc>
                <a:tc>
                  <a:txBody>
                    <a:bodyPr/>
                    <a:lstStyle/>
                    <a:p>
                      <a:pPr algn="ctr">
                        <a:defRPr sz="900" b="1">
                          <a:solidFill>
                            <a:srgbClr val="000000"/>
                          </a:solidFill>
                          <a:latin typeface="Montserrat"/>
                        </a:defRPr>
                      </a:pPr>
                      <a:r>
                        <a:t>-9%</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442,810</a:t>
                      </a:r>
                    </a:p>
                  </a:txBody>
                  <a:tcPr>
                    <a:solidFill>
                      <a:srgbClr val="FFFFFF"/>
                    </a:solidFill>
                  </a:tcPr>
                </a:tc>
                <a:tc>
                  <a:txBody>
                    <a:bodyPr/>
                    <a:lstStyle/>
                    <a:p>
                      <a:pPr algn="ctr">
                        <a:defRPr sz="900">
                          <a:solidFill>
                            <a:srgbClr val="000000"/>
                          </a:solidFill>
                          <a:latin typeface="Montserrat"/>
                        </a:defRPr>
                      </a:pPr>
                      <a:r>
                        <a:t>401,748</a:t>
                      </a:r>
                    </a:p>
                  </a:txBody>
                  <a:tcPr>
                    <a:solidFill>
                      <a:srgbClr val="FFFFFF"/>
                    </a:solidFill>
                  </a:tcPr>
                </a:tc>
                <a:tc>
                  <a:txBody>
                    <a:bodyPr/>
                    <a:lstStyle/>
                    <a:p>
                      <a:pPr algn="ctr">
                        <a:defRPr sz="900">
                          <a:solidFill>
                            <a:srgbClr val="000000"/>
                          </a:solidFill>
                          <a:latin typeface="Montserrat"/>
                        </a:defRPr>
                      </a:pPr>
                      <a:r>
                        <a:t>-9%</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43,078</a:t>
                      </a:r>
                    </a:p>
                  </a:txBody>
                  <a:tcPr>
                    <a:solidFill>
                      <a:srgbClr val="FFFFFF"/>
                    </a:solidFill>
                  </a:tcPr>
                </a:tc>
                <a:tc>
                  <a:txBody>
                    <a:bodyPr/>
                    <a:lstStyle/>
                    <a:p>
                      <a:pPr algn="ctr">
                        <a:defRPr sz="900">
                          <a:solidFill>
                            <a:srgbClr val="000000"/>
                          </a:solidFill>
                          <a:latin typeface="Montserrat"/>
                        </a:defRPr>
                      </a:pPr>
                      <a:r>
                        <a:t>34,940</a:t>
                      </a:r>
                    </a:p>
                  </a:txBody>
                  <a:tcPr>
                    <a:solidFill>
                      <a:srgbClr val="FFFFFF"/>
                    </a:solidFill>
                  </a:tcPr>
                </a:tc>
                <a:tc>
                  <a:txBody>
                    <a:bodyPr/>
                    <a:lstStyle/>
                    <a:p>
                      <a:pPr algn="ctr">
                        <a:defRPr sz="900">
                          <a:solidFill>
                            <a:srgbClr val="000000"/>
                          </a:solidFill>
                          <a:latin typeface="Montserrat"/>
                        </a:defRPr>
                      </a:pPr>
                      <a:r>
                        <a:t>-19%</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3,876</a:t>
                      </a:r>
                    </a:p>
                  </a:txBody>
                  <a:tcPr>
                    <a:solidFill>
                      <a:srgbClr val="FFFFFF"/>
                    </a:solidFill>
                  </a:tcPr>
                </a:tc>
                <a:tc>
                  <a:txBody>
                    <a:bodyPr/>
                    <a:lstStyle/>
                    <a:p>
                      <a:pPr algn="ctr">
                        <a:defRPr sz="900">
                          <a:solidFill>
                            <a:srgbClr val="000000"/>
                          </a:solidFill>
                          <a:latin typeface="Montserrat"/>
                        </a:defRPr>
                      </a:pPr>
                      <a:r>
                        <a:t>6,682</a:t>
                      </a:r>
                    </a:p>
                  </a:txBody>
                  <a:tcPr>
                    <a:solidFill>
                      <a:srgbClr val="FFFFFF"/>
                    </a:solidFill>
                  </a:tcPr>
                </a:tc>
                <a:tc>
                  <a:txBody>
                    <a:bodyPr/>
                    <a:lstStyle/>
                    <a:p>
                      <a:pPr algn="ctr">
                        <a:defRPr sz="900">
                          <a:solidFill>
                            <a:srgbClr val="000000"/>
                          </a:solidFill>
                          <a:latin typeface="Montserrat"/>
                        </a:defRPr>
                      </a:pPr>
                      <a:r>
                        <a:t>72%</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1,227,326</a:t>
                      </a:r>
                    </a:p>
                  </a:txBody>
                  <a:tcPr>
                    <a:solidFill>
                      <a:srgbClr val="EBD2D9"/>
                    </a:solidFill>
                  </a:tcPr>
                </a:tc>
                <a:tc>
                  <a:txBody>
                    <a:bodyPr/>
                    <a:lstStyle/>
                    <a:p>
                      <a:pPr algn="ctr">
                        <a:defRPr sz="900" b="1">
                          <a:solidFill>
                            <a:srgbClr val="000000"/>
                          </a:solidFill>
                          <a:latin typeface="Montserrat"/>
                        </a:defRPr>
                      </a:pPr>
                      <a:r>
                        <a:t>1,233,285</a:t>
                      </a:r>
                    </a:p>
                  </a:txBody>
                  <a:tcPr>
                    <a:solidFill>
                      <a:srgbClr val="EBD2D9"/>
                    </a:solidFill>
                  </a:tcPr>
                </a:tc>
                <a:tc>
                  <a:txBody>
                    <a:bodyPr/>
                    <a:lstStyle/>
                    <a:p>
                      <a:pPr algn="ctr">
                        <a:defRPr sz="900" b="1">
                          <a:solidFill>
                            <a:srgbClr val="000000"/>
                          </a:solidFill>
                          <a:latin typeface="Montserrat"/>
                        </a:defRPr>
                      </a:pPr>
                      <a:r>
                        <a:t>0%</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426,959</a:t>
                      </a:r>
                    </a:p>
                  </a:txBody>
                  <a:tcPr>
                    <a:solidFill>
                      <a:srgbClr val="FFFFFF"/>
                    </a:solidFill>
                  </a:tcPr>
                </a:tc>
                <a:tc>
                  <a:txBody>
                    <a:bodyPr/>
                    <a:lstStyle/>
                    <a:p>
                      <a:pPr algn="ctr">
                        <a:defRPr sz="900">
                          <a:solidFill>
                            <a:srgbClr val="000000"/>
                          </a:solidFill>
                          <a:latin typeface="Montserrat"/>
                        </a:defRPr>
                      </a:pPr>
                      <a:r>
                        <a:t>447,815</a:t>
                      </a:r>
                    </a:p>
                  </a:txBody>
                  <a:tcPr>
                    <a:solidFill>
                      <a:srgbClr val="FFFFFF"/>
                    </a:solidFill>
                  </a:tcPr>
                </a:tc>
                <a:tc>
                  <a:txBody>
                    <a:bodyPr/>
                    <a:lstStyle/>
                    <a:p>
                      <a:pPr algn="ctr">
                        <a:defRPr sz="900">
                          <a:solidFill>
                            <a:srgbClr val="000000"/>
                          </a:solidFill>
                          <a:latin typeface="Montserrat"/>
                        </a:defRPr>
                      </a:pPr>
                      <a:r>
                        <a:t>5%</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519,589</a:t>
                      </a:r>
                    </a:p>
                  </a:txBody>
                  <a:tcPr>
                    <a:solidFill>
                      <a:srgbClr val="FFFFFF"/>
                    </a:solidFill>
                  </a:tcPr>
                </a:tc>
                <a:tc>
                  <a:txBody>
                    <a:bodyPr/>
                    <a:lstStyle/>
                    <a:p>
                      <a:pPr algn="ctr">
                        <a:defRPr sz="900">
                          <a:solidFill>
                            <a:srgbClr val="000000"/>
                          </a:solidFill>
                          <a:latin typeface="Montserrat"/>
                        </a:defRPr>
                      </a:pPr>
                      <a:r>
                        <a:t>433,759</a:t>
                      </a:r>
                    </a:p>
                  </a:txBody>
                  <a:tcPr>
                    <a:solidFill>
                      <a:srgbClr val="FFFFFF"/>
                    </a:solidFill>
                  </a:tcPr>
                </a:tc>
                <a:tc>
                  <a:txBody>
                    <a:bodyPr/>
                    <a:lstStyle/>
                    <a:p>
                      <a:pPr algn="ctr">
                        <a:defRPr sz="900">
                          <a:solidFill>
                            <a:srgbClr val="000000"/>
                          </a:solidFill>
                          <a:latin typeface="Montserrat"/>
                        </a:defRPr>
                      </a:pPr>
                      <a:r>
                        <a:t>-17%</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280,778</a:t>
                      </a:r>
                    </a:p>
                  </a:txBody>
                  <a:tcPr>
                    <a:solidFill>
                      <a:srgbClr val="FFFFFF"/>
                    </a:solidFill>
                  </a:tcPr>
                </a:tc>
                <a:tc>
                  <a:txBody>
                    <a:bodyPr/>
                    <a:lstStyle/>
                    <a:p>
                      <a:pPr algn="ctr">
                        <a:defRPr sz="900">
                          <a:solidFill>
                            <a:srgbClr val="000000"/>
                          </a:solidFill>
                          <a:latin typeface="Montserrat"/>
                        </a:defRPr>
                      </a:pPr>
                      <a:r>
                        <a:t>351,711</a:t>
                      </a:r>
                    </a:p>
                  </a:txBody>
                  <a:tcPr>
                    <a:solidFill>
                      <a:srgbClr val="FFFFFF"/>
                    </a:solidFill>
                  </a:tcPr>
                </a:tc>
                <a:tc>
                  <a:txBody>
                    <a:bodyPr/>
                    <a:lstStyle/>
                    <a:p>
                      <a:pPr algn="ctr">
                        <a:defRPr sz="900">
                          <a:solidFill>
                            <a:srgbClr val="000000"/>
                          </a:solidFill>
                          <a:latin typeface="Montserrat"/>
                        </a:defRPr>
                      </a:pPr>
                      <a:r>
                        <a:t>25%</a:t>
                      </a:r>
                    </a:p>
                  </a:txBody>
                  <a:tcPr>
                    <a:solidFill>
                      <a:srgbClr val="FFFFFF"/>
                    </a:solidFill>
                  </a:tcPr>
                </a:tc>
              </a:tr>
            </a:tbl>
          </a:graphicData>
        </a:graphic>
      </p:graphicFrame>
      <p:graphicFrame>
        <p:nvGraphicFramePr>
          <p:cNvPr id="138" name="Table 137"/>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2,807</a:t>
                      </a:r>
                    </a:p>
                  </a:txBody>
                  <a:tcPr>
                    <a:solidFill>
                      <a:srgbClr val="F8F4EC"/>
                    </a:solidFill>
                  </a:tcPr>
                </a:tc>
                <a:tc>
                  <a:txBody>
                    <a:bodyPr/>
                    <a:lstStyle/>
                    <a:p>
                      <a:pPr algn="ctr">
                        <a:defRPr b="1" sz="900">
                          <a:latin typeface="Montserrat"/>
                        </a:defRPr>
                      </a:pPr>
                      <a:r>
                        <a:t>2,647</a:t>
                      </a:r>
                    </a:p>
                  </a:txBody>
                  <a:tcPr>
                    <a:solidFill>
                      <a:srgbClr val="F8F4EC"/>
                    </a:solidFill>
                  </a:tcPr>
                </a:tc>
                <a:tc>
                  <a:txBody>
                    <a:bodyPr/>
                    <a:lstStyle/>
                    <a:p>
                      <a:pPr algn="ctr">
                        <a:defRPr b="1" sz="900">
                          <a:solidFill>
                            <a:srgbClr val="A61C00"/>
                          </a:solidFill>
                          <a:latin typeface="Montserrat"/>
                        </a:defRPr>
                      </a:pPr>
                      <a:r>
                        <a:t>-5%</a:t>
                      </a:r>
                    </a:p>
                  </a:txBody>
                  <a:tcPr>
                    <a:solidFill>
                      <a:srgbClr val="F8F4EC"/>
                    </a:solidFill>
                  </a:tcPr>
                </a:tc>
              </a:tr>
            </a:tbl>
          </a:graphicData>
        </a:graphic>
      </p:graphicFrame>
      <p:graphicFrame>
        <p:nvGraphicFramePr>
          <p:cNvPr id="139" name="Table 138"/>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12,030</a:t>
                      </a:r>
                    </a:p>
                  </a:txBody>
                  <a:tcPr>
                    <a:solidFill>
                      <a:srgbClr val="F8F4EC"/>
                    </a:solidFill>
                  </a:tcPr>
                </a:tc>
                <a:tc>
                  <a:txBody>
                    <a:bodyPr/>
                    <a:lstStyle/>
                    <a:p>
                      <a:pPr algn="ctr">
                        <a:defRPr b="1" sz="900">
                          <a:latin typeface="Montserrat"/>
                        </a:defRPr>
                      </a:pPr>
                      <a:r>
                        <a:t>16,205</a:t>
                      </a:r>
                    </a:p>
                  </a:txBody>
                  <a:tcPr>
                    <a:solidFill>
                      <a:srgbClr val="F8F4EC"/>
                    </a:solidFill>
                  </a:tcPr>
                </a:tc>
                <a:tc>
                  <a:txBody>
                    <a:bodyPr/>
                    <a:lstStyle/>
                    <a:p>
                      <a:pPr algn="ctr">
                        <a:defRPr b="1" sz="900">
                          <a:latin typeface="Montserrat"/>
                        </a:defRPr>
                      </a:pPr>
                      <a:r>
                        <a:t>35%</a:t>
                      </a:r>
                    </a:p>
                  </a:txBody>
                  <a:tcPr>
                    <a:solidFill>
                      <a:srgbClr val="F8F4EC"/>
                    </a:solidFill>
                  </a:tcPr>
                </a:tc>
              </a:tr>
            </a:tbl>
          </a:graphicData>
        </a:graphic>
      </p:graphicFrame>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Infraestructura médica IMSS e IMSS Coplamar</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30_ver.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97200" y="6854400"/>
          <a:ext cx="4359600" cy="1404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104</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371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208</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17</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58</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1,510</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678</a:t>
                      </a:r>
                    </a:p>
                  </a:txBody>
                  <a:tcPr marL="10800" marR="10800" marT="10800" marB="10800" anchor="ctr">
                    <a:solidFill>
                      <a:srgbClr val="EFEFEF"/>
                    </a:solidFill>
                  </a:tcPr>
                </a:tc>
              </a:tr>
              <a:tr h="234000">
                <a:tc>
                  <a:txBody>
                    <a:bodyPr/>
                    <a:lstStyle/>
                    <a:p>
                      <a:pPr algn="l">
                        <a:defRPr sz="1000">
                          <a:solidFill>
                            <a:srgbClr val="000000"/>
                          </a:solidFill>
                          <a:latin typeface="Montserrat"/>
                        </a:defRPr>
                      </a:pPr>
                      <a:r>
                        <a:rPr sz="1000">
                          <a:latin typeface="Montserrat"/>
                        </a:rPr>
                        <a:t>Tercer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329</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107</a:t>
                      </a:r>
                    </a:p>
                  </a:txBody>
                  <a:tcPr marL="10800" marR="10800" marT="10800" marB="10800" anchor="ctr">
                    <a:solidFill>
                      <a:srgbClr val="FFFFF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122</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429</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1,839</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993</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4536000" y="6854400"/>
          <a:ext cx="3096000" cy="1476000"/>
        </p:xfrm>
        <a:graphic>
          <a:graphicData uri="http://schemas.openxmlformats.org/drawingml/2006/table">
            <a:tbl>
              <a:tblPr firstRow="1" bandRow="1">
                <a:tableStyleId>{5C22544A-7EE6-4342-B048-85BDC9FD1C3A}</a:tableStyleId>
              </a:tblPr>
              <a:tblGrid>
                <a:gridCol w="846000"/>
                <a:gridCol w="846000"/>
                <a:gridCol w="846000"/>
                <a:gridCol w="558000"/>
              </a:tblGrid>
              <a:tr h="295200">
                <a:tc gridSpan="4">
                  <a:txBody>
                    <a:bodyPr/>
                    <a:lstStyle/>
                    <a:p>
                      <a:pPr algn="ctr">
                        <a:defRPr b="1" sz="1000">
                          <a:solidFill>
                            <a:srgbClr val="FFFFFF"/>
                          </a:solidFill>
                          <a:latin typeface="Montserrat"/>
                        </a:defRPr>
                      </a:pPr>
                      <a:r>
                        <a:t>IMSS-COPLAMAR</a:t>
                      </a:r>
                    </a:p>
                  </a:txBody>
                  <a:tcPr marL="10800" marR="10800" marT="10800" marB="10800" anchor="ctr">
                    <a:solidFill>
                      <a:srgbClr val="BC955C"/>
                    </a:solidFill>
                  </a:tcPr>
                </a:tc>
                <a:tc hMerge="1">
                  <a:txBody>
                    <a:bodyPr/>
                    <a:lstStyle/>
                    <a:p/>
                  </a:txBody>
                  <a:tcPr marL="10800" marR="10800" marT="10800" marB="10800" anchor="ctr"/>
                </a:tc>
                <a:tc hMerge="1">
                  <a:txBody>
                    <a:bodyPr/>
                    <a:lstStyle/>
                    <a:p/>
                  </a:txBody>
                  <a:tcPr marL="10800" marR="10800" marT="10800" marB="10800" anchor="ctr"/>
                </a:tc>
                <a:tc hMerge="1">
                  <a:txBody>
                    <a:bodyPr/>
                    <a:lstStyle/>
                    <a:p/>
                  </a:txBody>
                  <a:tcPr marL="10800" marR="10800" marT="10800" marB="10800" anchor="ctr"/>
                </a:tc>
              </a:tr>
              <a:tr h="295200">
                <a:tc>
                  <a:txBody>
                    <a:bodyPr/>
                    <a:lstStyle/>
                    <a:p>
                      <a:pPr algn="ctr">
                        <a:defRPr b="1" sz="1000">
                          <a:solidFill>
                            <a:srgbClr val="FFFFFF"/>
                          </a:solidFill>
                          <a:latin typeface="Montserrat"/>
                        </a:defRPr>
                      </a:pPr>
                      <a:r>
                        <a:t>Nivel</a:t>
                      </a:r>
                    </a:p>
                  </a:txBody>
                  <a:tcPr marL="10800" marR="10800" marT="10800" marB="10800" anchor="ctr">
                    <a:solidFill>
                      <a:srgbClr val="BC955C"/>
                    </a:solidFill>
                  </a:tcPr>
                </a:tc>
                <a:tc>
                  <a:txBody>
                    <a:bodyPr/>
                    <a:lstStyle/>
                    <a:p>
                      <a:pPr algn="ctr">
                        <a:defRPr b="1" sz="1000">
                          <a:solidFill>
                            <a:srgbClr val="FFFFFF"/>
                          </a:solidFill>
                          <a:latin typeface="Montserrat"/>
                        </a:defRPr>
                      </a:pPr>
                      <a:r>
                        <a:t>Unidades</a:t>
                      </a:r>
                    </a:p>
                  </a:txBody>
                  <a:tcPr marL="0" marR="0" marT="10800" marB="10800" anchor="ctr">
                    <a:solidFill>
                      <a:srgbClr val="BC955C"/>
                    </a:solidFill>
                  </a:tcPr>
                </a:tc>
                <a:tc>
                  <a:txBody>
                    <a:bodyPr/>
                    <a:lstStyle/>
                    <a:p>
                      <a:pPr algn="ctr">
                        <a:defRPr b="1" sz="1000">
                          <a:solidFill>
                            <a:srgbClr val="FFFFFF"/>
                          </a:solidFill>
                          <a:latin typeface="Montserrat"/>
                        </a:defRPr>
                      </a:pPr>
                      <a:r>
                        <a:t>Consultorios de MF</a:t>
                      </a:r>
                    </a:p>
                  </a:txBody>
                  <a:tcPr marL="0" marR="0" marT="10800" marB="10800" anchor="ctr">
                    <a:solidFill>
                      <a:srgbClr val="BC955C"/>
                    </a:solidFill>
                  </a:tcPr>
                </a:tc>
                <a:tc>
                  <a:txBody>
                    <a:bodyPr/>
                    <a:lstStyle/>
                    <a:p>
                      <a:pPr algn="ctr">
                        <a:defRPr b="1" sz="1000">
                          <a:solidFill>
                            <a:srgbClr val="FFFFFF"/>
                          </a:solidFill>
                          <a:latin typeface="Montserrat"/>
                        </a:defRPr>
                      </a:pPr>
                      <a:r>
                        <a:t>Camas</a:t>
                      </a:r>
                    </a:p>
                  </a:txBody>
                  <a:tcPr marL="0" marR="0" marT="10800" marB="10800" anchor="ctr">
                    <a:solidFill>
                      <a:srgbClr val="BC955C"/>
                    </a:solidFill>
                  </a:tcPr>
                </a:tc>
              </a:tr>
              <a:tr h="295200">
                <a:tc>
                  <a:txBody>
                    <a:bodyPr/>
                    <a:lstStyle/>
                    <a:p>
                      <a:pPr algn="l">
                        <a:defRPr sz="1000">
                          <a:solidFill>
                            <a:srgbClr val="000000"/>
                          </a:solidFill>
                          <a:latin typeface="Montserrat"/>
                        </a:defRPr>
                      </a:pPr>
                      <a:r>
                        <a:t>Primer</a:t>
                      </a:r>
                    </a:p>
                  </a:txBody>
                  <a:tcPr marL="10800" marR="10800" marT="10800" marB="10800" anchor="ctr">
                    <a:solidFill>
                      <a:srgbClr val="FFFFFF"/>
                    </a:solidFill>
                  </a:tcPr>
                </a:tc>
                <a:tc>
                  <a:txBody>
                    <a:bodyPr/>
                    <a:lstStyle/>
                    <a:p>
                      <a:pPr algn="ctr">
                        <a:defRPr sz="1000">
                          <a:solidFill>
                            <a:srgbClr val="000000"/>
                          </a:solidFill>
                          <a:latin typeface="Montserrat"/>
                        </a:defRPr>
                      </a:pPr>
                      <a:r>
                        <a:t>514</a:t>
                      </a:r>
                    </a:p>
                  </a:txBody>
                  <a:tcPr marL="10800" marR="10800" marT="10800" marB="10800" anchor="ctr">
                    <a:solidFill>
                      <a:srgbClr val="FFFFFF"/>
                    </a:solidFill>
                  </a:tcPr>
                </a:tc>
                <a:tc>
                  <a:txBody>
                    <a:bodyPr/>
                    <a:lstStyle/>
                    <a:p>
                      <a:pPr algn="ctr">
                        <a:defRPr sz="1000">
                          <a:solidFill>
                            <a:srgbClr val="000000"/>
                          </a:solidFill>
                          <a:latin typeface="Montserrat"/>
                        </a:defRPr>
                      </a:pPr>
                      <a:r>
                        <a:t>519</a:t>
                      </a:r>
                    </a:p>
                  </a:txBody>
                  <a:tcPr marL="10800" marR="10800" marT="10800" marB="10800" anchor="ctr">
                    <a:solidFill>
                      <a:srgbClr val="FFFFFF"/>
                    </a:solidFill>
                  </a:tcPr>
                </a:tc>
                <a:tc>
                  <a:txBody>
                    <a:bodyPr/>
                    <a:lstStyle/>
                    <a:p>
                      <a:pPr algn="ctr">
                        <a:defRPr sz="1000">
                          <a:solidFill>
                            <a:srgbClr val="000000"/>
                          </a:solidFill>
                          <a:latin typeface="Montserrat"/>
                        </a:defRPr>
                      </a:pPr>
                      <a:r>
                        <a:t>0</a:t>
                      </a:r>
                    </a:p>
                  </a:txBody>
                  <a:tcPr marL="10800" marR="10800" marT="10800" marB="10800" anchor="ctr">
                    <a:solidFill>
                      <a:srgbClr val="FFFFFF"/>
                    </a:solidFill>
                  </a:tcPr>
                </a:tc>
              </a:tr>
              <a:tr h="295200">
                <a:tc>
                  <a:txBody>
                    <a:bodyPr/>
                    <a:lstStyle/>
                    <a:p>
                      <a:pPr algn="l">
                        <a:defRPr sz="1000">
                          <a:solidFill>
                            <a:srgbClr val="000000"/>
                          </a:solidFill>
                          <a:latin typeface="Montserrat"/>
                        </a:defRPr>
                      </a:pPr>
                      <a: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t>6</a:t>
                      </a:r>
                    </a:p>
                  </a:txBody>
                  <a:tcPr marL="10800" marR="10800" marT="10800" marB="10800" anchor="ctr">
                    <a:solidFill>
                      <a:srgbClr val="EFEFEF"/>
                    </a:solidFill>
                  </a:tcPr>
                </a:tc>
                <a:tc>
                  <a:txBody>
                    <a:bodyPr/>
                    <a:lstStyle/>
                    <a:p>
                      <a:pPr algn="ctr">
                        <a:defRPr sz="1000">
                          <a:solidFill>
                            <a:srgbClr val="000000"/>
                          </a:solidFill>
                          <a:latin typeface="Montserrat"/>
                        </a:defRPr>
                      </a:pPr>
                      <a:r>
                        <a:t>25</a:t>
                      </a:r>
                    </a:p>
                  </a:txBody>
                  <a:tcPr marL="10800" marR="10800" marT="10800" marB="10800" anchor="ctr">
                    <a:solidFill>
                      <a:srgbClr val="EFEFEF"/>
                    </a:solidFill>
                  </a:tcPr>
                </a:tc>
                <a:tc>
                  <a:txBody>
                    <a:bodyPr/>
                    <a:lstStyle/>
                    <a:p>
                      <a:pPr algn="ctr">
                        <a:defRPr sz="1000">
                          <a:solidFill>
                            <a:srgbClr val="000000"/>
                          </a:solidFill>
                          <a:latin typeface="Montserrat"/>
                        </a:defRPr>
                      </a:pPr>
                      <a:r>
                        <a:t>220</a:t>
                      </a:r>
                    </a:p>
                  </a:txBody>
                  <a:tcPr marL="10800" marR="10800" marT="10800" marB="10800" anchor="ctr">
                    <a:solidFill>
                      <a:srgbClr val="EFEFEF"/>
                    </a:solidFill>
                  </a:tcPr>
                </a:tc>
              </a:tr>
              <a:tr h="295200">
                <a:tc>
                  <a:txBody>
                    <a:bodyPr/>
                    <a:lstStyle/>
                    <a:p>
                      <a:pPr algn="l">
                        <a:defRPr sz="1000" b="1">
                          <a:solidFill>
                            <a:srgbClr val="006556"/>
                          </a:solidFill>
                          <a:latin typeface="Montserrat"/>
                        </a:defRPr>
                      </a:pPr>
                      <a: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t>520</a:t>
                      </a:r>
                    </a:p>
                  </a:txBody>
                  <a:tcPr marL="10800" marR="10800" marT="10800" marB="10800" anchor="ctr">
                    <a:solidFill>
                      <a:srgbClr val="D3E9E7"/>
                    </a:solidFill>
                  </a:tcPr>
                </a:tc>
                <a:tc>
                  <a:txBody>
                    <a:bodyPr/>
                    <a:lstStyle/>
                    <a:p>
                      <a:pPr algn="ctr">
                        <a:defRPr sz="1000" b="1">
                          <a:solidFill>
                            <a:srgbClr val="006556"/>
                          </a:solidFill>
                          <a:latin typeface="Montserrat"/>
                        </a:defRPr>
                      </a:pPr>
                      <a:r>
                        <a:t>544</a:t>
                      </a:r>
                    </a:p>
                  </a:txBody>
                  <a:tcPr marL="10800" marR="10800" marT="10800" marB="10800" anchor="ctr">
                    <a:solidFill>
                      <a:srgbClr val="D3E9E7"/>
                    </a:solidFill>
                  </a:tcPr>
                </a:tc>
                <a:tc>
                  <a:txBody>
                    <a:bodyPr/>
                    <a:lstStyle/>
                    <a:p>
                      <a:pPr algn="ctr">
                        <a:defRPr sz="1000" b="1">
                          <a:solidFill>
                            <a:srgbClr val="006556"/>
                          </a:solidFill>
                          <a:latin typeface="Montserrat"/>
                        </a:defRPr>
                      </a:pPr>
                      <a:r>
                        <a:t>220</a:t>
                      </a:r>
                    </a:p>
                  </a:txBody>
                  <a:tcPr marL="10800" marR="10800" marT="10800" marB="10800" anchor="ctr">
                    <a:solidFill>
                      <a:srgbClr val="D3E9E7"/>
                    </a:solidFill>
                  </a:tcPr>
                </a:tc>
              </a:tr>
            </a:tbl>
          </a:graphicData>
        </a:graphic>
      </p:graphicFrame>
      <p:graphicFrame>
        <p:nvGraphicFramePr>
          <p:cNvPr id="137" name="Table 136"/>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195600">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195600">
                <a:tc>
                  <a:txBody>
                    <a:bodyPr/>
                    <a:lstStyle/>
                    <a:p>
                      <a:pPr algn="ctr">
                        <a:defRPr sz="1000">
                          <a:solidFill>
                            <a:srgbClr val="000000"/>
                          </a:solidFill>
                          <a:latin typeface="Montserrat"/>
                        </a:defRPr>
                      </a:pPr>
                      <a:r>
                        <a:t>HR</a:t>
                      </a:r>
                    </a:p>
                  </a:txBody>
                  <a:tcPr>
                    <a:solidFill>
                      <a:srgbClr val="EFEFEF"/>
                    </a:solidFill>
                  </a:tcPr>
                </a:tc>
                <a:tc>
                  <a:txBody>
                    <a:bodyPr/>
                    <a:lstStyle/>
                    <a:p>
                      <a:pPr algn="ctr">
                        <a:defRPr sz="1000">
                          <a:solidFill>
                            <a:srgbClr val="000000"/>
                          </a:solidFill>
                          <a:latin typeface="Montserrat"/>
                        </a:defRPr>
                      </a:pPr>
                      <a:r>
                        <a:t>6</a:t>
                      </a:r>
                    </a:p>
                  </a:txBody>
                  <a:tcPr>
                    <a:solidFill>
                      <a:srgbClr val="EFEFEF"/>
                    </a:solidFill>
                  </a:tcPr>
                </a:tc>
              </a:tr>
              <a:tr h="195600">
                <a:tc>
                  <a:txBody>
                    <a:bodyPr/>
                    <a:lstStyle/>
                    <a:p>
                      <a:pPr algn="ctr">
                        <a:defRPr sz="1000">
                          <a:solidFill>
                            <a:srgbClr val="000000"/>
                          </a:solidFill>
                          <a:latin typeface="Montserrat"/>
                        </a:defRPr>
                      </a:pPr>
                      <a:r>
                        <a:t>HGZ</a:t>
                      </a:r>
                    </a:p>
                  </a:txBody>
                  <a:tcPr>
                    <a:solidFill>
                      <a:srgbClr val="FFFFFF"/>
                    </a:solidFill>
                  </a:tcPr>
                </a:tc>
                <a:tc>
                  <a:txBody>
                    <a:bodyPr/>
                    <a:lstStyle/>
                    <a:p>
                      <a:pPr algn="ctr">
                        <a:defRPr sz="1000">
                          <a:solidFill>
                            <a:srgbClr val="000000"/>
                          </a:solidFill>
                          <a:latin typeface="Montserrat"/>
                        </a:defRPr>
                      </a:pPr>
                      <a:r>
                        <a:t>10</a:t>
                      </a:r>
                    </a:p>
                  </a:txBody>
                  <a:tcPr>
                    <a:solidFill>
                      <a:srgbClr val="FFFFFF"/>
                    </a:solidFill>
                  </a:tcPr>
                </a:tc>
              </a:tr>
              <a:tr h="195600">
                <a:tc>
                  <a:txBody>
                    <a:bodyPr/>
                    <a:lstStyle/>
                    <a:p>
                      <a:pPr algn="ctr">
                        <a:defRPr sz="1000">
                          <a:solidFill>
                            <a:srgbClr val="000000"/>
                          </a:solidFill>
                          <a:latin typeface="Montserrat"/>
                        </a:defRPr>
                      </a:pPr>
                      <a:r>
                        <a:t>HGS</a:t>
                      </a:r>
                    </a:p>
                  </a:txBody>
                  <a:tcPr>
                    <a:solidFill>
                      <a:srgbClr val="EFEFEF"/>
                    </a:solidFill>
                  </a:tcPr>
                </a:tc>
                <a:tc>
                  <a:txBody>
                    <a:bodyPr/>
                    <a:lstStyle/>
                    <a:p>
                      <a:pPr algn="ctr">
                        <a:defRPr sz="1000">
                          <a:solidFill>
                            <a:srgbClr val="000000"/>
                          </a:solidFill>
                          <a:latin typeface="Montserrat"/>
                        </a:defRPr>
                      </a:pPr>
                      <a:r>
                        <a:t>6</a:t>
                      </a:r>
                    </a:p>
                  </a:txBody>
                  <a:tcPr>
                    <a:solidFill>
                      <a:srgbClr val="EFEFEF"/>
                    </a:solidFill>
                  </a:tcPr>
                </a:tc>
              </a:tr>
              <a:tr h="195600">
                <a:tc>
                  <a:txBody>
                    <a:bodyPr/>
                    <a:lstStyle/>
                    <a:p>
                      <a:pPr algn="ctr">
                        <a:defRPr sz="1000">
                          <a:solidFill>
                            <a:srgbClr val="000000"/>
                          </a:solidFill>
                          <a:latin typeface="Montserrat"/>
                        </a:defRPr>
                      </a:pPr>
                      <a:r>
                        <a:t>HGR</a:t>
                      </a:r>
                    </a:p>
                  </a:txBody>
                  <a:tcPr>
                    <a:solidFill>
                      <a:srgbClr val="FFFFFF"/>
                    </a:solidFill>
                  </a:tcPr>
                </a:tc>
                <a:tc>
                  <a:txBody>
                    <a:bodyPr/>
                    <a:lstStyle/>
                    <a:p>
                      <a:pPr algn="ctr">
                        <a:defRPr sz="1000">
                          <a:solidFill>
                            <a:srgbClr val="000000"/>
                          </a:solidFill>
                          <a:latin typeface="Montserrat"/>
                        </a:defRPr>
                      </a:pPr>
                      <a:r>
                        <a:t>1</a:t>
                      </a:r>
                    </a:p>
                  </a:txBody>
                  <a:tcPr>
                    <a:solidFill>
                      <a:srgbClr val="FFFFFF"/>
                    </a:solidFill>
                  </a:tcPr>
                </a:tc>
              </a:tr>
              <a:tr h="1956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23</a:t>
                      </a:r>
                    </a:p>
                  </a:txBody>
                  <a:tcPr>
                    <a:solidFill>
                      <a:srgbClr val="D3E9E7"/>
                    </a:solidFill>
                  </a:tcPr>
                </a:tc>
              </a:tr>
            </a:tbl>
          </a:graphicData>
        </a:graphic>
      </p:graphicFrame>
      <p:sp>
        <p:nvSpPr>
          <p:cNvPr id="138" name="TextBox 137"/>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103 UMF, 1 UMF-UMAA y no incluye 26 Unidades Auxiliares de Medicina Familiar.</a:t>
            </a:r>
            <a:br/>
            <a:r>
              <a:t>² No incluye Unidades médicas móviles (UMM) ni Brigadas de salud (BS).</a:t>
            </a:r>
          </a:p>
        </p:txBody>
      </p:sp>
      <p:sp>
        <p:nvSpPr>
          <p:cNvPr id="139" name="TextBox 138"/>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5" name="Google Shape;265;g3d0b4d3c5c9_0_54">
            <a:extLst>
              <a:ext uri="{FF2B5EF4-FFF2-40B4-BE49-F238E27FC236}">
                <a16:creationId xmlns:a16="http://schemas.microsoft.com/office/drawing/2014/main" id="{1B3B906C-9B27-4134-8860-07612707B13D}"/>
              </a:ext>
            </a:extLst>
          </p:cNvPr>
          <p:cNvGraphicFramePr/>
          <p:nvPr>
            <p:extLst>
              <p:ext uri="{D42A27DB-BD31-4B8C-83A1-F6EECF244321}">
                <p14:modId xmlns:p14="http://schemas.microsoft.com/office/powerpoint/2010/main" val="3690968148"/>
              </p:ext>
            </p:extLst>
          </p:nvPr>
        </p:nvGraphicFramePr>
        <p:xfrm>
          <a:off x="286850" y="1191600"/>
          <a:ext cx="7198700" cy="548640"/>
        </p:xfrm>
        <a:graphic>
          <a:graphicData uri="http://schemas.openxmlformats.org/drawingml/2006/table">
            <a:tbl>
              <a:tblPr>
                <a:noFill/>
              </a:tblPr>
              <a:tblGrid>
                <a:gridCol w="7198700">
                  <a:extLst>
                    <a:ext uri="{9D8B030D-6E8A-4147-A177-3AD203B41FA5}">
                      <a16:colId xmlns:a16="http://schemas.microsoft.com/office/drawing/2014/main" val="20000"/>
                    </a:ext>
                  </a:extLst>
                </a:gridCol>
              </a:tblGrid>
              <a:tr h="381000">
                <a:tc>
                  <a:txBody>
                    <a:bodyPr/>
                    <a:lstStyle/>
                    <a:p>
                      <a:pPr marL="0" lvl="0" indent="0" algn="l" rtl="0">
                        <a:lnSpc>
                          <a:spcPct val="100000"/>
                        </a:lnSpc>
                        <a:spcBef>
                          <a:spcPts val="0"/>
                        </a:spcBef>
                        <a:spcAft>
                          <a:spcPts val="0"/>
                        </a:spcAft>
                        <a:buClr>
                          <a:schemeClr val="dk1"/>
                        </a:buClr>
                        <a:buSzPts val="11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s" sz="1800" b="1" dirty="0">
                          <a:solidFill>
                            <a:srgbClr val="BC955C"/>
                          </a:solidFill>
                          <a:latin typeface="Montserrat"/>
                          <a:ea typeface="Montserrat"/>
                          <a:cs typeface="Montserrat"/>
                          <a:sym typeface="Montserrat"/>
                        </a:rPr>
                        <a:t>Hospital Regional, Orizaba</a:t>
                      </a:r>
                      <a:endParaRPr sz="1800" b="1"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6" name="Google Shape;267;g3d0b4d3c5c9_0_54">
            <a:extLst>
              <a:ext uri="{FF2B5EF4-FFF2-40B4-BE49-F238E27FC236}">
                <a16:creationId xmlns:a16="http://schemas.microsoft.com/office/drawing/2014/main" id="{2FF17797-3B95-7227-C53B-8E2F57EEF272}"/>
              </a:ext>
            </a:extLst>
          </p:cNvPr>
          <p:cNvPicPr preferRelativeResize="0"/>
          <p:nvPr/>
        </p:nvPicPr>
        <p:blipFill>
          <a:blip r:embed="rId4">
            <a:alphaModFix/>
          </a:blip>
          <a:stretch>
            <a:fillRect/>
          </a:stretch>
        </p:blipFill>
        <p:spPr>
          <a:xfrm>
            <a:off x="212035" y="2234630"/>
            <a:ext cx="3154017" cy="2105193"/>
          </a:xfrm>
          <a:prstGeom prst="rect">
            <a:avLst/>
          </a:prstGeom>
          <a:noFill/>
          <a:ln>
            <a:noFill/>
          </a:ln>
        </p:spPr>
      </p:pic>
      <p:sp>
        <p:nvSpPr>
          <p:cNvPr id="7" name="CuadroTexto 6">
            <a:extLst>
              <a:ext uri="{FF2B5EF4-FFF2-40B4-BE49-F238E27FC236}">
                <a16:creationId xmlns:a16="http://schemas.microsoft.com/office/drawing/2014/main" id="{69D23431-8F94-72E8-EE34-962CEA54B13E}"/>
              </a:ext>
            </a:extLst>
          </p:cNvPr>
          <p:cNvSpPr txBox="1"/>
          <p:nvPr/>
        </p:nvSpPr>
        <p:spPr>
          <a:xfrm>
            <a:off x="3513288" y="2003935"/>
            <a:ext cx="4166348" cy="2575064"/>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IMSS comenzó a operar en el estado el 17 de marzo de 1947, en Orizaba, mediante consultas de medicina general y atención básica, considerada de las primeras del país en incorporarse. </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primer hospital del IMSS en Veracruz fue el Hospital Regional de Orizaba, iniciando operaciones el 30 de enero de 1959, aunque el edificio había sido concluido dos años antes, permaneció en proceso de equipamiento.</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Hospital contaba con capacidad hospitalaria acorde a un hospital regional de la época, comenzó brindando servicios de hospitalización general, urgencias, cirugía básica, medicina interna, gineco‑obstetricia y pediatría.</a:t>
            </a: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30_VERACRUZ.png"/>
          <p:cNvPicPr>
            <a:picLocks noChangeAspect="1"/>
          </p:cNvPicPr>
          <p:nvPr/>
        </p:nvPicPr>
        <p:blipFill>
          <a:blip r:embed="rId5"/>
          <a:stretch>
            <a:fillRect/>
          </a:stretch>
        </p:blipFill>
        <p:spPr>
          <a:xfrm>
            <a:off x="122400" y="5666400"/>
            <a:ext cx="7488000" cy="727200"/>
          </a:xfrm>
          <a:prstGeom prst="rect">
            <a:avLst/>
          </a:prstGeom>
        </p:spPr>
      </p:pic>
      <p:graphicFrame>
        <p:nvGraphicFramePr>
          <p:cNvPr id="12" name="Table 11"/>
          <p:cNvGraphicFramePr>
            <a:graphicFrameLocks noGrp="1"/>
          </p:cNvGraphicFramePr>
          <p:nvPr/>
        </p:nvGraphicFramePr>
        <p:xfrm>
          <a:off x="75600" y="6476399"/>
          <a:ext cx="7650000" cy="25344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HGZ 36 Coatzacoalos</a:t>
                      </a:r>
                    </a:p>
                  </a:txBody>
                  <a:tcPr anchor="ctr">
                    <a:solidFill>
                      <a:srgbClr val="FFFFFF"/>
                    </a:solidFill>
                  </a:tcPr>
                </a:tc>
                <a:tc>
                  <a:txBody>
                    <a:bodyPr/>
                    <a:lstStyle/>
                    <a:p>
                      <a:pPr algn="ctr">
                        <a:defRPr sz="900">
                          <a:latin typeface="Montserrat"/>
                        </a:defRPr>
                      </a:pPr>
                      <a:r>
                        <a:t>Junio de 1961</a:t>
                      </a:r>
                    </a:p>
                  </a:txBody>
                  <a:tcPr anchor="ctr">
                    <a:solidFill>
                      <a:srgbClr val="FFFFFF"/>
                    </a:solidFill>
                  </a:tcPr>
                </a:tc>
                <a:tc>
                  <a:txBody>
                    <a:bodyPr/>
                    <a:lstStyle/>
                    <a:p>
                      <a:pPr algn="ctr">
                        <a:defRPr sz="900">
                          <a:latin typeface="Montserrat"/>
                        </a:defRPr>
                      </a:pPr>
                      <a:r>
                        <a:t>150</a:t>
                      </a:r>
                    </a:p>
                  </a:txBody>
                  <a:tcPr anchor="ctr">
                    <a:solidFill>
                      <a:srgbClr val="FFFFFF"/>
                    </a:solidFill>
                  </a:tcPr>
                </a:tc>
                <a:tc>
                  <a:txBody>
                    <a:bodyPr/>
                    <a:lstStyle/>
                    <a:p>
                      <a:pPr algn="ctr">
                        <a:defRPr sz="900">
                          <a:latin typeface="Montserrat"/>
                        </a:defRPr>
                      </a:pPr>
                      <a:r>
                        <a:t>65</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32</a:t>
                      </a:r>
                    </a:p>
                  </a:txBody>
                  <a:tcPr anchor="ctr">
                    <a:solidFill>
                      <a:srgbClr val="FFFFFF"/>
                    </a:solidFill>
                  </a:tcPr>
                </a:tc>
              </a:tr>
              <a:tr h="230400">
                <a:tc>
                  <a:txBody>
                    <a:bodyPr/>
                    <a:lstStyle/>
                    <a:p>
                      <a:pPr algn="l">
                        <a:defRPr sz="900">
                          <a:latin typeface="Montserrat"/>
                        </a:defRPr>
                      </a:pPr>
                      <a:r>
                        <a:t>HGZMF 50 Lerdo Tejada</a:t>
                      </a:r>
                    </a:p>
                  </a:txBody>
                  <a:tcPr anchor="ctr">
                    <a:solidFill>
                      <a:srgbClr val="EFEFEF"/>
                    </a:solidFill>
                  </a:tcPr>
                </a:tc>
                <a:tc>
                  <a:txBody>
                    <a:bodyPr/>
                    <a:lstStyle/>
                    <a:p>
                      <a:pPr algn="ctr">
                        <a:defRPr sz="900">
                          <a:latin typeface="Montserrat"/>
                        </a:defRPr>
                      </a:pPr>
                      <a:r>
                        <a:t>Diciembre de 1963</a:t>
                      </a:r>
                    </a:p>
                  </a:txBody>
                  <a:tcPr anchor="ctr">
                    <a:solidFill>
                      <a:srgbClr val="EFEFEF"/>
                    </a:solidFill>
                  </a:tcPr>
                </a:tc>
                <a:tc>
                  <a:txBody>
                    <a:bodyPr/>
                    <a:lstStyle/>
                    <a:p>
                      <a:pPr algn="ctr">
                        <a:defRPr sz="900">
                          <a:latin typeface="Montserrat"/>
                        </a:defRPr>
                      </a:pPr>
                      <a:r>
                        <a:t>48</a:t>
                      </a:r>
                    </a:p>
                  </a:txBody>
                  <a:tcPr anchor="ctr">
                    <a:solidFill>
                      <a:srgbClr val="EFEFEF"/>
                    </a:solidFill>
                  </a:tcPr>
                </a:tc>
                <a:tc>
                  <a:txBody>
                    <a:bodyPr/>
                    <a:lstStyle/>
                    <a:p>
                      <a:pPr algn="ctr">
                        <a:defRPr sz="900">
                          <a:latin typeface="Montserrat"/>
                        </a:defRPr>
                      </a:pPr>
                      <a:r>
                        <a:t>19</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8</a:t>
                      </a:r>
                    </a:p>
                  </a:txBody>
                  <a:tcPr anchor="ctr">
                    <a:solidFill>
                      <a:srgbClr val="EFEFEF"/>
                    </a:solidFill>
                  </a:tcPr>
                </a:tc>
              </a:tr>
              <a:tr h="230400">
                <a:tc>
                  <a:txBody>
                    <a:bodyPr/>
                    <a:lstStyle/>
                    <a:p>
                      <a:pPr algn="l">
                        <a:defRPr sz="900">
                          <a:latin typeface="Montserrat"/>
                        </a:defRPr>
                      </a:pPr>
                      <a:r>
                        <a:t>HGZMF 35 Cosamaloapan</a:t>
                      </a:r>
                    </a:p>
                  </a:txBody>
                  <a:tcPr anchor="ctr">
                    <a:solidFill>
                      <a:srgbClr val="FFFFFF"/>
                    </a:solidFill>
                  </a:tcPr>
                </a:tc>
                <a:tc>
                  <a:txBody>
                    <a:bodyPr/>
                    <a:lstStyle/>
                    <a:p>
                      <a:pPr algn="ctr">
                        <a:defRPr sz="900">
                          <a:latin typeface="Montserrat"/>
                        </a:defRPr>
                      </a:pPr>
                      <a:r>
                        <a:t>Julio de 1964</a:t>
                      </a:r>
                    </a:p>
                  </a:txBody>
                  <a:tcPr anchor="ctr">
                    <a:solidFill>
                      <a:srgbClr val="FFFFFF"/>
                    </a:solidFill>
                  </a:tcPr>
                </a:tc>
                <a:tc>
                  <a:txBody>
                    <a:bodyPr/>
                    <a:lstStyle/>
                    <a:p>
                      <a:pPr algn="ctr">
                        <a:defRPr sz="900">
                          <a:latin typeface="Montserrat"/>
                        </a:defRPr>
                      </a:pPr>
                      <a:r>
                        <a:t>78</a:t>
                      </a:r>
                    </a:p>
                  </a:txBody>
                  <a:tcPr anchor="ctr">
                    <a:solidFill>
                      <a:srgbClr val="FFFFFF"/>
                    </a:solidFill>
                  </a:tcPr>
                </a:tc>
                <a:tc>
                  <a:txBody>
                    <a:bodyPr/>
                    <a:lstStyle/>
                    <a:p>
                      <a:pPr algn="ctr">
                        <a:defRPr sz="900">
                          <a:latin typeface="Montserrat"/>
                        </a:defRPr>
                      </a:pPr>
                      <a:r>
                        <a:t>39</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3</a:t>
                      </a:r>
                    </a:p>
                  </a:txBody>
                  <a:tcPr anchor="ctr">
                    <a:solidFill>
                      <a:srgbClr val="FFFFFF"/>
                    </a:solidFill>
                  </a:tcPr>
                </a:tc>
                <a:tc>
                  <a:txBody>
                    <a:bodyPr/>
                    <a:lstStyle/>
                    <a:p>
                      <a:pPr algn="ctr">
                        <a:defRPr sz="900">
                          <a:latin typeface="Montserrat"/>
                        </a:defRPr>
                      </a:pPr>
                      <a:r>
                        <a:t>13</a:t>
                      </a:r>
                    </a:p>
                  </a:txBody>
                  <a:tcPr anchor="ctr">
                    <a:solidFill>
                      <a:srgbClr val="FFFFFF"/>
                    </a:solidFill>
                  </a:tcPr>
                </a:tc>
              </a:tr>
              <a:tr h="230400">
                <a:tc>
                  <a:txBody>
                    <a:bodyPr/>
                    <a:lstStyle/>
                    <a:p>
                      <a:pPr algn="l">
                        <a:defRPr sz="900">
                          <a:latin typeface="Montserrat"/>
                        </a:defRPr>
                      </a:pPr>
                      <a:r>
                        <a:t>HGZ 8 Córdoba</a:t>
                      </a:r>
                    </a:p>
                  </a:txBody>
                  <a:tcPr anchor="ctr">
                    <a:solidFill>
                      <a:srgbClr val="EFEFEF"/>
                    </a:solidFill>
                  </a:tcPr>
                </a:tc>
                <a:tc>
                  <a:txBody>
                    <a:bodyPr/>
                    <a:lstStyle/>
                    <a:p>
                      <a:pPr algn="ctr">
                        <a:defRPr sz="900">
                          <a:latin typeface="Montserrat"/>
                        </a:defRPr>
                      </a:pPr>
                      <a:r>
                        <a:t>Julio de 1964</a:t>
                      </a:r>
                    </a:p>
                  </a:txBody>
                  <a:tcPr anchor="ctr">
                    <a:solidFill>
                      <a:srgbClr val="EFEFEF"/>
                    </a:solidFill>
                  </a:tcPr>
                </a:tc>
                <a:tc>
                  <a:txBody>
                    <a:bodyPr/>
                    <a:lstStyle/>
                    <a:p>
                      <a:pPr algn="ctr">
                        <a:defRPr sz="900">
                          <a:latin typeface="Montserrat"/>
                        </a:defRPr>
                      </a:pPr>
                      <a:r>
                        <a:t>130</a:t>
                      </a:r>
                    </a:p>
                  </a:txBody>
                  <a:tcPr anchor="ctr">
                    <a:solidFill>
                      <a:srgbClr val="EFEFEF"/>
                    </a:solidFill>
                  </a:tcPr>
                </a:tc>
                <a:tc>
                  <a:txBody>
                    <a:bodyPr/>
                    <a:lstStyle/>
                    <a:p>
                      <a:pPr algn="ctr">
                        <a:defRPr sz="900">
                          <a:latin typeface="Montserrat"/>
                        </a:defRPr>
                      </a:pPr>
                      <a:r>
                        <a:t>59</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29</a:t>
                      </a:r>
                    </a:p>
                  </a:txBody>
                  <a:tcPr anchor="ctr">
                    <a:solidFill>
                      <a:srgbClr val="EFEFEF"/>
                    </a:solidFill>
                  </a:tcPr>
                </a:tc>
              </a:tr>
              <a:tr h="230400">
                <a:tc>
                  <a:txBody>
                    <a:bodyPr/>
                    <a:lstStyle/>
                    <a:p>
                      <a:pPr algn="l">
                        <a:defRPr sz="900">
                          <a:latin typeface="Montserrat"/>
                        </a:defRPr>
                      </a:pPr>
                      <a:r>
                        <a:t>HGSMF 16 Omealca</a:t>
                      </a:r>
                    </a:p>
                  </a:txBody>
                  <a:tcPr anchor="ctr">
                    <a:solidFill>
                      <a:srgbClr val="FFFFFF"/>
                    </a:solidFill>
                  </a:tcPr>
                </a:tc>
                <a:tc>
                  <a:txBody>
                    <a:bodyPr/>
                    <a:lstStyle/>
                    <a:p>
                      <a:pPr algn="ctr">
                        <a:defRPr sz="900">
                          <a:latin typeface="Montserrat"/>
                        </a:defRPr>
                      </a:pPr>
                      <a:r>
                        <a:t>Julio de 1964</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1</a:t>
                      </a:r>
                    </a:p>
                  </a:txBody>
                  <a:tcPr anchor="ctr">
                    <a:solidFill>
                      <a:srgbClr val="FFFFFF"/>
                    </a:solidFill>
                  </a:tcPr>
                </a:tc>
              </a:tr>
              <a:tr h="230400">
                <a:tc>
                  <a:txBody>
                    <a:bodyPr/>
                    <a:lstStyle/>
                    <a:p>
                      <a:pPr algn="l">
                        <a:defRPr sz="900">
                          <a:latin typeface="Montserrat"/>
                        </a:defRPr>
                      </a:pPr>
                      <a:r>
                        <a:t>HGSMF 12 Potrero</a:t>
                      </a:r>
                    </a:p>
                  </a:txBody>
                  <a:tcPr anchor="ctr">
                    <a:solidFill>
                      <a:srgbClr val="EFEFEF"/>
                    </a:solidFill>
                  </a:tcPr>
                </a:tc>
                <a:tc>
                  <a:txBody>
                    <a:bodyPr/>
                    <a:lstStyle/>
                    <a:p>
                      <a:pPr algn="ctr">
                        <a:defRPr sz="900">
                          <a:latin typeface="Montserrat"/>
                        </a:defRPr>
                      </a:pPr>
                      <a:r>
                        <a:t>Julio de 1964</a:t>
                      </a:r>
                    </a:p>
                  </a:txBody>
                  <a:tcPr anchor="ctr">
                    <a:solidFill>
                      <a:srgbClr val="EFEFEF"/>
                    </a:solidFill>
                  </a:tcPr>
                </a:tc>
                <a:tc>
                  <a:txBody>
                    <a:bodyPr/>
                    <a:lstStyle/>
                    <a:p>
                      <a:pPr algn="ctr">
                        <a:defRPr sz="900">
                          <a:latin typeface="Montserrat"/>
                        </a:defRPr>
                      </a:pPr>
                      <a:r>
                        <a:t>16</a:t>
                      </a:r>
                    </a:p>
                  </a:txBody>
                  <a:tcPr anchor="ctr">
                    <a:solidFill>
                      <a:srgbClr val="EFEFEF"/>
                    </a:solidFill>
                  </a:tcPr>
                </a:tc>
                <a:tc>
                  <a:txBody>
                    <a:bodyPr/>
                    <a:lstStyle/>
                    <a:p>
                      <a:pPr algn="ctr">
                        <a:defRPr sz="900">
                          <a:latin typeface="Montserrat"/>
                        </a:defRPr>
                      </a:pPr>
                      <a:r>
                        <a:t>9</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1</a:t>
                      </a:r>
                    </a:p>
                  </a:txBody>
                  <a:tcPr anchor="ctr">
                    <a:solidFill>
                      <a:srgbClr val="EFEFEF"/>
                    </a:solidFill>
                  </a:tcPr>
                </a:tc>
              </a:tr>
              <a:tr h="230400">
                <a:tc>
                  <a:txBody>
                    <a:bodyPr/>
                    <a:lstStyle/>
                    <a:p>
                      <a:pPr algn="l">
                        <a:defRPr sz="900">
                          <a:latin typeface="Montserrat"/>
                        </a:defRPr>
                      </a:pPr>
                      <a:r>
                        <a:t>HGZ 11 Jalapa.</a:t>
                      </a:r>
                    </a:p>
                  </a:txBody>
                  <a:tcPr anchor="ctr">
                    <a:solidFill>
                      <a:srgbClr val="FFFFFF"/>
                    </a:solidFill>
                  </a:tcPr>
                </a:tc>
                <a:tc>
                  <a:txBody>
                    <a:bodyPr/>
                    <a:lstStyle/>
                    <a:p>
                      <a:pPr algn="ctr">
                        <a:defRPr sz="900">
                          <a:latin typeface="Montserrat"/>
                        </a:defRPr>
                      </a:pPr>
                      <a:r>
                        <a:t>Noviembre de 1964</a:t>
                      </a:r>
                    </a:p>
                  </a:txBody>
                  <a:tcPr anchor="ctr">
                    <a:solidFill>
                      <a:srgbClr val="FFFFFF"/>
                    </a:solidFill>
                  </a:tcPr>
                </a:tc>
                <a:tc>
                  <a:txBody>
                    <a:bodyPr/>
                    <a:lstStyle/>
                    <a:p>
                      <a:pPr algn="ctr">
                        <a:defRPr sz="900">
                          <a:latin typeface="Montserrat"/>
                        </a:defRPr>
                      </a:pPr>
                      <a:r>
                        <a:t>188</a:t>
                      </a:r>
                    </a:p>
                  </a:txBody>
                  <a:tcPr anchor="ctr">
                    <a:solidFill>
                      <a:srgbClr val="FFFFFF"/>
                    </a:solidFill>
                  </a:tcPr>
                </a:tc>
                <a:tc>
                  <a:txBody>
                    <a:bodyPr/>
                    <a:lstStyle/>
                    <a:p>
                      <a:pPr algn="ctr">
                        <a:defRPr sz="900">
                          <a:latin typeface="Montserrat"/>
                        </a:defRPr>
                      </a:pPr>
                      <a:r>
                        <a:t>69</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7</a:t>
                      </a:r>
                    </a:p>
                  </a:txBody>
                  <a:tcPr anchor="ctr">
                    <a:solidFill>
                      <a:srgbClr val="FFFFFF"/>
                    </a:solidFill>
                  </a:tcPr>
                </a:tc>
                <a:tc>
                  <a:txBody>
                    <a:bodyPr/>
                    <a:lstStyle/>
                    <a:p>
                      <a:pPr algn="ctr">
                        <a:defRPr sz="900">
                          <a:latin typeface="Montserrat"/>
                        </a:defRPr>
                      </a:pPr>
                      <a:r>
                        <a:t>27</a:t>
                      </a:r>
                    </a:p>
                  </a:txBody>
                  <a:tcPr anchor="ctr">
                    <a:solidFill>
                      <a:srgbClr val="FFFFFF"/>
                    </a:solidFill>
                  </a:tcPr>
                </a:tc>
              </a:tr>
              <a:tr h="230400">
                <a:tc>
                  <a:txBody>
                    <a:bodyPr/>
                    <a:lstStyle/>
                    <a:p>
                      <a:pPr algn="l">
                        <a:defRPr sz="900">
                          <a:latin typeface="Montserrat"/>
                        </a:defRPr>
                      </a:pPr>
                      <a:r>
                        <a:t>HGZMF 32 Minatitlán</a:t>
                      </a:r>
                    </a:p>
                  </a:txBody>
                  <a:tcPr anchor="ctr">
                    <a:solidFill>
                      <a:srgbClr val="EFEFEF"/>
                    </a:solidFill>
                  </a:tcPr>
                </a:tc>
                <a:tc>
                  <a:txBody>
                    <a:bodyPr/>
                    <a:lstStyle/>
                    <a:p>
                      <a:pPr algn="ctr">
                        <a:defRPr sz="900">
                          <a:latin typeface="Montserrat"/>
                        </a:defRPr>
                      </a:pPr>
                      <a:r>
                        <a:t>Septiembre de 1969</a:t>
                      </a:r>
                    </a:p>
                  </a:txBody>
                  <a:tcPr anchor="ctr">
                    <a:solidFill>
                      <a:srgbClr val="EFEFEF"/>
                    </a:solidFill>
                  </a:tcPr>
                </a:tc>
                <a:tc>
                  <a:txBody>
                    <a:bodyPr/>
                    <a:lstStyle/>
                    <a:p>
                      <a:pPr algn="ctr">
                        <a:defRPr sz="900">
                          <a:latin typeface="Montserrat"/>
                        </a:defRPr>
                      </a:pPr>
                      <a:r>
                        <a:t>62</a:t>
                      </a:r>
                    </a:p>
                  </a:txBody>
                  <a:tcPr anchor="ctr">
                    <a:solidFill>
                      <a:srgbClr val="EFEFEF"/>
                    </a:solidFill>
                  </a:tcPr>
                </a:tc>
                <a:tc>
                  <a:txBody>
                    <a:bodyPr/>
                    <a:lstStyle/>
                    <a:p>
                      <a:pPr algn="ctr">
                        <a:defRPr sz="900">
                          <a:latin typeface="Montserrat"/>
                        </a:defRPr>
                      </a:pPr>
                      <a:r>
                        <a:t>52</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13</a:t>
                      </a:r>
                    </a:p>
                  </a:txBody>
                  <a:tcPr anchor="ctr">
                    <a:solidFill>
                      <a:srgbClr val="EFEFEF"/>
                    </a:solidFill>
                  </a:tcPr>
                </a:tc>
              </a:tr>
              <a:tr h="230400">
                <a:tc>
                  <a:txBody>
                    <a:bodyPr/>
                    <a:lstStyle/>
                    <a:p>
                      <a:pPr algn="l">
                        <a:defRPr sz="900">
                          <a:latin typeface="Montserrat"/>
                        </a:defRPr>
                      </a:pPr>
                      <a:r>
                        <a:t>HGS 33 Tierra Blanca</a:t>
                      </a:r>
                    </a:p>
                  </a:txBody>
                  <a:tcPr anchor="ctr">
                    <a:solidFill>
                      <a:srgbClr val="FFFFFF"/>
                    </a:solidFill>
                  </a:tcPr>
                </a:tc>
                <a:tc>
                  <a:txBody>
                    <a:bodyPr/>
                    <a:lstStyle/>
                    <a:p>
                      <a:pPr algn="ctr">
                        <a:defRPr sz="900">
                          <a:latin typeface="Montserrat"/>
                        </a:defRPr>
                      </a:pPr>
                      <a:r>
                        <a:t>Mayo de 1972</a:t>
                      </a:r>
                    </a:p>
                  </a:txBody>
                  <a:tcPr anchor="ctr">
                    <a:solidFill>
                      <a:srgbClr val="FFFFFF"/>
                    </a:solidFill>
                  </a:tcPr>
                </a:tc>
                <a:tc>
                  <a:txBody>
                    <a:bodyPr/>
                    <a:lstStyle/>
                    <a:p>
                      <a:pPr algn="ctr">
                        <a:defRPr sz="900">
                          <a:latin typeface="Montserrat"/>
                        </a:defRPr>
                      </a:pPr>
                      <a:r>
                        <a:t>21</a:t>
                      </a:r>
                    </a:p>
                  </a:txBody>
                  <a:tcPr anchor="ctr">
                    <a:solidFill>
                      <a:srgbClr val="FFFFFF"/>
                    </a:solidFill>
                  </a:tcPr>
                </a:tc>
                <a:tc>
                  <a:txBody>
                    <a:bodyPr/>
                    <a:lstStyle/>
                    <a:p>
                      <a:pPr algn="ctr">
                        <a:defRPr sz="900">
                          <a:latin typeface="Montserrat"/>
                        </a:defRPr>
                      </a:pPr>
                      <a:r>
                        <a:t>12</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5</a:t>
                      </a:r>
                    </a:p>
                  </a:txBody>
                  <a:tcPr anchor="ctr">
                    <a:solidFill>
                      <a:srgbClr val="FFFFFF"/>
                    </a:solidFill>
                  </a:tcPr>
                </a:tc>
              </a:tr>
              <a:tr h="230400">
                <a:tc>
                  <a:txBody>
                    <a:bodyPr/>
                    <a:lstStyle/>
                    <a:p>
                      <a:pPr algn="l">
                        <a:defRPr sz="900">
                          <a:latin typeface="Montserrat"/>
                        </a:defRPr>
                      </a:pPr>
                      <a:r>
                        <a:t>HGSMF 7 Panuco</a:t>
                      </a:r>
                    </a:p>
                  </a:txBody>
                  <a:tcPr anchor="ctr">
                    <a:solidFill>
                      <a:srgbClr val="EFEFEF"/>
                    </a:solidFill>
                  </a:tcPr>
                </a:tc>
                <a:tc>
                  <a:txBody>
                    <a:bodyPr/>
                    <a:lstStyle/>
                    <a:p>
                      <a:pPr algn="ctr">
                        <a:defRPr sz="900">
                          <a:latin typeface="Montserrat"/>
                        </a:defRPr>
                      </a:pPr>
                      <a:r>
                        <a:t>Marzo de 1973</a:t>
                      </a:r>
                    </a:p>
                  </a:txBody>
                  <a:tcPr anchor="ctr">
                    <a:solidFill>
                      <a:srgbClr val="EFEFEF"/>
                    </a:solidFill>
                  </a:tcPr>
                </a:tc>
                <a:tc>
                  <a:txBody>
                    <a:bodyPr/>
                    <a:lstStyle/>
                    <a:p>
                      <a:pPr algn="ctr">
                        <a:defRPr sz="900">
                          <a:latin typeface="Montserrat"/>
                        </a:defRPr>
                      </a:pPr>
                      <a:r>
                        <a:t>16</a:t>
                      </a:r>
                    </a:p>
                  </a:txBody>
                  <a:tcPr anchor="ctr">
                    <a:solidFill>
                      <a:srgbClr val="EFEFEF"/>
                    </a:solidFill>
                  </a:tcPr>
                </a:tc>
                <a:tc>
                  <a:txBody>
                    <a:bodyPr/>
                    <a:lstStyle/>
                    <a:p>
                      <a:pPr algn="ctr">
                        <a:defRPr sz="900">
                          <a:latin typeface="Montserrat"/>
                        </a:defRPr>
                      </a:pPr>
                      <a:r>
                        <a:t>8</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3</a:t>
                      </a:r>
                    </a:p>
                  </a:txBody>
                  <a:tcPr anchor="ctr">
                    <a:solidFill>
                      <a:srgbClr val="EFEFEF"/>
                    </a:solidFill>
                  </a:tcPr>
                </a:tc>
              </a:tr>
            </a:tbl>
          </a:graphicData>
        </a:graphic>
      </p:graphicFrame>
      <p:sp>
        <p:nvSpPr>
          <p:cNvPr id="13" name="TextBox 12"/>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12" name="Grupo 11">
            <a:extLst>
              <a:ext uri="{FF2B5EF4-FFF2-40B4-BE49-F238E27FC236}">
                <a16:creationId xmlns:a16="http://schemas.microsoft.com/office/drawing/2014/main" id="{FCA3ED39-0602-4B38-876B-E68101479DD2}"/>
              </a:ext>
            </a:extLst>
          </p:cNvPr>
          <p:cNvGrpSpPr/>
          <p:nvPr/>
        </p:nvGrpSpPr>
        <p:grpSpPr>
          <a:xfrm>
            <a:off x="-149075" y="4219700"/>
            <a:ext cx="7772400" cy="4240282"/>
            <a:chOff x="-149075" y="4219700"/>
            <a:chExt cx="7772400" cy="4240282"/>
          </a:xfrm>
        </p:grpSpPr>
        <p:pic>
          <p:nvPicPr>
            <p:cNvPr id="13" name="Google Shape;360;g3d62d805bc0_1_0">
              <a:extLst>
                <a:ext uri="{FF2B5EF4-FFF2-40B4-BE49-F238E27FC236}">
                  <a16:creationId xmlns:a16="http://schemas.microsoft.com/office/drawing/2014/main" id="{2B978486-56DF-538D-4A9C-AD46C97FAC8F}"/>
                </a:ext>
              </a:extLst>
            </p:cNvPr>
            <p:cNvPicPr preferRelativeResize="0"/>
            <p:nvPr/>
          </p:nvPicPr>
          <p:blipFill rotWithShape="1">
            <a:blip r:embed="rId4">
              <a:alphaModFix/>
            </a:blip>
            <a:srcRect/>
            <a:stretch/>
          </p:blipFill>
          <p:spPr>
            <a:xfrm>
              <a:off x="612475" y="4942482"/>
              <a:ext cx="2526224" cy="1959622"/>
            </a:xfrm>
            <a:prstGeom prst="rect">
              <a:avLst/>
            </a:prstGeom>
            <a:noFill/>
            <a:ln>
              <a:noFill/>
            </a:ln>
          </p:spPr>
        </p:pic>
        <p:sp>
          <p:nvSpPr>
            <p:cNvPr id="14" name="Google Shape;361;g3d62d805bc0_1_0">
              <a:extLst>
                <a:ext uri="{FF2B5EF4-FFF2-40B4-BE49-F238E27FC236}">
                  <a16:creationId xmlns:a16="http://schemas.microsoft.com/office/drawing/2014/main" id="{EE681D78-F138-5B6A-49A3-11704BE15EE2}"/>
                </a:ext>
              </a:extLst>
            </p:cNvPr>
            <p:cNvSpPr txBox="1"/>
            <p:nvPr/>
          </p:nvSpPr>
          <p:spPr>
            <a:xfrm>
              <a:off x="4060300" y="7221882"/>
              <a:ext cx="2421300" cy="1238100"/>
            </a:xfrm>
            <a:prstGeom prst="rect">
              <a:avLst/>
            </a:prstGeom>
            <a:noFill/>
            <a:ln>
              <a:noFill/>
            </a:ln>
          </p:spPr>
          <p:txBody>
            <a:bodyPr spcFirstLastPara="1" wrap="square" lIns="91425" tIns="91425" rIns="91425" bIns="91425" anchor="t" anchorCtr="0">
              <a:noAutofit/>
            </a:bodyPr>
            <a:lstStyle/>
            <a:p>
              <a:pPr marL="0" marR="63500" lvl="0" indent="0" rtl="0">
                <a:lnSpc>
                  <a:spcPct val="115000"/>
                </a:lnSpc>
                <a:spcBef>
                  <a:spcPts val="0"/>
                </a:spcBef>
                <a:spcAft>
                  <a:spcPts val="0"/>
                </a:spcAft>
                <a:buClr>
                  <a:schemeClr val="dk1"/>
                </a:buClr>
                <a:buSzPts val="1100"/>
                <a:buFont typeface="Arial"/>
                <a:buNone/>
              </a:pPr>
              <a:r>
                <a:rPr lang="es" sz="1300" dirty="0">
                  <a:solidFill>
                    <a:srgbClr val="434343"/>
                  </a:solidFill>
                  <a:latin typeface="Montserrat"/>
                  <a:ea typeface="Montserrat"/>
                  <a:cs typeface="Montserrat"/>
                  <a:sym typeface="Montserrat"/>
                </a:rPr>
                <a:t>HGR Orizaba, </a:t>
              </a:r>
              <a:endParaRPr sz="1300" dirty="0">
                <a:solidFill>
                  <a:srgbClr val="434343"/>
                </a:solidFill>
                <a:latin typeface="Montserrat"/>
                <a:ea typeface="Montserrat"/>
                <a:cs typeface="Montserrat"/>
                <a:sym typeface="Montserrat"/>
              </a:endParaRPr>
            </a:p>
            <a:p>
              <a:pPr marL="0" marR="63500" lvl="0" indent="0" rtl="0">
                <a:lnSpc>
                  <a:spcPct val="115000"/>
                </a:lnSpc>
                <a:spcBef>
                  <a:spcPts val="0"/>
                </a:spcBef>
                <a:spcAft>
                  <a:spcPts val="0"/>
                </a:spcAft>
                <a:buClr>
                  <a:schemeClr val="dk1"/>
                </a:buClr>
                <a:buSzPts val="1100"/>
                <a:buFont typeface="Arial"/>
                <a:buNone/>
              </a:pPr>
              <a:r>
                <a:rPr lang="es" sz="1300" dirty="0">
                  <a:solidFill>
                    <a:srgbClr val="434343"/>
                  </a:solidFill>
                  <a:latin typeface="Montserrat"/>
                  <a:ea typeface="Montserrat"/>
                  <a:cs typeface="Montserrat"/>
                  <a:sym typeface="Montserrat"/>
                </a:rPr>
                <a:t>HGZ 71 Veracruz</a:t>
              </a:r>
              <a:endParaRPr sz="1300" dirty="0">
                <a:solidFill>
                  <a:srgbClr val="434343"/>
                </a:solidFill>
                <a:latin typeface="Montserrat"/>
                <a:ea typeface="Montserrat"/>
                <a:cs typeface="Montserrat"/>
                <a:sym typeface="Montserrat"/>
              </a:endParaRPr>
            </a:p>
            <a:p>
              <a:pPr marL="0" marR="63500" lvl="0" indent="0" rtl="0">
                <a:lnSpc>
                  <a:spcPct val="115000"/>
                </a:lnSpc>
                <a:spcBef>
                  <a:spcPts val="0"/>
                </a:spcBef>
                <a:spcAft>
                  <a:spcPts val="0"/>
                </a:spcAft>
                <a:buClr>
                  <a:schemeClr val="dk1"/>
                </a:buClr>
                <a:buSzPts val="1100"/>
                <a:buFont typeface="Arial"/>
                <a:buNone/>
              </a:pPr>
              <a:r>
                <a:rPr lang="es" sz="1300" dirty="0">
                  <a:solidFill>
                    <a:srgbClr val="434343"/>
                  </a:solidFill>
                  <a:latin typeface="Montserrat"/>
                  <a:ea typeface="Montserrat"/>
                  <a:cs typeface="Montserrat"/>
                  <a:sym typeface="Montserrat"/>
                </a:rPr>
                <a:t>UMF 69 Coatzacoalcos</a:t>
              </a:r>
              <a:endParaRPr sz="1300" dirty="0">
                <a:solidFill>
                  <a:srgbClr val="434343"/>
                </a:solidFill>
                <a:latin typeface="Montserrat"/>
                <a:ea typeface="Montserrat"/>
                <a:cs typeface="Montserrat"/>
                <a:sym typeface="Montserrat"/>
              </a:endParaRPr>
            </a:p>
            <a:p>
              <a:pPr marL="0" marR="63500" lvl="0" indent="0" rtl="0">
                <a:lnSpc>
                  <a:spcPct val="115000"/>
                </a:lnSpc>
                <a:spcBef>
                  <a:spcPts val="0"/>
                </a:spcBef>
                <a:spcAft>
                  <a:spcPts val="0"/>
                </a:spcAft>
                <a:buClr>
                  <a:schemeClr val="dk1"/>
                </a:buClr>
                <a:buSzPts val="1100"/>
                <a:buFont typeface="Arial"/>
                <a:buNone/>
              </a:pPr>
              <a:r>
                <a:rPr lang="es" sz="1300" dirty="0">
                  <a:solidFill>
                    <a:srgbClr val="434343"/>
                  </a:solidFill>
                  <a:latin typeface="Montserrat"/>
                  <a:ea typeface="Montserrat"/>
                  <a:cs typeface="Montserrat"/>
                  <a:sym typeface="Montserrat"/>
                </a:rPr>
                <a:t>HGZ 8 Córdoba</a:t>
              </a:r>
              <a:endParaRPr sz="1300" dirty="0">
                <a:solidFill>
                  <a:srgbClr val="434343"/>
                </a:solidFill>
                <a:latin typeface="Montserrat"/>
                <a:ea typeface="Montserrat"/>
                <a:cs typeface="Montserrat"/>
                <a:sym typeface="Montserrat"/>
              </a:endParaRPr>
            </a:p>
            <a:p>
              <a:pPr marL="0" marR="63500" lvl="0" indent="0" rtl="0">
                <a:lnSpc>
                  <a:spcPct val="115000"/>
                </a:lnSpc>
                <a:spcBef>
                  <a:spcPts val="0"/>
                </a:spcBef>
                <a:spcAft>
                  <a:spcPts val="0"/>
                </a:spcAft>
                <a:buClr>
                  <a:schemeClr val="dk1"/>
                </a:buClr>
                <a:buSzPts val="1100"/>
                <a:buFont typeface="Arial"/>
                <a:buNone/>
              </a:pPr>
              <a:r>
                <a:rPr lang="es" sz="1300" dirty="0">
                  <a:solidFill>
                    <a:srgbClr val="434343"/>
                  </a:solidFill>
                  <a:latin typeface="Montserrat"/>
                  <a:ea typeface="Montserrat"/>
                  <a:cs typeface="Montserrat"/>
                  <a:sym typeface="Montserrat"/>
                </a:rPr>
                <a:t>HGZMF 32 Minatitlán</a:t>
              </a:r>
              <a:endParaRPr sz="1300" dirty="0">
                <a:solidFill>
                  <a:srgbClr val="434343"/>
                </a:solidFill>
                <a:latin typeface="Montserrat"/>
                <a:ea typeface="Montserrat"/>
                <a:cs typeface="Montserrat"/>
                <a:sym typeface="Montserrat"/>
              </a:endParaRPr>
            </a:p>
            <a:p>
              <a:pPr marL="0" marR="63500" lvl="0" indent="0" rtl="0">
                <a:lnSpc>
                  <a:spcPct val="115000"/>
                </a:lnSpc>
                <a:spcBef>
                  <a:spcPts val="0"/>
                </a:spcBef>
                <a:spcAft>
                  <a:spcPts val="0"/>
                </a:spcAft>
                <a:buClr>
                  <a:schemeClr val="dk1"/>
                </a:buClr>
                <a:buSzPts val="1100"/>
                <a:buFont typeface="Arial"/>
                <a:buNone/>
              </a:pPr>
              <a:r>
                <a:rPr lang="es" sz="1300" dirty="0">
                  <a:solidFill>
                    <a:srgbClr val="434343"/>
                  </a:solidFill>
                  <a:latin typeface="Montserrat"/>
                  <a:ea typeface="Montserrat"/>
                  <a:cs typeface="Montserrat"/>
                  <a:sym typeface="Montserrat"/>
                </a:rPr>
                <a:t>HGS 33 Tierra Blanca</a:t>
              </a:r>
            </a:p>
            <a:p>
              <a:pPr marL="0" marR="63500" lvl="0" indent="0" rtl="0">
                <a:lnSpc>
                  <a:spcPct val="115000"/>
                </a:lnSpc>
                <a:spcBef>
                  <a:spcPts val="0"/>
                </a:spcBef>
                <a:spcAft>
                  <a:spcPts val="0"/>
                </a:spcAft>
                <a:buClr>
                  <a:schemeClr val="dk1"/>
                </a:buClr>
                <a:buSzPts val="1100"/>
                <a:buFont typeface="Arial"/>
                <a:buNone/>
              </a:pPr>
              <a:r>
                <a:rPr lang="es" sz="1300" b="1" dirty="0">
                  <a:solidFill>
                    <a:srgbClr val="434343"/>
                  </a:solidFill>
                  <a:latin typeface="Montserrat"/>
                  <a:ea typeface="Montserrat"/>
                  <a:cs typeface="Montserrat"/>
                  <a:sym typeface="Montserrat"/>
                </a:rPr>
                <a:t>$23.9 mdp</a:t>
              </a:r>
              <a:endParaRPr sz="1300" b="1" dirty="0">
                <a:solidFill>
                  <a:srgbClr val="434343"/>
                </a:solidFill>
                <a:latin typeface="Montserrat"/>
                <a:ea typeface="Montserrat"/>
                <a:cs typeface="Montserrat"/>
                <a:sym typeface="Montserrat"/>
              </a:endParaRPr>
            </a:p>
            <a:p>
              <a:pPr marL="0" marR="0" lvl="0" indent="0" rtl="0">
                <a:lnSpc>
                  <a:spcPct val="100000"/>
                </a:lnSpc>
                <a:spcBef>
                  <a:spcPts val="0"/>
                </a:spcBef>
                <a:spcAft>
                  <a:spcPts val="0"/>
                </a:spcAft>
                <a:buClr>
                  <a:srgbClr val="000000"/>
                </a:buClr>
                <a:buSzPts val="1300"/>
                <a:buFont typeface="Arial"/>
                <a:buNone/>
              </a:pPr>
              <a:endParaRPr sz="1300" dirty="0">
                <a:solidFill>
                  <a:schemeClr val="dk2"/>
                </a:solidFill>
                <a:latin typeface="Montserrat"/>
                <a:ea typeface="Montserrat"/>
                <a:cs typeface="Montserrat"/>
                <a:sym typeface="Montserrat"/>
              </a:endParaRPr>
            </a:p>
          </p:txBody>
        </p:sp>
        <p:pic>
          <p:nvPicPr>
            <p:cNvPr id="15" name="Google Shape;362;g3d62d805bc0_1_0">
              <a:extLst>
                <a:ext uri="{FF2B5EF4-FFF2-40B4-BE49-F238E27FC236}">
                  <a16:creationId xmlns:a16="http://schemas.microsoft.com/office/drawing/2014/main" id="{E51CA27C-221A-AAF7-9B46-AF7ADE0D8E9C}"/>
                </a:ext>
              </a:extLst>
            </p:cNvPr>
            <p:cNvPicPr preferRelativeResize="0"/>
            <p:nvPr/>
          </p:nvPicPr>
          <p:blipFill rotWithShape="1">
            <a:blip r:embed="rId5">
              <a:alphaModFix/>
            </a:blip>
            <a:srcRect/>
            <a:stretch/>
          </p:blipFill>
          <p:spPr>
            <a:xfrm>
              <a:off x="3555448" y="4942482"/>
              <a:ext cx="3092627" cy="1991880"/>
            </a:xfrm>
            <a:prstGeom prst="rect">
              <a:avLst/>
            </a:prstGeom>
            <a:noFill/>
            <a:ln>
              <a:noFill/>
            </a:ln>
          </p:spPr>
        </p:pic>
        <p:sp>
          <p:nvSpPr>
            <p:cNvPr id="16" name="Google Shape;363;g3d62d805bc0_1_0">
              <a:extLst>
                <a:ext uri="{FF2B5EF4-FFF2-40B4-BE49-F238E27FC236}">
                  <a16:creationId xmlns:a16="http://schemas.microsoft.com/office/drawing/2014/main" id="{9191DF1B-ECF1-0CA6-0E74-63BF2E94F6C6}"/>
                </a:ext>
              </a:extLst>
            </p:cNvPr>
            <p:cNvSpPr/>
            <p:nvPr/>
          </p:nvSpPr>
          <p:spPr>
            <a:xfrm>
              <a:off x="705900" y="6790332"/>
              <a:ext cx="526500" cy="466500"/>
            </a:xfrm>
            <a:prstGeom prst="rect">
              <a:avLst/>
            </a:prstGeom>
            <a:gradFill>
              <a:gsLst>
                <a:gs pos="0">
                  <a:srgbClr val="691932"/>
                </a:gs>
                <a:gs pos="100000">
                  <a:srgbClr val="A42145"/>
                </a:gs>
              </a:gsLst>
              <a:lin ang="8099331" scaled="0"/>
            </a:gradFill>
            <a:ln>
              <a:noFill/>
            </a:ln>
          </p:spPr>
          <p:txBody>
            <a:bodyPr spcFirstLastPara="1" wrap="square" lIns="110100" tIns="110100" rIns="110100" bIns="110100" anchor="ctr" anchorCtr="0">
              <a:noAutofit/>
            </a:bodyPr>
            <a:lstStyle/>
            <a:p>
              <a:pPr marL="0" marR="0" lvl="0" indent="0" algn="ctr" rtl="0">
                <a:lnSpc>
                  <a:spcPct val="100000"/>
                </a:lnSpc>
                <a:spcBef>
                  <a:spcPts val="0"/>
                </a:spcBef>
                <a:spcAft>
                  <a:spcPts val="0"/>
                </a:spcAft>
                <a:buClr>
                  <a:srgbClr val="000000"/>
                </a:buClr>
                <a:buSzPts val="1686"/>
                <a:buFont typeface="Arial"/>
                <a:buNone/>
              </a:pPr>
              <a:r>
                <a:rPr lang="es" sz="1686">
                  <a:solidFill>
                    <a:srgbClr val="FFFFFF"/>
                  </a:solidFill>
                  <a:latin typeface="Noto Sans Black"/>
                  <a:ea typeface="Noto Sans Black"/>
                  <a:cs typeface="Noto Sans Black"/>
                  <a:sym typeface="Noto Sans Black"/>
                </a:rPr>
                <a:t>1</a:t>
              </a:r>
              <a:endParaRPr sz="1686" b="0" i="0" u="none" strike="noStrike" cap="none">
                <a:solidFill>
                  <a:srgbClr val="FFFFFF"/>
                </a:solidFill>
                <a:latin typeface="Noto Sans Black"/>
                <a:ea typeface="Noto Sans Black"/>
                <a:cs typeface="Noto Sans Black"/>
                <a:sym typeface="Noto Sans Black"/>
              </a:endParaRPr>
            </a:p>
          </p:txBody>
        </p:sp>
        <p:sp>
          <p:nvSpPr>
            <p:cNvPr id="17" name="Google Shape;364;g3d62d805bc0_1_0">
              <a:extLst>
                <a:ext uri="{FF2B5EF4-FFF2-40B4-BE49-F238E27FC236}">
                  <a16:creationId xmlns:a16="http://schemas.microsoft.com/office/drawing/2014/main" id="{FCEF63C8-A679-E0CC-6FF7-C0B718C71643}"/>
                </a:ext>
              </a:extLst>
            </p:cNvPr>
            <p:cNvSpPr/>
            <p:nvPr/>
          </p:nvSpPr>
          <p:spPr>
            <a:xfrm>
              <a:off x="1232596" y="6794209"/>
              <a:ext cx="1894500" cy="459000"/>
            </a:xfrm>
            <a:prstGeom prst="rect">
              <a:avLst/>
            </a:prstGeom>
            <a:gradFill>
              <a:gsLst>
                <a:gs pos="0">
                  <a:srgbClr val="006455"/>
                </a:gs>
                <a:gs pos="100000">
                  <a:srgbClr val="1C342D"/>
                </a:gs>
              </a:gsLst>
              <a:lin ang="8099331" scaled="0"/>
            </a:gradFill>
            <a:ln>
              <a:noFill/>
            </a:ln>
          </p:spPr>
          <p:txBody>
            <a:bodyPr spcFirstLastPara="1" wrap="square" lIns="110100" tIns="110100" rIns="110100" bIns="110100" anchor="ctr" anchorCtr="0">
              <a:noAutofit/>
            </a:bodyPr>
            <a:lstStyle/>
            <a:p>
              <a:pPr marL="0" marR="0" lvl="0" indent="0" algn="ctr" rtl="0">
                <a:lnSpc>
                  <a:spcPct val="100000"/>
                </a:lnSpc>
                <a:spcBef>
                  <a:spcPts val="0"/>
                </a:spcBef>
                <a:spcAft>
                  <a:spcPts val="0"/>
                </a:spcAft>
                <a:buClr>
                  <a:srgbClr val="000000"/>
                </a:buClr>
                <a:buSzPts val="1566"/>
                <a:buFont typeface="Arial"/>
                <a:buNone/>
              </a:pPr>
              <a:r>
                <a:rPr lang="es" sz="1566" b="1" i="0" u="none" strike="noStrike" cap="none">
                  <a:solidFill>
                    <a:srgbClr val="FFFFFF"/>
                  </a:solidFill>
                  <a:latin typeface="Montserrat"/>
                  <a:ea typeface="Montserrat"/>
                  <a:cs typeface="Montserrat"/>
                  <a:sym typeface="Montserrat"/>
                </a:rPr>
                <a:t>Tomógrafos</a:t>
              </a:r>
              <a:endParaRPr sz="1325" b="0" i="0" u="none" strike="noStrike" cap="none">
                <a:solidFill>
                  <a:srgbClr val="FFFFFF"/>
                </a:solidFill>
                <a:latin typeface="Arial"/>
                <a:ea typeface="Arial"/>
                <a:cs typeface="Arial"/>
                <a:sym typeface="Arial"/>
              </a:endParaRPr>
            </a:p>
          </p:txBody>
        </p:sp>
        <p:grpSp>
          <p:nvGrpSpPr>
            <p:cNvPr id="18" name="Google Shape;366;g3d62d805bc0_1_0">
              <a:extLst>
                <a:ext uri="{FF2B5EF4-FFF2-40B4-BE49-F238E27FC236}">
                  <a16:creationId xmlns:a16="http://schemas.microsoft.com/office/drawing/2014/main" id="{1AF6FEB8-98B8-2027-EB2B-9E160A9609D0}"/>
                </a:ext>
              </a:extLst>
            </p:cNvPr>
            <p:cNvGrpSpPr/>
            <p:nvPr/>
          </p:nvGrpSpPr>
          <p:grpSpPr>
            <a:xfrm>
              <a:off x="3745766" y="6786717"/>
              <a:ext cx="2838161" cy="466420"/>
              <a:chOff x="4538448" y="7426607"/>
              <a:chExt cx="2097525" cy="381000"/>
            </a:xfrm>
          </p:grpSpPr>
          <p:sp>
            <p:nvSpPr>
              <p:cNvPr id="21" name="Google Shape;367;g3d62d805bc0_1_0">
                <a:extLst>
                  <a:ext uri="{FF2B5EF4-FFF2-40B4-BE49-F238E27FC236}">
                    <a16:creationId xmlns:a16="http://schemas.microsoft.com/office/drawing/2014/main" id="{0AEE536E-F500-AF94-5A78-7A82CF39DA16}"/>
                  </a:ext>
                </a:extLst>
              </p:cNvPr>
              <p:cNvSpPr/>
              <p:nvPr/>
            </p:nvSpPr>
            <p:spPr>
              <a:xfrm>
                <a:off x="4538448" y="7426607"/>
                <a:ext cx="454200" cy="381000"/>
              </a:xfrm>
              <a:prstGeom prst="rect">
                <a:avLst/>
              </a:prstGeom>
              <a:gradFill>
                <a:gsLst>
                  <a:gs pos="0">
                    <a:srgbClr val="691932"/>
                  </a:gs>
                  <a:gs pos="100000">
                    <a:srgbClr val="A42145"/>
                  </a:gs>
                </a:gsLst>
                <a:lin ang="8099331" scaled="0"/>
              </a:gradFill>
              <a:ln>
                <a:noFill/>
              </a:ln>
            </p:spPr>
            <p:txBody>
              <a:bodyPr spcFirstLastPara="1" wrap="square" lIns="111925" tIns="111925" rIns="111925" bIns="111925" anchor="ctr" anchorCtr="0">
                <a:noAutofit/>
              </a:bodyPr>
              <a:lstStyle/>
              <a:p>
                <a:pPr marL="0" marR="0" lvl="0" indent="0" algn="ctr" rtl="0">
                  <a:lnSpc>
                    <a:spcPct val="100000"/>
                  </a:lnSpc>
                  <a:spcBef>
                    <a:spcPts val="0"/>
                  </a:spcBef>
                  <a:spcAft>
                    <a:spcPts val="0"/>
                  </a:spcAft>
                  <a:buClr>
                    <a:srgbClr val="000000"/>
                  </a:buClr>
                  <a:buSzPts val="1714"/>
                  <a:buFont typeface="Arial"/>
                  <a:buNone/>
                </a:pPr>
                <a:r>
                  <a:rPr lang="es" sz="1714">
                    <a:solidFill>
                      <a:srgbClr val="FFFFFF"/>
                    </a:solidFill>
                    <a:latin typeface="Noto Sans Black"/>
                    <a:ea typeface="Noto Sans Black"/>
                    <a:cs typeface="Noto Sans Black"/>
                    <a:sym typeface="Noto Sans Black"/>
                  </a:rPr>
                  <a:t>6</a:t>
                </a:r>
                <a:endParaRPr sz="1714" b="0" i="0" u="none" strike="noStrike" cap="none">
                  <a:solidFill>
                    <a:srgbClr val="FFFFFF"/>
                  </a:solidFill>
                  <a:latin typeface="Noto Sans Black"/>
                  <a:ea typeface="Noto Sans Black"/>
                  <a:cs typeface="Noto Sans Black"/>
                  <a:sym typeface="Noto Sans Black"/>
                </a:endParaRPr>
              </a:p>
            </p:txBody>
          </p:sp>
          <p:sp>
            <p:nvSpPr>
              <p:cNvPr id="22" name="Google Shape;368;g3d62d805bc0_1_0">
                <a:extLst>
                  <a:ext uri="{FF2B5EF4-FFF2-40B4-BE49-F238E27FC236}">
                    <a16:creationId xmlns:a16="http://schemas.microsoft.com/office/drawing/2014/main" id="{00968F65-9ABB-C551-27DF-2E32DBF8A5A6}"/>
                  </a:ext>
                </a:extLst>
              </p:cNvPr>
              <p:cNvSpPr/>
              <p:nvPr/>
            </p:nvSpPr>
            <p:spPr>
              <a:xfrm>
                <a:off x="5002173" y="7426607"/>
                <a:ext cx="1633800" cy="381000"/>
              </a:xfrm>
              <a:prstGeom prst="rect">
                <a:avLst/>
              </a:prstGeom>
              <a:gradFill>
                <a:gsLst>
                  <a:gs pos="0">
                    <a:srgbClr val="006455"/>
                  </a:gs>
                  <a:gs pos="100000">
                    <a:srgbClr val="1C342D"/>
                  </a:gs>
                </a:gsLst>
                <a:lin ang="8099331" scaled="0"/>
              </a:gradFill>
              <a:ln>
                <a:noFill/>
              </a:ln>
            </p:spPr>
            <p:txBody>
              <a:bodyPr spcFirstLastPara="1" wrap="square" lIns="111925" tIns="111925" rIns="111925" bIns="111925" anchor="ctr" anchorCtr="0">
                <a:noAutofit/>
              </a:bodyPr>
              <a:lstStyle/>
              <a:p>
                <a:pPr marL="0" marR="0" lvl="0" indent="0" algn="ctr" rtl="0">
                  <a:lnSpc>
                    <a:spcPct val="100000"/>
                  </a:lnSpc>
                  <a:spcBef>
                    <a:spcPts val="0"/>
                  </a:spcBef>
                  <a:spcAft>
                    <a:spcPts val="0"/>
                  </a:spcAft>
                  <a:buClr>
                    <a:srgbClr val="000000"/>
                  </a:buClr>
                  <a:buSzPts val="1591"/>
                  <a:buFont typeface="Arial"/>
                  <a:buNone/>
                </a:pPr>
                <a:r>
                  <a:rPr lang="es" sz="1591" b="1" i="0" u="none" strike="noStrike" cap="none">
                    <a:solidFill>
                      <a:srgbClr val="FFFFFF"/>
                    </a:solidFill>
                    <a:latin typeface="Montserrat"/>
                    <a:ea typeface="Montserrat"/>
                    <a:cs typeface="Montserrat"/>
                    <a:sym typeface="Montserrat"/>
                  </a:rPr>
                  <a:t>Mastógrafos</a:t>
                </a:r>
                <a:endParaRPr sz="1347" b="0" i="0" u="none" strike="noStrike" cap="none">
                  <a:solidFill>
                    <a:srgbClr val="FFFFFF"/>
                  </a:solidFill>
                  <a:latin typeface="Arial"/>
                  <a:ea typeface="Arial"/>
                  <a:cs typeface="Arial"/>
                  <a:sym typeface="Arial"/>
                </a:endParaRPr>
              </a:p>
            </p:txBody>
          </p:sp>
        </p:grpSp>
        <p:sp>
          <p:nvSpPr>
            <p:cNvPr id="19" name="Google Shape;369;g3d62d805bc0_1_0">
              <a:extLst>
                <a:ext uri="{FF2B5EF4-FFF2-40B4-BE49-F238E27FC236}">
                  <a16:creationId xmlns:a16="http://schemas.microsoft.com/office/drawing/2014/main" id="{F98B3713-9F11-6908-475E-3EC642F247F0}"/>
                </a:ext>
              </a:extLst>
            </p:cNvPr>
            <p:cNvSpPr txBox="1"/>
            <p:nvPr/>
          </p:nvSpPr>
          <p:spPr>
            <a:xfrm>
              <a:off x="-149075" y="4219700"/>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dirty="0">
                  <a:solidFill>
                    <a:srgbClr val="006858"/>
                  </a:solidFill>
                  <a:latin typeface="Montserrat"/>
                  <a:ea typeface="Montserrat"/>
                  <a:cs typeface="Montserrat"/>
                  <a:sym typeface="Montserrat"/>
                </a:rPr>
                <a:t>Fortalecimiento de equipo médico</a:t>
              </a:r>
              <a:endParaRPr sz="1600" b="1" dirty="0">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dirty="0">
                  <a:solidFill>
                    <a:srgbClr val="006858"/>
                  </a:solidFill>
                  <a:latin typeface="Montserrat"/>
                  <a:ea typeface="Montserrat"/>
                  <a:cs typeface="Montserrat"/>
                  <a:sym typeface="Montserrat"/>
                </a:rPr>
                <a:t>Compra 2025-2026 equipo mayor  (</a:t>
              </a:r>
              <a:r>
                <a:rPr lang="es" sz="1600" b="1" dirty="0">
                  <a:solidFill>
                    <a:srgbClr val="006858"/>
                  </a:solidFill>
                  <a:latin typeface="Montserrat"/>
                  <a:ea typeface="Montserrat"/>
                  <a:cs typeface="Montserrat"/>
                  <a:sym typeface="Montserrat"/>
                </a:rPr>
                <a:t>Instalación</a:t>
              </a:r>
              <a:r>
                <a:rPr lang="es" sz="1600" b="1" i="0" u="none" strike="noStrike" cap="none" dirty="0">
                  <a:solidFill>
                    <a:srgbClr val="006858"/>
                  </a:solidFill>
                  <a:latin typeface="Montserrat"/>
                  <a:ea typeface="Montserrat"/>
                  <a:cs typeface="Montserrat"/>
                  <a:sym typeface="Montserrat"/>
                </a:rPr>
                <a:t> abr</a:t>
              </a:r>
              <a:r>
                <a:rPr lang="es" sz="1600" b="1" dirty="0">
                  <a:solidFill>
                    <a:srgbClr val="006858"/>
                  </a:solidFill>
                  <a:latin typeface="Montserrat"/>
                  <a:ea typeface="Montserrat"/>
                  <a:cs typeface="Montserrat"/>
                  <a:sym typeface="Montserrat"/>
                </a:rPr>
                <a:t>il-</a:t>
              </a:r>
              <a:r>
                <a:rPr lang="es" sz="1600" b="1" i="0" u="none" strike="noStrike" cap="none" dirty="0">
                  <a:solidFill>
                    <a:srgbClr val="006858"/>
                  </a:solidFill>
                  <a:latin typeface="Montserrat"/>
                  <a:ea typeface="Montserrat"/>
                  <a:cs typeface="Montserrat"/>
                  <a:sym typeface="Montserrat"/>
                </a:rPr>
                <a:t>mayo)</a:t>
              </a:r>
              <a:endParaRPr sz="2300" b="1" i="0" u="none" strike="noStrike" cap="none" dirty="0">
                <a:solidFill>
                  <a:srgbClr val="006858"/>
                </a:solidFill>
                <a:latin typeface="Montserrat"/>
                <a:ea typeface="Montserrat"/>
                <a:cs typeface="Montserrat"/>
                <a:sym typeface="Montserrat"/>
              </a:endParaRPr>
            </a:p>
          </p:txBody>
        </p:sp>
        <p:sp>
          <p:nvSpPr>
            <p:cNvPr id="20" name="Google Shape;370;g3d62d805bc0_1_0">
              <a:extLst>
                <a:ext uri="{FF2B5EF4-FFF2-40B4-BE49-F238E27FC236}">
                  <a16:creationId xmlns:a16="http://schemas.microsoft.com/office/drawing/2014/main" id="{9A4639D2-2A45-ECAB-C69F-01F68DA7CB1C}"/>
                </a:ext>
              </a:extLst>
            </p:cNvPr>
            <p:cNvSpPr txBox="1"/>
            <p:nvPr/>
          </p:nvSpPr>
          <p:spPr>
            <a:xfrm>
              <a:off x="364600" y="7374007"/>
              <a:ext cx="3362100" cy="644762"/>
            </a:xfrm>
            <a:prstGeom prst="rect">
              <a:avLst/>
            </a:prstGeom>
            <a:noFill/>
            <a:ln>
              <a:noFill/>
            </a:ln>
          </p:spPr>
          <p:txBody>
            <a:bodyPr spcFirstLastPara="1" wrap="square" lIns="91425" tIns="91425" rIns="91425" bIns="91425" anchor="t" anchorCtr="0">
              <a:spAutoFit/>
            </a:bodyPr>
            <a:lstStyle/>
            <a:p>
              <a:pPr marL="0" marR="63500" lvl="0" indent="0" algn="ctr" rtl="0">
                <a:lnSpc>
                  <a:spcPct val="115000"/>
                </a:lnSpc>
                <a:spcBef>
                  <a:spcPts val="0"/>
                </a:spcBef>
                <a:spcAft>
                  <a:spcPts val="0"/>
                </a:spcAft>
                <a:buNone/>
              </a:pPr>
              <a:r>
                <a:rPr lang="es" sz="1300" dirty="0">
                  <a:solidFill>
                    <a:srgbClr val="434343"/>
                  </a:solidFill>
                  <a:latin typeface="Montserrat"/>
                  <a:ea typeface="Montserrat"/>
                  <a:cs typeface="Montserrat"/>
                  <a:sym typeface="Montserrat"/>
                </a:rPr>
                <a:t>HGZMF 35 Cosamaloapan 256 cortes</a:t>
              </a:r>
            </a:p>
            <a:p>
              <a:pPr marL="0" marR="63500" lvl="0" indent="0" algn="ctr" rtl="0">
                <a:lnSpc>
                  <a:spcPct val="115000"/>
                </a:lnSpc>
                <a:spcBef>
                  <a:spcPts val="0"/>
                </a:spcBef>
                <a:spcAft>
                  <a:spcPts val="0"/>
                </a:spcAft>
                <a:buNone/>
              </a:pPr>
              <a:r>
                <a:rPr lang="es" sz="1300" b="1" dirty="0">
                  <a:solidFill>
                    <a:srgbClr val="434343"/>
                  </a:solidFill>
                  <a:latin typeface="Montserrat"/>
                  <a:ea typeface="Montserrat"/>
                  <a:cs typeface="Montserrat"/>
                  <a:sym typeface="Montserrat"/>
                </a:rPr>
                <a:t>$29.6 mdp</a:t>
              </a:r>
              <a:endParaRPr sz="1300" b="1" dirty="0">
                <a:solidFill>
                  <a:srgbClr val="434343"/>
                </a:solidFill>
                <a:latin typeface="Montserrat"/>
                <a:ea typeface="Montserrat"/>
                <a:cs typeface="Montserrat"/>
                <a:sym typeface="Montserrat"/>
              </a:endParaRPr>
            </a:p>
          </p:txBody>
        </p:sp>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graphicFrame>
        <p:nvGraphicFramePr>
          <p:cNvPr id="154" name="Table 153"/>
          <p:cNvGraphicFramePr>
            <a:graphicFrameLocks noGrp="1"/>
          </p:cNvGraphicFramePr>
          <p:nvPr/>
        </p:nvGraphicFramePr>
        <p:xfrm>
          <a:off x="93600" y="1180800"/>
          <a:ext cx="7534799" cy="4104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HGSMF 16 Omealca</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HGZMF 35 Cosamaloapan</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21</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11 Jalapa.</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3</a:t>
                      </a:r>
                    </a:p>
                  </a:txBody>
                  <a:tcPr>
                    <a:solidFill>
                      <a:srgbClr val="FFFFFF"/>
                    </a:solidFill>
                  </a:tcPr>
                </a:tc>
                <a:tc>
                  <a:txBody>
                    <a:bodyPr/>
                    <a:lstStyle/>
                    <a:p>
                      <a:pPr algn="ctr">
                        <a:defRPr sz="1000">
                          <a:latin typeface="Montserrat"/>
                        </a:defRPr>
                      </a:pPr>
                      <a:r>
                        <a:t>18</a:t>
                      </a:r>
                    </a:p>
                  </a:txBody>
                  <a:tcPr>
                    <a:solidFill>
                      <a:srgbClr val="FFFFFF"/>
                    </a:solidFill>
                  </a:tcPr>
                </a:tc>
                <a:tc>
                  <a:txBody>
                    <a:bodyPr/>
                    <a:lstStyle/>
                    <a:p>
                      <a:pPr algn="ctr">
                        <a:defRPr sz="1000">
                          <a:latin typeface="Montserrat"/>
                        </a:defRPr>
                      </a:pPr>
                      <a:r>
                        <a:t>1</a:t>
                      </a:r>
                    </a:p>
                  </a:txBody>
                  <a:tcPr>
                    <a:solidFill>
                      <a:srgbClr val="E6D194"/>
                    </a:solidFill>
                  </a:tcPr>
                </a:tc>
              </a:tr>
              <a:tr h="216000">
                <a:tc>
                  <a:txBody>
                    <a:bodyPr/>
                    <a:lstStyle/>
                    <a:p>
                      <a:pPr algn="l">
                        <a:defRPr sz="1000">
                          <a:latin typeface="Montserrat"/>
                        </a:defRPr>
                      </a:pPr>
                      <a:r>
                        <a:t>HGZMF 50 Lerdo Tejada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HGR Orizaba</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10</a:t>
                      </a:r>
                    </a:p>
                  </a:txBody>
                  <a:tcPr>
                    <a:solidFill>
                      <a:srgbClr val="FFFFFF"/>
                    </a:solidFill>
                  </a:tcPr>
                </a:tc>
                <a:tc>
                  <a:txBody>
                    <a:bodyPr/>
                    <a:lstStyle/>
                    <a:p>
                      <a:pPr algn="ctr">
                        <a:defRPr sz="1000">
                          <a:latin typeface="Montserrat"/>
                        </a:defRPr>
                      </a:pPr>
                      <a:r>
                        <a:t>1</a:t>
                      </a:r>
                    </a:p>
                  </a:txBody>
                  <a:tcPr>
                    <a:solidFill>
                      <a:srgbClr val="E6D194"/>
                    </a:solidFill>
                  </a:tcPr>
                </a:tc>
              </a:tr>
              <a:tr h="216000">
                <a:tc>
                  <a:txBody>
                    <a:bodyPr/>
                    <a:lstStyle/>
                    <a:p>
                      <a:pPr algn="l">
                        <a:defRPr sz="1000">
                          <a:latin typeface="Montserrat"/>
                        </a:defRPr>
                      </a:pPr>
                      <a:r>
                        <a:t>HGZ 71 Veracruz</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12</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8 Córdoba</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8</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36 Coatzacoalos</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12</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HGSMF 26 Tuxpan</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24 Poza Rica</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7</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HGZMF 28 Martínez de la Torre</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HGZMF 36 José Cardel</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HGSMF 12 Potrero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HGSMF 7 Panuco</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 33 Tierra Blanca</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HGSMF 33 S. Andrés Tuxtla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HGZMF 32 Minatitlán</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7</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10</a:t>
                      </a:r>
                    </a:p>
                  </a:txBody>
                  <a:tcPr>
                    <a:solidFill>
                      <a:srgbClr val="D3E9E7"/>
                    </a:solidFill>
                  </a:tcPr>
                </a:tc>
                <a:tc>
                  <a:txBody>
                    <a:bodyPr/>
                    <a:lstStyle/>
                    <a:p>
                      <a:pPr algn="ctr">
                        <a:defRPr sz="1000" b="1">
                          <a:solidFill>
                            <a:srgbClr val="006556"/>
                          </a:solidFill>
                          <a:latin typeface="Montserrat"/>
                        </a:defRPr>
                      </a:pPr>
                      <a:r>
                        <a:t>8</a:t>
                      </a:r>
                    </a:p>
                  </a:txBody>
                  <a:tcPr>
                    <a:solidFill>
                      <a:srgbClr val="D3E9E7"/>
                    </a:solidFill>
                  </a:tcPr>
                </a:tc>
                <a:tc>
                  <a:txBody>
                    <a:bodyPr/>
                    <a:lstStyle/>
                    <a:p>
                      <a:pPr algn="ctr">
                        <a:defRPr sz="1000" b="1">
                          <a:solidFill>
                            <a:srgbClr val="006556"/>
                          </a:solidFill>
                          <a:latin typeface="Montserrat"/>
                        </a:defRPr>
                      </a:pPr>
                      <a:r>
                        <a:t>98</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No incluye equipo relevante no instalado.</a:t>
            </a:r>
            <a:br/>
            <a:r>
              <a:t>Fuente: Cédula de actualización de variables seleccionadas del IFU, enviadas por el OOAD.</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2591930930"/>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A04D7F01-C71A-BB7B-657D-1D1A38D819B5}"/>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40F014A6-6B13-0099-D24E-2259FB668443}"/>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E6325593-4DDD-8C41-FAE0-0543D72FBB28}"/>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D29BF613-0BFB-05A5-50E5-0BB7A1AF24FC}"/>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88B83EA8-37EC-9B58-4EBB-59DA62FE0596}"/>
              </a:ext>
            </a:extLst>
          </p:cNvPr>
          <p:cNvSpPr txBox="1"/>
          <p:nvPr/>
        </p:nvSpPr>
        <p:spPr>
          <a:xfrm>
            <a:off x="5064096" y="5124571"/>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00332BF8-30C0-5B9F-2665-E8A73F16F781}"/>
              </a:ext>
            </a:extLst>
          </p:cNvPr>
          <p:cNvSpPr txBox="1"/>
          <p:nvPr/>
        </p:nvSpPr>
        <p:spPr>
          <a:xfrm>
            <a:off x="5064096" y="6510000"/>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BF099A84-596F-2CB6-21AE-2372BBE212D7}"/>
              </a:ext>
            </a:extLst>
          </p:cNvPr>
          <p:cNvSpPr txBox="1"/>
          <p:nvPr/>
        </p:nvSpPr>
        <p:spPr>
          <a:xfrm>
            <a:off x="4701239" y="8131971"/>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21, 17 mayo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+18,776</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+575,718</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+445,929</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5,563,370</a:t>
                      </a:r>
                    </a:p>
                  </a:txBody>
                  <a:tcPr marL="0" marR="0" marT="0" marB="0" anchor="ctr">
                    <a:solidFill>
                      <a:srgbClr val="FFFFFF"/>
                    </a:solidFill>
                  </a:tcPr>
                </a:tc>
                <a:tc>
                  <a:txBody>
                    <a:bodyPr/>
                    <a:lstStyle/>
                    <a:p>
                      <a:pPr algn="ctr">
                        <a:defRPr sz="1000">
                          <a:solidFill>
                            <a:srgbClr val="404040"/>
                          </a:solidFill>
                          <a:latin typeface="Montserrat"/>
                        </a:defRPr>
                      </a:pPr>
                      <a:r>
                        <a:t>575,718</a:t>
                      </a:r>
                    </a:p>
                  </a:txBody>
                  <a:tcPr marL="0" marR="0" marT="0" marB="0" anchor="ctr">
                    <a:solidFill>
                      <a:srgbClr val="FFFFFF"/>
                    </a:solidFill>
                  </a:tcPr>
                </a:tc>
                <a:tc>
                  <a:txBody>
                    <a:bodyPr/>
                    <a:lstStyle/>
                    <a:p>
                      <a:pPr algn="ctr">
                        <a:defRPr sz="1000" b="1">
                          <a:solidFill>
                            <a:srgbClr val="980000"/>
                          </a:solidFill>
                          <a:latin typeface="Montserrat"/>
                        </a:defRPr>
                      </a:pPr>
                      <a:r>
                        <a:t>2,218,101</a:t>
                      </a:r>
                    </a:p>
                  </a:txBody>
                  <a:tcPr marL="0" marR="0" marT="0" marB="0" anchor="ctr">
                    <a:solidFill>
                      <a:srgbClr val="ECD3D9"/>
                    </a:solidFill>
                  </a:tcPr>
                </a:tc>
                <a:tc>
                  <a:txBody>
                    <a:bodyPr/>
                    <a:lstStyle/>
                    <a:p>
                      <a:pPr algn="ctr">
                        <a:defRPr sz="1000" b="1">
                          <a:solidFill>
                            <a:srgbClr val="980000"/>
                          </a:solidFill>
                          <a:latin typeface="Montserrat"/>
                        </a:defRPr>
                      </a:pPr>
                      <a:r>
                        <a:t>5,599,356</a:t>
                      </a:r>
                    </a:p>
                  </a:txBody>
                  <a:tcPr marL="0" marR="0" marT="0" marB="0" anchor="ctr">
                    <a:solidFill>
                      <a:srgbClr val="ECD3D9"/>
                    </a:solidFill>
                  </a:tcPr>
                </a:tc>
                <a:tc>
                  <a:txBody>
                    <a:bodyPr/>
                    <a:lstStyle/>
                    <a:p>
                      <a:pPr algn="ctr">
                        <a:defRPr sz="1000" b="1">
                          <a:solidFill>
                            <a:srgbClr val="980000"/>
                          </a:solidFill>
                          <a:latin typeface="Montserrat"/>
                        </a:defRPr>
                      </a:pPr>
                      <a:r>
                        <a:t>39.6%</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1,441,804</a:t>
                      </a:r>
                    </a:p>
                  </a:txBody>
                  <a:tcPr marL="0" marR="0" marT="0" marB="0" anchor="ctr">
                    <a:solidFill>
                      <a:srgbClr val="EFEFEF"/>
                    </a:solidFill>
                  </a:tcPr>
                </a:tc>
                <a:tc>
                  <a:txBody>
                    <a:bodyPr/>
                    <a:lstStyle/>
                    <a:p>
                      <a:pPr algn="ctr">
                        <a:defRPr sz="1000">
                          <a:solidFill>
                            <a:srgbClr val="404040"/>
                          </a:solidFill>
                          <a:latin typeface="Montserrat"/>
                        </a:defRPr>
                      </a:pPr>
                      <a:r>
                        <a:t>445,929</a:t>
                      </a:r>
                    </a:p>
                  </a:txBody>
                  <a:tcPr marL="0" marR="0" marT="0" marB="0" anchor="ctr">
                    <a:solidFill>
                      <a:srgbClr val="EFEFEF"/>
                    </a:solidFill>
                  </a:tcPr>
                </a:tc>
                <a:tc>
                  <a:txBody>
                    <a:bodyPr/>
                    <a:lstStyle/>
                    <a:p>
                      <a:pPr algn="ctr">
                        <a:defRPr sz="1000" b="1">
                          <a:solidFill>
                            <a:srgbClr val="980000"/>
                          </a:solidFill>
                          <a:latin typeface="Montserrat"/>
                        </a:defRPr>
                      </a:pPr>
                      <a:r>
                        <a:t>582,310</a:t>
                      </a:r>
                    </a:p>
                  </a:txBody>
                  <a:tcPr marL="0" marR="0" marT="0" marB="0" anchor="ctr">
                    <a:solidFill>
                      <a:srgbClr val="F4E3E7"/>
                    </a:solidFill>
                  </a:tcPr>
                </a:tc>
                <a:tc>
                  <a:txBody>
                    <a:bodyPr/>
                    <a:lstStyle/>
                    <a:p>
                      <a:pPr algn="ctr">
                        <a:defRPr sz="1000" b="1">
                          <a:solidFill>
                            <a:srgbClr val="980000"/>
                          </a:solidFill>
                          <a:latin typeface="Montserrat"/>
                        </a:defRPr>
                      </a:pPr>
                      <a:r>
                        <a:t>1,610,380</a:t>
                      </a:r>
                    </a:p>
                  </a:txBody>
                  <a:tcPr marL="0" marR="0" marT="0" marB="0" anchor="ctr">
                    <a:solidFill>
                      <a:srgbClr val="F4E3E7"/>
                    </a:solidFill>
                  </a:tcPr>
                </a:tc>
                <a:tc>
                  <a:txBody>
                    <a:bodyPr/>
                    <a:lstStyle/>
                    <a:p>
                      <a:pPr algn="ctr">
                        <a:defRPr sz="1000" b="1">
                          <a:solidFill>
                            <a:srgbClr val="980000"/>
                          </a:solidFill>
                          <a:latin typeface="Montserrat"/>
                        </a:defRPr>
                      </a:pPr>
                      <a:r>
                        <a:t>36.2%</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83,727</a:t>
                      </a:r>
                    </a:p>
                  </a:txBody>
                  <a:tcPr marL="0" marR="0" marT="0" marB="0" anchor="ctr">
                    <a:solidFill>
                      <a:srgbClr val="FFFFFF"/>
                    </a:solidFill>
                  </a:tcPr>
                </a:tc>
                <a:tc>
                  <a:txBody>
                    <a:bodyPr/>
                    <a:lstStyle/>
                    <a:p>
                      <a:pPr algn="ctr">
                        <a:defRPr sz="1000">
                          <a:solidFill>
                            <a:srgbClr val="404040"/>
                          </a:solidFill>
                          <a:latin typeface="Montserrat"/>
                        </a:defRPr>
                      </a:pPr>
                      <a:r>
                        <a:t>18,776</a:t>
                      </a:r>
                    </a:p>
                  </a:txBody>
                  <a:tcPr marL="0" marR="0" marT="0" marB="0" anchor="ctr">
                    <a:solidFill>
                      <a:srgbClr val="FFFFFF"/>
                    </a:solidFill>
                  </a:tcPr>
                </a:tc>
                <a:tc>
                  <a:txBody>
                    <a:bodyPr/>
                    <a:lstStyle/>
                    <a:p>
                      <a:pPr algn="ctr">
                        <a:defRPr sz="1000" b="1">
                          <a:solidFill>
                            <a:srgbClr val="980000"/>
                          </a:solidFill>
                          <a:latin typeface="Montserrat"/>
                        </a:defRPr>
                      </a:pPr>
                      <a:r>
                        <a:t>34,864</a:t>
                      </a:r>
                    </a:p>
                  </a:txBody>
                  <a:tcPr marL="0" marR="0" marT="0" marB="0" anchor="ctr">
                    <a:solidFill>
                      <a:srgbClr val="ECD3D9"/>
                    </a:solidFill>
                  </a:tcPr>
                </a:tc>
                <a:tc>
                  <a:txBody>
                    <a:bodyPr/>
                    <a:lstStyle/>
                    <a:p>
                      <a:pPr algn="ctr">
                        <a:defRPr sz="1000" b="1">
                          <a:solidFill>
                            <a:srgbClr val="980000"/>
                          </a:solidFill>
                          <a:latin typeface="Montserrat"/>
                        </a:defRPr>
                      </a:pPr>
                      <a:r>
                        <a:t>108,616</a:t>
                      </a:r>
                    </a:p>
                  </a:txBody>
                  <a:tcPr marL="0" marR="0" marT="0" marB="0" anchor="ctr">
                    <a:solidFill>
                      <a:srgbClr val="ECD3D9"/>
                    </a:solidFill>
                  </a:tcPr>
                </a:tc>
                <a:tc>
                  <a:txBody>
                    <a:bodyPr/>
                    <a:lstStyle/>
                    <a:p>
                      <a:pPr algn="ctr">
                        <a:defRPr sz="1000" b="1">
                          <a:solidFill>
                            <a:srgbClr val="980000"/>
                          </a:solidFill>
                          <a:latin typeface="Montserrat"/>
                        </a:defRPr>
                      </a:pPr>
                      <a:r>
                        <a:t>32.1%</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104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88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21, 17 mayo 2026</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58968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19 Banderilla</a:t>
                      </a:r>
                    </a:p>
                  </a:txBody>
                  <a:tcPr marL="0" marR="0" marT="0" marB="0">
                    <a:solidFill>
                      <a:srgbClr val="FFFFFF"/>
                    </a:solidFill>
                  </a:tcPr>
                </a:tc>
                <a:tc>
                  <a:txBody>
                    <a:bodyPr/>
                    <a:lstStyle/>
                    <a:p>
                      <a:pPr algn="ctr">
                        <a:defRPr sz="1000">
                          <a:latin typeface="Montserrat"/>
                        </a:defRPr>
                      </a:pPr>
                      <a:r>
                        <a:t>40,388</a:t>
                      </a:r>
                    </a:p>
                  </a:txBody>
                  <a:tcPr marL="0" marR="0" marT="0" marB="0">
                    <a:solidFill>
                      <a:srgbClr val="FFFFFF"/>
                    </a:solidFill>
                  </a:tcPr>
                </a:tc>
                <a:tc>
                  <a:txBody>
                    <a:bodyPr/>
                    <a:lstStyle/>
                    <a:p>
                      <a:pPr algn="ctr">
                        <a:defRPr sz="1000">
                          <a:latin typeface="Montserrat"/>
                        </a:defRPr>
                      </a:pPr>
                      <a:r>
                        <a:t>-1,594</a:t>
                      </a:r>
                    </a:p>
                  </a:txBody>
                  <a:tcPr marL="0" marR="0" marT="0" marB="0">
                    <a:solidFill>
                      <a:srgbClr val="FFFFFF"/>
                    </a:solidFill>
                  </a:tcPr>
                </a:tc>
                <a:tc>
                  <a:txBody>
                    <a:bodyPr/>
                    <a:lstStyle/>
                    <a:p>
                      <a:pPr algn="ctr">
                        <a:defRPr sz="1000">
                          <a:latin typeface="Montserrat"/>
                        </a:defRPr>
                      </a:pPr>
                      <a:r>
                        <a:t>15,805</a:t>
                      </a:r>
                    </a:p>
                  </a:txBody>
                  <a:tcPr marL="0" marR="0" marT="0" marB="0">
                    <a:solidFill>
                      <a:srgbClr val="ECD3D9"/>
                    </a:solidFill>
                  </a:tcPr>
                </a:tc>
                <a:tc>
                  <a:txBody>
                    <a:bodyPr/>
                    <a:lstStyle/>
                    <a:p>
                      <a:pPr algn="ctr">
                        <a:defRPr sz="1000">
                          <a:latin typeface="Montserrat"/>
                        </a:defRPr>
                      </a:pPr>
                      <a:r>
                        <a:t>50,112</a:t>
                      </a:r>
                    </a:p>
                  </a:txBody>
                  <a:tcPr marL="0" marR="0" marT="0" marB="0">
                    <a:solidFill>
                      <a:srgbClr val="ECD3D9"/>
                    </a:solidFill>
                  </a:tcPr>
                </a:tc>
                <a:tc>
                  <a:txBody>
                    <a:bodyPr/>
                    <a:lstStyle/>
                    <a:p>
                      <a:pPr algn="ctr">
                        <a:defRPr sz="1000">
                          <a:latin typeface="Montserrat"/>
                        </a:defRPr>
                      </a:pPr>
                      <a:r>
                        <a:t>31.5%</a:t>
                      </a:r>
                    </a:p>
                  </a:txBody>
                  <a:tcPr marL="0" marR="0" marT="0" marB="0">
                    <a:solidFill>
                      <a:srgbClr val="ECD3D9"/>
                    </a:solidFill>
                  </a:tcPr>
                </a:tc>
              </a:tr>
              <a:tr h="151200">
                <a:tc>
                  <a:txBody>
                    <a:bodyPr/>
                    <a:lstStyle/>
                    <a:p>
                      <a:pPr algn="l">
                        <a:defRPr sz="1000">
                          <a:latin typeface="Montserrat"/>
                        </a:defRPr>
                      </a:pPr>
                      <a:r>
                        <a:t>UMF 58 Jalapa</a:t>
                      </a:r>
                    </a:p>
                  </a:txBody>
                  <a:tcPr marL="0" marR="0" marT="0" marB="0">
                    <a:solidFill>
                      <a:srgbClr val="EFEFEF"/>
                    </a:solidFill>
                  </a:tcPr>
                </a:tc>
                <a:tc>
                  <a:txBody>
                    <a:bodyPr/>
                    <a:lstStyle/>
                    <a:p>
                      <a:pPr algn="ctr">
                        <a:defRPr sz="1000">
                          <a:latin typeface="Montserrat"/>
                        </a:defRPr>
                      </a:pPr>
                      <a:r>
                        <a:t>22,716</a:t>
                      </a:r>
                    </a:p>
                  </a:txBody>
                  <a:tcPr marL="0" marR="0" marT="0" marB="0">
                    <a:solidFill>
                      <a:srgbClr val="EFEFEF"/>
                    </a:solidFill>
                  </a:tcPr>
                </a:tc>
                <a:tc>
                  <a:txBody>
                    <a:bodyPr/>
                    <a:lstStyle/>
                    <a:p>
                      <a:pPr algn="ctr">
                        <a:defRPr sz="1000">
                          <a:latin typeface="Montserrat"/>
                        </a:defRPr>
                      </a:pPr>
                      <a:r>
                        <a:t>1,569</a:t>
                      </a:r>
                    </a:p>
                  </a:txBody>
                  <a:tcPr marL="0" marR="0" marT="0" marB="0">
                    <a:solidFill>
                      <a:srgbClr val="EFEFEF"/>
                    </a:solidFill>
                  </a:tcPr>
                </a:tc>
                <a:tc>
                  <a:txBody>
                    <a:bodyPr/>
                    <a:lstStyle/>
                    <a:p>
                      <a:pPr algn="ctr">
                        <a:defRPr sz="1000">
                          <a:latin typeface="Montserrat"/>
                        </a:defRPr>
                      </a:pPr>
                      <a:r>
                        <a:t>8,927</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35.6%</a:t>
                      </a:r>
                    </a:p>
                  </a:txBody>
                  <a:tcPr marL="0" marR="0" marT="0" marB="0">
                    <a:solidFill>
                      <a:srgbClr val="ECD3D9"/>
                    </a:solidFill>
                  </a:tcPr>
                </a:tc>
              </a:tr>
              <a:tr h="151200">
                <a:tc>
                  <a:txBody>
                    <a:bodyPr/>
                    <a:lstStyle/>
                    <a:p>
                      <a:pPr algn="l">
                        <a:defRPr sz="1000">
                          <a:latin typeface="Montserrat"/>
                        </a:defRPr>
                      </a:pPr>
                      <a:r>
                        <a:t>UMF 31 Los Robles</a:t>
                      </a:r>
                    </a:p>
                  </a:txBody>
                  <a:tcPr marL="0" marR="0" marT="0" marB="0">
                    <a:solidFill>
                      <a:srgbClr val="FFFFFF"/>
                    </a:solidFill>
                  </a:tcPr>
                </a:tc>
                <a:tc>
                  <a:txBody>
                    <a:bodyPr/>
                    <a:lstStyle/>
                    <a:p>
                      <a:pPr algn="ctr">
                        <a:defRPr sz="1000">
                          <a:latin typeface="Montserrat"/>
                        </a:defRPr>
                      </a:pPr>
                      <a:r>
                        <a:t>12,324</a:t>
                      </a:r>
                    </a:p>
                  </a:txBody>
                  <a:tcPr marL="0" marR="0" marT="0" marB="0">
                    <a:solidFill>
                      <a:srgbClr val="FFFFFF"/>
                    </a:solidFill>
                  </a:tcPr>
                </a:tc>
                <a:tc>
                  <a:txBody>
                    <a:bodyPr/>
                    <a:lstStyle/>
                    <a:p>
                      <a:pPr algn="ctr">
                        <a:defRPr sz="1000">
                          <a:latin typeface="Montserrat"/>
                        </a:defRPr>
                      </a:pPr>
                      <a:r>
                        <a:t>584</a:t>
                      </a:r>
                    </a:p>
                  </a:txBody>
                  <a:tcPr marL="0" marR="0" marT="0" marB="0">
                    <a:solidFill>
                      <a:srgbClr val="FFFFFF"/>
                    </a:solidFill>
                  </a:tcPr>
                </a:tc>
                <a:tc>
                  <a:txBody>
                    <a:bodyPr/>
                    <a:lstStyle/>
                    <a:p>
                      <a:pPr algn="ctr">
                        <a:defRPr sz="1000">
                          <a:latin typeface="Montserrat"/>
                        </a:defRPr>
                      </a:pPr>
                      <a:r>
                        <a:t>4,618</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35.5%</a:t>
                      </a:r>
                    </a:p>
                  </a:txBody>
                  <a:tcPr marL="0" marR="0" marT="0" marB="0">
                    <a:solidFill>
                      <a:srgbClr val="ECD3D9"/>
                    </a:solidFill>
                  </a:tcPr>
                </a:tc>
              </a:tr>
              <a:tr h="151200">
                <a:tc>
                  <a:txBody>
                    <a:bodyPr/>
                    <a:lstStyle/>
                    <a:p>
                      <a:pPr algn="l">
                        <a:defRPr sz="1000">
                          <a:latin typeface="Montserrat"/>
                        </a:defRPr>
                      </a:pPr>
                      <a:r>
                        <a:t>UMF 28 Joachin</a:t>
                      </a:r>
                    </a:p>
                  </a:txBody>
                  <a:tcPr marL="0" marR="0" marT="0" marB="0">
                    <a:solidFill>
                      <a:srgbClr val="EFEFEF"/>
                    </a:solidFill>
                  </a:tcPr>
                </a:tc>
                <a:tc>
                  <a:txBody>
                    <a:bodyPr/>
                    <a:lstStyle/>
                    <a:p>
                      <a:pPr algn="ctr">
                        <a:defRPr sz="1000">
                          <a:latin typeface="Montserrat"/>
                        </a:defRPr>
                      </a:pPr>
                      <a:r>
                        <a:t>3,809</a:t>
                      </a:r>
                    </a:p>
                  </a:txBody>
                  <a:tcPr marL="0" marR="0" marT="0" marB="0">
                    <a:solidFill>
                      <a:srgbClr val="EFEFEF"/>
                    </a:solidFill>
                  </a:tcPr>
                </a:tc>
                <a:tc>
                  <a:txBody>
                    <a:bodyPr/>
                    <a:lstStyle/>
                    <a:p>
                      <a:pPr algn="ctr">
                        <a:defRPr sz="1000">
                          <a:latin typeface="Montserrat"/>
                        </a:defRPr>
                      </a:pPr>
                      <a:r>
                        <a:t>2,327</a:t>
                      </a:r>
                    </a:p>
                  </a:txBody>
                  <a:tcPr marL="0" marR="0" marT="0" marB="0">
                    <a:solidFill>
                      <a:srgbClr val="EFEFEF"/>
                    </a:solidFill>
                  </a:tcPr>
                </a:tc>
                <a:tc>
                  <a:txBody>
                    <a:bodyPr/>
                    <a:lstStyle/>
                    <a:p>
                      <a:pPr algn="ctr">
                        <a:defRPr sz="1000">
                          <a:latin typeface="Montserrat"/>
                        </a:defRPr>
                      </a:pPr>
                      <a:r>
                        <a:t>1,970</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39.4%</a:t>
                      </a:r>
                    </a:p>
                  </a:txBody>
                  <a:tcPr marL="0" marR="0" marT="0" marB="0">
                    <a:solidFill>
                      <a:srgbClr val="ECD3D9"/>
                    </a:solidFill>
                  </a:tcPr>
                </a:tc>
              </a:tr>
              <a:tr h="151200">
                <a:tc>
                  <a:txBody>
                    <a:bodyPr/>
                    <a:lstStyle/>
                    <a:p>
                      <a:pPr algn="l">
                        <a:defRPr sz="1000">
                          <a:latin typeface="Montserrat"/>
                        </a:defRPr>
                      </a:pPr>
                      <a:r>
                        <a:t>UMF 9 El Hígo</a:t>
                      </a:r>
                    </a:p>
                  </a:txBody>
                  <a:tcPr marL="0" marR="0" marT="0" marB="0">
                    <a:solidFill>
                      <a:srgbClr val="FFFFFF"/>
                    </a:solidFill>
                  </a:tcPr>
                </a:tc>
                <a:tc>
                  <a:txBody>
                    <a:bodyPr/>
                    <a:lstStyle/>
                    <a:p>
                      <a:pPr algn="ctr">
                        <a:defRPr sz="1000">
                          <a:latin typeface="Montserrat"/>
                        </a:defRPr>
                      </a:pPr>
                      <a:r>
                        <a:t>30,667</a:t>
                      </a:r>
                    </a:p>
                  </a:txBody>
                  <a:tcPr marL="0" marR="0" marT="0" marB="0">
                    <a:solidFill>
                      <a:srgbClr val="FFFFFF"/>
                    </a:solidFill>
                  </a:tcPr>
                </a:tc>
                <a:tc>
                  <a:txBody>
                    <a:bodyPr/>
                    <a:lstStyle/>
                    <a:p>
                      <a:pPr algn="ctr">
                        <a:defRPr sz="1000">
                          <a:latin typeface="Montserrat"/>
                        </a:defRPr>
                      </a:pPr>
                      <a:r>
                        <a:t>5,224</a:t>
                      </a:r>
                    </a:p>
                  </a:txBody>
                  <a:tcPr marL="0" marR="0" marT="0" marB="0">
                    <a:solidFill>
                      <a:srgbClr val="FFFFFF"/>
                    </a:solidFill>
                  </a:tcPr>
                </a:tc>
                <a:tc>
                  <a:txBody>
                    <a:bodyPr/>
                    <a:lstStyle/>
                    <a:p>
                      <a:pPr algn="ctr">
                        <a:defRPr sz="1000">
                          <a:latin typeface="Montserrat"/>
                        </a:defRPr>
                      </a:pPr>
                      <a:r>
                        <a:t>10,278</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27.3%</a:t>
                      </a:r>
                    </a:p>
                  </a:txBody>
                  <a:tcPr marL="0" marR="0" marT="0" marB="0">
                    <a:solidFill>
                      <a:srgbClr val="ECD3D9"/>
                    </a:solidFill>
                  </a:tcPr>
                </a:tc>
              </a:tr>
              <a:tr h="151200">
                <a:tc>
                  <a:txBody>
                    <a:bodyPr/>
                    <a:lstStyle/>
                    <a:p>
                      <a:pPr algn="l">
                        <a:defRPr sz="1000">
                          <a:latin typeface="Montserrat"/>
                        </a:defRPr>
                      </a:pPr>
                      <a:r>
                        <a:t>UMF 14 Amatlán</a:t>
                      </a:r>
                    </a:p>
                  </a:txBody>
                  <a:tcPr marL="0" marR="0" marT="0" marB="0">
                    <a:solidFill>
                      <a:srgbClr val="EFEFEF"/>
                    </a:solidFill>
                  </a:tcPr>
                </a:tc>
                <a:tc>
                  <a:txBody>
                    <a:bodyPr/>
                    <a:lstStyle/>
                    <a:p>
                      <a:pPr algn="ctr">
                        <a:defRPr sz="1000">
                          <a:latin typeface="Montserrat"/>
                        </a:defRPr>
                      </a:pPr>
                      <a:r>
                        <a:t>10,726</a:t>
                      </a:r>
                    </a:p>
                  </a:txBody>
                  <a:tcPr marL="0" marR="0" marT="0" marB="0">
                    <a:solidFill>
                      <a:srgbClr val="EFEFEF"/>
                    </a:solidFill>
                  </a:tcPr>
                </a:tc>
                <a:tc>
                  <a:txBody>
                    <a:bodyPr/>
                    <a:lstStyle/>
                    <a:p>
                      <a:pPr algn="ctr">
                        <a:defRPr sz="1000">
                          <a:latin typeface="Montserrat"/>
                        </a:defRPr>
                      </a:pPr>
                      <a:r>
                        <a:t>515</a:t>
                      </a:r>
                    </a:p>
                  </a:txBody>
                  <a:tcPr marL="0" marR="0" marT="0" marB="0">
                    <a:solidFill>
                      <a:srgbClr val="EFEFEF"/>
                    </a:solidFill>
                  </a:tcPr>
                </a:tc>
                <a:tc>
                  <a:txBody>
                    <a:bodyPr/>
                    <a:lstStyle/>
                    <a:p>
                      <a:pPr algn="ctr">
                        <a:defRPr sz="1000">
                          <a:latin typeface="Montserrat"/>
                        </a:defRPr>
                      </a:pPr>
                      <a:r>
                        <a:t>4,191</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34.9%</a:t>
                      </a:r>
                    </a:p>
                  </a:txBody>
                  <a:tcPr marL="0" marR="0" marT="0" marB="0">
                    <a:solidFill>
                      <a:srgbClr val="ECD3D9"/>
                    </a:solidFill>
                  </a:tcPr>
                </a:tc>
              </a:tr>
              <a:tr h="151200">
                <a:tc>
                  <a:txBody>
                    <a:bodyPr/>
                    <a:lstStyle/>
                    <a:p>
                      <a:pPr algn="l">
                        <a:defRPr sz="1000">
                          <a:latin typeface="Montserrat"/>
                        </a:defRPr>
                      </a:pPr>
                      <a:r>
                        <a:t>UMF 11 Paraje Nuevo</a:t>
                      </a:r>
                    </a:p>
                  </a:txBody>
                  <a:tcPr marL="0" marR="0" marT="0" marB="0">
                    <a:solidFill>
                      <a:srgbClr val="FFFFFF"/>
                    </a:solidFill>
                  </a:tcPr>
                </a:tc>
                <a:tc>
                  <a:txBody>
                    <a:bodyPr/>
                    <a:lstStyle/>
                    <a:p>
                      <a:pPr algn="ctr">
                        <a:defRPr sz="1000">
                          <a:latin typeface="Montserrat"/>
                        </a:defRPr>
                      </a:pPr>
                      <a:r>
                        <a:t>8,404</a:t>
                      </a:r>
                    </a:p>
                  </a:txBody>
                  <a:tcPr marL="0" marR="0" marT="0" marB="0">
                    <a:solidFill>
                      <a:srgbClr val="FFFFFF"/>
                    </a:solidFill>
                  </a:tcPr>
                </a:tc>
                <a:tc>
                  <a:txBody>
                    <a:bodyPr/>
                    <a:lstStyle/>
                    <a:p>
                      <a:pPr algn="ctr">
                        <a:defRPr sz="1000">
                          <a:latin typeface="Montserrat"/>
                        </a:defRPr>
                      </a:pPr>
                      <a:r>
                        <a:t>2,344</a:t>
                      </a:r>
                    </a:p>
                  </a:txBody>
                  <a:tcPr marL="0" marR="0" marT="0" marB="0">
                    <a:solidFill>
                      <a:srgbClr val="FFFFFF"/>
                    </a:solidFill>
                  </a:tcPr>
                </a:tc>
                <a:tc>
                  <a:txBody>
                    <a:bodyPr/>
                    <a:lstStyle/>
                    <a:p>
                      <a:pPr algn="ctr">
                        <a:defRPr sz="1000">
                          <a:latin typeface="Montserrat"/>
                        </a:defRPr>
                      </a:pPr>
                      <a:r>
                        <a:t>3,484</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34.8%</a:t>
                      </a:r>
                    </a:p>
                  </a:txBody>
                  <a:tcPr marL="0" marR="0" marT="0" marB="0">
                    <a:solidFill>
                      <a:srgbClr val="ECD3D9"/>
                    </a:solidFill>
                  </a:tcPr>
                </a:tc>
              </a:tr>
              <a:tr h="151200">
                <a:tc>
                  <a:txBody>
                    <a:bodyPr/>
                    <a:lstStyle/>
                    <a:p>
                      <a:pPr algn="l">
                        <a:defRPr sz="1000">
                          <a:latin typeface="Montserrat"/>
                        </a:defRPr>
                      </a:pPr>
                      <a:r>
                        <a:t>UMF 39 Chacaltianguis</a:t>
                      </a:r>
                    </a:p>
                  </a:txBody>
                  <a:tcPr marL="0" marR="0" marT="0" marB="0">
                    <a:solidFill>
                      <a:srgbClr val="EFEFEF"/>
                    </a:solidFill>
                  </a:tcPr>
                </a:tc>
                <a:tc>
                  <a:txBody>
                    <a:bodyPr/>
                    <a:lstStyle/>
                    <a:p>
                      <a:pPr algn="ctr">
                        <a:defRPr sz="1000">
                          <a:latin typeface="Montserrat"/>
                        </a:defRPr>
                      </a:pPr>
                      <a:r>
                        <a:t>10,475</a:t>
                      </a:r>
                    </a:p>
                  </a:txBody>
                  <a:tcPr marL="0" marR="0" marT="0" marB="0">
                    <a:solidFill>
                      <a:srgbClr val="EFEFEF"/>
                    </a:solidFill>
                  </a:tcPr>
                </a:tc>
                <a:tc>
                  <a:txBody>
                    <a:bodyPr/>
                    <a:lstStyle/>
                    <a:p>
                      <a:pPr algn="ctr">
                        <a:defRPr sz="1000">
                          <a:latin typeface="Montserrat"/>
                        </a:defRPr>
                      </a:pPr>
                      <a:r>
                        <a:t>3,204</a:t>
                      </a:r>
                    </a:p>
                  </a:txBody>
                  <a:tcPr marL="0" marR="0" marT="0" marB="0">
                    <a:solidFill>
                      <a:srgbClr val="EFEFEF"/>
                    </a:solidFill>
                  </a:tcPr>
                </a:tc>
                <a:tc>
                  <a:txBody>
                    <a:bodyPr/>
                    <a:lstStyle/>
                    <a:p>
                      <a:pPr algn="ctr">
                        <a:defRPr sz="1000">
                          <a:latin typeface="Montserrat"/>
                        </a:defRPr>
                      </a:pPr>
                      <a:r>
                        <a:t>4,942</a:t>
                      </a:r>
                    </a:p>
                  </a:txBody>
                  <a:tcPr marL="0" marR="0" marT="0" marB="0">
                    <a:solidFill>
                      <a:srgbClr val="ECD3D9"/>
                    </a:solidFill>
                  </a:tcPr>
                </a:tc>
                <a:tc>
                  <a:txBody>
                    <a:bodyPr/>
                    <a:lstStyle/>
                    <a:p>
                      <a:pPr algn="ctr">
                        <a:defRPr sz="1000">
                          <a:latin typeface="Montserrat"/>
                        </a:defRPr>
                      </a:pPr>
                      <a:r>
                        <a:t>11,000</a:t>
                      </a:r>
                    </a:p>
                  </a:txBody>
                  <a:tcPr marL="0" marR="0" marT="0" marB="0">
                    <a:solidFill>
                      <a:srgbClr val="ECD3D9"/>
                    </a:solidFill>
                  </a:tcPr>
                </a:tc>
                <a:tc>
                  <a:txBody>
                    <a:bodyPr/>
                    <a:lstStyle/>
                    <a:p>
                      <a:pPr algn="ctr">
                        <a:defRPr sz="1000">
                          <a:latin typeface="Montserrat"/>
                        </a:defRPr>
                      </a:pPr>
                      <a:r>
                        <a:t>44.9%</a:t>
                      </a:r>
                    </a:p>
                  </a:txBody>
                  <a:tcPr marL="0" marR="0" marT="0" marB="0">
                    <a:solidFill>
                      <a:srgbClr val="ECD3D9"/>
                    </a:solidFill>
                  </a:tcPr>
                </a:tc>
              </a:tr>
              <a:tr h="151200">
                <a:tc>
                  <a:txBody>
                    <a:bodyPr/>
                    <a:lstStyle/>
                    <a:p>
                      <a:pPr algn="l">
                        <a:defRPr sz="1000">
                          <a:latin typeface="Montserrat"/>
                        </a:defRPr>
                      </a:pPr>
                      <a:r>
                        <a:t>UMF 47 Amatitlan</a:t>
                      </a:r>
                    </a:p>
                  </a:txBody>
                  <a:tcPr marL="0" marR="0" marT="0" marB="0">
                    <a:solidFill>
                      <a:srgbClr val="FFFFFF"/>
                    </a:solidFill>
                  </a:tcPr>
                </a:tc>
                <a:tc>
                  <a:txBody>
                    <a:bodyPr/>
                    <a:lstStyle/>
                    <a:p>
                      <a:pPr algn="ctr">
                        <a:defRPr sz="1000">
                          <a:latin typeface="Montserrat"/>
                        </a:defRPr>
                      </a:pPr>
                      <a:r>
                        <a:t>10,459</a:t>
                      </a:r>
                    </a:p>
                  </a:txBody>
                  <a:tcPr marL="0" marR="0" marT="0" marB="0">
                    <a:solidFill>
                      <a:srgbClr val="FFFFFF"/>
                    </a:solidFill>
                  </a:tcPr>
                </a:tc>
                <a:tc>
                  <a:txBody>
                    <a:bodyPr/>
                    <a:lstStyle/>
                    <a:p>
                      <a:pPr algn="ctr">
                        <a:defRPr sz="1000">
                          <a:latin typeface="Montserrat"/>
                        </a:defRPr>
                      </a:pPr>
                      <a:r>
                        <a:t>1,614</a:t>
                      </a:r>
                    </a:p>
                  </a:txBody>
                  <a:tcPr marL="0" marR="0" marT="0" marB="0">
                    <a:solidFill>
                      <a:srgbClr val="FFFFFF"/>
                    </a:solidFill>
                  </a:tcPr>
                </a:tc>
                <a:tc>
                  <a:txBody>
                    <a:bodyPr/>
                    <a:lstStyle/>
                    <a:p>
                      <a:pPr algn="ctr">
                        <a:defRPr sz="1000">
                          <a:latin typeface="Montserrat"/>
                        </a:defRPr>
                      </a:pPr>
                      <a:r>
                        <a:t>4,152</a:t>
                      </a:r>
                    </a:p>
                  </a:txBody>
                  <a:tcPr marL="0" marR="0" marT="0" marB="0">
                    <a:solidFill>
                      <a:srgbClr val="ECD3D9"/>
                    </a:solidFill>
                  </a:tcPr>
                </a:tc>
                <a:tc>
                  <a:txBody>
                    <a:bodyPr/>
                    <a:lstStyle/>
                    <a:p>
                      <a:pPr algn="ctr">
                        <a:defRPr sz="1000">
                          <a:latin typeface="Montserrat"/>
                        </a:defRPr>
                      </a:pPr>
                      <a:r>
                        <a:t>11,000</a:t>
                      </a:r>
                    </a:p>
                  </a:txBody>
                  <a:tcPr marL="0" marR="0" marT="0" marB="0">
                    <a:solidFill>
                      <a:srgbClr val="ECD3D9"/>
                    </a:solidFill>
                  </a:tcPr>
                </a:tc>
                <a:tc>
                  <a:txBody>
                    <a:bodyPr/>
                    <a:lstStyle/>
                    <a:p>
                      <a:pPr algn="ctr">
                        <a:defRPr sz="1000">
                          <a:latin typeface="Montserrat"/>
                        </a:defRPr>
                      </a:pPr>
                      <a:r>
                        <a:t>37.7%</a:t>
                      </a:r>
                    </a:p>
                  </a:txBody>
                  <a:tcPr marL="0" marR="0" marT="0" marB="0">
                    <a:solidFill>
                      <a:srgbClr val="ECD3D9"/>
                    </a:solidFill>
                  </a:tcPr>
                </a:tc>
              </a:tr>
              <a:tr h="151200">
                <a:tc>
                  <a:txBody>
                    <a:bodyPr/>
                    <a:lstStyle/>
                    <a:p>
                      <a:pPr algn="l">
                        <a:defRPr sz="1000">
                          <a:latin typeface="Montserrat"/>
                        </a:defRPr>
                      </a:pPr>
                      <a:r>
                        <a:t>UMF 40 Nopaltepec</a:t>
                      </a:r>
                    </a:p>
                  </a:txBody>
                  <a:tcPr marL="0" marR="0" marT="0" marB="0">
                    <a:solidFill>
                      <a:srgbClr val="EFEFEF"/>
                    </a:solidFill>
                  </a:tcPr>
                </a:tc>
                <a:tc>
                  <a:txBody>
                    <a:bodyPr/>
                    <a:lstStyle/>
                    <a:p>
                      <a:pPr algn="ctr">
                        <a:defRPr sz="1000">
                          <a:latin typeface="Montserrat"/>
                        </a:defRPr>
                      </a:pPr>
                      <a:r>
                        <a:t>5,561</a:t>
                      </a:r>
                    </a:p>
                  </a:txBody>
                  <a:tcPr marL="0" marR="0" marT="0" marB="0">
                    <a:solidFill>
                      <a:srgbClr val="EFEFEF"/>
                    </a:solidFill>
                  </a:tcPr>
                </a:tc>
                <a:tc>
                  <a:txBody>
                    <a:bodyPr/>
                    <a:lstStyle/>
                    <a:p>
                      <a:pPr algn="ctr">
                        <a:defRPr sz="1000">
                          <a:latin typeface="Montserrat"/>
                        </a:defRPr>
                      </a:pPr>
                      <a:r>
                        <a:t>283</a:t>
                      </a:r>
                    </a:p>
                  </a:txBody>
                  <a:tcPr marL="0" marR="0" marT="0" marB="0">
                    <a:solidFill>
                      <a:srgbClr val="EFEFEF"/>
                    </a:solidFill>
                  </a:tcPr>
                </a:tc>
                <a:tc>
                  <a:txBody>
                    <a:bodyPr/>
                    <a:lstStyle/>
                    <a:p>
                      <a:pPr algn="ctr">
                        <a:defRPr sz="1000">
                          <a:latin typeface="Montserrat"/>
                        </a:defRPr>
                      </a:pPr>
                      <a:r>
                        <a:t>2,662</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38.0%</a:t>
                      </a:r>
                    </a:p>
                  </a:txBody>
                  <a:tcPr marL="0" marR="0" marT="0" marB="0">
                    <a:solidFill>
                      <a:srgbClr val="ECD3D9"/>
                    </a:solidFill>
                  </a:tcPr>
                </a:tc>
              </a:tr>
              <a:tr h="151200">
                <a:tc>
                  <a:txBody>
                    <a:bodyPr/>
                    <a:lstStyle/>
                    <a:p>
                      <a:pPr algn="l">
                        <a:defRPr sz="1000">
                          <a:latin typeface="Montserrat"/>
                        </a:defRPr>
                      </a:pPr>
                      <a:r>
                        <a:t>UMF 54 Mahuixtlán</a:t>
                      </a:r>
                    </a:p>
                  </a:txBody>
                  <a:tcPr marL="0" marR="0" marT="0" marB="0">
                    <a:solidFill>
                      <a:srgbClr val="FFFFFF"/>
                    </a:solidFill>
                  </a:tcPr>
                </a:tc>
                <a:tc>
                  <a:txBody>
                    <a:bodyPr/>
                    <a:lstStyle/>
                    <a:p>
                      <a:pPr algn="ctr">
                        <a:defRPr sz="1000">
                          <a:latin typeface="Montserrat"/>
                        </a:defRPr>
                      </a:pPr>
                      <a:r>
                        <a:t>11,906</a:t>
                      </a:r>
                    </a:p>
                  </a:txBody>
                  <a:tcPr marL="0" marR="0" marT="0" marB="0">
                    <a:solidFill>
                      <a:srgbClr val="FFFFFF"/>
                    </a:solidFill>
                  </a:tcPr>
                </a:tc>
                <a:tc>
                  <a:txBody>
                    <a:bodyPr/>
                    <a:lstStyle/>
                    <a:p>
                      <a:pPr algn="ctr">
                        <a:defRPr sz="1000">
                          <a:latin typeface="Montserrat"/>
                        </a:defRPr>
                      </a:pPr>
                      <a:r>
                        <a:t>-215</a:t>
                      </a:r>
                    </a:p>
                  </a:txBody>
                  <a:tcPr marL="0" marR="0" marT="0" marB="0">
                    <a:solidFill>
                      <a:srgbClr val="FFFFFF"/>
                    </a:solidFill>
                  </a:tcPr>
                </a:tc>
                <a:tc>
                  <a:txBody>
                    <a:bodyPr/>
                    <a:lstStyle/>
                    <a:p>
                      <a:pPr algn="ctr">
                        <a:defRPr sz="1000">
                          <a:latin typeface="Montserrat"/>
                        </a:defRPr>
                      </a:pPr>
                      <a:r>
                        <a:t>4,647</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35.7%</a:t>
                      </a:r>
                    </a:p>
                  </a:txBody>
                  <a:tcPr marL="0" marR="0" marT="0" marB="0">
                    <a:solidFill>
                      <a:srgbClr val="ECD3D9"/>
                    </a:solidFill>
                  </a:tcPr>
                </a:tc>
              </a:tr>
              <a:tr h="151200">
                <a:tc>
                  <a:txBody>
                    <a:bodyPr/>
                    <a:lstStyle/>
                    <a:p>
                      <a:pPr algn="l">
                        <a:defRPr sz="1000">
                          <a:latin typeface="Montserrat"/>
                        </a:defRPr>
                      </a:pPr>
                      <a:r>
                        <a:t>UMF 38 I. Gloria</a:t>
                      </a:r>
                    </a:p>
                  </a:txBody>
                  <a:tcPr marL="0" marR="0" marT="0" marB="0">
                    <a:solidFill>
                      <a:srgbClr val="EFEFEF"/>
                    </a:solidFill>
                  </a:tcPr>
                </a:tc>
                <a:tc>
                  <a:txBody>
                    <a:bodyPr/>
                    <a:lstStyle/>
                    <a:p>
                      <a:pPr algn="ctr">
                        <a:defRPr sz="1000">
                          <a:latin typeface="Montserrat"/>
                        </a:defRPr>
                      </a:pPr>
                      <a:r>
                        <a:t>16,745</a:t>
                      </a:r>
                    </a:p>
                  </a:txBody>
                  <a:tcPr marL="0" marR="0" marT="0" marB="0">
                    <a:solidFill>
                      <a:srgbClr val="EFEFEF"/>
                    </a:solidFill>
                  </a:tcPr>
                </a:tc>
                <a:tc>
                  <a:txBody>
                    <a:bodyPr/>
                    <a:lstStyle/>
                    <a:p>
                      <a:pPr algn="ctr">
                        <a:defRPr sz="1000">
                          <a:latin typeface="Montserrat"/>
                        </a:defRPr>
                      </a:pPr>
                      <a:r>
                        <a:t>1,404</a:t>
                      </a:r>
                    </a:p>
                  </a:txBody>
                  <a:tcPr marL="0" marR="0" marT="0" marB="0">
                    <a:solidFill>
                      <a:srgbClr val="EFEFEF"/>
                    </a:solidFill>
                  </a:tcPr>
                </a:tc>
                <a:tc>
                  <a:txBody>
                    <a:bodyPr/>
                    <a:lstStyle/>
                    <a:p>
                      <a:pPr algn="ctr">
                        <a:defRPr sz="1000">
                          <a:latin typeface="Montserrat"/>
                        </a:defRPr>
                      </a:pPr>
                      <a:r>
                        <a:t>6,859</a:t>
                      </a:r>
                    </a:p>
                  </a:txBody>
                  <a:tcPr marL="0" marR="0" marT="0" marB="0">
                    <a:solidFill>
                      <a:srgbClr val="ECD3D9"/>
                    </a:solidFill>
                  </a:tcPr>
                </a:tc>
                <a:tc>
                  <a:txBody>
                    <a:bodyPr/>
                    <a:lstStyle/>
                    <a:p>
                      <a:pPr algn="ctr">
                        <a:defRPr sz="1000">
                          <a:latin typeface="Montserrat"/>
                        </a:defRPr>
                      </a:pPr>
                      <a:r>
                        <a:t>18,000</a:t>
                      </a:r>
                    </a:p>
                  </a:txBody>
                  <a:tcPr marL="0" marR="0" marT="0" marB="0">
                    <a:solidFill>
                      <a:srgbClr val="ECD3D9"/>
                    </a:solidFill>
                  </a:tcPr>
                </a:tc>
                <a:tc>
                  <a:txBody>
                    <a:bodyPr/>
                    <a:lstStyle/>
                    <a:p>
                      <a:pPr algn="ctr">
                        <a:defRPr sz="1000">
                          <a:latin typeface="Montserrat"/>
                        </a:defRPr>
                      </a:pPr>
                      <a:r>
                        <a:t>38.1%</a:t>
                      </a:r>
                    </a:p>
                  </a:txBody>
                  <a:tcPr marL="0" marR="0" marT="0" marB="0">
                    <a:solidFill>
                      <a:srgbClr val="ECD3D9"/>
                    </a:solidFill>
                  </a:tcPr>
                </a:tc>
              </a:tr>
              <a:tr h="151200">
                <a:tc>
                  <a:txBody>
                    <a:bodyPr/>
                    <a:lstStyle/>
                    <a:p>
                      <a:pPr algn="l">
                        <a:defRPr sz="1000">
                          <a:latin typeface="Montserrat"/>
                        </a:defRPr>
                      </a:pPr>
                      <a:r>
                        <a:t>UMF 18 Tuzamapan</a:t>
                      </a:r>
                    </a:p>
                  </a:txBody>
                  <a:tcPr marL="0" marR="0" marT="0" marB="0">
                    <a:solidFill>
                      <a:srgbClr val="FFFFFF"/>
                    </a:solidFill>
                  </a:tcPr>
                </a:tc>
                <a:tc>
                  <a:txBody>
                    <a:bodyPr/>
                    <a:lstStyle/>
                    <a:p>
                      <a:pPr algn="ctr">
                        <a:defRPr sz="1000">
                          <a:latin typeface="Montserrat"/>
                        </a:defRPr>
                      </a:pPr>
                      <a:r>
                        <a:t>12,860</a:t>
                      </a:r>
                    </a:p>
                  </a:txBody>
                  <a:tcPr marL="0" marR="0" marT="0" marB="0">
                    <a:solidFill>
                      <a:srgbClr val="FFFFFF"/>
                    </a:solidFill>
                  </a:tcPr>
                </a:tc>
                <a:tc>
                  <a:txBody>
                    <a:bodyPr/>
                    <a:lstStyle/>
                    <a:p>
                      <a:pPr algn="ctr">
                        <a:defRPr sz="1000">
                          <a:latin typeface="Montserrat"/>
                        </a:defRPr>
                      </a:pPr>
                      <a:r>
                        <a:t>1,074</a:t>
                      </a:r>
                    </a:p>
                  </a:txBody>
                  <a:tcPr marL="0" marR="0" marT="0" marB="0">
                    <a:solidFill>
                      <a:srgbClr val="FFFFFF"/>
                    </a:solidFill>
                  </a:tcPr>
                </a:tc>
                <a:tc>
                  <a:txBody>
                    <a:bodyPr/>
                    <a:lstStyle/>
                    <a:p>
                      <a:pPr algn="ctr">
                        <a:defRPr sz="1000">
                          <a:latin typeface="Montserrat"/>
                        </a:defRPr>
                      </a:pPr>
                      <a:r>
                        <a:t>5,643</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40.3%</a:t>
                      </a:r>
                    </a:p>
                  </a:txBody>
                  <a:tcPr marL="0" marR="0" marT="0" marB="0">
                    <a:solidFill>
                      <a:srgbClr val="ECD3D9"/>
                    </a:solidFill>
                  </a:tcPr>
                </a:tc>
              </a:tr>
              <a:tr h="151200">
                <a:tc>
                  <a:txBody>
                    <a:bodyPr/>
                    <a:lstStyle/>
                    <a:p>
                      <a:pPr algn="l">
                        <a:defRPr sz="1000">
                          <a:latin typeface="Montserrat"/>
                        </a:defRPr>
                      </a:pPr>
                      <a:r>
                        <a:t>UMF 51 Ángel R. Cabada</a:t>
                      </a:r>
                    </a:p>
                  </a:txBody>
                  <a:tcPr marL="0" marR="0" marT="0" marB="0">
                    <a:solidFill>
                      <a:srgbClr val="EFEFEF"/>
                    </a:solidFill>
                  </a:tcPr>
                </a:tc>
                <a:tc>
                  <a:txBody>
                    <a:bodyPr/>
                    <a:lstStyle/>
                    <a:p>
                      <a:pPr algn="ctr">
                        <a:defRPr sz="1000">
                          <a:latin typeface="Montserrat"/>
                        </a:defRPr>
                      </a:pPr>
                      <a:r>
                        <a:t>48,303</a:t>
                      </a:r>
                    </a:p>
                  </a:txBody>
                  <a:tcPr marL="0" marR="0" marT="0" marB="0">
                    <a:solidFill>
                      <a:srgbClr val="EFEFEF"/>
                    </a:solidFill>
                  </a:tcPr>
                </a:tc>
                <a:tc>
                  <a:txBody>
                    <a:bodyPr/>
                    <a:lstStyle/>
                    <a:p>
                      <a:pPr algn="ctr">
                        <a:defRPr sz="1000">
                          <a:latin typeface="Montserrat"/>
                        </a:defRPr>
                      </a:pPr>
                      <a:r>
                        <a:t>4,178</a:t>
                      </a:r>
                    </a:p>
                  </a:txBody>
                  <a:tcPr marL="0" marR="0" marT="0" marB="0">
                    <a:solidFill>
                      <a:srgbClr val="EFEFEF"/>
                    </a:solidFill>
                  </a:tcPr>
                </a:tc>
                <a:tc>
                  <a:txBody>
                    <a:bodyPr/>
                    <a:lstStyle/>
                    <a:p>
                      <a:pPr algn="ctr">
                        <a:defRPr sz="1000">
                          <a:latin typeface="Montserrat"/>
                        </a:defRPr>
                      </a:pPr>
                      <a:r>
                        <a:t>19,034</a:t>
                      </a:r>
                    </a:p>
                  </a:txBody>
                  <a:tcPr marL="0" marR="0" marT="0" marB="0">
                    <a:solidFill>
                      <a:srgbClr val="ECD3D9"/>
                    </a:solidFill>
                  </a:tcPr>
                </a:tc>
                <a:tc>
                  <a:txBody>
                    <a:bodyPr/>
                    <a:lstStyle/>
                    <a:p>
                      <a:pPr algn="ctr">
                        <a:defRPr sz="1000">
                          <a:latin typeface="Montserrat"/>
                        </a:defRPr>
                      </a:pPr>
                      <a:r>
                        <a:t>50,112</a:t>
                      </a:r>
                    </a:p>
                  </a:txBody>
                  <a:tcPr marL="0" marR="0" marT="0" marB="0">
                    <a:solidFill>
                      <a:srgbClr val="ECD3D9"/>
                    </a:solidFill>
                  </a:tcPr>
                </a:tc>
                <a:tc>
                  <a:txBody>
                    <a:bodyPr/>
                    <a:lstStyle/>
                    <a:p>
                      <a:pPr algn="ctr">
                        <a:defRPr sz="1000">
                          <a:latin typeface="Montserrat"/>
                        </a:defRPr>
                      </a:pPr>
                      <a:r>
                        <a:t>38.0%</a:t>
                      </a:r>
                    </a:p>
                  </a:txBody>
                  <a:tcPr marL="0" marR="0" marT="0" marB="0">
                    <a:solidFill>
                      <a:srgbClr val="ECD3D9"/>
                    </a:solidFill>
                  </a:tcPr>
                </a:tc>
              </a:tr>
              <a:tr h="151200">
                <a:tc>
                  <a:txBody>
                    <a:bodyPr/>
                    <a:lstStyle/>
                    <a:p>
                      <a:pPr algn="l">
                        <a:defRPr sz="1000">
                          <a:latin typeface="Montserrat"/>
                        </a:defRPr>
                      </a:pPr>
                      <a:r>
                        <a:t>UMF 7 Orizaba</a:t>
                      </a:r>
                    </a:p>
                  </a:txBody>
                  <a:tcPr marL="0" marR="0" marT="0" marB="0">
                    <a:solidFill>
                      <a:srgbClr val="FFFFFF"/>
                    </a:solidFill>
                  </a:tcPr>
                </a:tc>
                <a:tc>
                  <a:txBody>
                    <a:bodyPr/>
                    <a:lstStyle/>
                    <a:p>
                      <a:pPr algn="ctr">
                        <a:defRPr sz="1000">
                          <a:latin typeface="Montserrat"/>
                        </a:defRPr>
                      </a:pPr>
                      <a:r>
                        <a:t>74,967</a:t>
                      </a:r>
                    </a:p>
                  </a:txBody>
                  <a:tcPr marL="0" marR="0" marT="0" marB="0">
                    <a:solidFill>
                      <a:srgbClr val="FFFFFF"/>
                    </a:solidFill>
                  </a:tcPr>
                </a:tc>
                <a:tc>
                  <a:txBody>
                    <a:bodyPr/>
                    <a:lstStyle/>
                    <a:p>
                      <a:pPr algn="ctr">
                        <a:defRPr sz="1000">
                          <a:latin typeface="Montserrat"/>
                        </a:defRPr>
                      </a:pPr>
                      <a:r>
                        <a:t>4,181</a:t>
                      </a:r>
                    </a:p>
                  </a:txBody>
                  <a:tcPr marL="0" marR="0" marT="0" marB="0">
                    <a:solidFill>
                      <a:srgbClr val="FFFFFF"/>
                    </a:solidFill>
                  </a:tcPr>
                </a:tc>
                <a:tc>
                  <a:txBody>
                    <a:bodyPr/>
                    <a:lstStyle/>
                    <a:p>
                      <a:pPr algn="ctr">
                        <a:defRPr sz="1000">
                          <a:latin typeface="Montserrat"/>
                        </a:defRPr>
                      </a:pPr>
                      <a:r>
                        <a:t>32,430</a:t>
                      </a:r>
                    </a:p>
                  </a:txBody>
                  <a:tcPr marL="0" marR="0" marT="0" marB="0">
                    <a:solidFill>
                      <a:srgbClr val="ECD3D9"/>
                    </a:solidFill>
                  </a:tcPr>
                </a:tc>
                <a:tc>
                  <a:txBody>
                    <a:bodyPr/>
                    <a:lstStyle/>
                    <a:p>
                      <a:pPr algn="ctr">
                        <a:defRPr sz="1000">
                          <a:latin typeface="Montserrat"/>
                        </a:defRPr>
                      </a:pPr>
                      <a:r>
                        <a:t>72,000</a:t>
                      </a:r>
                    </a:p>
                  </a:txBody>
                  <a:tcPr marL="0" marR="0" marT="0" marB="0">
                    <a:solidFill>
                      <a:srgbClr val="ECD3D9"/>
                    </a:solidFill>
                  </a:tcPr>
                </a:tc>
                <a:tc>
                  <a:txBody>
                    <a:bodyPr/>
                    <a:lstStyle/>
                    <a:p>
                      <a:pPr algn="ctr">
                        <a:defRPr sz="1000">
                          <a:latin typeface="Montserrat"/>
                        </a:defRPr>
                      </a:pPr>
                      <a:r>
                        <a:t>45.0%</a:t>
                      </a:r>
                    </a:p>
                  </a:txBody>
                  <a:tcPr marL="0" marR="0" marT="0" marB="0">
                    <a:solidFill>
                      <a:srgbClr val="ECD3D9"/>
                    </a:solidFill>
                  </a:tcPr>
                </a:tc>
              </a:tr>
              <a:tr h="151200">
                <a:tc>
                  <a:txBody>
                    <a:bodyPr/>
                    <a:lstStyle/>
                    <a:p>
                      <a:pPr algn="l">
                        <a:defRPr sz="1000">
                          <a:latin typeface="Montserrat"/>
                        </a:defRPr>
                      </a:pPr>
                      <a:r>
                        <a:t>UMF 2 Río Blanco</a:t>
                      </a:r>
                    </a:p>
                  </a:txBody>
                  <a:tcPr marL="0" marR="0" marT="0" marB="0">
                    <a:solidFill>
                      <a:srgbClr val="EFEFEF"/>
                    </a:solidFill>
                  </a:tcPr>
                </a:tc>
                <a:tc>
                  <a:txBody>
                    <a:bodyPr/>
                    <a:lstStyle/>
                    <a:p>
                      <a:pPr algn="ctr">
                        <a:defRPr sz="1000">
                          <a:latin typeface="Montserrat"/>
                        </a:defRPr>
                      </a:pPr>
                      <a:r>
                        <a:t>47,655</a:t>
                      </a:r>
                    </a:p>
                  </a:txBody>
                  <a:tcPr marL="0" marR="0" marT="0" marB="0">
                    <a:solidFill>
                      <a:srgbClr val="EFEFEF"/>
                    </a:solidFill>
                  </a:tcPr>
                </a:tc>
                <a:tc>
                  <a:txBody>
                    <a:bodyPr/>
                    <a:lstStyle/>
                    <a:p>
                      <a:pPr algn="ctr">
                        <a:defRPr sz="1000">
                          <a:latin typeface="Montserrat"/>
                        </a:defRPr>
                      </a:pPr>
                      <a:r>
                        <a:t>9,675</a:t>
                      </a:r>
                    </a:p>
                  </a:txBody>
                  <a:tcPr marL="0" marR="0" marT="0" marB="0">
                    <a:solidFill>
                      <a:srgbClr val="EFEFEF"/>
                    </a:solidFill>
                  </a:tcPr>
                </a:tc>
                <a:tc>
                  <a:txBody>
                    <a:bodyPr/>
                    <a:lstStyle/>
                    <a:p>
                      <a:pPr algn="ctr">
                        <a:defRPr sz="1000">
                          <a:latin typeface="Montserrat"/>
                        </a:defRPr>
                      </a:pPr>
                      <a:r>
                        <a:t>21,534</a:t>
                      </a:r>
                    </a:p>
                  </a:txBody>
                  <a:tcPr marL="0" marR="0" marT="0" marB="0">
                    <a:solidFill>
                      <a:srgbClr val="ECD3D9"/>
                    </a:solidFill>
                  </a:tcPr>
                </a:tc>
                <a:tc>
                  <a:txBody>
                    <a:bodyPr/>
                    <a:lstStyle/>
                    <a:p>
                      <a:pPr algn="ctr">
                        <a:defRPr sz="1000">
                          <a:latin typeface="Montserrat"/>
                        </a:defRPr>
                      </a:pPr>
                      <a:r>
                        <a:t>44,000</a:t>
                      </a:r>
                    </a:p>
                  </a:txBody>
                  <a:tcPr marL="0" marR="0" marT="0" marB="0">
                    <a:solidFill>
                      <a:srgbClr val="ECD3D9"/>
                    </a:solidFill>
                  </a:tcPr>
                </a:tc>
                <a:tc>
                  <a:txBody>
                    <a:bodyPr/>
                    <a:lstStyle/>
                    <a:p>
                      <a:pPr algn="ctr">
                        <a:defRPr sz="1000">
                          <a:latin typeface="Montserrat"/>
                        </a:defRPr>
                      </a:pPr>
                      <a:r>
                        <a:t>48.9%</a:t>
                      </a:r>
                    </a:p>
                  </a:txBody>
                  <a:tcPr marL="0" marR="0" marT="0" marB="0">
                    <a:solidFill>
                      <a:srgbClr val="ECD3D9"/>
                    </a:solidFill>
                  </a:tcPr>
                </a:tc>
              </a:tr>
              <a:tr h="151200">
                <a:tc>
                  <a:txBody>
                    <a:bodyPr/>
                    <a:lstStyle/>
                    <a:p>
                      <a:pPr algn="l">
                        <a:defRPr sz="1000">
                          <a:latin typeface="Montserrat"/>
                        </a:defRPr>
                      </a:pPr>
                      <a:r>
                        <a:t>UMF 3 Nogales</a:t>
                      </a:r>
                    </a:p>
                  </a:txBody>
                  <a:tcPr marL="0" marR="0" marT="0" marB="0">
                    <a:solidFill>
                      <a:srgbClr val="FFFFFF"/>
                    </a:solidFill>
                  </a:tcPr>
                </a:tc>
                <a:tc>
                  <a:txBody>
                    <a:bodyPr/>
                    <a:lstStyle/>
                    <a:p>
                      <a:pPr algn="ctr">
                        <a:defRPr sz="1000">
                          <a:latin typeface="Montserrat"/>
                        </a:defRPr>
                      </a:pPr>
                      <a:r>
                        <a:t>42,553</a:t>
                      </a:r>
                    </a:p>
                  </a:txBody>
                  <a:tcPr marL="0" marR="0" marT="0" marB="0">
                    <a:solidFill>
                      <a:srgbClr val="FFFFFF"/>
                    </a:solidFill>
                  </a:tcPr>
                </a:tc>
                <a:tc>
                  <a:txBody>
                    <a:bodyPr/>
                    <a:lstStyle/>
                    <a:p>
                      <a:pPr algn="ctr">
                        <a:defRPr sz="1000">
                          <a:latin typeface="Montserrat"/>
                        </a:defRPr>
                      </a:pPr>
                      <a:r>
                        <a:t>8,265</a:t>
                      </a:r>
                    </a:p>
                  </a:txBody>
                  <a:tcPr marL="0" marR="0" marT="0" marB="0">
                    <a:solidFill>
                      <a:srgbClr val="FFFFFF"/>
                    </a:solidFill>
                  </a:tcPr>
                </a:tc>
                <a:tc>
                  <a:txBody>
                    <a:bodyPr/>
                    <a:lstStyle/>
                    <a:p>
                      <a:pPr algn="ctr">
                        <a:defRPr sz="1000">
                          <a:latin typeface="Montserrat"/>
                        </a:defRPr>
                      </a:pPr>
                      <a:r>
                        <a:t>16,176</a:t>
                      </a:r>
                    </a:p>
                  </a:txBody>
                  <a:tcPr marL="0" marR="0" marT="0" marB="0">
                    <a:solidFill>
                      <a:srgbClr val="ECD3D9"/>
                    </a:solidFill>
                  </a:tcPr>
                </a:tc>
                <a:tc>
                  <a:txBody>
                    <a:bodyPr/>
                    <a:lstStyle/>
                    <a:p>
                      <a:pPr algn="ctr">
                        <a:defRPr sz="1000">
                          <a:latin typeface="Montserrat"/>
                        </a:defRPr>
                      </a:pPr>
                      <a:r>
                        <a:t>40,000</a:t>
                      </a:r>
                    </a:p>
                  </a:txBody>
                  <a:tcPr marL="0" marR="0" marT="0" marB="0">
                    <a:solidFill>
                      <a:srgbClr val="ECD3D9"/>
                    </a:solidFill>
                  </a:tcPr>
                </a:tc>
                <a:tc>
                  <a:txBody>
                    <a:bodyPr/>
                    <a:lstStyle/>
                    <a:p>
                      <a:pPr algn="ctr">
                        <a:defRPr sz="1000">
                          <a:latin typeface="Montserrat"/>
                        </a:defRPr>
                      </a:pPr>
                      <a:r>
                        <a:t>40.4%</a:t>
                      </a:r>
                    </a:p>
                  </a:txBody>
                  <a:tcPr marL="0" marR="0" marT="0" marB="0">
                    <a:solidFill>
                      <a:srgbClr val="ECD3D9"/>
                    </a:solidFill>
                  </a:tcPr>
                </a:tc>
              </a:tr>
              <a:tr h="151200">
                <a:tc>
                  <a:txBody>
                    <a:bodyPr/>
                    <a:lstStyle/>
                    <a:p>
                      <a:pPr algn="l">
                        <a:defRPr sz="1000">
                          <a:latin typeface="Montserrat"/>
                        </a:defRPr>
                      </a:pPr>
                      <a:r>
                        <a:t>UMF 15 Cuichapa</a:t>
                      </a:r>
                    </a:p>
                  </a:txBody>
                  <a:tcPr marL="0" marR="0" marT="0" marB="0">
                    <a:solidFill>
                      <a:srgbClr val="EFEFEF"/>
                    </a:solidFill>
                  </a:tcPr>
                </a:tc>
                <a:tc>
                  <a:txBody>
                    <a:bodyPr/>
                    <a:lstStyle/>
                    <a:p>
                      <a:pPr algn="ctr">
                        <a:defRPr sz="1000">
                          <a:latin typeface="Montserrat"/>
                        </a:defRPr>
                      </a:pPr>
                      <a:r>
                        <a:t>4,930</a:t>
                      </a:r>
                    </a:p>
                  </a:txBody>
                  <a:tcPr marL="0" marR="0" marT="0" marB="0">
                    <a:solidFill>
                      <a:srgbClr val="EFEFEF"/>
                    </a:solidFill>
                  </a:tcPr>
                </a:tc>
                <a:tc>
                  <a:txBody>
                    <a:bodyPr/>
                    <a:lstStyle/>
                    <a:p>
                      <a:pPr algn="ctr">
                        <a:defRPr sz="1000">
                          <a:latin typeface="Montserrat"/>
                        </a:defRPr>
                      </a:pPr>
                      <a:r>
                        <a:t>79</a:t>
                      </a:r>
                    </a:p>
                  </a:txBody>
                  <a:tcPr marL="0" marR="0" marT="0" marB="0">
                    <a:solidFill>
                      <a:srgbClr val="EFEFEF"/>
                    </a:solidFill>
                  </a:tcPr>
                </a:tc>
                <a:tc>
                  <a:txBody>
                    <a:bodyPr/>
                    <a:lstStyle/>
                    <a:p>
                      <a:pPr algn="ctr">
                        <a:defRPr sz="1000">
                          <a:latin typeface="Montserrat"/>
                        </a:defRPr>
                      </a:pPr>
                      <a:r>
                        <a:t>2,085</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34.8%</a:t>
                      </a:r>
                    </a:p>
                  </a:txBody>
                  <a:tcPr marL="0" marR="0" marT="0" marB="0">
                    <a:solidFill>
                      <a:srgbClr val="ECD3D9"/>
                    </a:solidFill>
                  </a:tcPr>
                </a:tc>
              </a:tr>
              <a:tr h="151200">
                <a:tc>
                  <a:txBody>
                    <a:bodyPr/>
                    <a:lstStyle/>
                    <a:p>
                      <a:pPr algn="l">
                        <a:defRPr sz="1000">
                          <a:latin typeface="Montserrat"/>
                        </a:defRPr>
                      </a:pPr>
                      <a:r>
                        <a:t>UMF 9 Yanga</a:t>
                      </a:r>
                    </a:p>
                  </a:txBody>
                  <a:tcPr marL="0" marR="0" marT="0" marB="0">
                    <a:solidFill>
                      <a:srgbClr val="FFFFFF"/>
                    </a:solidFill>
                  </a:tcPr>
                </a:tc>
                <a:tc>
                  <a:txBody>
                    <a:bodyPr/>
                    <a:lstStyle/>
                    <a:p>
                      <a:pPr algn="ctr">
                        <a:defRPr sz="1000">
                          <a:latin typeface="Montserrat"/>
                        </a:defRPr>
                      </a:pPr>
                      <a:r>
                        <a:t>22,640</a:t>
                      </a:r>
                    </a:p>
                  </a:txBody>
                  <a:tcPr marL="0" marR="0" marT="0" marB="0">
                    <a:solidFill>
                      <a:srgbClr val="FFFFFF"/>
                    </a:solidFill>
                  </a:tcPr>
                </a:tc>
                <a:tc>
                  <a:txBody>
                    <a:bodyPr/>
                    <a:lstStyle/>
                    <a:p>
                      <a:pPr algn="ctr">
                        <a:defRPr sz="1000">
                          <a:latin typeface="Montserrat"/>
                        </a:defRPr>
                      </a:pPr>
                      <a:r>
                        <a:t>10,018</a:t>
                      </a:r>
                    </a:p>
                  </a:txBody>
                  <a:tcPr marL="0" marR="0" marT="0" marB="0">
                    <a:solidFill>
                      <a:srgbClr val="FFFFFF"/>
                    </a:solidFill>
                  </a:tcPr>
                </a:tc>
                <a:tc>
                  <a:txBody>
                    <a:bodyPr/>
                    <a:lstStyle/>
                    <a:p>
                      <a:pPr algn="ctr">
                        <a:defRPr sz="1000">
                          <a:latin typeface="Montserrat"/>
                        </a:defRPr>
                      </a:pPr>
                      <a:r>
                        <a:t>10,288</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41.1%</a:t>
                      </a:r>
                    </a:p>
                  </a:txBody>
                  <a:tcPr marL="0" marR="0" marT="0" marB="0">
                    <a:solidFill>
                      <a:srgbClr val="ECD3D9"/>
                    </a:solidFill>
                  </a:tcPr>
                </a:tc>
              </a:tr>
              <a:tr h="151200">
                <a:tc>
                  <a:txBody>
                    <a:bodyPr/>
                    <a:lstStyle/>
                    <a:p>
                      <a:pPr algn="l">
                        <a:defRPr sz="1000">
                          <a:latin typeface="Montserrat"/>
                        </a:defRPr>
                      </a:pPr>
                      <a:r>
                        <a:t>UMF 10 Cuitlahuac</a:t>
                      </a:r>
                    </a:p>
                  </a:txBody>
                  <a:tcPr marL="0" marR="0" marT="0" marB="0">
                    <a:solidFill>
                      <a:srgbClr val="EFEFEF"/>
                    </a:solidFill>
                  </a:tcPr>
                </a:tc>
                <a:tc>
                  <a:txBody>
                    <a:bodyPr/>
                    <a:lstStyle/>
                    <a:p>
                      <a:pPr algn="ctr">
                        <a:defRPr sz="1000">
                          <a:latin typeface="Montserrat"/>
                        </a:defRPr>
                      </a:pPr>
                      <a:r>
                        <a:t>26,292</a:t>
                      </a:r>
                    </a:p>
                  </a:txBody>
                  <a:tcPr marL="0" marR="0" marT="0" marB="0">
                    <a:solidFill>
                      <a:srgbClr val="EFEFEF"/>
                    </a:solidFill>
                  </a:tcPr>
                </a:tc>
                <a:tc>
                  <a:txBody>
                    <a:bodyPr/>
                    <a:lstStyle/>
                    <a:p>
                      <a:pPr algn="ctr">
                        <a:defRPr sz="1000">
                          <a:latin typeface="Montserrat"/>
                        </a:defRPr>
                      </a:pPr>
                      <a:r>
                        <a:t>665</a:t>
                      </a:r>
                    </a:p>
                  </a:txBody>
                  <a:tcPr marL="0" marR="0" marT="0" marB="0">
                    <a:solidFill>
                      <a:srgbClr val="EFEFEF"/>
                    </a:solidFill>
                  </a:tcPr>
                </a:tc>
                <a:tc>
                  <a:txBody>
                    <a:bodyPr/>
                    <a:lstStyle/>
                    <a:p>
                      <a:pPr algn="ctr">
                        <a:defRPr sz="1000">
                          <a:latin typeface="Montserrat"/>
                        </a:defRPr>
                      </a:pPr>
                      <a:r>
                        <a:t>13,304</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35.4%</a:t>
                      </a:r>
                    </a:p>
                  </a:txBody>
                  <a:tcPr marL="0" marR="0" marT="0" marB="0">
                    <a:solidFill>
                      <a:srgbClr val="ECD3D9"/>
                    </a:solidFill>
                  </a:tcPr>
                </a:tc>
              </a:tr>
              <a:tr h="151200">
                <a:tc>
                  <a:txBody>
                    <a:bodyPr/>
                    <a:lstStyle/>
                    <a:p>
                      <a:pPr algn="l">
                        <a:defRPr sz="1000">
                          <a:latin typeface="Montserrat"/>
                        </a:defRPr>
                      </a:pPr>
                      <a:r>
                        <a:t>UMF 26 I. Providencia</a:t>
                      </a:r>
                    </a:p>
                  </a:txBody>
                  <a:tcPr marL="0" marR="0" marT="0" marB="0">
                    <a:solidFill>
                      <a:srgbClr val="FFFFFF"/>
                    </a:solidFill>
                  </a:tcPr>
                </a:tc>
                <a:tc>
                  <a:txBody>
                    <a:bodyPr/>
                    <a:lstStyle/>
                    <a:p>
                      <a:pPr algn="ctr">
                        <a:defRPr sz="1000">
                          <a:latin typeface="Montserrat"/>
                        </a:defRPr>
                      </a:pPr>
                      <a:r>
                        <a:t>5,279</a:t>
                      </a:r>
                    </a:p>
                  </a:txBody>
                  <a:tcPr marL="0" marR="0" marT="0" marB="0">
                    <a:solidFill>
                      <a:srgbClr val="FFFFFF"/>
                    </a:solidFill>
                  </a:tcPr>
                </a:tc>
                <a:tc>
                  <a:txBody>
                    <a:bodyPr/>
                    <a:lstStyle/>
                    <a:p>
                      <a:pPr algn="ctr">
                        <a:defRPr sz="1000">
                          <a:latin typeface="Montserrat"/>
                        </a:defRPr>
                      </a:pPr>
                      <a:r>
                        <a:t>606</a:t>
                      </a:r>
                    </a:p>
                  </a:txBody>
                  <a:tcPr marL="0" marR="0" marT="0" marB="0">
                    <a:solidFill>
                      <a:srgbClr val="FFFFFF"/>
                    </a:solidFill>
                  </a:tcPr>
                </a:tc>
                <a:tc>
                  <a:txBody>
                    <a:bodyPr/>
                    <a:lstStyle/>
                    <a:p>
                      <a:pPr algn="ctr">
                        <a:defRPr sz="1000">
                          <a:latin typeface="Montserrat"/>
                        </a:defRPr>
                      </a:pPr>
                      <a:r>
                        <a:t>2,204</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31.5%</a:t>
                      </a:r>
                    </a:p>
                  </a:txBody>
                  <a:tcPr marL="0" marR="0" marT="0" marB="0">
                    <a:solidFill>
                      <a:srgbClr val="ECD3D9"/>
                    </a:solidFill>
                  </a:tcPr>
                </a:tc>
              </a:tr>
              <a:tr h="151200">
                <a:tc>
                  <a:txBody>
                    <a:bodyPr/>
                    <a:lstStyle/>
                    <a:p>
                      <a:pPr algn="l">
                        <a:defRPr sz="1000">
                          <a:latin typeface="Montserrat"/>
                        </a:defRPr>
                      </a:pPr>
                      <a:r>
                        <a:t>UMF 22 Cuatlapan</a:t>
                      </a:r>
                    </a:p>
                  </a:txBody>
                  <a:tcPr marL="0" marR="0" marT="0" marB="0">
                    <a:solidFill>
                      <a:srgbClr val="EFEFEF"/>
                    </a:solidFill>
                  </a:tcPr>
                </a:tc>
                <a:tc>
                  <a:txBody>
                    <a:bodyPr/>
                    <a:lstStyle/>
                    <a:p>
                      <a:pPr algn="ctr">
                        <a:defRPr sz="1000">
                          <a:latin typeface="Montserrat"/>
                        </a:defRPr>
                      </a:pPr>
                      <a:r>
                        <a:t>11,425</a:t>
                      </a:r>
                    </a:p>
                  </a:txBody>
                  <a:tcPr marL="0" marR="0" marT="0" marB="0">
                    <a:solidFill>
                      <a:srgbClr val="EFEFEF"/>
                    </a:solidFill>
                  </a:tcPr>
                </a:tc>
                <a:tc>
                  <a:txBody>
                    <a:bodyPr/>
                    <a:lstStyle/>
                    <a:p>
                      <a:pPr algn="ctr">
                        <a:defRPr sz="1000">
                          <a:latin typeface="Montserrat"/>
                        </a:defRPr>
                      </a:pPr>
                      <a:r>
                        <a:t>1,186</a:t>
                      </a:r>
                    </a:p>
                  </a:txBody>
                  <a:tcPr marL="0" marR="0" marT="0" marB="0">
                    <a:solidFill>
                      <a:srgbClr val="EFEFEF"/>
                    </a:solidFill>
                  </a:tcPr>
                </a:tc>
                <a:tc>
                  <a:txBody>
                    <a:bodyPr/>
                    <a:lstStyle/>
                    <a:p>
                      <a:pPr algn="ctr">
                        <a:defRPr sz="1000">
                          <a:latin typeface="Montserrat"/>
                        </a:defRPr>
                      </a:pPr>
                      <a:r>
                        <a:t>4,324</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36.0%</a:t>
                      </a:r>
                    </a:p>
                  </a:txBody>
                  <a:tcPr marL="0" marR="0" marT="0" marB="0">
                    <a:solidFill>
                      <a:srgbClr val="ECD3D9"/>
                    </a:solidFill>
                  </a:tcPr>
                </a:tc>
              </a:tr>
              <a:tr h="151200">
                <a:tc>
                  <a:txBody>
                    <a:bodyPr/>
                    <a:lstStyle/>
                    <a:p>
                      <a:pPr algn="l">
                        <a:defRPr sz="1000">
                          <a:latin typeface="Montserrat"/>
                        </a:defRPr>
                      </a:pPr>
                      <a:r>
                        <a:t>UMF 25 S. José Abajo</a:t>
                      </a:r>
                    </a:p>
                  </a:txBody>
                  <a:tcPr marL="0" marR="0" marT="0" marB="0">
                    <a:solidFill>
                      <a:srgbClr val="FFFFFF"/>
                    </a:solidFill>
                  </a:tcPr>
                </a:tc>
                <a:tc>
                  <a:txBody>
                    <a:bodyPr/>
                    <a:lstStyle/>
                    <a:p>
                      <a:pPr algn="ctr">
                        <a:defRPr sz="1000">
                          <a:latin typeface="Montserrat"/>
                        </a:defRPr>
                      </a:pPr>
                      <a:r>
                        <a:t>5,361</a:t>
                      </a:r>
                    </a:p>
                  </a:txBody>
                  <a:tcPr marL="0" marR="0" marT="0" marB="0">
                    <a:solidFill>
                      <a:srgbClr val="FFFFFF"/>
                    </a:solidFill>
                  </a:tcPr>
                </a:tc>
                <a:tc>
                  <a:txBody>
                    <a:bodyPr/>
                    <a:lstStyle/>
                    <a:p>
                      <a:pPr algn="ctr">
                        <a:defRPr sz="1000">
                          <a:latin typeface="Montserrat"/>
                        </a:defRPr>
                      </a:pPr>
                      <a:r>
                        <a:t>394</a:t>
                      </a:r>
                    </a:p>
                  </a:txBody>
                  <a:tcPr marL="0" marR="0" marT="0" marB="0">
                    <a:solidFill>
                      <a:srgbClr val="FFFFFF"/>
                    </a:solidFill>
                  </a:tcPr>
                </a:tc>
                <a:tc>
                  <a:txBody>
                    <a:bodyPr/>
                    <a:lstStyle/>
                    <a:p>
                      <a:pPr algn="ctr">
                        <a:defRPr sz="1000">
                          <a:latin typeface="Montserrat"/>
                        </a:defRPr>
                      </a:pPr>
                      <a:r>
                        <a:t>1,891</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27.0%</a:t>
                      </a:r>
                    </a:p>
                  </a:txBody>
                  <a:tcPr marL="0" marR="0" marT="0" marB="0">
                    <a:solidFill>
                      <a:srgbClr val="ECD3D9"/>
                    </a:solidFill>
                  </a:tcPr>
                </a:tc>
              </a:tr>
              <a:tr h="151200">
                <a:tc>
                  <a:txBody>
                    <a:bodyPr/>
                    <a:lstStyle/>
                    <a:p>
                      <a:pPr algn="l">
                        <a:defRPr sz="1000">
                          <a:latin typeface="Montserrat"/>
                        </a:defRPr>
                      </a:pPr>
                      <a:r>
                        <a:t>UMF 23 S. José Tapia</a:t>
                      </a:r>
                    </a:p>
                  </a:txBody>
                  <a:tcPr marL="0" marR="0" marT="0" marB="0">
                    <a:solidFill>
                      <a:srgbClr val="EFEFEF"/>
                    </a:solidFill>
                  </a:tcPr>
                </a:tc>
                <a:tc>
                  <a:txBody>
                    <a:bodyPr/>
                    <a:lstStyle/>
                    <a:p>
                      <a:pPr algn="ctr">
                        <a:defRPr sz="1000">
                          <a:latin typeface="Montserrat"/>
                        </a:defRPr>
                      </a:pPr>
                      <a:r>
                        <a:t>4,844</a:t>
                      </a:r>
                    </a:p>
                  </a:txBody>
                  <a:tcPr marL="0" marR="0" marT="0" marB="0">
                    <a:solidFill>
                      <a:srgbClr val="EFEFEF"/>
                    </a:solidFill>
                  </a:tcPr>
                </a:tc>
                <a:tc>
                  <a:txBody>
                    <a:bodyPr/>
                    <a:lstStyle/>
                    <a:p>
                      <a:pPr algn="ctr">
                        <a:defRPr sz="1000">
                          <a:latin typeface="Montserrat"/>
                        </a:defRPr>
                      </a:pPr>
                      <a:r>
                        <a:t>32</a:t>
                      </a:r>
                    </a:p>
                  </a:txBody>
                  <a:tcPr marL="0" marR="0" marT="0" marB="0">
                    <a:solidFill>
                      <a:srgbClr val="EFEFEF"/>
                    </a:solidFill>
                  </a:tcPr>
                </a:tc>
                <a:tc>
                  <a:txBody>
                    <a:bodyPr/>
                    <a:lstStyle/>
                    <a:p>
                      <a:pPr algn="ctr">
                        <a:defRPr sz="1000">
                          <a:latin typeface="Montserrat"/>
                        </a:defRPr>
                      </a:pPr>
                      <a:r>
                        <a:t>2,555</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42.6%</a:t>
                      </a:r>
                    </a:p>
                  </a:txBody>
                  <a:tcPr marL="0" marR="0" marT="0" marB="0">
                    <a:solidFill>
                      <a:srgbClr val="ECD3D9"/>
                    </a:solidFill>
                  </a:tcPr>
                </a:tc>
              </a:tr>
              <a:tr h="151200">
                <a:tc>
                  <a:txBody>
                    <a:bodyPr/>
                    <a:lstStyle/>
                    <a:p>
                      <a:pPr algn="l">
                        <a:defRPr sz="1000">
                          <a:latin typeface="Montserrat"/>
                        </a:defRPr>
                      </a:pPr>
                      <a:r>
                        <a:t>UMF 24 S. Miguel</a:t>
                      </a:r>
                    </a:p>
                  </a:txBody>
                  <a:tcPr marL="0" marR="0" marT="0" marB="0">
                    <a:solidFill>
                      <a:srgbClr val="FFFFFF"/>
                    </a:solidFill>
                  </a:tcPr>
                </a:tc>
                <a:tc>
                  <a:txBody>
                    <a:bodyPr/>
                    <a:lstStyle/>
                    <a:p>
                      <a:pPr algn="ctr">
                        <a:defRPr sz="1000">
                          <a:latin typeface="Montserrat"/>
                        </a:defRPr>
                      </a:pPr>
                      <a:r>
                        <a:t>3,523</a:t>
                      </a:r>
                    </a:p>
                  </a:txBody>
                  <a:tcPr marL="0" marR="0" marT="0" marB="0">
                    <a:solidFill>
                      <a:srgbClr val="FFFFFF"/>
                    </a:solidFill>
                  </a:tcPr>
                </a:tc>
                <a:tc>
                  <a:txBody>
                    <a:bodyPr/>
                    <a:lstStyle/>
                    <a:p>
                      <a:pPr algn="ctr">
                        <a:defRPr sz="1000">
                          <a:latin typeface="Montserrat"/>
                        </a:defRPr>
                      </a:pPr>
                      <a:r>
                        <a:t>58</a:t>
                      </a:r>
                    </a:p>
                  </a:txBody>
                  <a:tcPr marL="0" marR="0" marT="0" marB="0">
                    <a:solidFill>
                      <a:srgbClr val="FFFFFF"/>
                    </a:solidFill>
                  </a:tcPr>
                </a:tc>
                <a:tc>
                  <a:txBody>
                    <a:bodyPr/>
                    <a:lstStyle/>
                    <a:p>
                      <a:pPr algn="ctr">
                        <a:defRPr sz="1000">
                          <a:latin typeface="Montserrat"/>
                        </a:defRPr>
                      </a:pPr>
                      <a:r>
                        <a:t>2,376</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47.5%</a:t>
                      </a:r>
                    </a:p>
                  </a:txBody>
                  <a:tcPr marL="0" marR="0" marT="0" marB="0">
                    <a:solidFill>
                      <a:srgbClr val="ECD3D9"/>
                    </a:solidFill>
                  </a:tcPr>
                </a:tc>
              </a:tr>
              <a:tr h="151200">
                <a:tc>
                  <a:txBody>
                    <a:bodyPr/>
                    <a:lstStyle/>
                    <a:p>
                      <a:pPr algn="l">
                        <a:defRPr sz="1000">
                          <a:latin typeface="Montserrat"/>
                        </a:defRPr>
                      </a:pPr>
                      <a:r>
                        <a:t>UMF 17 Laguna Chica</a:t>
                      </a:r>
                    </a:p>
                  </a:txBody>
                  <a:tcPr marL="0" marR="0" marT="0" marB="0">
                    <a:solidFill>
                      <a:srgbClr val="EFEFEF"/>
                    </a:solidFill>
                  </a:tcPr>
                </a:tc>
                <a:tc>
                  <a:txBody>
                    <a:bodyPr/>
                    <a:lstStyle/>
                    <a:p>
                      <a:pPr algn="ctr">
                        <a:defRPr sz="1000">
                          <a:latin typeface="Montserrat"/>
                        </a:defRPr>
                      </a:pPr>
                      <a:r>
                        <a:t>4,703</a:t>
                      </a:r>
                    </a:p>
                  </a:txBody>
                  <a:tcPr marL="0" marR="0" marT="0" marB="0">
                    <a:solidFill>
                      <a:srgbClr val="EFEFEF"/>
                    </a:solidFill>
                  </a:tcPr>
                </a:tc>
                <a:tc>
                  <a:txBody>
                    <a:bodyPr/>
                    <a:lstStyle/>
                    <a:p>
                      <a:pPr algn="ctr">
                        <a:defRPr sz="1000">
                          <a:latin typeface="Montserrat"/>
                        </a:defRPr>
                      </a:pPr>
                      <a:r>
                        <a:t>-216</a:t>
                      </a:r>
                    </a:p>
                  </a:txBody>
                  <a:tcPr marL="0" marR="0" marT="0" marB="0">
                    <a:solidFill>
                      <a:srgbClr val="EFEFEF"/>
                    </a:solidFill>
                  </a:tcPr>
                </a:tc>
                <a:tc>
                  <a:txBody>
                    <a:bodyPr/>
                    <a:lstStyle/>
                    <a:p>
                      <a:pPr algn="ctr">
                        <a:defRPr sz="1000">
                          <a:latin typeface="Montserrat"/>
                        </a:defRPr>
                      </a:pPr>
                      <a:r>
                        <a:t>3,652</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60.9%</a:t>
                      </a:r>
                    </a:p>
                  </a:txBody>
                  <a:tcPr marL="0" marR="0" marT="0" marB="0">
                    <a:solidFill>
                      <a:srgbClr val="ECD3D9"/>
                    </a:solidFill>
                  </a:tcPr>
                </a:tc>
              </a:tr>
              <a:tr h="151200">
                <a:tc>
                  <a:txBody>
                    <a:bodyPr/>
                    <a:lstStyle/>
                    <a:p>
                      <a:pPr algn="l">
                        <a:defRPr sz="1000">
                          <a:latin typeface="Montserrat"/>
                        </a:defRPr>
                      </a:pPr>
                      <a:r>
                        <a:t>UMF 18 Motzorongo</a:t>
                      </a:r>
                    </a:p>
                  </a:txBody>
                  <a:tcPr marL="0" marR="0" marT="0" marB="0">
                    <a:solidFill>
                      <a:srgbClr val="FFFFFF"/>
                    </a:solidFill>
                  </a:tcPr>
                </a:tc>
                <a:tc>
                  <a:txBody>
                    <a:bodyPr/>
                    <a:lstStyle/>
                    <a:p>
                      <a:pPr algn="ctr">
                        <a:defRPr sz="1000">
                          <a:latin typeface="Montserrat"/>
                        </a:defRPr>
                      </a:pPr>
                      <a:r>
                        <a:t>5,968</a:t>
                      </a:r>
                    </a:p>
                  </a:txBody>
                  <a:tcPr marL="0" marR="0" marT="0" marB="0">
                    <a:solidFill>
                      <a:srgbClr val="FFFFFF"/>
                    </a:solidFill>
                  </a:tcPr>
                </a:tc>
                <a:tc>
                  <a:txBody>
                    <a:bodyPr/>
                    <a:lstStyle/>
                    <a:p>
                      <a:pPr algn="ctr">
                        <a:defRPr sz="1000">
                          <a:latin typeface="Montserrat"/>
                        </a:defRPr>
                      </a:pPr>
                      <a:r>
                        <a:t>224</a:t>
                      </a:r>
                    </a:p>
                  </a:txBody>
                  <a:tcPr marL="0" marR="0" marT="0" marB="0">
                    <a:solidFill>
                      <a:srgbClr val="FFFFFF"/>
                    </a:solidFill>
                  </a:tcPr>
                </a:tc>
                <a:tc>
                  <a:txBody>
                    <a:bodyPr/>
                    <a:lstStyle/>
                    <a:p>
                      <a:pPr algn="ctr">
                        <a:defRPr sz="1000">
                          <a:latin typeface="Montserrat"/>
                        </a:defRPr>
                      </a:pPr>
                      <a:r>
                        <a:t>3,184</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45.5%</a:t>
                      </a:r>
                    </a:p>
                  </a:txBody>
                  <a:tcPr marL="0" marR="0" marT="0" marB="0">
                    <a:solidFill>
                      <a:srgbClr val="ECD3D9"/>
                    </a:solidFill>
                  </a:tcPr>
                </a:tc>
              </a:tr>
              <a:tr h="151200">
                <a:tc>
                  <a:txBody>
                    <a:bodyPr/>
                    <a:lstStyle/>
                    <a:p>
                      <a:pPr algn="l">
                        <a:defRPr sz="1000">
                          <a:latin typeface="Montserrat"/>
                        </a:defRPr>
                      </a:pPr>
                      <a:r>
                        <a:t>UMF 46 Acula</a:t>
                      </a:r>
                    </a:p>
                  </a:txBody>
                  <a:tcPr marL="0" marR="0" marT="0" marB="0">
                    <a:solidFill>
                      <a:srgbClr val="EFEFEF"/>
                    </a:solidFill>
                  </a:tcPr>
                </a:tc>
                <a:tc>
                  <a:txBody>
                    <a:bodyPr/>
                    <a:lstStyle/>
                    <a:p>
                      <a:pPr algn="ctr">
                        <a:defRPr sz="1000">
                          <a:latin typeface="Montserrat"/>
                        </a:defRPr>
                      </a:pPr>
                      <a:r>
                        <a:t>5,838</a:t>
                      </a:r>
                    </a:p>
                  </a:txBody>
                  <a:tcPr marL="0" marR="0" marT="0" marB="0">
                    <a:solidFill>
                      <a:srgbClr val="EFEFEF"/>
                    </a:solidFill>
                  </a:tcPr>
                </a:tc>
                <a:tc>
                  <a:txBody>
                    <a:bodyPr/>
                    <a:lstStyle/>
                    <a:p>
                      <a:pPr algn="ctr">
                        <a:defRPr sz="1000">
                          <a:latin typeface="Montserrat"/>
                        </a:defRPr>
                      </a:pPr>
                      <a:r>
                        <a:t>1,053</a:t>
                      </a:r>
                    </a:p>
                  </a:txBody>
                  <a:tcPr marL="0" marR="0" marT="0" marB="0">
                    <a:solidFill>
                      <a:srgbClr val="EFEFEF"/>
                    </a:solidFill>
                  </a:tcPr>
                </a:tc>
                <a:tc>
                  <a:txBody>
                    <a:bodyPr/>
                    <a:lstStyle/>
                    <a:p>
                      <a:pPr algn="ctr">
                        <a:defRPr sz="1000">
                          <a:latin typeface="Montserrat"/>
                        </a:defRPr>
                      </a:pPr>
                      <a:r>
                        <a:t>2,229</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31.8%</a:t>
                      </a:r>
                    </a:p>
                  </a:txBody>
                  <a:tcPr marL="0" marR="0" marT="0" marB="0">
                    <a:solidFill>
                      <a:srgbClr val="ECD3D9"/>
                    </a:solidFill>
                  </a:tcPr>
                </a:tc>
              </a:tr>
              <a:tr h="151200">
                <a:tc>
                  <a:txBody>
                    <a:bodyPr/>
                    <a:lstStyle/>
                    <a:p>
                      <a:pPr algn="l">
                        <a:defRPr sz="1000">
                          <a:latin typeface="Montserrat"/>
                        </a:defRPr>
                      </a:pPr>
                      <a:r>
                        <a:t>UMF 41 Otatitlán</a:t>
                      </a:r>
                    </a:p>
                  </a:txBody>
                  <a:tcPr marL="0" marR="0" marT="0" marB="0">
                    <a:solidFill>
                      <a:srgbClr val="FFFFFF"/>
                    </a:solidFill>
                  </a:tcPr>
                </a:tc>
                <a:tc>
                  <a:txBody>
                    <a:bodyPr/>
                    <a:lstStyle/>
                    <a:p>
                      <a:pPr algn="ctr">
                        <a:defRPr sz="1000">
                          <a:latin typeface="Montserrat"/>
                        </a:defRPr>
                      </a:pPr>
                      <a:r>
                        <a:t>7,147</a:t>
                      </a:r>
                    </a:p>
                  </a:txBody>
                  <a:tcPr marL="0" marR="0" marT="0" marB="0">
                    <a:solidFill>
                      <a:srgbClr val="FFFFFF"/>
                    </a:solidFill>
                  </a:tcPr>
                </a:tc>
                <a:tc>
                  <a:txBody>
                    <a:bodyPr/>
                    <a:lstStyle/>
                    <a:p>
                      <a:pPr algn="ctr">
                        <a:defRPr sz="1000">
                          <a:latin typeface="Montserrat"/>
                        </a:defRPr>
                      </a:pPr>
                      <a:r>
                        <a:t>3,254</a:t>
                      </a:r>
                    </a:p>
                  </a:txBody>
                  <a:tcPr marL="0" marR="0" marT="0" marB="0">
                    <a:solidFill>
                      <a:srgbClr val="FFFFFF"/>
                    </a:solidFill>
                  </a:tcPr>
                </a:tc>
                <a:tc>
                  <a:txBody>
                    <a:bodyPr/>
                    <a:lstStyle/>
                    <a:p>
                      <a:pPr algn="ctr">
                        <a:defRPr sz="1000">
                          <a:latin typeface="Montserrat"/>
                        </a:defRPr>
                      </a:pPr>
                      <a:r>
                        <a:t>2,944</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36.8%</a:t>
                      </a:r>
                    </a:p>
                  </a:txBody>
                  <a:tcPr marL="0" marR="0" marT="0" marB="0">
                    <a:solidFill>
                      <a:srgbClr val="ECD3D9"/>
                    </a:solidFill>
                  </a:tcPr>
                </a:tc>
              </a:tr>
              <a:tr h="151200">
                <a:tc>
                  <a:txBody>
                    <a:bodyPr/>
                    <a:lstStyle/>
                    <a:p>
                      <a:pPr algn="l">
                        <a:defRPr sz="1000">
                          <a:latin typeface="Montserrat"/>
                        </a:defRPr>
                      </a:pPr>
                      <a:r>
                        <a:t>UMF 44 Tuxtilla</a:t>
                      </a:r>
                    </a:p>
                  </a:txBody>
                  <a:tcPr marL="0" marR="0" marT="0" marB="0">
                    <a:solidFill>
                      <a:srgbClr val="EFEFEF"/>
                    </a:solidFill>
                  </a:tcPr>
                </a:tc>
                <a:tc>
                  <a:txBody>
                    <a:bodyPr/>
                    <a:lstStyle/>
                    <a:p>
                      <a:pPr algn="ctr">
                        <a:defRPr sz="1000">
                          <a:latin typeface="Montserrat"/>
                        </a:defRPr>
                      </a:pPr>
                      <a:r>
                        <a:t>7,198</a:t>
                      </a:r>
                    </a:p>
                  </a:txBody>
                  <a:tcPr marL="0" marR="0" marT="0" marB="0">
                    <a:solidFill>
                      <a:srgbClr val="EFEFEF"/>
                    </a:solidFill>
                  </a:tcPr>
                </a:tc>
                <a:tc>
                  <a:txBody>
                    <a:bodyPr/>
                    <a:lstStyle/>
                    <a:p>
                      <a:pPr algn="ctr">
                        <a:defRPr sz="1000">
                          <a:latin typeface="Montserrat"/>
                        </a:defRPr>
                      </a:pPr>
                      <a:r>
                        <a:t>2,729</a:t>
                      </a:r>
                    </a:p>
                  </a:txBody>
                  <a:tcPr marL="0" marR="0" marT="0" marB="0">
                    <a:solidFill>
                      <a:srgbClr val="EFEFEF"/>
                    </a:solidFill>
                  </a:tcPr>
                </a:tc>
                <a:tc>
                  <a:txBody>
                    <a:bodyPr/>
                    <a:lstStyle/>
                    <a:p>
                      <a:pPr algn="ctr">
                        <a:defRPr sz="1000">
                          <a:latin typeface="Montserrat"/>
                        </a:defRPr>
                      </a:pPr>
                      <a:r>
                        <a:t>2,120</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30.3%</a:t>
                      </a:r>
                    </a:p>
                  </a:txBody>
                  <a:tcPr marL="0" marR="0" marT="0" marB="0">
                    <a:solidFill>
                      <a:srgbClr val="ECD3D9"/>
                    </a:solidFill>
                  </a:tcPr>
                </a:tc>
              </a:tr>
              <a:tr h="151200">
                <a:tc>
                  <a:txBody>
                    <a:bodyPr/>
                    <a:lstStyle/>
                    <a:p>
                      <a:pPr algn="l">
                        <a:defRPr sz="1000">
                          <a:latin typeface="Montserrat"/>
                        </a:defRPr>
                      </a:pPr>
                      <a:r>
                        <a:t>UMF 43 Tres Valles</a:t>
                      </a:r>
                    </a:p>
                  </a:txBody>
                  <a:tcPr marL="0" marR="0" marT="0" marB="0">
                    <a:solidFill>
                      <a:srgbClr val="FFFFFF"/>
                    </a:solidFill>
                  </a:tcPr>
                </a:tc>
                <a:tc>
                  <a:txBody>
                    <a:bodyPr/>
                    <a:lstStyle/>
                    <a:p>
                      <a:pPr algn="ctr">
                        <a:defRPr sz="1000">
                          <a:latin typeface="Montserrat"/>
                        </a:defRPr>
                      </a:pPr>
                      <a:r>
                        <a:t>36,294</a:t>
                      </a:r>
                    </a:p>
                  </a:txBody>
                  <a:tcPr marL="0" marR="0" marT="0" marB="0">
                    <a:solidFill>
                      <a:srgbClr val="FFFFFF"/>
                    </a:solidFill>
                  </a:tcPr>
                </a:tc>
                <a:tc>
                  <a:txBody>
                    <a:bodyPr/>
                    <a:lstStyle/>
                    <a:p>
                      <a:pPr algn="ctr">
                        <a:defRPr sz="1000">
                          <a:latin typeface="Montserrat"/>
                        </a:defRPr>
                      </a:pPr>
                      <a:r>
                        <a:t>7,568</a:t>
                      </a:r>
                    </a:p>
                  </a:txBody>
                  <a:tcPr marL="0" marR="0" marT="0" marB="0">
                    <a:solidFill>
                      <a:srgbClr val="FFFFFF"/>
                    </a:solidFill>
                  </a:tcPr>
                </a:tc>
                <a:tc>
                  <a:txBody>
                    <a:bodyPr/>
                    <a:lstStyle/>
                    <a:p>
                      <a:pPr algn="ctr">
                        <a:defRPr sz="1000">
                          <a:latin typeface="Montserrat"/>
                        </a:defRPr>
                      </a:pPr>
                      <a:r>
                        <a:t>17,222</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45.8%</a:t>
                      </a:r>
                    </a:p>
                  </a:txBody>
                  <a:tcPr marL="0" marR="0" marT="0" marB="0">
                    <a:solidFill>
                      <a:srgbClr val="ECD3D9"/>
                    </a:solidFill>
                  </a:tcPr>
                </a:tc>
              </a:tr>
              <a:tr h="151200">
                <a:tc>
                  <a:txBody>
                    <a:bodyPr/>
                    <a:lstStyle/>
                    <a:p>
                      <a:pPr algn="l">
                        <a:defRPr sz="1000">
                          <a:latin typeface="Montserrat"/>
                        </a:defRPr>
                      </a:pPr>
                      <a:r>
                        <a:t>UMF 49 Gabino Barreda</a:t>
                      </a:r>
                    </a:p>
                  </a:txBody>
                  <a:tcPr marL="0" marR="0" marT="0" marB="0">
                    <a:solidFill>
                      <a:srgbClr val="EFEFEF"/>
                    </a:solidFill>
                  </a:tcPr>
                </a:tc>
                <a:tc>
                  <a:txBody>
                    <a:bodyPr/>
                    <a:lstStyle/>
                    <a:p>
                      <a:pPr algn="ctr">
                        <a:defRPr sz="1000">
                          <a:latin typeface="Montserrat"/>
                        </a:defRPr>
                      </a:pPr>
                      <a:r>
                        <a:t>5,701</a:t>
                      </a:r>
                    </a:p>
                  </a:txBody>
                  <a:tcPr marL="0" marR="0" marT="0" marB="0">
                    <a:solidFill>
                      <a:srgbClr val="EFEFEF"/>
                    </a:solidFill>
                  </a:tcPr>
                </a:tc>
                <a:tc>
                  <a:txBody>
                    <a:bodyPr/>
                    <a:lstStyle/>
                    <a:p>
                      <a:pPr algn="ctr">
                        <a:defRPr sz="1000">
                          <a:latin typeface="Montserrat"/>
                        </a:defRPr>
                      </a:pPr>
                      <a:r>
                        <a:t>2,510</a:t>
                      </a:r>
                    </a:p>
                  </a:txBody>
                  <a:tcPr marL="0" marR="0" marT="0" marB="0">
                    <a:solidFill>
                      <a:srgbClr val="EFEFEF"/>
                    </a:solidFill>
                  </a:tcPr>
                </a:tc>
                <a:tc>
                  <a:txBody>
                    <a:bodyPr/>
                    <a:lstStyle/>
                    <a:p>
                      <a:pPr algn="ctr">
                        <a:defRPr sz="1000">
                          <a:latin typeface="Montserrat"/>
                        </a:defRPr>
                      </a:pPr>
                      <a:r>
                        <a:t>2,950</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42.1%</a:t>
                      </a:r>
                    </a:p>
                  </a:txBody>
                  <a:tcPr marL="0" marR="0" marT="0" marB="0">
                    <a:solidFill>
                      <a:srgbClr val="ECD3D9"/>
                    </a:solidFill>
                  </a:tcPr>
                </a:tc>
              </a:tr>
              <a:tr h="151200">
                <a:tc>
                  <a:txBody>
                    <a:bodyPr/>
                    <a:lstStyle/>
                    <a:p>
                      <a:pPr algn="l">
                        <a:defRPr sz="1000">
                          <a:latin typeface="Montserrat"/>
                        </a:defRPr>
                      </a:pPr>
                      <a:r>
                        <a:t>UMF 50 Cuatotolapan</a:t>
                      </a:r>
                    </a:p>
                  </a:txBody>
                  <a:tcPr marL="0" marR="0" marT="0" marB="0">
                    <a:solidFill>
                      <a:srgbClr val="FFFFFF"/>
                    </a:solidFill>
                  </a:tcPr>
                </a:tc>
                <a:tc>
                  <a:txBody>
                    <a:bodyPr/>
                    <a:lstStyle/>
                    <a:p>
                      <a:pPr algn="ctr">
                        <a:defRPr sz="1000">
                          <a:latin typeface="Montserrat"/>
                        </a:defRPr>
                      </a:pPr>
                      <a:r>
                        <a:t>5,340</a:t>
                      </a:r>
                    </a:p>
                  </a:txBody>
                  <a:tcPr marL="0" marR="0" marT="0" marB="0">
                    <a:solidFill>
                      <a:srgbClr val="FFFFFF"/>
                    </a:solidFill>
                  </a:tcPr>
                </a:tc>
                <a:tc>
                  <a:txBody>
                    <a:bodyPr/>
                    <a:lstStyle/>
                    <a:p>
                      <a:pPr algn="ctr">
                        <a:defRPr sz="1000">
                          <a:latin typeface="Montserrat"/>
                        </a:defRPr>
                      </a:pPr>
                      <a:r>
                        <a:t>588</a:t>
                      </a:r>
                    </a:p>
                  </a:txBody>
                  <a:tcPr marL="0" marR="0" marT="0" marB="0">
                    <a:solidFill>
                      <a:srgbClr val="FFFFFF"/>
                    </a:solidFill>
                  </a:tcPr>
                </a:tc>
                <a:tc>
                  <a:txBody>
                    <a:bodyPr/>
                    <a:lstStyle/>
                    <a:p>
                      <a:pPr algn="ctr">
                        <a:defRPr sz="1000">
                          <a:latin typeface="Montserrat"/>
                        </a:defRPr>
                      </a:pPr>
                      <a:r>
                        <a:t>1,698</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24.3%</a:t>
                      </a:r>
                    </a:p>
                  </a:txBody>
                  <a:tcPr marL="0" marR="0" marT="0" marB="0">
                    <a:solidFill>
                      <a:srgbClr val="ECD3D9"/>
                    </a:solidFill>
                  </a:tcPr>
                </a:tc>
              </a:tr>
              <a:tr h="151200">
                <a:tc>
                  <a:txBody>
                    <a:bodyPr/>
                    <a:lstStyle/>
                    <a:p>
                      <a:pPr algn="l">
                        <a:defRPr sz="1000">
                          <a:latin typeface="Montserrat"/>
                        </a:defRPr>
                      </a:pPr>
                      <a:r>
                        <a:t>UMF 4 Cd. Mendoza</a:t>
                      </a:r>
                    </a:p>
                  </a:txBody>
                  <a:tcPr marL="0" marR="0" marT="0" marB="0">
                    <a:solidFill>
                      <a:srgbClr val="EFEFEF"/>
                    </a:solidFill>
                  </a:tcPr>
                </a:tc>
                <a:tc>
                  <a:txBody>
                    <a:bodyPr/>
                    <a:lstStyle/>
                    <a:p>
                      <a:pPr algn="ctr">
                        <a:defRPr sz="1000">
                          <a:latin typeface="Montserrat"/>
                        </a:defRPr>
                      </a:pPr>
                      <a:r>
                        <a:t>59,832</a:t>
                      </a:r>
                    </a:p>
                  </a:txBody>
                  <a:tcPr marL="0" marR="0" marT="0" marB="0">
                    <a:solidFill>
                      <a:srgbClr val="EFEFEF"/>
                    </a:solidFill>
                  </a:tcPr>
                </a:tc>
                <a:tc>
                  <a:txBody>
                    <a:bodyPr/>
                    <a:lstStyle/>
                    <a:p>
                      <a:pPr algn="ctr">
                        <a:defRPr sz="1000">
                          <a:latin typeface="Montserrat"/>
                        </a:defRPr>
                      </a:pPr>
                      <a:r>
                        <a:t>7,690</a:t>
                      </a:r>
                    </a:p>
                  </a:txBody>
                  <a:tcPr marL="0" marR="0" marT="0" marB="0">
                    <a:solidFill>
                      <a:srgbClr val="EFEFEF"/>
                    </a:solidFill>
                  </a:tcPr>
                </a:tc>
                <a:tc>
                  <a:txBody>
                    <a:bodyPr/>
                    <a:lstStyle/>
                    <a:p>
                      <a:pPr algn="ctr">
                        <a:defRPr sz="1000">
                          <a:latin typeface="Montserrat"/>
                        </a:defRPr>
                      </a:pPr>
                      <a:r>
                        <a:t>21,765</a:t>
                      </a:r>
                    </a:p>
                  </a:txBody>
                  <a:tcPr marL="0" marR="0" marT="0" marB="0">
                    <a:solidFill>
                      <a:srgbClr val="ECD3D9"/>
                    </a:solidFill>
                  </a:tcPr>
                </a:tc>
                <a:tc>
                  <a:txBody>
                    <a:bodyPr/>
                    <a:lstStyle/>
                    <a:p>
                      <a:pPr algn="ctr">
                        <a:defRPr sz="1000">
                          <a:latin typeface="Montserrat"/>
                        </a:defRPr>
                      </a:pPr>
                      <a:r>
                        <a:t>58,000</a:t>
                      </a:r>
                    </a:p>
                  </a:txBody>
                  <a:tcPr marL="0" marR="0" marT="0" marB="0">
                    <a:solidFill>
                      <a:srgbClr val="ECD3D9"/>
                    </a:solidFill>
                  </a:tcPr>
                </a:tc>
                <a:tc>
                  <a:txBody>
                    <a:bodyPr/>
                    <a:lstStyle/>
                    <a:p>
                      <a:pPr algn="ctr">
                        <a:defRPr sz="1000">
                          <a:latin typeface="Montserrat"/>
                        </a:defRPr>
                      </a:pPr>
                      <a:r>
                        <a:t>37.5%</a:t>
                      </a:r>
                    </a:p>
                  </a:txBody>
                  <a:tcPr marL="0" marR="0" marT="0" marB="0">
                    <a:solidFill>
                      <a:srgbClr val="ECD3D9"/>
                    </a:solidFill>
                  </a:tcPr>
                </a:tc>
              </a:tr>
              <a:tr h="151200">
                <a:tc>
                  <a:txBody>
                    <a:bodyPr/>
                    <a:lstStyle/>
                    <a:p>
                      <a:pPr algn="l">
                        <a:defRPr sz="1000">
                          <a:latin typeface="Montserrat"/>
                        </a:defRPr>
                      </a:pPr>
                      <a:r>
                        <a:t>UMF 54 Ixmatlahuaca</a:t>
                      </a:r>
                    </a:p>
                  </a:txBody>
                  <a:tcPr marL="0" marR="0" marT="0" marB="0">
                    <a:solidFill>
                      <a:srgbClr val="FFFFFF"/>
                    </a:solidFill>
                  </a:tcPr>
                </a:tc>
                <a:tc>
                  <a:txBody>
                    <a:bodyPr/>
                    <a:lstStyle/>
                    <a:p>
                      <a:pPr algn="ctr">
                        <a:defRPr sz="1000">
                          <a:latin typeface="Montserrat"/>
                        </a:defRPr>
                      </a:pPr>
                      <a:r>
                        <a:t>3,384</a:t>
                      </a:r>
                    </a:p>
                  </a:txBody>
                  <a:tcPr marL="0" marR="0" marT="0" marB="0">
                    <a:solidFill>
                      <a:srgbClr val="FFFFFF"/>
                    </a:solidFill>
                  </a:tcPr>
                </a:tc>
                <a:tc>
                  <a:txBody>
                    <a:bodyPr/>
                    <a:lstStyle/>
                    <a:p>
                      <a:pPr algn="ctr">
                        <a:defRPr sz="1000">
                          <a:latin typeface="Montserrat"/>
                        </a:defRPr>
                      </a:pPr>
                      <a:r>
                        <a:t>1,163</a:t>
                      </a:r>
                    </a:p>
                  </a:txBody>
                  <a:tcPr marL="0" marR="0" marT="0" marB="0">
                    <a:solidFill>
                      <a:srgbClr val="FFFFFF"/>
                    </a:solidFill>
                  </a:tcPr>
                </a:tc>
                <a:tc>
                  <a:txBody>
                    <a:bodyPr/>
                    <a:lstStyle/>
                    <a:p>
                      <a:pPr algn="ctr">
                        <a:defRPr sz="1000">
                          <a:latin typeface="Montserrat"/>
                        </a:defRPr>
                      </a:pPr>
                      <a:r>
                        <a:t>2,001</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40.0%</a:t>
                      </a:r>
                    </a:p>
                  </a:txBody>
                  <a:tcPr marL="0" marR="0" marT="0" marB="0">
                    <a:solidFill>
                      <a:srgbClr val="ECD3D9"/>
                    </a:solidFill>
                  </a:tcPr>
                </a:tc>
              </a:tr>
              <a:tr h="151200">
                <a:tc>
                  <a:txBody>
                    <a:bodyPr/>
                    <a:lstStyle/>
                    <a:p>
                      <a:pPr algn="l">
                        <a:defRPr sz="1000">
                          <a:latin typeface="Montserrat"/>
                        </a:defRPr>
                      </a:pPr>
                      <a:r>
                        <a:t>UMF 48 Carlos Carrillo</a:t>
                      </a:r>
                    </a:p>
                  </a:txBody>
                  <a:tcPr marL="0" marR="0" marT="0" marB="0">
                    <a:solidFill>
                      <a:srgbClr val="EFEFEF"/>
                    </a:solidFill>
                  </a:tcPr>
                </a:tc>
                <a:tc>
                  <a:txBody>
                    <a:bodyPr/>
                    <a:lstStyle/>
                    <a:p>
                      <a:pPr algn="ctr">
                        <a:defRPr sz="1000">
                          <a:latin typeface="Montserrat"/>
                        </a:defRPr>
                      </a:pPr>
                      <a:r>
                        <a:t>34,311</a:t>
                      </a:r>
                    </a:p>
                  </a:txBody>
                  <a:tcPr marL="0" marR="0" marT="0" marB="0">
                    <a:solidFill>
                      <a:srgbClr val="EFEFEF"/>
                    </a:solidFill>
                  </a:tcPr>
                </a:tc>
                <a:tc>
                  <a:txBody>
                    <a:bodyPr/>
                    <a:lstStyle/>
                    <a:p>
                      <a:pPr algn="ctr">
                        <a:defRPr sz="1000">
                          <a:latin typeface="Montserrat"/>
                        </a:defRPr>
                      </a:pPr>
                      <a:r>
                        <a:t>5,903</a:t>
                      </a:r>
                    </a:p>
                  </a:txBody>
                  <a:tcPr marL="0" marR="0" marT="0" marB="0">
                    <a:solidFill>
                      <a:srgbClr val="EFEFEF"/>
                    </a:solidFill>
                  </a:tcPr>
                </a:tc>
                <a:tc>
                  <a:txBody>
                    <a:bodyPr/>
                    <a:lstStyle/>
                    <a:p>
                      <a:pPr algn="ctr">
                        <a:defRPr sz="1000">
                          <a:latin typeface="Montserrat"/>
                        </a:defRPr>
                      </a:pPr>
                      <a:r>
                        <a:t>12,514</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33.3%</a:t>
                      </a:r>
                    </a:p>
                  </a:txBody>
                  <a:tcPr marL="0" marR="0" marT="0" marB="0">
                    <a:solidFill>
                      <a:srgbClr val="ECD3D9"/>
                    </a:solidFill>
                  </a:tcPr>
                </a:tc>
              </a:tr>
              <a:tr h="151200">
                <a:tc>
                  <a:txBody>
                    <a:bodyPr/>
                    <a:lstStyle/>
                    <a:p>
                      <a:pPr algn="l">
                        <a:defRPr sz="1000">
                          <a:latin typeface="Montserrat"/>
                        </a:defRPr>
                      </a:pPr>
                      <a:r>
                        <a:t>UMF 30 Piedras Negras</a:t>
                      </a:r>
                    </a:p>
                  </a:txBody>
                  <a:tcPr marL="0" marR="0" marT="0" marB="0">
                    <a:solidFill>
                      <a:srgbClr val="FFFFFF"/>
                    </a:solidFill>
                  </a:tcPr>
                </a:tc>
                <a:tc>
                  <a:txBody>
                    <a:bodyPr/>
                    <a:lstStyle/>
                    <a:p>
                      <a:pPr algn="ctr">
                        <a:defRPr sz="1000">
                          <a:latin typeface="Montserrat"/>
                        </a:defRPr>
                      </a:pPr>
                      <a:r>
                        <a:t>3,231</a:t>
                      </a:r>
                    </a:p>
                  </a:txBody>
                  <a:tcPr marL="0" marR="0" marT="0" marB="0">
                    <a:solidFill>
                      <a:srgbClr val="FFFFFF"/>
                    </a:solidFill>
                  </a:tcPr>
                </a:tc>
                <a:tc>
                  <a:txBody>
                    <a:bodyPr/>
                    <a:lstStyle/>
                    <a:p>
                      <a:pPr algn="ctr">
                        <a:defRPr sz="1000">
                          <a:latin typeface="Montserrat"/>
                        </a:defRPr>
                      </a:pPr>
                      <a:r>
                        <a:t>120</a:t>
                      </a:r>
                    </a:p>
                  </a:txBody>
                  <a:tcPr marL="0" marR="0" marT="0" marB="0">
                    <a:solidFill>
                      <a:srgbClr val="FFFFFF"/>
                    </a:solidFill>
                  </a:tcPr>
                </a:tc>
                <a:tc>
                  <a:txBody>
                    <a:bodyPr/>
                    <a:lstStyle/>
                    <a:p>
                      <a:pPr algn="ctr">
                        <a:defRPr sz="1000">
                          <a:latin typeface="Montserrat"/>
                        </a:defRPr>
                      </a:pPr>
                      <a:r>
                        <a:t>1,282</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25.6%</a:t>
                      </a:r>
                    </a:p>
                  </a:txBody>
                  <a:tcPr marL="0" marR="0" marT="0" marB="0">
                    <a:solidFill>
                      <a:srgbClr val="ECD3D9"/>
                    </a:solidFill>
                  </a:tcPr>
                </a:tc>
              </a:tr>
              <a:tr h="151200">
                <a:tc>
                  <a:txBody>
                    <a:bodyPr/>
                    <a:lstStyle/>
                    <a:p>
                      <a:pPr algn="l">
                        <a:defRPr sz="1000">
                          <a:latin typeface="Montserrat"/>
                        </a:defRPr>
                      </a:pPr>
                      <a:r>
                        <a:t>UMF 27 Papantla</a:t>
                      </a:r>
                    </a:p>
                  </a:txBody>
                  <a:tcPr marL="0" marR="0" marT="0" marB="0">
                    <a:solidFill>
                      <a:srgbClr val="EFEFEF"/>
                    </a:solidFill>
                  </a:tcPr>
                </a:tc>
                <a:tc>
                  <a:txBody>
                    <a:bodyPr/>
                    <a:lstStyle/>
                    <a:p>
                      <a:pPr algn="ctr">
                        <a:defRPr sz="1000">
                          <a:latin typeface="Montserrat"/>
                        </a:defRPr>
                      </a:pPr>
                      <a:r>
                        <a:t>35,112</a:t>
                      </a:r>
                    </a:p>
                  </a:txBody>
                  <a:tcPr marL="0" marR="0" marT="0" marB="0">
                    <a:solidFill>
                      <a:srgbClr val="EFEFEF"/>
                    </a:solidFill>
                  </a:tcPr>
                </a:tc>
                <a:tc>
                  <a:txBody>
                    <a:bodyPr/>
                    <a:lstStyle/>
                    <a:p>
                      <a:pPr algn="ctr">
                        <a:defRPr sz="1000">
                          <a:latin typeface="Montserrat"/>
                        </a:defRPr>
                      </a:pPr>
                      <a:r>
                        <a:t>-53</a:t>
                      </a:r>
                    </a:p>
                  </a:txBody>
                  <a:tcPr marL="0" marR="0" marT="0" marB="0">
                    <a:solidFill>
                      <a:srgbClr val="EFEFEF"/>
                    </a:solidFill>
                  </a:tcPr>
                </a:tc>
                <a:tc>
                  <a:txBody>
                    <a:bodyPr/>
                    <a:lstStyle/>
                    <a:p>
                      <a:pPr algn="ctr">
                        <a:defRPr sz="1000">
                          <a:latin typeface="Montserrat"/>
                        </a:defRPr>
                      </a:pPr>
                      <a:r>
                        <a:t>14,377</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38.3%</a:t>
                      </a:r>
                    </a:p>
                  </a:txBody>
                  <a:tcPr marL="0" marR="0" marT="0" marB="0">
                    <a:solidFill>
                      <a:srgbClr val="ECD3D9"/>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16" name="CuadroTexto 15">
            <a:extLst>
              <a:ext uri="{FF2B5EF4-FFF2-40B4-BE49-F238E27FC236}">
                <a16:creationId xmlns:a16="http://schemas.microsoft.com/office/drawing/2014/main" id="{CA618E1A-8082-4DB6-27D0-4DA2D993C40C}"/>
              </a:ext>
            </a:extLst>
          </p:cNvPr>
          <p:cNvSpPr txBox="1"/>
          <p:nvPr/>
        </p:nvSpPr>
        <p:spPr>
          <a:xfrm>
            <a:off x="4155564" y="4511712"/>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8 Nuevas UMTC con   24 consultorios</a:t>
            </a:r>
          </a:p>
        </p:txBody>
      </p:sp>
      <p:sp>
        <p:nvSpPr>
          <p:cNvPr id="17" name="CuadroTexto 16">
            <a:extLst>
              <a:ext uri="{FF2B5EF4-FFF2-40B4-BE49-F238E27FC236}">
                <a16:creationId xmlns:a16="http://schemas.microsoft.com/office/drawing/2014/main" id="{C08706B3-7097-4F7C-FF49-A79BD9AC0D7D}"/>
              </a:ext>
            </a:extLst>
          </p:cNvPr>
          <p:cNvSpPr txBox="1"/>
          <p:nvPr/>
        </p:nvSpPr>
        <p:spPr>
          <a:xfrm>
            <a:off x="4513272" y="5527375"/>
            <a:ext cx="3006672" cy="1815882"/>
          </a:xfrm>
          <a:prstGeom prst="rect">
            <a:avLst/>
          </a:prstGeom>
          <a:noFill/>
        </p:spPr>
        <p:txBody>
          <a:bodyPr wrap="square">
            <a:spAutoFit/>
          </a:bodyPr>
          <a:lstStyle/>
          <a:p>
            <a:pPr marL="342900" indent="-342900">
              <a:buFont typeface="+mj-lt"/>
              <a:buAutoNum type="arabicParenR"/>
            </a:pPr>
            <a:r>
              <a:rPr lang="es-MX" dirty="0">
                <a:latin typeface="Montserrat" panose="00000500000000000000" pitchFamily="2" charset="0"/>
              </a:rPr>
              <a:t>UMF 27 Papantla</a:t>
            </a:r>
          </a:p>
          <a:p>
            <a:pPr marL="342900" indent="-342900">
              <a:buFont typeface="+mj-lt"/>
              <a:buAutoNum type="arabicParenR"/>
            </a:pPr>
            <a:r>
              <a:rPr lang="es-MX" dirty="0">
                <a:latin typeface="Montserrat" panose="00000500000000000000" pitchFamily="2" charset="0"/>
              </a:rPr>
              <a:t>HGZMF 50 Lerdo Tejada</a:t>
            </a:r>
          </a:p>
          <a:p>
            <a:pPr marL="342900" indent="-342900">
              <a:buFont typeface="+mj-lt"/>
              <a:buAutoNum type="arabicParenR"/>
            </a:pPr>
            <a:r>
              <a:rPr lang="es-MX" dirty="0">
                <a:latin typeface="Montserrat" panose="00000500000000000000" pitchFamily="2" charset="0"/>
              </a:rPr>
              <a:t>UMF 23 S. Rafael</a:t>
            </a:r>
          </a:p>
          <a:p>
            <a:pPr marL="342900" indent="-342900">
              <a:buFont typeface="+mj-lt"/>
              <a:buAutoNum type="arabicParenR"/>
            </a:pPr>
            <a:r>
              <a:rPr lang="es-MX" dirty="0">
                <a:latin typeface="Montserrat" panose="00000500000000000000" pitchFamily="2" charset="0"/>
              </a:rPr>
              <a:t>HGZMF 32 Minatitlán</a:t>
            </a:r>
          </a:p>
          <a:p>
            <a:pPr marL="342900" indent="-342900">
              <a:buFont typeface="+mj-lt"/>
              <a:buAutoNum type="arabicParenR"/>
            </a:pPr>
            <a:r>
              <a:rPr lang="es-MX" dirty="0">
                <a:latin typeface="Montserrat" panose="00000500000000000000" pitchFamily="2" charset="0"/>
              </a:rPr>
              <a:t>UMF 52 Cosoleacaque</a:t>
            </a:r>
          </a:p>
          <a:p>
            <a:pPr marL="342900" indent="-342900">
              <a:buFont typeface="+mj-lt"/>
              <a:buAutoNum type="arabicParenR"/>
            </a:pPr>
            <a:r>
              <a:rPr lang="es-MX" dirty="0">
                <a:latin typeface="Montserrat" panose="00000500000000000000" pitchFamily="2" charset="0"/>
              </a:rPr>
              <a:t>UMF 51 Acayucan</a:t>
            </a:r>
          </a:p>
          <a:p>
            <a:pPr marL="342900" indent="-342900">
              <a:buFont typeface="+mj-lt"/>
              <a:buAutoNum type="arabicParenR"/>
            </a:pPr>
            <a:r>
              <a:rPr lang="es-MX" dirty="0">
                <a:latin typeface="Montserrat" panose="00000500000000000000" pitchFamily="2" charset="0"/>
              </a:rPr>
              <a:t>UMF 6 Ixhuatlancillo</a:t>
            </a:r>
          </a:p>
          <a:p>
            <a:pPr marL="342900" indent="-342900">
              <a:buFont typeface="+mj-lt"/>
              <a:buAutoNum type="arabicParenR"/>
            </a:pPr>
            <a:r>
              <a:rPr lang="es-MX" dirty="0">
                <a:latin typeface="Montserrat" panose="00000500000000000000" pitchFamily="2" charset="0"/>
              </a:rPr>
              <a:t>UMF 56 V. Islas</a:t>
            </a:r>
          </a:p>
        </p:txBody>
      </p:sp>
      <p:sp>
        <p:nvSpPr>
          <p:cNvPr id="18" name="CuadroTexto 17">
            <a:extLst>
              <a:ext uri="{FF2B5EF4-FFF2-40B4-BE49-F238E27FC236}">
                <a16:creationId xmlns:a16="http://schemas.microsoft.com/office/drawing/2014/main" id="{F321BFEE-3133-5F4D-15AF-A5C912F65FA5}"/>
              </a:ext>
            </a:extLst>
          </p:cNvPr>
          <p:cNvSpPr txBox="1"/>
          <p:nvPr/>
        </p:nvSpPr>
        <p:spPr>
          <a:xfrm>
            <a:off x="4086780" y="7361112"/>
            <a:ext cx="3006672" cy="707886"/>
          </a:xfrm>
          <a:prstGeom prst="rect">
            <a:avLst/>
          </a:prstGeom>
          <a:noFill/>
        </p:spPr>
        <p:txBody>
          <a:bodyPr wrap="square">
            <a:spAutoFit/>
          </a:bodyPr>
          <a:lstStyle/>
          <a:p>
            <a:pPr algn="ctr">
              <a:defRPr sz="2000" b="1">
                <a:solidFill>
                  <a:srgbClr val="5B0F00"/>
                </a:solidFill>
                <a:latin typeface="Montserrat"/>
              </a:defRPr>
            </a:pPr>
            <a:r>
              <a:rPr lang="es-MX" dirty="0"/>
              <a:t>Incremento de 15 consultorios en</a:t>
            </a:r>
          </a:p>
        </p:txBody>
      </p:sp>
      <p:sp>
        <p:nvSpPr>
          <p:cNvPr id="19" name="CuadroTexto 18">
            <a:extLst>
              <a:ext uri="{FF2B5EF4-FFF2-40B4-BE49-F238E27FC236}">
                <a16:creationId xmlns:a16="http://schemas.microsoft.com/office/drawing/2014/main" id="{0A06E84B-6187-3F3A-D63E-7E75A2348502}"/>
              </a:ext>
            </a:extLst>
          </p:cNvPr>
          <p:cNvSpPr txBox="1"/>
          <p:nvPr/>
        </p:nvSpPr>
        <p:spPr>
          <a:xfrm>
            <a:off x="4513272" y="8086853"/>
            <a:ext cx="2885991" cy="1384995"/>
          </a:xfrm>
          <a:prstGeom prst="rect">
            <a:avLst/>
          </a:prstGeom>
          <a:noFill/>
        </p:spPr>
        <p:txBody>
          <a:bodyPr wrap="square">
            <a:spAutoFit/>
          </a:bodyPr>
          <a:lstStyle/>
          <a:p>
            <a:pPr marL="342900" indent="-342900">
              <a:buFont typeface="+mj-lt"/>
              <a:buAutoNum type="arabicParenR"/>
            </a:pPr>
            <a:r>
              <a:rPr lang="es-MX" dirty="0">
                <a:latin typeface="Montserrat" panose="00000500000000000000" pitchFamily="2" charset="0"/>
              </a:rPr>
              <a:t>UMF 61 Veracruz</a:t>
            </a:r>
          </a:p>
          <a:p>
            <a:pPr marL="342900" indent="-342900">
              <a:buFont typeface="+mj-lt"/>
              <a:buAutoNum type="arabicParenR"/>
            </a:pPr>
            <a:r>
              <a:rPr lang="es-MX" dirty="0">
                <a:latin typeface="Montserrat" panose="00000500000000000000" pitchFamily="2" charset="0"/>
              </a:rPr>
              <a:t>UMF 57 Veracruz</a:t>
            </a:r>
          </a:p>
          <a:p>
            <a:pPr marL="342900" indent="-342900">
              <a:buFont typeface="+mj-lt"/>
              <a:buAutoNum type="arabicParenR"/>
            </a:pPr>
            <a:r>
              <a:rPr lang="es-MX" dirty="0">
                <a:latin typeface="Montserrat" panose="00000500000000000000" pitchFamily="2" charset="0"/>
              </a:rPr>
              <a:t>UMF 10 Jalapa</a:t>
            </a:r>
          </a:p>
          <a:p>
            <a:pPr marL="342900" indent="-342900">
              <a:buFont typeface="+mj-lt"/>
              <a:buAutoNum type="arabicParenR"/>
            </a:pPr>
            <a:r>
              <a:rPr lang="es-MX" dirty="0">
                <a:latin typeface="Montserrat" panose="00000500000000000000" pitchFamily="2" charset="0"/>
              </a:rPr>
              <a:t>HGZMF 36 José Cardel</a:t>
            </a:r>
          </a:p>
          <a:p>
            <a:pPr marL="342900" indent="-342900">
              <a:buFont typeface="+mj-lt"/>
              <a:buAutoNum type="arabicParenR"/>
            </a:pPr>
            <a:r>
              <a:rPr lang="es-MX" dirty="0">
                <a:latin typeface="Montserrat" panose="00000500000000000000" pitchFamily="2" charset="0"/>
              </a:rPr>
              <a:t>HGSMF 33 S. Andrés Tuxtla</a:t>
            </a:r>
          </a:p>
        </p:txBody>
      </p:sp>
      <p:sp>
        <p:nvSpPr>
          <p:cNvPr id="20" name="TextBox 1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21" name="TextBox 20"/>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104 Unidades de Medicina Familiar</a:t>
            </a:r>
          </a:p>
        </p:txBody>
      </p:sp>
      <p:sp>
        <p:nvSpPr>
          <p:cNvPr id="22" name="TextBox 21"/>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16 Unidades Médicas de tiempo completo (67 consultorios)</a:t>
            </a:r>
          </a:p>
        </p:txBody>
      </p:sp>
      <p:sp>
        <p:nvSpPr>
          <p:cNvPr id="23" name="TextBox 22"/>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24" name="Connector 23"/>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 del 26 de Dic de 2024 al 25 de Dic de 2025).</a:t>
            </a:r>
            <a:br/>
            <a:r>
              <a:t>Corte de información: Semana 21, 17 mayo 2026</a:t>
            </a:r>
          </a:p>
        </p:txBody>
      </p:sp>
      <p:sp>
        <p:nvSpPr>
          <p:cNvPr id="26" name="TextBox 25"/>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(344,028 consultas)</a:t>
            </a:r>
          </a:p>
        </p:txBody>
      </p:sp>
      <p:graphicFrame>
        <p:nvGraphicFramePr>
          <p:cNvPr id="27" name="Table 26"/>
          <p:cNvGraphicFramePr>
            <a:graphicFrameLocks noGrp="1"/>
          </p:cNvGraphicFramePr>
          <p:nvPr/>
        </p:nvGraphicFramePr>
        <p:xfrm>
          <a:off x="151200" y="1695600"/>
          <a:ext cx="7473599" cy="27216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17 Coatepec</a:t>
                      </a:r>
                    </a:p>
                  </a:txBody>
                  <a:tcPr marL="0" marR="0" marT="0" marB="0">
                    <a:solidFill>
                      <a:srgbClr val="FFFFFF"/>
                    </a:solidFill>
                  </a:tcPr>
                </a:tc>
                <a:tc>
                  <a:txBody>
                    <a:bodyPr/>
                    <a:lstStyle/>
                    <a:p>
                      <a:pPr algn="ctr">
                        <a:defRPr sz="1000">
                          <a:solidFill>
                            <a:srgbClr val="000000"/>
                          </a:solidFill>
                          <a:latin typeface="Montserrat"/>
                        </a:defRPr>
                      </a:pPr>
                      <a:r>
                        <a:t>103,334</a:t>
                      </a:r>
                    </a:p>
                  </a:txBody>
                  <a:tcPr marL="0" marR="0" marT="0" marB="0">
                    <a:solidFill>
                      <a:srgbClr val="FFFFFF"/>
                    </a:solidFill>
                  </a:tcPr>
                </a:tc>
                <a:tc>
                  <a:txBody>
                    <a:bodyPr/>
                    <a:lstStyle/>
                    <a:p>
                      <a:pPr algn="ctr">
                        <a:defRPr sz="1000">
                          <a:solidFill>
                            <a:srgbClr val="000000"/>
                          </a:solidFill>
                          <a:latin typeface="Montserrat"/>
                        </a:defRPr>
                      </a:pPr>
                      <a:r>
                        <a:t>16,156</a:t>
                      </a:r>
                    </a:p>
                  </a:txBody>
                  <a:tcPr marL="0" marR="0" marT="0" marB="0">
                    <a:solidFill>
                      <a:srgbClr val="FFFFFF"/>
                    </a:solidFill>
                  </a:tcPr>
                </a:tc>
                <a:tc>
                  <a:txBody>
                    <a:bodyPr/>
                    <a:lstStyle/>
                    <a:p>
                      <a:pPr algn="ctr">
                        <a:defRPr sz="1000">
                          <a:solidFill>
                            <a:srgbClr val="000000"/>
                          </a:solidFill>
                          <a:latin typeface="Montserrat"/>
                        </a:defRPr>
                      </a:pPr>
                      <a:r>
                        <a:t>40,214</a:t>
                      </a:r>
                    </a:p>
                  </a:txBody>
                  <a:tcPr marL="0" marR="0" marT="0" marB="0">
                    <a:solidFill>
                      <a:srgbClr val="ECD3D9"/>
                    </a:solidFill>
                  </a:tcPr>
                </a:tc>
                <a:tc>
                  <a:txBody>
                    <a:bodyPr/>
                    <a:lstStyle/>
                    <a:p>
                      <a:pPr algn="ctr">
                        <a:defRPr sz="1000">
                          <a:solidFill>
                            <a:srgbClr val="000000"/>
                          </a:solidFill>
                          <a:latin typeface="Montserrat"/>
                        </a:defRPr>
                      </a:pPr>
                      <a:r>
                        <a:t>101,000</a:t>
                      </a:r>
                    </a:p>
                  </a:txBody>
                  <a:tcPr marL="0" marR="0" marT="0" marB="0">
                    <a:solidFill>
                      <a:srgbClr val="ECD3D9"/>
                    </a:solidFill>
                  </a:tcPr>
                </a:tc>
                <a:tc>
                  <a:txBody>
                    <a:bodyPr/>
                    <a:lstStyle/>
                    <a:p>
                      <a:pPr algn="ctr">
                        <a:defRPr sz="1000">
                          <a:solidFill>
                            <a:srgbClr val="000000"/>
                          </a:solidFill>
                          <a:latin typeface="Montserrat"/>
                        </a:defRPr>
                      </a:pPr>
                      <a:r>
                        <a:t>39.8%</a:t>
                      </a:r>
                    </a:p>
                  </a:txBody>
                  <a:tcPr marL="0" marR="0" marT="0" marB="0">
                    <a:solidFill>
                      <a:srgbClr val="ECD3D9"/>
                    </a:solidFill>
                  </a:tcPr>
                </a:tc>
              </a:tr>
              <a:tr h="151200">
                <a:tc>
                  <a:txBody>
                    <a:bodyPr/>
                    <a:lstStyle/>
                    <a:p>
                      <a:pPr algn="l">
                        <a:defRPr sz="1000">
                          <a:solidFill>
                            <a:srgbClr val="000000"/>
                          </a:solidFill>
                          <a:latin typeface="Montserrat"/>
                        </a:defRPr>
                      </a:pPr>
                      <a:r>
                        <a:t>UMF 1 Orizaba</a:t>
                      </a:r>
                    </a:p>
                  </a:txBody>
                  <a:tcPr marL="0" marR="0" marT="0" marB="0">
                    <a:solidFill>
                      <a:srgbClr val="EFEFEF"/>
                    </a:solidFill>
                  </a:tcPr>
                </a:tc>
                <a:tc>
                  <a:txBody>
                    <a:bodyPr/>
                    <a:lstStyle/>
                    <a:p>
                      <a:pPr algn="ctr">
                        <a:defRPr sz="1000">
                          <a:solidFill>
                            <a:srgbClr val="000000"/>
                          </a:solidFill>
                          <a:latin typeface="Montserrat"/>
                        </a:defRPr>
                      </a:pPr>
                      <a:r>
                        <a:t>176,712</a:t>
                      </a:r>
                    </a:p>
                  </a:txBody>
                  <a:tcPr marL="0" marR="0" marT="0" marB="0">
                    <a:solidFill>
                      <a:srgbClr val="EFEFEF"/>
                    </a:solidFill>
                  </a:tcPr>
                </a:tc>
                <a:tc>
                  <a:txBody>
                    <a:bodyPr/>
                    <a:lstStyle/>
                    <a:p>
                      <a:pPr algn="ctr">
                        <a:defRPr sz="1000">
                          <a:solidFill>
                            <a:srgbClr val="000000"/>
                          </a:solidFill>
                          <a:latin typeface="Montserrat"/>
                        </a:defRPr>
                      </a:pPr>
                      <a:r>
                        <a:t>26,314</a:t>
                      </a:r>
                    </a:p>
                  </a:txBody>
                  <a:tcPr marL="0" marR="0" marT="0" marB="0">
                    <a:solidFill>
                      <a:srgbClr val="EFEFEF"/>
                    </a:solidFill>
                  </a:tcPr>
                </a:tc>
                <a:tc>
                  <a:txBody>
                    <a:bodyPr/>
                    <a:lstStyle/>
                    <a:p>
                      <a:pPr algn="ctr">
                        <a:defRPr sz="1000">
                          <a:solidFill>
                            <a:srgbClr val="000000"/>
                          </a:solidFill>
                          <a:latin typeface="Montserrat"/>
                        </a:defRPr>
                      </a:pPr>
                      <a:r>
                        <a:t>67,102</a:t>
                      </a:r>
                    </a:p>
                  </a:txBody>
                  <a:tcPr marL="0" marR="0" marT="0" marB="0">
                    <a:solidFill>
                      <a:srgbClr val="ECD3D9"/>
                    </a:solidFill>
                  </a:tcPr>
                </a:tc>
                <a:tc>
                  <a:txBody>
                    <a:bodyPr/>
                    <a:lstStyle/>
                    <a:p>
                      <a:pPr algn="ctr">
                        <a:defRPr sz="1000">
                          <a:solidFill>
                            <a:srgbClr val="000000"/>
                          </a:solidFill>
                          <a:latin typeface="Montserrat"/>
                        </a:defRPr>
                      </a:pPr>
                      <a:r>
                        <a:t>170,000</a:t>
                      </a:r>
                    </a:p>
                  </a:txBody>
                  <a:tcPr marL="0" marR="0" marT="0" marB="0">
                    <a:solidFill>
                      <a:srgbClr val="ECD3D9"/>
                    </a:solidFill>
                  </a:tcPr>
                </a:tc>
                <a:tc>
                  <a:txBody>
                    <a:bodyPr/>
                    <a:lstStyle/>
                    <a:p>
                      <a:pPr algn="ctr">
                        <a:defRPr sz="1000">
                          <a:solidFill>
                            <a:srgbClr val="000000"/>
                          </a:solidFill>
                          <a:latin typeface="Montserrat"/>
                        </a:defRPr>
                      </a:pPr>
                      <a:r>
                        <a:t>39.5%</a:t>
                      </a:r>
                    </a:p>
                  </a:txBody>
                  <a:tcPr marL="0" marR="0" marT="0" marB="0">
                    <a:solidFill>
                      <a:srgbClr val="ECD3D9"/>
                    </a:solidFill>
                  </a:tcPr>
                </a:tc>
              </a:tr>
              <a:tr h="151200">
                <a:tc>
                  <a:txBody>
                    <a:bodyPr/>
                    <a:lstStyle/>
                    <a:p>
                      <a:pPr algn="l">
                        <a:defRPr sz="1000">
                          <a:solidFill>
                            <a:srgbClr val="000000"/>
                          </a:solidFill>
                          <a:latin typeface="Montserrat"/>
                        </a:defRPr>
                      </a:pPr>
                      <a:r>
                        <a:t>UMF 57 Veracruz</a:t>
                      </a:r>
                    </a:p>
                  </a:txBody>
                  <a:tcPr marL="0" marR="0" marT="0" marB="0">
                    <a:solidFill>
                      <a:srgbClr val="FFFFFF"/>
                    </a:solidFill>
                  </a:tcPr>
                </a:tc>
                <a:tc>
                  <a:txBody>
                    <a:bodyPr/>
                    <a:lstStyle/>
                    <a:p>
                      <a:pPr algn="ctr">
                        <a:defRPr sz="1000">
                          <a:solidFill>
                            <a:srgbClr val="000000"/>
                          </a:solidFill>
                          <a:latin typeface="Montserrat"/>
                        </a:defRPr>
                      </a:pPr>
                      <a:r>
                        <a:t>323,635</a:t>
                      </a:r>
                    </a:p>
                  </a:txBody>
                  <a:tcPr marL="0" marR="0" marT="0" marB="0">
                    <a:solidFill>
                      <a:srgbClr val="FFFFFF"/>
                    </a:solidFill>
                  </a:tcPr>
                </a:tc>
                <a:tc>
                  <a:txBody>
                    <a:bodyPr/>
                    <a:lstStyle/>
                    <a:p>
                      <a:pPr algn="ctr">
                        <a:defRPr sz="1000">
                          <a:solidFill>
                            <a:srgbClr val="000000"/>
                          </a:solidFill>
                          <a:latin typeface="Montserrat"/>
                        </a:defRPr>
                      </a:pPr>
                      <a:r>
                        <a:t>7,063</a:t>
                      </a:r>
                    </a:p>
                  </a:txBody>
                  <a:tcPr marL="0" marR="0" marT="0" marB="0">
                    <a:solidFill>
                      <a:srgbClr val="FFFFFF"/>
                    </a:solidFill>
                  </a:tcPr>
                </a:tc>
                <a:tc>
                  <a:txBody>
                    <a:bodyPr/>
                    <a:lstStyle/>
                    <a:p>
                      <a:pPr algn="ctr">
                        <a:defRPr sz="1000">
                          <a:solidFill>
                            <a:srgbClr val="000000"/>
                          </a:solidFill>
                          <a:latin typeface="Montserrat"/>
                        </a:defRPr>
                      </a:pPr>
                      <a:r>
                        <a:t>120,800</a:t>
                      </a:r>
                    </a:p>
                  </a:txBody>
                  <a:tcPr marL="0" marR="0" marT="0" marB="0">
                    <a:solidFill>
                      <a:srgbClr val="ECD3D9"/>
                    </a:solidFill>
                  </a:tcPr>
                </a:tc>
                <a:tc>
                  <a:txBody>
                    <a:bodyPr/>
                    <a:lstStyle/>
                    <a:p>
                      <a:pPr algn="ctr">
                        <a:defRPr sz="1000">
                          <a:solidFill>
                            <a:srgbClr val="000000"/>
                          </a:solidFill>
                          <a:latin typeface="Montserrat"/>
                        </a:defRPr>
                      </a:pPr>
                      <a:r>
                        <a:t>330,624</a:t>
                      </a:r>
                    </a:p>
                  </a:txBody>
                  <a:tcPr marL="0" marR="0" marT="0" marB="0">
                    <a:solidFill>
                      <a:srgbClr val="ECD3D9"/>
                    </a:solidFill>
                  </a:tcPr>
                </a:tc>
                <a:tc>
                  <a:txBody>
                    <a:bodyPr/>
                    <a:lstStyle/>
                    <a:p>
                      <a:pPr algn="ctr">
                        <a:defRPr sz="1000">
                          <a:solidFill>
                            <a:srgbClr val="000000"/>
                          </a:solidFill>
                          <a:latin typeface="Montserrat"/>
                        </a:defRPr>
                      </a:pPr>
                      <a:r>
                        <a:t>36.5%</a:t>
                      </a:r>
                    </a:p>
                  </a:txBody>
                  <a:tcPr marL="0" marR="0" marT="0" marB="0">
                    <a:solidFill>
                      <a:srgbClr val="ECD3D9"/>
                    </a:solidFill>
                  </a:tcPr>
                </a:tc>
              </a:tr>
              <a:tr h="151200">
                <a:tc>
                  <a:txBody>
                    <a:bodyPr/>
                    <a:lstStyle/>
                    <a:p>
                      <a:pPr algn="l">
                        <a:defRPr sz="1000">
                          <a:solidFill>
                            <a:srgbClr val="000000"/>
                          </a:solidFill>
                          <a:latin typeface="Montserrat"/>
                        </a:defRPr>
                      </a:pPr>
                      <a:r>
                        <a:t>UMF 40 Manlio Fabio Altamirano</a:t>
                      </a:r>
                    </a:p>
                  </a:txBody>
                  <a:tcPr marL="0" marR="0" marT="0" marB="0">
                    <a:solidFill>
                      <a:srgbClr val="EFEFEF"/>
                    </a:solidFill>
                  </a:tcPr>
                </a:tc>
                <a:tc>
                  <a:txBody>
                    <a:bodyPr/>
                    <a:lstStyle/>
                    <a:p>
                      <a:pPr algn="ctr">
                        <a:defRPr sz="1000">
                          <a:solidFill>
                            <a:srgbClr val="000000"/>
                          </a:solidFill>
                          <a:latin typeface="Montserrat"/>
                        </a:defRPr>
                      </a:pPr>
                      <a:r>
                        <a:t>27,880</a:t>
                      </a:r>
                    </a:p>
                  </a:txBody>
                  <a:tcPr marL="0" marR="0" marT="0" marB="0">
                    <a:solidFill>
                      <a:srgbClr val="EFEFEF"/>
                    </a:solidFill>
                  </a:tcPr>
                </a:tc>
                <a:tc>
                  <a:txBody>
                    <a:bodyPr/>
                    <a:lstStyle/>
                    <a:p>
                      <a:pPr algn="ctr">
                        <a:defRPr sz="1000">
                          <a:solidFill>
                            <a:srgbClr val="000000"/>
                          </a:solidFill>
                          <a:latin typeface="Montserrat"/>
                        </a:defRPr>
                      </a:pPr>
                      <a:r>
                        <a:t>4,822</a:t>
                      </a:r>
                    </a:p>
                  </a:txBody>
                  <a:tcPr marL="0" marR="0" marT="0" marB="0">
                    <a:solidFill>
                      <a:srgbClr val="EFEFEF"/>
                    </a:solidFill>
                  </a:tcPr>
                </a:tc>
                <a:tc>
                  <a:txBody>
                    <a:bodyPr/>
                    <a:lstStyle/>
                    <a:p>
                      <a:pPr algn="ctr">
                        <a:defRPr sz="1000">
                          <a:solidFill>
                            <a:srgbClr val="000000"/>
                          </a:solidFill>
                          <a:latin typeface="Montserrat"/>
                        </a:defRPr>
                      </a:pPr>
                      <a:r>
                        <a:t>12,304</a:t>
                      </a:r>
                    </a:p>
                  </a:txBody>
                  <a:tcPr marL="0" marR="0" marT="0" marB="0">
                    <a:solidFill>
                      <a:srgbClr val="ECD3D9"/>
                    </a:solidFill>
                  </a:tcPr>
                </a:tc>
                <a:tc>
                  <a:txBody>
                    <a:bodyPr/>
                    <a:lstStyle/>
                    <a:p>
                      <a:pPr algn="ctr">
                        <a:defRPr sz="1000">
                          <a:solidFill>
                            <a:srgbClr val="000000"/>
                          </a:solidFill>
                          <a:latin typeface="Montserrat"/>
                        </a:defRPr>
                      </a:pPr>
                      <a:r>
                        <a:t>27,000</a:t>
                      </a:r>
                    </a:p>
                  </a:txBody>
                  <a:tcPr marL="0" marR="0" marT="0" marB="0">
                    <a:solidFill>
                      <a:srgbClr val="ECD3D9"/>
                    </a:solidFill>
                  </a:tcPr>
                </a:tc>
                <a:tc>
                  <a:txBody>
                    <a:bodyPr/>
                    <a:lstStyle/>
                    <a:p>
                      <a:pPr algn="ctr">
                        <a:defRPr sz="1000">
                          <a:solidFill>
                            <a:srgbClr val="000000"/>
                          </a:solidFill>
                          <a:latin typeface="Montserrat"/>
                        </a:defRPr>
                      </a:pPr>
                      <a:r>
                        <a:t>45.6%</a:t>
                      </a:r>
                    </a:p>
                  </a:txBody>
                  <a:tcPr marL="0" marR="0" marT="0" marB="0">
                    <a:solidFill>
                      <a:srgbClr val="ECD3D9"/>
                    </a:solidFill>
                  </a:tcPr>
                </a:tc>
              </a:tr>
              <a:tr h="151200">
                <a:tc>
                  <a:txBody>
                    <a:bodyPr/>
                    <a:lstStyle/>
                    <a:p>
                      <a:pPr algn="l">
                        <a:defRPr sz="1000">
                          <a:solidFill>
                            <a:srgbClr val="000000"/>
                          </a:solidFill>
                          <a:latin typeface="Montserrat"/>
                        </a:defRPr>
                      </a:pPr>
                      <a:r>
                        <a:t>UMF 47 Alamo</a:t>
                      </a:r>
                    </a:p>
                  </a:txBody>
                  <a:tcPr marL="0" marR="0" marT="0" marB="0">
                    <a:solidFill>
                      <a:srgbClr val="FFFFFF"/>
                    </a:solidFill>
                  </a:tcPr>
                </a:tc>
                <a:tc>
                  <a:txBody>
                    <a:bodyPr/>
                    <a:lstStyle/>
                    <a:p>
                      <a:pPr algn="ctr">
                        <a:defRPr sz="1000">
                          <a:solidFill>
                            <a:srgbClr val="000000"/>
                          </a:solidFill>
                          <a:latin typeface="Montserrat"/>
                        </a:defRPr>
                      </a:pPr>
                      <a:r>
                        <a:t>25,663</a:t>
                      </a:r>
                    </a:p>
                  </a:txBody>
                  <a:tcPr marL="0" marR="0" marT="0" marB="0">
                    <a:solidFill>
                      <a:srgbClr val="FFFFFF"/>
                    </a:solidFill>
                  </a:tcPr>
                </a:tc>
                <a:tc>
                  <a:txBody>
                    <a:bodyPr/>
                    <a:lstStyle/>
                    <a:p>
                      <a:pPr algn="ctr">
                        <a:defRPr sz="1000">
                          <a:solidFill>
                            <a:srgbClr val="000000"/>
                          </a:solidFill>
                          <a:latin typeface="Montserrat"/>
                        </a:defRPr>
                      </a:pPr>
                      <a:r>
                        <a:t>1,530</a:t>
                      </a:r>
                    </a:p>
                  </a:txBody>
                  <a:tcPr marL="0" marR="0" marT="0" marB="0">
                    <a:solidFill>
                      <a:srgbClr val="FFFFFF"/>
                    </a:solidFill>
                  </a:tcPr>
                </a:tc>
                <a:tc>
                  <a:txBody>
                    <a:bodyPr/>
                    <a:lstStyle/>
                    <a:p>
                      <a:pPr algn="ctr">
                        <a:defRPr sz="1000">
                          <a:solidFill>
                            <a:srgbClr val="000000"/>
                          </a:solidFill>
                          <a:latin typeface="Montserrat"/>
                        </a:defRPr>
                      </a:pPr>
                      <a:r>
                        <a:t>11,735</a:t>
                      </a:r>
                    </a:p>
                  </a:txBody>
                  <a:tcPr marL="0" marR="0" marT="0" marB="0">
                    <a:solidFill>
                      <a:srgbClr val="ECD3D9"/>
                    </a:solidFill>
                  </a:tcPr>
                </a:tc>
                <a:tc>
                  <a:txBody>
                    <a:bodyPr/>
                    <a:lstStyle/>
                    <a:p>
                      <a:pPr algn="ctr">
                        <a:defRPr sz="1000">
                          <a:solidFill>
                            <a:srgbClr val="000000"/>
                          </a:solidFill>
                          <a:latin typeface="Montserrat"/>
                        </a:defRPr>
                      </a:pPr>
                      <a:r>
                        <a:t>25,056</a:t>
                      </a:r>
                    </a:p>
                  </a:txBody>
                  <a:tcPr marL="0" marR="0" marT="0" marB="0">
                    <a:solidFill>
                      <a:srgbClr val="ECD3D9"/>
                    </a:solidFill>
                  </a:tcPr>
                </a:tc>
                <a:tc>
                  <a:txBody>
                    <a:bodyPr/>
                    <a:lstStyle/>
                    <a:p>
                      <a:pPr algn="ctr">
                        <a:defRPr sz="1000">
                          <a:solidFill>
                            <a:srgbClr val="000000"/>
                          </a:solidFill>
                          <a:latin typeface="Montserrat"/>
                        </a:defRPr>
                      </a:pPr>
                      <a:r>
                        <a:t>46.8%</a:t>
                      </a:r>
                    </a:p>
                  </a:txBody>
                  <a:tcPr marL="0" marR="0" marT="0" marB="0">
                    <a:solidFill>
                      <a:srgbClr val="ECD3D9"/>
                    </a:solidFill>
                  </a:tcPr>
                </a:tc>
              </a:tr>
              <a:tr h="151200">
                <a:tc>
                  <a:txBody>
                    <a:bodyPr/>
                    <a:lstStyle/>
                    <a:p>
                      <a:pPr algn="l">
                        <a:defRPr sz="1000">
                          <a:solidFill>
                            <a:srgbClr val="000000"/>
                          </a:solidFill>
                          <a:latin typeface="Montserrat"/>
                        </a:defRPr>
                      </a:pPr>
                      <a:r>
                        <a:t>UMF 66 Jalapa</a:t>
                      </a:r>
                    </a:p>
                  </a:txBody>
                  <a:tcPr marL="0" marR="0" marT="0" marB="0">
                    <a:solidFill>
                      <a:srgbClr val="EFEFEF"/>
                    </a:solidFill>
                  </a:tcPr>
                </a:tc>
                <a:tc>
                  <a:txBody>
                    <a:bodyPr/>
                    <a:lstStyle/>
                    <a:p>
                      <a:pPr algn="ctr">
                        <a:defRPr sz="1000">
                          <a:solidFill>
                            <a:srgbClr val="000000"/>
                          </a:solidFill>
                          <a:latin typeface="Montserrat"/>
                        </a:defRPr>
                      </a:pPr>
                      <a:r>
                        <a:t>393,737</a:t>
                      </a:r>
                    </a:p>
                  </a:txBody>
                  <a:tcPr marL="0" marR="0" marT="0" marB="0">
                    <a:solidFill>
                      <a:srgbClr val="EFEFEF"/>
                    </a:solidFill>
                  </a:tcPr>
                </a:tc>
                <a:tc>
                  <a:txBody>
                    <a:bodyPr/>
                    <a:lstStyle/>
                    <a:p>
                      <a:pPr algn="ctr">
                        <a:defRPr sz="1000">
                          <a:solidFill>
                            <a:srgbClr val="000000"/>
                          </a:solidFill>
                          <a:latin typeface="Montserrat"/>
                        </a:defRPr>
                      </a:pPr>
                      <a:r>
                        <a:t>4,103</a:t>
                      </a:r>
                    </a:p>
                  </a:txBody>
                  <a:tcPr marL="0" marR="0" marT="0" marB="0">
                    <a:solidFill>
                      <a:srgbClr val="EFEFEF"/>
                    </a:solidFill>
                  </a:tcPr>
                </a:tc>
                <a:tc>
                  <a:txBody>
                    <a:bodyPr/>
                    <a:lstStyle/>
                    <a:p>
                      <a:pPr algn="ctr">
                        <a:defRPr sz="1000">
                          <a:solidFill>
                            <a:srgbClr val="000000"/>
                          </a:solidFill>
                          <a:latin typeface="Montserrat"/>
                        </a:defRPr>
                      </a:pPr>
                      <a:r>
                        <a:t>151,847</a:t>
                      </a:r>
                    </a:p>
                  </a:txBody>
                  <a:tcPr marL="0" marR="0" marT="0" marB="0">
                    <a:solidFill>
                      <a:srgbClr val="ECD3D9"/>
                    </a:solidFill>
                  </a:tcPr>
                </a:tc>
                <a:tc>
                  <a:txBody>
                    <a:bodyPr/>
                    <a:lstStyle/>
                    <a:p>
                      <a:pPr algn="ctr">
                        <a:defRPr sz="1000">
                          <a:solidFill>
                            <a:srgbClr val="000000"/>
                          </a:solidFill>
                          <a:latin typeface="Montserrat"/>
                        </a:defRPr>
                      </a:pPr>
                      <a:r>
                        <a:t>385,728</a:t>
                      </a:r>
                    </a:p>
                  </a:txBody>
                  <a:tcPr marL="0" marR="0" marT="0" marB="0">
                    <a:solidFill>
                      <a:srgbClr val="ECD3D9"/>
                    </a:solidFill>
                  </a:tcPr>
                </a:tc>
                <a:tc>
                  <a:txBody>
                    <a:bodyPr/>
                    <a:lstStyle/>
                    <a:p>
                      <a:pPr algn="ctr">
                        <a:defRPr sz="1000">
                          <a:solidFill>
                            <a:srgbClr val="000000"/>
                          </a:solidFill>
                          <a:latin typeface="Montserrat"/>
                        </a:defRPr>
                      </a:pPr>
                      <a:r>
                        <a:t>39.4%</a:t>
                      </a:r>
                    </a:p>
                  </a:txBody>
                  <a:tcPr marL="0" marR="0" marT="0" marB="0">
                    <a:solidFill>
                      <a:srgbClr val="ECD3D9"/>
                    </a:solidFill>
                  </a:tcPr>
                </a:tc>
              </a:tr>
              <a:tr h="151200">
                <a:tc>
                  <a:txBody>
                    <a:bodyPr/>
                    <a:lstStyle/>
                    <a:p>
                      <a:pPr algn="l">
                        <a:defRPr sz="1000">
                          <a:solidFill>
                            <a:srgbClr val="000000"/>
                          </a:solidFill>
                          <a:latin typeface="Montserrat"/>
                        </a:defRPr>
                      </a:pPr>
                      <a:r>
                        <a:t>UMF 61 Veracruz</a:t>
                      </a:r>
                    </a:p>
                  </a:txBody>
                  <a:tcPr marL="0" marR="0" marT="0" marB="0">
                    <a:solidFill>
                      <a:srgbClr val="FFFFFF"/>
                    </a:solidFill>
                  </a:tcPr>
                </a:tc>
                <a:tc>
                  <a:txBody>
                    <a:bodyPr/>
                    <a:lstStyle/>
                    <a:p>
                      <a:pPr algn="ctr">
                        <a:defRPr sz="1000">
                          <a:solidFill>
                            <a:srgbClr val="000000"/>
                          </a:solidFill>
                          <a:latin typeface="Montserrat"/>
                        </a:defRPr>
                      </a:pPr>
                      <a:r>
                        <a:t>316,872</a:t>
                      </a:r>
                    </a:p>
                  </a:txBody>
                  <a:tcPr marL="0" marR="0" marT="0" marB="0">
                    <a:solidFill>
                      <a:srgbClr val="FFFFFF"/>
                    </a:solidFill>
                  </a:tcPr>
                </a:tc>
                <a:tc>
                  <a:txBody>
                    <a:bodyPr/>
                    <a:lstStyle/>
                    <a:p>
                      <a:pPr algn="ctr">
                        <a:defRPr sz="1000">
                          <a:solidFill>
                            <a:srgbClr val="000000"/>
                          </a:solidFill>
                          <a:latin typeface="Montserrat"/>
                        </a:defRPr>
                      </a:pPr>
                      <a:r>
                        <a:t>5,277</a:t>
                      </a:r>
                    </a:p>
                  </a:txBody>
                  <a:tcPr marL="0" marR="0" marT="0" marB="0">
                    <a:solidFill>
                      <a:srgbClr val="FFFFFF"/>
                    </a:solidFill>
                  </a:tcPr>
                </a:tc>
                <a:tc>
                  <a:txBody>
                    <a:bodyPr/>
                    <a:lstStyle/>
                    <a:p>
                      <a:pPr algn="ctr">
                        <a:defRPr sz="1000">
                          <a:solidFill>
                            <a:srgbClr val="000000"/>
                          </a:solidFill>
                          <a:latin typeface="Montserrat"/>
                        </a:defRPr>
                      </a:pPr>
                      <a:r>
                        <a:t>120,717</a:t>
                      </a:r>
                    </a:p>
                  </a:txBody>
                  <a:tcPr marL="0" marR="0" marT="0" marB="0">
                    <a:solidFill>
                      <a:srgbClr val="ECD3D9"/>
                    </a:solidFill>
                  </a:tcPr>
                </a:tc>
                <a:tc>
                  <a:txBody>
                    <a:bodyPr/>
                    <a:lstStyle/>
                    <a:p>
                      <a:pPr algn="ctr">
                        <a:defRPr sz="1000">
                          <a:solidFill>
                            <a:srgbClr val="000000"/>
                          </a:solidFill>
                          <a:latin typeface="Montserrat"/>
                        </a:defRPr>
                      </a:pPr>
                      <a:r>
                        <a:t>308,000</a:t>
                      </a:r>
                    </a:p>
                  </a:txBody>
                  <a:tcPr marL="0" marR="0" marT="0" marB="0">
                    <a:solidFill>
                      <a:srgbClr val="ECD3D9"/>
                    </a:solidFill>
                  </a:tcPr>
                </a:tc>
                <a:tc>
                  <a:txBody>
                    <a:bodyPr/>
                    <a:lstStyle/>
                    <a:p>
                      <a:pPr algn="ctr">
                        <a:defRPr sz="1000">
                          <a:solidFill>
                            <a:srgbClr val="000000"/>
                          </a:solidFill>
                          <a:latin typeface="Montserrat"/>
                        </a:defRPr>
                      </a:pPr>
                      <a:r>
                        <a:t>39.2%</a:t>
                      </a:r>
                    </a:p>
                  </a:txBody>
                  <a:tcPr marL="0" marR="0" marT="0" marB="0">
                    <a:solidFill>
                      <a:srgbClr val="ECD3D9"/>
                    </a:solidFill>
                  </a:tcPr>
                </a:tc>
              </a:tr>
              <a:tr h="151200">
                <a:tc>
                  <a:txBody>
                    <a:bodyPr/>
                    <a:lstStyle/>
                    <a:p>
                      <a:pPr algn="l">
                        <a:defRPr sz="1000">
                          <a:solidFill>
                            <a:srgbClr val="000000"/>
                          </a:solidFill>
                          <a:latin typeface="Montserrat"/>
                        </a:defRPr>
                      </a:pPr>
                      <a:r>
                        <a:t>UMF 61 Córdoba</a:t>
                      </a:r>
                    </a:p>
                  </a:txBody>
                  <a:tcPr marL="0" marR="0" marT="0" marB="0">
                    <a:solidFill>
                      <a:srgbClr val="EFEFEF"/>
                    </a:solidFill>
                  </a:tcPr>
                </a:tc>
                <a:tc>
                  <a:txBody>
                    <a:bodyPr/>
                    <a:lstStyle/>
                    <a:p>
                      <a:pPr algn="ctr">
                        <a:defRPr sz="1000">
                          <a:solidFill>
                            <a:srgbClr val="000000"/>
                          </a:solidFill>
                          <a:latin typeface="Montserrat"/>
                        </a:defRPr>
                      </a:pPr>
                      <a:r>
                        <a:t>228,459</a:t>
                      </a:r>
                    </a:p>
                  </a:txBody>
                  <a:tcPr marL="0" marR="0" marT="0" marB="0">
                    <a:solidFill>
                      <a:srgbClr val="EFEFEF"/>
                    </a:solidFill>
                  </a:tcPr>
                </a:tc>
                <a:tc>
                  <a:txBody>
                    <a:bodyPr/>
                    <a:lstStyle/>
                    <a:p>
                      <a:pPr algn="ctr">
                        <a:defRPr sz="1000">
                          <a:solidFill>
                            <a:srgbClr val="000000"/>
                          </a:solidFill>
                          <a:latin typeface="Montserrat"/>
                        </a:defRPr>
                      </a:pPr>
                      <a:r>
                        <a:t>36,640</a:t>
                      </a:r>
                    </a:p>
                  </a:txBody>
                  <a:tcPr marL="0" marR="0" marT="0" marB="0">
                    <a:solidFill>
                      <a:srgbClr val="EFEFEF"/>
                    </a:solidFill>
                  </a:tcPr>
                </a:tc>
                <a:tc>
                  <a:txBody>
                    <a:bodyPr/>
                    <a:lstStyle/>
                    <a:p>
                      <a:pPr algn="ctr">
                        <a:defRPr sz="1000">
                          <a:solidFill>
                            <a:srgbClr val="000000"/>
                          </a:solidFill>
                          <a:latin typeface="Montserrat"/>
                        </a:defRPr>
                      </a:pPr>
                      <a:r>
                        <a:t>90,130</a:t>
                      </a:r>
                    </a:p>
                  </a:txBody>
                  <a:tcPr marL="0" marR="0" marT="0" marB="0">
                    <a:solidFill>
                      <a:srgbClr val="ECD3D9"/>
                    </a:solidFill>
                  </a:tcPr>
                </a:tc>
                <a:tc>
                  <a:txBody>
                    <a:bodyPr/>
                    <a:lstStyle/>
                    <a:p>
                      <a:pPr algn="ctr">
                        <a:defRPr sz="1000">
                          <a:solidFill>
                            <a:srgbClr val="000000"/>
                          </a:solidFill>
                          <a:latin typeface="Montserrat"/>
                        </a:defRPr>
                      </a:pPr>
                      <a:r>
                        <a:t>217,000</a:t>
                      </a:r>
                    </a:p>
                  </a:txBody>
                  <a:tcPr marL="0" marR="0" marT="0" marB="0">
                    <a:solidFill>
                      <a:srgbClr val="ECD3D9"/>
                    </a:solidFill>
                  </a:tcPr>
                </a:tc>
                <a:tc>
                  <a:txBody>
                    <a:bodyPr/>
                    <a:lstStyle/>
                    <a:p>
                      <a:pPr algn="ctr">
                        <a:defRPr sz="1000">
                          <a:solidFill>
                            <a:srgbClr val="000000"/>
                          </a:solidFill>
                          <a:latin typeface="Montserrat"/>
                        </a:defRPr>
                      </a:pPr>
                      <a:r>
                        <a:t>41.5%</a:t>
                      </a:r>
                    </a:p>
                  </a:txBody>
                  <a:tcPr marL="0" marR="0" marT="0" marB="0">
                    <a:solidFill>
                      <a:srgbClr val="ECD3D9"/>
                    </a:solidFill>
                  </a:tcPr>
                </a:tc>
              </a:tr>
              <a:tr h="151200">
                <a:tc>
                  <a:txBody>
                    <a:bodyPr/>
                    <a:lstStyle/>
                    <a:p>
                      <a:pPr algn="l">
                        <a:defRPr sz="1000">
                          <a:solidFill>
                            <a:srgbClr val="000000"/>
                          </a:solidFill>
                          <a:latin typeface="Montserrat"/>
                        </a:defRPr>
                      </a:pPr>
                      <a:r>
                        <a:t>UMF 10 Jalapa</a:t>
                      </a:r>
                    </a:p>
                  </a:txBody>
                  <a:tcPr marL="0" marR="0" marT="0" marB="0">
                    <a:solidFill>
                      <a:srgbClr val="FFFFFF"/>
                    </a:solidFill>
                  </a:tcPr>
                </a:tc>
                <a:tc>
                  <a:txBody>
                    <a:bodyPr/>
                    <a:lstStyle/>
                    <a:p>
                      <a:pPr algn="ctr">
                        <a:defRPr sz="1000">
                          <a:solidFill>
                            <a:srgbClr val="000000"/>
                          </a:solidFill>
                          <a:latin typeface="Montserrat"/>
                        </a:defRPr>
                      </a:pPr>
                      <a:r>
                        <a:t>183,187</a:t>
                      </a:r>
                    </a:p>
                  </a:txBody>
                  <a:tcPr marL="0" marR="0" marT="0" marB="0">
                    <a:solidFill>
                      <a:srgbClr val="FFFFFF"/>
                    </a:solidFill>
                  </a:tcPr>
                </a:tc>
                <a:tc>
                  <a:txBody>
                    <a:bodyPr/>
                    <a:lstStyle/>
                    <a:p>
                      <a:pPr algn="ctr">
                        <a:defRPr sz="1000">
                          <a:solidFill>
                            <a:srgbClr val="000000"/>
                          </a:solidFill>
                          <a:latin typeface="Montserrat"/>
                        </a:defRPr>
                      </a:pPr>
                      <a:r>
                        <a:t>1,606</a:t>
                      </a:r>
                    </a:p>
                  </a:txBody>
                  <a:tcPr marL="0" marR="0" marT="0" marB="0">
                    <a:solidFill>
                      <a:srgbClr val="FFFFFF"/>
                    </a:solidFill>
                  </a:tcPr>
                </a:tc>
                <a:tc>
                  <a:txBody>
                    <a:bodyPr/>
                    <a:lstStyle/>
                    <a:p>
                      <a:pPr algn="ctr">
                        <a:defRPr sz="1000">
                          <a:solidFill>
                            <a:srgbClr val="000000"/>
                          </a:solidFill>
                          <a:latin typeface="Montserrat"/>
                        </a:defRPr>
                      </a:pPr>
                      <a:r>
                        <a:t>71,659</a:t>
                      </a:r>
                    </a:p>
                  </a:txBody>
                  <a:tcPr marL="0" marR="0" marT="0" marB="0">
                    <a:solidFill>
                      <a:srgbClr val="ECD3D9"/>
                    </a:solidFill>
                  </a:tcPr>
                </a:tc>
                <a:tc>
                  <a:txBody>
                    <a:bodyPr/>
                    <a:lstStyle/>
                    <a:p>
                      <a:pPr algn="ctr">
                        <a:defRPr sz="1000">
                          <a:solidFill>
                            <a:srgbClr val="000000"/>
                          </a:solidFill>
                          <a:latin typeface="Montserrat"/>
                        </a:defRPr>
                      </a:pPr>
                      <a:r>
                        <a:t>178,000</a:t>
                      </a:r>
                    </a:p>
                  </a:txBody>
                  <a:tcPr marL="0" marR="0" marT="0" marB="0">
                    <a:solidFill>
                      <a:srgbClr val="ECD3D9"/>
                    </a:solidFill>
                  </a:tcPr>
                </a:tc>
                <a:tc>
                  <a:txBody>
                    <a:bodyPr/>
                    <a:lstStyle/>
                    <a:p>
                      <a:pPr algn="ctr">
                        <a:defRPr sz="1000">
                          <a:solidFill>
                            <a:srgbClr val="000000"/>
                          </a:solidFill>
                          <a:latin typeface="Montserrat"/>
                        </a:defRPr>
                      </a:pPr>
                      <a:r>
                        <a:t>40.3%</a:t>
                      </a:r>
                    </a:p>
                  </a:txBody>
                  <a:tcPr marL="0" marR="0" marT="0" marB="0">
                    <a:solidFill>
                      <a:srgbClr val="ECD3D9"/>
                    </a:solidFill>
                  </a:tcPr>
                </a:tc>
              </a:tr>
              <a:tr h="151200">
                <a:tc>
                  <a:txBody>
                    <a:bodyPr/>
                    <a:lstStyle/>
                    <a:p>
                      <a:pPr algn="l">
                        <a:defRPr sz="1000">
                          <a:solidFill>
                            <a:srgbClr val="000000"/>
                          </a:solidFill>
                          <a:latin typeface="Montserrat"/>
                        </a:defRPr>
                      </a:pPr>
                      <a:r>
                        <a:t>UMF 52 Naranjos</a:t>
                      </a:r>
                    </a:p>
                  </a:txBody>
                  <a:tcPr marL="0" marR="0" marT="0" marB="0">
                    <a:solidFill>
                      <a:srgbClr val="EFEFEF"/>
                    </a:solidFill>
                  </a:tcPr>
                </a:tc>
                <a:tc>
                  <a:txBody>
                    <a:bodyPr/>
                    <a:lstStyle/>
                    <a:p>
                      <a:pPr algn="ctr">
                        <a:defRPr sz="1000">
                          <a:solidFill>
                            <a:srgbClr val="000000"/>
                          </a:solidFill>
                          <a:latin typeface="Montserrat"/>
                        </a:defRPr>
                      </a:pPr>
                      <a:r>
                        <a:t>19,214</a:t>
                      </a:r>
                    </a:p>
                  </a:txBody>
                  <a:tcPr marL="0" marR="0" marT="0" marB="0">
                    <a:solidFill>
                      <a:srgbClr val="EFEFEF"/>
                    </a:solidFill>
                  </a:tcPr>
                </a:tc>
                <a:tc>
                  <a:txBody>
                    <a:bodyPr/>
                    <a:lstStyle/>
                    <a:p>
                      <a:pPr algn="ctr">
                        <a:defRPr sz="1000">
                          <a:solidFill>
                            <a:srgbClr val="000000"/>
                          </a:solidFill>
                          <a:latin typeface="Montserrat"/>
                        </a:defRPr>
                      </a:pPr>
                      <a:r>
                        <a:t>4,950</a:t>
                      </a:r>
                    </a:p>
                  </a:txBody>
                  <a:tcPr marL="0" marR="0" marT="0" marB="0">
                    <a:solidFill>
                      <a:srgbClr val="EFEFEF"/>
                    </a:solidFill>
                  </a:tcPr>
                </a:tc>
                <a:tc>
                  <a:txBody>
                    <a:bodyPr/>
                    <a:lstStyle/>
                    <a:p>
                      <a:pPr algn="ctr">
                        <a:defRPr sz="1000">
                          <a:solidFill>
                            <a:srgbClr val="000000"/>
                          </a:solidFill>
                          <a:latin typeface="Montserrat"/>
                        </a:defRPr>
                      </a:pPr>
                      <a:r>
                        <a:t>8,854</a:t>
                      </a:r>
                    </a:p>
                  </a:txBody>
                  <a:tcPr marL="0" marR="0" marT="0" marB="0">
                    <a:solidFill>
                      <a:srgbClr val="ECD3D9"/>
                    </a:solidFill>
                  </a:tcPr>
                </a:tc>
                <a:tc>
                  <a:txBody>
                    <a:bodyPr/>
                    <a:lstStyle/>
                    <a:p>
                      <a:pPr algn="ctr">
                        <a:defRPr sz="1000">
                          <a:solidFill>
                            <a:srgbClr val="000000"/>
                          </a:solidFill>
                          <a:latin typeface="Montserrat"/>
                        </a:defRPr>
                      </a:pPr>
                      <a:r>
                        <a:t>19,000</a:t>
                      </a:r>
                    </a:p>
                  </a:txBody>
                  <a:tcPr marL="0" marR="0" marT="0" marB="0">
                    <a:solidFill>
                      <a:srgbClr val="ECD3D9"/>
                    </a:solidFill>
                  </a:tcPr>
                </a:tc>
                <a:tc>
                  <a:txBody>
                    <a:bodyPr/>
                    <a:lstStyle/>
                    <a:p>
                      <a:pPr algn="ctr">
                        <a:defRPr sz="1000">
                          <a:solidFill>
                            <a:srgbClr val="000000"/>
                          </a:solidFill>
                          <a:latin typeface="Montserrat"/>
                        </a:defRPr>
                      </a:pPr>
                      <a:r>
                        <a:t>46.6%</a:t>
                      </a:r>
                    </a:p>
                  </a:txBody>
                  <a:tcPr marL="0" marR="0" marT="0" marB="0">
                    <a:solidFill>
                      <a:srgbClr val="ECD3D9"/>
                    </a:solidFill>
                  </a:tcPr>
                </a:tc>
              </a:tr>
              <a:tr h="151200">
                <a:tc>
                  <a:txBody>
                    <a:bodyPr/>
                    <a:lstStyle/>
                    <a:p>
                      <a:pPr algn="l">
                        <a:defRPr sz="1000">
                          <a:solidFill>
                            <a:srgbClr val="000000"/>
                          </a:solidFill>
                          <a:latin typeface="Montserrat"/>
                        </a:defRPr>
                      </a:pPr>
                      <a:r>
                        <a:t>UMF 30 Perote</a:t>
                      </a:r>
                    </a:p>
                  </a:txBody>
                  <a:tcPr marL="0" marR="0" marT="0" marB="0">
                    <a:solidFill>
                      <a:srgbClr val="FFFFFF"/>
                    </a:solidFill>
                  </a:tcPr>
                </a:tc>
                <a:tc>
                  <a:txBody>
                    <a:bodyPr/>
                    <a:lstStyle/>
                    <a:p>
                      <a:pPr algn="ctr">
                        <a:defRPr sz="1000">
                          <a:solidFill>
                            <a:srgbClr val="000000"/>
                          </a:solidFill>
                          <a:latin typeface="Montserrat"/>
                        </a:defRPr>
                      </a:pPr>
                      <a:r>
                        <a:t>41,837</a:t>
                      </a:r>
                    </a:p>
                  </a:txBody>
                  <a:tcPr marL="0" marR="0" marT="0" marB="0">
                    <a:solidFill>
                      <a:srgbClr val="FFFFFF"/>
                    </a:solidFill>
                  </a:tcPr>
                </a:tc>
                <a:tc>
                  <a:txBody>
                    <a:bodyPr/>
                    <a:lstStyle/>
                    <a:p>
                      <a:pPr algn="ctr">
                        <a:defRPr sz="1000">
                          <a:solidFill>
                            <a:srgbClr val="000000"/>
                          </a:solidFill>
                          <a:latin typeface="Montserrat"/>
                        </a:defRPr>
                      </a:pPr>
                      <a:r>
                        <a:t>7,442</a:t>
                      </a:r>
                    </a:p>
                  </a:txBody>
                  <a:tcPr marL="0" marR="0" marT="0" marB="0">
                    <a:solidFill>
                      <a:srgbClr val="FFFFFF"/>
                    </a:solidFill>
                  </a:tcPr>
                </a:tc>
                <a:tc>
                  <a:txBody>
                    <a:bodyPr/>
                    <a:lstStyle/>
                    <a:p>
                      <a:pPr algn="ctr">
                        <a:defRPr sz="1000">
                          <a:solidFill>
                            <a:srgbClr val="000000"/>
                          </a:solidFill>
                          <a:latin typeface="Montserrat"/>
                        </a:defRPr>
                      </a:pPr>
                      <a:r>
                        <a:t>18,395</a:t>
                      </a:r>
                    </a:p>
                  </a:txBody>
                  <a:tcPr marL="0" marR="0" marT="0" marB="0">
                    <a:solidFill>
                      <a:srgbClr val="ECD3D9"/>
                    </a:solidFill>
                  </a:tcPr>
                </a:tc>
                <a:tc>
                  <a:txBody>
                    <a:bodyPr/>
                    <a:lstStyle/>
                    <a:p>
                      <a:pPr algn="ctr">
                        <a:defRPr sz="1000">
                          <a:solidFill>
                            <a:srgbClr val="000000"/>
                          </a:solidFill>
                          <a:latin typeface="Montserrat"/>
                        </a:defRPr>
                      </a:pPr>
                      <a:r>
                        <a:t>41,000</a:t>
                      </a:r>
                    </a:p>
                  </a:txBody>
                  <a:tcPr marL="0" marR="0" marT="0" marB="0">
                    <a:solidFill>
                      <a:srgbClr val="ECD3D9"/>
                    </a:solidFill>
                  </a:tcPr>
                </a:tc>
                <a:tc>
                  <a:txBody>
                    <a:bodyPr/>
                    <a:lstStyle/>
                    <a:p>
                      <a:pPr algn="ctr">
                        <a:defRPr sz="1000">
                          <a:solidFill>
                            <a:srgbClr val="000000"/>
                          </a:solidFill>
                          <a:latin typeface="Montserrat"/>
                        </a:defRPr>
                      </a:pPr>
                      <a:r>
                        <a:t>44.9%</a:t>
                      </a:r>
                    </a:p>
                  </a:txBody>
                  <a:tcPr marL="0" marR="0" marT="0" marB="0">
                    <a:solidFill>
                      <a:srgbClr val="ECD3D9"/>
                    </a:solidFill>
                  </a:tcPr>
                </a:tc>
              </a:tr>
              <a:tr h="151200">
                <a:tc>
                  <a:txBody>
                    <a:bodyPr/>
                    <a:lstStyle/>
                    <a:p>
                      <a:pPr algn="l">
                        <a:defRPr sz="1000">
                          <a:solidFill>
                            <a:srgbClr val="000000"/>
                          </a:solidFill>
                          <a:latin typeface="Montserrat"/>
                        </a:defRPr>
                      </a:pPr>
                      <a:r>
                        <a:t>UMF-UMAA 15 Tejería</a:t>
                      </a:r>
                    </a:p>
                  </a:txBody>
                  <a:tcPr marL="0" marR="0" marT="0" marB="0">
                    <a:solidFill>
                      <a:srgbClr val="EFEFEF"/>
                    </a:solidFill>
                  </a:tcPr>
                </a:tc>
                <a:tc>
                  <a:txBody>
                    <a:bodyPr/>
                    <a:lstStyle/>
                    <a:p>
                      <a:pPr algn="ctr">
                        <a:defRPr sz="1000">
                          <a:solidFill>
                            <a:srgbClr val="000000"/>
                          </a:solidFill>
                          <a:latin typeface="Montserrat"/>
                        </a:defRPr>
                      </a:pPr>
                      <a:r>
                        <a:t>90,310</a:t>
                      </a:r>
                    </a:p>
                  </a:txBody>
                  <a:tcPr marL="0" marR="0" marT="0" marB="0">
                    <a:solidFill>
                      <a:srgbClr val="EFEFEF"/>
                    </a:solidFill>
                  </a:tcPr>
                </a:tc>
                <a:tc>
                  <a:txBody>
                    <a:bodyPr/>
                    <a:lstStyle/>
                    <a:p>
                      <a:pPr algn="ctr">
                        <a:defRPr sz="1000">
                          <a:solidFill>
                            <a:srgbClr val="000000"/>
                          </a:solidFill>
                          <a:latin typeface="Montserrat"/>
                        </a:defRPr>
                      </a:pPr>
                      <a:r>
                        <a:t>19,719</a:t>
                      </a:r>
                    </a:p>
                  </a:txBody>
                  <a:tcPr marL="0" marR="0" marT="0" marB="0">
                    <a:solidFill>
                      <a:srgbClr val="EFEFEF"/>
                    </a:solidFill>
                  </a:tcPr>
                </a:tc>
                <a:tc>
                  <a:txBody>
                    <a:bodyPr/>
                    <a:lstStyle/>
                    <a:p>
                      <a:pPr algn="ctr">
                        <a:defRPr sz="1000">
                          <a:solidFill>
                            <a:srgbClr val="000000"/>
                          </a:solidFill>
                          <a:latin typeface="Montserrat"/>
                        </a:defRPr>
                      </a:pPr>
                      <a:r>
                        <a:t>36,734</a:t>
                      </a:r>
                    </a:p>
                  </a:txBody>
                  <a:tcPr marL="0" marR="0" marT="0" marB="0">
                    <a:solidFill>
                      <a:srgbClr val="ECD3D9"/>
                    </a:solidFill>
                  </a:tcPr>
                </a:tc>
                <a:tc>
                  <a:txBody>
                    <a:bodyPr/>
                    <a:lstStyle/>
                    <a:p>
                      <a:pPr algn="ctr">
                        <a:defRPr sz="1000">
                          <a:solidFill>
                            <a:srgbClr val="000000"/>
                          </a:solidFill>
                          <a:latin typeface="Montserrat"/>
                        </a:defRPr>
                      </a:pPr>
                      <a:r>
                        <a:t>88,000</a:t>
                      </a:r>
                    </a:p>
                  </a:txBody>
                  <a:tcPr marL="0" marR="0" marT="0" marB="0">
                    <a:solidFill>
                      <a:srgbClr val="ECD3D9"/>
                    </a:solidFill>
                  </a:tcPr>
                </a:tc>
                <a:tc>
                  <a:txBody>
                    <a:bodyPr/>
                    <a:lstStyle/>
                    <a:p>
                      <a:pPr algn="ctr">
                        <a:defRPr sz="1000">
                          <a:solidFill>
                            <a:srgbClr val="000000"/>
                          </a:solidFill>
                          <a:latin typeface="Montserrat"/>
                        </a:defRPr>
                      </a:pPr>
                      <a:r>
                        <a:t>41.7%</a:t>
                      </a:r>
                    </a:p>
                  </a:txBody>
                  <a:tcPr marL="0" marR="0" marT="0" marB="0">
                    <a:solidFill>
                      <a:srgbClr val="ECD3D9"/>
                    </a:solidFill>
                  </a:tcPr>
                </a:tc>
              </a:tr>
              <a:tr h="151200">
                <a:tc>
                  <a:txBody>
                    <a:bodyPr/>
                    <a:lstStyle/>
                    <a:p>
                      <a:pPr algn="l">
                        <a:defRPr sz="1000">
                          <a:solidFill>
                            <a:srgbClr val="000000"/>
                          </a:solidFill>
                          <a:latin typeface="Montserrat"/>
                        </a:defRPr>
                      </a:pPr>
                      <a:r>
                        <a:t>UMF 74 Coatzintla</a:t>
                      </a:r>
                    </a:p>
                  </a:txBody>
                  <a:tcPr marL="0" marR="0" marT="0" marB="0">
                    <a:solidFill>
                      <a:srgbClr val="FFFFFF"/>
                    </a:solidFill>
                  </a:tcPr>
                </a:tc>
                <a:tc>
                  <a:txBody>
                    <a:bodyPr/>
                    <a:lstStyle/>
                    <a:p>
                      <a:pPr algn="ctr">
                        <a:defRPr sz="1000">
                          <a:solidFill>
                            <a:srgbClr val="000000"/>
                          </a:solidFill>
                          <a:latin typeface="Montserrat"/>
                        </a:defRPr>
                      </a:pPr>
                      <a:r>
                        <a:t>35,792</a:t>
                      </a:r>
                    </a:p>
                  </a:txBody>
                  <a:tcPr marL="0" marR="0" marT="0" marB="0">
                    <a:solidFill>
                      <a:srgbClr val="FFFFFF"/>
                    </a:solidFill>
                  </a:tcPr>
                </a:tc>
                <a:tc>
                  <a:txBody>
                    <a:bodyPr/>
                    <a:lstStyle/>
                    <a:p>
                      <a:pPr algn="ctr">
                        <a:defRPr sz="1000">
                          <a:solidFill>
                            <a:srgbClr val="000000"/>
                          </a:solidFill>
                          <a:latin typeface="Montserrat"/>
                        </a:defRPr>
                      </a:pPr>
                      <a:r>
                        <a:t>8,624</a:t>
                      </a:r>
                    </a:p>
                  </a:txBody>
                  <a:tcPr marL="0" marR="0" marT="0" marB="0">
                    <a:solidFill>
                      <a:srgbClr val="FFFFFF"/>
                    </a:solidFill>
                  </a:tcPr>
                </a:tc>
                <a:tc>
                  <a:txBody>
                    <a:bodyPr/>
                    <a:lstStyle/>
                    <a:p>
                      <a:pPr algn="ctr">
                        <a:defRPr sz="1000">
                          <a:solidFill>
                            <a:srgbClr val="000000"/>
                          </a:solidFill>
                          <a:latin typeface="Montserrat"/>
                        </a:defRPr>
                      </a:pPr>
                      <a:r>
                        <a:t>14,613</a:t>
                      </a:r>
                    </a:p>
                  </a:txBody>
                  <a:tcPr marL="0" marR="0" marT="0" marB="0">
                    <a:solidFill>
                      <a:srgbClr val="ECD3D9"/>
                    </a:solidFill>
                  </a:tcPr>
                </a:tc>
                <a:tc>
                  <a:txBody>
                    <a:bodyPr/>
                    <a:lstStyle/>
                    <a:p>
                      <a:pPr algn="ctr">
                        <a:defRPr sz="1000">
                          <a:solidFill>
                            <a:srgbClr val="000000"/>
                          </a:solidFill>
                          <a:latin typeface="Montserrat"/>
                        </a:defRPr>
                      </a:pPr>
                      <a:r>
                        <a:t>35,000</a:t>
                      </a:r>
                    </a:p>
                  </a:txBody>
                  <a:tcPr marL="0" marR="0" marT="0" marB="0">
                    <a:solidFill>
                      <a:srgbClr val="ECD3D9"/>
                    </a:solidFill>
                  </a:tcPr>
                </a:tc>
                <a:tc>
                  <a:txBody>
                    <a:bodyPr/>
                    <a:lstStyle/>
                    <a:p>
                      <a:pPr algn="ctr">
                        <a:defRPr sz="1000">
                          <a:solidFill>
                            <a:srgbClr val="000000"/>
                          </a:solidFill>
                          <a:latin typeface="Montserrat"/>
                        </a:defRPr>
                      </a:pPr>
                      <a:r>
                        <a:t>41.8%</a:t>
                      </a:r>
                    </a:p>
                  </a:txBody>
                  <a:tcPr marL="0" marR="0" marT="0" marB="0">
                    <a:solidFill>
                      <a:srgbClr val="ECD3D9"/>
                    </a:solidFill>
                  </a:tcPr>
                </a:tc>
              </a:tr>
              <a:tr h="151200">
                <a:tc>
                  <a:txBody>
                    <a:bodyPr/>
                    <a:lstStyle/>
                    <a:p>
                      <a:pPr algn="l">
                        <a:defRPr sz="1000">
                          <a:solidFill>
                            <a:srgbClr val="000000"/>
                          </a:solidFill>
                          <a:latin typeface="Montserrat"/>
                        </a:defRPr>
                      </a:pPr>
                      <a:r>
                        <a:t>UMF 73 Poza Rica</a:t>
                      </a:r>
                    </a:p>
                  </a:txBody>
                  <a:tcPr marL="0" marR="0" marT="0" marB="0">
                    <a:solidFill>
                      <a:srgbClr val="EFEFEF"/>
                    </a:solidFill>
                  </a:tcPr>
                </a:tc>
                <a:tc>
                  <a:txBody>
                    <a:bodyPr/>
                    <a:lstStyle/>
                    <a:p>
                      <a:pPr algn="ctr">
                        <a:defRPr sz="1000">
                          <a:solidFill>
                            <a:srgbClr val="000000"/>
                          </a:solidFill>
                          <a:latin typeface="Montserrat"/>
                        </a:defRPr>
                      </a:pPr>
                      <a:r>
                        <a:t>249,695</a:t>
                      </a:r>
                    </a:p>
                  </a:txBody>
                  <a:tcPr marL="0" marR="0" marT="0" marB="0">
                    <a:solidFill>
                      <a:srgbClr val="EFEFEF"/>
                    </a:solidFill>
                  </a:tcPr>
                </a:tc>
                <a:tc>
                  <a:txBody>
                    <a:bodyPr/>
                    <a:lstStyle/>
                    <a:p>
                      <a:pPr algn="ctr">
                        <a:defRPr sz="1000">
                          <a:solidFill>
                            <a:srgbClr val="000000"/>
                          </a:solidFill>
                          <a:latin typeface="Montserrat"/>
                        </a:defRPr>
                      </a:pPr>
                      <a:r>
                        <a:t>10,670</a:t>
                      </a:r>
                    </a:p>
                  </a:txBody>
                  <a:tcPr marL="0" marR="0" marT="0" marB="0">
                    <a:solidFill>
                      <a:srgbClr val="EFEFEF"/>
                    </a:solidFill>
                  </a:tcPr>
                </a:tc>
                <a:tc>
                  <a:txBody>
                    <a:bodyPr/>
                    <a:lstStyle/>
                    <a:p>
                      <a:pPr algn="ctr">
                        <a:defRPr sz="1000">
                          <a:solidFill>
                            <a:srgbClr val="000000"/>
                          </a:solidFill>
                          <a:latin typeface="Montserrat"/>
                        </a:defRPr>
                      </a:pPr>
                      <a:r>
                        <a:t>103,001</a:t>
                      </a:r>
                    </a:p>
                  </a:txBody>
                  <a:tcPr marL="0" marR="0" marT="0" marB="0">
                    <a:solidFill>
                      <a:srgbClr val="ECD3D9"/>
                    </a:solidFill>
                  </a:tcPr>
                </a:tc>
                <a:tc>
                  <a:txBody>
                    <a:bodyPr/>
                    <a:lstStyle/>
                    <a:p>
                      <a:pPr algn="ctr">
                        <a:defRPr sz="1000">
                          <a:solidFill>
                            <a:srgbClr val="000000"/>
                          </a:solidFill>
                          <a:latin typeface="Montserrat"/>
                        </a:defRPr>
                      </a:pPr>
                      <a:r>
                        <a:t>250,560</a:t>
                      </a:r>
                    </a:p>
                  </a:txBody>
                  <a:tcPr marL="0" marR="0" marT="0" marB="0">
                    <a:solidFill>
                      <a:srgbClr val="ECD3D9"/>
                    </a:solidFill>
                  </a:tcPr>
                </a:tc>
                <a:tc>
                  <a:txBody>
                    <a:bodyPr/>
                    <a:lstStyle/>
                    <a:p>
                      <a:pPr algn="ctr">
                        <a:defRPr sz="1000">
                          <a:solidFill>
                            <a:srgbClr val="000000"/>
                          </a:solidFill>
                          <a:latin typeface="Montserrat"/>
                        </a:defRPr>
                      </a:pPr>
                      <a:r>
                        <a:t>41.1%</a:t>
                      </a:r>
                    </a:p>
                  </a:txBody>
                  <a:tcPr marL="0" marR="0" marT="0" marB="0">
                    <a:solidFill>
                      <a:srgbClr val="ECD3D9"/>
                    </a:solidFill>
                  </a:tcPr>
                </a:tc>
              </a:tr>
              <a:tr h="151200">
                <a:tc>
                  <a:txBody>
                    <a:bodyPr/>
                    <a:lstStyle/>
                    <a:p>
                      <a:pPr algn="l">
                        <a:defRPr sz="1000">
                          <a:solidFill>
                            <a:srgbClr val="000000"/>
                          </a:solidFill>
                          <a:latin typeface="Montserrat"/>
                        </a:defRPr>
                      </a:pPr>
                      <a:r>
                        <a:t>UMF 37 Coatzacoalcos</a:t>
                      </a:r>
                    </a:p>
                  </a:txBody>
                  <a:tcPr marL="0" marR="0" marT="0" marB="0">
                    <a:solidFill>
                      <a:srgbClr val="FFFFFF"/>
                    </a:solidFill>
                  </a:tcPr>
                </a:tc>
                <a:tc>
                  <a:txBody>
                    <a:bodyPr/>
                    <a:lstStyle/>
                    <a:p>
                      <a:pPr algn="ctr">
                        <a:defRPr sz="1000">
                          <a:solidFill>
                            <a:srgbClr val="000000"/>
                          </a:solidFill>
                          <a:latin typeface="Montserrat"/>
                        </a:defRPr>
                      </a:pPr>
                      <a:r>
                        <a:t>69,243</a:t>
                      </a:r>
                    </a:p>
                  </a:txBody>
                  <a:tcPr marL="0" marR="0" marT="0" marB="0">
                    <a:solidFill>
                      <a:srgbClr val="FFFFFF"/>
                    </a:solidFill>
                  </a:tcPr>
                </a:tc>
                <a:tc>
                  <a:txBody>
                    <a:bodyPr/>
                    <a:lstStyle/>
                    <a:p>
                      <a:pPr algn="ctr">
                        <a:defRPr sz="1000">
                          <a:solidFill>
                            <a:srgbClr val="000000"/>
                          </a:solidFill>
                          <a:latin typeface="Montserrat"/>
                        </a:defRPr>
                      </a:pPr>
                      <a:r>
                        <a:t>12,325</a:t>
                      </a:r>
                    </a:p>
                  </a:txBody>
                  <a:tcPr marL="0" marR="0" marT="0" marB="0">
                    <a:solidFill>
                      <a:srgbClr val="FFFFFF"/>
                    </a:solidFill>
                  </a:tcPr>
                </a:tc>
                <a:tc>
                  <a:txBody>
                    <a:bodyPr/>
                    <a:lstStyle/>
                    <a:p>
                      <a:pPr algn="ctr">
                        <a:defRPr sz="1000">
                          <a:solidFill>
                            <a:srgbClr val="000000"/>
                          </a:solidFill>
                          <a:latin typeface="Montserrat"/>
                        </a:defRPr>
                      </a:pPr>
                      <a:r>
                        <a:t>30,040</a:t>
                      </a:r>
                    </a:p>
                  </a:txBody>
                  <a:tcPr marL="0" marR="0" marT="0" marB="0">
                    <a:solidFill>
                      <a:srgbClr val="ECD3D9"/>
                    </a:solidFill>
                  </a:tcPr>
                </a:tc>
                <a:tc>
                  <a:txBody>
                    <a:bodyPr/>
                    <a:lstStyle/>
                    <a:p>
                      <a:pPr algn="ctr">
                        <a:defRPr sz="1000">
                          <a:solidFill>
                            <a:srgbClr val="000000"/>
                          </a:solidFill>
                          <a:latin typeface="Montserrat"/>
                        </a:defRPr>
                      </a:pPr>
                      <a:r>
                        <a:t>66,000</a:t>
                      </a:r>
                    </a:p>
                  </a:txBody>
                  <a:tcPr marL="0" marR="0" marT="0" marB="0">
                    <a:solidFill>
                      <a:srgbClr val="ECD3D9"/>
                    </a:solidFill>
                  </a:tcPr>
                </a:tc>
                <a:tc>
                  <a:txBody>
                    <a:bodyPr/>
                    <a:lstStyle/>
                    <a:p>
                      <a:pPr algn="ctr">
                        <a:defRPr sz="1000">
                          <a:solidFill>
                            <a:srgbClr val="000000"/>
                          </a:solidFill>
                          <a:latin typeface="Montserrat"/>
                        </a:defRPr>
                      </a:pPr>
                      <a:r>
                        <a:t>45.5%</a:t>
                      </a:r>
                    </a:p>
                  </a:txBody>
                  <a:tcPr marL="0" marR="0" marT="0" marB="0">
                    <a:solidFill>
                      <a:srgbClr val="ECD3D9"/>
                    </a:solidFill>
                  </a:tcPr>
                </a:tc>
              </a:tr>
              <a:tr h="151200">
                <a:tc>
                  <a:txBody>
                    <a:bodyPr/>
                    <a:lstStyle/>
                    <a:p>
                      <a:pPr algn="l">
                        <a:defRPr sz="1000">
                          <a:solidFill>
                            <a:srgbClr val="000000"/>
                          </a:solidFill>
                          <a:latin typeface="Montserrat"/>
                        </a:defRPr>
                      </a:pPr>
                      <a:r>
                        <a:t>UMF 69 Coatzacoalcos</a:t>
                      </a:r>
                    </a:p>
                  </a:txBody>
                  <a:tcPr marL="0" marR="0" marT="0" marB="0">
                    <a:solidFill>
                      <a:srgbClr val="EFEFEF"/>
                    </a:solidFill>
                  </a:tcPr>
                </a:tc>
                <a:tc>
                  <a:txBody>
                    <a:bodyPr/>
                    <a:lstStyle/>
                    <a:p>
                      <a:pPr algn="ctr">
                        <a:defRPr sz="1000">
                          <a:solidFill>
                            <a:srgbClr val="000000"/>
                          </a:solidFill>
                          <a:latin typeface="Montserrat"/>
                        </a:defRPr>
                      </a:pPr>
                      <a:r>
                        <a:t>160,407</a:t>
                      </a:r>
                    </a:p>
                  </a:txBody>
                  <a:tcPr marL="0" marR="0" marT="0" marB="0">
                    <a:solidFill>
                      <a:srgbClr val="EFEFEF"/>
                    </a:solidFill>
                  </a:tcPr>
                </a:tc>
                <a:tc>
                  <a:txBody>
                    <a:bodyPr/>
                    <a:lstStyle/>
                    <a:p>
                      <a:pPr algn="ctr">
                        <a:defRPr sz="1000">
                          <a:solidFill>
                            <a:srgbClr val="000000"/>
                          </a:solidFill>
                          <a:latin typeface="Montserrat"/>
                        </a:defRPr>
                      </a:pPr>
                      <a:r>
                        <a:t>22,869</a:t>
                      </a:r>
                    </a:p>
                  </a:txBody>
                  <a:tcPr marL="0" marR="0" marT="0" marB="0">
                    <a:solidFill>
                      <a:srgbClr val="EFEFEF"/>
                    </a:solidFill>
                  </a:tcPr>
                </a:tc>
                <a:tc>
                  <a:txBody>
                    <a:bodyPr/>
                    <a:lstStyle/>
                    <a:p>
                      <a:pPr algn="ctr">
                        <a:defRPr sz="1000">
                          <a:solidFill>
                            <a:srgbClr val="000000"/>
                          </a:solidFill>
                          <a:latin typeface="Montserrat"/>
                        </a:defRPr>
                      </a:pPr>
                      <a:r>
                        <a:t>58,192</a:t>
                      </a:r>
                    </a:p>
                  </a:txBody>
                  <a:tcPr marL="0" marR="0" marT="0" marB="0">
                    <a:solidFill>
                      <a:srgbClr val="ECD3D9"/>
                    </a:solidFill>
                  </a:tcPr>
                </a:tc>
                <a:tc>
                  <a:txBody>
                    <a:bodyPr/>
                    <a:lstStyle/>
                    <a:p>
                      <a:pPr algn="ctr">
                        <a:defRPr sz="1000">
                          <a:solidFill>
                            <a:srgbClr val="000000"/>
                          </a:solidFill>
                          <a:latin typeface="Montserrat"/>
                        </a:defRPr>
                      </a:pPr>
                      <a:r>
                        <a:t>152,000</a:t>
                      </a:r>
                    </a:p>
                  </a:txBody>
                  <a:tcPr marL="0" marR="0" marT="0" marB="0">
                    <a:solidFill>
                      <a:srgbClr val="ECD3D9"/>
                    </a:solidFill>
                  </a:tcPr>
                </a:tc>
                <a:tc>
                  <a:txBody>
                    <a:bodyPr/>
                    <a:lstStyle/>
                    <a:p>
                      <a:pPr algn="ctr">
                        <a:defRPr sz="1000">
                          <a:solidFill>
                            <a:srgbClr val="000000"/>
                          </a:solidFill>
                          <a:latin typeface="Montserrat"/>
                        </a:defRPr>
                      </a:pPr>
                      <a:r>
                        <a:t>38.3%</a:t>
                      </a:r>
                    </a:p>
                  </a:txBody>
                  <a:tcPr marL="0" marR="0" marT="0" marB="0">
                    <a:solidFill>
                      <a:srgbClr val="ECD3D9"/>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2,445,977</a:t>
                      </a:r>
                    </a:p>
                  </a:txBody>
                  <a:tcPr marL="0" marR="0" marT="0" marB="0">
                    <a:solidFill>
                      <a:srgbClr val="D3E9E7"/>
                    </a:solidFill>
                  </a:tcPr>
                </a:tc>
                <a:tc>
                  <a:txBody>
                    <a:bodyPr/>
                    <a:lstStyle/>
                    <a:p>
                      <a:pPr algn="ctr">
                        <a:defRPr sz="1000" b="1">
                          <a:solidFill>
                            <a:srgbClr val="006556"/>
                          </a:solidFill>
                          <a:latin typeface="Montserrat"/>
                        </a:defRPr>
                      </a:pPr>
                      <a:r>
                        <a:t>190,110</a:t>
                      </a:r>
                    </a:p>
                  </a:txBody>
                  <a:tcPr marL="0" marR="0" marT="0" marB="0">
                    <a:solidFill>
                      <a:srgbClr val="D3E9E7"/>
                    </a:solidFill>
                  </a:tcPr>
                </a:tc>
                <a:tc>
                  <a:txBody>
                    <a:bodyPr/>
                    <a:lstStyle/>
                    <a:p>
                      <a:pPr algn="ctr">
                        <a:defRPr sz="1000" b="1">
                          <a:solidFill>
                            <a:srgbClr val="FFFFFF"/>
                          </a:solidFill>
                          <a:latin typeface="Montserrat"/>
                        </a:defRPr>
                      </a:pPr>
                      <a:r>
                        <a:t>956,337</a:t>
                      </a:r>
                    </a:p>
                  </a:txBody>
                  <a:tcPr marL="0" marR="0" marT="0" marB="0">
                    <a:solidFill>
                      <a:srgbClr val="9F2241"/>
                    </a:solidFill>
                  </a:tcPr>
                </a:tc>
                <a:tc>
                  <a:txBody>
                    <a:bodyPr/>
                    <a:lstStyle/>
                    <a:p>
                      <a:pPr algn="ctr">
                        <a:defRPr sz="1000" b="1">
                          <a:solidFill>
                            <a:srgbClr val="FFFFFF"/>
                          </a:solidFill>
                          <a:latin typeface="Montserrat"/>
                        </a:defRPr>
                      </a:pPr>
                      <a:r>
                        <a:t>2,393,968</a:t>
                      </a:r>
                    </a:p>
                  </a:txBody>
                  <a:tcPr marL="0" marR="0" marT="0" marB="0">
                    <a:solidFill>
                      <a:srgbClr val="9F2241"/>
                    </a:solidFill>
                  </a:tcPr>
                </a:tc>
                <a:tc>
                  <a:txBody>
                    <a:bodyPr/>
                    <a:lstStyle/>
                    <a:p>
                      <a:pPr algn="ctr">
                        <a:defRPr sz="1000" b="1">
                          <a:solidFill>
                            <a:srgbClr val="FFFFFF"/>
                          </a:solidFill>
                          <a:latin typeface="Montserrat"/>
                        </a:defRPr>
                      </a:pPr>
                      <a:r>
                        <a:t>39.9%</a:t>
                      </a:r>
                    </a:p>
                  </a:txBody>
                  <a:tcPr marL="0" marR="0" marT="0" marB="0">
                    <a:solidFill>
                      <a:srgbClr val="9F2241"/>
                    </a:solidFill>
                  </a:tcPr>
                </a:tc>
              </a:tr>
            </a:tbl>
          </a:graphicData>
        </a:graphic>
      </p:graphicFrame>
      <p:graphicFrame>
        <p:nvGraphicFramePr>
          <p:cNvPr id="28" name="Chart 27"/>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29" name="TextBox 28"/>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12%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2747588614"/>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 productividad de especialidad generada en UMF ni en HR</a:t>
            </a:r>
            <a:br/>
            <a:r>
              <a:t>En el año 2025 no incluye información de HR y UMU.</a:t>
            </a:r>
            <a:br/>
            <a:r>
              <a:t>El año de proceso inicia del 26 de diciembre del año anterior al 25 de diciembre del año en curso:</a:t>
            </a:r>
            <a:br/>
            <a:r>
              <a:t>2025 ( del 26 de Dic de 2024 al 25 de Dic de 2025)</a:t>
            </a:r>
            <a:br/>
            <a:r>
              <a:t>Corte de información: Semana: 21, 17 mayo 2026</a:t>
            </a:r>
          </a:p>
        </p:txBody>
      </p:sp>
      <p:graphicFrame>
        <p:nvGraphicFramePr>
          <p:cNvPr id="236" name="Table 235"/>
          <p:cNvGraphicFramePr>
            <a:graphicFrameLocks noGrp="1"/>
          </p:cNvGraphicFramePr>
          <p:nvPr/>
        </p:nvGraphicFramePr>
        <p:xfrm>
          <a:off x="144000" y="1494000"/>
          <a:ext cx="7340399" cy="5403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HGSMF 7 Panuco</a:t>
                      </a:r>
                    </a:p>
                  </a:txBody>
                  <a:tcPr>
                    <a:solidFill>
                      <a:srgbClr val="FFFFFF"/>
                    </a:solidFill>
                  </a:tcPr>
                </a:tc>
                <a:tc>
                  <a:txBody>
                    <a:bodyPr/>
                    <a:lstStyle/>
                    <a:p>
                      <a:pPr algn="ctr">
                        <a:defRPr sz="1000">
                          <a:latin typeface="Montserrat"/>
                        </a:defRPr>
                      </a:pPr>
                      <a:r>
                        <a:t>5,796</a:t>
                      </a:r>
                    </a:p>
                  </a:txBody>
                  <a:tcPr>
                    <a:solidFill>
                      <a:srgbClr val="FFFFFF"/>
                    </a:solidFill>
                  </a:tcPr>
                </a:tc>
                <a:tc>
                  <a:txBody>
                    <a:bodyPr/>
                    <a:lstStyle/>
                    <a:p>
                      <a:pPr algn="ctr">
                        <a:defRPr sz="1000">
                          <a:latin typeface="Montserrat"/>
                        </a:defRPr>
                      </a:pPr>
                      <a:r>
                        <a:t>901</a:t>
                      </a:r>
                    </a:p>
                  </a:txBody>
                  <a:tcPr>
                    <a:solidFill>
                      <a:srgbClr val="FFFFFF"/>
                    </a:solidFill>
                  </a:tcPr>
                </a:tc>
                <a:tc>
                  <a:txBody>
                    <a:bodyPr/>
                    <a:lstStyle/>
                    <a:p>
                      <a:pPr algn="ctr">
                        <a:defRPr sz="1000">
                          <a:latin typeface="Montserrat"/>
                        </a:defRPr>
                      </a:pPr>
                      <a:r>
                        <a:t>2,780</a:t>
                      </a:r>
                    </a:p>
                  </a:txBody>
                  <a:tcPr>
                    <a:solidFill>
                      <a:srgbClr val="ECD3D9"/>
                    </a:solidFill>
                  </a:tcPr>
                </a:tc>
                <a:tc>
                  <a:txBody>
                    <a:bodyPr/>
                    <a:lstStyle/>
                    <a:p>
                      <a:pPr algn="ctr">
                        <a:defRPr sz="1000">
                          <a:latin typeface="Montserrat"/>
                        </a:defRPr>
                      </a:pPr>
                      <a:r>
                        <a:t>5,840</a:t>
                      </a:r>
                    </a:p>
                  </a:txBody>
                  <a:tcPr>
                    <a:solidFill>
                      <a:srgbClr val="ECD3D9"/>
                    </a:solidFill>
                  </a:tcPr>
                </a:tc>
                <a:tc>
                  <a:txBody>
                    <a:bodyPr/>
                    <a:lstStyle/>
                    <a:p>
                      <a:pPr algn="ctr">
                        <a:defRPr sz="1000">
                          <a:latin typeface="Montserrat"/>
                        </a:defRPr>
                      </a:pPr>
                      <a:r>
                        <a:t>47.6%</a:t>
                      </a:r>
                    </a:p>
                  </a:txBody>
                  <a:tcPr>
                    <a:solidFill>
                      <a:srgbClr val="ECD3D9"/>
                    </a:solidFill>
                  </a:tcPr>
                </a:tc>
              </a:tr>
              <a:tr h="284400">
                <a:tc>
                  <a:txBody>
                    <a:bodyPr/>
                    <a:lstStyle/>
                    <a:p>
                      <a:pPr algn="l">
                        <a:defRPr sz="1000">
                          <a:latin typeface="Montserrat"/>
                        </a:defRPr>
                      </a:pPr>
                      <a:r>
                        <a:t>HGZ 11 Jalapa.</a:t>
                      </a:r>
                    </a:p>
                  </a:txBody>
                  <a:tcPr>
                    <a:solidFill>
                      <a:srgbClr val="EFEFEF"/>
                    </a:solidFill>
                  </a:tcPr>
                </a:tc>
                <a:tc>
                  <a:txBody>
                    <a:bodyPr/>
                    <a:lstStyle/>
                    <a:p>
                      <a:pPr algn="ctr">
                        <a:defRPr sz="1000">
                          <a:latin typeface="Montserrat"/>
                        </a:defRPr>
                      </a:pPr>
                      <a:r>
                        <a:t>172,037</a:t>
                      </a:r>
                    </a:p>
                  </a:txBody>
                  <a:tcPr>
                    <a:solidFill>
                      <a:srgbClr val="EFEFEF"/>
                    </a:solidFill>
                  </a:tcPr>
                </a:tc>
                <a:tc>
                  <a:txBody>
                    <a:bodyPr/>
                    <a:lstStyle/>
                    <a:p>
                      <a:pPr algn="ctr">
                        <a:defRPr sz="1000">
                          <a:latin typeface="Montserrat"/>
                        </a:defRPr>
                      </a:pPr>
                      <a:r>
                        <a:t>26,861</a:t>
                      </a:r>
                    </a:p>
                  </a:txBody>
                  <a:tcPr>
                    <a:solidFill>
                      <a:srgbClr val="EFEFEF"/>
                    </a:solidFill>
                  </a:tcPr>
                </a:tc>
                <a:tc>
                  <a:txBody>
                    <a:bodyPr/>
                    <a:lstStyle/>
                    <a:p>
                      <a:pPr algn="ctr">
                        <a:defRPr sz="1000">
                          <a:latin typeface="Montserrat"/>
                        </a:defRPr>
                      </a:pPr>
                      <a:r>
                        <a:t>72,673</a:t>
                      </a:r>
                    </a:p>
                  </a:txBody>
                  <a:tcPr>
                    <a:solidFill>
                      <a:srgbClr val="ECD3D9"/>
                    </a:solidFill>
                  </a:tcPr>
                </a:tc>
                <a:tc>
                  <a:txBody>
                    <a:bodyPr/>
                    <a:lstStyle/>
                    <a:p>
                      <a:pPr algn="ctr">
                        <a:defRPr sz="1000">
                          <a:latin typeface="Montserrat"/>
                        </a:defRPr>
                      </a:pPr>
                      <a:r>
                        <a:t>170,820</a:t>
                      </a:r>
                    </a:p>
                  </a:txBody>
                  <a:tcPr>
                    <a:solidFill>
                      <a:srgbClr val="ECD3D9"/>
                    </a:solidFill>
                  </a:tcPr>
                </a:tc>
                <a:tc>
                  <a:txBody>
                    <a:bodyPr/>
                    <a:lstStyle/>
                    <a:p>
                      <a:pPr algn="ctr">
                        <a:defRPr sz="1000">
                          <a:latin typeface="Montserrat"/>
                        </a:defRPr>
                      </a:pPr>
                      <a:r>
                        <a:t>42.5%</a:t>
                      </a:r>
                    </a:p>
                  </a:txBody>
                  <a:tcPr>
                    <a:solidFill>
                      <a:srgbClr val="ECD3D9"/>
                    </a:solidFill>
                  </a:tcPr>
                </a:tc>
              </a:tr>
              <a:tr h="284400">
                <a:tc>
                  <a:txBody>
                    <a:bodyPr/>
                    <a:lstStyle/>
                    <a:p>
                      <a:pPr algn="l">
                        <a:defRPr sz="1000">
                          <a:latin typeface="Montserrat"/>
                        </a:defRPr>
                      </a:pPr>
                      <a:r>
                        <a:t>HGR Orizaba</a:t>
                      </a:r>
                    </a:p>
                  </a:txBody>
                  <a:tcPr>
                    <a:solidFill>
                      <a:srgbClr val="FFFFFF"/>
                    </a:solidFill>
                  </a:tcPr>
                </a:tc>
                <a:tc>
                  <a:txBody>
                    <a:bodyPr/>
                    <a:lstStyle/>
                    <a:p>
                      <a:pPr algn="ctr">
                        <a:defRPr sz="1000">
                          <a:latin typeface="Montserrat"/>
                        </a:defRPr>
                      </a:pPr>
                      <a:r>
                        <a:t>184,598</a:t>
                      </a:r>
                    </a:p>
                  </a:txBody>
                  <a:tcPr>
                    <a:solidFill>
                      <a:srgbClr val="FFFFFF"/>
                    </a:solidFill>
                  </a:tcPr>
                </a:tc>
                <a:tc>
                  <a:txBody>
                    <a:bodyPr/>
                    <a:lstStyle/>
                    <a:p>
                      <a:pPr algn="ctr">
                        <a:defRPr sz="1000">
                          <a:latin typeface="Montserrat"/>
                        </a:defRPr>
                      </a:pPr>
                      <a:r>
                        <a:t>57,662</a:t>
                      </a:r>
                    </a:p>
                  </a:txBody>
                  <a:tcPr>
                    <a:solidFill>
                      <a:srgbClr val="FFFFFF"/>
                    </a:solidFill>
                  </a:tcPr>
                </a:tc>
                <a:tc>
                  <a:txBody>
                    <a:bodyPr/>
                    <a:lstStyle/>
                    <a:p>
                      <a:pPr algn="ctr">
                        <a:defRPr sz="1000">
                          <a:latin typeface="Montserrat"/>
                        </a:defRPr>
                      </a:pPr>
                      <a:r>
                        <a:t>73,094</a:t>
                      </a:r>
                    </a:p>
                  </a:txBody>
                  <a:tcPr>
                    <a:solidFill>
                      <a:srgbClr val="ECD3D9"/>
                    </a:solidFill>
                  </a:tcPr>
                </a:tc>
                <a:tc>
                  <a:txBody>
                    <a:bodyPr/>
                    <a:lstStyle/>
                    <a:p>
                      <a:pPr algn="ctr">
                        <a:defRPr sz="1000">
                          <a:latin typeface="Montserrat"/>
                        </a:defRPr>
                      </a:pPr>
                      <a:r>
                        <a:t>183,960</a:t>
                      </a:r>
                    </a:p>
                  </a:txBody>
                  <a:tcPr>
                    <a:solidFill>
                      <a:srgbClr val="ECD3D9"/>
                    </a:solidFill>
                  </a:tcPr>
                </a:tc>
                <a:tc>
                  <a:txBody>
                    <a:bodyPr/>
                    <a:lstStyle/>
                    <a:p>
                      <a:pPr algn="ctr">
                        <a:defRPr sz="1000">
                          <a:latin typeface="Montserrat"/>
                        </a:defRPr>
                      </a:pPr>
                      <a:r>
                        <a:t>39.7%</a:t>
                      </a:r>
                    </a:p>
                  </a:txBody>
                  <a:tcPr>
                    <a:solidFill>
                      <a:srgbClr val="ECD3D9"/>
                    </a:solidFill>
                  </a:tcPr>
                </a:tc>
              </a:tr>
              <a:tr h="284400">
                <a:tc>
                  <a:txBody>
                    <a:bodyPr/>
                    <a:lstStyle/>
                    <a:p>
                      <a:pPr algn="l">
                        <a:defRPr sz="1000">
                          <a:latin typeface="Montserrat"/>
                        </a:defRPr>
                      </a:pPr>
                      <a:r>
                        <a:t>HGZ 71 Veracruz</a:t>
                      </a:r>
                    </a:p>
                  </a:txBody>
                  <a:tcPr>
                    <a:solidFill>
                      <a:srgbClr val="EFEFEF"/>
                    </a:solidFill>
                  </a:tcPr>
                </a:tc>
                <a:tc>
                  <a:txBody>
                    <a:bodyPr/>
                    <a:lstStyle/>
                    <a:p>
                      <a:pPr algn="ctr">
                        <a:defRPr sz="1000">
                          <a:latin typeface="Montserrat"/>
                        </a:defRPr>
                      </a:pPr>
                      <a:r>
                        <a:t>142,360</a:t>
                      </a:r>
                    </a:p>
                  </a:txBody>
                  <a:tcPr>
                    <a:solidFill>
                      <a:srgbClr val="EFEFEF"/>
                    </a:solidFill>
                  </a:tcPr>
                </a:tc>
                <a:tc>
                  <a:txBody>
                    <a:bodyPr/>
                    <a:lstStyle/>
                    <a:p>
                      <a:pPr algn="ctr">
                        <a:defRPr sz="1000">
                          <a:latin typeface="Montserrat"/>
                        </a:defRPr>
                      </a:pPr>
                      <a:r>
                        <a:t>9,934</a:t>
                      </a:r>
                    </a:p>
                  </a:txBody>
                  <a:tcPr>
                    <a:solidFill>
                      <a:srgbClr val="EFEFEF"/>
                    </a:solidFill>
                  </a:tcPr>
                </a:tc>
                <a:tc>
                  <a:txBody>
                    <a:bodyPr/>
                    <a:lstStyle/>
                    <a:p>
                      <a:pPr algn="ctr">
                        <a:defRPr sz="1000">
                          <a:latin typeface="Montserrat"/>
                        </a:defRPr>
                      </a:pPr>
                      <a:r>
                        <a:t>57,326</a:t>
                      </a:r>
                    </a:p>
                  </a:txBody>
                  <a:tcPr>
                    <a:solidFill>
                      <a:srgbClr val="ECD3D9"/>
                    </a:solidFill>
                  </a:tcPr>
                </a:tc>
                <a:tc>
                  <a:txBody>
                    <a:bodyPr/>
                    <a:lstStyle/>
                    <a:p>
                      <a:pPr algn="ctr">
                        <a:defRPr sz="1000">
                          <a:latin typeface="Montserrat"/>
                        </a:defRPr>
                      </a:pPr>
                      <a:r>
                        <a:t>144,540</a:t>
                      </a:r>
                    </a:p>
                  </a:txBody>
                  <a:tcPr>
                    <a:solidFill>
                      <a:srgbClr val="ECD3D9"/>
                    </a:solidFill>
                  </a:tcPr>
                </a:tc>
                <a:tc>
                  <a:txBody>
                    <a:bodyPr/>
                    <a:lstStyle/>
                    <a:p>
                      <a:pPr algn="ctr">
                        <a:defRPr sz="1000">
                          <a:latin typeface="Montserrat"/>
                        </a:defRPr>
                      </a:pPr>
                      <a:r>
                        <a:t>39.7%</a:t>
                      </a:r>
                    </a:p>
                  </a:txBody>
                  <a:tcPr>
                    <a:solidFill>
                      <a:srgbClr val="ECD3D9"/>
                    </a:solidFill>
                  </a:tcPr>
                </a:tc>
              </a:tr>
              <a:tr h="284400">
                <a:tc>
                  <a:txBody>
                    <a:bodyPr/>
                    <a:lstStyle/>
                    <a:p>
                      <a:pPr algn="l">
                        <a:defRPr sz="1000">
                          <a:latin typeface="Montserrat"/>
                        </a:defRPr>
                      </a:pPr>
                      <a:r>
                        <a:t>HGZMF 35 Cosamaloapan</a:t>
                      </a:r>
                    </a:p>
                  </a:txBody>
                  <a:tcPr>
                    <a:solidFill>
                      <a:srgbClr val="FFFFFF"/>
                    </a:solidFill>
                  </a:tcPr>
                </a:tc>
                <a:tc>
                  <a:txBody>
                    <a:bodyPr/>
                    <a:lstStyle/>
                    <a:p>
                      <a:pPr algn="ctr">
                        <a:defRPr sz="1000">
                          <a:latin typeface="Montserrat"/>
                        </a:defRPr>
                      </a:pPr>
                      <a:r>
                        <a:t>67,329</a:t>
                      </a:r>
                    </a:p>
                  </a:txBody>
                  <a:tcPr>
                    <a:solidFill>
                      <a:srgbClr val="FFFFFF"/>
                    </a:solidFill>
                  </a:tcPr>
                </a:tc>
                <a:tc>
                  <a:txBody>
                    <a:bodyPr/>
                    <a:lstStyle/>
                    <a:p>
                      <a:pPr algn="ctr">
                        <a:defRPr sz="1000">
                          <a:latin typeface="Montserrat"/>
                        </a:defRPr>
                      </a:pPr>
                      <a:r>
                        <a:t>41,010</a:t>
                      </a:r>
                    </a:p>
                  </a:txBody>
                  <a:tcPr>
                    <a:solidFill>
                      <a:srgbClr val="FFFFFF"/>
                    </a:solidFill>
                  </a:tcPr>
                </a:tc>
                <a:tc>
                  <a:txBody>
                    <a:bodyPr/>
                    <a:lstStyle/>
                    <a:p>
                      <a:pPr algn="ctr">
                        <a:defRPr sz="1000">
                          <a:latin typeface="Montserrat"/>
                        </a:defRPr>
                      </a:pPr>
                      <a:r>
                        <a:t>28,240</a:t>
                      </a:r>
                    </a:p>
                  </a:txBody>
                  <a:tcPr>
                    <a:solidFill>
                      <a:srgbClr val="ECD3D9"/>
                    </a:solidFill>
                  </a:tcPr>
                </a:tc>
                <a:tc>
                  <a:txBody>
                    <a:bodyPr/>
                    <a:lstStyle/>
                    <a:p>
                      <a:pPr algn="ctr">
                        <a:defRPr sz="1000">
                          <a:latin typeface="Montserrat"/>
                        </a:defRPr>
                      </a:pPr>
                      <a:r>
                        <a:t>72,270</a:t>
                      </a:r>
                    </a:p>
                  </a:txBody>
                  <a:tcPr>
                    <a:solidFill>
                      <a:srgbClr val="ECD3D9"/>
                    </a:solidFill>
                  </a:tcPr>
                </a:tc>
                <a:tc>
                  <a:txBody>
                    <a:bodyPr/>
                    <a:lstStyle/>
                    <a:p>
                      <a:pPr algn="ctr">
                        <a:defRPr sz="1000">
                          <a:latin typeface="Montserrat"/>
                        </a:defRPr>
                      </a:pPr>
                      <a:r>
                        <a:t>39.1%</a:t>
                      </a:r>
                    </a:p>
                  </a:txBody>
                  <a:tcPr>
                    <a:solidFill>
                      <a:srgbClr val="ECD3D9"/>
                    </a:solidFill>
                  </a:tcPr>
                </a:tc>
              </a:tr>
              <a:tr h="284400">
                <a:tc>
                  <a:txBody>
                    <a:bodyPr/>
                    <a:lstStyle/>
                    <a:p>
                      <a:pPr algn="l">
                        <a:defRPr sz="1000">
                          <a:latin typeface="Montserrat"/>
                        </a:defRPr>
                      </a:pPr>
                      <a:r>
                        <a:t>HGZMF 32 Minatitlán</a:t>
                      </a:r>
                    </a:p>
                  </a:txBody>
                  <a:tcPr>
                    <a:solidFill>
                      <a:srgbClr val="EFEFEF"/>
                    </a:solidFill>
                  </a:tcPr>
                </a:tc>
                <a:tc>
                  <a:txBody>
                    <a:bodyPr/>
                    <a:lstStyle/>
                    <a:p>
                      <a:pPr algn="ctr">
                        <a:defRPr sz="1000">
                          <a:latin typeface="Montserrat"/>
                        </a:defRPr>
                      </a:pPr>
                      <a:r>
                        <a:t>70,634</a:t>
                      </a:r>
                    </a:p>
                  </a:txBody>
                  <a:tcPr>
                    <a:solidFill>
                      <a:srgbClr val="EFEFEF"/>
                    </a:solidFill>
                  </a:tcPr>
                </a:tc>
                <a:tc>
                  <a:txBody>
                    <a:bodyPr/>
                    <a:lstStyle/>
                    <a:p>
                      <a:pPr algn="ctr">
                        <a:defRPr sz="1000">
                          <a:latin typeface="Montserrat"/>
                        </a:defRPr>
                      </a:pPr>
                      <a:r>
                        <a:t>32,028</a:t>
                      </a:r>
                    </a:p>
                  </a:txBody>
                  <a:tcPr>
                    <a:solidFill>
                      <a:srgbClr val="EFEFEF"/>
                    </a:solidFill>
                  </a:tcPr>
                </a:tc>
                <a:tc>
                  <a:txBody>
                    <a:bodyPr/>
                    <a:lstStyle/>
                    <a:p>
                      <a:pPr algn="ctr">
                        <a:defRPr sz="1000">
                          <a:latin typeface="Montserrat"/>
                        </a:defRPr>
                      </a:pPr>
                      <a:r>
                        <a:t>28,049</a:t>
                      </a:r>
                    </a:p>
                  </a:txBody>
                  <a:tcPr>
                    <a:solidFill>
                      <a:srgbClr val="ECD3D9"/>
                    </a:solidFill>
                  </a:tcPr>
                </a:tc>
                <a:tc>
                  <a:txBody>
                    <a:bodyPr/>
                    <a:lstStyle/>
                    <a:p>
                      <a:pPr algn="ctr">
                        <a:defRPr sz="1000">
                          <a:latin typeface="Montserrat"/>
                        </a:defRPr>
                      </a:pPr>
                      <a:r>
                        <a:t>72,270</a:t>
                      </a:r>
                    </a:p>
                  </a:txBody>
                  <a:tcPr>
                    <a:solidFill>
                      <a:srgbClr val="ECD3D9"/>
                    </a:solidFill>
                  </a:tcPr>
                </a:tc>
                <a:tc>
                  <a:txBody>
                    <a:bodyPr/>
                    <a:lstStyle/>
                    <a:p>
                      <a:pPr algn="ctr">
                        <a:defRPr sz="1000">
                          <a:latin typeface="Montserrat"/>
                        </a:defRPr>
                      </a:pPr>
                      <a:r>
                        <a:t>38.8%</a:t>
                      </a:r>
                    </a:p>
                  </a:txBody>
                  <a:tcPr>
                    <a:solidFill>
                      <a:srgbClr val="ECD3D9"/>
                    </a:solidFill>
                  </a:tcPr>
                </a:tc>
              </a:tr>
              <a:tr h="284400">
                <a:tc>
                  <a:txBody>
                    <a:bodyPr/>
                    <a:lstStyle/>
                    <a:p>
                      <a:pPr algn="l">
                        <a:defRPr sz="1000">
                          <a:latin typeface="Montserrat"/>
                        </a:defRPr>
                      </a:pPr>
                      <a:r>
                        <a:t>HGSMF 26 Tuxpan</a:t>
                      </a:r>
                    </a:p>
                  </a:txBody>
                  <a:tcPr>
                    <a:solidFill>
                      <a:srgbClr val="FFFFFF"/>
                    </a:solidFill>
                  </a:tcPr>
                </a:tc>
                <a:tc>
                  <a:txBody>
                    <a:bodyPr/>
                    <a:lstStyle/>
                    <a:p>
                      <a:pPr algn="ctr">
                        <a:defRPr sz="1000">
                          <a:latin typeface="Montserrat"/>
                        </a:defRPr>
                      </a:pPr>
                      <a:r>
                        <a:t>23,295</a:t>
                      </a:r>
                    </a:p>
                  </a:txBody>
                  <a:tcPr>
                    <a:solidFill>
                      <a:srgbClr val="FFFFFF"/>
                    </a:solidFill>
                  </a:tcPr>
                </a:tc>
                <a:tc>
                  <a:txBody>
                    <a:bodyPr/>
                    <a:lstStyle/>
                    <a:p>
                      <a:pPr algn="ctr">
                        <a:defRPr sz="1000">
                          <a:latin typeface="Montserrat"/>
                        </a:defRPr>
                      </a:pPr>
                      <a:r>
                        <a:t>516</a:t>
                      </a:r>
                    </a:p>
                  </a:txBody>
                  <a:tcPr>
                    <a:solidFill>
                      <a:srgbClr val="FFFFFF"/>
                    </a:solidFill>
                  </a:tcPr>
                </a:tc>
                <a:tc>
                  <a:txBody>
                    <a:bodyPr/>
                    <a:lstStyle/>
                    <a:p>
                      <a:pPr algn="ctr">
                        <a:defRPr sz="1000">
                          <a:latin typeface="Montserrat"/>
                        </a:defRPr>
                      </a:pPr>
                      <a:r>
                        <a:t>9,539</a:t>
                      </a:r>
                    </a:p>
                  </a:txBody>
                  <a:tcPr>
                    <a:solidFill>
                      <a:srgbClr val="ECD3D9"/>
                    </a:solidFill>
                  </a:tcPr>
                </a:tc>
                <a:tc>
                  <a:txBody>
                    <a:bodyPr/>
                    <a:lstStyle/>
                    <a:p>
                      <a:pPr algn="ctr">
                        <a:defRPr sz="1000">
                          <a:latin typeface="Montserrat"/>
                        </a:defRPr>
                      </a:pPr>
                      <a:r>
                        <a:t>26,280</a:t>
                      </a:r>
                    </a:p>
                  </a:txBody>
                  <a:tcPr>
                    <a:solidFill>
                      <a:srgbClr val="ECD3D9"/>
                    </a:solidFill>
                  </a:tcPr>
                </a:tc>
                <a:tc>
                  <a:txBody>
                    <a:bodyPr/>
                    <a:lstStyle/>
                    <a:p>
                      <a:pPr algn="ctr">
                        <a:defRPr sz="1000">
                          <a:latin typeface="Montserrat"/>
                        </a:defRPr>
                      </a:pPr>
                      <a:r>
                        <a:t>36.3%</a:t>
                      </a:r>
                    </a:p>
                  </a:txBody>
                  <a:tcPr>
                    <a:solidFill>
                      <a:srgbClr val="ECD3D9"/>
                    </a:solidFill>
                  </a:tcPr>
                </a:tc>
              </a:tr>
              <a:tr h="284400">
                <a:tc>
                  <a:txBody>
                    <a:bodyPr/>
                    <a:lstStyle/>
                    <a:p>
                      <a:pPr algn="l">
                        <a:defRPr sz="1000">
                          <a:latin typeface="Montserrat"/>
                        </a:defRPr>
                      </a:pPr>
                      <a:r>
                        <a:t>HGZ 36 Coatzacoalos</a:t>
                      </a:r>
                    </a:p>
                  </a:txBody>
                  <a:tcPr>
                    <a:solidFill>
                      <a:srgbClr val="EFEFEF"/>
                    </a:solidFill>
                  </a:tcPr>
                </a:tc>
                <a:tc>
                  <a:txBody>
                    <a:bodyPr/>
                    <a:lstStyle/>
                    <a:p>
                      <a:pPr algn="ctr">
                        <a:defRPr sz="1000">
                          <a:latin typeface="Montserrat"/>
                        </a:defRPr>
                      </a:pPr>
                      <a:r>
                        <a:t>205,374</a:t>
                      </a:r>
                    </a:p>
                  </a:txBody>
                  <a:tcPr>
                    <a:solidFill>
                      <a:srgbClr val="EFEFEF"/>
                    </a:solidFill>
                  </a:tcPr>
                </a:tc>
                <a:tc>
                  <a:txBody>
                    <a:bodyPr/>
                    <a:lstStyle/>
                    <a:p>
                      <a:pPr algn="ctr">
                        <a:defRPr sz="1000">
                          <a:latin typeface="Montserrat"/>
                        </a:defRPr>
                      </a:pPr>
                      <a:r>
                        <a:t>134,701</a:t>
                      </a:r>
                    </a:p>
                  </a:txBody>
                  <a:tcPr>
                    <a:solidFill>
                      <a:srgbClr val="EFEFEF"/>
                    </a:solidFill>
                  </a:tcPr>
                </a:tc>
                <a:tc>
                  <a:txBody>
                    <a:bodyPr/>
                    <a:lstStyle/>
                    <a:p>
                      <a:pPr algn="ctr">
                        <a:defRPr sz="1000">
                          <a:latin typeface="Montserrat"/>
                        </a:defRPr>
                      </a:pPr>
                      <a:r>
                        <a:t>75,563</a:t>
                      </a:r>
                    </a:p>
                  </a:txBody>
                  <a:tcPr>
                    <a:solidFill>
                      <a:srgbClr val="ECD3D9"/>
                    </a:solidFill>
                  </a:tcPr>
                </a:tc>
                <a:tc>
                  <a:txBody>
                    <a:bodyPr/>
                    <a:lstStyle/>
                    <a:p>
                      <a:pPr algn="ctr">
                        <a:defRPr sz="1000">
                          <a:latin typeface="Montserrat"/>
                        </a:defRPr>
                      </a:pPr>
                      <a:r>
                        <a:t>210,240</a:t>
                      </a:r>
                    </a:p>
                  </a:txBody>
                  <a:tcPr>
                    <a:solidFill>
                      <a:srgbClr val="ECD3D9"/>
                    </a:solidFill>
                  </a:tcPr>
                </a:tc>
                <a:tc>
                  <a:txBody>
                    <a:bodyPr/>
                    <a:lstStyle/>
                    <a:p>
                      <a:pPr algn="ctr">
                        <a:defRPr sz="1000">
                          <a:latin typeface="Montserrat"/>
                        </a:defRPr>
                      </a:pPr>
                      <a:r>
                        <a:t>35.9%</a:t>
                      </a:r>
                    </a:p>
                  </a:txBody>
                  <a:tcPr>
                    <a:solidFill>
                      <a:srgbClr val="ECD3D9"/>
                    </a:solidFill>
                  </a:tcPr>
                </a:tc>
              </a:tr>
              <a:tr h="284400">
                <a:tc>
                  <a:txBody>
                    <a:bodyPr/>
                    <a:lstStyle/>
                    <a:p>
                      <a:pPr algn="l">
                        <a:defRPr sz="1000">
                          <a:latin typeface="Montserrat"/>
                        </a:defRPr>
                      </a:pPr>
                      <a:r>
                        <a:t>HGZ 8 Córdoba</a:t>
                      </a:r>
                    </a:p>
                  </a:txBody>
                  <a:tcPr>
                    <a:solidFill>
                      <a:srgbClr val="FFFFFF"/>
                    </a:solidFill>
                  </a:tcPr>
                </a:tc>
                <a:tc>
                  <a:txBody>
                    <a:bodyPr/>
                    <a:lstStyle/>
                    <a:p>
                      <a:pPr algn="ctr">
                        <a:defRPr sz="1000">
                          <a:latin typeface="Montserrat"/>
                        </a:defRPr>
                      </a:pPr>
                      <a:r>
                        <a:t>134,868</a:t>
                      </a:r>
                    </a:p>
                  </a:txBody>
                  <a:tcPr>
                    <a:solidFill>
                      <a:srgbClr val="FFFFFF"/>
                    </a:solidFill>
                  </a:tcPr>
                </a:tc>
                <a:tc>
                  <a:txBody>
                    <a:bodyPr/>
                    <a:lstStyle/>
                    <a:p>
                      <a:pPr algn="ctr">
                        <a:defRPr sz="1000">
                          <a:latin typeface="Montserrat"/>
                        </a:defRPr>
                      </a:pPr>
                      <a:r>
                        <a:t>34,833</a:t>
                      </a:r>
                    </a:p>
                  </a:txBody>
                  <a:tcPr>
                    <a:solidFill>
                      <a:srgbClr val="FFFFFF"/>
                    </a:solidFill>
                  </a:tcPr>
                </a:tc>
                <a:tc>
                  <a:txBody>
                    <a:bodyPr/>
                    <a:lstStyle/>
                    <a:p>
                      <a:pPr algn="ctr">
                        <a:defRPr sz="1000">
                          <a:latin typeface="Montserrat"/>
                        </a:defRPr>
                      </a:pPr>
                      <a:r>
                        <a:t>50,531</a:t>
                      </a:r>
                    </a:p>
                  </a:txBody>
                  <a:tcPr>
                    <a:solidFill>
                      <a:srgbClr val="ECD3D9"/>
                    </a:solidFill>
                  </a:tcPr>
                </a:tc>
                <a:tc>
                  <a:txBody>
                    <a:bodyPr/>
                    <a:lstStyle/>
                    <a:p>
                      <a:pPr algn="ctr">
                        <a:defRPr sz="1000">
                          <a:latin typeface="Montserrat"/>
                        </a:defRPr>
                      </a:pPr>
                      <a:r>
                        <a:t>144,540</a:t>
                      </a:r>
                    </a:p>
                  </a:txBody>
                  <a:tcPr>
                    <a:solidFill>
                      <a:srgbClr val="ECD3D9"/>
                    </a:solidFill>
                  </a:tcPr>
                </a:tc>
                <a:tc>
                  <a:txBody>
                    <a:bodyPr/>
                    <a:lstStyle/>
                    <a:p>
                      <a:pPr algn="ctr">
                        <a:defRPr sz="1000">
                          <a:latin typeface="Montserrat"/>
                        </a:defRPr>
                      </a:pPr>
                      <a:r>
                        <a:t>35.0%</a:t>
                      </a:r>
                    </a:p>
                  </a:txBody>
                  <a:tcPr>
                    <a:solidFill>
                      <a:srgbClr val="ECD3D9"/>
                    </a:solidFill>
                  </a:tcPr>
                </a:tc>
              </a:tr>
              <a:tr h="284400">
                <a:tc>
                  <a:txBody>
                    <a:bodyPr/>
                    <a:lstStyle/>
                    <a:p>
                      <a:pPr algn="l">
                        <a:defRPr sz="1000">
                          <a:latin typeface="Montserrat"/>
                        </a:defRPr>
                      </a:pPr>
                      <a:r>
                        <a:t>HGS 33 Tierra Blanca</a:t>
                      </a:r>
                    </a:p>
                  </a:txBody>
                  <a:tcPr>
                    <a:solidFill>
                      <a:srgbClr val="EFEFEF"/>
                    </a:solidFill>
                  </a:tcPr>
                </a:tc>
                <a:tc>
                  <a:txBody>
                    <a:bodyPr/>
                    <a:lstStyle/>
                    <a:p>
                      <a:pPr algn="ctr">
                        <a:defRPr sz="1000">
                          <a:latin typeface="Montserrat"/>
                        </a:defRPr>
                      </a:pPr>
                      <a:r>
                        <a:t>21,047</a:t>
                      </a:r>
                    </a:p>
                  </a:txBody>
                  <a:tcPr>
                    <a:solidFill>
                      <a:srgbClr val="EFEFEF"/>
                    </a:solidFill>
                  </a:tcPr>
                </a:tc>
                <a:tc>
                  <a:txBody>
                    <a:bodyPr/>
                    <a:lstStyle/>
                    <a:p>
                      <a:pPr algn="ctr">
                        <a:defRPr sz="1000">
                          <a:latin typeface="Montserrat"/>
                        </a:defRPr>
                      </a:pPr>
                      <a:r>
                        <a:t>11,474</a:t>
                      </a:r>
                    </a:p>
                  </a:txBody>
                  <a:tcPr>
                    <a:solidFill>
                      <a:srgbClr val="EFEFEF"/>
                    </a:solidFill>
                  </a:tcPr>
                </a:tc>
                <a:tc>
                  <a:txBody>
                    <a:bodyPr/>
                    <a:lstStyle/>
                    <a:p>
                      <a:pPr algn="ctr">
                        <a:defRPr sz="1000">
                          <a:latin typeface="Montserrat"/>
                        </a:defRPr>
                      </a:pPr>
                      <a:r>
                        <a:t>7,832</a:t>
                      </a:r>
                    </a:p>
                  </a:txBody>
                  <a:tcPr>
                    <a:solidFill>
                      <a:srgbClr val="ECD3D9"/>
                    </a:solidFill>
                  </a:tcPr>
                </a:tc>
                <a:tc>
                  <a:txBody>
                    <a:bodyPr/>
                    <a:lstStyle/>
                    <a:p>
                      <a:pPr algn="ctr">
                        <a:defRPr sz="1000">
                          <a:latin typeface="Montserrat"/>
                        </a:defRPr>
                      </a:pPr>
                      <a:r>
                        <a:t>23,360</a:t>
                      </a:r>
                    </a:p>
                  </a:txBody>
                  <a:tcPr>
                    <a:solidFill>
                      <a:srgbClr val="ECD3D9"/>
                    </a:solidFill>
                  </a:tcPr>
                </a:tc>
                <a:tc>
                  <a:txBody>
                    <a:bodyPr/>
                    <a:lstStyle/>
                    <a:p>
                      <a:pPr algn="ctr">
                        <a:defRPr sz="1000">
                          <a:latin typeface="Montserrat"/>
                        </a:defRPr>
                      </a:pPr>
                      <a:r>
                        <a:t>33.5%</a:t>
                      </a:r>
                    </a:p>
                  </a:txBody>
                  <a:tcPr>
                    <a:solidFill>
                      <a:srgbClr val="ECD3D9"/>
                    </a:solidFill>
                  </a:tcPr>
                </a:tc>
              </a:tr>
              <a:tr h="284400">
                <a:tc>
                  <a:txBody>
                    <a:bodyPr/>
                    <a:lstStyle/>
                    <a:p>
                      <a:pPr algn="l">
                        <a:defRPr sz="1000">
                          <a:latin typeface="Montserrat"/>
                        </a:defRPr>
                      </a:pPr>
                      <a:r>
                        <a:t>HGZMF 50 Lerdo Tejada</a:t>
                      </a:r>
                    </a:p>
                  </a:txBody>
                  <a:tcPr>
                    <a:solidFill>
                      <a:srgbClr val="FFFFFF"/>
                    </a:solidFill>
                  </a:tcPr>
                </a:tc>
                <a:tc>
                  <a:txBody>
                    <a:bodyPr/>
                    <a:lstStyle/>
                    <a:p>
                      <a:pPr algn="ctr">
                        <a:defRPr sz="1000">
                          <a:latin typeface="Montserrat"/>
                        </a:defRPr>
                      </a:pPr>
                      <a:r>
                        <a:t>28,969</a:t>
                      </a:r>
                    </a:p>
                  </a:txBody>
                  <a:tcPr>
                    <a:solidFill>
                      <a:srgbClr val="FFFFFF"/>
                    </a:solidFill>
                  </a:tcPr>
                </a:tc>
                <a:tc>
                  <a:txBody>
                    <a:bodyPr/>
                    <a:lstStyle/>
                    <a:p>
                      <a:pPr algn="ctr">
                        <a:defRPr sz="1000">
                          <a:latin typeface="Montserrat"/>
                        </a:defRPr>
                      </a:pPr>
                      <a:r>
                        <a:t>4,471</a:t>
                      </a:r>
                    </a:p>
                  </a:txBody>
                  <a:tcPr>
                    <a:solidFill>
                      <a:srgbClr val="FFFFFF"/>
                    </a:solidFill>
                  </a:tcPr>
                </a:tc>
                <a:tc>
                  <a:txBody>
                    <a:bodyPr/>
                    <a:lstStyle/>
                    <a:p>
                      <a:pPr algn="ctr">
                        <a:defRPr sz="1000">
                          <a:latin typeface="Montserrat"/>
                        </a:defRPr>
                      </a:pPr>
                      <a:r>
                        <a:t>13,149</a:t>
                      </a:r>
                    </a:p>
                  </a:txBody>
                  <a:tcPr>
                    <a:solidFill>
                      <a:srgbClr val="ECD3D9"/>
                    </a:solidFill>
                  </a:tcPr>
                </a:tc>
                <a:tc>
                  <a:txBody>
                    <a:bodyPr/>
                    <a:lstStyle/>
                    <a:p>
                      <a:pPr algn="ctr">
                        <a:defRPr sz="1000">
                          <a:latin typeface="Montserrat"/>
                        </a:defRPr>
                      </a:pPr>
                      <a:r>
                        <a:t>39,420</a:t>
                      </a:r>
                    </a:p>
                  </a:txBody>
                  <a:tcPr>
                    <a:solidFill>
                      <a:srgbClr val="ECD3D9"/>
                    </a:solidFill>
                  </a:tcPr>
                </a:tc>
                <a:tc>
                  <a:txBody>
                    <a:bodyPr/>
                    <a:lstStyle/>
                    <a:p>
                      <a:pPr algn="ctr">
                        <a:defRPr sz="1000">
                          <a:latin typeface="Montserrat"/>
                        </a:defRPr>
                      </a:pPr>
                      <a:r>
                        <a:t>33.4%</a:t>
                      </a:r>
                    </a:p>
                  </a:txBody>
                  <a:tcPr>
                    <a:solidFill>
                      <a:srgbClr val="ECD3D9"/>
                    </a:solidFill>
                  </a:tcPr>
                </a:tc>
              </a:tr>
              <a:tr h="284400">
                <a:tc>
                  <a:txBody>
                    <a:bodyPr/>
                    <a:lstStyle/>
                    <a:p>
                      <a:pPr algn="l">
                        <a:defRPr sz="1000">
                          <a:latin typeface="Montserrat"/>
                        </a:defRPr>
                      </a:pPr>
                      <a:r>
                        <a:t>HGSMF 12 Potrero</a:t>
                      </a:r>
                    </a:p>
                  </a:txBody>
                  <a:tcPr>
                    <a:solidFill>
                      <a:srgbClr val="EFEFEF"/>
                    </a:solidFill>
                  </a:tcPr>
                </a:tc>
                <a:tc>
                  <a:txBody>
                    <a:bodyPr/>
                    <a:lstStyle/>
                    <a:p>
                      <a:pPr algn="ctr">
                        <a:defRPr sz="1000">
                          <a:latin typeface="Montserrat"/>
                        </a:defRPr>
                      </a:pPr>
                      <a:r>
                        <a:t>9,714</a:t>
                      </a:r>
                    </a:p>
                  </a:txBody>
                  <a:tcPr>
                    <a:solidFill>
                      <a:srgbClr val="EFEFEF"/>
                    </a:solidFill>
                  </a:tcPr>
                </a:tc>
                <a:tc>
                  <a:txBody>
                    <a:bodyPr/>
                    <a:lstStyle/>
                    <a:p>
                      <a:pPr algn="ctr">
                        <a:defRPr sz="1000">
                          <a:latin typeface="Montserrat"/>
                        </a:defRPr>
                      </a:pPr>
                      <a:r>
                        <a:t>2,231</a:t>
                      </a:r>
                    </a:p>
                  </a:txBody>
                  <a:tcPr>
                    <a:solidFill>
                      <a:srgbClr val="EFEFEF"/>
                    </a:solidFill>
                  </a:tcPr>
                </a:tc>
                <a:tc>
                  <a:txBody>
                    <a:bodyPr/>
                    <a:lstStyle/>
                    <a:p>
                      <a:pPr algn="ctr">
                        <a:defRPr sz="1000">
                          <a:latin typeface="Montserrat"/>
                        </a:defRPr>
                      </a:pPr>
                      <a:r>
                        <a:t>4,305</a:t>
                      </a:r>
                    </a:p>
                  </a:txBody>
                  <a:tcPr>
                    <a:solidFill>
                      <a:srgbClr val="ECD3D9"/>
                    </a:solidFill>
                  </a:tcPr>
                </a:tc>
                <a:tc>
                  <a:txBody>
                    <a:bodyPr/>
                    <a:lstStyle/>
                    <a:p>
                      <a:pPr algn="ctr">
                        <a:defRPr sz="1000">
                          <a:latin typeface="Montserrat"/>
                        </a:defRPr>
                      </a:pPr>
                      <a:r>
                        <a:t>13,140</a:t>
                      </a:r>
                    </a:p>
                  </a:txBody>
                  <a:tcPr>
                    <a:solidFill>
                      <a:srgbClr val="ECD3D9"/>
                    </a:solidFill>
                  </a:tcPr>
                </a:tc>
                <a:tc>
                  <a:txBody>
                    <a:bodyPr/>
                    <a:lstStyle/>
                    <a:p>
                      <a:pPr algn="ctr">
                        <a:defRPr sz="1000">
                          <a:latin typeface="Montserrat"/>
                        </a:defRPr>
                      </a:pPr>
                      <a:r>
                        <a:t>32.8%</a:t>
                      </a:r>
                    </a:p>
                  </a:txBody>
                  <a:tcPr>
                    <a:solidFill>
                      <a:srgbClr val="ECD3D9"/>
                    </a:solidFill>
                  </a:tcPr>
                </a:tc>
              </a:tr>
              <a:tr h="284400">
                <a:tc>
                  <a:txBody>
                    <a:bodyPr/>
                    <a:lstStyle/>
                    <a:p>
                      <a:pPr algn="l">
                        <a:defRPr sz="1000">
                          <a:latin typeface="Montserrat"/>
                        </a:defRPr>
                      </a:pPr>
                      <a:r>
                        <a:t>HGZMF 36 José Cardel</a:t>
                      </a:r>
                    </a:p>
                  </a:txBody>
                  <a:tcPr>
                    <a:solidFill>
                      <a:srgbClr val="FFFFFF"/>
                    </a:solidFill>
                  </a:tcPr>
                </a:tc>
                <a:tc>
                  <a:txBody>
                    <a:bodyPr/>
                    <a:lstStyle/>
                    <a:p>
                      <a:pPr algn="ctr">
                        <a:defRPr sz="1000">
                          <a:latin typeface="Montserrat"/>
                        </a:defRPr>
                      </a:pPr>
                      <a:r>
                        <a:t>37,044</a:t>
                      </a:r>
                    </a:p>
                  </a:txBody>
                  <a:tcPr>
                    <a:solidFill>
                      <a:srgbClr val="FFFFFF"/>
                    </a:solidFill>
                  </a:tcPr>
                </a:tc>
                <a:tc>
                  <a:txBody>
                    <a:bodyPr/>
                    <a:lstStyle/>
                    <a:p>
                      <a:pPr algn="ctr">
                        <a:defRPr sz="1000">
                          <a:latin typeface="Montserrat"/>
                        </a:defRPr>
                      </a:pPr>
                      <a:r>
                        <a:t>7,150</a:t>
                      </a:r>
                    </a:p>
                  </a:txBody>
                  <a:tcPr>
                    <a:solidFill>
                      <a:srgbClr val="FFFFFF"/>
                    </a:solidFill>
                  </a:tcPr>
                </a:tc>
                <a:tc>
                  <a:txBody>
                    <a:bodyPr/>
                    <a:lstStyle/>
                    <a:p>
                      <a:pPr algn="ctr">
                        <a:defRPr sz="1000">
                          <a:latin typeface="Montserrat"/>
                        </a:defRPr>
                      </a:pPr>
                      <a:r>
                        <a:t>16,144</a:t>
                      </a:r>
                    </a:p>
                  </a:txBody>
                  <a:tcPr>
                    <a:solidFill>
                      <a:srgbClr val="ECD3D9"/>
                    </a:solidFill>
                  </a:tcPr>
                </a:tc>
                <a:tc>
                  <a:txBody>
                    <a:bodyPr/>
                    <a:lstStyle/>
                    <a:p>
                      <a:pPr algn="ctr">
                        <a:defRPr sz="1000">
                          <a:latin typeface="Montserrat"/>
                        </a:defRPr>
                      </a:pPr>
                      <a:r>
                        <a:t>49,640</a:t>
                      </a:r>
                    </a:p>
                  </a:txBody>
                  <a:tcPr>
                    <a:solidFill>
                      <a:srgbClr val="ECD3D9"/>
                    </a:solidFill>
                  </a:tcPr>
                </a:tc>
                <a:tc>
                  <a:txBody>
                    <a:bodyPr/>
                    <a:lstStyle/>
                    <a:p>
                      <a:pPr algn="ctr">
                        <a:defRPr sz="1000">
                          <a:latin typeface="Montserrat"/>
                        </a:defRPr>
                      </a:pPr>
                      <a:r>
                        <a:t>32.5%</a:t>
                      </a:r>
                    </a:p>
                  </a:txBody>
                  <a:tcPr>
                    <a:solidFill>
                      <a:srgbClr val="ECD3D9"/>
                    </a:solidFill>
                  </a:tcPr>
                </a:tc>
              </a:tr>
              <a:tr h="284400">
                <a:tc>
                  <a:txBody>
                    <a:bodyPr/>
                    <a:lstStyle/>
                    <a:p>
                      <a:pPr algn="l">
                        <a:defRPr sz="1000">
                          <a:latin typeface="Montserrat"/>
                        </a:defRPr>
                      </a:pPr>
                      <a:r>
                        <a:t>HGSMF 33 S. Andrés Tuxtla</a:t>
                      </a:r>
                    </a:p>
                  </a:txBody>
                  <a:tcPr>
                    <a:solidFill>
                      <a:srgbClr val="EFEFEF"/>
                    </a:solidFill>
                  </a:tcPr>
                </a:tc>
                <a:tc>
                  <a:txBody>
                    <a:bodyPr/>
                    <a:lstStyle/>
                    <a:p>
                      <a:pPr algn="ctr">
                        <a:defRPr sz="1000">
                          <a:latin typeface="Montserrat"/>
                        </a:defRPr>
                      </a:pPr>
                      <a:r>
                        <a:t>18,094</a:t>
                      </a:r>
                    </a:p>
                  </a:txBody>
                  <a:tcPr>
                    <a:solidFill>
                      <a:srgbClr val="EFEFEF"/>
                    </a:solidFill>
                  </a:tcPr>
                </a:tc>
                <a:tc>
                  <a:txBody>
                    <a:bodyPr/>
                    <a:lstStyle/>
                    <a:p>
                      <a:pPr algn="ctr">
                        <a:defRPr sz="1000">
                          <a:latin typeface="Montserrat"/>
                        </a:defRPr>
                      </a:pPr>
                      <a:r>
                        <a:t>1,437</a:t>
                      </a:r>
                    </a:p>
                  </a:txBody>
                  <a:tcPr>
                    <a:solidFill>
                      <a:srgbClr val="EFEFEF"/>
                    </a:solidFill>
                  </a:tcPr>
                </a:tc>
                <a:tc>
                  <a:txBody>
                    <a:bodyPr/>
                    <a:lstStyle/>
                    <a:p>
                      <a:pPr algn="ctr">
                        <a:defRPr sz="1000">
                          <a:latin typeface="Montserrat"/>
                        </a:defRPr>
                      </a:pPr>
                      <a:r>
                        <a:t>8,581</a:t>
                      </a:r>
                    </a:p>
                  </a:txBody>
                  <a:tcPr>
                    <a:solidFill>
                      <a:srgbClr val="ECD3D9"/>
                    </a:solidFill>
                  </a:tcPr>
                </a:tc>
                <a:tc>
                  <a:txBody>
                    <a:bodyPr/>
                    <a:lstStyle/>
                    <a:p>
                      <a:pPr algn="ctr">
                        <a:defRPr sz="1000">
                          <a:latin typeface="Montserrat"/>
                        </a:defRPr>
                      </a:pPr>
                      <a:r>
                        <a:t>29,200</a:t>
                      </a:r>
                    </a:p>
                  </a:txBody>
                  <a:tcPr>
                    <a:solidFill>
                      <a:srgbClr val="ECD3D9"/>
                    </a:solidFill>
                  </a:tcPr>
                </a:tc>
                <a:tc>
                  <a:txBody>
                    <a:bodyPr/>
                    <a:lstStyle/>
                    <a:p>
                      <a:pPr algn="ctr">
                        <a:defRPr sz="1000">
                          <a:latin typeface="Montserrat"/>
                        </a:defRPr>
                      </a:pPr>
                      <a:r>
                        <a:t>29.4%</a:t>
                      </a:r>
                    </a:p>
                  </a:txBody>
                  <a:tcPr>
                    <a:solidFill>
                      <a:srgbClr val="ECD3D9"/>
                    </a:solidFill>
                  </a:tcPr>
                </a:tc>
              </a:tr>
              <a:tr h="284400">
                <a:tc>
                  <a:txBody>
                    <a:bodyPr/>
                    <a:lstStyle/>
                    <a:p>
                      <a:pPr algn="l">
                        <a:defRPr sz="1000">
                          <a:latin typeface="Montserrat"/>
                        </a:defRPr>
                      </a:pPr>
                      <a:r>
                        <a:t>HGZ 24 Poza Rica</a:t>
                      </a:r>
                    </a:p>
                  </a:txBody>
                  <a:tcPr>
                    <a:solidFill>
                      <a:srgbClr val="FFFFFF"/>
                    </a:solidFill>
                  </a:tcPr>
                </a:tc>
                <a:tc>
                  <a:txBody>
                    <a:bodyPr/>
                    <a:lstStyle/>
                    <a:p>
                      <a:pPr algn="ctr">
                        <a:defRPr sz="1000">
                          <a:latin typeface="Montserrat"/>
                        </a:defRPr>
                      </a:pPr>
                      <a:r>
                        <a:t>67,972</a:t>
                      </a:r>
                    </a:p>
                  </a:txBody>
                  <a:tcPr>
                    <a:solidFill>
                      <a:srgbClr val="FFFFFF"/>
                    </a:solidFill>
                  </a:tcPr>
                </a:tc>
                <a:tc>
                  <a:txBody>
                    <a:bodyPr/>
                    <a:lstStyle/>
                    <a:p>
                      <a:pPr algn="ctr">
                        <a:defRPr sz="1000">
                          <a:latin typeface="Montserrat"/>
                        </a:defRPr>
                      </a:pPr>
                      <a:r>
                        <a:t>12,606</a:t>
                      </a:r>
                    </a:p>
                  </a:txBody>
                  <a:tcPr>
                    <a:solidFill>
                      <a:srgbClr val="FFFFFF"/>
                    </a:solidFill>
                  </a:tcPr>
                </a:tc>
                <a:tc>
                  <a:txBody>
                    <a:bodyPr/>
                    <a:lstStyle/>
                    <a:p>
                      <a:pPr algn="ctr">
                        <a:defRPr sz="1000">
                          <a:latin typeface="Montserrat"/>
                        </a:defRPr>
                      </a:pPr>
                      <a:r>
                        <a:t>28,673</a:t>
                      </a:r>
                    </a:p>
                  </a:txBody>
                  <a:tcPr>
                    <a:solidFill>
                      <a:srgbClr val="ECD3D9"/>
                    </a:solidFill>
                  </a:tcPr>
                </a:tc>
                <a:tc>
                  <a:txBody>
                    <a:bodyPr/>
                    <a:lstStyle/>
                    <a:p>
                      <a:pPr algn="ctr">
                        <a:defRPr sz="1000">
                          <a:latin typeface="Montserrat"/>
                        </a:defRPr>
                      </a:pPr>
                      <a:r>
                        <a:t>99,280</a:t>
                      </a:r>
                    </a:p>
                  </a:txBody>
                  <a:tcPr>
                    <a:solidFill>
                      <a:srgbClr val="ECD3D9"/>
                    </a:solidFill>
                  </a:tcPr>
                </a:tc>
                <a:tc>
                  <a:txBody>
                    <a:bodyPr/>
                    <a:lstStyle/>
                    <a:p>
                      <a:pPr algn="ctr">
                        <a:defRPr sz="1000">
                          <a:latin typeface="Montserrat"/>
                        </a:defRPr>
                      </a:pPr>
                      <a:r>
                        <a:t>28.9%</a:t>
                      </a:r>
                    </a:p>
                  </a:txBody>
                  <a:tcPr>
                    <a:solidFill>
                      <a:srgbClr val="ECD3D9"/>
                    </a:solidFill>
                  </a:tcPr>
                </a:tc>
              </a:tr>
              <a:tr h="284400">
                <a:tc>
                  <a:txBody>
                    <a:bodyPr/>
                    <a:lstStyle/>
                    <a:p>
                      <a:pPr algn="l">
                        <a:defRPr sz="1000">
                          <a:latin typeface="Montserrat"/>
                        </a:defRPr>
                      </a:pPr>
                      <a:r>
                        <a:t>HGSMF 16 Omealca</a:t>
                      </a:r>
                    </a:p>
                  </a:txBody>
                  <a:tcPr>
                    <a:solidFill>
                      <a:srgbClr val="EFEFEF"/>
                    </a:solidFill>
                  </a:tcPr>
                </a:tc>
                <a:tc>
                  <a:txBody>
                    <a:bodyPr/>
                    <a:lstStyle/>
                    <a:p>
                      <a:pPr algn="ctr">
                        <a:defRPr sz="1000">
                          <a:latin typeface="Montserrat"/>
                        </a:defRPr>
                      </a:pPr>
                      <a:r>
                        <a:t>2,807</a:t>
                      </a:r>
                    </a:p>
                  </a:txBody>
                  <a:tcPr>
                    <a:solidFill>
                      <a:srgbClr val="EFEFEF"/>
                    </a:solidFill>
                  </a:tcPr>
                </a:tc>
                <a:tc>
                  <a:txBody>
                    <a:bodyPr/>
                    <a:lstStyle/>
                    <a:p>
                      <a:pPr algn="ctr">
                        <a:defRPr sz="1000">
                          <a:latin typeface="Montserrat"/>
                        </a:defRPr>
                      </a:pPr>
                      <a:r>
                        <a:t>1,733</a:t>
                      </a:r>
                    </a:p>
                  </a:txBody>
                  <a:tcPr>
                    <a:solidFill>
                      <a:srgbClr val="EFEFEF"/>
                    </a:solidFill>
                  </a:tcPr>
                </a:tc>
                <a:tc>
                  <a:txBody>
                    <a:bodyPr/>
                    <a:lstStyle/>
                    <a:p>
                      <a:pPr algn="ctr">
                        <a:defRPr sz="1000">
                          <a:latin typeface="Montserrat"/>
                        </a:defRPr>
                      </a:pPr>
                      <a:r>
                        <a:t>1,556</a:t>
                      </a:r>
                    </a:p>
                  </a:txBody>
                  <a:tcPr>
                    <a:solidFill>
                      <a:srgbClr val="ECD3D9"/>
                    </a:solidFill>
                  </a:tcPr>
                </a:tc>
                <a:tc>
                  <a:txBody>
                    <a:bodyPr/>
                    <a:lstStyle/>
                    <a:p>
                      <a:pPr algn="ctr">
                        <a:defRPr sz="1000">
                          <a:latin typeface="Montserrat"/>
                        </a:defRPr>
                      </a:pPr>
                      <a:r>
                        <a:t>5,840</a:t>
                      </a:r>
                    </a:p>
                  </a:txBody>
                  <a:tcPr>
                    <a:solidFill>
                      <a:srgbClr val="ECD3D9"/>
                    </a:solidFill>
                  </a:tcPr>
                </a:tc>
                <a:tc>
                  <a:txBody>
                    <a:bodyPr/>
                    <a:lstStyle/>
                    <a:p>
                      <a:pPr algn="ctr">
                        <a:defRPr sz="1000">
                          <a:latin typeface="Montserrat"/>
                        </a:defRPr>
                      </a:pPr>
                      <a:r>
                        <a:t>26.6%</a:t>
                      </a:r>
                    </a:p>
                  </a:txBody>
                  <a:tcPr>
                    <a:solidFill>
                      <a:srgbClr val="ECD3D9"/>
                    </a:solidFill>
                  </a:tcPr>
                </a:tc>
              </a:tr>
              <a:tr h="284400">
                <a:tc>
                  <a:txBody>
                    <a:bodyPr/>
                    <a:lstStyle/>
                    <a:p>
                      <a:pPr algn="l">
                        <a:defRPr sz="1000">
                          <a:latin typeface="Montserrat"/>
                        </a:defRPr>
                      </a:pPr>
                      <a:r>
                        <a:t>HGZMF 28 Martínez de la Torre</a:t>
                      </a:r>
                    </a:p>
                  </a:txBody>
                  <a:tcPr>
                    <a:solidFill>
                      <a:srgbClr val="FFFFFF"/>
                    </a:solidFill>
                  </a:tcPr>
                </a:tc>
                <a:tc>
                  <a:txBody>
                    <a:bodyPr/>
                    <a:lstStyle/>
                    <a:p>
                      <a:pPr algn="ctr">
                        <a:defRPr sz="1000">
                          <a:latin typeface="Montserrat"/>
                        </a:defRPr>
                      </a:pPr>
                      <a:r>
                        <a:t>21,471</a:t>
                      </a:r>
                    </a:p>
                  </a:txBody>
                  <a:tcPr>
                    <a:solidFill>
                      <a:srgbClr val="FFFFFF"/>
                    </a:solidFill>
                  </a:tcPr>
                </a:tc>
                <a:tc>
                  <a:txBody>
                    <a:bodyPr/>
                    <a:lstStyle/>
                    <a:p>
                      <a:pPr algn="ctr">
                        <a:defRPr sz="1000">
                          <a:latin typeface="Montserrat"/>
                        </a:defRPr>
                      </a:pPr>
                      <a:r>
                        <a:t>3,034</a:t>
                      </a:r>
                    </a:p>
                  </a:txBody>
                  <a:tcPr>
                    <a:solidFill>
                      <a:srgbClr val="FFFFFF"/>
                    </a:solidFill>
                  </a:tcPr>
                </a:tc>
                <a:tc>
                  <a:txBody>
                    <a:bodyPr/>
                    <a:lstStyle/>
                    <a:p>
                      <a:pPr algn="ctr">
                        <a:defRPr sz="1000">
                          <a:latin typeface="Montserrat"/>
                        </a:defRPr>
                      </a:pPr>
                      <a:r>
                        <a:t>8,891</a:t>
                      </a:r>
                    </a:p>
                  </a:txBody>
                  <a:tcPr>
                    <a:solidFill>
                      <a:srgbClr val="ECD3D9"/>
                    </a:solidFill>
                  </a:tcPr>
                </a:tc>
                <a:tc>
                  <a:txBody>
                    <a:bodyPr/>
                    <a:lstStyle/>
                    <a:p>
                      <a:pPr algn="ctr">
                        <a:defRPr sz="1000">
                          <a:latin typeface="Montserrat"/>
                        </a:defRPr>
                      </a:pPr>
                      <a:r>
                        <a:t>37,230</a:t>
                      </a:r>
                    </a:p>
                  </a:txBody>
                  <a:tcPr>
                    <a:solidFill>
                      <a:srgbClr val="ECD3D9"/>
                    </a:solidFill>
                  </a:tcPr>
                </a:tc>
                <a:tc>
                  <a:txBody>
                    <a:bodyPr/>
                    <a:lstStyle/>
                    <a:p>
                      <a:pPr algn="ctr">
                        <a:defRPr sz="1000">
                          <a:latin typeface="Montserrat"/>
                        </a:defRPr>
                      </a:pPr>
                      <a:r>
                        <a:t>23.9%</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1,213,409</a:t>
                      </a:r>
                    </a:p>
                  </a:txBody>
                  <a:tcPr>
                    <a:solidFill>
                      <a:srgbClr val="D3E9E7"/>
                    </a:solidFill>
                  </a:tcPr>
                </a:tc>
                <a:tc>
                  <a:txBody>
                    <a:bodyPr/>
                    <a:lstStyle/>
                    <a:p>
                      <a:pPr algn="ctr">
                        <a:defRPr sz="1000" b="1">
                          <a:solidFill>
                            <a:srgbClr val="006556"/>
                          </a:solidFill>
                          <a:latin typeface="Montserrat"/>
                        </a:defRPr>
                      </a:pPr>
                      <a:r>
                        <a:t>382,582</a:t>
                      </a:r>
                    </a:p>
                  </a:txBody>
                  <a:tcPr>
                    <a:solidFill>
                      <a:srgbClr val="D3E9E7"/>
                    </a:solidFill>
                  </a:tcPr>
                </a:tc>
                <a:tc>
                  <a:txBody>
                    <a:bodyPr/>
                    <a:lstStyle/>
                    <a:p>
                      <a:pPr algn="ctr">
                        <a:defRPr sz="1000" b="1">
                          <a:solidFill>
                            <a:srgbClr val="FFFFFF"/>
                          </a:solidFill>
                          <a:latin typeface="Montserrat"/>
                        </a:defRPr>
                      </a:pPr>
                      <a:r>
                        <a:t>486,926</a:t>
                      </a:r>
                    </a:p>
                  </a:txBody>
                  <a:tcPr>
                    <a:solidFill>
                      <a:srgbClr val="9F2241"/>
                    </a:solidFill>
                  </a:tcPr>
                </a:tc>
                <a:tc>
                  <a:txBody>
                    <a:bodyPr/>
                    <a:lstStyle/>
                    <a:p>
                      <a:pPr algn="ctr">
                        <a:defRPr sz="1000" b="1">
                          <a:solidFill>
                            <a:srgbClr val="FFFFFF"/>
                          </a:solidFill>
                          <a:latin typeface="Montserrat"/>
                        </a:defRPr>
                      </a:pPr>
                      <a:r>
                        <a:t>1,327,870</a:t>
                      </a:r>
                    </a:p>
                  </a:txBody>
                  <a:tcPr>
                    <a:solidFill>
                      <a:srgbClr val="9F2241"/>
                    </a:solidFill>
                  </a:tcPr>
                </a:tc>
                <a:tc>
                  <a:txBody>
                    <a:bodyPr/>
                    <a:lstStyle/>
                    <a:p>
                      <a:pPr algn="ctr">
                        <a:defRPr sz="1000" b="1">
                          <a:solidFill>
                            <a:srgbClr val="FFFFFF"/>
                          </a:solidFill>
                          <a:latin typeface="Montserrat"/>
                        </a:defRPr>
                      </a:pPr>
                      <a:r>
                        <a:t>36.7%</a:t>
                      </a:r>
                    </a:p>
                  </a:txBody>
                  <a:tcPr>
                    <a:solidFill>
                      <a:srgbClr val="9F2241"/>
                    </a:solidFill>
                  </a:tcPr>
                </a:tc>
              </a:tr>
            </a:tbl>
          </a:graphicData>
        </a:graphic>
      </p:graphicFrame>
      <p:graphicFrame>
        <p:nvGraphicFramePr>
          <p:cNvPr id="237" name="Table 236"/>
          <p:cNvGraphicFramePr>
            <a:graphicFrameLocks noGrp="1"/>
          </p:cNvGraphicFramePr>
          <p:nvPr/>
        </p:nvGraphicFramePr>
        <p:xfrm>
          <a:off x="144000" y="6966000"/>
          <a:ext cx="7340399" cy="1137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HES 14 Veracruz</a:t>
                      </a:r>
                    </a:p>
                  </a:txBody>
                  <a:tcPr>
                    <a:solidFill>
                      <a:srgbClr val="FFFFFF"/>
                    </a:solidFill>
                  </a:tcPr>
                </a:tc>
                <a:tc>
                  <a:txBody>
                    <a:bodyPr/>
                    <a:lstStyle/>
                    <a:p>
                      <a:pPr algn="ctr">
                        <a:defRPr sz="1000">
                          <a:latin typeface="Montserrat"/>
                        </a:defRPr>
                      </a:pPr>
                      <a:r>
                        <a:t>228,395</a:t>
                      </a:r>
                    </a:p>
                  </a:txBody>
                  <a:tcPr>
                    <a:solidFill>
                      <a:srgbClr val="FFFFFF"/>
                    </a:solidFill>
                  </a:tcPr>
                </a:tc>
                <a:tc>
                  <a:txBody>
                    <a:bodyPr/>
                    <a:lstStyle/>
                    <a:p>
                      <a:pPr algn="ctr">
                        <a:defRPr sz="1000">
                          <a:latin typeface="Montserrat"/>
                        </a:defRPr>
                      </a:pPr>
                      <a:r>
                        <a:t>63,347</a:t>
                      </a:r>
                    </a:p>
                  </a:txBody>
                  <a:tcPr>
                    <a:solidFill>
                      <a:srgbClr val="FFFFFF"/>
                    </a:solidFill>
                  </a:tcPr>
                </a:tc>
                <a:tc>
                  <a:txBody>
                    <a:bodyPr/>
                    <a:lstStyle/>
                    <a:p>
                      <a:pPr algn="ctr">
                        <a:defRPr sz="1000">
                          <a:latin typeface="Montserrat"/>
                        </a:defRPr>
                      </a:pPr>
                      <a:r>
                        <a:t>95,384</a:t>
                      </a:r>
                    </a:p>
                  </a:txBody>
                  <a:tcPr>
                    <a:solidFill>
                      <a:srgbClr val="ECD3D9"/>
                    </a:solidFill>
                  </a:tcPr>
                </a:tc>
                <a:tc>
                  <a:txBody>
                    <a:bodyPr/>
                    <a:lstStyle/>
                    <a:p>
                      <a:pPr algn="ctr">
                        <a:defRPr sz="1000">
                          <a:latin typeface="Montserrat"/>
                        </a:defRPr>
                      </a:pPr>
                      <a:r>
                        <a:t>282,510</a:t>
                      </a:r>
                    </a:p>
                  </a:txBody>
                  <a:tcPr>
                    <a:solidFill>
                      <a:srgbClr val="ECD3D9"/>
                    </a:solidFill>
                  </a:tcPr>
                </a:tc>
                <a:tc>
                  <a:txBody>
                    <a:bodyPr/>
                    <a:lstStyle/>
                    <a:p>
                      <a:pPr algn="ctr">
                        <a:defRPr sz="1000">
                          <a:latin typeface="Montserrat"/>
                        </a:defRPr>
                      </a:pPr>
                      <a:r>
                        <a:t>33.8%</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228,395</a:t>
                      </a:r>
                    </a:p>
                  </a:txBody>
                  <a:tcPr>
                    <a:solidFill>
                      <a:srgbClr val="D3E9E7"/>
                    </a:solidFill>
                  </a:tcPr>
                </a:tc>
                <a:tc>
                  <a:txBody>
                    <a:bodyPr/>
                    <a:lstStyle/>
                    <a:p>
                      <a:pPr algn="ctr">
                        <a:defRPr sz="1000" b="1">
                          <a:solidFill>
                            <a:srgbClr val="006556"/>
                          </a:solidFill>
                          <a:latin typeface="Montserrat"/>
                        </a:defRPr>
                      </a:pPr>
                      <a:r>
                        <a:t>63,347</a:t>
                      </a:r>
                    </a:p>
                  </a:txBody>
                  <a:tcPr>
                    <a:solidFill>
                      <a:srgbClr val="D3E9E7"/>
                    </a:solidFill>
                  </a:tcPr>
                </a:tc>
                <a:tc>
                  <a:txBody>
                    <a:bodyPr/>
                    <a:lstStyle/>
                    <a:p>
                      <a:pPr algn="ctr">
                        <a:defRPr sz="1000" b="1">
                          <a:solidFill>
                            <a:srgbClr val="FFFFFF"/>
                          </a:solidFill>
                          <a:latin typeface="Montserrat"/>
                        </a:defRPr>
                      </a:pPr>
                      <a:r>
                        <a:t>95,384</a:t>
                      </a:r>
                    </a:p>
                  </a:txBody>
                  <a:tcPr>
                    <a:solidFill>
                      <a:srgbClr val="9F2241"/>
                    </a:solidFill>
                  </a:tcPr>
                </a:tc>
                <a:tc>
                  <a:txBody>
                    <a:bodyPr/>
                    <a:lstStyle/>
                    <a:p>
                      <a:pPr algn="ctr">
                        <a:defRPr sz="1000" b="1">
                          <a:solidFill>
                            <a:srgbClr val="FFFFFF"/>
                          </a:solidFill>
                          <a:latin typeface="Montserrat"/>
                        </a:defRPr>
                      </a:pPr>
                      <a:r>
                        <a:t>282,510</a:t>
                      </a:r>
                    </a:p>
                  </a:txBody>
                  <a:tcPr>
                    <a:solidFill>
                      <a:srgbClr val="9F2241"/>
                    </a:solidFill>
                  </a:tcPr>
                </a:tc>
                <a:tc>
                  <a:txBody>
                    <a:bodyPr/>
                    <a:lstStyle/>
                    <a:p>
                      <a:pPr algn="ctr">
                        <a:defRPr sz="1000" b="1">
                          <a:solidFill>
                            <a:srgbClr val="FFFFFF"/>
                          </a:solidFill>
                          <a:latin typeface="Montserrat"/>
                        </a:defRPr>
                      </a:pPr>
                      <a:r>
                        <a:t>33.8%</a:t>
                      </a:r>
                    </a:p>
                  </a:txBody>
                  <a:tcPr>
                    <a:solidFill>
                      <a:srgbClr val="9F2241"/>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1,441,804</a:t>
                      </a:r>
                    </a:p>
                  </a:txBody>
                  <a:tcPr>
                    <a:solidFill>
                      <a:srgbClr val="D3E9E7"/>
                    </a:solidFill>
                  </a:tcPr>
                </a:tc>
                <a:tc>
                  <a:txBody>
                    <a:bodyPr/>
                    <a:lstStyle/>
                    <a:p>
                      <a:pPr algn="ctr">
                        <a:defRPr sz="1000" b="1">
                          <a:solidFill>
                            <a:srgbClr val="006556"/>
                          </a:solidFill>
                          <a:latin typeface="Montserrat"/>
                        </a:defRPr>
                      </a:pPr>
                      <a:r>
                        <a:t>445,929</a:t>
                      </a:r>
                    </a:p>
                  </a:txBody>
                  <a:tcPr>
                    <a:solidFill>
                      <a:srgbClr val="D3E9E7"/>
                    </a:solidFill>
                  </a:tcPr>
                </a:tc>
                <a:tc>
                  <a:txBody>
                    <a:bodyPr/>
                    <a:lstStyle/>
                    <a:p>
                      <a:pPr algn="ctr">
                        <a:defRPr sz="1000" b="1">
                          <a:solidFill>
                            <a:srgbClr val="FFFFFF"/>
                          </a:solidFill>
                          <a:latin typeface="Montserrat"/>
                        </a:defRPr>
                      </a:pPr>
                      <a:r>
                        <a:t>582,310</a:t>
                      </a:r>
                    </a:p>
                  </a:txBody>
                  <a:tcPr>
                    <a:solidFill>
                      <a:srgbClr val="9F2241"/>
                    </a:solidFill>
                  </a:tcPr>
                </a:tc>
                <a:tc>
                  <a:txBody>
                    <a:bodyPr/>
                    <a:lstStyle/>
                    <a:p>
                      <a:pPr algn="ctr">
                        <a:defRPr sz="1000" b="1">
                          <a:solidFill>
                            <a:srgbClr val="FFFFFF"/>
                          </a:solidFill>
                          <a:latin typeface="Montserrat"/>
                        </a:defRPr>
                      </a:pPr>
                      <a:r>
                        <a:t>1,610,380</a:t>
                      </a:r>
                    </a:p>
                  </a:txBody>
                  <a:tcPr>
                    <a:solidFill>
                      <a:srgbClr val="9F2241"/>
                    </a:solidFill>
                  </a:tcPr>
                </a:tc>
                <a:tc>
                  <a:txBody>
                    <a:bodyPr/>
                    <a:lstStyle/>
                    <a:p>
                      <a:pPr algn="ctr">
                        <a:defRPr sz="1000" b="1">
                          <a:solidFill>
                            <a:srgbClr val="FFFFFF"/>
                          </a:solidFill>
                          <a:latin typeface="Montserrat"/>
                        </a:defRPr>
                      </a:pPr>
                      <a:r>
                        <a:t>36.2%</a:t>
                      </a:r>
                    </a:p>
                  </a:txBody>
                  <a:tcPr>
                    <a:solidFill>
                      <a:srgbClr val="9F2241"/>
                    </a:solidFill>
                  </a:tcPr>
                </a:tc>
              </a:tr>
            </a:tbl>
          </a:graphicData>
        </a:graphic>
      </p:graphicFrame>
      <p:graphicFrame>
        <p:nvGraphicFramePr>
          <p:cNvPr id="238" name="Chart 237"/>
          <p:cNvGraphicFramePr>
            <a:graphicFrameLocks noGrp="1"/>
          </p:cNvGraphicFramePr>
          <p:nvPr/>
        </p:nvGraphicFramePr>
        <p:xfrm>
          <a:off x="4780800" y="8838000"/>
          <a:ext cx="1800000" cy="1800000"/>
        </p:xfrm>
        <a:graphic>
          <a:graphicData uri="http://schemas.openxmlformats.org/drawingml/2006/chart">
            <c:chart xmlns:c="http://schemas.openxmlformats.org/drawingml/2006/chart" r:id="rId4"/>
          </a:graphicData>
        </a:graphic>
      </p:graphicFrame>
      <p:sp>
        <p:nvSpPr>
          <p:cNvPr id="239" name="TextBox 238"/>
          <p:cNvSpPr txBox="1"/>
          <p:nvPr/>
        </p:nvSpPr>
        <p:spPr>
          <a:xfrm>
            <a:off x="4780800" y="9558000"/>
            <a:ext cx="1800000" cy="360000"/>
          </a:xfrm>
          <a:prstGeom prst="rect">
            <a:avLst/>
          </a:prstGeom>
          <a:noFill/>
        </p:spPr>
        <p:txBody>
          <a:bodyPr wrap="none">
            <a:spAutoFit/>
          </a:bodyPr>
          <a:lstStyle/>
          <a:p>
            <a:pPr algn="ctr"/>
            <a:r>
              <a:rPr sz="2400" b="1">
                <a:solidFill>
                  <a:srgbClr val="9F2241"/>
                </a:solidFill>
                <a:latin typeface="Montserrat"/>
              </a:rPr>
              <a:t>36.2%</a:t>
            </a:r>
          </a:p>
        </p:txBody>
      </p:sp>
      <p:sp>
        <p:nvSpPr>
          <p:cNvPr id="240" name="TextBox 239"/>
          <p:cNvSpPr txBox="1"/>
          <p:nvPr/>
        </p:nvSpPr>
        <p:spPr>
          <a:xfrm>
            <a:off x="4780800" y="10458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1" name="TextBox 240"/>
          <p:cNvSpPr txBox="1"/>
          <p:nvPr/>
        </p:nvSpPr>
        <p:spPr>
          <a:xfrm>
            <a:off x="730799" y="8838000"/>
            <a:ext cx="2854800" cy="1198800"/>
          </a:xfrm>
          <a:prstGeom prst="rect">
            <a:avLst/>
          </a:prstGeom>
          <a:noFill/>
        </p:spPr>
        <p:txBody>
          <a:bodyPr wrap="square">
            <a:spAutoFit/>
          </a:bodyPr>
          <a:lstStyle/>
          <a:p>
            <a:pPr algn="ctr">
              <a:defRPr sz="3600" b="1">
                <a:solidFill>
                  <a:srgbClr val="9F2241"/>
                </a:solidFill>
                <a:latin typeface="Montserrat"/>
              </a:defRPr>
            </a:pPr>
            <a:r>
              <a:t>1,610,380 </a:t>
            </a:r>
            <a:br/>
            <a:r>
              <a:t>Meta 2026</a:t>
            </a:r>
          </a:p>
        </p:txBody>
      </p:sp>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3558970209"/>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las cirugías realizadas en HR.</a:t>
            </a:r>
            <a:br/>
            <a:r>
              <a:t>Sólo se consideran cirugías principales.</a:t>
            </a:r>
            <a:br/>
            <a:r>
              <a:t>Corte de información: Semana: 21, 17 mayo 2026</a:t>
            </a:r>
          </a:p>
        </p:txBody>
      </p:sp>
      <p:graphicFrame>
        <p:nvGraphicFramePr>
          <p:cNvPr id="233" name="Table 232"/>
          <p:cNvGraphicFramePr>
            <a:graphicFrameLocks noGrp="1"/>
          </p:cNvGraphicFramePr>
          <p:nvPr/>
        </p:nvGraphicFramePr>
        <p:xfrm>
          <a:off x="144000" y="1137600"/>
          <a:ext cx="7340399" cy="5403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HGSMF 26 Tuxpan</a:t>
                      </a:r>
                    </a:p>
                  </a:txBody>
                  <a:tcPr>
                    <a:solidFill>
                      <a:srgbClr val="FFFFFF"/>
                    </a:solidFill>
                  </a:tcPr>
                </a:tc>
                <a:tc>
                  <a:txBody>
                    <a:bodyPr/>
                    <a:lstStyle/>
                    <a:p>
                      <a:pPr algn="ctr">
                        <a:defRPr sz="1000">
                          <a:latin typeface="Montserrat"/>
                        </a:defRPr>
                      </a:pPr>
                      <a:r>
                        <a:t>1,894</a:t>
                      </a:r>
                    </a:p>
                  </a:txBody>
                  <a:tcPr>
                    <a:solidFill>
                      <a:srgbClr val="FFFFFF"/>
                    </a:solidFill>
                  </a:tcPr>
                </a:tc>
                <a:tc>
                  <a:txBody>
                    <a:bodyPr/>
                    <a:lstStyle/>
                    <a:p>
                      <a:pPr algn="ctr">
                        <a:defRPr sz="1000">
                          <a:latin typeface="Montserrat"/>
                        </a:defRPr>
                      </a:pPr>
                      <a:r>
                        <a:t>290</a:t>
                      </a:r>
                    </a:p>
                  </a:txBody>
                  <a:tcPr>
                    <a:solidFill>
                      <a:srgbClr val="FFFFFF"/>
                    </a:solidFill>
                  </a:tcPr>
                </a:tc>
                <a:tc>
                  <a:txBody>
                    <a:bodyPr/>
                    <a:lstStyle/>
                    <a:p>
                      <a:pPr algn="ctr">
                        <a:defRPr sz="1000">
                          <a:latin typeface="Montserrat"/>
                        </a:defRPr>
                      </a:pPr>
                      <a:r>
                        <a:t>745</a:t>
                      </a:r>
                    </a:p>
                  </a:txBody>
                  <a:tcPr>
                    <a:solidFill>
                      <a:srgbClr val="ECD3D9"/>
                    </a:solidFill>
                  </a:tcPr>
                </a:tc>
                <a:tc>
                  <a:txBody>
                    <a:bodyPr/>
                    <a:lstStyle/>
                    <a:p>
                      <a:pPr algn="ctr">
                        <a:defRPr sz="1000">
                          <a:latin typeface="Montserrat"/>
                        </a:defRPr>
                      </a:pPr>
                      <a:r>
                        <a:t>1,830</a:t>
                      </a:r>
                    </a:p>
                  </a:txBody>
                  <a:tcPr>
                    <a:solidFill>
                      <a:srgbClr val="ECD3D9"/>
                    </a:solidFill>
                  </a:tcPr>
                </a:tc>
                <a:tc>
                  <a:txBody>
                    <a:bodyPr/>
                    <a:lstStyle/>
                    <a:p>
                      <a:pPr algn="ctr">
                        <a:defRPr sz="1000">
                          <a:latin typeface="Montserrat"/>
                        </a:defRPr>
                      </a:pPr>
                      <a:r>
                        <a:t>40.7%</a:t>
                      </a:r>
                    </a:p>
                  </a:txBody>
                  <a:tcPr>
                    <a:solidFill>
                      <a:srgbClr val="ECD3D9"/>
                    </a:solidFill>
                  </a:tcPr>
                </a:tc>
              </a:tr>
              <a:tr h="284400">
                <a:tc>
                  <a:txBody>
                    <a:bodyPr/>
                    <a:lstStyle/>
                    <a:p>
                      <a:pPr algn="l">
                        <a:defRPr sz="1000">
                          <a:latin typeface="Montserrat"/>
                        </a:defRPr>
                      </a:pPr>
                      <a:r>
                        <a:t>HGZMF 35 Cosamaloapan</a:t>
                      </a:r>
                    </a:p>
                  </a:txBody>
                  <a:tcPr>
                    <a:solidFill>
                      <a:srgbClr val="EFEFEF"/>
                    </a:solidFill>
                  </a:tcPr>
                </a:tc>
                <a:tc>
                  <a:txBody>
                    <a:bodyPr/>
                    <a:lstStyle/>
                    <a:p>
                      <a:pPr algn="ctr">
                        <a:defRPr sz="1000">
                          <a:latin typeface="Montserrat"/>
                        </a:defRPr>
                      </a:pPr>
                      <a:r>
                        <a:t>4,423</a:t>
                      </a:r>
                    </a:p>
                  </a:txBody>
                  <a:tcPr>
                    <a:solidFill>
                      <a:srgbClr val="EFEFEF"/>
                    </a:solidFill>
                  </a:tcPr>
                </a:tc>
                <a:tc>
                  <a:txBody>
                    <a:bodyPr/>
                    <a:lstStyle/>
                    <a:p>
                      <a:pPr algn="ctr">
                        <a:defRPr sz="1000">
                          <a:latin typeface="Montserrat"/>
                        </a:defRPr>
                      </a:pPr>
                      <a:r>
                        <a:t>2,040</a:t>
                      </a:r>
                    </a:p>
                  </a:txBody>
                  <a:tcPr>
                    <a:solidFill>
                      <a:srgbClr val="EFEFEF"/>
                    </a:solidFill>
                  </a:tcPr>
                </a:tc>
                <a:tc>
                  <a:txBody>
                    <a:bodyPr/>
                    <a:lstStyle/>
                    <a:p>
                      <a:pPr algn="ctr">
                        <a:defRPr sz="1000">
                          <a:latin typeface="Montserrat"/>
                        </a:defRPr>
                      </a:pPr>
                      <a:r>
                        <a:t>2,037</a:t>
                      </a:r>
                    </a:p>
                  </a:txBody>
                  <a:tcPr>
                    <a:solidFill>
                      <a:srgbClr val="ECD3D9"/>
                    </a:solidFill>
                  </a:tcPr>
                </a:tc>
                <a:tc>
                  <a:txBody>
                    <a:bodyPr/>
                    <a:lstStyle/>
                    <a:p>
                      <a:pPr algn="ctr">
                        <a:defRPr sz="1000">
                          <a:latin typeface="Montserrat"/>
                        </a:defRPr>
                      </a:pPr>
                      <a:r>
                        <a:t>5,436</a:t>
                      </a:r>
                    </a:p>
                  </a:txBody>
                  <a:tcPr>
                    <a:solidFill>
                      <a:srgbClr val="ECD3D9"/>
                    </a:solidFill>
                  </a:tcPr>
                </a:tc>
                <a:tc>
                  <a:txBody>
                    <a:bodyPr/>
                    <a:lstStyle/>
                    <a:p>
                      <a:pPr algn="ctr">
                        <a:defRPr sz="1000">
                          <a:latin typeface="Montserrat"/>
                        </a:defRPr>
                      </a:pPr>
                      <a:r>
                        <a:t>37.5%</a:t>
                      </a:r>
                    </a:p>
                  </a:txBody>
                  <a:tcPr>
                    <a:solidFill>
                      <a:srgbClr val="ECD3D9"/>
                    </a:solidFill>
                  </a:tcPr>
                </a:tc>
              </a:tr>
              <a:tr h="284400">
                <a:tc>
                  <a:txBody>
                    <a:bodyPr/>
                    <a:lstStyle/>
                    <a:p>
                      <a:pPr algn="l">
                        <a:defRPr sz="1000">
                          <a:latin typeface="Montserrat"/>
                        </a:defRPr>
                      </a:pPr>
                      <a:r>
                        <a:t>HGZMF 28 Martínez de la Torre</a:t>
                      </a:r>
                    </a:p>
                  </a:txBody>
                  <a:tcPr>
                    <a:solidFill>
                      <a:srgbClr val="FFFFFF"/>
                    </a:solidFill>
                  </a:tcPr>
                </a:tc>
                <a:tc>
                  <a:txBody>
                    <a:bodyPr/>
                    <a:lstStyle/>
                    <a:p>
                      <a:pPr algn="ctr">
                        <a:defRPr sz="1000">
                          <a:latin typeface="Montserrat"/>
                        </a:defRPr>
                      </a:pPr>
                      <a:r>
                        <a:t>1,859</a:t>
                      </a:r>
                    </a:p>
                  </a:txBody>
                  <a:tcPr>
                    <a:solidFill>
                      <a:srgbClr val="FFFFFF"/>
                    </a:solidFill>
                  </a:tcPr>
                </a:tc>
                <a:tc>
                  <a:txBody>
                    <a:bodyPr/>
                    <a:lstStyle/>
                    <a:p>
                      <a:pPr algn="ctr">
                        <a:defRPr sz="1000">
                          <a:latin typeface="Montserrat"/>
                        </a:defRPr>
                      </a:pPr>
                      <a:r>
                        <a:t>221</a:t>
                      </a:r>
                    </a:p>
                  </a:txBody>
                  <a:tcPr>
                    <a:solidFill>
                      <a:srgbClr val="FFFFFF"/>
                    </a:solidFill>
                  </a:tcPr>
                </a:tc>
                <a:tc>
                  <a:txBody>
                    <a:bodyPr/>
                    <a:lstStyle/>
                    <a:p>
                      <a:pPr algn="ctr">
                        <a:defRPr sz="1000">
                          <a:latin typeface="Montserrat"/>
                        </a:defRPr>
                      </a:pPr>
                      <a:r>
                        <a:t>1,015</a:t>
                      </a:r>
                    </a:p>
                  </a:txBody>
                  <a:tcPr>
                    <a:solidFill>
                      <a:srgbClr val="ECD3D9"/>
                    </a:solidFill>
                  </a:tcPr>
                </a:tc>
                <a:tc>
                  <a:txBody>
                    <a:bodyPr/>
                    <a:lstStyle/>
                    <a:p>
                      <a:pPr algn="ctr">
                        <a:defRPr sz="1000">
                          <a:latin typeface="Montserrat"/>
                        </a:defRPr>
                      </a:pPr>
                      <a:r>
                        <a:t>2,718</a:t>
                      </a:r>
                    </a:p>
                  </a:txBody>
                  <a:tcPr>
                    <a:solidFill>
                      <a:srgbClr val="ECD3D9"/>
                    </a:solidFill>
                  </a:tcPr>
                </a:tc>
                <a:tc>
                  <a:txBody>
                    <a:bodyPr/>
                    <a:lstStyle/>
                    <a:p>
                      <a:pPr algn="ctr">
                        <a:defRPr sz="1000">
                          <a:latin typeface="Montserrat"/>
                        </a:defRPr>
                      </a:pPr>
                      <a:r>
                        <a:t>37.3%</a:t>
                      </a:r>
                    </a:p>
                  </a:txBody>
                  <a:tcPr>
                    <a:solidFill>
                      <a:srgbClr val="ECD3D9"/>
                    </a:solidFill>
                  </a:tcPr>
                </a:tc>
              </a:tr>
              <a:tr h="284400">
                <a:tc>
                  <a:txBody>
                    <a:bodyPr/>
                    <a:lstStyle/>
                    <a:p>
                      <a:pPr algn="l">
                        <a:defRPr sz="1000">
                          <a:latin typeface="Montserrat"/>
                        </a:defRPr>
                      </a:pPr>
                      <a:r>
                        <a:t>HGSMF 12 Potrero</a:t>
                      </a:r>
                    </a:p>
                  </a:txBody>
                  <a:tcPr>
                    <a:solidFill>
                      <a:srgbClr val="EFEFEF"/>
                    </a:solidFill>
                  </a:tcPr>
                </a:tc>
                <a:tc>
                  <a:txBody>
                    <a:bodyPr/>
                    <a:lstStyle/>
                    <a:p>
                      <a:pPr algn="ctr">
                        <a:defRPr sz="1000">
                          <a:latin typeface="Montserrat"/>
                        </a:defRPr>
                      </a:pPr>
                      <a:r>
                        <a:t>1,176</a:t>
                      </a:r>
                    </a:p>
                  </a:txBody>
                  <a:tcPr>
                    <a:solidFill>
                      <a:srgbClr val="EFEFEF"/>
                    </a:solidFill>
                  </a:tcPr>
                </a:tc>
                <a:tc>
                  <a:txBody>
                    <a:bodyPr/>
                    <a:lstStyle/>
                    <a:p>
                      <a:pPr algn="ctr">
                        <a:defRPr sz="1000">
                          <a:latin typeface="Montserrat"/>
                        </a:defRPr>
                      </a:pPr>
                      <a:r>
                        <a:t>715</a:t>
                      </a:r>
                    </a:p>
                  </a:txBody>
                  <a:tcPr>
                    <a:solidFill>
                      <a:srgbClr val="EFEFEF"/>
                    </a:solidFill>
                  </a:tcPr>
                </a:tc>
                <a:tc>
                  <a:txBody>
                    <a:bodyPr/>
                    <a:lstStyle/>
                    <a:p>
                      <a:pPr algn="ctr">
                        <a:defRPr sz="1000">
                          <a:latin typeface="Montserrat"/>
                        </a:defRPr>
                      </a:pPr>
                      <a:r>
                        <a:t>570</a:t>
                      </a:r>
                    </a:p>
                  </a:txBody>
                  <a:tcPr>
                    <a:solidFill>
                      <a:srgbClr val="ECD3D9"/>
                    </a:solidFill>
                  </a:tcPr>
                </a:tc>
                <a:tc>
                  <a:txBody>
                    <a:bodyPr/>
                    <a:lstStyle/>
                    <a:p>
                      <a:pPr algn="ctr">
                        <a:defRPr sz="1000">
                          <a:latin typeface="Montserrat"/>
                        </a:defRPr>
                      </a:pPr>
                      <a:r>
                        <a:t>1,566</a:t>
                      </a:r>
                    </a:p>
                  </a:txBody>
                  <a:tcPr>
                    <a:solidFill>
                      <a:srgbClr val="ECD3D9"/>
                    </a:solidFill>
                  </a:tcPr>
                </a:tc>
                <a:tc>
                  <a:txBody>
                    <a:bodyPr/>
                    <a:lstStyle/>
                    <a:p>
                      <a:pPr algn="ctr">
                        <a:defRPr sz="1000">
                          <a:latin typeface="Montserrat"/>
                        </a:defRPr>
                      </a:pPr>
                      <a:r>
                        <a:t>36.4%</a:t>
                      </a:r>
                    </a:p>
                  </a:txBody>
                  <a:tcPr>
                    <a:solidFill>
                      <a:srgbClr val="ECD3D9"/>
                    </a:solidFill>
                  </a:tcPr>
                </a:tc>
              </a:tr>
              <a:tr h="284400">
                <a:tc>
                  <a:txBody>
                    <a:bodyPr/>
                    <a:lstStyle/>
                    <a:p>
                      <a:pPr algn="l">
                        <a:defRPr sz="1000">
                          <a:latin typeface="Montserrat"/>
                        </a:defRPr>
                      </a:pPr>
                      <a:r>
                        <a:t>HGZ 71 Veracruz</a:t>
                      </a:r>
                    </a:p>
                  </a:txBody>
                  <a:tcPr>
                    <a:solidFill>
                      <a:srgbClr val="FFFFFF"/>
                    </a:solidFill>
                  </a:tcPr>
                </a:tc>
                <a:tc>
                  <a:txBody>
                    <a:bodyPr/>
                    <a:lstStyle/>
                    <a:p>
                      <a:pPr algn="ctr">
                        <a:defRPr sz="1000">
                          <a:latin typeface="Montserrat"/>
                        </a:defRPr>
                      </a:pPr>
                      <a:r>
                        <a:t>9,338</a:t>
                      </a:r>
                    </a:p>
                  </a:txBody>
                  <a:tcPr>
                    <a:solidFill>
                      <a:srgbClr val="FFFFFF"/>
                    </a:solidFill>
                  </a:tcPr>
                </a:tc>
                <a:tc>
                  <a:txBody>
                    <a:bodyPr/>
                    <a:lstStyle/>
                    <a:p>
                      <a:pPr algn="ctr">
                        <a:defRPr sz="1000">
                          <a:latin typeface="Montserrat"/>
                        </a:defRPr>
                      </a:pPr>
                      <a:r>
                        <a:t>552</a:t>
                      </a:r>
                    </a:p>
                  </a:txBody>
                  <a:tcPr>
                    <a:solidFill>
                      <a:srgbClr val="FFFFFF"/>
                    </a:solidFill>
                  </a:tcPr>
                </a:tc>
                <a:tc>
                  <a:txBody>
                    <a:bodyPr/>
                    <a:lstStyle/>
                    <a:p>
                      <a:pPr algn="ctr">
                        <a:defRPr sz="1000">
                          <a:latin typeface="Montserrat"/>
                        </a:defRPr>
                      </a:pPr>
                      <a:r>
                        <a:t>3,724</a:t>
                      </a:r>
                    </a:p>
                  </a:txBody>
                  <a:tcPr>
                    <a:solidFill>
                      <a:srgbClr val="ECD3D9"/>
                    </a:solidFill>
                  </a:tcPr>
                </a:tc>
                <a:tc>
                  <a:txBody>
                    <a:bodyPr/>
                    <a:lstStyle/>
                    <a:p>
                      <a:pPr algn="ctr">
                        <a:defRPr sz="1000">
                          <a:latin typeface="Montserrat"/>
                        </a:defRPr>
                      </a:pPr>
                      <a:r>
                        <a:t>10,350</a:t>
                      </a:r>
                    </a:p>
                  </a:txBody>
                  <a:tcPr>
                    <a:solidFill>
                      <a:srgbClr val="ECD3D9"/>
                    </a:solidFill>
                  </a:tcPr>
                </a:tc>
                <a:tc>
                  <a:txBody>
                    <a:bodyPr/>
                    <a:lstStyle/>
                    <a:p>
                      <a:pPr algn="ctr">
                        <a:defRPr sz="1000">
                          <a:latin typeface="Montserrat"/>
                        </a:defRPr>
                      </a:pPr>
                      <a:r>
                        <a:t>36.0%</a:t>
                      </a:r>
                    </a:p>
                  </a:txBody>
                  <a:tcPr>
                    <a:solidFill>
                      <a:srgbClr val="ECD3D9"/>
                    </a:solidFill>
                  </a:tcPr>
                </a:tc>
              </a:tr>
              <a:tr h="284400">
                <a:tc>
                  <a:txBody>
                    <a:bodyPr/>
                    <a:lstStyle/>
                    <a:p>
                      <a:pPr algn="l">
                        <a:defRPr sz="1000">
                          <a:latin typeface="Montserrat"/>
                        </a:defRPr>
                      </a:pPr>
                      <a:r>
                        <a:t>HGZMF 36 José Cardel</a:t>
                      </a:r>
                    </a:p>
                  </a:txBody>
                  <a:tcPr>
                    <a:solidFill>
                      <a:srgbClr val="EFEFEF"/>
                    </a:solidFill>
                  </a:tcPr>
                </a:tc>
                <a:tc>
                  <a:txBody>
                    <a:bodyPr/>
                    <a:lstStyle/>
                    <a:p>
                      <a:pPr algn="ctr">
                        <a:defRPr sz="1000">
                          <a:latin typeface="Montserrat"/>
                        </a:defRPr>
                      </a:pPr>
                      <a:r>
                        <a:t>2,006</a:t>
                      </a:r>
                    </a:p>
                  </a:txBody>
                  <a:tcPr>
                    <a:solidFill>
                      <a:srgbClr val="EFEFEF"/>
                    </a:solidFill>
                  </a:tcPr>
                </a:tc>
                <a:tc>
                  <a:txBody>
                    <a:bodyPr/>
                    <a:lstStyle/>
                    <a:p>
                      <a:pPr algn="ctr">
                        <a:defRPr sz="1000">
                          <a:latin typeface="Montserrat"/>
                        </a:defRPr>
                      </a:pPr>
                      <a:r>
                        <a:t>-69</a:t>
                      </a:r>
                    </a:p>
                  </a:txBody>
                  <a:tcPr>
                    <a:solidFill>
                      <a:srgbClr val="EFEFEF"/>
                    </a:solidFill>
                  </a:tcPr>
                </a:tc>
                <a:tc>
                  <a:txBody>
                    <a:bodyPr/>
                    <a:lstStyle/>
                    <a:p>
                      <a:pPr algn="ctr">
                        <a:defRPr sz="1000">
                          <a:latin typeface="Montserrat"/>
                        </a:defRPr>
                      </a:pPr>
                      <a:r>
                        <a:t>977</a:t>
                      </a:r>
                    </a:p>
                  </a:txBody>
                  <a:tcPr>
                    <a:solidFill>
                      <a:srgbClr val="ECD3D9"/>
                    </a:solidFill>
                  </a:tcPr>
                </a:tc>
                <a:tc>
                  <a:txBody>
                    <a:bodyPr/>
                    <a:lstStyle/>
                    <a:p>
                      <a:pPr algn="ctr">
                        <a:defRPr sz="1000">
                          <a:latin typeface="Montserrat"/>
                        </a:defRPr>
                      </a:pPr>
                      <a:r>
                        <a:t>2,718</a:t>
                      </a:r>
                    </a:p>
                  </a:txBody>
                  <a:tcPr>
                    <a:solidFill>
                      <a:srgbClr val="ECD3D9"/>
                    </a:solidFill>
                  </a:tcPr>
                </a:tc>
                <a:tc>
                  <a:txBody>
                    <a:bodyPr/>
                    <a:lstStyle/>
                    <a:p>
                      <a:pPr algn="ctr">
                        <a:defRPr sz="1000">
                          <a:latin typeface="Montserrat"/>
                        </a:defRPr>
                      </a:pPr>
                      <a:r>
                        <a:t>36.0%</a:t>
                      </a:r>
                    </a:p>
                  </a:txBody>
                  <a:tcPr>
                    <a:solidFill>
                      <a:srgbClr val="ECD3D9"/>
                    </a:solidFill>
                  </a:tcPr>
                </a:tc>
              </a:tr>
              <a:tr h="284400">
                <a:tc>
                  <a:txBody>
                    <a:bodyPr/>
                    <a:lstStyle/>
                    <a:p>
                      <a:pPr algn="l">
                        <a:defRPr sz="1000">
                          <a:latin typeface="Montserrat"/>
                        </a:defRPr>
                      </a:pPr>
                      <a:r>
                        <a:t>HGSMF 33 S. Andrés Tuxtla</a:t>
                      </a:r>
                    </a:p>
                  </a:txBody>
                  <a:tcPr>
                    <a:solidFill>
                      <a:srgbClr val="FFFFFF"/>
                    </a:solidFill>
                  </a:tcPr>
                </a:tc>
                <a:tc>
                  <a:txBody>
                    <a:bodyPr/>
                    <a:lstStyle/>
                    <a:p>
                      <a:pPr algn="ctr">
                        <a:defRPr sz="1000">
                          <a:latin typeface="Montserrat"/>
                        </a:defRPr>
                      </a:pPr>
                      <a:r>
                        <a:t>1,547</a:t>
                      </a:r>
                    </a:p>
                  </a:txBody>
                  <a:tcPr>
                    <a:solidFill>
                      <a:srgbClr val="FFFFFF"/>
                    </a:solidFill>
                  </a:tcPr>
                </a:tc>
                <a:tc>
                  <a:txBody>
                    <a:bodyPr/>
                    <a:lstStyle/>
                    <a:p>
                      <a:pPr algn="ctr">
                        <a:defRPr sz="1000">
                          <a:latin typeface="Montserrat"/>
                        </a:defRPr>
                      </a:pPr>
                      <a:r>
                        <a:t>27</a:t>
                      </a:r>
                    </a:p>
                  </a:txBody>
                  <a:tcPr>
                    <a:solidFill>
                      <a:srgbClr val="FFFFFF"/>
                    </a:solidFill>
                  </a:tcPr>
                </a:tc>
                <a:tc>
                  <a:txBody>
                    <a:bodyPr/>
                    <a:lstStyle/>
                    <a:p>
                      <a:pPr algn="ctr">
                        <a:defRPr sz="1000">
                          <a:latin typeface="Montserrat"/>
                        </a:defRPr>
                      </a:pPr>
                      <a:r>
                        <a:t>616</a:t>
                      </a:r>
                    </a:p>
                  </a:txBody>
                  <a:tcPr>
                    <a:solidFill>
                      <a:srgbClr val="ECD3D9"/>
                    </a:solidFill>
                  </a:tcPr>
                </a:tc>
                <a:tc>
                  <a:txBody>
                    <a:bodyPr/>
                    <a:lstStyle/>
                    <a:p>
                      <a:pPr algn="ctr">
                        <a:defRPr sz="1000">
                          <a:latin typeface="Montserrat"/>
                        </a:defRPr>
                      </a:pPr>
                      <a:r>
                        <a:t>1,725</a:t>
                      </a:r>
                    </a:p>
                  </a:txBody>
                  <a:tcPr>
                    <a:solidFill>
                      <a:srgbClr val="ECD3D9"/>
                    </a:solidFill>
                  </a:tcPr>
                </a:tc>
                <a:tc>
                  <a:txBody>
                    <a:bodyPr/>
                    <a:lstStyle/>
                    <a:p>
                      <a:pPr algn="ctr">
                        <a:defRPr sz="1000">
                          <a:latin typeface="Montserrat"/>
                        </a:defRPr>
                      </a:pPr>
                      <a:r>
                        <a:t>35.7%</a:t>
                      </a:r>
                    </a:p>
                  </a:txBody>
                  <a:tcPr>
                    <a:solidFill>
                      <a:srgbClr val="ECD3D9"/>
                    </a:solidFill>
                  </a:tcPr>
                </a:tc>
              </a:tr>
              <a:tr h="284400">
                <a:tc>
                  <a:txBody>
                    <a:bodyPr/>
                    <a:lstStyle/>
                    <a:p>
                      <a:pPr algn="l">
                        <a:defRPr sz="1000">
                          <a:latin typeface="Montserrat"/>
                        </a:defRPr>
                      </a:pPr>
                      <a:r>
                        <a:t>HGZMF 32 Minatitlán</a:t>
                      </a:r>
                    </a:p>
                  </a:txBody>
                  <a:tcPr>
                    <a:solidFill>
                      <a:srgbClr val="EFEFEF"/>
                    </a:solidFill>
                  </a:tcPr>
                </a:tc>
                <a:tc>
                  <a:txBody>
                    <a:bodyPr/>
                    <a:lstStyle/>
                    <a:p>
                      <a:pPr algn="ctr">
                        <a:defRPr sz="1000">
                          <a:latin typeface="Montserrat"/>
                        </a:defRPr>
                      </a:pPr>
                      <a:r>
                        <a:t>4,550</a:t>
                      </a:r>
                    </a:p>
                  </a:txBody>
                  <a:tcPr>
                    <a:solidFill>
                      <a:srgbClr val="EFEFEF"/>
                    </a:solidFill>
                  </a:tcPr>
                </a:tc>
                <a:tc>
                  <a:txBody>
                    <a:bodyPr/>
                    <a:lstStyle/>
                    <a:p>
                      <a:pPr algn="ctr">
                        <a:defRPr sz="1000">
                          <a:latin typeface="Montserrat"/>
                        </a:defRPr>
                      </a:pPr>
                      <a:r>
                        <a:t>845</a:t>
                      </a:r>
                    </a:p>
                  </a:txBody>
                  <a:tcPr>
                    <a:solidFill>
                      <a:srgbClr val="EFEFEF"/>
                    </a:solidFill>
                  </a:tcPr>
                </a:tc>
                <a:tc>
                  <a:txBody>
                    <a:bodyPr/>
                    <a:lstStyle/>
                    <a:p>
                      <a:pPr algn="ctr">
                        <a:defRPr sz="1000">
                          <a:latin typeface="Montserrat"/>
                        </a:defRPr>
                      </a:pPr>
                      <a:r>
                        <a:t>1,818</a:t>
                      </a:r>
                    </a:p>
                  </a:txBody>
                  <a:tcPr>
                    <a:solidFill>
                      <a:srgbClr val="ECD3D9"/>
                    </a:solidFill>
                  </a:tcPr>
                </a:tc>
                <a:tc>
                  <a:txBody>
                    <a:bodyPr/>
                    <a:lstStyle/>
                    <a:p>
                      <a:pPr algn="ctr">
                        <a:defRPr sz="1000">
                          <a:latin typeface="Montserrat"/>
                        </a:defRPr>
                      </a:pPr>
                      <a:r>
                        <a:t>5,175</a:t>
                      </a:r>
                    </a:p>
                  </a:txBody>
                  <a:tcPr>
                    <a:solidFill>
                      <a:srgbClr val="ECD3D9"/>
                    </a:solidFill>
                  </a:tcPr>
                </a:tc>
                <a:tc>
                  <a:txBody>
                    <a:bodyPr/>
                    <a:lstStyle/>
                    <a:p>
                      <a:pPr algn="ctr">
                        <a:defRPr sz="1000">
                          <a:latin typeface="Montserrat"/>
                        </a:defRPr>
                      </a:pPr>
                      <a:r>
                        <a:t>35.1%</a:t>
                      </a:r>
                    </a:p>
                  </a:txBody>
                  <a:tcPr>
                    <a:solidFill>
                      <a:srgbClr val="ECD3D9"/>
                    </a:solidFill>
                  </a:tcPr>
                </a:tc>
              </a:tr>
              <a:tr h="284400">
                <a:tc>
                  <a:txBody>
                    <a:bodyPr/>
                    <a:lstStyle/>
                    <a:p>
                      <a:pPr algn="l">
                        <a:defRPr sz="1000">
                          <a:latin typeface="Montserrat"/>
                        </a:defRPr>
                      </a:pPr>
                      <a:r>
                        <a:t>HGR Orizaba</a:t>
                      </a:r>
                    </a:p>
                  </a:txBody>
                  <a:tcPr>
                    <a:solidFill>
                      <a:srgbClr val="FFFFFF"/>
                    </a:solidFill>
                  </a:tcPr>
                </a:tc>
                <a:tc>
                  <a:txBody>
                    <a:bodyPr/>
                    <a:lstStyle/>
                    <a:p>
                      <a:pPr algn="ctr">
                        <a:defRPr sz="1000">
                          <a:latin typeface="Montserrat"/>
                        </a:defRPr>
                      </a:pPr>
                      <a:r>
                        <a:t>11,480</a:t>
                      </a:r>
                    </a:p>
                  </a:txBody>
                  <a:tcPr>
                    <a:solidFill>
                      <a:srgbClr val="FFFFFF"/>
                    </a:solidFill>
                  </a:tcPr>
                </a:tc>
                <a:tc>
                  <a:txBody>
                    <a:bodyPr/>
                    <a:lstStyle/>
                    <a:p>
                      <a:pPr algn="ctr">
                        <a:defRPr sz="1000">
                          <a:latin typeface="Montserrat"/>
                        </a:defRPr>
                      </a:pPr>
                      <a:r>
                        <a:t>3,541</a:t>
                      </a:r>
                    </a:p>
                  </a:txBody>
                  <a:tcPr>
                    <a:solidFill>
                      <a:srgbClr val="FFFFFF"/>
                    </a:solidFill>
                  </a:tcPr>
                </a:tc>
                <a:tc>
                  <a:txBody>
                    <a:bodyPr/>
                    <a:lstStyle/>
                    <a:p>
                      <a:pPr algn="ctr">
                        <a:defRPr sz="1000">
                          <a:latin typeface="Montserrat"/>
                        </a:defRPr>
                      </a:pPr>
                      <a:r>
                        <a:t>4,964</a:t>
                      </a:r>
                    </a:p>
                  </a:txBody>
                  <a:tcPr>
                    <a:solidFill>
                      <a:srgbClr val="ECD3D9"/>
                    </a:solidFill>
                  </a:tcPr>
                </a:tc>
                <a:tc>
                  <a:txBody>
                    <a:bodyPr/>
                    <a:lstStyle/>
                    <a:p>
                      <a:pPr algn="ctr">
                        <a:defRPr sz="1000">
                          <a:latin typeface="Montserrat"/>
                        </a:defRPr>
                      </a:pPr>
                      <a:r>
                        <a:t>14,165</a:t>
                      </a:r>
                    </a:p>
                  </a:txBody>
                  <a:tcPr>
                    <a:solidFill>
                      <a:srgbClr val="ECD3D9"/>
                    </a:solidFill>
                  </a:tcPr>
                </a:tc>
                <a:tc>
                  <a:txBody>
                    <a:bodyPr/>
                    <a:lstStyle/>
                    <a:p>
                      <a:pPr algn="ctr">
                        <a:defRPr sz="1000">
                          <a:latin typeface="Montserrat"/>
                        </a:defRPr>
                      </a:pPr>
                      <a:r>
                        <a:t>35.0%</a:t>
                      </a:r>
                    </a:p>
                  </a:txBody>
                  <a:tcPr>
                    <a:solidFill>
                      <a:srgbClr val="ECD3D9"/>
                    </a:solidFill>
                  </a:tcPr>
                </a:tc>
              </a:tr>
              <a:tr h="284400">
                <a:tc>
                  <a:txBody>
                    <a:bodyPr/>
                    <a:lstStyle/>
                    <a:p>
                      <a:pPr algn="l">
                        <a:defRPr sz="1000">
                          <a:latin typeface="Montserrat"/>
                        </a:defRPr>
                      </a:pPr>
                      <a:r>
                        <a:t>HGZ 11 Jalapa.</a:t>
                      </a:r>
                    </a:p>
                  </a:txBody>
                  <a:tcPr>
                    <a:solidFill>
                      <a:srgbClr val="EFEFEF"/>
                    </a:solidFill>
                  </a:tcPr>
                </a:tc>
                <a:tc>
                  <a:txBody>
                    <a:bodyPr/>
                    <a:lstStyle/>
                    <a:p>
                      <a:pPr algn="ctr">
                        <a:defRPr sz="1000">
                          <a:latin typeface="Montserrat"/>
                        </a:defRPr>
                      </a:pPr>
                      <a:r>
                        <a:t>9,233</a:t>
                      </a:r>
                    </a:p>
                  </a:txBody>
                  <a:tcPr>
                    <a:solidFill>
                      <a:srgbClr val="EFEFEF"/>
                    </a:solidFill>
                  </a:tcPr>
                </a:tc>
                <a:tc>
                  <a:txBody>
                    <a:bodyPr/>
                    <a:lstStyle/>
                    <a:p>
                      <a:pPr algn="ctr">
                        <a:defRPr sz="1000">
                          <a:latin typeface="Montserrat"/>
                        </a:defRPr>
                      </a:pPr>
                      <a:r>
                        <a:t>974</a:t>
                      </a:r>
                    </a:p>
                  </a:txBody>
                  <a:tcPr>
                    <a:solidFill>
                      <a:srgbClr val="EFEFEF"/>
                    </a:solidFill>
                  </a:tcPr>
                </a:tc>
                <a:tc>
                  <a:txBody>
                    <a:bodyPr/>
                    <a:lstStyle/>
                    <a:p>
                      <a:pPr algn="ctr">
                        <a:defRPr sz="1000">
                          <a:latin typeface="Montserrat"/>
                        </a:defRPr>
                      </a:pPr>
                      <a:r>
                        <a:t>3,636</a:t>
                      </a:r>
                    </a:p>
                  </a:txBody>
                  <a:tcPr>
                    <a:solidFill>
                      <a:srgbClr val="ECD3D9"/>
                    </a:solidFill>
                  </a:tcPr>
                </a:tc>
                <a:tc>
                  <a:txBody>
                    <a:bodyPr/>
                    <a:lstStyle/>
                    <a:p>
                      <a:pPr algn="ctr">
                        <a:defRPr sz="1000">
                          <a:latin typeface="Montserrat"/>
                        </a:defRPr>
                      </a:pPr>
                      <a:r>
                        <a:t>10,715</a:t>
                      </a:r>
                    </a:p>
                  </a:txBody>
                  <a:tcPr>
                    <a:solidFill>
                      <a:srgbClr val="ECD3D9"/>
                    </a:solidFill>
                  </a:tcPr>
                </a:tc>
                <a:tc>
                  <a:txBody>
                    <a:bodyPr/>
                    <a:lstStyle/>
                    <a:p>
                      <a:pPr algn="ctr">
                        <a:defRPr sz="1000">
                          <a:latin typeface="Montserrat"/>
                        </a:defRPr>
                      </a:pPr>
                      <a:r>
                        <a:t>33.9%</a:t>
                      </a:r>
                    </a:p>
                  </a:txBody>
                  <a:tcPr>
                    <a:solidFill>
                      <a:srgbClr val="ECD3D9"/>
                    </a:solidFill>
                  </a:tcPr>
                </a:tc>
              </a:tr>
              <a:tr h="284400">
                <a:tc>
                  <a:txBody>
                    <a:bodyPr/>
                    <a:lstStyle/>
                    <a:p>
                      <a:pPr algn="l">
                        <a:defRPr sz="1000">
                          <a:latin typeface="Montserrat"/>
                        </a:defRPr>
                      </a:pPr>
                      <a:r>
                        <a:t>HGZ 8 Córdoba</a:t>
                      </a:r>
                    </a:p>
                  </a:txBody>
                  <a:tcPr>
                    <a:solidFill>
                      <a:srgbClr val="FFFFFF"/>
                    </a:solidFill>
                  </a:tcPr>
                </a:tc>
                <a:tc>
                  <a:txBody>
                    <a:bodyPr/>
                    <a:lstStyle/>
                    <a:p>
                      <a:pPr algn="ctr">
                        <a:defRPr sz="1000">
                          <a:latin typeface="Montserrat"/>
                        </a:defRPr>
                      </a:pPr>
                      <a:r>
                        <a:t>6,403</a:t>
                      </a:r>
                    </a:p>
                  </a:txBody>
                  <a:tcPr>
                    <a:solidFill>
                      <a:srgbClr val="FFFFFF"/>
                    </a:solidFill>
                  </a:tcPr>
                </a:tc>
                <a:tc>
                  <a:txBody>
                    <a:bodyPr/>
                    <a:lstStyle/>
                    <a:p>
                      <a:pPr algn="ctr">
                        <a:defRPr sz="1000">
                          <a:latin typeface="Montserrat"/>
                        </a:defRPr>
                      </a:pPr>
                      <a:r>
                        <a:t>1,245</a:t>
                      </a:r>
                    </a:p>
                  </a:txBody>
                  <a:tcPr>
                    <a:solidFill>
                      <a:srgbClr val="FFFFFF"/>
                    </a:solidFill>
                  </a:tcPr>
                </a:tc>
                <a:tc>
                  <a:txBody>
                    <a:bodyPr/>
                    <a:lstStyle/>
                    <a:p>
                      <a:pPr algn="ctr">
                        <a:defRPr sz="1000">
                          <a:latin typeface="Montserrat"/>
                        </a:defRPr>
                      </a:pPr>
                      <a:r>
                        <a:t>2,456</a:t>
                      </a:r>
                    </a:p>
                  </a:txBody>
                  <a:tcPr>
                    <a:solidFill>
                      <a:srgbClr val="ECD3D9"/>
                    </a:solidFill>
                  </a:tcPr>
                </a:tc>
                <a:tc>
                  <a:txBody>
                    <a:bodyPr/>
                    <a:lstStyle/>
                    <a:p>
                      <a:pPr algn="ctr">
                        <a:defRPr sz="1000">
                          <a:latin typeface="Montserrat"/>
                        </a:defRPr>
                      </a:pPr>
                      <a:r>
                        <a:t>7,320</a:t>
                      </a:r>
                    </a:p>
                  </a:txBody>
                  <a:tcPr>
                    <a:solidFill>
                      <a:srgbClr val="ECD3D9"/>
                    </a:solidFill>
                  </a:tcPr>
                </a:tc>
                <a:tc>
                  <a:txBody>
                    <a:bodyPr/>
                    <a:lstStyle/>
                    <a:p>
                      <a:pPr algn="ctr">
                        <a:defRPr sz="1000">
                          <a:latin typeface="Montserrat"/>
                        </a:defRPr>
                      </a:pPr>
                      <a:r>
                        <a:t>33.5%</a:t>
                      </a:r>
                    </a:p>
                  </a:txBody>
                  <a:tcPr>
                    <a:solidFill>
                      <a:srgbClr val="ECD3D9"/>
                    </a:solidFill>
                  </a:tcPr>
                </a:tc>
              </a:tr>
              <a:tr h="284400">
                <a:tc>
                  <a:txBody>
                    <a:bodyPr/>
                    <a:lstStyle/>
                    <a:p>
                      <a:pPr algn="l">
                        <a:defRPr sz="1000">
                          <a:latin typeface="Montserrat"/>
                        </a:defRPr>
                      </a:pPr>
                      <a:r>
                        <a:t>HGZ 24 Poza Rica</a:t>
                      </a:r>
                    </a:p>
                  </a:txBody>
                  <a:tcPr>
                    <a:solidFill>
                      <a:srgbClr val="EFEFEF"/>
                    </a:solidFill>
                  </a:tcPr>
                </a:tc>
                <a:tc>
                  <a:txBody>
                    <a:bodyPr/>
                    <a:lstStyle/>
                    <a:p>
                      <a:pPr algn="ctr">
                        <a:defRPr sz="1000">
                          <a:latin typeface="Montserrat"/>
                        </a:defRPr>
                      </a:pPr>
                      <a:r>
                        <a:t>3,702</a:t>
                      </a:r>
                    </a:p>
                  </a:txBody>
                  <a:tcPr>
                    <a:solidFill>
                      <a:srgbClr val="EFEFEF"/>
                    </a:solidFill>
                  </a:tcPr>
                </a:tc>
                <a:tc>
                  <a:txBody>
                    <a:bodyPr/>
                    <a:lstStyle/>
                    <a:p>
                      <a:pPr algn="ctr">
                        <a:defRPr sz="1000">
                          <a:latin typeface="Montserrat"/>
                        </a:defRPr>
                      </a:pPr>
                      <a:r>
                        <a:t>-13</a:t>
                      </a:r>
                    </a:p>
                  </a:txBody>
                  <a:tcPr>
                    <a:solidFill>
                      <a:srgbClr val="EFEFEF"/>
                    </a:solidFill>
                  </a:tcPr>
                </a:tc>
                <a:tc>
                  <a:txBody>
                    <a:bodyPr/>
                    <a:lstStyle/>
                    <a:p>
                      <a:pPr algn="ctr">
                        <a:defRPr sz="1000">
                          <a:latin typeface="Montserrat"/>
                        </a:defRPr>
                      </a:pPr>
                      <a:r>
                        <a:t>1,429</a:t>
                      </a:r>
                    </a:p>
                  </a:txBody>
                  <a:tcPr>
                    <a:solidFill>
                      <a:srgbClr val="ECD3D9"/>
                    </a:solidFill>
                  </a:tcPr>
                </a:tc>
                <a:tc>
                  <a:txBody>
                    <a:bodyPr/>
                    <a:lstStyle/>
                    <a:p>
                      <a:pPr algn="ctr">
                        <a:defRPr sz="1000">
                          <a:latin typeface="Montserrat"/>
                        </a:defRPr>
                      </a:pPr>
                      <a:r>
                        <a:t>4,392</a:t>
                      </a:r>
                    </a:p>
                  </a:txBody>
                  <a:tcPr>
                    <a:solidFill>
                      <a:srgbClr val="ECD3D9"/>
                    </a:solidFill>
                  </a:tcPr>
                </a:tc>
                <a:tc>
                  <a:txBody>
                    <a:bodyPr/>
                    <a:lstStyle/>
                    <a:p>
                      <a:pPr algn="ctr">
                        <a:defRPr sz="1000">
                          <a:latin typeface="Montserrat"/>
                        </a:defRPr>
                      </a:pPr>
                      <a:r>
                        <a:t>32.5%</a:t>
                      </a:r>
                    </a:p>
                  </a:txBody>
                  <a:tcPr>
                    <a:solidFill>
                      <a:srgbClr val="ECD3D9"/>
                    </a:solidFill>
                  </a:tcPr>
                </a:tc>
              </a:tr>
              <a:tr h="284400">
                <a:tc>
                  <a:txBody>
                    <a:bodyPr/>
                    <a:lstStyle/>
                    <a:p>
                      <a:pPr algn="l">
                        <a:defRPr sz="1000">
                          <a:latin typeface="Montserrat"/>
                        </a:defRPr>
                      </a:pPr>
                      <a:r>
                        <a:t>HGSMF 16 Omealca</a:t>
                      </a:r>
                    </a:p>
                  </a:txBody>
                  <a:tcPr>
                    <a:solidFill>
                      <a:srgbClr val="FFFFFF"/>
                    </a:solidFill>
                  </a:tcPr>
                </a:tc>
                <a:tc>
                  <a:txBody>
                    <a:bodyPr/>
                    <a:lstStyle/>
                    <a:p>
                      <a:pPr algn="ctr">
                        <a:defRPr sz="1000">
                          <a:latin typeface="Montserrat"/>
                        </a:defRPr>
                      </a:pPr>
                      <a:r>
                        <a:t>1,051</a:t>
                      </a:r>
                    </a:p>
                  </a:txBody>
                  <a:tcPr>
                    <a:solidFill>
                      <a:srgbClr val="FFFFFF"/>
                    </a:solidFill>
                  </a:tcPr>
                </a:tc>
                <a:tc>
                  <a:txBody>
                    <a:bodyPr/>
                    <a:lstStyle/>
                    <a:p>
                      <a:pPr algn="ctr">
                        <a:defRPr sz="1000">
                          <a:latin typeface="Montserrat"/>
                        </a:defRPr>
                      </a:pPr>
                      <a:r>
                        <a:t>857</a:t>
                      </a:r>
                    </a:p>
                  </a:txBody>
                  <a:tcPr>
                    <a:solidFill>
                      <a:srgbClr val="FFFFFF"/>
                    </a:solidFill>
                  </a:tcPr>
                </a:tc>
                <a:tc>
                  <a:txBody>
                    <a:bodyPr/>
                    <a:lstStyle/>
                    <a:p>
                      <a:pPr algn="ctr">
                        <a:defRPr sz="1000">
                          <a:latin typeface="Montserrat"/>
                        </a:defRPr>
                      </a:pPr>
                      <a:r>
                        <a:t>488</a:t>
                      </a:r>
                    </a:p>
                  </a:txBody>
                  <a:tcPr>
                    <a:solidFill>
                      <a:srgbClr val="ECD3D9"/>
                    </a:solidFill>
                  </a:tcPr>
                </a:tc>
                <a:tc>
                  <a:txBody>
                    <a:bodyPr/>
                    <a:lstStyle/>
                    <a:p>
                      <a:pPr algn="ctr">
                        <a:defRPr sz="1000">
                          <a:latin typeface="Montserrat"/>
                        </a:defRPr>
                      </a:pPr>
                      <a:r>
                        <a:t>1,566</a:t>
                      </a:r>
                    </a:p>
                  </a:txBody>
                  <a:tcPr>
                    <a:solidFill>
                      <a:srgbClr val="ECD3D9"/>
                    </a:solidFill>
                  </a:tcPr>
                </a:tc>
                <a:tc>
                  <a:txBody>
                    <a:bodyPr/>
                    <a:lstStyle/>
                    <a:p>
                      <a:pPr algn="ctr">
                        <a:defRPr sz="1000">
                          <a:latin typeface="Montserrat"/>
                        </a:defRPr>
                      </a:pPr>
                      <a:r>
                        <a:t>31.2%</a:t>
                      </a:r>
                    </a:p>
                  </a:txBody>
                  <a:tcPr>
                    <a:solidFill>
                      <a:srgbClr val="ECD3D9"/>
                    </a:solidFill>
                  </a:tcPr>
                </a:tc>
              </a:tr>
              <a:tr h="284400">
                <a:tc>
                  <a:txBody>
                    <a:bodyPr/>
                    <a:lstStyle/>
                    <a:p>
                      <a:pPr algn="l">
                        <a:defRPr sz="1000">
                          <a:latin typeface="Montserrat"/>
                        </a:defRPr>
                      </a:pPr>
                      <a:r>
                        <a:t>HGZMF 50 Lerdo Tejada</a:t>
                      </a:r>
                    </a:p>
                  </a:txBody>
                  <a:tcPr>
                    <a:solidFill>
                      <a:srgbClr val="EFEFEF"/>
                    </a:solidFill>
                  </a:tcPr>
                </a:tc>
                <a:tc>
                  <a:txBody>
                    <a:bodyPr/>
                    <a:lstStyle/>
                    <a:p>
                      <a:pPr algn="ctr">
                        <a:defRPr sz="1000">
                          <a:latin typeface="Montserrat"/>
                        </a:defRPr>
                      </a:pPr>
                      <a:r>
                        <a:t>1,624</a:t>
                      </a:r>
                    </a:p>
                  </a:txBody>
                  <a:tcPr>
                    <a:solidFill>
                      <a:srgbClr val="EFEFEF"/>
                    </a:solidFill>
                  </a:tcPr>
                </a:tc>
                <a:tc>
                  <a:txBody>
                    <a:bodyPr/>
                    <a:lstStyle/>
                    <a:p>
                      <a:pPr algn="ctr">
                        <a:defRPr sz="1000">
                          <a:latin typeface="Montserrat"/>
                        </a:defRPr>
                      </a:pPr>
                      <a:r>
                        <a:t>119</a:t>
                      </a:r>
                    </a:p>
                  </a:txBody>
                  <a:tcPr>
                    <a:solidFill>
                      <a:srgbClr val="EFEFEF"/>
                    </a:solidFill>
                  </a:tcPr>
                </a:tc>
                <a:tc>
                  <a:txBody>
                    <a:bodyPr/>
                    <a:lstStyle/>
                    <a:p>
                      <a:pPr algn="ctr">
                        <a:defRPr sz="1000">
                          <a:latin typeface="Montserrat"/>
                        </a:defRPr>
                      </a:pPr>
                      <a:r>
                        <a:t>831</a:t>
                      </a:r>
                    </a:p>
                  </a:txBody>
                  <a:tcPr>
                    <a:solidFill>
                      <a:srgbClr val="ECD3D9"/>
                    </a:solidFill>
                  </a:tcPr>
                </a:tc>
                <a:tc>
                  <a:txBody>
                    <a:bodyPr/>
                    <a:lstStyle/>
                    <a:p>
                      <a:pPr algn="ctr">
                        <a:defRPr sz="1000">
                          <a:latin typeface="Montserrat"/>
                        </a:defRPr>
                      </a:pPr>
                      <a:r>
                        <a:t>2,718</a:t>
                      </a:r>
                    </a:p>
                  </a:txBody>
                  <a:tcPr>
                    <a:solidFill>
                      <a:srgbClr val="ECD3D9"/>
                    </a:solidFill>
                  </a:tcPr>
                </a:tc>
                <a:tc>
                  <a:txBody>
                    <a:bodyPr/>
                    <a:lstStyle/>
                    <a:p>
                      <a:pPr algn="ctr">
                        <a:defRPr sz="1000">
                          <a:latin typeface="Montserrat"/>
                        </a:defRPr>
                      </a:pPr>
                      <a:r>
                        <a:t>30.6%</a:t>
                      </a:r>
                    </a:p>
                  </a:txBody>
                  <a:tcPr>
                    <a:solidFill>
                      <a:srgbClr val="ECD3D9"/>
                    </a:solidFill>
                  </a:tcPr>
                </a:tc>
              </a:tr>
              <a:tr h="284400">
                <a:tc>
                  <a:txBody>
                    <a:bodyPr/>
                    <a:lstStyle/>
                    <a:p>
                      <a:pPr algn="l">
                        <a:defRPr sz="1000">
                          <a:latin typeface="Montserrat"/>
                        </a:defRPr>
                      </a:pPr>
                      <a:r>
                        <a:t>HGZ 36 Coatzacoalos</a:t>
                      </a:r>
                    </a:p>
                  </a:txBody>
                  <a:tcPr>
                    <a:solidFill>
                      <a:srgbClr val="FFFFFF"/>
                    </a:solidFill>
                  </a:tcPr>
                </a:tc>
                <a:tc>
                  <a:txBody>
                    <a:bodyPr/>
                    <a:lstStyle/>
                    <a:p>
                      <a:pPr algn="ctr">
                        <a:defRPr sz="1000">
                          <a:latin typeface="Montserrat"/>
                        </a:defRPr>
                      </a:pPr>
                      <a:r>
                        <a:t>9,860</a:t>
                      </a:r>
                    </a:p>
                  </a:txBody>
                  <a:tcPr>
                    <a:solidFill>
                      <a:srgbClr val="FFFFFF"/>
                    </a:solidFill>
                  </a:tcPr>
                </a:tc>
                <a:tc>
                  <a:txBody>
                    <a:bodyPr/>
                    <a:lstStyle/>
                    <a:p>
                      <a:pPr algn="ctr">
                        <a:defRPr sz="1000">
                          <a:latin typeface="Montserrat"/>
                        </a:defRPr>
                      </a:pPr>
                      <a:r>
                        <a:t>4,113</a:t>
                      </a:r>
                    </a:p>
                  </a:txBody>
                  <a:tcPr>
                    <a:solidFill>
                      <a:srgbClr val="FFFFFF"/>
                    </a:solidFill>
                  </a:tcPr>
                </a:tc>
                <a:tc>
                  <a:txBody>
                    <a:bodyPr/>
                    <a:lstStyle/>
                    <a:p>
                      <a:pPr algn="ctr">
                        <a:defRPr sz="1000">
                          <a:latin typeface="Montserrat"/>
                        </a:defRPr>
                      </a:pPr>
                      <a:r>
                        <a:t>3,734</a:t>
                      </a:r>
                    </a:p>
                  </a:txBody>
                  <a:tcPr>
                    <a:solidFill>
                      <a:srgbClr val="ECD3D9"/>
                    </a:solidFill>
                  </a:tcPr>
                </a:tc>
                <a:tc>
                  <a:txBody>
                    <a:bodyPr/>
                    <a:lstStyle/>
                    <a:p>
                      <a:pPr algn="ctr">
                        <a:defRPr sz="1000">
                          <a:latin typeface="Montserrat"/>
                        </a:defRPr>
                      </a:pPr>
                      <a:r>
                        <a:t>12,231</a:t>
                      </a:r>
                    </a:p>
                  </a:txBody>
                  <a:tcPr>
                    <a:solidFill>
                      <a:srgbClr val="ECD3D9"/>
                    </a:solidFill>
                  </a:tcPr>
                </a:tc>
                <a:tc>
                  <a:txBody>
                    <a:bodyPr/>
                    <a:lstStyle/>
                    <a:p>
                      <a:pPr algn="ctr">
                        <a:defRPr sz="1000">
                          <a:latin typeface="Montserrat"/>
                        </a:defRPr>
                      </a:pPr>
                      <a:r>
                        <a:t>30.5%</a:t>
                      </a:r>
                    </a:p>
                  </a:txBody>
                  <a:tcPr>
                    <a:solidFill>
                      <a:srgbClr val="ECD3D9"/>
                    </a:solidFill>
                  </a:tcPr>
                </a:tc>
              </a:tr>
              <a:tr h="284400">
                <a:tc>
                  <a:txBody>
                    <a:bodyPr/>
                    <a:lstStyle/>
                    <a:p>
                      <a:pPr algn="l">
                        <a:defRPr sz="1000">
                          <a:latin typeface="Montserrat"/>
                        </a:defRPr>
                      </a:pPr>
                      <a:r>
                        <a:t>HGSMF 7 Panuco</a:t>
                      </a:r>
                    </a:p>
                  </a:txBody>
                  <a:tcPr>
                    <a:solidFill>
                      <a:srgbClr val="EFEFEF"/>
                    </a:solidFill>
                  </a:tcPr>
                </a:tc>
                <a:tc>
                  <a:txBody>
                    <a:bodyPr/>
                    <a:lstStyle/>
                    <a:p>
                      <a:pPr algn="ctr">
                        <a:defRPr sz="1000">
                          <a:latin typeface="Montserrat"/>
                        </a:defRPr>
                      </a:pPr>
                      <a:r>
                        <a:t>344</a:t>
                      </a:r>
                    </a:p>
                  </a:txBody>
                  <a:tcPr>
                    <a:solidFill>
                      <a:srgbClr val="EFEFEF"/>
                    </a:solidFill>
                  </a:tcPr>
                </a:tc>
                <a:tc>
                  <a:txBody>
                    <a:bodyPr/>
                    <a:lstStyle/>
                    <a:p>
                      <a:pPr algn="ctr">
                        <a:defRPr sz="1000">
                          <a:latin typeface="Montserrat"/>
                        </a:defRPr>
                      </a:pPr>
                      <a:r>
                        <a:t>32</a:t>
                      </a:r>
                    </a:p>
                  </a:txBody>
                  <a:tcPr>
                    <a:solidFill>
                      <a:srgbClr val="EFEFEF"/>
                    </a:solidFill>
                  </a:tcPr>
                </a:tc>
                <a:tc>
                  <a:txBody>
                    <a:bodyPr/>
                    <a:lstStyle/>
                    <a:p>
                      <a:pPr algn="ctr">
                        <a:defRPr sz="1000">
                          <a:latin typeface="Montserrat"/>
                        </a:defRPr>
                      </a:pPr>
                      <a:r>
                        <a:t>216</a:t>
                      </a:r>
                    </a:p>
                  </a:txBody>
                  <a:tcPr>
                    <a:solidFill>
                      <a:srgbClr val="ECD3D9"/>
                    </a:solidFill>
                  </a:tcPr>
                </a:tc>
                <a:tc>
                  <a:txBody>
                    <a:bodyPr/>
                    <a:lstStyle/>
                    <a:p>
                      <a:pPr algn="ctr">
                        <a:defRPr sz="1000">
                          <a:latin typeface="Montserrat"/>
                        </a:defRPr>
                      </a:pPr>
                      <a:r>
                        <a:t>783</a:t>
                      </a:r>
                    </a:p>
                  </a:txBody>
                  <a:tcPr>
                    <a:solidFill>
                      <a:srgbClr val="ECD3D9"/>
                    </a:solidFill>
                  </a:tcPr>
                </a:tc>
                <a:tc>
                  <a:txBody>
                    <a:bodyPr/>
                    <a:lstStyle/>
                    <a:p>
                      <a:pPr algn="ctr">
                        <a:defRPr sz="1000">
                          <a:latin typeface="Montserrat"/>
                        </a:defRPr>
                      </a:pPr>
                      <a:r>
                        <a:t>27.6%</a:t>
                      </a:r>
                    </a:p>
                  </a:txBody>
                  <a:tcPr>
                    <a:solidFill>
                      <a:srgbClr val="ECD3D9"/>
                    </a:solidFill>
                  </a:tcPr>
                </a:tc>
              </a:tr>
              <a:tr h="284400">
                <a:tc>
                  <a:txBody>
                    <a:bodyPr/>
                    <a:lstStyle/>
                    <a:p>
                      <a:pPr algn="l">
                        <a:defRPr sz="1000">
                          <a:latin typeface="Montserrat"/>
                        </a:defRPr>
                      </a:pPr>
                      <a:r>
                        <a:t>HGS 33 Tierra Blanca</a:t>
                      </a:r>
                    </a:p>
                  </a:txBody>
                  <a:tcPr>
                    <a:solidFill>
                      <a:srgbClr val="FFFFFF"/>
                    </a:solidFill>
                  </a:tcPr>
                </a:tc>
                <a:tc>
                  <a:txBody>
                    <a:bodyPr/>
                    <a:lstStyle/>
                    <a:p>
                      <a:pPr algn="ctr">
                        <a:defRPr sz="1000">
                          <a:latin typeface="Montserrat"/>
                        </a:defRPr>
                      </a:pPr>
                      <a:r>
                        <a:t>1,730</a:t>
                      </a:r>
                    </a:p>
                  </a:txBody>
                  <a:tcPr>
                    <a:solidFill>
                      <a:srgbClr val="FFFFFF"/>
                    </a:solidFill>
                  </a:tcPr>
                </a:tc>
                <a:tc>
                  <a:txBody>
                    <a:bodyPr/>
                    <a:lstStyle/>
                    <a:p>
                      <a:pPr algn="ctr">
                        <a:defRPr sz="1000">
                          <a:latin typeface="Montserrat"/>
                        </a:defRPr>
                      </a:pPr>
                      <a:r>
                        <a:t>1,020</a:t>
                      </a:r>
                    </a:p>
                  </a:txBody>
                  <a:tcPr>
                    <a:solidFill>
                      <a:srgbClr val="FFFFFF"/>
                    </a:solidFill>
                  </a:tcPr>
                </a:tc>
                <a:tc>
                  <a:txBody>
                    <a:bodyPr/>
                    <a:lstStyle/>
                    <a:p>
                      <a:pPr algn="ctr">
                        <a:defRPr sz="1000">
                          <a:latin typeface="Montserrat"/>
                        </a:defRPr>
                      </a:pPr>
                      <a:r>
                        <a:t>662</a:t>
                      </a:r>
                    </a:p>
                  </a:txBody>
                  <a:tcPr>
                    <a:solidFill>
                      <a:srgbClr val="ECD3D9"/>
                    </a:solidFill>
                  </a:tcPr>
                </a:tc>
                <a:tc>
                  <a:txBody>
                    <a:bodyPr/>
                    <a:lstStyle/>
                    <a:p>
                      <a:pPr algn="ctr">
                        <a:defRPr sz="1000">
                          <a:latin typeface="Montserrat"/>
                        </a:defRPr>
                      </a:pPr>
                      <a:r>
                        <a:t>2,508</a:t>
                      </a:r>
                    </a:p>
                  </a:txBody>
                  <a:tcPr>
                    <a:solidFill>
                      <a:srgbClr val="ECD3D9"/>
                    </a:solidFill>
                  </a:tcPr>
                </a:tc>
                <a:tc>
                  <a:txBody>
                    <a:bodyPr/>
                    <a:lstStyle/>
                    <a:p>
                      <a:pPr algn="ctr">
                        <a:defRPr sz="1000">
                          <a:latin typeface="Montserrat"/>
                        </a:defRPr>
                      </a:pPr>
                      <a:r>
                        <a:t>26.4%</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72,220</a:t>
                      </a:r>
                    </a:p>
                  </a:txBody>
                  <a:tcPr>
                    <a:solidFill>
                      <a:srgbClr val="D3E9E7"/>
                    </a:solidFill>
                  </a:tcPr>
                </a:tc>
                <a:tc>
                  <a:txBody>
                    <a:bodyPr/>
                    <a:lstStyle/>
                    <a:p>
                      <a:pPr algn="ctr">
                        <a:defRPr sz="1000" b="1">
                          <a:solidFill>
                            <a:srgbClr val="006556"/>
                          </a:solidFill>
                          <a:latin typeface="Montserrat"/>
                        </a:defRPr>
                      </a:pPr>
                      <a:r>
                        <a:t>16,509</a:t>
                      </a:r>
                    </a:p>
                  </a:txBody>
                  <a:tcPr>
                    <a:solidFill>
                      <a:srgbClr val="D3E9E7"/>
                    </a:solidFill>
                  </a:tcPr>
                </a:tc>
                <a:tc>
                  <a:txBody>
                    <a:bodyPr/>
                    <a:lstStyle/>
                    <a:p>
                      <a:pPr algn="ctr">
                        <a:defRPr sz="1000" b="1">
                          <a:solidFill>
                            <a:srgbClr val="FFFFFF"/>
                          </a:solidFill>
                          <a:latin typeface="Montserrat"/>
                        </a:defRPr>
                      </a:pPr>
                      <a:r>
                        <a:t>29,918</a:t>
                      </a:r>
                    </a:p>
                  </a:txBody>
                  <a:tcPr>
                    <a:solidFill>
                      <a:srgbClr val="9F2241"/>
                    </a:solidFill>
                  </a:tcPr>
                </a:tc>
                <a:tc>
                  <a:txBody>
                    <a:bodyPr/>
                    <a:lstStyle/>
                    <a:p>
                      <a:pPr algn="ctr">
                        <a:defRPr sz="1000" b="1">
                          <a:solidFill>
                            <a:srgbClr val="FFFFFF"/>
                          </a:solidFill>
                          <a:latin typeface="Montserrat"/>
                        </a:defRPr>
                      </a:pPr>
                      <a:r>
                        <a:t>87,916</a:t>
                      </a:r>
                    </a:p>
                  </a:txBody>
                  <a:tcPr>
                    <a:solidFill>
                      <a:srgbClr val="9F2241"/>
                    </a:solidFill>
                  </a:tcPr>
                </a:tc>
                <a:tc>
                  <a:txBody>
                    <a:bodyPr/>
                    <a:lstStyle/>
                    <a:p>
                      <a:pPr algn="ctr">
                        <a:defRPr sz="1000" b="1">
                          <a:solidFill>
                            <a:srgbClr val="FFFFFF"/>
                          </a:solidFill>
                          <a:latin typeface="Montserrat"/>
                        </a:defRPr>
                      </a:pPr>
                      <a:r>
                        <a:t>34.0%</a:t>
                      </a:r>
                    </a:p>
                  </a:txBody>
                  <a:tcPr>
                    <a:solidFill>
                      <a:srgbClr val="9F2241"/>
                    </a:solidFill>
                  </a:tcPr>
                </a:tc>
              </a:tr>
            </a:tbl>
          </a:graphicData>
        </a:graphic>
      </p:graphicFrame>
      <p:graphicFrame>
        <p:nvGraphicFramePr>
          <p:cNvPr id="234" name="Table 233"/>
          <p:cNvGraphicFramePr>
            <a:graphicFrameLocks noGrp="1"/>
          </p:cNvGraphicFramePr>
          <p:nvPr/>
        </p:nvGraphicFramePr>
        <p:xfrm>
          <a:off x="144000" y="6609600"/>
          <a:ext cx="7340399" cy="1137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HES 14 Veracruz</a:t>
                      </a:r>
                    </a:p>
                  </a:txBody>
                  <a:tcPr>
                    <a:solidFill>
                      <a:srgbClr val="FFFFFF"/>
                    </a:solidFill>
                  </a:tcPr>
                </a:tc>
                <a:tc>
                  <a:txBody>
                    <a:bodyPr/>
                    <a:lstStyle/>
                    <a:p>
                      <a:pPr algn="ctr">
                        <a:defRPr sz="1000">
                          <a:latin typeface="Montserrat"/>
                        </a:defRPr>
                      </a:pPr>
                      <a:r>
                        <a:t>11,507</a:t>
                      </a:r>
                    </a:p>
                  </a:txBody>
                  <a:tcPr>
                    <a:solidFill>
                      <a:srgbClr val="FFFFFF"/>
                    </a:solidFill>
                  </a:tcPr>
                </a:tc>
                <a:tc>
                  <a:txBody>
                    <a:bodyPr/>
                    <a:lstStyle/>
                    <a:p>
                      <a:pPr algn="ctr">
                        <a:defRPr sz="1000">
                          <a:latin typeface="Montserrat"/>
                        </a:defRPr>
                      </a:pPr>
                      <a:r>
                        <a:t>2,267</a:t>
                      </a:r>
                    </a:p>
                  </a:txBody>
                  <a:tcPr>
                    <a:solidFill>
                      <a:srgbClr val="FFFFFF"/>
                    </a:solidFill>
                  </a:tcPr>
                </a:tc>
                <a:tc>
                  <a:txBody>
                    <a:bodyPr/>
                    <a:lstStyle/>
                    <a:p>
                      <a:pPr algn="ctr">
                        <a:defRPr sz="1000">
                          <a:latin typeface="Montserrat"/>
                        </a:defRPr>
                      </a:pPr>
                      <a:r>
                        <a:t>4,946</a:t>
                      </a:r>
                    </a:p>
                  </a:txBody>
                  <a:tcPr>
                    <a:solidFill>
                      <a:srgbClr val="ECD3D9"/>
                    </a:solidFill>
                  </a:tcPr>
                </a:tc>
                <a:tc>
                  <a:txBody>
                    <a:bodyPr/>
                    <a:lstStyle/>
                    <a:p>
                      <a:pPr algn="ctr">
                        <a:defRPr sz="1000">
                          <a:latin typeface="Montserrat"/>
                        </a:defRPr>
                      </a:pPr>
                      <a:r>
                        <a:t>20,700</a:t>
                      </a:r>
                    </a:p>
                  </a:txBody>
                  <a:tcPr>
                    <a:solidFill>
                      <a:srgbClr val="ECD3D9"/>
                    </a:solidFill>
                  </a:tcPr>
                </a:tc>
                <a:tc>
                  <a:txBody>
                    <a:bodyPr/>
                    <a:lstStyle/>
                    <a:p>
                      <a:pPr algn="ctr">
                        <a:defRPr sz="1000">
                          <a:latin typeface="Montserrat"/>
                        </a:defRPr>
                      </a:pPr>
                      <a:r>
                        <a:t>23.9%</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11,507</a:t>
                      </a:r>
                    </a:p>
                  </a:txBody>
                  <a:tcPr>
                    <a:solidFill>
                      <a:srgbClr val="D3E9E7"/>
                    </a:solidFill>
                  </a:tcPr>
                </a:tc>
                <a:tc>
                  <a:txBody>
                    <a:bodyPr/>
                    <a:lstStyle/>
                    <a:p>
                      <a:pPr algn="ctr">
                        <a:defRPr sz="1000" b="1">
                          <a:solidFill>
                            <a:srgbClr val="006556"/>
                          </a:solidFill>
                          <a:latin typeface="Montserrat"/>
                        </a:defRPr>
                      </a:pPr>
                      <a:r>
                        <a:t>2,267</a:t>
                      </a:r>
                    </a:p>
                  </a:txBody>
                  <a:tcPr>
                    <a:solidFill>
                      <a:srgbClr val="D3E9E7"/>
                    </a:solidFill>
                  </a:tcPr>
                </a:tc>
                <a:tc>
                  <a:txBody>
                    <a:bodyPr/>
                    <a:lstStyle/>
                    <a:p>
                      <a:pPr algn="ctr">
                        <a:defRPr sz="1000" b="1">
                          <a:solidFill>
                            <a:srgbClr val="FFFFFF"/>
                          </a:solidFill>
                          <a:latin typeface="Montserrat"/>
                        </a:defRPr>
                      </a:pPr>
                      <a:r>
                        <a:t>4,946</a:t>
                      </a:r>
                    </a:p>
                  </a:txBody>
                  <a:tcPr>
                    <a:solidFill>
                      <a:srgbClr val="9F2241"/>
                    </a:solidFill>
                  </a:tcPr>
                </a:tc>
                <a:tc>
                  <a:txBody>
                    <a:bodyPr/>
                    <a:lstStyle/>
                    <a:p>
                      <a:pPr algn="ctr">
                        <a:defRPr sz="1000" b="1">
                          <a:solidFill>
                            <a:srgbClr val="FFFFFF"/>
                          </a:solidFill>
                          <a:latin typeface="Montserrat"/>
                        </a:defRPr>
                      </a:pPr>
                      <a:r>
                        <a:t>20,700</a:t>
                      </a:r>
                    </a:p>
                  </a:txBody>
                  <a:tcPr>
                    <a:solidFill>
                      <a:srgbClr val="9F2241"/>
                    </a:solidFill>
                  </a:tcPr>
                </a:tc>
                <a:tc>
                  <a:txBody>
                    <a:bodyPr/>
                    <a:lstStyle/>
                    <a:p>
                      <a:pPr algn="ctr">
                        <a:defRPr sz="1000" b="1">
                          <a:solidFill>
                            <a:srgbClr val="FFFFFF"/>
                          </a:solidFill>
                          <a:latin typeface="Montserrat"/>
                        </a:defRPr>
                      </a:pPr>
                      <a:r>
                        <a:t>23.9%</a:t>
                      </a:r>
                    </a:p>
                  </a:txBody>
                  <a:tcPr>
                    <a:solidFill>
                      <a:srgbClr val="9F2241"/>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83,727</a:t>
                      </a:r>
                    </a:p>
                  </a:txBody>
                  <a:tcPr>
                    <a:solidFill>
                      <a:srgbClr val="D3E9E7"/>
                    </a:solidFill>
                  </a:tcPr>
                </a:tc>
                <a:tc>
                  <a:txBody>
                    <a:bodyPr/>
                    <a:lstStyle/>
                    <a:p>
                      <a:pPr algn="ctr">
                        <a:defRPr sz="1000" b="1">
                          <a:solidFill>
                            <a:srgbClr val="006556"/>
                          </a:solidFill>
                          <a:latin typeface="Montserrat"/>
                        </a:defRPr>
                      </a:pPr>
                      <a:r>
                        <a:t>18,776</a:t>
                      </a:r>
                    </a:p>
                  </a:txBody>
                  <a:tcPr>
                    <a:solidFill>
                      <a:srgbClr val="D3E9E7"/>
                    </a:solidFill>
                  </a:tcPr>
                </a:tc>
                <a:tc>
                  <a:txBody>
                    <a:bodyPr/>
                    <a:lstStyle/>
                    <a:p>
                      <a:pPr algn="ctr">
                        <a:defRPr sz="1000" b="1">
                          <a:solidFill>
                            <a:srgbClr val="FFFFFF"/>
                          </a:solidFill>
                          <a:latin typeface="Montserrat"/>
                        </a:defRPr>
                      </a:pPr>
                      <a:r>
                        <a:t>34,864</a:t>
                      </a:r>
                    </a:p>
                  </a:txBody>
                  <a:tcPr>
                    <a:solidFill>
                      <a:srgbClr val="9F2241"/>
                    </a:solidFill>
                  </a:tcPr>
                </a:tc>
                <a:tc>
                  <a:txBody>
                    <a:bodyPr/>
                    <a:lstStyle/>
                    <a:p>
                      <a:pPr algn="ctr">
                        <a:defRPr sz="1000" b="1">
                          <a:solidFill>
                            <a:srgbClr val="FFFFFF"/>
                          </a:solidFill>
                          <a:latin typeface="Montserrat"/>
                        </a:defRPr>
                      </a:pPr>
                      <a:r>
                        <a:t>108,616</a:t>
                      </a:r>
                    </a:p>
                  </a:txBody>
                  <a:tcPr>
                    <a:solidFill>
                      <a:srgbClr val="9F2241"/>
                    </a:solidFill>
                  </a:tcPr>
                </a:tc>
                <a:tc>
                  <a:txBody>
                    <a:bodyPr/>
                    <a:lstStyle/>
                    <a:p>
                      <a:pPr algn="ctr">
                        <a:defRPr sz="1000" b="1">
                          <a:solidFill>
                            <a:srgbClr val="FFFFFF"/>
                          </a:solidFill>
                          <a:latin typeface="Montserrat"/>
                        </a:defRPr>
                      </a:pPr>
                      <a:r>
                        <a:t>32.1%</a:t>
                      </a:r>
                    </a:p>
                  </a:txBody>
                  <a:tcPr>
                    <a:solidFill>
                      <a:srgbClr val="9F2241"/>
                    </a:solidFill>
                  </a:tcPr>
                </a:tc>
              </a:tr>
            </a:tbl>
          </a:graphicData>
        </a:graphic>
      </p:graphicFrame>
      <p:graphicFrame>
        <p:nvGraphicFramePr>
          <p:cNvPr id="235" name="Chart 234"/>
          <p:cNvGraphicFramePr>
            <a:graphicFrameLocks noGrp="1"/>
          </p:cNvGraphicFramePr>
          <p:nvPr/>
        </p:nvGraphicFramePr>
        <p:xfrm>
          <a:off x="4780800" y="8481600"/>
          <a:ext cx="1800000" cy="1800000"/>
        </p:xfrm>
        <a:graphic>
          <a:graphicData uri="http://schemas.openxmlformats.org/drawingml/2006/chart">
            <c:chart xmlns:c="http://schemas.openxmlformats.org/drawingml/2006/chart" r:id="rId4"/>
          </a:graphicData>
        </a:graphic>
      </p:graphicFrame>
      <p:sp>
        <p:nvSpPr>
          <p:cNvPr id="236" name="TextBox 235"/>
          <p:cNvSpPr txBox="1"/>
          <p:nvPr/>
        </p:nvSpPr>
        <p:spPr>
          <a:xfrm>
            <a:off x="4780800" y="9201600"/>
            <a:ext cx="1800000" cy="360000"/>
          </a:xfrm>
          <a:prstGeom prst="rect">
            <a:avLst/>
          </a:prstGeom>
          <a:noFill/>
        </p:spPr>
        <p:txBody>
          <a:bodyPr wrap="none">
            <a:spAutoFit/>
          </a:bodyPr>
          <a:lstStyle/>
          <a:p>
            <a:pPr algn="ctr"/>
            <a:r>
              <a:rPr sz="2400" b="1">
                <a:solidFill>
                  <a:srgbClr val="9F2241"/>
                </a:solidFill>
                <a:latin typeface="Montserrat"/>
              </a:rPr>
              <a:t>32.1%</a:t>
            </a:r>
          </a:p>
        </p:txBody>
      </p:sp>
      <p:sp>
        <p:nvSpPr>
          <p:cNvPr id="237" name="TextBox 236"/>
          <p:cNvSpPr txBox="1"/>
          <p:nvPr/>
        </p:nvSpPr>
        <p:spPr>
          <a:xfrm>
            <a:off x="4780800" y="10101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38" name="TextBox 237"/>
          <p:cNvSpPr txBox="1"/>
          <p:nvPr/>
        </p:nvSpPr>
        <p:spPr>
          <a:xfrm>
            <a:off x="730799" y="8481600"/>
            <a:ext cx="2854800" cy="1198800"/>
          </a:xfrm>
          <a:prstGeom prst="rect">
            <a:avLst/>
          </a:prstGeom>
          <a:noFill/>
        </p:spPr>
        <p:txBody>
          <a:bodyPr wrap="square">
            <a:spAutoFit/>
          </a:bodyPr>
          <a:lstStyle/>
          <a:p>
            <a:pPr algn="ctr">
              <a:defRPr sz="3600" b="1">
                <a:solidFill>
                  <a:srgbClr val="9F2241"/>
                </a:solidFill>
                <a:latin typeface="Montserrat"/>
              </a:defRPr>
            </a:pPr>
            <a:r>
              <a:t>108,616 </a:t>
            </a:r>
            <a:br/>
            <a:r>
              <a:t>Meta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516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260 en Hospitales, 5 en sede, 90 en UMF y 161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260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280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2">
                  <a:txBody>
                    <a:bodyPr/>
                    <a:lstStyle/>
                    <a:p>
                      <a:pPr algn="ctr">
                        <a:defRPr sz="800" b="1">
                          <a:solidFill>
                            <a:srgbClr val="000000"/>
                          </a:solidFill>
                          <a:latin typeface="Montserrat"/>
                        </a:defRPr>
                      </a:pPr>
                      <a:r>
                        <a:t>Hospital General Regional 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Angiología y Cirugía Vascular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Gastroenterología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13</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908000"/>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General de Subzona 33</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8</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328000"/>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Subzona C/MF 12</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3280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General de Subzona C/MF 16</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6732000"/>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Subzona C/MF 19</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6732000"/>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Subzona C/MF 26</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spTree>
    <p:extLst>
      <p:ext uri="{BB962C8B-B14F-4D97-AF65-F5344CB8AC3E}">
        <p14:creationId xmlns:p14="http://schemas.microsoft.com/office/powerpoint/2010/main" val="750523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Medicina de Urgencias</a:t>
                      </a:r>
                    </a:p>
                  </a:txBody>
                  <a:tcPr anchor="ctr" marL="45720" marR="45720" marT="45720" marB="45720">
                    <a:solidFill>
                      <a:srgbClr val="FFFFFF"/>
                    </a:solidFill>
                  </a:tcPr>
                </a:tc>
                <a:tc>
                  <a:txBody>
                    <a:bodyPr/>
                    <a:lstStyle/>
                    <a:p>
                      <a:pPr algn="ctr">
                        <a:defRPr sz="1100" b="0">
                          <a:solidFill>
                            <a:srgbClr val="000000"/>
                          </a:solidFill>
                          <a:latin typeface="Montserrat"/>
                        </a:defRPr>
                      </a:pPr>
                      <a:r>
                        <a:t>92</a:t>
                      </a:r>
                    </a:p>
                  </a:txBody>
                  <a:tcPr anchor="ctr" marL="45720" marR="45720" marT="45720" marB="45720">
                    <a:solidFill>
                      <a:srgbClr val="FFFFFF"/>
                    </a:solidFill>
                  </a:tcPr>
                </a:tc>
                <a:tc>
                  <a:txBody>
                    <a:bodyPr/>
                    <a:lstStyle/>
                    <a:p>
                      <a:pPr algn="ctr">
                        <a:defRPr sz="1100" b="1">
                          <a:solidFill>
                            <a:srgbClr val="000000"/>
                          </a:solidFill>
                          <a:latin typeface="Montserrat"/>
                        </a:defRPr>
                      </a:pPr>
                      <a:r>
                        <a:t>17.8%</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Familiar</a:t>
                      </a:r>
                    </a:p>
                  </a:txBody>
                  <a:tcPr anchor="ctr" marL="45720" marR="45720" marT="45720" marB="45720">
                    <a:solidFill>
                      <a:srgbClr val="D9D9D9"/>
                    </a:solidFill>
                  </a:tcPr>
                </a:tc>
                <a:tc>
                  <a:txBody>
                    <a:bodyPr/>
                    <a:lstStyle/>
                    <a:p>
                      <a:pPr algn="ctr">
                        <a:defRPr sz="1100" b="0">
                          <a:solidFill>
                            <a:srgbClr val="000000"/>
                          </a:solidFill>
                          <a:latin typeface="Montserrat"/>
                        </a:defRPr>
                      </a:pPr>
                      <a:r>
                        <a:t>88</a:t>
                      </a:r>
                    </a:p>
                  </a:txBody>
                  <a:tcPr anchor="ctr" marL="45720" marR="45720" marT="45720" marB="45720">
                    <a:solidFill>
                      <a:srgbClr val="D9D9D9"/>
                    </a:solidFill>
                  </a:tcPr>
                </a:tc>
                <a:tc>
                  <a:txBody>
                    <a:bodyPr/>
                    <a:lstStyle/>
                    <a:p>
                      <a:pPr algn="ctr">
                        <a:defRPr sz="1100" b="1">
                          <a:solidFill>
                            <a:srgbClr val="000000"/>
                          </a:solidFill>
                          <a:latin typeface="Montserrat"/>
                        </a:defRPr>
                      </a:pPr>
                      <a:r>
                        <a:t>34.8%</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Anestesiología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60</a:t>
                      </a:r>
                    </a:p>
                  </a:txBody>
                  <a:tcPr anchor="ctr" marL="45720" marR="45720" marT="45720" marB="45720">
                    <a:solidFill>
                      <a:srgbClr val="FFFFFF"/>
                    </a:solidFill>
                  </a:tcPr>
                </a:tc>
                <a:tc>
                  <a:txBody>
                    <a:bodyPr/>
                    <a:lstStyle/>
                    <a:p>
                      <a:pPr algn="ctr">
                        <a:defRPr sz="1100" b="1">
                          <a:solidFill>
                            <a:srgbClr val="000000"/>
                          </a:solidFill>
                          <a:latin typeface="Montserrat"/>
                        </a:defRPr>
                      </a:pPr>
                      <a:r>
                        <a:t>46.5%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Ginecología y Obstetricia</a:t>
                      </a:r>
                    </a:p>
                  </a:txBody>
                  <a:tcPr anchor="ctr" marL="45720" marR="45720" marT="45720" marB="45720">
                    <a:solidFill>
                      <a:srgbClr val="D9D9D9"/>
                    </a:solidFill>
                  </a:tcPr>
                </a:tc>
                <a:tc>
                  <a:txBody>
                    <a:bodyPr/>
                    <a:lstStyle/>
                    <a:p>
                      <a:pPr algn="ctr">
                        <a:defRPr sz="1100" b="0">
                          <a:solidFill>
                            <a:srgbClr val="000000"/>
                          </a:solidFill>
                          <a:latin typeface="Montserrat"/>
                        </a:defRPr>
                      </a:pPr>
                      <a:r>
                        <a:t>35</a:t>
                      </a:r>
                    </a:p>
                  </a:txBody>
                  <a:tcPr anchor="ctr" marL="45720" marR="45720" marT="45720" marB="45720">
                    <a:solidFill>
                      <a:srgbClr val="D9D9D9"/>
                    </a:solidFill>
                  </a:tcPr>
                </a:tc>
                <a:tc>
                  <a:txBody>
                    <a:bodyPr/>
                    <a:lstStyle/>
                    <a:p>
                      <a:pPr algn="ctr">
                        <a:defRPr sz="1100" b="1">
                          <a:solidFill>
                            <a:srgbClr val="000000"/>
                          </a:solidFill>
                          <a:latin typeface="Montserrat"/>
                        </a:defRPr>
                      </a:pPr>
                      <a:r>
                        <a:t>53.2%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Cirugía General</a:t>
                      </a:r>
                    </a:p>
                  </a:txBody>
                  <a:tcPr anchor="ctr" marL="45720" marR="45720" marT="45720" marB="45720">
                    <a:solidFill>
                      <a:srgbClr val="FFFFFF"/>
                    </a:solidFill>
                  </a:tcPr>
                </a:tc>
                <a:tc>
                  <a:txBody>
                    <a:bodyPr/>
                    <a:lstStyle/>
                    <a:p>
                      <a:pPr algn="ctr">
                        <a:defRPr sz="1100" b="0">
                          <a:solidFill>
                            <a:srgbClr val="000000"/>
                          </a:solidFill>
                          <a:latin typeface="Montserrat"/>
                        </a:defRPr>
                      </a:pPr>
                      <a:r>
                        <a:t>33</a:t>
                      </a:r>
                    </a:p>
                  </a:txBody>
                  <a:tcPr anchor="ctr" marL="45720" marR="45720" marT="45720" marB="45720">
                    <a:solidFill>
                      <a:srgbClr val="FFFFFF"/>
                    </a:solidFill>
                  </a:tcPr>
                </a:tc>
                <a:tc>
                  <a:txBody>
                    <a:bodyPr/>
                    <a:lstStyle/>
                    <a:p>
                      <a:pPr algn="ctr">
                        <a:defRPr sz="1100" b="1">
                          <a:solidFill>
                            <a:srgbClr val="000000"/>
                          </a:solidFill>
                          <a:latin typeface="Montserrat"/>
                        </a:defRPr>
                      </a:pPr>
                      <a:r>
                        <a:t>59.6%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Pediatría</a:t>
                      </a:r>
                    </a:p>
                  </a:txBody>
                  <a:tcPr anchor="ctr" marL="45720" marR="45720" marT="45720" marB="45720">
                    <a:solidFill>
                      <a:srgbClr val="D9D9D9"/>
                    </a:solidFill>
                  </a:tcPr>
                </a:tc>
                <a:tc>
                  <a:txBody>
                    <a:bodyPr/>
                    <a:lstStyle/>
                    <a:p>
                      <a:pPr algn="ctr">
                        <a:defRPr sz="1100" b="0">
                          <a:solidFill>
                            <a:srgbClr val="000000"/>
                          </a:solidFill>
                          <a:latin typeface="Montserrat"/>
                        </a:defRPr>
                      </a:pPr>
                      <a:r>
                        <a:t>31</a:t>
                      </a:r>
                    </a:p>
                  </a:txBody>
                  <a:tcPr anchor="ctr" marL="45720" marR="45720" marT="45720" marB="45720">
                    <a:solidFill>
                      <a:srgbClr val="D9D9D9"/>
                    </a:solidFill>
                  </a:tcPr>
                </a:tc>
                <a:tc>
                  <a:txBody>
                    <a:bodyPr/>
                    <a:lstStyle/>
                    <a:p>
                      <a:pPr algn="ctr">
                        <a:defRPr sz="1100" b="1">
                          <a:solidFill>
                            <a:srgbClr val="000000"/>
                          </a:solidFill>
                          <a:latin typeface="Montserrat"/>
                        </a:defRPr>
                      </a:pPr>
                      <a:r>
                        <a:t>65.6%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Traumatología y Ortopedia</a:t>
                      </a:r>
                    </a:p>
                  </a:txBody>
                  <a:tcPr anchor="ctr" marL="45720" marR="45720" marT="45720" marB="45720">
                    <a:solidFill>
                      <a:srgbClr val="FFFFFF"/>
                    </a:solidFill>
                  </a:tcPr>
                </a:tc>
                <a:tc>
                  <a:txBody>
                    <a:bodyPr/>
                    <a:lstStyle/>
                    <a:p>
                      <a:pPr algn="ctr">
                        <a:defRPr sz="1100" b="0">
                          <a:solidFill>
                            <a:srgbClr val="000000"/>
                          </a:solidFill>
                          <a:latin typeface="Montserrat"/>
                        </a:defRPr>
                      </a:pPr>
                      <a:r>
                        <a:t>23</a:t>
                      </a:r>
                    </a:p>
                  </a:txBody>
                  <a:tcPr anchor="ctr" marL="45720" marR="45720" marT="45720" marB="45720">
                    <a:solidFill>
                      <a:srgbClr val="FFFFFF"/>
                    </a:solidFill>
                  </a:tcPr>
                </a:tc>
                <a:tc>
                  <a:txBody>
                    <a:bodyPr/>
                    <a:lstStyle/>
                    <a:p>
                      <a:pPr algn="ctr">
                        <a:defRPr sz="1100" b="1">
                          <a:solidFill>
                            <a:srgbClr val="000000"/>
                          </a:solidFill>
                          <a:latin typeface="Montserrat"/>
                        </a:defRPr>
                      </a:pPr>
                      <a:r>
                        <a:t>70.1%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Interna</a:t>
                      </a:r>
                    </a:p>
                  </a:txBody>
                  <a:tcPr anchor="ctr" marL="45720" marR="45720" marT="45720" marB="45720">
                    <a:solidFill>
                      <a:srgbClr val="D9D9D9"/>
                    </a:solidFill>
                  </a:tcPr>
                </a:tc>
                <a:tc>
                  <a:txBody>
                    <a:bodyPr/>
                    <a:lstStyle/>
                    <a:p>
                      <a:pPr algn="ctr">
                        <a:defRPr sz="1100" b="0">
                          <a:solidFill>
                            <a:srgbClr val="000000"/>
                          </a:solidFill>
                          <a:latin typeface="Montserrat"/>
                        </a:defRPr>
                      </a:pPr>
                      <a:r>
                        <a:t>23</a:t>
                      </a:r>
                    </a:p>
                  </a:txBody>
                  <a:tcPr anchor="ctr" marL="45720" marR="45720" marT="45720" marB="45720">
                    <a:solidFill>
                      <a:srgbClr val="D9D9D9"/>
                    </a:solidFill>
                  </a:tcPr>
                </a:tc>
                <a:tc>
                  <a:txBody>
                    <a:bodyPr/>
                    <a:lstStyle/>
                    <a:p>
                      <a:pPr algn="ctr">
                        <a:defRPr sz="1100" b="1">
                          <a:solidFill>
                            <a:srgbClr val="000000"/>
                          </a:solidFill>
                          <a:latin typeface="Montserrat"/>
                        </a:defRPr>
                      </a:pPr>
                      <a:r>
                        <a:t>74.6%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Cardiología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14</a:t>
                      </a:r>
                    </a:p>
                  </a:txBody>
                  <a:tcPr anchor="ctr" marL="45720" marR="45720" marT="45720" marB="45720">
                    <a:solidFill>
                      <a:srgbClr val="FFFFFF"/>
                    </a:solidFill>
                  </a:tcPr>
                </a:tc>
                <a:tc>
                  <a:txBody>
                    <a:bodyPr/>
                    <a:lstStyle/>
                    <a:p>
                      <a:pPr algn="ctr">
                        <a:defRPr sz="1100" b="1">
                          <a:solidFill>
                            <a:srgbClr val="000000"/>
                          </a:solidFill>
                          <a:latin typeface="Montserrat"/>
                        </a:defRPr>
                      </a:pPr>
                      <a:r>
                        <a:t>77.3%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Epidemiología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12</a:t>
                      </a:r>
                    </a:p>
                  </a:txBody>
                  <a:tcPr anchor="ctr" marL="45720" marR="45720" marT="45720" marB="45720">
                    <a:solidFill>
                      <a:srgbClr val="D9D9D9"/>
                    </a:solidFill>
                  </a:tcPr>
                </a:tc>
                <a:tc>
                  <a:txBody>
                    <a:bodyPr/>
                    <a:lstStyle/>
                    <a:p>
                      <a:pPr algn="ctr">
                        <a:defRPr sz="1100" b="1">
                          <a:solidFill>
                            <a:srgbClr val="000000"/>
                          </a:solidFill>
                          <a:latin typeface="Montserrat"/>
                        </a:defRPr>
                      </a:pPr>
                      <a:r>
                        <a:t>79.6%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del Trabajo y Ambiental</a:t>
                      </a:r>
                    </a:p>
                  </a:txBody>
                  <a:tcPr anchor="ctr" marL="45720" marR="45720" marT="45720" marB="45720">
                    <a:solidFill>
                      <a:srgbClr val="FFFFFF"/>
                    </a:solidFill>
                  </a:tcPr>
                </a:tc>
                <a:tc>
                  <a:txBody>
                    <a:bodyPr/>
                    <a:lstStyle/>
                    <a:p>
                      <a:pPr algn="ctr">
                        <a:defRPr sz="1100" b="0">
                          <a:solidFill>
                            <a:srgbClr val="000000"/>
                          </a:solidFill>
                          <a:latin typeface="Montserrat"/>
                        </a:defRPr>
                      </a:pPr>
                      <a:r>
                        <a:t>11</a:t>
                      </a:r>
                    </a:p>
                  </a:txBody>
                  <a:tcPr anchor="ctr" marL="45720" marR="45720" marT="45720" marB="45720">
                    <a:solidFill>
                      <a:srgbClr val="FFFFFF"/>
                    </a:solidFill>
                  </a:tcPr>
                </a:tc>
                <a:tc>
                  <a:txBody>
                    <a:bodyPr/>
                    <a:lstStyle/>
                    <a:p>
                      <a:pPr algn="ctr">
                        <a:defRPr sz="1100" b="1">
                          <a:solidFill>
                            <a:srgbClr val="000000"/>
                          </a:solidFill>
                          <a:latin typeface="Montserrat"/>
                        </a:defRPr>
                      </a:pPr>
                      <a:r>
                        <a:t>81.7%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Imagenología Diagnóstico y Terapéutica</a:t>
                      </a:r>
                    </a:p>
                  </a:txBody>
                  <a:tcPr anchor="ctr" marL="45720" marR="45720" marT="45720" marB="45720">
                    <a:solidFill>
                      <a:srgbClr val="D9D9D9"/>
                    </a:solidFill>
                  </a:tcPr>
                </a:tc>
                <a:tc>
                  <a:txBody>
                    <a:bodyPr/>
                    <a:lstStyle/>
                    <a:p>
                      <a:pPr algn="ctr">
                        <a:defRPr sz="1100" b="0">
                          <a:solidFill>
                            <a:srgbClr val="000000"/>
                          </a:solidFill>
                          <a:latin typeface="Montserrat"/>
                        </a:defRPr>
                      </a:pPr>
                      <a:r>
                        <a:t>9</a:t>
                      </a:r>
                    </a:p>
                  </a:txBody>
                  <a:tcPr anchor="ctr" marL="45720" marR="45720" marT="45720" marB="45720">
                    <a:solidFill>
                      <a:srgbClr val="D9D9D9"/>
                    </a:solidFill>
                  </a:tcPr>
                </a:tc>
                <a:tc>
                  <a:txBody>
                    <a:bodyPr/>
                    <a:lstStyle/>
                    <a:p>
                      <a:pPr algn="ctr">
                        <a:defRPr sz="1100" b="1">
                          <a:solidFill>
                            <a:srgbClr val="000000"/>
                          </a:solidFill>
                          <a:latin typeface="Montserrat"/>
                        </a:defRPr>
                      </a:pPr>
                      <a:r>
                        <a:t>83.5%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8</a:t>
                      </a:r>
                    </a:p>
                  </a:txBody>
                  <a:tcPr anchor="ctr" marL="45720" marR="45720" marT="45720" marB="45720">
                    <a:solidFill>
                      <a:srgbClr val="FFFFFF"/>
                    </a:solidFill>
                  </a:tcPr>
                </a:tc>
                <a:tc>
                  <a:txBody>
                    <a:bodyPr/>
                    <a:lstStyle/>
                    <a:p>
                      <a:pPr algn="ctr">
                        <a:defRPr sz="1100" b="1">
                          <a:solidFill>
                            <a:srgbClr val="000000"/>
                          </a:solidFill>
                          <a:latin typeface="Montserrat"/>
                        </a:defRPr>
                      </a:pPr>
                      <a:r>
                        <a:t>85.0%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Geriatría</a:t>
                      </a:r>
                    </a:p>
                  </a:txBody>
                  <a:tcPr anchor="ctr" marL="45720" marR="45720" marT="45720" marB="45720">
                    <a:solidFill>
                      <a:srgbClr val="D9D9D9"/>
                    </a:solidFill>
                  </a:tcPr>
                </a:tc>
                <a:tc>
                  <a:txBody>
                    <a:bodyPr/>
                    <a:lstStyle/>
                    <a:p>
                      <a:pPr algn="ctr">
                        <a:defRPr sz="1100" b="0">
                          <a:solidFill>
                            <a:srgbClr val="000000"/>
                          </a:solidFill>
                          <a:latin typeface="Montserrat"/>
                        </a:defRPr>
                      </a:pPr>
                      <a:r>
                        <a:t>6</a:t>
                      </a:r>
                    </a:p>
                  </a:txBody>
                  <a:tcPr anchor="ctr" marL="45720" marR="45720" marT="45720" marB="45720">
                    <a:solidFill>
                      <a:srgbClr val="D9D9D9"/>
                    </a:solidFill>
                  </a:tcPr>
                </a:tc>
                <a:tc>
                  <a:txBody>
                    <a:bodyPr/>
                    <a:lstStyle/>
                    <a:p>
                      <a:pPr algn="ctr">
                        <a:defRPr sz="1100" b="1">
                          <a:solidFill>
                            <a:srgbClr val="000000"/>
                          </a:solidFill>
                          <a:latin typeface="Montserrat"/>
                        </a:defRPr>
                      </a:pPr>
                      <a:r>
                        <a:t>86.2%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Otorrinolaringología y Cirugía de Cabeza y Cuello</a:t>
                      </a:r>
                    </a:p>
                  </a:txBody>
                  <a:tcPr anchor="ctr" marL="45720" marR="45720" marT="45720" marB="45720">
                    <a:solidFill>
                      <a:srgbClr val="FFFFFF"/>
                    </a:solidFill>
                  </a:tcPr>
                </a:tc>
                <a:tc>
                  <a:txBody>
                    <a:bodyPr/>
                    <a:lstStyle/>
                    <a:p>
                      <a:pPr algn="ctr">
                        <a:defRPr sz="1100" b="0">
                          <a:solidFill>
                            <a:srgbClr val="000000"/>
                          </a:solidFill>
                          <a:latin typeface="Montserrat"/>
                        </a:defRPr>
                      </a:pPr>
                      <a:r>
                        <a:t>5</a:t>
                      </a:r>
                    </a:p>
                  </a:txBody>
                  <a:tcPr anchor="ctr" marL="45720" marR="45720" marT="45720" marB="45720">
                    <a:solidFill>
                      <a:srgbClr val="FFFFFF"/>
                    </a:solidFill>
                  </a:tcPr>
                </a:tc>
                <a:tc>
                  <a:txBody>
                    <a:bodyPr/>
                    <a:lstStyle/>
                    <a:p>
                      <a:pPr algn="ctr">
                        <a:defRPr sz="1100" b="1">
                          <a:solidFill>
                            <a:srgbClr val="000000"/>
                          </a:solidFill>
                          <a:latin typeface="Montserrat"/>
                        </a:defRPr>
                      </a:pPr>
                      <a:r>
                        <a:t>87.2%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 Rehabilitación</a:t>
                      </a:r>
                    </a:p>
                  </a:txBody>
                  <a:tcPr anchor="ctr" marL="45720" marR="45720" marT="45720" marB="45720">
                    <a:solidFill>
                      <a:srgbClr val="D9D9D9"/>
                    </a:solidFill>
                  </a:tcPr>
                </a:tc>
                <a:tc>
                  <a:txBody>
                    <a:bodyPr/>
                    <a:lstStyle/>
                    <a:p>
                      <a:pPr algn="ctr">
                        <a:defRPr sz="1100" b="0">
                          <a:solidFill>
                            <a:srgbClr val="000000"/>
                          </a:solidFill>
                          <a:latin typeface="Montserrat"/>
                        </a:defRPr>
                      </a:pPr>
                      <a:r>
                        <a:t>5</a:t>
                      </a:r>
                    </a:p>
                  </a:txBody>
                  <a:tcPr anchor="ctr" marL="45720" marR="45720" marT="45720" marB="45720">
                    <a:solidFill>
                      <a:srgbClr val="D9D9D9"/>
                    </a:solidFill>
                  </a:tcPr>
                </a:tc>
                <a:tc>
                  <a:txBody>
                    <a:bodyPr/>
                    <a:lstStyle/>
                    <a:p>
                      <a:pPr algn="ctr">
                        <a:defRPr sz="1100" b="1">
                          <a:solidFill>
                            <a:srgbClr val="000000"/>
                          </a:solidFill>
                          <a:latin typeface="Montserrat"/>
                        </a:defRPr>
                      </a:pPr>
                      <a:r>
                        <a:t>88.1%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Oftalmología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5</a:t>
                      </a:r>
                    </a:p>
                  </a:txBody>
                  <a:tcPr anchor="ctr" marL="45720" marR="45720" marT="45720" marB="45720">
                    <a:solidFill>
                      <a:srgbClr val="FFFFFF"/>
                    </a:solidFill>
                  </a:tcPr>
                </a:tc>
                <a:tc>
                  <a:txBody>
                    <a:bodyPr/>
                    <a:lstStyle/>
                    <a:p>
                      <a:pPr algn="ctr">
                        <a:defRPr sz="1100" b="1">
                          <a:solidFill>
                            <a:srgbClr val="000000"/>
                          </a:solidFill>
                          <a:latin typeface="Montserrat"/>
                        </a:defRPr>
                      </a:pPr>
                      <a:r>
                        <a:t>89.1%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Anatomía Patológica</a:t>
                      </a:r>
                    </a:p>
                  </a:txBody>
                  <a:tcPr anchor="ctr" marL="45720" marR="45720" marT="45720" marB="45720">
                    <a:solidFill>
                      <a:srgbClr val="D9D9D9"/>
                    </a:solidFill>
                  </a:tcPr>
                </a:tc>
                <a:tc>
                  <a:txBody>
                    <a:bodyPr/>
                    <a:lstStyle/>
                    <a:p>
                      <a:pPr algn="ctr">
                        <a:defRPr sz="1100" b="0">
                          <a:solidFill>
                            <a:srgbClr val="000000"/>
                          </a:solidFill>
                          <a:latin typeface="Montserrat"/>
                        </a:defRPr>
                      </a:pPr>
                      <a:r>
                        <a:t>4</a:t>
                      </a:r>
                    </a:p>
                  </a:txBody>
                  <a:tcPr anchor="ctr" marL="45720" marR="45720" marT="45720" marB="45720">
                    <a:solidFill>
                      <a:srgbClr val="D9D9D9"/>
                    </a:solidFill>
                  </a:tcPr>
                </a:tc>
                <a:tc>
                  <a:txBody>
                    <a:bodyPr/>
                    <a:lstStyle/>
                    <a:p>
                      <a:pPr algn="ctr">
                        <a:defRPr sz="1100" b="1">
                          <a:solidFill>
                            <a:srgbClr val="000000"/>
                          </a:solidFill>
                          <a:latin typeface="Montserrat"/>
                        </a:defRPr>
                      </a:pPr>
                      <a:r>
                        <a:t>89.9%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Nefrología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4</a:t>
                      </a:r>
                    </a:p>
                  </a:txBody>
                  <a:tcPr anchor="ctr" marL="45720" marR="45720" marT="45720" marB="45720">
                    <a:solidFill>
                      <a:srgbClr val="FFFFFF"/>
                    </a:solidFill>
                  </a:tcPr>
                </a:tc>
                <a:tc>
                  <a:txBody>
                    <a:bodyPr/>
                    <a:lstStyle/>
                    <a:p>
                      <a:pPr algn="ctr">
                        <a:defRPr sz="1100" b="1">
                          <a:solidFill>
                            <a:srgbClr val="000000"/>
                          </a:solidFill>
                          <a:latin typeface="Montserrat"/>
                        </a:defRPr>
                      </a:pPr>
                      <a:r>
                        <a:t>90.6%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Oncología Médica</a:t>
                      </a:r>
                    </a:p>
                  </a:txBody>
                  <a:tcPr anchor="ctr" marL="45720" marR="45720" marT="45720" marB="45720">
                    <a:solidFill>
                      <a:srgbClr val="D9D9D9"/>
                    </a:solidFill>
                  </a:tcPr>
                </a:tc>
                <a:tc>
                  <a:txBody>
                    <a:bodyPr/>
                    <a:lstStyle/>
                    <a:p>
                      <a:pPr algn="ctr">
                        <a:defRPr sz="1100" b="0">
                          <a:solidFill>
                            <a:srgbClr val="000000"/>
                          </a:solidFill>
                          <a:latin typeface="Montserrat"/>
                        </a:defRPr>
                      </a:pPr>
                      <a:r>
                        <a:t>4</a:t>
                      </a:r>
                    </a:p>
                  </a:txBody>
                  <a:tcPr anchor="ctr" marL="45720" marR="45720" marT="45720" marB="45720">
                    <a:solidFill>
                      <a:srgbClr val="D9D9D9"/>
                    </a:solidFill>
                  </a:tcPr>
                </a:tc>
                <a:tc>
                  <a:txBody>
                    <a:bodyPr/>
                    <a:lstStyle/>
                    <a:p>
                      <a:pPr algn="ctr">
                        <a:defRPr sz="1100" b="1">
                          <a:solidFill>
                            <a:srgbClr val="000000"/>
                          </a:solidFill>
                          <a:latin typeface="Montserrat"/>
                        </a:defRPr>
                      </a:pPr>
                      <a:r>
                        <a:t>91.4%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Servicios de Sangre</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92.0%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Reumatología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92.6%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Cirugía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93.2%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Alergia e Inmunología Clínica</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93.7%</a:t>
                      </a:r>
                    </a:p>
                  </a:txBody>
                  <a:tcPr anchor="ctr" marL="45720" marR="45720" marT="45720" marB="45720">
                    <a:solidFill>
                      <a:srgbClr val="D9D9D9"/>
                    </a:solidFill>
                  </a:tcPr>
                </a:tc>
              </a:tr>
              <a:tr h="161600">
                <a:tc>
                  <a:txBody>
                    <a:bodyPr/>
                    <a:lstStyle/>
                    <a:p>
                      <a:pPr algn="l">
                        <a:defRPr sz="1100" b="0">
                          <a:solidFill>
                            <a:srgbClr val="000000"/>
                          </a:solidFill>
                          <a:latin typeface="Montserrat"/>
                        </a:defRPr>
                      </a:pPr>
                      <a:r>
                        <a:t>Audiología Otoneurología y Foniatría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94.3%</a:t>
                      </a:r>
                    </a:p>
                  </a:txBody>
                  <a:tcPr anchor="ctr" marL="45720" marR="45720" marT="45720" marB="45720">
                    <a:solidFill>
                      <a:srgbClr val="FFFFFF"/>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D6F033B8-CE29-6B8C-73CF-BB96C01462B0}"/>
              </a:ext>
            </a:extLst>
          </p:cNvPr>
          <p:cNvGraphicFramePr/>
          <p:nvPr>
            <p:extLst>
              <p:ext uri="{D42A27DB-BD31-4B8C-83A1-F6EECF244321}">
                <p14:modId xmlns:p14="http://schemas.microsoft.com/office/powerpoint/2010/main" val="2499406155"/>
              </p:ext>
            </p:extLst>
          </p:nvPr>
        </p:nvGraphicFramePr>
        <p:xfrm>
          <a:off x="287050" y="90944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VERACRUZ</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21, 17 mayo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Cirugía General</a:t>
                      </a:r>
                    </a:p>
                  </a:txBody>
                  <a:tcPr anchor="ctr">
                    <a:solidFill>
                      <a:srgbClr val="FFFFFF"/>
                    </a:solidFill>
                  </a:tcPr>
                </a:tc>
                <a:tc>
                  <a:txBody>
                    <a:bodyPr/>
                    <a:lstStyle/>
                    <a:p>
                      <a:pPr algn="ctr">
                        <a:defRPr sz="1000">
                          <a:latin typeface="Montserrat"/>
                        </a:defRPr>
                      </a:pPr>
                      <a:r>
                        <a:t>5,042</a:t>
                      </a:r>
                    </a:p>
                  </a:txBody>
                  <a:tcPr anchor="ctr">
                    <a:solidFill>
                      <a:srgbClr val="FFFFFF"/>
                    </a:solidFill>
                  </a:tcPr>
                </a:tc>
                <a:tc>
                  <a:txBody>
                    <a:bodyPr/>
                    <a:lstStyle/>
                    <a:p>
                      <a:pPr algn="ctr">
                        <a:defRPr sz="1000">
                          <a:latin typeface="Montserrat"/>
                        </a:defRPr>
                      </a:pPr>
                      <a:r>
                        <a:t>37.9%</a:t>
                      </a:r>
                    </a:p>
                  </a:txBody>
                  <a:tcPr anchor="ctr">
                    <a:solidFill>
                      <a:srgbClr val="FFFFFF"/>
                    </a:solidFill>
                  </a:tcPr>
                </a:tc>
              </a:tr>
              <a:tr h="216000">
                <a:tc>
                  <a:txBody>
                    <a:bodyPr/>
                    <a:lstStyle/>
                    <a:p>
                      <a:pPr algn="l">
                        <a:defRPr sz="1000">
                          <a:latin typeface="Montserrat"/>
                        </a:defRPr>
                      </a:pPr>
                      <a:r>
                        <a:t>Traumatología y ortopedia</a:t>
                      </a:r>
                    </a:p>
                  </a:txBody>
                  <a:tcPr anchor="ctr">
                    <a:solidFill>
                      <a:srgbClr val="D9D9D9"/>
                    </a:solidFill>
                  </a:tcPr>
                </a:tc>
                <a:tc>
                  <a:txBody>
                    <a:bodyPr/>
                    <a:lstStyle/>
                    <a:p>
                      <a:pPr algn="ctr">
                        <a:defRPr sz="1000">
                          <a:latin typeface="Montserrat"/>
                        </a:defRPr>
                      </a:pPr>
                      <a:r>
                        <a:t>2,860</a:t>
                      </a:r>
                    </a:p>
                  </a:txBody>
                  <a:tcPr anchor="ctr">
                    <a:solidFill>
                      <a:srgbClr val="D9D9D9"/>
                    </a:solidFill>
                  </a:tcPr>
                </a:tc>
                <a:tc>
                  <a:txBody>
                    <a:bodyPr/>
                    <a:lstStyle/>
                    <a:p>
                      <a:pPr algn="ctr">
                        <a:defRPr sz="1000">
                          <a:latin typeface="Montserrat"/>
                        </a:defRPr>
                      </a:pPr>
                      <a:r>
                        <a:t>59.4%</a:t>
                      </a:r>
                    </a:p>
                  </a:txBody>
                  <a:tcPr anchor="ctr">
                    <a:solidFill>
                      <a:srgbClr val="D9D9D9"/>
                    </a:solidFill>
                  </a:tcPr>
                </a:tc>
              </a:tr>
              <a:tr h="216000">
                <a:tc>
                  <a:txBody>
                    <a:bodyPr/>
                    <a:lstStyle/>
                    <a:p>
                      <a:pPr algn="l">
                        <a:defRPr sz="1000">
                          <a:latin typeface="Montserrat"/>
                        </a:defRPr>
                      </a:pPr>
                      <a:r>
                        <a:t>Oftalmología</a:t>
                      </a:r>
                    </a:p>
                  </a:txBody>
                  <a:tcPr anchor="ctr">
                    <a:solidFill>
                      <a:srgbClr val="FFFFFF"/>
                    </a:solidFill>
                  </a:tcPr>
                </a:tc>
                <a:tc>
                  <a:txBody>
                    <a:bodyPr/>
                    <a:lstStyle/>
                    <a:p>
                      <a:pPr algn="ctr">
                        <a:defRPr sz="1000">
                          <a:latin typeface="Montserrat"/>
                        </a:defRPr>
                      </a:pPr>
                      <a:r>
                        <a:t>1,333</a:t>
                      </a:r>
                    </a:p>
                  </a:txBody>
                  <a:tcPr anchor="ctr">
                    <a:solidFill>
                      <a:srgbClr val="FFFFFF"/>
                    </a:solidFill>
                  </a:tcPr>
                </a:tc>
                <a:tc>
                  <a:txBody>
                    <a:bodyPr/>
                    <a:lstStyle/>
                    <a:p>
                      <a:pPr algn="ctr">
                        <a:defRPr sz="1000">
                          <a:latin typeface="Montserrat"/>
                        </a:defRPr>
                      </a:pPr>
                      <a:r>
                        <a:t>69.4%</a:t>
                      </a:r>
                    </a:p>
                  </a:txBody>
                  <a:tcPr anchor="ctr">
                    <a:solidFill>
                      <a:srgbClr val="FFFFFF"/>
                    </a:solidFill>
                  </a:tcPr>
                </a:tc>
              </a:tr>
              <a:tr h="216000">
                <a:tc>
                  <a:txBody>
                    <a:bodyPr/>
                    <a:lstStyle/>
                    <a:p>
                      <a:pPr algn="l">
                        <a:defRPr sz="1000">
                          <a:latin typeface="Montserrat"/>
                        </a:defRPr>
                      </a:pPr>
                      <a:r>
                        <a:t>Ginecología</a:t>
                      </a:r>
                    </a:p>
                  </a:txBody>
                  <a:tcPr anchor="ctr">
                    <a:solidFill>
                      <a:srgbClr val="D9D9D9"/>
                    </a:solidFill>
                  </a:tcPr>
                </a:tc>
                <a:tc>
                  <a:txBody>
                    <a:bodyPr/>
                    <a:lstStyle/>
                    <a:p>
                      <a:pPr algn="ctr">
                        <a:defRPr sz="1000">
                          <a:latin typeface="Montserrat"/>
                        </a:defRPr>
                      </a:pPr>
                      <a:r>
                        <a:t>1,059</a:t>
                      </a:r>
                    </a:p>
                  </a:txBody>
                  <a:tcPr anchor="ctr">
                    <a:solidFill>
                      <a:srgbClr val="D9D9D9"/>
                    </a:solidFill>
                  </a:tcPr>
                </a:tc>
                <a:tc>
                  <a:txBody>
                    <a:bodyPr/>
                    <a:lstStyle/>
                    <a:p>
                      <a:pPr algn="ctr">
                        <a:defRPr sz="1000">
                          <a:latin typeface="Montserrat"/>
                        </a:defRPr>
                      </a:pPr>
                      <a:r>
                        <a:t>77.3%</a:t>
                      </a:r>
                    </a:p>
                  </a:txBody>
                  <a:tcPr anchor="ctr">
                    <a:solidFill>
                      <a:srgbClr val="D9D9D9"/>
                    </a:solidFill>
                  </a:tcPr>
                </a:tc>
              </a:tr>
              <a:tr h="216000">
                <a:tc>
                  <a:txBody>
                    <a:bodyPr/>
                    <a:lstStyle/>
                    <a:p>
                      <a:pPr algn="l">
                        <a:defRPr sz="1000">
                          <a:latin typeface="Montserrat"/>
                        </a:defRPr>
                      </a:pPr>
                      <a:r>
                        <a:t>Obstetricia</a:t>
                      </a:r>
                    </a:p>
                  </a:txBody>
                  <a:tcPr anchor="ctr">
                    <a:solidFill>
                      <a:srgbClr val="FFFFFF"/>
                    </a:solidFill>
                  </a:tcPr>
                </a:tc>
                <a:tc>
                  <a:txBody>
                    <a:bodyPr/>
                    <a:lstStyle/>
                    <a:p>
                      <a:pPr algn="ctr">
                        <a:defRPr sz="1000">
                          <a:latin typeface="Montserrat"/>
                        </a:defRPr>
                      </a:pPr>
                      <a:r>
                        <a:t>980</a:t>
                      </a:r>
                    </a:p>
                  </a:txBody>
                  <a:tcPr anchor="ctr">
                    <a:solidFill>
                      <a:srgbClr val="FFFFFF"/>
                    </a:solidFill>
                  </a:tcPr>
                </a:tc>
                <a:tc>
                  <a:txBody>
                    <a:bodyPr/>
                    <a:lstStyle/>
                    <a:p>
                      <a:pPr algn="ctr">
                        <a:defRPr sz="1000">
                          <a:latin typeface="Montserrat"/>
                        </a:defRPr>
                      </a:pPr>
                      <a:r>
                        <a:t>84.7%</a:t>
                      </a:r>
                    </a:p>
                  </a:txBody>
                  <a:tcPr anchor="ctr">
                    <a:solidFill>
                      <a:srgbClr val="FFFFFF"/>
                    </a:solidFill>
                  </a:tcPr>
                </a:tc>
              </a:tr>
              <a:tr h="216000">
                <a:tc>
                  <a:txBody>
                    <a:bodyPr/>
                    <a:lstStyle/>
                    <a:p>
                      <a:pPr algn="l">
                        <a:defRPr sz="1000">
                          <a:latin typeface="Montserrat"/>
                        </a:defRPr>
                      </a:pPr>
                      <a:r>
                        <a:t>Urología  </a:t>
                      </a:r>
                    </a:p>
                  </a:txBody>
                  <a:tcPr anchor="ctr">
                    <a:solidFill>
                      <a:srgbClr val="D9D9D9"/>
                    </a:solidFill>
                  </a:tcPr>
                </a:tc>
                <a:tc>
                  <a:txBody>
                    <a:bodyPr/>
                    <a:lstStyle/>
                    <a:p>
                      <a:pPr algn="ctr">
                        <a:defRPr sz="1000">
                          <a:latin typeface="Montserrat"/>
                        </a:defRPr>
                      </a:pPr>
                      <a:r>
                        <a:t>758</a:t>
                      </a:r>
                    </a:p>
                  </a:txBody>
                  <a:tcPr anchor="ctr">
                    <a:solidFill>
                      <a:srgbClr val="D9D9D9"/>
                    </a:solidFill>
                  </a:tcPr>
                </a:tc>
                <a:tc>
                  <a:txBody>
                    <a:bodyPr/>
                    <a:lstStyle/>
                    <a:p>
                      <a:pPr algn="ctr">
                        <a:defRPr sz="1000">
                          <a:latin typeface="Montserrat"/>
                        </a:defRPr>
                      </a:pPr>
                      <a:r>
                        <a:t>90.4%</a:t>
                      </a:r>
                    </a:p>
                  </a:txBody>
                  <a:tcPr anchor="ctr">
                    <a:solidFill>
                      <a:srgbClr val="D9D9D9"/>
                    </a:solidFill>
                  </a:tcPr>
                </a:tc>
              </a:tr>
              <a:tr h="216000">
                <a:tc>
                  <a:txBody>
                    <a:bodyPr/>
                    <a:lstStyle/>
                    <a:p>
                      <a:pPr algn="l">
                        <a:defRPr sz="1000">
                          <a:latin typeface="Montserrat"/>
                        </a:defRPr>
                      </a:pPr>
                      <a:r>
                        <a:t>Otorrinolaringología</a:t>
                      </a:r>
                    </a:p>
                  </a:txBody>
                  <a:tcPr anchor="ctr">
                    <a:solidFill>
                      <a:srgbClr val="FFFFFF"/>
                    </a:solidFill>
                  </a:tcPr>
                </a:tc>
                <a:tc>
                  <a:txBody>
                    <a:bodyPr/>
                    <a:lstStyle/>
                    <a:p>
                      <a:pPr algn="ctr">
                        <a:defRPr sz="1000">
                          <a:latin typeface="Montserrat"/>
                        </a:defRPr>
                      </a:pPr>
                      <a:r>
                        <a:t>496</a:t>
                      </a:r>
                    </a:p>
                  </a:txBody>
                  <a:tcPr anchor="ctr">
                    <a:solidFill>
                      <a:srgbClr val="FFFFFF"/>
                    </a:solidFill>
                  </a:tcPr>
                </a:tc>
                <a:tc>
                  <a:txBody>
                    <a:bodyPr/>
                    <a:lstStyle/>
                    <a:p>
                      <a:pPr algn="ctr">
                        <a:defRPr sz="1000">
                          <a:latin typeface="Montserrat"/>
                        </a:defRPr>
                      </a:pPr>
                      <a:r>
                        <a:t>94.1%</a:t>
                      </a:r>
                    </a:p>
                  </a:txBody>
                  <a:tcPr anchor="ctr">
                    <a:solidFill>
                      <a:srgbClr val="FFFFFF"/>
                    </a:solidFill>
                  </a:tcPr>
                </a:tc>
              </a:tr>
              <a:tr h="216000">
                <a:tc>
                  <a:txBody>
                    <a:bodyPr/>
                    <a:lstStyle/>
                    <a:p>
                      <a:pPr algn="l">
                        <a:defRPr sz="1000">
                          <a:latin typeface="Montserrat"/>
                        </a:defRPr>
                      </a:pPr>
                      <a:r>
                        <a:t>Cardiología</a:t>
                      </a:r>
                    </a:p>
                  </a:txBody>
                  <a:tcPr anchor="ctr">
                    <a:solidFill>
                      <a:srgbClr val="D9D9D9"/>
                    </a:solidFill>
                  </a:tcPr>
                </a:tc>
                <a:tc>
                  <a:txBody>
                    <a:bodyPr/>
                    <a:lstStyle/>
                    <a:p>
                      <a:pPr algn="ctr">
                        <a:defRPr sz="1000">
                          <a:latin typeface="Montserrat"/>
                        </a:defRPr>
                      </a:pPr>
                      <a:r>
                        <a:t>268</a:t>
                      </a:r>
                    </a:p>
                  </a:txBody>
                  <a:tcPr anchor="ctr">
                    <a:solidFill>
                      <a:srgbClr val="D9D9D9"/>
                    </a:solidFill>
                  </a:tcPr>
                </a:tc>
                <a:tc>
                  <a:txBody>
                    <a:bodyPr/>
                    <a:lstStyle/>
                    <a:p>
                      <a:pPr algn="ctr">
                        <a:defRPr sz="1000">
                          <a:latin typeface="Montserrat"/>
                        </a:defRPr>
                      </a:pPr>
                      <a:r>
                        <a:t>96.1%</a:t>
                      </a:r>
                    </a:p>
                  </a:txBody>
                  <a:tcPr anchor="ctr">
                    <a:solidFill>
                      <a:srgbClr val="D9D9D9"/>
                    </a:solidFill>
                  </a:tcPr>
                </a:tc>
              </a:tr>
              <a:tr h="216000">
                <a:tc>
                  <a:txBody>
                    <a:bodyPr/>
                    <a:lstStyle/>
                    <a:p>
                      <a:pPr algn="l">
                        <a:defRPr sz="1000">
                          <a:latin typeface="Montserrat"/>
                        </a:defRPr>
                      </a:pPr>
                      <a:r>
                        <a:t>Cirugía oncológica</a:t>
                      </a:r>
                    </a:p>
                  </a:txBody>
                  <a:tcPr anchor="ctr">
                    <a:solidFill>
                      <a:srgbClr val="FFFFFF"/>
                    </a:solidFill>
                  </a:tcPr>
                </a:tc>
                <a:tc>
                  <a:txBody>
                    <a:bodyPr/>
                    <a:lstStyle/>
                    <a:p>
                      <a:pPr algn="ctr">
                        <a:defRPr sz="1000">
                          <a:latin typeface="Montserrat"/>
                        </a:defRPr>
                      </a:pPr>
                      <a:r>
                        <a:t>265</a:t>
                      </a:r>
                    </a:p>
                  </a:txBody>
                  <a:tcPr anchor="ctr">
                    <a:solidFill>
                      <a:srgbClr val="FFFFFF"/>
                    </a:solidFill>
                  </a:tcPr>
                </a:tc>
                <a:tc>
                  <a:txBody>
                    <a:bodyPr/>
                    <a:lstStyle/>
                    <a:p>
                      <a:pPr algn="ctr">
                        <a:defRPr sz="1000">
                          <a:latin typeface="Montserrat"/>
                        </a:defRPr>
                      </a:pPr>
                      <a:r>
                        <a:t>98.1%</a:t>
                      </a:r>
                    </a:p>
                  </a:txBody>
                  <a:tcPr anchor="ctr">
                    <a:solidFill>
                      <a:srgbClr val="FFFFFF"/>
                    </a:solidFill>
                  </a:tcPr>
                </a:tc>
              </a:tr>
              <a:tr h="216000">
                <a:tc>
                  <a:txBody>
                    <a:bodyPr/>
                    <a:lstStyle/>
                    <a:p>
                      <a:pPr algn="l">
                        <a:defRPr sz="1000">
                          <a:latin typeface="Montserrat"/>
                        </a:defRPr>
                      </a:pPr>
                      <a:r>
                        <a:t>Cirugía Pediátrica  </a:t>
                      </a:r>
                    </a:p>
                  </a:txBody>
                  <a:tcPr anchor="ctr">
                    <a:solidFill>
                      <a:srgbClr val="D9D9D9"/>
                    </a:solidFill>
                  </a:tcPr>
                </a:tc>
                <a:tc>
                  <a:txBody>
                    <a:bodyPr/>
                    <a:lstStyle/>
                    <a:p>
                      <a:pPr algn="ctr">
                        <a:defRPr sz="1000">
                          <a:latin typeface="Montserrat"/>
                        </a:defRPr>
                      </a:pPr>
                      <a:r>
                        <a:t>252</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13,313</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Colecistectomías</a:t>
                      </a:r>
                    </a:p>
                  </a:txBody>
                  <a:tcPr anchor="ctr">
                    <a:solidFill>
                      <a:srgbClr val="FFFFFF"/>
                    </a:solidFill>
                  </a:tcPr>
                </a:tc>
                <a:tc>
                  <a:txBody>
                    <a:bodyPr/>
                    <a:lstStyle/>
                    <a:p>
                      <a:pPr algn="ctr">
                        <a:defRPr sz="1000">
                          <a:latin typeface="Montserrat"/>
                        </a:defRPr>
                      </a:pPr>
                      <a:r>
                        <a:t>1,097</a:t>
                      </a:r>
                    </a:p>
                  </a:txBody>
                  <a:tcPr anchor="ctr">
                    <a:solidFill>
                      <a:srgbClr val="FFFFFF"/>
                    </a:solidFill>
                  </a:tcPr>
                </a:tc>
                <a:tc>
                  <a:txBody>
                    <a:bodyPr/>
                    <a:lstStyle/>
                    <a:p>
                      <a:pPr algn="ctr">
                        <a:defRPr sz="1000">
                          <a:latin typeface="Montserrat"/>
                        </a:defRPr>
                      </a:pPr>
                      <a:r>
                        <a:t>31.2%</a:t>
                      </a:r>
                    </a:p>
                  </a:txBody>
                  <a:tcPr anchor="ctr">
                    <a:solidFill>
                      <a:srgbClr val="FFFFFF"/>
                    </a:solidFill>
                  </a:tcPr>
                </a:tc>
              </a:tr>
              <a:tr h="216000">
                <a:tc>
                  <a:txBody>
                    <a:bodyPr/>
                    <a:lstStyle/>
                    <a:p>
                      <a:pPr algn="l">
                        <a:defRPr sz="1000">
                          <a:latin typeface="Montserrat"/>
                        </a:defRPr>
                      </a:pPr>
                      <a:r>
                        <a:t>Catarata</a:t>
                      </a:r>
                    </a:p>
                  </a:txBody>
                  <a:tcPr anchor="ctr">
                    <a:solidFill>
                      <a:srgbClr val="D9D9D9"/>
                    </a:solidFill>
                  </a:tcPr>
                </a:tc>
                <a:tc>
                  <a:txBody>
                    <a:bodyPr/>
                    <a:lstStyle/>
                    <a:p>
                      <a:pPr algn="ctr">
                        <a:defRPr sz="1000">
                          <a:latin typeface="Montserrat"/>
                        </a:defRPr>
                      </a:pPr>
                      <a:r>
                        <a:t>707</a:t>
                      </a:r>
                    </a:p>
                  </a:txBody>
                  <a:tcPr anchor="ctr">
                    <a:solidFill>
                      <a:srgbClr val="D9D9D9"/>
                    </a:solidFill>
                  </a:tcPr>
                </a:tc>
                <a:tc>
                  <a:txBody>
                    <a:bodyPr/>
                    <a:lstStyle/>
                    <a:p>
                      <a:pPr algn="ctr">
                        <a:defRPr sz="1000">
                          <a:latin typeface="Montserrat"/>
                        </a:defRPr>
                      </a:pPr>
                      <a:r>
                        <a:t>51.3%</a:t>
                      </a:r>
                    </a:p>
                  </a:txBody>
                  <a:tcPr anchor="ctr">
                    <a:solidFill>
                      <a:srgbClr val="D9D9D9"/>
                    </a:solidFill>
                  </a:tcPr>
                </a:tc>
              </a:tr>
              <a:tr h="216000">
                <a:tc>
                  <a:txBody>
                    <a:bodyPr/>
                    <a:lstStyle/>
                    <a:p>
                      <a:pPr algn="l">
                        <a:defRPr sz="1000">
                          <a:latin typeface="Montserrat"/>
                        </a:defRPr>
                      </a:pPr>
                      <a:r>
                        <a:t>Hernioplastías abdominales</a:t>
                      </a:r>
                    </a:p>
                  </a:txBody>
                  <a:tcPr anchor="ctr">
                    <a:solidFill>
                      <a:srgbClr val="FFFFFF"/>
                    </a:solidFill>
                  </a:tcPr>
                </a:tc>
                <a:tc>
                  <a:txBody>
                    <a:bodyPr/>
                    <a:lstStyle/>
                    <a:p>
                      <a:pPr algn="ctr">
                        <a:defRPr sz="1000">
                          <a:latin typeface="Montserrat"/>
                        </a:defRPr>
                      </a:pPr>
                      <a:r>
                        <a:t>640</a:t>
                      </a:r>
                    </a:p>
                  </a:txBody>
                  <a:tcPr anchor="ctr">
                    <a:solidFill>
                      <a:srgbClr val="FFFFFF"/>
                    </a:solidFill>
                  </a:tcPr>
                </a:tc>
                <a:tc>
                  <a:txBody>
                    <a:bodyPr/>
                    <a:lstStyle/>
                    <a:p>
                      <a:pPr algn="ctr">
                        <a:defRPr sz="1000">
                          <a:latin typeface="Montserrat"/>
                        </a:defRPr>
                      </a:pPr>
                      <a:r>
                        <a:t>69.5%</a:t>
                      </a:r>
                    </a:p>
                  </a:txBody>
                  <a:tcPr anchor="ctr">
                    <a:solidFill>
                      <a:srgbClr val="FFFFFF"/>
                    </a:solidFill>
                  </a:tcPr>
                </a:tc>
              </a:tr>
              <a:tr h="216000">
                <a:tc>
                  <a:txBody>
                    <a:bodyPr/>
                    <a:lstStyle/>
                    <a:p>
                      <a:pPr algn="l">
                        <a:defRPr sz="1000">
                          <a:latin typeface="Montserrat"/>
                        </a:defRPr>
                      </a:pPr>
                      <a:r>
                        <a:t>Sustitución de rodilla</a:t>
                      </a:r>
                    </a:p>
                  </a:txBody>
                  <a:tcPr anchor="ctr">
                    <a:solidFill>
                      <a:srgbClr val="D9D9D9"/>
                    </a:solidFill>
                  </a:tcPr>
                </a:tc>
                <a:tc>
                  <a:txBody>
                    <a:bodyPr/>
                    <a:lstStyle/>
                    <a:p>
                      <a:pPr algn="ctr">
                        <a:defRPr sz="1000">
                          <a:latin typeface="Montserrat"/>
                        </a:defRPr>
                      </a:pPr>
                      <a:r>
                        <a:t>419</a:t>
                      </a:r>
                    </a:p>
                  </a:txBody>
                  <a:tcPr anchor="ctr">
                    <a:solidFill>
                      <a:srgbClr val="D9D9D9"/>
                    </a:solidFill>
                  </a:tcPr>
                </a:tc>
                <a:tc>
                  <a:txBody>
                    <a:bodyPr/>
                    <a:lstStyle/>
                    <a:p>
                      <a:pPr algn="ctr">
                        <a:defRPr sz="1000">
                          <a:latin typeface="Montserrat"/>
                        </a:defRPr>
                      </a:pPr>
                      <a:r>
                        <a:t>81.4%</a:t>
                      </a:r>
                    </a:p>
                  </a:txBody>
                  <a:tcPr anchor="ctr">
                    <a:solidFill>
                      <a:srgbClr val="D9D9D9"/>
                    </a:solidFill>
                  </a:tcPr>
                </a:tc>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t>349</a:t>
                      </a:r>
                    </a:p>
                  </a:txBody>
                  <a:tcPr anchor="ctr">
                    <a:solidFill>
                      <a:srgbClr val="FFFFFF"/>
                    </a:solidFill>
                  </a:tcPr>
                </a:tc>
                <a:tc>
                  <a:txBody>
                    <a:bodyPr/>
                    <a:lstStyle/>
                    <a:p>
                      <a:pPr algn="ctr">
                        <a:defRPr sz="1000">
                          <a:latin typeface="Montserrat"/>
                        </a:defRPr>
                      </a:pPr>
                      <a:r>
                        <a:t>91.3%</a:t>
                      </a:r>
                    </a:p>
                  </a:txBody>
                  <a:tcPr anchor="ctr">
                    <a:solidFill>
                      <a:srgbClr val="FFFFFF"/>
                    </a:solidFill>
                  </a:tcPr>
                </a:tc>
              </a:tr>
              <a:tr h="216000">
                <a:tc>
                  <a:txBody>
                    <a:bodyPr/>
                    <a:lstStyle/>
                    <a:p>
                      <a:pPr algn="l">
                        <a:defRPr sz="1000">
                          <a:latin typeface="Montserrat"/>
                        </a:defRPr>
                      </a:pPr>
                      <a:r>
                        <a:t>Sustitución de cadera</a:t>
                      </a:r>
                    </a:p>
                  </a:txBody>
                  <a:tcPr anchor="ctr">
                    <a:solidFill>
                      <a:srgbClr val="D9D9D9"/>
                    </a:solidFill>
                  </a:tcPr>
                </a:tc>
                <a:tc>
                  <a:txBody>
                    <a:bodyPr/>
                    <a:lstStyle/>
                    <a:p>
                      <a:pPr algn="ctr">
                        <a:defRPr sz="1000">
                          <a:latin typeface="Montserrat"/>
                        </a:defRPr>
                      </a:pPr>
                      <a:r>
                        <a:t>204</a:t>
                      </a:r>
                    </a:p>
                  </a:txBody>
                  <a:tcPr anchor="ctr">
                    <a:solidFill>
                      <a:srgbClr val="D9D9D9"/>
                    </a:solidFill>
                  </a:tcPr>
                </a:tc>
                <a:tc>
                  <a:txBody>
                    <a:bodyPr/>
                    <a:lstStyle/>
                    <a:p>
                      <a:pPr algn="ctr">
                        <a:defRPr sz="1000">
                          <a:latin typeface="Montserrat"/>
                        </a:defRPr>
                      </a:pPr>
                      <a:r>
                        <a:t>97.1%</a:t>
                      </a:r>
                    </a:p>
                  </a:txBody>
                  <a:tcPr anchor="ctr">
                    <a:solidFill>
                      <a:srgbClr val="D9D9D9"/>
                    </a:solidFill>
                  </a:tcPr>
                </a:tc>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t>101</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3,517</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VERACRUZ</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26,697	 Personal de Salud: 16,326</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+63.5%</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241</a:t>
                      </a:r>
                    </a:p>
                  </a:txBody>
                  <a:tcPr marL="0" marR="0" marT="0" marB="0">
                    <a:noFill/>
                  </a:tcPr>
                </a:tc>
                <a:tc>
                  <a:txBody>
                    <a:bodyPr/>
                    <a:lstStyle/>
                    <a:p>
                      <a:pPr algn="ctr">
                        <a:defRPr b="1" sz="1500">
                          <a:solidFill>
                            <a:srgbClr val="B4975A"/>
                          </a:solidFill>
                          <a:latin typeface="Montserrat"/>
                        </a:defRPr>
                      </a:pPr>
                      <a:r>
                        <a:t>394</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+40.2%</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2,797</a:t>
                      </a:r>
                    </a:p>
                  </a:txBody>
                  <a:tcPr marL="0" marR="0" marT="0" marB="0">
                    <a:noFill/>
                  </a:tcPr>
                </a:tc>
                <a:tc>
                  <a:txBody>
                    <a:bodyPr/>
                    <a:lstStyle/>
                    <a:p>
                      <a:pPr algn="ctr">
                        <a:defRPr b="1" sz="1500">
                          <a:solidFill>
                            <a:srgbClr val="B4975A"/>
                          </a:solidFill>
                          <a:latin typeface="Montserrat"/>
                        </a:defRPr>
                      </a:pPr>
                      <a:r>
                        <a:t>3,920</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+10.5%</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5,250</a:t>
                      </a:r>
                    </a:p>
                  </a:txBody>
                  <a:tcPr marL="0" marR="0" marT="0" marB="0">
                    <a:noFill/>
                  </a:tcPr>
                </a:tc>
                <a:tc>
                  <a:txBody>
                    <a:bodyPr/>
                    <a:lstStyle/>
                    <a:p>
                      <a:pPr algn="ctr">
                        <a:defRPr b="1" sz="1500">
                          <a:solidFill>
                            <a:srgbClr val="B4975A"/>
                          </a:solidFill>
                          <a:latin typeface="Montserrat"/>
                        </a:defRPr>
                      </a:pPr>
                      <a:r>
                        <a:t>5,803</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+14.5%</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3,772</a:t>
                      </a:r>
                    </a:p>
                  </a:txBody>
                  <a:tcPr marL="0" marR="0" marT="0" marB="0">
                    <a:noFill/>
                  </a:tcPr>
                </a:tc>
                <a:tc>
                  <a:txBody>
                    <a:bodyPr/>
                    <a:lstStyle/>
                    <a:p>
                      <a:pPr algn="ctr">
                        <a:defRPr b="1" sz="1500">
                          <a:solidFill>
                            <a:srgbClr val="B4975A"/>
                          </a:solidFill>
                          <a:latin typeface="Montserrat"/>
                        </a:defRPr>
                      </a:pPr>
                      <a:r>
                        <a:t>4,319</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+46.6%</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706</a:t>
                      </a:r>
                    </a:p>
                  </a:txBody>
                  <a:tcPr marL="0" marR="0" marT="0" marB="0">
                    <a:noFill/>
                  </a:tcPr>
                </a:tc>
                <a:tc>
                  <a:txBody>
                    <a:bodyPr/>
                    <a:lstStyle/>
                    <a:p>
                      <a:pPr algn="ctr">
                        <a:defRPr b="1" sz="1500">
                          <a:solidFill>
                            <a:srgbClr val="B4975A"/>
                          </a:solidFill>
                          <a:latin typeface="Montserrat"/>
                        </a:defRPr>
                      </a:pPr>
                      <a:r>
                        <a:t>1,035</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-8.0%</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929</a:t>
                      </a:r>
                    </a:p>
                  </a:txBody>
                  <a:tcPr marL="0" marR="0" marT="0" marB="0">
                    <a:noFill/>
                  </a:tcPr>
                </a:tc>
                <a:tc>
                  <a:txBody>
                    <a:bodyPr/>
                    <a:lstStyle/>
                    <a:p>
                      <a:pPr algn="ctr">
                        <a:defRPr b="1" sz="1500">
                          <a:solidFill>
                            <a:srgbClr val="B4975A"/>
                          </a:solidFill>
                          <a:latin typeface="Montserrat"/>
                        </a:defRPr>
                      </a:pPr>
                      <a:r>
                        <a:t>855</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91</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77</a:t>
                      </a:r>
                    </a:p>
                  </a:txBody>
                  <a:tcPr marL="45720" marR="45720" marT="45720" marB="45720">
                    <a:solidFill>
                      <a:srgbClr val="EFEFEF"/>
                    </a:solidFill>
                  </a:tcPr>
                </a:tc>
              </a:tr>
              <a:tr h="18288">
                <a:tc>
                  <a:txBody>
                    <a:bodyPr/>
                    <a:lstStyle/>
                    <a:p>
                      <a:pPr algn="l">
                        <a:defRPr sz="800">
                          <a:latin typeface="Montserrat"/>
                        </a:defRPr>
                      </a:pPr>
                      <a:r>
                        <a:t>Medicina Interna</a:t>
                      </a:r>
                    </a:p>
                  </a:txBody>
                  <a:tcPr marL="45720" marR="45720" marT="45720" marB="45720">
                    <a:solidFill>
                      <a:srgbClr val="FFFFFF"/>
                    </a:solidFill>
                  </a:tcPr>
                </a:tc>
                <a:tc>
                  <a:txBody>
                    <a:bodyPr/>
                    <a:lstStyle/>
                    <a:p>
                      <a:pPr algn="ctr">
                        <a:defRPr sz="800">
                          <a:latin typeface="Montserrat"/>
                        </a:defRPr>
                      </a:pPr>
                      <a:r>
                        <a:t>31</a:t>
                      </a:r>
                    </a:p>
                  </a:txBody>
                  <a:tcPr marL="45720" marR="45720" marT="45720" marB="45720">
                    <a:solidFill>
                      <a:srgbClr val="FFFFFF"/>
                    </a:solidFill>
                  </a:tcPr>
                </a:tc>
              </a:tr>
              <a:tr h="18288">
                <a:tc>
                  <a:txBody>
                    <a:bodyPr/>
                    <a:lstStyle/>
                    <a:p>
                      <a:pPr algn="l">
                        <a:defRPr sz="800">
                          <a:latin typeface="Montserrat"/>
                        </a:defRPr>
                      </a:pPr>
                      <a:r>
                        <a:t>Anestesiología</a:t>
                      </a:r>
                    </a:p>
                  </a:txBody>
                  <a:tcPr marL="45720" marR="45720" marT="45720" marB="45720">
                    <a:solidFill>
                      <a:srgbClr val="EFEFEF"/>
                    </a:solidFill>
                  </a:tcPr>
                </a:tc>
                <a:tc>
                  <a:txBody>
                    <a:bodyPr/>
                    <a:lstStyle/>
                    <a:p>
                      <a:pPr algn="ctr">
                        <a:defRPr sz="800">
                          <a:latin typeface="Montserrat"/>
                        </a:defRPr>
                      </a:pPr>
                      <a:r>
                        <a:t>26</a:t>
                      </a:r>
                    </a:p>
                  </a:txBody>
                  <a:tcPr marL="45720" marR="45720" marT="45720" marB="45720">
                    <a:solidFill>
                      <a:srgbClr val="EFEFEF"/>
                    </a:solidFill>
                  </a:tcPr>
                </a:tc>
              </a:tr>
              <a:tr h="18288">
                <a:tc>
                  <a:txBody>
                    <a:bodyPr/>
                    <a:lstStyle/>
                    <a:p>
                      <a:pPr algn="l">
                        <a:defRPr sz="800">
                          <a:latin typeface="Montserrat"/>
                        </a:defRPr>
                      </a:pPr>
                      <a:r>
                        <a:t>Traumatología y Ortopedia</a:t>
                      </a:r>
                    </a:p>
                  </a:txBody>
                  <a:tcPr marL="45720" marR="45720" marT="45720" marB="45720">
                    <a:solidFill>
                      <a:srgbClr val="FFFFFF"/>
                    </a:solidFill>
                  </a:tcPr>
                </a:tc>
                <a:tc>
                  <a:txBody>
                    <a:bodyPr/>
                    <a:lstStyle/>
                    <a:p>
                      <a:pPr algn="ctr">
                        <a:defRPr sz="800">
                          <a:latin typeface="Montserrat"/>
                        </a:defRPr>
                      </a:pPr>
                      <a:r>
                        <a:t>20</a:t>
                      </a:r>
                    </a:p>
                  </a:txBody>
                  <a:tcPr marL="45720" marR="45720" marT="45720" marB="45720">
                    <a:solidFill>
                      <a:srgbClr val="FFFFFF"/>
                    </a:solidFill>
                  </a:tcPr>
                </a:tc>
              </a:tr>
            </a:tbl>
          </a:graphicData>
        </a:graphic>
      </p:graphicFrame>
      <p:graphicFrame>
        <p:nvGraphicFramePr>
          <p:cNvPr id="318" name="Table 317"/>
          <p:cNvGraphicFramePr>
            <a:graphicFrameLocks noGrp="1"/>
          </p:cNvGraphicFramePr>
          <p:nvPr/>
        </p:nvGraphicFramePr>
        <p:xfrm>
          <a:off x="4507200" y="68508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92</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64</a:t>
                      </a:r>
                    </a:p>
                  </a:txBody>
                  <a:tcPr marL="45720" marR="45720" marT="45720" marB="45720">
                    <a:solidFill>
                      <a:srgbClr val="EFEFEF"/>
                    </a:solidFill>
                  </a:tcPr>
                </a:tc>
              </a:tr>
              <a:tr h="18288">
                <a:tc>
                  <a:txBody>
                    <a:bodyPr/>
                    <a:lstStyle/>
                    <a:p>
                      <a:pPr algn="l">
                        <a:defRPr sz="800">
                          <a:latin typeface="Montserrat"/>
                        </a:defRPr>
                      </a:pPr>
                      <a:r>
                        <a:t>Cirugía General</a:t>
                      </a:r>
                    </a:p>
                  </a:txBody>
                  <a:tcPr marL="45720" marR="45720" marT="45720" marB="45720">
                    <a:solidFill>
                      <a:srgbClr val="FFFFFF"/>
                    </a:solidFill>
                  </a:tcPr>
                </a:tc>
                <a:tc>
                  <a:txBody>
                    <a:bodyPr/>
                    <a:lstStyle/>
                    <a:p>
                      <a:pPr algn="ctr">
                        <a:defRPr sz="800">
                          <a:latin typeface="Montserrat"/>
                        </a:defRPr>
                      </a:pPr>
                      <a:r>
                        <a:t>26</a:t>
                      </a:r>
                    </a:p>
                  </a:txBody>
                  <a:tcPr marL="45720" marR="45720" marT="45720" marB="45720">
                    <a:solidFill>
                      <a:srgbClr val="FFFFFF"/>
                    </a:solidFill>
                  </a:tcPr>
                </a:tc>
              </a:tr>
              <a:tr h="18288">
                <a:tc>
                  <a:txBody>
                    <a:bodyPr/>
                    <a:lstStyle/>
                    <a:p>
                      <a:pPr algn="l">
                        <a:defRPr sz="800">
                          <a:latin typeface="Montserrat"/>
                        </a:defRPr>
                      </a:pPr>
                      <a:r>
                        <a:t>Anestesiología</a:t>
                      </a:r>
                    </a:p>
                  </a:txBody>
                  <a:tcPr marL="45720" marR="45720" marT="45720" marB="45720">
                    <a:solidFill>
                      <a:srgbClr val="EFEFEF"/>
                    </a:solidFill>
                  </a:tcPr>
                </a:tc>
                <a:tc>
                  <a:txBody>
                    <a:bodyPr/>
                    <a:lstStyle/>
                    <a:p>
                      <a:pPr algn="ctr">
                        <a:defRPr sz="800">
                          <a:latin typeface="Montserrat"/>
                        </a:defRPr>
                      </a:pPr>
                      <a:r>
                        <a:t>24</a:t>
                      </a:r>
                    </a:p>
                  </a:txBody>
                  <a:tcPr marL="45720" marR="45720" marT="45720" marB="45720">
                    <a:solidFill>
                      <a:srgbClr val="EFEFEF"/>
                    </a:solidFill>
                  </a:tcPr>
                </a:tc>
              </a:tr>
              <a:tr h="18288">
                <a:tc>
                  <a:txBody>
                    <a:bodyPr/>
                    <a:lstStyle/>
                    <a:p>
                      <a:pPr algn="l">
                        <a:defRPr sz="800">
                          <a:latin typeface="Montserrat"/>
                        </a:defRPr>
                      </a:pPr>
                      <a:r>
                        <a:t>Epidemiología</a:t>
                      </a:r>
                    </a:p>
                  </a:txBody>
                  <a:tcPr marL="45720" marR="45720" marT="45720" marB="45720">
                    <a:solidFill>
                      <a:srgbClr val="FFFFFF"/>
                    </a:solidFill>
                  </a:tcPr>
                </a:tc>
                <a:tc>
                  <a:txBody>
                    <a:bodyPr/>
                    <a:lstStyle/>
                    <a:p>
                      <a:pPr algn="ctr">
                        <a:defRPr sz="800">
                          <a:latin typeface="Montserrat"/>
                        </a:defRPr>
                      </a:pPr>
                      <a:r>
                        <a:t>23</a:t>
                      </a:r>
                    </a:p>
                  </a:txBody>
                  <a:tcPr marL="45720" marR="45720" marT="45720" marB="45720">
                    <a:solidFill>
                      <a:srgbClr val="FFFFF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211</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162</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235</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168</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776</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23,229</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1,544</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253</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324</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6,240</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2,927</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28</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33,940</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Diabetes mellitus
(322,516)</a:t>
                      </a:r>
                    </a:p>
                  </a:txBody>
                  <a:tcPr>
                    <a:solidFill>
                      <a:srgbClr val="FFFFFF"/>
                    </a:solidFill>
                  </a:tcPr>
                </a:tc>
                <a:tc>
                  <a:txBody>
                    <a:bodyPr/>
                    <a:lstStyle/>
                    <a:p>
                      <a:pPr algn="ctr"/>
                      <a:r>
                        <a:rPr sz="900" b="0">
                          <a:latin typeface="Montserrat"/>
                        </a:rPr>
                        <a:t>Traumatismos e intoxicaciones
(29,806)</a:t>
                      </a:r>
                    </a:p>
                  </a:txBody>
                  <a:tcPr>
                    <a:solidFill>
                      <a:srgbClr val="FFFFFF"/>
                    </a:solidFill>
                  </a:tcPr>
                </a:tc>
                <a:tc>
                  <a:txBody>
                    <a:bodyPr/>
                    <a:lstStyle/>
                    <a:p>
                      <a:pPr algn="ctr"/>
                      <a:r>
                        <a:rPr sz="900" b="0">
                          <a:latin typeface="Montserrat"/>
                        </a:rPr>
                        <a:t>Traumatismos y envenenamientos
(5,557)</a:t>
                      </a:r>
                    </a:p>
                  </a:txBody>
                  <a:tcPr>
                    <a:solidFill>
                      <a:srgbClr val="FFFFFF"/>
                    </a:solidFill>
                  </a:tcPr>
                </a:tc>
                <a:tc>
                  <a:txBody>
                    <a:bodyPr/>
                    <a:lstStyle/>
                    <a:p>
                      <a:pPr algn="ctr"/>
                      <a:r>
                        <a:rPr sz="900" b="0">
                          <a:latin typeface="Montserrat"/>
                        </a:rPr>
                        <a:t>Traumatismos e intoxicaciones
(6,846)</a:t>
                      </a:r>
                    </a:p>
                  </a:txBody>
                  <a:tcPr>
                    <a:solidFill>
                      <a:srgbClr val="FFFFFF"/>
                    </a:solidFill>
                  </a:tcPr>
                </a:tc>
                <a:tc>
                  <a:txBody>
                    <a:bodyPr/>
                    <a:lstStyle/>
                    <a:p>
                      <a:pPr algn="ctr"/>
                      <a:r>
                        <a:rPr sz="900" b="0">
                          <a:latin typeface="Montserrat"/>
                        </a:rPr>
                        <a:t>Enfermedades del corazón
(424)</a:t>
                      </a:r>
                    </a:p>
                  </a:txBody>
                  <a:tcPr>
                    <a:solidFill>
                      <a:srgbClr val="FFFFFF"/>
                    </a:solidFill>
                  </a:tcPr>
                </a:tc>
              </a:tr>
              <a:tr h="489600">
                <a:tc>
                  <a:txBody>
                    <a:bodyPr/>
                    <a:lstStyle/>
                    <a:p>
                      <a:pPr algn="ctr"/>
                      <a:r>
                        <a:rPr sz="900" b="0">
                          <a:latin typeface="Montserrat"/>
                        </a:rPr>
                        <a:t>Enfermedades del corazón
(309,457)</a:t>
                      </a:r>
                    </a:p>
                  </a:txBody>
                  <a:tcPr>
                    <a:solidFill>
                      <a:srgbClr val="EFEFEF"/>
                    </a:solidFill>
                  </a:tcPr>
                </a:tc>
                <a:tc>
                  <a:txBody>
                    <a:bodyPr/>
                    <a:lstStyle/>
                    <a:p>
                      <a:pPr algn="ctr"/>
                      <a:r>
                        <a:rPr sz="900" b="0">
                          <a:latin typeface="Montserrat"/>
                        </a:rPr>
                        <a:t>Tumores malignos
(26,325)</a:t>
                      </a:r>
                    </a:p>
                  </a:txBody>
                  <a:tcPr>
                    <a:solidFill>
                      <a:srgbClr val="EFEFEF"/>
                    </a:solidFill>
                  </a:tcPr>
                </a:tc>
                <a:tc>
                  <a:txBody>
                    <a:bodyPr/>
                    <a:lstStyle/>
                    <a:p>
                      <a:pPr algn="ctr"/>
                      <a:r>
                        <a:rPr sz="900" b="0">
                          <a:latin typeface="Montserrat"/>
                        </a:rPr>
                        <a:t>Enfermedades de la piel y del tejido subcutáneo
(2,814)</a:t>
                      </a:r>
                    </a:p>
                  </a:txBody>
                  <a:tcPr>
                    <a:solidFill>
                      <a:srgbClr val="EFEFEF"/>
                    </a:solidFill>
                  </a:tcPr>
                </a:tc>
                <a:tc>
                  <a:txBody>
                    <a:bodyPr/>
                    <a:lstStyle/>
                    <a:p>
                      <a:pPr algn="ctr"/>
                      <a:r>
                        <a:rPr sz="900" b="0">
                          <a:latin typeface="Montserrat"/>
                        </a:rPr>
                        <a:t>Embarazo, parto y puerperio
(4,989)</a:t>
                      </a:r>
                    </a:p>
                  </a:txBody>
                  <a:tcPr>
                    <a:solidFill>
                      <a:srgbClr val="EFEFEF"/>
                    </a:solidFill>
                  </a:tcPr>
                </a:tc>
                <a:tc>
                  <a:txBody>
                    <a:bodyPr/>
                    <a:lstStyle/>
                    <a:p>
                      <a:pPr algn="ctr"/>
                      <a:r>
                        <a:rPr sz="900" b="0">
                          <a:latin typeface="Montserrat"/>
                        </a:rPr>
                        <a:t>Tumores malignos
(299)</a:t>
                      </a:r>
                    </a:p>
                  </a:txBody>
                  <a:tcPr>
                    <a:solidFill>
                      <a:srgbClr val="EFEFEF"/>
                    </a:solidFill>
                  </a:tcPr>
                </a:tc>
              </a:tr>
              <a:tr h="489600">
                <a:tc>
                  <a:txBody>
                    <a:bodyPr/>
                    <a:lstStyle/>
                    <a:p>
                      <a:pPr algn="ctr"/>
                      <a:r>
                        <a:rPr sz="900" b="0">
                          <a:latin typeface="Montserrat"/>
                        </a:rPr>
                        <a:t>Infecciones respiratorias agudas
(69,788)</a:t>
                      </a:r>
                    </a:p>
                  </a:txBody>
                  <a:tcPr>
                    <a:solidFill>
                      <a:srgbClr val="FFFFFF"/>
                    </a:solidFill>
                  </a:tcPr>
                </a:tc>
                <a:tc>
                  <a:txBody>
                    <a:bodyPr/>
                    <a:lstStyle/>
                    <a:p>
                      <a:pPr algn="ctr"/>
                      <a:r>
                        <a:rPr sz="900" b="0">
                          <a:latin typeface="Montserrat"/>
                        </a:rPr>
                        <a:t>Enfermedades y trastornos de las articulaciones
(20,736)</a:t>
                      </a:r>
                    </a:p>
                  </a:txBody>
                  <a:tcPr>
                    <a:solidFill>
                      <a:srgbClr val="FFFFFF"/>
                    </a:solidFill>
                  </a:tcPr>
                </a:tc>
                <a:tc>
                  <a:txBody>
                    <a:bodyPr/>
                    <a:lstStyle/>
                    <a:p>
                      <a:pPr algn="ctr"/>
                      <a:r>
                        <a:rPr sz="900" b="0">
                          <a:latin typeface="Montserrat"/>
                        </a:rPr>
                        <a:t>Cesárea
(2,115)</a:t>
                      </a:r>
                    </a:p>
                  </a:txBody>
                  <a:tcPr>
                    <a:solidFill>
                      <a:srgbClr val="FFFFFF"/>
                    </a:solidFill>
                  </a:tcPr>
                </a:tc>
                <a:tc>
                  <a:txBody>
                    <a:bodyPr/>
                    <a:lstStyle/>
                    <a:p>
                      <a:pPr algn="ctr"/>
                      <a:r>
                        <a:rPr sz="900" b="0">
                          <a:latin typeface="Montserrat"/>
                        </a:rPr>
                        <a:t>Insuficiencia renal
(3,819)</a:t>
                      </a:r>
                    </a:p>
                  </a:txBody>
                  <a:tcPr>
                    <a:solidFill>
                      <a:srgbClr val="FFFFFF"/>
                    </a:solidFill>
                  </a:tcPr>
                </a:tc>
                <a:tc>
                  <a:txBody>
                    <a:bodyPr/>
                    <a:lstStyle/>
                    <a:p>
                      <a:pPr algn="ctr"/>
                      <a:r>
                        <a:rPr sz="900" b="0">
                          <a:latin typeface="Montserrat"/>
                        </a:rPr>
                        <a:t>Diabetes mellitus
(290)</a:t>
                      </a:r>
                    </a:p>
                  </a:txBody>
                  <a:tcPr>
                    <a:solidFill>
                      <a:srgbClr val="FFFFFF"/>
                    </a:solidFill>
                  </a:tcPr>
                </a:tc>
              </a:tr>
              <a:tr h="489600">
                <a:tc>
                  <a:txBody>
                    <a:bodyPr/>
                    <a:lstStyle/>
                    <a:p>
                      <a:pPr algn="ctr"/>
                      <a:r>
                        <a:rPr sz="900" b="0">
                          <a:latin typeface="Montserrat"/>
                        </a:rPr>
                        <a:t>Enfermedades mentales
(42,575)</a:t>
                      </a:r>
                    </a:p>
                  </a:txBody>
                  <a:tcPr>
                    <a:solidFill>
                      <a:srgbClr val="EFEFEF"/>
                    </a:solidFill>
                  </a:tcPr>
                </a:tc>
                <a:tc>
                  <a:txBody>
                    <a:bodyPr/>
                    <a:lstStyle/>
                    <a:p>
                      <a:pPr algn="ctr"/>
                      <a:r>
                        <a:rPr sz="900" b="0">
                          <a:latin typeface="Montserrat"/>
                        </a:rPr>
                        <a:t>Insuficiencia renal
(17,701)</a:t>
                      </a:r>
                    </a:p>
                  </a:txBody>
                  <a:tcPr>
                    <a:solidFill>
                      <a:srgbClr val="EFEFEF"/>
                    </a:solidFill>
                  </a:tcPr>
                </a:tc>
                <a:tc>
                  <a:txBody>
                    <a:bodyPr/>
                    <a:lstStyle/>
                    <a:p>
                      <a:pPr algn="ctr"/>
                      <a:r>
                        <a:rPr sz="900" b="0">
                          <a:latin typeface="Montserrat"/>
                        </a:rPr>
                        <a:t>Cirugía de Hernias (Hernioplastía)
(1,679)</a:t>
                      </a:r>
                    </a:p>
                  </a:txBody>
                  <a:tcPr>
                    <a:solidFill>
                      <a:srgbClr val="EFEFEF"/>
                    </a:solidFill>
                  </a:tcPr>
                </a:tc>
                <a:tc>
                  <a:txBody>
                    <a:bodyPr/>
                    <a:lstStyle/>
                    <a:p>
                      <a:pPr algn="ctr"/>
                      <a:r>
                        <a:rPr sz="900" b="0">
                          <a:latin typeface="Montserrat"/>
                        </a:rPr>
                        <a:t>Trastornos de la piel y tejidos superficiales
(3,212)</a:t>
                      </a:r>
                    </a:p>
                  </a:txBody>
                  <a:tcPr>
                    <a:solidFill>
                      <a:srgbClr val="EFEFEF"/>
                    </a:solidFill>
                  </a:tcPr>
                </a:tc>
                <a:tc>
                  <a:txBody>
                    <a:bodyPr/>
                    <a:lstStyle/>
                    <a:p>
                      <a:pPr algn="ctr"/>
                      <a:r>
                        <a:rPr sz="900" b="0">
                          <a:latin typeface="Montserrat"/>
                        </a:rPr>
                        <a:t>Neumonía e influenza
(267)</a:t>
                      </a:r>
                    </a:p>
                  </a:txBody>
                  <a:tcPr>
                    <a:solidFill>
                      <a:srgbClr val="EFEFEF"/>
                    </a:solidFill>
                  </a:tcPr>
                </a:tc>
              </a:tr>
              <a:tr h="489600">
                <a:tc>
                  <a:txBody>
                    <a:bodyPr/>
                    <a:lstStyle/>
                    <a:p>
                      <a:pPr algn="ctr"/>
                      <a:r>
                        <a:rPr sz="900" b="0">
                          <a:latin typeface="Montserrat"/>
                        </a:rPr>
                        <a:t>traumatismos e intoxicaciones
(41,932)</a:t>
                      </a:r>
                    </a:p>
                  </a:txBody>
                  <a:tcPr>
                    <a:solidFill>
                      <a:srgbClr val="FFFFFF"/>
                    </a:solidFill>
                  </a:tcPr>
                </a:tc>
                <a:tc>
                  <a:txBody>
                    <a:bodyPr/>
                    <a:lstStyle/>
                    <a:p>
                      <a:pPr algn="ctr"/>
                      <a:r>
                        <a:rPr sz="900" b="0">
                          <a:latin typeface="Montserrat"/>
                        </a:rPr>
                        <a:t>Enfermedades del corazón
(17,107)</a:t>
                      </a:r>
                    </a:p>
                  </a:txBody>
                  <a:tcPr>
                    <a:solidFill>
                      <a:srgbClr val="FFFFFF"/>
                    </a:solidFill>
                  </a:tcPr>
                </a:tc>
                <a:tc>
                  <a:txBody>
                    <a:bodyPr/>
                    <a:lstStyle/>
                    <a:p>
                      <a:pPr algn="ctr"/>
                      <a:r>
                        <a:rPr sz="900" b="0">
                          <a:latin typeface="Montserrat"/>
                        </a:rPr>
                        <a:t>Cirugía de vesicula biliar (Colecistectomía)
(1,473)</a:t>
                      </a:r>
                    </a:p>
                  </a:txBody>
                  <a:tcPr>
                    <a:solidFill>
                      <a:srgbClr val="FFFFFF"/>
                    </a:solidFill>
                  </a:tcPr>
                </a:tc>
                <a:tc>
                  <a:txBody>
                    <a:bodyPr/>
                    <a:lstStyle/>
                    <a:p>
                      <a:pPr algn="ctr"/>
                      <a:r>
                        <a:rPr sz="900" b="0">
                          <a:latin typeface="Montserrat"/>
                        </a:rPr>
                        <a:t>Tumores malignos
(2,162)</a:t>
                      </a:r>
                    </a:p>
                  </a:txBody>
                  <a:tcPr>
                    <a:solidFill>
                      <a:srgbClr val="FFFFFF"/>
                    </a:solidFill>
                  </a:tcPr>
                </a:tc>
                <a:tc>
                  <a:txBody>
                    <a:bodyPr/>
                    <a:lstStyle/>
                    <a:p>
                      <a:pPr algn="ctr"/>
                      <a:r>
                        <a:rPr sz="900" b="0">
                          <a:latin typeface="Montserrat"/>
                        </a:rPr>
                        <a:t>Insuficiencia renal
(239)</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VERACRUZ</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333,358</a:t>
                      </a:r>
                    </a:p>
                  </a:txBody>
                  <a:tcPr>
                    <a:solidFill>
                      <a:srgbClr val="FFFFFF"/>
                    </a:solidFill>
                  </a:tcPr>
                </a:tc>
                <a:tc>
                  <a:txBody>
                    <a:bodyPr/>
                    <a:lstStyle/>
                    <a:p>
                      <a:pPr algn="ctr"/>
                      <a:r>
                        <a:rPr sz="1100" b="0">
                          <a:solidFill>
                            <a:srgbClr val="434343"/>
                          </a:solidFill>
                          <a:latin typeface="Montserrat"/>
                        </a:rPr>
                        <a:t>3,543,040</a:t>
                      </a:r>
                    </a:p>
                  </a:txBody>
                  <a:tcPr>
                    <a:solidFill>
                      <a:srgbClr val="FFFFFF"/>
                    </a:solidFill>
                  </a:tcPr>
                </a:tc>
                <a:tc>
                  <a:txBody>
                    <a:bodyPr/>
                    <a:lstStyle/>
                    <a:p>
                      <a:pPr algn="ctr"/>
                      <a:r>
                        <a:rPr sz="1100" b="0">
                          <a:solidFill>
                            <a:srgbClr val="434343"/>
                          </a:solidFill>
                          <a:latin typeface="Montserrat"/>
                        </a:rPr>
                        <a:t>91.4%</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218,022</a:t>
                      </a:r>
                    </a:p>
                  </a:txBody>
                  <a:tcPr>
                    <a:solidFill>
                      <a:srgbClr val="D9D9D9"/>
                    </a:solidFill>
                  </a:tcPr>
                </a:tc>
                <a:tc>
                  <a:txBody>
                    <a:bodyPr/>
                    <a:lstStyle/>
                    <a:p>
                      <a:pPr algn="ctr"/>
                      <a:r>
                        <a:rPr sz="1100" b="1">
                          <a:solidFill>
                            <a:srgbClr val="006455"/>
                          </a:solidFill>
                          <a:latin typeface="Montserrat"/>
                        </a:rPr>
                        <a:t>3,621,441</a:t>
                      </a:r>
                    </a:p>
                  </a:txBody>
                  <a:tcPr>
                    <a:solidFill>
                      <a:srgbClr val="D9D9D9"/>
                    </a:solidFill>
                  </a:tcPr>
                </a:tc>
                <a:tc>
                  <a:txBody>
                    <a:bodyPr/>
                    <a:lstStyle/>
                    <a:p>
                      <a:pPr algn="ctr"/>
                      <a:r>
                        <a:rPr sz="1100" b="1">
                          <a:solidFill>
                            <a:srgbClr val="006455"/>
                          </a:solidFill>
                          <a:latin typeface="Montserrat"/>
                        </a:rPr>
                        <a:t>94.3%</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A6490-54B2-0AE9-DE69-C32D233DBB8F}"/>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VERACRUZ</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30.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456,248</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FFFFF"/>
                    </a:solidFill>
                  </a:tcPr>
                </a:tc>
                <a:tc>
                  <a:txBody>
                    <a:bodyPr/>
                    <a:lstStyle/>
                    <a:p>
                      <a:pPr algn="ctr">
                        <a:defRPr sz="900" b="0">
                          <a:solidFill>
                            <a:srgbClr val="333333"/>
                          </a:solidFill>
                          <a:latin typeface="Montserrat"/>
                        </a:defRPr>
                      </a:pPr>
                      <a:r>
                        <a:t>427,917</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2F2F2"/>
                    </a:solidFill>
                  </a:tcPr>
                </a:tc>
                <a:tc>
                  <a:txBody>
                    <a:bodyPr/>
                    <a:lstStyle/>
                    <a:p>
                      <a:pPr algn="ctr">
                        <a:defRPr sz="900" b="0">
                          <a:solidFill>
                            <a:srgbClr val="333333"/>
                          </a:solidFill>
                          <a:latin typeface="Montserrat"/>
                        </a:defRPr>
                      </a:pPr>
                      <a:r>
                        <a:t>410,853</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t>343,786</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312,255</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240,825</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Atorvastatina, tableta (reducir colesterol y triglicéridos)                          </a:t>
                      </a:r>
                    </a:p>
                  </a:txBody>
                  <a:tcPr marL="18000" marR="18000" marT="18000" marB="18000" anchor="ctr">
                    <a:solidFill>
                      <a:srgbClr val="F2F2F2"/>
                    </a:solidFill>
                  </a:tcPr>
                </a:tc>
                <a:tc>
                  <a:txBody>
                    <a:bodyPr/>
                    <a:lstStyle/>
                    <a:p>
                      <a:pPr algn="ctr">
                        <a:defRPr sz="900" b="0">
                          <a:solidFill>
                            <a:srgbClr val="333333"/>
                          </a:solidFill>
                          <a:latin typeface="Montserrat"/>
                        </a:defRPr>
                      </a:pPr>
                      <a:r>
                        <a:t>217,382</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207,654</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Linagliptina,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207,168</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Gabapentina, cápsula (antiepiléptico)                                                                                                                                                                </a:t>
                      </a:r>
                    </a:p>
                  </a:txBody>
                  <a:tcPr marL="18000" marR="18000" marT="18000" marB="18000" anchor="ctr">
                    <a:solidFill>
                      <a:srgbClr val="FFFFFF"/>
                    </a:solidFill>
                  </a:tcPr>
                </a:tc>
                <a:tc>
                  <a:txBody>
                    <a:bodyPr/>
                    <a:lstStyle/>
                    <a:p>
                      <a:pPr algn="ctr">
                        <a:defRPr sz="900" b="0">
                          <a:solidFill>
                            <a:srgbClr val="333333"/>
                          </a:solidFill>
                          <a:latin typeface="Montserrat"/>
                        </a:defRPr>
                      </a:pPr>
                      <a:r>
                        <a:t>193,561</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7117263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15617"/>
            <a:ext cx="1599000" cy="771584"/>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sp>
        <p:nvSpPr>
          <p:cNvPr id="3" name="CuadroTexto 10">
            <a:extLst>
              <a:ext uri="{FF2B5EF4-FFF2-40B4-BE49-F238E27FC236}">
                <a16:creationId xmlns:a16="http://schemas.microsoft.com/office/drawing/2014/main" id="{21AE8FA6-CA77-F761-93C9-BF2570CBBE30}"/>
              </a:ext>
            </a:extLst>
          </p:cNvPr>
          <p:cNvSpPr txBox="1"/>
          <p:nvPr/>
        </p:nvSpPr>
        <p:spPr>
          <a:xfrm>
            <a:off x="-1155984" y="2854979"/>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Remodelación</a:t>
            </a:r>
            <a:r>
              <a:rPr lang="en-US" sz="1200" b="1" i="0" u="none" strike="noStrike" dirty="0">
                <a:solidFill>
                  <a:srgbClr val="BC955C"/>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282946" y="3198568"/>
            <a:ext cx="875508" cy="854908"/>
          </a:xfrm>
          <a:prstGeom prst="rect">
            <a:avLst/>
          </a:prstGeom>
        </p:spPr>
      </p:pic>
      <p:sp>
        <p:nvSpPr>
          <p:cNvPr id="7" name="CuadroTexto 12">
            <a:extLst>
              <a:ext uri="{FF2B5EF4-FFF2-40B4-BE49-F238E27FC236}">
                <a16:creationId xmlns:a16="http://schemas.microsoft.com/office/drawing/2014/main" id="{FD4175D4-66CF-7FBC-B843-C149C5339DF1}"/>
              </a:ext>
            </a:extLst>
          </p:cNvPr>
          <p:cNvSpPr txBox="1"/>
          <p:nvPr/>
        </p:nvSpPr>
        <p:spPr>
          <a:xfrm>
            <a:off x="-1215734" y="3212358"/>
            <a:ext cx="38862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rPr>
              <a:t>2</a:t>
            </a:r>
            <a:endParaRPr lang="es-ES"/>
          </a:p>
          <a:p>
            <a:pPr algn="ctr"/>
            <a:r>
              <a:rPr lang="en-US" sz="700" b="1" dirty="0" err="1">
                <a:solidFill>
                  <a:srgbClr val="BC955C"/>
                </a:solidFill>
                <a:latin typeface="Montserrat"/>
              </a:rPr>
              <a:t>Áreas</a:t>
            </a:r>
            <a:r>
              <a:rPr lang="en-US" sz="700" b="1" dirty="0">
                <a:solidFill>
                  <a:srgbClr val="BC955C"/>
                </a:solidFill>
                <a:latin typeface="Montserrat"/>
              </a:rPr>
              <a:t> de </a:t>
            </a:r>
          </a:p>
          <a:p>
            <a:pPr algn="ctr"/>
            <a:r>
              <a:rPr lang="en-US" sz="700" b="1" dirty="0" err="1">
                <a:solidFill>
                  <a:srgbClr val="BC955C"/>
                </a:solidFill>
                <a:latin typeface="Montserrat"/>
              </a:rPr>
              <a:t>Terapia</a:t>
            </a:r>
            <a:r>
              <a:rPr lang="en-US" sz="700" b="1" dirty="0">
                <a:solidFill>
                  <a:srgbClr val="BC955C"/>
                </a:solidFill>
                <a:latin typeface="Montserrat"/>
              </a:rPr>
              <a:t> </a:t>
            </a:r>
          </a:p>
          <a:p>
            <a:pPr algn="ctr"/>
            <a:r>
              <a:rPr lang="en-US" sz="700" b="1" dirty="0" err="1">
                <a:solidFill>
                  <a:srgbClr val="BC955C"/>
                </a:solidFill>
                <a:latin typeface="Montserrat"/>
              </a:rPr>
              <a:t>Intensiva</a:t>
            </a:r>
            <a:endParaRPr lang="en-US" sz="700" b="1" dirty="0">
              <a:solidFill>
                <a:srgbClr val="BC955C"/>
              </a:solidFill>
              <a:latin typeface="Montserrat"/>
            </a:endParaRPr>
          </a:p>
        </p:txBody>
      </p:sp>
      <p:sp>
        <p:nvSpPr>
          <p:cNvPr id="10" name="CuadroTexto 10">
            <a:extLst>
              <a:ext uri="{FF2B5EF4-FFF2-40B4-BE49-F238E27FC236}">
                <a16:creationId xmlns:a16="http://schemas.microsoft.com/office/drawing/2014/main" id="{991C7EE4-1170-AC4C-597D-3383D8E8A8F9}"/>
              </a:ext>
            </a:extLst>
          </p:cNvPr>
          <p:cNvSpPr txBox="1"/>
          <p:nvPr/>
        </p:nvSpPr>
        <p:spPr>
          <a:xfrm>
            <a:off x="-1156903" y="405073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Adquisición</a:t>
            </a:r>
            <a:r>
              <a:rPr lang="en-US" sz="1200" b="1" i="0" u="none" strike="noStrike" dirty="0">
                <a:solidFill>
                  <a:srgbClr val="BC955C"/>
                </a:solidFill>
                <a:latin typeface="Montserrat"/>
                <a:ea typeface="Montserrat"/>
                <a:cs typeface="Montserrat"/>
              </a:rPr>
              <a:t>: </a:t>
            </a:r>
          </a:p>
        </p:txBody>
      </p:sp>
      <p:pic>
        <p:nvPicPr>
          <p:cNvPr id="11" name="Imagen 10" descr="Forma, Círculo&#10;&#10;El contenido generado por IA puede ser incorrecto.">
            <a:extLst>
              <a:ext uri="{FF2B5EF4-FFF2-40B4-BE49-F238E27FC236}">
                <a16:creationId xmlns:a16="http://schemas.microsoft.com/office/drawing/2014/main" id="{F7B31A16-FD1A-331A-6F76-259EB810FD76}"/>
              </a:ext>
            </a:extLst>
          </p:cNvPr>
          <p:cNvPicPr>
            <a:picLocks noChangeAspect="1"/>
          </p:cNvPicPr>
          <p:nvPr/>
        </p:nvPicPr>
        <p:blipFill>
          <a:blip r:embed="rId5"/>
          <a:srcRect b="-847"/>
          <a:stretch>
            <a:fillRect/>
          </a:stretch>
        </p:blipFill>
        <p:spPr>
          <a:xfrm>
            <a:off x="283724" y="4394320"/>
            <a:ext cx="875508" cy="854908"/>
          </a:xfrm>
          <a:prstGeom prst="rect">
            <a:avLst/>
          </a:prstGeom>
        </p:spPr>
      </p:pic>
      <p:sp>
        <p:nvSpPr>
          <p:cNvPr id="12" name="CuadroTexto 12">
            <a:extLst>
              <a:ext uri="{FF2B5EF4-FFF2-40B4-BE49-F238E27FC236}">
                <a16:creationId xmlns:a16="http://schemas.microsoft.com/office/drawing/2014/main" id="{CA535D92-E281-11D7-D7CB-F8BAB9F176B8}"/>
              </a:ext>
            </a:extLst>
          </p:cNvPr>
          <p:cNvSpPr txBox="1"/>
          <p:nvPr/>
        </p:nvSpPr>
        <p:spPr>
          <a:xfrm>
            <a:off x="-1217668" y="4520652"/>
            <a:ext cx="3886200" cy="5078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Tomógrafo</a:t>
            </a:r>
          </a:p>
        </p:txBody>
      </p:sp>
      <p:sp>
        <p:nvSpPr>
          <p:cNvPr id="13" name="CuadroTexto 10">
            <a:extLst>
              <a:ext uri="{FF2B5EF4-FFF2-40B4-BE49-F238E27FC236}">
                <a16:creationId xmlns:a16="http://schemas.microsoft.com/office/drawing/2014/main" id="{B9C2E918-974F-A566-8C8B-5DDE4ED4290B}"/>
              </a:ext>
            </a:extLst>
          </p:cNvPr>
          <p:cNvSpPr txBox="1"/>
          <p:nvPr/>
        </p:nvSpPr>
        <p:spPr>
          <a:xfrm>
            <a:off x="-1156903" y="167329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Construcción</a:t>
            </a:r>
            <a:r>
              <a:rPr lang="en-US" sz="1200" b="1" i="0" u="none" strike="noStrike" dirty="0">
                <a:solidFill>
                  <a:srgbClr val="BC955C"/>
                </a:solidFill>
                <a:latin typeface="Montserrat"/>
                <a:ea typeface="Montserrat"/>
                <a:cs typeface="Montserrat"/>
              </a:rPr>
              <a:t>: </a:t>
            </a:r>
          </a:p>
        </p:txBody>
      </p:sp>
      <p:pic>
        <p:nvPicPr>
          <p:cNvPr id="14" name="Imagen 13" descr="Forma, Círculo&#10;&#10;El contenido generado por IA puede ser incorrecto.">
            <a:extLst>
              <a:ext uri="{FF2B5EF4-FFF2-40B4-BE49-F238E27FC236}">
                <a16:creationId xmlns:a16="http://schemas.microsoft.com/office/drawing/2014/main" id="{C365C7D6-999E-5396-FE1A-9AF265B06DAC}"/>
              </a:ext>
            </a:extLst>
          </p:cNvPr>
          <p:cNvPicPr>
            <a:picLocks noChangeAspect="1"/>
          </p:cNvPicPr>
          <p:nvPr/>
        </p:nvPicPr>
        <p:blipFill>
          <a:blip r:embed="rId5"/>
          <a:srcRect b="-847"/>
          <a:stretch>
            <a:fillRect/>
          </a:stretch>
        </p:blipFill>
        <p:spPr>
          <a:xfrm>
            <a:off x="283328" y="2016881"/>
            <a:ext cx="875508" cy="854908"/>
          </a:xfrm>
          <a:prstGeom prst="rect">
            <a:avLst/>
          </a:prstGeom>
        </p:spPr>
      </p:pic>
      <p:sp>
        <p:nvSpPr>
          <p:cNvPr id="15" name="CuadroTexto 12">
            <a:extLst>
              <a:ext uri="{FF2B5EF4-FFF2-40B4-BE49-F238E27FC236}">
                <a16:creationId xmlns:a16="http://schemas.microsoft.com/office/drawing/2014/main" id="{A0083CC0-370A-999A-F425-0B0E05DEB5CF}"/>
              </a:ext>
            </a:extLst>
          </p:cNvPr>
          <p:cNvSpPr txBox="1"/>
          <p:nvPr/>
        </p:nvSpPr>
        <p:spPr>
          <a:xfrm>
            <a:off x="-1216707" y="203067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a:solidFill>
                  <a:srgbClr val="BC955C"/>
                </a:solidFill>
                <a:latin typeface="Montserrat"/>
              </a:rPr>
              <a:t>Sala de </a:t>
            </a:r>
          </a:p>
          <a:p>
            <a:pPr algn="ctr"/>
            <a:r>
              <a:rPr lang="en-US" sz="700" b="1" dirty="0" err="1">
                <a:solidFill>
                  <a:srgbClr val="BC955C"/>
                </a:solidFill>
                <a:latin typeface="Montserrat"/>
              </a:rPr>
              <a:t>Hemodinamia</a:t>
            </a:r>
            <a:endParaRPr lang="en-US" sz="700" b="1">
              <a:solidFill>
                <a:srgbClr val="BC955C"/>
              </a:solidFill>
              <a:latin typeface="Montserrat"/>
            </a:endParaRPr>
          </a:p>
        </p:txBody>
      </p:sp>
      <p:sp>
        <p:nvSpPr>
          <p:cNvPr id="16" name="TextBox 1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graphicFrame>
        <p:nvGraphicFramePr>
          <p:cNvPr id="17" name="Table 16"/>
          <p:cNvGraphicFramePr>
            <a:graphicFrameLocks noGrp="1"/>
          </p:cNvGraphicFramePr>
          <p:nvPr/>
        </p:nvGraphicFramePr>
        <p:xfrm>
          <a:off x="1785600" y="1584000"/>
          <a:ext cx="5295600" cy="1800000"/>
        </p:xfrm>
        <a:graphic>
          <a:graphicData uri="http://schemas.openxmlformats.org/drawingml/2006/table">
            <a:tbl>
              <a:tblPr firstRow="1" bandRow="1">
                <a:tableStyleId>{5C22544A-7EE6-4342-B048-85BDC9FD1C3A}</a:tableStyleId>
              </a:tblPr>
              <a:tblGrid>
                <a:gridCol w="4176000"/>
                <a:gridCol w="1119600"/>
              </a:tblGrid>
              <a:tr h="450000">
                <a:tc>
                  <a:txBody>
                    <a:bodyPr/>
                    <a:lstStyle/>
                    <a:p>
                      <a:pPr algn="ctr">
                        <a:defRPr b="1" sz="1000">
                          <a:solidFill>
                            <a:srgbClr val="FFFFFF"/>
                          </a:solidFill>
                          <a:latin typeface="Montserrat"/>
                        </a:defRPr>
                      </a:pPr>
                      <a:r>
                        <a:t>Obras de Infraestructura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50000">
                <a:tc>
                  <a:txBody>
                    <a:bodyPr/>
                    <a:lstStyle/>
                    <a:p>
                      <a:pPr algn="l">
                        <a:lnSpc>
                          <a:spcPct val="100000"/>
                        </a:lnSpc>
                      </a:pPr>
                      <a:r>
                        <a:rPr sz="1000">
                          <a:latin typeface="Montserrat"/>
                        </a:rPr>
                        <a:t>Sala de Hemodinamia del Hospital General Regional No. 1 de Orizaba,(Etapa 4), y Adquisición de Equipamiento para una Nueva Sala de Hemodinamia en el Hospital General de Zona No. 11, Xalapa</a:t>
                      </a:r>
                    </a:p>
                  </a:txBody>
                  <a:tcPr marL="3600" marR="3600" marT="3600" marB="3600">
                    <a:solidFill>
                      <a:srgbClr val="FFFFFF"/>
                    </a:solidFill>
                  </a:tcPr>
                </a:tc>
                <a:tc>
                  <a:txBody>
                    <a:bodyPr/>
                    <a:lstStyle/>
                    <a:p>
                      <a:pPr algn="ctr">
                        <a:lnSpc>
                          <a:spcPct val="100000"/>
                        </a:lnSpc>
                      </a:pPr>
                      <a:r>
                        <a:rPr sz="1000">
                          <a:latin typeface="Montserrat"/>
                        </a:rPr>
                        <a:t>$81.0</a:t>
                      </a:r>
                    </a:p>
                  </a:txBody>
                  <a:tcPr marL="3600" marR="3600" marT="3600" marB="3600">
                    <a:solidFill>
                      <a:srgbClr val="FFFFFF"/>
                    </a:solidFill>
                  </a:tcPr>
                </a:tc>
              </a:tr>
              <a:tr h="450000">
                <a:tc>
                  <a:txBody>
                    <a:bodyPr/>
                    <a:lstStyle/>
                    <a:p>
                      <a:pPr algn="l">
                        <a:lnSpc>
                          <a:spcPct val="100000"/>
                        </a:lnSpc>
                      </a:pPr>
                      <a:r>
                        <a:rPr sz="1000">
                          <a:latin typeface="Montserrat"/>
                        </a:rPr>
                        <a:t>Adecuación y ampliación del área de diálisis y hemodiálisis del HGSZ No. 33 Tierra blanca</a:t>
                      </a:r>
                    </a:p>
                  </a:txBody>
                  <a:tcPr marL="3600" marR="3600" marT="3600" marB="3600">
                    <a:solidFill>
                      <a:srgbClr val="D9D9D9"/>
                    </a:solidFill>
                  </a:tcPr>
                </a:tc>
                <a:tc>
                  <a:txBody>
                    <a:bodyPr/>
                    <a:lstStyle/>
                    <a:p>
                      <a:pPr algn="ctr">
                        <a:lnSpc>
                          <a:spcPct val="100000"/>
                        </a:lnSpc>
                      </a:pPr>
                      <a:r>
                        <a:rPr sz="1000">
                          <a:latin typeface="Montserrat"/>
                        </a:rPr>
                        <a:t>$25.7</a:t>
                      </a:r>
                    </a:p>
                  </a:txBody>
                  <a:tcPr marL="3600" marR="3600" marT="3600" marB="3600">
                    <a:solidFill>
                      <a:srgbClr val="D9D9D9"/>
                    </a:solidFill>
                  </a:tcPr>
                </a:tc>
              </a:tr>
              <a:tr h="450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$106.7</a:t>
                      </a:r>
                    </a:p>
                  </a:txBody>
                  <a:tcPr marL="3600" marR="3600" marT="3600" marB="3600">
                    <a:solidFill>
                      <a:srgbClr val="ECE1D2"/>
                    </a:solidFill>
                  </a:tcPr>
                </a:tc>
              </a:tr>
            </a:tbl>
          </a:graphicData>
        </a:graphic>
      </p:graphicFrame>
      <p:graphicFrame>
        <p:nvGraphicFramePr>
          <p:cNvPr id="18" name="Table 17"/>
          <p:cNvGraphicFramePr>
            <a:graphicFrameLocks noGrp="1"/>
          </p:cNvGraphicFramePr>
          <p:nvPr/>
        </p:nvGraphicFramePr>
        <p:xfrm>
          <a:off x="1785600" y="3564000"/>
          <a:ext cx="5295600" cy="4320000"/>
        </p:xfrm>
        <a:graphic>
          <a:graphicData uri="http://schemas.openxmlformats.org/drawingml/2006/table">
            <a:tbl>
              <a:tblPr firstRow="1" bandRow="1">
                <a:tableStyleId>{5C22544A-7EE6-4342-B048-85BDC9FD1C3A}</a:tableStyleId>
              </a:tblPr>
              <a:tblGrid>
                <a:gridCol w="4176000"/>
                <a:gridCol w="1119600"/>
              </a:tblGrid>
              <a:tr h="480000">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80000">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$838.0</a:t>
                      </a:r>
                    </a:p>
                  </a:txBody>
                  <a:tcPr marL="3600" marR="3600" marT="3600" marB="3600">
                    <a:solidFill>
                      <a:srgbClr val="FFFFFF"/>
                    </a:solidFill>
                  </a:tcPr>
                </a:tc>
              </a:tr>
              <a:tr h="480000">
                <a:tc>
                  <a:txBody>
                    <a:bodyPr/>
                    <a:lstStyle/>
                    <a:p>
                      <a:pPr algn="l">
                        <a:lnSpc>
                          <a:spcPct val="100000"/>
                        </a:lnSpc>
                      </a:pPr>
                      <a:r>
                        <a:rPr sz="1000">
                          <a:latin typeface="Montserrat"/>
                        </a:rPr>
                        <a:t>Intervención en áreas de residencias médicas en 13 unidades, Veracruz</a:t>
                      </a:r>
                    </a:p>
                  </a:txBody>
                  <a:tcPr marL="3600" marR="3600" marT="3600" marB="3600">
                    <a:solidFill>
                      <a:srgbClr val="D9D9D9"/>
                    </a:solidFill>
                  </a:tcPr>
                </a:tc>
                <a:tc>
                  <a:txBody>
                    <a:bodyPr/>
                    <a:lstStyle/>
                    <a:p>
                      <a:pPr algn="ctr">
                        <a:lnSpc>
                          <a:spcPct val="100000"/>
                        </a:lnSpc>
                      </a:pPr>
                      <a:r>
                        <a:rPr sz="1000">
                          <a:latin typeface="Montserrat"/>
                        </a:rPr>
                        <a:t>$51.2</a:t>
                      </a:r>
                    </a:p>
                  </a:txBody>
                  <a:tcPr marL="3600" marR="3600" marT="3600" marB="3600">
                    <a:solidFill>
                      <a:srgbClr val="D9D9D9"/>
                    </a:solidFill>
                  </a:tcPr>
                </a:tc>
              </a:tr>
              <a:tr h="480000">
                <a:tc>
                  <a:txBody>
                    <a:bodyPr/>
                    <a:lstStyle/>
                    <a:p>
                      <a:pPr algn="l">
                        <a:lnSpc>
                          <a:spcPct val="100000"/>
                        </a:lnSpc>
                      </a:pPr>
                      <a:r>
                        <a:rPr sz="1000">
                          <a:latin typeface="Montserrat"/>
                        </a:rPr>
                        <a:t>Intervención en áreas de terapia intensiva en UMAE HE No.14 Veracruz y HGZ No.71 Veracruz</a:t>
                      </a:r>
                    </a:p>
                  </a:txBody>
                  <a:tcPr marL="3600" marR="3600" marT="3600" marB="3600">
                    <a:solidFill>
                      <a:srgbClr val="FFFFFF"/>
                    </a:solidFill>
                  </a:tcPr>
                </a:tc>
                <a:tc>
                  <a:txBody>
                    <a:bodyPr/>
                    <a:lstStyle/>
                    <a:p>
                      <a:pPr algn="ctr">
                        <a:lnSpc>
                          <a:spcPct val="100000"/>
                        </a:lnSpc>
                      </a:pPr>
                      <a:r>
                        <a:rPr sz="1000">
                          <a:latin typeface="Montserrat"/>
                        </a:rPr>
                        <a:t>$47.5</a:t>
                      </a:r>
                    </a:p>
                  </a:txBody>
                  <a:tcPr marL="3600" marR="3600" marT="3600" marB="3600">
                    <a:solidFill>
                      <a:srgbClr val="FFFFFF"/>
                    </a:solidFill>
                  </a:tcPr>
                </a:tc>
              </a:tr>
              <a:tr h="480000">
                <a:tc>
                  <a:txBody>
                    <a:bodyPr/>
                    <a:lstStyle/>
                    <a:p>
                      <a:pPr algn="l">
                        <a:lnSpc>
                          <a:spcPct val="100000"/>
                        </a:lnSpc>
                      </a:pPr>
                      <a:r>
                        <a:rPr sz="1000">
                          <a:latin typeface="Montserrat"/>
                        </a:rPr>
                        <a:t>Intervención en áreas de hemodiálisis interna en H de especialidades No. 14, HGZ Cosamaloapan y HGZ Córdova</a:t>
                      </a:r>
                    </a:p>
                  </a:txBody>
                  <a:tcPr marL="3600" marR="3600" marT="3600" marB="3600">
                    <a:solidFill>
                      <a:srgbClr val="D9D9D9"/>
                    </a:solidFill>
                  </a:tcPr>
                </a:tc>
                <a:tc>
                  <a:txBody>
                    <a:bodyPr/>
                    <a:lstStyle/>
                    <a:p>
                      <a:pPr algn="ctr">
                        <a:lnSpc>
                          <a:spcPct val="100000"/>
                        </a:lnSpc>
                      </a:pPr>
                      <a:r>
                        <a:rPr sz="1000">
                          <a:latin typeface="Montserrat"/>
                        </a:rPr>
                        <a:t>$36.0</a:t>
                      </a:r>
                    </a:p>
                  </a:txBody>
                  <a:tcPr marL="3600" marR="3600" marT="3600" marB="3600">
                    <a:solidFill>
                      <a:srgbClr val="D9D9D9"/>
                    </a:solidFill>
                  </a:tcPr>
                </a:tc>
              </a:tr>
              <a:tr h="480000">
                <a:tc>
                  <a:txBody>
                    <a:bodyPr/>
                    <a:lstStyle/>
                    <a:p>
                      <a:pPr algn="l">
                        <a:lnSpc>
                          <a:spcPct val="100000"/>
                        </a:lnSpc>
                      </a:pPr>
                      <a:r>
                        <a:rPr sz="1000">
                          <a:latin typeface="Montserrat"/>
                        </a:rPr>
                        <a:t>Intervención en áreas de mejora en subdelegaciones en 3 unidades (Xalapa, Coatzacoalcos, Cosamaloapan)</a:t>
                      </a:r>
                    </a:p>
                  </a:txBody>
                  <a:tcPr marL="3600" marR="3600" marT="3600" marB="3600">
                    <a:solidFill>
                      <a:srgbClr val="FFFFFF"/>
                    </a:solidFill>
                  </a:tcPr>
                </a:tc>
                <a:tc>
                  <a:txBody>
                    <a:bodyPr/>
                    <a:lstStyle/>
                    <a:p>
                      <a:pPr algn="ctr">
                        <a:lnSpc>
                          <a:spcPct val="100000"/>
                        </a:lnSpc>
                      </a:pPr>
                      <a:r>
                        <a:rPr sz="1000">
                          <a:latin typeface="Montserrat"/>
                        </a:rPr>
                        <a:t>$19.3</a:t>
                      </a:r>
                    </a:p>
                  </a:txBody>
                  <a:tcPr marL="3600" marR="3600" marT="3600" marB="3600">
                    <a:solidFill>
                      <a:srgbClr val="FFFFFF"/>
                    </a:solidFill>
                  </a:tcPr>
                </a:tc>
              </a:tr>
              <a:tr h="480000">
                <a:tc>
                  <a:txBody>
                    <a:bodyPr/>
                    <a:lstStyle/>
                    <a:p>
                      <a:pPr algn="l">
                        <a:lnSpc>
                          <a:spcPct val="100000"/>
                        </a:lnSpc>
                      </a:pPr>
                      <a:r>
                        <a:rPr sz="1000">
                          <a:latin typeface="Montserrat"/>
                        </a:rPr>
                        <a:t>Intervención en áreas de salud mental en 6 unidades (H. de Especialidades No.14, HGZ No.71 Veracruz; HGZ No.32 Minatitlán, HGZ No. 36 Coatzacoalcos, HGZ No.35 Cosamaloapan, HGR No. 1 Orizaba)</a:t>
                      </a:r>
                    </a:p>
                  </a:txBody>
                  <a:tcPr marL="3600" marR="3600" marT="3600" marB="3600">
                    <a:solidFill>
                      <a:srgbClr val="D9D9D9"/>
                    </a:solidFill>
                  </a:tcPr>
                </a:tc>
                <a:tc>
                  <a:txBody>
                    <a:bodyPr/>
                    <a:lstStyle/>
                    <a:p>
                      <a:pPr algn="ctr">
                        <a:lnSpc>
                          <a:spcPct val="100000"/>
                        </a:lnSpc>
                      </a:pPr>
                      <a:r>
                        <a:rPr sz="1000">
                          <a:latin typeface="Montserrat"/>
                        </a:rPr>
                        <a:t>$10.0</a:t>
                      </a:r>
                    </a:p>
                  </a:txBody>
                  <a:tcPr marL="3600" marR="3600" marT="3600" marB="3600">
                    <a:solidFill>
                      <a:srgbClr val="D9D9D9"/>
                    </a:solidFill>
                  </a:tcPr>
                </a:tc>
              </a:tr>
              <a:tr h="480000">
                <a:tc>
                  <a:txBody>
                    <a:bodyPr/>
                    <a:lstStyle/>
                    <a:p>
                      <a:pPr algn="l">
                        <a:lnSpc>
                          <a:spcPct val="100000"/>
                        </a:lnSpc>
                      </a:pPr>
                      <a:r>
                        <a:rPr sz="1000">
                          <a:latin typeface="Montserrat"/>
                        </a:rPr>
                        <a:t>intervención en áreas de accesibilidad (rampas) en 3 unidades médicas HGZ 35 cosamaloapan, HGZ 36 Coatzacoalcos</a:t>
                      </a:r>
                    </a:p>
                  </a:txBody>
                  <a:tcPr marL="3600" marR="3600" marT="3600" marB="3600">
                    <a:solidFill>
                      <a:srgbClr val="FFFFFF"/>
                    </a:solidFill>
                  </a:tcPr>
                </a:tc>
                <a:tc>
                  <a:txBody>
                    <a:bodyPr/>
                    <a:lstStyle/>
                    <a:p>
                      <a:pPr algn="ctr">
                        <a:lnSpc>
                          <a:spcPct val="100000"/>
                        </a:lnSpc>
                      </a:pPr>
                      <a:r>
                        <a:rPr sz="1000">
                          <a:latin typeface="Montserrat"/>
                        </a:rPr>
                        <a:t>$6.8</a:t>
                      </a:r>
                    </a:p>
                  </a:txBody>
                  <a:tcPr marL="3600" marR="3600" marT="3600" marB="3600">
                    <a:solidFill>
                      <a:srgbClr val="FFFFFF"/>
                    </a:solidFill>
                  </a:tcPr>
                </a:tc>
              </a:tr>
              <a:tr h="480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$1,008.8</a:t>
                      </a:r>
                    </a:p>
                  </a:txBody>
                  <a:tcPr marL="3600" marR="3600" marT="3600" marB="3600">
                    <a:solidFill>
                      <a:srgbClr val="ECE1D2"/>
                    </a:solidFill>
                  </a:tcPr>
                </a:tc>
              </a:tr>
            </a:tbl>
          </a:graphicData>
        </a:graphic>
      </p:graphicFrame>
      <p:graphicFrame>
        <p:nvGraphicFramePr>
          <p:cNvPr id="19" name="Table 18"/>
          <p:cNvGraphicFramePr>
            <a:graphicFrameLocks noGrp="1"/>
          </p:cNvGraphicFramePr>
          <p:nvPr/>
        </p:nvGraphicFramePr>
        <p:xfrm>
          <a:off x="1785600" y="8064000"/>
          <a:ext cx="5295600" cy="1260000"/>
        </p:xfrm>
        <a:graphic>
          <a:graphicData uri="http://schemas.openxmlformats.org/drawingml/2006/table">
            <a:tbl>
              <a:tblPr firstRow="1" bandRow="1">
                <a:tableStyleId>{5C22544A-7EE6-4342-B048-85BDC9FD1C3A}</a:tableStyleId>
              </a:tblPr>
              <a:tblGrid>
                <a:gridCol w="4176000"/>
                <a:gridCol w="1119600"/>
              </a:tblGrid>
              <a:tr h="63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630000">
                <a:tc>
                  <a:txBody>
                    <a:bodyPr/>
                    <a:lstStyle/>
                    <a:p>
                      <a:pPr algn="l">
                        <a:lnSpc>
                          <a:spcPct val="100000"/>
                        </a:lnSpc>
                      </a:pPr>
                      <a:r>
                        <a:rPr sz="1000">
                          <a:latin typeface="Montserrat"/>
                        </a:rPr>
                        <a:t>Adquisición de 17 piezas de equipo médico: 2 congeladores horizontales  para vacunas, 1 refrigerador para vacunas, 7 refrigeradores con congelador de 5.4 pies cúbicos, 5 mastógrafos digitales con estereotaxia y tomosíntesis, 1 tomógrafo axial computarizado de alta resolución, 1 mastógrafo digital</a:t>
                      </a:r>
                    </a:p>
                  </a:txBody>
                  <a:tcPr marL="3600" marR="3600" marT="3600" marB="3600">
                    <a:solidFill>
                      <a:srgbClr val="FFFFFF"/>
                    </a:solidFill>
                  </a:tcPr>
                </a:tc>
                <a:tc>
                  <a:txBody>
                    <a:bodyPr/>
                    <a:lstStyle/>
                    <a:p>
                      <a:pPr algn="ctr">
                        <a:lnSpc>
                          <a:spcPct val="100000"/>
                        </a:lnSpc>
                      </a:pPr>
                      <a:r>
                        <a:rPr sz="1000">
                          <a:latin typeface="Montserrat"/>
                        </a:rPr>
                        <a:t>$54.2</a:t>
                      </a:r>
                    </a:p>
                  </a:txBody>
                  <a:tcPr marL="3600" marR="3600" marT="3600" marB="3600">
                    <a:solidFill>
                      <a:srgbClr val="FFFFFF"/>
                    </a:solidFill>
                  </a:tcPr>
                </a:tc>
              </a:tr>
            </a:tbl>
          </a:graphicData>
        </a:graphic>
      </p:graphicFrame>
      <p:graphicFrame>
        <p:nvGraphicFramePr>
          <p:cNvPr id="20" name="Table 19"/>
          <p:cNvGraphicFramePr>
            <a:graphicFrameLocks noGrp="1"/>
          </p:cNvGraphicFramePr>
          <p:nvPr/>
        </p:nvGraphicFramePr>
        <p:xfrm>
          <a:off x="1785600" y="9504000"/>
          <a:ext cx="5295600" cy="720000"/>
        </p:xfrm>
        <a:graphic>
          <a:graphicData uri="http://schemas.openxmlformats.org/drawingml/2006/table">
            <a:tbl>
              <a:tblPr firstRow="1" bandRow="1">
                <a:tableStyleId>{5C22544A-7EE6-4342-B048-85BDC9FD1C3A}</a:tableStyleId>
              </a:tblPr>
              <a:tblGrid>
                <a:gridCol w="4176000"/>
                <a:gridCol w="1119600"/>
              </a:tblGrid>
              <a:tr h="360000">
                <a:tc>
                  <a:txBody>
                    <a:bodyPr/>
                    <a:lstStyle/>
                    <a:p>
                      <a:pPr algn="ctr">
                        <a:defRPr b="1" sz="1000">
                          <a:solidFill>
                            <a:srgbClr val="FFFFFF"/>
                          </a:solidFill>
                          <a:latin typeface="Montserrat"/>
                        </a:defRPr>
                      </a:pPr>
                      <a:r>
                        <a:t>Equipamiento Electromecánico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360000">
                <a:tc>
                  <a:txBody>
                    <a:bodyPr/>
                    <a:lstStyle/>
                    <a:p>
                      <a:pPr algn="l">
                        <a:lnSpc>
                          <a:spcPct val="100000"/>
                        </a:lnSpc>
                      </a:pPr>
                      <a:r>
                        <a:rPr sz="1000">
                          <a:latin typeface="Montserrat"/>
                        </a:rPr>
                        <a:t>Adquisición de elevadores para el HGZ No. 8 Córdoba y HGR No. 1 Orizaba</a:t>
                      </a:r>
                    </a:p>
                  </a:txBody>
                  <a:tcPr marL="3600" marR="3600" marT="3600" marB="3600">
                    <a:solidFill>
                      <a:srgbClr val="FFFFFF"/>
                    </a:solidFill>
                  </a:tcPr>
                </a:tc>
                <a:tc>
                  <a:txBody>
                    <a:bodyPr/>
                    <a:lstStyle/>
                    <a:p>
                      <a:pPr algn="ctr">
                        <a:lnSpc>
                          <a:spcPct val="100000"/>
                        </a:lnSpc>
                      </a:pPr>
                      <a:r>
                        <a:rPr sz="1000">
                          <a:latin typeface="Montserrat"/>
                        </a:rPr>
                        <a:t>$35.1</a:t>
                      </a:r>
                    </a:p>
                  </a:txBody>
                  <a:tcPr marL="3600" marR="3600" marT="3600" marB="3600">
                    <a:solidFill>
                      <a:srgbClr val="FFFFFF"/>
                    </a:solidFill>
                  </a:tcPr>
                </a:tc>
              </a:tr>
            </a:tbl>
          </a:graphicData>
        </a:graphic>
      </p:graphicFrame>
      <p:sp>
        <p:nvSpPr>
          <p:cNvPr id="21" name="TextBox 20"/>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1,204.8</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dirty="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dirty="0">
              <a:ln>
                <a:noFill/>
              </a:ln>
              <a:solidFill>
                <a:srgbClr val="9F2241"/>
              </a:solidFill>
              <a:effectLst/>
              <a:uLnTx/>
              <a:uFillTx/>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755374"/>
            <a:ext cx="1599000" cy="733432"/>
          </a:xfrm>
          <a:prstGeom prst="rect">
            <a:avLst/>
          </a:prstGeom>
          <a:noFill/>
          <a:ln>
            <a:noFill/>
          </a:ln>
        </p:spPr>
      </p:pic>
      <p:sp>
        <p:nvSpPr>
          <p:cNvPr id="3" name="CuadroTexto 9">
            <a:extLst>
              <a:ext uri="{FF2B5EF4-FFF2-40B4-BE49-F238E27FC236}">
                <a16:creationId xmlns:a16="http://schemas.microsoft.com/office/drawing/2014/main" id="{ABCC6279-D2EB-1F1F-D811-3FFF80887FF1}"/>
              </a:ext>
            </a:extLst>
          </p:cNvPr>
          <p:cNvSpPr txBox="1"/>
          <p:nvPr/>
        </p:nvSpPr>
        <p:spPr>
          <a:xfrm>
            <a:off x="-1184094" y="1715497"/>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A42145"/>
                </a:solidFill>
                <a:latin typeface="Montserrat"/>
                <a:ea typeface="Montserrat"/>
                <a:cs typeface="Montserrat"/>
              </a:rPr>
              <a:t>Construcción</a:t>
            </a:r>
            <a:r>
              <a:rPr lang="en-US" sz="1200" b="1" i="0" u="none" strike="noStrike" dirty="0">
                <a:solidFill>
                  <a:srgbClr val="A42145"/>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488C755F-8E2D-8CE1-6C1B-6DBB55EE2CD3}"/>
              </a:ext>
            </a:extLst>
          </p:cNvPr>
          <p:cNvPicPr>
            <a:picLocks noChangeAspect="1"/>
          </p:cNvPicPr>
          <p:nvPr/>
        </p:nvPicPr>
        <p:blipFill>
          <a:blip r:embed="rId5"/>
          <a:stretch>
            <a:fillRect/>
          </a:stretch>
        </p:blipFill>
        <p:spPr>
          <a:xfrm>
            <a:off x="260870" y="2027418"/>
            <a:ext cx="872667" cy="849944"/>
          </a:xfrm>
          <a:prstGeom prst="rect">
            <a:avLst/>
          </a:prstGeom>
        </p:spPr>
      </p:pic>
      <p:sp>
        <p:nvSpPr>
          <p:cNvPr id="6" name="CuadroTexto 11">
            <a:extLst>
              <a:ext uri="{FF2B5EF4-FFF2-40B4-BE49-F238E27FC236}">
                <a16:creationId xmlns:a16="http://schemas.microsoft.com/office/drawing/2014/main" id="{4578A0AA-9DC1-3453-263A-76BE5A8BE282}"/>
              </a:ext>
            </a:extLst>
          </p:cNvPr>
          <p:cNvSpPr txBox="1"/>
          <p:nvPr/>
        </p:nvSpPr>
        <p:spPr>
          <a:xfrm>
            <a:off x="-1241589" y="206469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2</a:t>
            </a:r>
            <a:endParaRPr lang="en-US" sz="2000" b="1" i="0" u="none" strike="noStrike" dirty="0">
              <a:solidFill>
                <a:srgbClr val="A42145"/>
              </a:solidFill>
              <a:latin typeface="Montserrat"/>
              <a:ea typeface="Montserrat"/>
              <a:cs typeface="Montserrat"/>
            </a:endParaRPr>
          </a:p>
          <a:p>
            <a:pPr algn="ctr"/>
            <a:r>
              <a:rPr lang="en-US" sz="700" b="1" dirty="0">
                <a:solidFill>
                  <a:srgbClr val="A42145"/>
                </a:solidFill>
                <a:latin typeface="Montserrat"/>
                <a:ea typeface="Montserrat"/>
                <a:cs typeface="Montserrat"/>
              </a:rPr>
              <a:t>Salas de </a:t>
            </a:r>
          </a:p>
          <a:p>
            <a:pPr algn="ctr"/>
            <a:r>
              <a:rPr lang="en-US" sz="700" b="1" dirty="0" err="1">
                <a:solidFill>
                  <a:srgbClr val="A42145"/>
                </a:solidFill>
                <a:latin typeface="Montserrat"/>
                <a:ea typeface="Montserrat"/>
                <a:cs typeface="Montserrat"/>
              </a:rPr>
              <a:t>Hemodiálisis</a:t>
            </a:r>
            <a:endParaRPr lang="en-US" sz="700" b="1" i="0" u="none" strike="noStrike" dirty="0">
              <a:solidFill>
                <a:srgbClr val="A42145"/>
              </a:solidFill>
              <a:latin typeface="Montserrat"/>
              <a:ea typeface="Montserrat"/>
              <a:cs typeface="Montserrat"/>
            </a:endParaRP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graphicFrame>
        <p:nvGraphicFramePr>
          <p:cNvPr id="9" name="Table 8"/>
          <p:cNvGraphicFramePr>
            <a:graphicFrameLocks noGrp="1"/>
          </p:cNvGraphicFramePr>
          <p:nvPr/>
        </p:nvGraphicFramePr>
        <p:xfrm>
          <a:off x="1785600" y="1584000"/>
          <a:ext cx="5396400" cy="1511994"/>
        </p:xfrm>
        <a:graphic>
          <a:graphicData uri="http://schemas.openxmlformats.org/drawingml/2006/table">
            <a:tbl>
              <a:tblPr firstRow="1" bandRow="1">
                <a:tableStyleId>{5C22544A-7EE6-4342-B048-85BDC9FD1C3A}</a:tableStyleId>
              </a:tblPr>
              <a:tblGrid>
                <a:gridCol w="4255200"/>
                <a:gridCol w="1141200"/>
              </a:tblGrid>
              <a:tr h="251999">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51999">
                <a:tc>
                  <a:txBody>
                    <a:bodyPr/>
                    <a:lstStyle/>
                    <a:p>
                      <a:pPr algn="l">
                        <a:lnSpc>
                          <a:spcPct val="100000"/>
                        </a:lnSpc>
                      </a:pPr>
                      <a:r>
                        <a:rPr sz="1000">
                          <a:latin typeface="Montserrat"/>
                        </a:rPr>
                        <a:t>Mantenimiento de infraestructura (PAO 2026)</a:t>
                      </a:r>
                    </a:p>
                  </a:txBody>
                  <a:tcPr marL="3600" marR="3600" marT="3600" marB="3600">
                    <a:solidFill>
                      <a:srgbClr val="FFFFFF"/>
                    </a:solidFill>
                  </a:tcPr>
                </a:tc>
                <a:tc>
                  <a:txBody>
                    <a:bodyPr/>
                    <a:lstStyle/>
                    <a:p>
                      <a:pPr algn="ctr">
                        <a:lnSpc>
                          <a:spcPct val="100000"/>
                        </a:lnSpc>
                      </a:pPr>
                      <a:r>
                        <a:rPr sz="1000">
                          <a:latin typeface="Montserrat"/>
                        </a:rPr>
                        <a:t>$437.8</a:t>
                      </a:r>
                    </a:p>
                  </a:txBody>
                  <a:tcPr marL="3600" marR="3600" marT="3600" marB="3600">
                    <a:solidFill>
                      <a:srgbClr val="FFFFFF"/>
                    </a:solidFill>
                  </a:tcPr>
                </a:tc>
              </a:tr>
              <a:tr h="251999">
                <a:tc>
                  <a:txBody>
                    <a:bodyPr/>
                    <a:lstStyle/>
                    <a:p>
                      <a:pPr algn="l">
                        <a:lnSpc>
                          <a:spcPct val="100000"/>
                        </a:lnSpc>
                      </a:pPr>
                      <a:r>
                        <a:rPr sz="1000">
                          <a:latin typeface="Montserrat"/>
                        </a:rPr>
                        <a:t>Remodelación de área de hemodiálisi en HGZ No. 24 Poza Rica</a:t>
                      </a:r>
                    </a:p>
                  </a:txBody>
                  <a:tcPr marL="3600" marR="3600" marT="3600" marB="3600">
                    <a:solidFill>
                      <a:srgbClr val="D9D9D9"/>
                    </a:solidFill>
                  </a:tcPr>
                </a:tc>
                <a:tc>
                  <a:txBody>
                    <a:bodyPr/>
                    <a:lstStyle/>
                    <a:p>
                      <a:pPr algn="ctr">
                        <a:lnSpc>
                          <a:spcPct val="100000"/>
                        </a:lnSpc>
                      </a:pPr>
                      <a:r>
                        <a:rPr sz="1000">
                          <a:latin typeface="Montserrat"/>
                        </a:rPr>
                        <a:t>$0.0</a:t>
                      </a:r>
                    </a:p>
                  </a:txBody>
                  <a:tcPr marL="3600" marR="3600" marT="3600" marB="3600">
                    <a:solidFill>
                      <a:srgbClr val="D9D9D9"/>
                    </a:solidFill>
                  </a:tcPr>
                </a:tc>
              </a:tr>
              <a:tr h="251999">
                <a:tc>
                  <a:txBody>
                    <a:bodyPr/>
                    <a:lstStyle/>
                    <a:p>
                      <a:pPr algn="l">
                        <a:lnSpc>
                          <a:spcPct val="100000"/>
                        </a:lnSpc>
                      </a:pPr>
                      <a:r>
                        <a:rPr sz="1000">
                          <a:latin typeface="Montserrat"/>
                        </a:rPr>
                        <a:t>Nueva sala de hemodiálisis en HGZ No. 71 Veracruz</a:t>
                      </a:r>
                    </a:p>
                  </a:txBody>
                  <a:tcPr marL="3600" marR="3600" marT="3600" marB="3600">
                    <a:solidFill>
                      <a:srgbClr val="FFFFFF"/>
                    </a:solidFill>
                  </a:tcPr>
                </a:tc>
                <a:tc>
                  <a:txBody>
                    <a:bodyPr/>
                    <a:lstStyle/>
                    <a:p>
                      <a:pPr algn="ctr">
                        <a:lnSpc>
                          <a:spcPct val="100000"/>
                        </a:lnSpc>
                      </a:pPr>
                      <a:r>
                        <a:rPr sz="1000">
                          <a:latin typeface="Montserrat"/>
                        </a:rPr>
                        <a:t>$0.0</a:t>
                      </a:r>
                    </a:p>
                  </a:txBody>
                  <a:tcPr marL="3600" marR="3600" marT="3600" marB="3600">
                    <a:solidFill>
                      <a:srgbClr val="FFFFFF"/>
                    </a:solidFill>
                  </a:tcPr>
                </a:tc>
              </a:tr>
              <a:tr h="251999">
                <a:tc>
                  <a:txBody>
                    <a:bodyPr/>
                    <a:lstStyle/>
                    <a:p>
                      <a:pPr algn="l">
                        <a:lnSpc>
                          <a:spcPct val="100000"/>
                        </a:lnSpc>
                      </a:pPr>
                      <a:r>
                        <a:rPr sz="1000">
                          <a:latin typeface="Montserrat"/>
                        </a:rPr>
                        <a:t>Fortalecimiento de UCIN en HGZ No. 24 Poza Rica</a:t>
                      </a:r>
                    </a:p>
                  </a:txBody>
                  <a:tcPr marL="3600" marR="3600" marT="3600" marB="3600">
                    <a:solidFill>
                      <a:srgbClr val="D9D9D9"/>
                    </a:solidFill>
                  </a:tcPr>
                </a:tc>
                <a:tc>
                  <a:txBody>
                    <a:bodyPr/>
                    <a:lstStyle/>
                    <a:p>
                      <a:pPr algn="ctr">
                        <a:lnSpc>
                          <a:spcPct val="100000"/>
                        </a:lnSpc>
                      </a:pPr>
                      <a:r>
                        <a:rPr sz="1000">
                          <a:latin typeface="Montserrat"/>
                        </a:rPr>
                        <a:t>$0.0</a:t>
                      </a:r>
                    </a:p>
                  </a:txBody>
                  <a:tcPr marL="3600" marR="3600" marT="3600" marB="3600">
                    <a:solidFill>
                      <a:srgbClr val="D9D9D9"/>
                    </a:solidFill>
                  </a:tcPr>
                </a:tc>
              </a:tr>
              <a:tr h="251999">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$437.8</a:t>
                      </a:r>
                    </a:p>
                  </a:txBody>
                  <a:tcPr marL="3600" marR="3600" marT="3600" marB="3600">
                    <a:solidFill>
                      <a:srgbClr val="9F2241"/>
                    </a:solidFill>
                  </a:tcPr>
                </a:tc>
              </a:tr>
            </a:tbl>
          </a:graphicData>
        </a:graphic>
      </p:graphicFrame>
      <p:graphicFrame>
        <p:nvGraphicFramePr>
          <p:cNvPr id="10" name="Table 9"/>
          <p:cNvGraphicFramePr>
            <a:graphicFrameLocks noGrp="1"/>
          </p:cNvGraphicFramePr>
          <p:nvPr/>
        </p:nvGraphicFramePr>
        <p:xfrm>
          <a:off x="1785600" y="3275994"/>
          <a:ext cx="5396400" cy="1259995"/>
        </p:xfrm>
        <a:graphic>
          <a:graphicData uri="http://schemas.openxmlformats.org/drawingml/2006/table">
            <a:tbl>
              <a:tblPr firstRow="1" bandRow="1">
                <a:tableStyleId>{5C22544A-7EE6-4342-B048-85BDC9FD1C3A}</a:tableStyleId>
              </a:tblPr>
              <a:tblGrid>
                <a:gridCol w="4255200"/>
                <a:gridCol w="1141200"/>
              </a:tblGrid>
              <a:tr h="629997">
                <a:tc>
                  <a:txBody>
                    <a:bodyPr/>
                    <a:lstStyle/>
                    <a:p>
                      <a:pPr algn="ctr">
                        <a:defRPr b="1" sz="1000">
                          <a:solidFill>
                            <a:srgbClr val="FFFFFF"/>
                          </a:solidFill>
                          <a:latin typeface="Montserrat"/>
                        </a:defRPr>
                      </a:pPr>
                      <a:r>
                        <a:t>Equipamiento Electromecánico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629998">
                <a:tc>
                  <a:txBody>
                    <a:bodyPr/>
                    <a:lstStyle/>
                    <a:p>
                      <a:pPr algn="l">
                        <a:lnSpc>
                          <a:spcPct val="100000"/>
                        </a:lnSpc>
                      </a:pPr>
                      <a:r>
                        <a:rPr sz="1000">
                          <a:latin typeface="Montserrat"/>
                        </a:rPr>
                        <a:t>45 Equipos electromecánicos para 15 unidades; 8 elevadores, 22 equipos de aire acondicionado, 4 equipos de casa de máquinas, 6 lavadoras, y 5 secadoras</a:t>
                      </a:r>
                    </a:p>
                  </a:txBody>
                  <a:tcPr marL="3600" marR="3600" marT="3600" marB="3600">
                    <a:solidFill>
                      <a:srgbClr val="FFFFFF"/>
                    </a:solidFill>
                  </a:tcPr>
                </a:tc>
                <a:tc>
                  <a:txBody>
                    <a:bodyPr/>
                    <a:lstStyle/>
                    <a:p>
                      <a:pPr algn="ctr">
                        <a:lnSpc>
                          <a:spcPct val="100000"/>
                        </a:lnSpc>
                      </a:pPr>
                      <a:r>
                        <a:rPr sz="1000">
                          <a:latin typeface="Montserrat"/>
                        </a:rPr>
                        <a:t>$293.8</a:t>
                      </a:r>
                    </a:p>
                  </a:txBody>
                  <a:tcPr marL="3600" marR="3600" marT="3600" marB="3600">
                    <a:solidFill>
                      <a:srgbClr val="FFFFFF"/>
                    </a:solidFill>
                  </a:tcPr>
                </a:tc>
              </a:tr>
            </a:tbl>
          </a:graphicData>
        </a:graphic>
      </p:graphicFrame>
      <p:sp>
        <p:nvSpPr>
          <p:cNvPr id="11" name="TextBox 10"/>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731.6</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graphicFrame>
        <p:nvGraphicFramePr>
          <p:cNvPr id="20" name="Table 19"/>
          <p:cNvGraphicFramePr>
            <a:graphicFrameLocks noGrp="1"/>
          </p:cNvGraphicFramePr>
          <p:nvPr/>
        </p:nvGraphicFramePr>
        <p:xfrm>
          <a:off x="691200" y="1584000"/>
          <a:ext cx="6390000" cy="1511994"/>
        </p:xfrm>
        <a:graphic>
          <a:graphicData uri="http://schemas.openxmlformats.org/drawingml/2006/table">
            <a:tbl>
              <a:tblPr firstRow="1" bandRow="1">
                <a:tableStyleId>{5C22544A-7EE6-4342-B048-85BDC9FD1C3A}</a:tableStyleId>
              </a:tblPr>
              <a:tblGrid>
                <a:gridCol w="5040000"/>
                <a:gridCol w="1350000"/>
              </a:tblGrid>
              <a:tr h="302398">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302398">
                <a:tc>
                  <a:txBody>
                    <a:bodyPr/>
                    <a:lstStyle/>
                    <a:p>
                      <a:pPr algn="l">
                        <a:defRPr sz="1000">
                          <a:latin typeface="Montserrat"/>
                        </a:defRPr>
                      </a:pPr>
                      <a:r>
                        <a:t>Hospital General de Zona Minatitlán</a:t>
                      </a:r>
                    </a:p>
                  </a:txBody>
                  <a:tcPr>
                    <a:solidFill>
                      <a:srgbClr val="FFFFFF"/>
                    </a:solidFill>
                  </a:tcPr>
                </a:tc>
                <a:tc>
                  <a:txBody>
                    <a:bodyPr/>
                    <a:lstStyle/>
                    <a:p>
                      <a:pPr algn="ctr">
                        <a:defRPr sz="1000">
                          <a:latin typeface="Montserrat"/>
                        </a:defRPr>
                      </a:pPr>
                      <a:r>
                        <a:t>$2,710.0</a:t>
                      </a:r>
                    </a:p>
                  </a:txBody>
                  <a:tcPr>
                    <a:solidFill>
                      <a:srgbClr val="FFFFFF"/>
                    </a:solidFill>
                  </a:tcPr>
                </a:tc>
              </a:tr>
              <a:tr h="302398">
                <a:tc>
                  <a:txBody>
                    <a:bodyPr/>
                    <a:lstStyle/>
                    <a:p>
                      <a:pPr algn="l">
                        <a:defRPr sz="1000">
                          <a:latin typeface="Montserrat"/>
                        </a:defRPr>
                      </a:pPr>
                      <a:r>
                        <a:t>Implementación de sala de resonancia magnética en el HGR 1 Orizaba</a:t>
                      </a:r>
                    </a:p>
                  </a:txBody>
                  <a:tcPr>
                    <a:solidFill>
                      <a:srgbClr val="D9D9D9"/>
                    </a:solidFill>
                  </a:tcPr>
                </a:tc>
                <a:tc>
                  <a:txBody>
                    <a:bodyPr/>
                    <a:lstStyle/>
                    <a:p>
                      <a:pPr algn="ctr">
                        <a:defRPr sz="1000">
                          <a:latin typeface="Montserrat"/>
                        </a:defRPr>
                      </a:pPr>
                      <a:r>
                        <a:t>$85.2</a:t>
                      </a:r>
                    </a:p>
                  </a:txBody>
                  <a:tcPr>
                    <a:solidFill>
                      <a:srgbClr val="D9D9D9"/>
                    </a:solidFill>
                  </a:tcPr>
                </a:tc>
              </a:tr>
              <a:tr h="302398">
                <a:tc>
                  <a:txBody>
                    <a:bodyPr/>
                    <a:lstStyle/>
                    <a:p>
                      <a:pPr algn="l">
                        <a:defRPr sz="1000">
                          <a:latin typeface="Montserrat"/>
                        </a:defRPr>
                      </a:pPr>
                      <a:r>
                        <a:t>Ampliación y remodelacion UMF 68 Laboratorio y gobierno (Sin ganancia de consultorios)</a:t>
                      </a:r>
                    </a:p>
                  </a:txBody>
                  <a:tcPr>
                    <a:solidFill>
                      <a:srgbClr val="FFFFFF"/>
                    </a:solidFill>
                  </a:tcPr>
                </a:tc>
                <a:tc>
                  <a:txBody>
                    <a:bodyPr/>
                    <a:lstStyle/>
                    <a:p>
                      <a:pPr algn="ctr">
                        <a:defRPr sz="1000">
                          <a:latin typeface="Montserrat"/>
                        </a:defRPr>
                      </a:pPr>
                      <a:r>
                        <a:t>$0.0</a:t>
                      </a:r>
                    </a:p>
                  </a:txBody>
                  <a:tcPr>
                    <a:solidFill>
                      <a:srgbClr val="FFFFFF"/>
                    </a:solidFill>
                  </a:tcPr>
                </a:tc>
              </a:tr>
              <a:tr h="302402">
                <a:tc>
                  <a:txBody>
                    <a:bodyPr/>
                    <a:lstStyle/>
                    <a:p>
                      <a:pPr algn="l">
                        <a:defRPr sz="1000" b="1">
                          <a:solidFill>
                            <a:srgbClr val="FFFFFF"/>
                          </a:solidFill>
                          <a:latin typeface="Montserrat"/>
                        </a:defRPr>
                      </a:pPr>
                      <a:r>
                        <a:t>SUBTOTAL</a:t>
                      </a:r>
                    </a:p>
                  </a:txBody>
                  <a:tcPr>
                    <a:solidFill>
                      <a:srgbClr val="9F2241"/>
                    </a:solidFill>
                  </a:tcPr>
                </a:tc>
                <a:tc>
                  <a:txBody>
                    <a:bodyPr/>
                    <a:lstStyle/>
                    <a:p>
                      <a:pPr algn="ctr">
                        <a:defRPr sz="1000" b="1">
                          <a:solidFill>
                            <a:srgbClr val="FFFFFF"/>
                          </a:solidFill>
                          <a:latin typeface="Montserrat"/>
                        </a:defRPr>
                      </a:pPr>
                      <a:r>
                        <a:t>$2,795.2</a:t>
                      </a:r>
                    </a:p>
                  </a:txBody>
                  <a:tcPr>
                    <a:solidFill>
                      <a:srgbClr val="9F2241"/>
                    </a:solidFill>
                  </a:tcPr>
                </a:tc>
              </a:tr>
            </a:tbl>
          </a:graphicData>
        </a:graphic>
      </p:graphicFrame>
      <p:graphicFrame>
        <p:nvGraphicFramePr>
          <p:cNvPr id="21" name="Table 20"/>
          <p:cNvGraphicFramePr>
            <a:graphicFrameLocks noGrp="1"/>
          </p:cNvGraphicFramePr>
          <p:nvPr/>
        </p:nvGraphicFramePr>
        <p:xfrm>
          <a:off x="691200" y="327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3959992"/>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464399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sp>
        <p:nvSpPr>
          <p:cNvPr id="24" name="TextBox 23"/>
          <p:cNvSpPr txBox="1"/>
          <p:nvPr/>
        </p:nvSpPr>
        <p:spPr>
          <a:xfrm>
            <a:off x="5936399" y="1018800"/>
            <a:ext cx="1306800" cy="338400"/>
          </a:xfrm>
          <a:prstGeom prst="rect">
            <a:avLst/>
          </a:prstGeom>
          <a:noFill/>
        </p:spPr>
        <p:txBody>
          <a:bodyPr wrap="none">
            <a:spAutoFit/>
          </a:bodyPr>
          <a:lstStyle/>
          <a:p>
            <a:pPr algn="ctr">
              <a:defRPr sz="1400" b="1">
                <a:solidFill>
                  <a:srgbClr val="FFFFFF"/>
                </a:solidFill>
                <a:latin typeface="Montserrat"/>
              </a:defRPr>
            </a:pPr>
            <a:r>
              <a:t>2,795.2 mdp</a:t>
            </a:r>
          </a:p>
        </p:txBody>
      </p:sp>
      <p:graphicFrame>
        <p:nvGraphicFramePr>
          <p:cNvPr id="25" name="Table 24"/>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17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8 Reserva IMSS</a:t>
                      </a:r>
                    </a:p>
                  </a:txBody>
                  <a:tcPr marL="72000" marR="72000" anchor="ctr">
                    <a:noFill/>
                  </a:tcPr>
                </a:tc>
                <a:tc>
                  <a:txBody>
                    <a:bodyPr/>
                    <a:lstStyle/>
                    <a:p>
                      <a:pPr algn="ctr">
                        <a:defRPr sz="1200" b="0">
                          <a:solidFill>
                            <a:srgbClr val="FFFFFF"/>
                          </a:solidFill>
                          <a:latin typeface="Montserrat"/>
                        </a:defRPr>
                      </a:pPr>
                      <a:r>
                        <a:t>Atoyac, Catemaco, Coatzacoalcos, Córdoba, Isla, Jáltipan, Martínez de la Torre, Paso del Macho, Tres Valles, Xalapa</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9 Donación</a:t>
                      </a:r>
                    </a:p>
                  </a:txBody>
                  <a:tcPr marL="72000" marR="72000" anchor="ctr">
                    <a:noFill/>
                  </a:tcPr>
                </a:tc>
                <a:tc>
                  <a:txBody>
                    <a:bodyPr/>
                    <a:lstStyle/>
                    <a:p>
                      <a:pPr algn="ctr">
                        <a:defRPr sz="1200" b="0">
                          <a:solidFill>
                            <a:srgbClr val="FFFFFF"/>
                          </a:solidFill>
                          <a:latin typeface="Montserrat"/>
                        </a:defRPr>
                      </a:pPr>
                      <a:r>
                        <a:t>Acayucan, Cerro Azul, Cosamaloapan, Emiliano Zapata (2), Lerdo de Tejada, Mariano Escobedo, Veracruz (3)</a:t>
                      </a:r>
                    </a:p>
                  </a:txBody>
                  <a:tcPr marL="72000" marR="72000" anchor="ctr">
                    <a:noFill/>
                  </a:tcPr>
                </a:tc>
              </a:tr>
            </a:tbl>
          </a:graphicData>
        </a:graphic>
      </p:graphicFrame>
      <p:sp>
        <p:nvSpPr>
          <p:cNvPr id="26" name="Oval 25"/>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90</a:t>
            </a:r>
          </a:p>
        </p:txBody>
      </p:sp>
      <p:sp>
        <p:nvSpPr>
          <p:cNvPr id="27" name="Rectangle 26"/>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63 CECI IMSS</a:t>
            </a:r>
          </a:p>
          <a:p>
            <a:pPr algn="ctr">
              <a:defRPr sz="1500" b="1">
                <a:solidFill>
                  <a:srgbClr val="FFFFFF"/>
                </a:solidFill>
                <a:latin typeface="Montserrat"/>
              </a:defRPr>
            </a:pPr>
            <a:r>
              <a:t>27 CECI CAMPO</a:t>
            </a:r>
          </a:p>
        </p:txBody>
      </p:sp>
      <p:sp>
        <p:nvSpPr>
          <p:cNvPr id="28" name="TextBox 27"/>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1/Terrenos validados. CECI Córdoba 110 niños, Tres Valles 110 niños, Jáltipan 110 niños Coatzacoalcos 110 niños, adjudicados. Para entregar a SICT: 1 en Paso del Macho. En integración de expediente para donación: 10 en Cosamaloapan, Mariano Escobedo, Acayucan, Emiliano Zapata, Veracruz, San Rafael, y Xalapa.</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VERACRUZ</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57 </a:t>
                      </a:r>
                      <a:r>
                        <a:rPr b="1" sz="1000">
                          <a:latin typeface="Montserrat"/>
                        </a:rPr>
                        <a:t>unidades</a:t>
                      </a:r>
                    </a:p>
                    <a:p>
                      <a:pPr algn="ctr">
                        <a:defRPr sz="1000">
                          <a:solidFill>
                            <a:srgbClr val="505050"/>
                          </a:solidFill>
                          <a:latin typeface="Montserrat"/>
                        </a:defRPr>
                      </a:pPr>
                      <a:r>
                        <a:t>3 directas</a:t>
                      </a:r>
                    </a:p>
                    <a:p>
                      <a:pPr algn="ctr">
                        <a:defRPr sz="1000">
                          <a:solidFill>
                            <a:srgbClr val="505050"/>
                          </a:solidFill>
                          <a:latin typeface="Montserrat"/>
                        </a:defRPr>
                      </a:pPr>
                      <a:r>
                        <a:t>54 indirectas</a:t>
                      </a:r>
                    </a:p>
                  </a:txBody>
                  <a:tcPr anchor="ctr">
                    <a:solidFill>
                      <a:srgbClr val="FFFFFF"/>
                    </a:solidFill>
                  </a:tcPr>
                </a:tc>
                <a:tc>
                  <a:txBody>
                    <a:bodyPr/>
                    <a:lstStyle/>
                    <a:p>
                      <a:pPr algn="ctr"/>
                      <a:r>
                        <a:rPr b="1" sz="1000">
                          <a:latin typeface="Montserrat"/>
                        </a:rPr>
                        <a:t>6,524 </a:t>
                      </a:r>
                      <a:r>
                        <a:rPr b="1" sz="1000">
                          <a:latin typeface="Montserrat"/>
                        </a:rPr>
                        <a:t>inscritos</a:t>
                      </a:r>
                    </a:p>
                    <a:p>
                      <a:pPr algn="ctr">
                        <a:defRPr sz="1000">
                          <a:solidFill>
                            <a:srgbClr val="505050"/>
                          </a:solidFill>
                          <a:latin typeface="Montserrat"/>
                        </a:defRPr>
                      </a:pPr>
                      <a:r>
                        <a:t>329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418319">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418319">
                <a:tc>
                  <a:txBody>
                    <a:bodyPr/>
                    <a:lstStyle/>
                    <a:p>
                      <a:pPr algn="ctr">
                        <a:defRPr sz="800" b="1">
                          <a:latin typeface="Montserrat"/>
                        </a:defRPr>
                      </a:pPr>
                      <a:r>
                        <a:t>1 Laboratorio de STyA</a:t>
                      </a:r>
                    </a:p>
                  </a:txBody>
                  <a:tcPr anchor="ctr" marL="28800" marR="28800" marT="0" marB="0">
                    <a:solidFill>
                      <a:srgbClr val="FFFFFF"/>
                    </a:solidFill>
                  </a:tcPr>
                </a:tc>
                <a:tc>
                  <a:txBody>
                    <a:bodyPr/>
                    <a:lstStyle/>
                    <a:p>
                      <a:pPr algn="ctr">
                        <a:defRPr sz="800">
                          <a:latin typeface="Montserrat"/>
                        </a:defRPr>
                      </a:pPr>
                      <a:r>
                        <a:t>HGR 1, Orizaba, Ver.</a:t>
                      </a:r>
                    </a:p>
                  </a:txBody>
                  <a:tcPr anchor="ctr" marL="28800" marR="28800" marT="0" marB="0">
                    <a:solidFill>
                      <a:srgbClr val="FFFFFF"/>
                    </a:solidFill>
                  </a:tcPr>
                </a:tc>
              </a:tr>
              <a:tr h="418319">
                <a:tc>
                  <a:txBody>
                    <a:bodyPr/>
                    <a:lstStyle/>
                    <a:p>
                      <a:pPr algn="ctr">
                        <a:defRPr sz="800" b="1">
                          <a:latin typeface="Montserrat"/>
                        </a:defRPr>
                      </a:pPr>
                      <a:r>
                        <a:t>1 CRESTCAP</a:t>
                      </a:r>
                    </a:p>
                  </a:txBody>
                  <a:tcPr anchor="ctr" marL="28800" marR="28800" marT="0" marB="0">
                    <a:solidFill>
                      <a:srgbClr val="EFEFEF"/>
                    </a:solidFill>
                  </a:tcPr>
                </a:tc>
                <a:tc>
                  <a:txBody>
                    <a:bodyPr/>
                    <a:lstStyle/>
                    <a:p>
                      <a:pPr algn="ctr">
                        <a:defRPr sz="800">
                          <a:latin typeface="Montserrat"/>
                        </a:defRPr>
                      </a:pPr>
                      <a:r>
                        <a:t>Jalapa y Coatzacoalcos</a:t>
                      </a:r>
                    </a:p>
                  </a:txBody>
                  <a:tcPr anchor="ctr" marL="28800" marR="28800" marT="0" marB="0">
                    <a:solidFill>
                      <a:srgbClr val="EFEFEF"/>
                    </a:solidFill>
                  </a:tcPr>
                </a:tc>
              </a:tr>
              <a:tr h="418319">
                <a:tc>
                  <a:txBody>
                    <a:bodyPr/>
                    <a:lstStyle/>
                    <a:p>
                      <a:pPr algn="ctr">
                        <a:defRPr sz="800" b="1">
                          <a:latin typeface="Montserrat"/>
                        </a:defRPr>
                      </a:pPr>
                      <a:r>
                        <a:t>10  Centros de Seguridad Social</a:t>
                      </a:r>
                    </a:p>
                  </a:txBody>
                  <a:tcPr anchor="ctr" marL="28800" marR="28800" marT="0" marB="0">
                    <a:solidFill>
                      <a:srgbClr val="FFFFFF"/>
                    </a:solidFill>
                  </a:tcPr>
                </a:tc>
                <a:tc>
                  <a:txBody>
                    <a:bodyPr/>
                    <a:lstStyle/>
                    <a:p>
                      <a:pPr algn="ctr">
                        <a:defRPr sz="800">
                          <a:latin typeface="Montserrat"/>
                        </a:defRPr>
                      </a:pPr>
                      <a:r>
                        <a:t>Coatepec, Xalapa, Tuxpan, Boca del Río, Tlapacoyan, Poza Rica, Córdoba, Coatzacoalcos, Cosamaloapan y Orizaba</a:t>
                      </a:r>
                    </a:p>
                  </a:txBody>
                  <a:tcPr anchor="ctr" marL="28800" marR="28800" marT="0" marB="0">
                    <a:solidFill>
                      <a:srgbClr val="FFFFFF"/>
                    </a:solidFill>
                  </a:tcPr>
                </a:tc>
              </a:tr>
              <a:tr h="418323">
                <a:tc>
                  <a:txBody>
                    <a:bodyPr/>
                    <a:lstStyle/>
                    <a:p>
                      <a:pPr algn="ctr">
                        <a:defRPr sz="800" b="1">
                          <a:latin typeface="Montserrat"/>
                        </a:defRPr>
                      </a:pPr>
                      <a:r>
                        <a:t>1 Teatro</a:t>
                      </a:r>
                    </a:p>
                  </a:txBody>
                  <a:tcPr anchor="ctr" marL="28800" marR="28800" marT="0" marB="0">
                    <a:solidFill>
                      <a:srgbClr val="EFEFEF"/>
                    </a:solidFill>
                  </a:tcPr>
                </a:tc>
                <a:tc>
                  <a:txBody>
                    <a:bodyPr/>
                    <a:lstStyle/>
                    <a:p>
                      <a:pPr algn="ctr">
                        <a:defRPr sz="800">
                          <a:latin typeface="Montserrat"/>
                        </a:defRPr>
                      </a:pPr>
                      <a:r>
                        <a:t>Córdoba</a:t>
                      </a:r>
                    </a:p>
                  </a:txBody>
                  <a:tcPr anchor="ctr" marL="28800" marR="28800" marT="0" marB="0">
                    <a:solidFill>
                      <a:srgbClr val="EFEFE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2724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272400">
                <a:tc>
                  <a:txBody>
                    <a:bodyPr/>
                    <a:lstStyle/>
                    <a:p>
                      <a:pPr algn="ctr">
                        <a:defRPr sz="800" b="1">
                          <a:latin typeface="Montserrat"/>
                        </a:defRPr>
                      </a:pPr>
                      <a:r>
                        <a:t>6 Tiendas IMSS-SNTSS</a:t>
                      </a:r>
                    </a:p>
                  </a:txBody>
                  <a:tcPr anchor="ctr" marL="28800" marR="28800" marT="0" marB="0">
                    <a:solidFill>
                      <a:srgbClr val="FFFFFF"/>
                    </a:solidFill>
                  </a:tcPr>
                </a:tc>
                <a:tc>
                  <a:txBody>
                    <a:bodyPr/>
                    <a:lstStyle/>
                    <a:p>
                      <a:pPr algn="ctr">
                        <a:defRPr sz="800">
                          <a:latin typeface="Montserrat"/>
                        </a:defRPr>
                      </a:pPr>
                      <a:r>
                        <a:t>No. 84 Cosamaloapan, No. 124 Minatitlán, No. 57 Orizaba, No. 160 Tierra Blanca, No. 54 Xalapa y 55 Veracruz</a:t>
                      </a:r>
                    </a:p>
                  </a:txBody>
                  <a:tcPr anchor="ctr" marL="28800" marR="28800" marT="0" marB="0">
                    <a:solidFill>
                      <a:srgbClr val="FFFFFF"/>
                    </a:solidFill>
                  </a:tcPr>
                </a:tc>
              </a:tr>
              <a:tr h="272400">
                <a:tc>
                  <a:txBody>
                    <a:bodyPr/>
                    <a:lstStyle/>
                    <a:p>
                      <a:pPr algn="ctr">
                        <a:defRPr sz="800" b="1">
                          <a:latin typeface="Montserrat"/>
                        </a:defRPr>
                      </a:pPr>
                      <a:r>
                        <a:t>1 Velatorio</a:t>
                      </a:r>
                    </a:p>
                  </a:txBody>
                  <a:tcPr anchor="ctr" marL="28800" marR="28800" marT="0" marB="0">
                    <a:solidFill>
                      <a:srgbClr val="EFEFEF"/>
                    </a:solidFill>
                  </a:tcPr>
                </a:tc>
                <a:tc>
                  <a:txBody>
                    <a:bodyPr/>
                    <a:lstStyle/>
                    <a:p>
                      <a:pPr algn="ctr">
                        <a:defRPr sz="800">
                          <a:latin typeface="Montserrat"/>
                        </a:defRPr>
                      </a:pPr>
                      <a:r>
                        <a:t>Veracruz</a:t>
                      </a:r>
                    </a:p>
                  </a:txBody>
                  <a:tcPr anchor="ctr" marL="28800" marR="28800" marT="0" marB="0">
                    <a:solidFill>
                      <a:srgbClr val="EFEFEF"/>
                    </a:solidFill>
                  </a:tcPr>
                </a:tc>
              </a:tr>
            </a:tbl>
          </a:graphicData>
        </a:graphic>
      </p:graphicFrame>
      <p:pic>
        <p:nvPicPr>
          <p:cNvPr id="470" name="Picture 469" descr="map_tipo2_30_ver.png"/>
          <p:cNvPicPr>
            <a:picLocks noChangeAspect="1"/>
          </p:cNvPicPr>
          <p:nvPr/>
        </p:nvPicPr>
        <p:blipFill>
          <a:blip r:embed="rId6"/>
          <a:stretch>
            <a:fillRect/>
          </a:stretch>
        </p:blipFill>
        <p:spPr>
          <a:xfrm>
            <a:off x="2822400" y="5929200"/>
            <a:ext cx="4014000" cy="3101727"/>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57</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a:txBody>
                    <a:bodyPr/>
                    <a:lstStyle/>
                    <a:p>
                      <a:pPr algn="ctr">
                        <a:defRPr sz="850">
                          <a:latin typeface="Montserrat"/>
                        </a:defRPr>
                      </a:pPr>
                      <a:r>
                        <a:t>Secretaría de Educación</a:t>
                      </a:r>
                    </a:p>
                  </a:txBody>
                  <a:tcPr anchor="ctr">
                    <a:solidFill>
                      <a:srgbClr val="FFFFFF"/>
                    </a:solidFill>
                  </a:tcPr>
                </a:tc>
                <a:tc>
                  <a:txBody>
                    <a:bodyPr/>
                    <a:lstStyle/>
                    <a:p>
                      <a:pPr algn="ctr">
                        <a:defRPr sz="850">
                          <a:latin typeface="Montserrat"/>
                        </a:defRPr>
                      </a:pPr>
                      <a:r>
                        <a:t>55,512</a:t>
                      </a:r>
                    </a:p>
                  </a:txBody>
                  <a:tcPr anchor="ctr">
                    <a:solidFill>
                      <a:srgbClr val="FFFFFF"/>
                    </a:solidFill>
                  </a:tcPr>
                </a:tc>
                <a:tc>
                  <a:txBody>
                    <a:bodyPr/>
                    <a:lstStyle/>
                    <a:p>
                      <a:pPr algn="ctr">
                        <a:defRPr sz="850">
                          <a:latin typeface="Montserrat"/>
                        </a:defRPr>
                      </a:pPr>
                      <a:r>
                        <a:t>55,730</a:t>
                      </a:r>
                    </a:p>
                  </a:txBody>
                  <a:tcPr anchor="ctr">
                    <a:solidFill>
                      <a:srgbClr val="FFFFFF"/>
                    </a:solidFill>
                  </a:tcPr>
                </a:tc>
                <a:tc>
                  <a:txBody>
                    <a:bodyPr/>
                    <a:lstStyle/>
                    <a:p>
                      <a:pPr algn="ctr">
                        <a:defRPr sz="850" b="1">
                          <a:solidFill>
                            <a:srgbClr val="006455"/>
                          </a:solidFill>
                          <a:latin typeface="Montserrat"/>
                        </a:defRPr>
                      </a:pPr>
                      <a:r>
                        <a:t>0.4%</a:t>
                      </a:r>
                    </a:p>
                  </a:txBody>
                  <a:tcPr anchor="ctr">
                    <a:solidFill>
                      <a:srgbClr val="FFFFFF"/>
                    </a:solidFill>
                  </a:tcPr>
                </a:tc>
                <a:tc>
                  <a:txBody>
                    <a:bodyPr/>
                    <a:lstStyle/>
                    <a:p>
                      <a:pPr algn="ctr">
                        <a:defRPr sz="850">
                          <a:latin typeface="Montserrat"/>
                        </a:defRPr>
                      </a:pPr>
                      <a:r>
                        <a:t>Cadena Comercial OXXO S.A. de C.V.</a:t>
                      </a:r>
                    </a:p>
                  </a:txBody>
                  <a:tcPr anchor="ctr">
                    <a:solidFill>
                      <a:srgbClr val="FFFFFF"/>
                    </a:solidFill>
                  </a:tcPr>
                </a:tc>
                <a:tc>
                  <a:txBody>
                    <a:bodyPr/>
                    <a:lstStyle/>
                    <a:p>
                      <a:pPr algn="ctr">
                        <a:defRPr sz="850">
                          <a:latin typeface="Montserrat"/>
                        </a:defRPr>
                      </a:pPr>
                      <a:r>
                        <a:t>8,802</a:t>
                      </a:r>
                    </a:p>
                  </a:txBody>
                  <a:tcPr anchor="ctr">
                    <a:solidFill>
                      <a:srgbClr val="FFFFFF"/>
                    </a:solidFill>
                  </a:tcPr>
                </a:tc>
                <a:tc>
                  <a:txBody>
                    <a:bodyPr/>
                    <a:lstStyle/>
                    <a:p>
                      <a:pPr algn="ctr">
                        <a:defRPr sz="850">
                          <a:latin typeface="Montserrat"/>
                        </a:defRPr>
                      </a:pPr>
                      <a:r>
                        <a:t>8,821</a:t>
                      </a:r>
                    </a:p>
                  </a:txBody>
                  <a:tcPr anchor="ctr">
                    <a:solidFill>
                      <a:srgbClr val="FFFFFF"/>
                    </a:solidFill>
                  </a:tcPr>
                </a:tc>
                <a:tc>
                  <a:txBody>
                    <a:bodyPr/>
                    <a:lstStyle/>
                    <a:p>
                      <a:pPr algn="ctr">
                        <a:defRPr sz="850" b="1">
                          <a:solidFill>
                            <a:srgbClr val="006455"/>
                          </a:solidFill>
                          <a:latin typeface="Montserrat"/>
                        </a:defRPr>
                      </a:pPr>
                      <a:r>
                        <a:t>0.2%</a:t>
                      </a:r>
                    </a:p>
                  </a:txBody>
                  <a:tcPr anchor="ctr">
                    <a:solidFill>
                      <a:srgbClr val="FFFFFF"/>
                    </a:solidFill>
                  </a:tcPr>
                </a:tc>
              </a:tr>
              <a:tr h="490320">
                <a:tc>
                  <a:txBody>
                    <a:bodyPr/>
                    <a:lstStyle/>
                    <a:p>
                      <a:pPr algn="ctr">
                        <a:defRPr sz="850">
                          <a:latin typeface="Montserrat"/>
                        </a:defRPr>
                      </a:pPr>
                      <a:r>
                        <a:t>Instituto Mexicano del Seguro Social</a:t>
                      </a:r>
                    </a:p>
                  </a:txBody>
                  <a:tcPr anchor="ctr">
                    <a:solidFill>
                      <a:srgbClr val="D9D9D9"/>
                    </a:solidFill>
                  </a:tcPr>
                </a:tc>
                <a:tc>
                  <a:txBody>
                    <a:bodyPr/>
                    <a:lstStyle/>
                    <a:p>
                      <a:pPr algn="ctr">
                        <a:defRPr sz="850">
                          <a:latin typeface="Montserrat"/>
                        </a:defRPr>
                      </a:pPr>
                      <a:r>
                        <a:t>26,565</a:t>
                      </a:r>
                    </a:p>
                  </a:txBody>
                  <a:tcPr anchor="ctr">
                    <a:solidFill>
                      <a:srgbClr val="D9D9D9"/>
                    </a:solidFill>
                  </a:tcPr>
                </a:tc>
                <a:tc>
                  <a:txBody>
                    <a:bodyPr/>
                    <a:lstStyle/>
                    <a:p>
                      <a:pPr algn="ctr">
                        <a:defRPr sz="850">
                          <a:latin typeface="Montserrat"/>
                        </a:defRPr>
                      </a:pPr>
                      <a:r>
                        <a:t>26,697</a:t>
                      </a:r>
                    </a:p>
                  </a:txBody>
                  <a:tcPr anchor="ctr">
                    <a:solidFill>
                      <a:srgbClr val="D9D9D9"/>
                    </a:solidFill>
                  </a:tcPr>
                </a:tc>
                <a:tc>
                  <a:txBody>
                    <a:bodyPr/>
                    <a:lstStyle/>
                    <a:p>
                      <a:pPr algn="ctr">
                        <a:defRPr sz="850" b="1">
                          <a:solidFill>
                            <a:srgbClr val="006455"/>
                          </a:solidFill>
                          <a:latin typeface="Montserrat"/>
                        </a:defRPr>
                      </a:pPr>
                      <a:r>
                        <a:t>0.5%</a:t>
                      </a:r>
                    </a:p>
                  </a:txBody>
                  <a:tcPr anchor="ctr">
                    <a:solidFill>
                      <a:srgbClr val="D9D9D9"/>
                    </a:solidFill>
                  </a:tcPr>
                </a:tc>
                <a:tc>
                  <a:txBody>
                    <a:bodyPr/>
                    <a:lstStyle/>
                    <a:p>
                      <a:pPr algn="ctr">
                        <a:defRPr sz="850">
                          <a:latin typeface="Montserrat"/>
                        </a:defRPr>
                      </a:pPr>
                      <a:r>
                        <a:t>Tiendas Chedraui S.A. de C.V.</a:t>
                      </a:r>
                    </a:p>
                  </a:txBody>
                  <a:tcPr anchor="ctr">
                    <a:solidFill>
                      <a:srgbClr val="D9D9D9"/>
                    </a:solidFill>
                  </a:tcPr>
                </a:tc>
                <a:tc>
                  <a:txBody>
                    <a:bodyPr/>
                    <a:lstStyle/>
                    <a:p>
                      <a:pPr algn="ctr">
                        <a:defRPr sz="850">
                          <a:latin typeface="Montserrat"/>
                        </a:defRPr>
                      </a:pPr>
                      <a:r>
                        <a:t>8,199</a:t>
                      </a:r>
                    </a:p>
                  </a:txBody>
                  <a:tcPr anchor="ctr">
                    <a:solidFill>
                      <a:srgbClr val="D9D9D9"/>
                    </a:solidFill>
                  </a:tcPr>
                </a:tc>
                <a:tc>
                  <a:txBody>
                    <a:bodyPr/>
                    <a:lstStyle/>
                    <a:p>
                      <a:pPr algn="ctr">
                        <a:defRPr sz="850">
                          <a:latin typeface="Montserrat"/>
                        </a:defRPr>
                      </a:pPr>
                      <a:r>
                        <a:t>8,141</a:t>
                      </a:r>
                    </a:p>
                  </a:txBody>
                  <a:tcPr anchor="ctr">
                    <a:solidFill>
                      <a:srgbClr val="D9D9D9"/>
                    </a:solidFill>
                  </a:tcPr>
                </a:tc>
                <a:tc>
                  <a:txBody>
                    <a:bodyPr/>
                    <a:lstStyle/>
                    <a:p>
                      <a:pPr algn="ctr">
                        <a:defRPr sz="850" b="1">
                          <a:solidFill>
                            <a:srgbClr val="691C32"/>
                          </a:solidFill>
                          <a:latin typeface="Montserrat"/>
                        </a:defRPr>
                      </a:pPr>
                      <a:r>
                        <a:t>-0.7%</a:t>
                      </a:r>
                    </a:p>
                  </a:txBody>
                  <a:tcPr anchor="ctr">
                    <a:solidFill>
                      <a:srgbClr val="D9D9D9"/>
                    </a:solidFill>
                  </a:tcPr>
                </a:tc>
              </a:tr>
              <a:tr h="490320">
                <a:tc>
                  <a:txBody>
                    <a:bodyPr/>
                    <a:lstStyle/>
                    <a:p>
                      <a:pPr algn="ctr">
                        <a:defRPr sz="850">
                          <a:latin typeface="Montserrat"/>
                        </a:defRPr>
                      </a:pPr>
                      <a:r>
                        <a:t>Gobierno del Estado de Veracruz Poder Ejecutivo</a:t>
                      </a:r>
                    </a:p>
                  </a:txBody>
                  <a:tcPr anchor="ctr">
                    <a:solidFill>
                      <a:srgbClr val="FFFFFF"/>
                    </a:solidFill>
                  </a:tcPr>
                </a:tc>
                <a:tc>
                  <a:txBody>
                    <a:bodyPr/>
                    <a:lstStyle/>
                    <a:p>
                      <a:pPr algn="ctr">
                        <a:defRPr sz="850">
                          <a:latin typeface="Montserrat"/>
                        </a:defRPr>
                      </a:pPr>
                      <a:r>
                        <a:t>21,262</a:t>
                      </a:r>
                    </a:p>
                  </a:txBody>
                  <a:tcPr anchor="ctr">
                    <a:solidFill>
                      <a:srgbClr val="FFFFFF"/>
                    </a:solidFill>
                  </a:tcPr>
                </a:tc>
                <a:tc>
                  <a:txBody>
                    <a:bodyPr/>
                    <a:lstStyle/>
                    <a:p>
                      <a:pPr algn="ctr">
                        <a:defRPr sz="850">
                          <a:latin typeface="Montserrat"/>
                        </a:defRPr>
                      </a:pPr>
                      <a:r>
                        <a:t>21,257</a:t>
                      </a:r>
                    </a:p>
                  </a:txBody>
                  <a:tcPr anchor="ctr">
                    <a:solidFill>
                      <a:srgbClr val="FFFFFF"/>
                    </a:solidFill>
                  </a:tcPr>
                </a:tc>
                <a:tc>
                  <a:txBody>
                    <a:bodyPr/>
                    <a:lstStyle/>
                    <a:p>
                      <a:pPr algn="ctr">
                        <a:defRPr sz="850">
                          <a:latin typeface="Montserrat"/>
                        </a:defRPr>
                      </a:pPr>
                      <a:r>
                        <a:t>0.0%</a:t>
                      </a:r>
                    </a:p>
                  </a:txBody>
                  <a:tcPr anchor="ctr">
                    <a:solidFill>
                      <a:srgbClr val="FFFFFF"/>
                    </a:solidFill>
                  </a:tcPr>
                </a:tc>
                <a:tc>
                  <a:txBody>
                    <a:bodyPr/>
                    <a:lstStyle/>
                    <a:p>
                      <a:pPr algn="ctr">
                        <a:defRPr sz="850">
                          <a:latin typeface="Montserrat"/>
                        </a:defRPr>
                      </a:pPr>
                      <a:r>
                        <a:t>Coppel S.A. de C.V.</a:t>
                      </a:r>
                    </a:p>
                  </a:txBody>
                  <a:tcPr anchor="ctr">
                    <a:solidFill>
                      <a:srgbClr val="FFFFFF"/>
                    </a:solidFill>
                  </a:tcPr>
                </a:tc>
                <a:tc>
                  <a:txBody>
                    <a:bodyPr/>
                    <a:lstStyle/>
                    <a:p>
                      <a:pPr algn="ctr">
                        <a:defRPr sz="850">
                          <a:latin typeface="Montserrat"/>
                        </a:defRPr>
                      </a:pPr>
                      <a:r>
                        <a:t>6,870</a:t>
                      </a:r>
                    </a:p>
                  </a:txBody>
                  <a:tcPr anchor="ctr">
                    <a:solidFill>
                      <a:srgbClr val="FFFFFF"/>
                    </a:solidFill>
                  </a:tcPr>
                </a:tc>
                <a:tc>
                  <a:txBody>
                    <a:bodyPr/>
                    <a:lstStyle/>
                    <a:p>
                      <a:pPr algn="ctr">
                        <a:defRPr sz="850">
                          <a:latin typeface="Montserrat"/>
                        </a:defRPr>
                      </a:pPr>
                      <a:r>
                        <a:t>6,869</a:t>
                      </a:r>
                    </a:p>
                  </a:txBody>
                  <a:tcPr anchor="ctr">
                    <a:solidFill>
                      <a:srgbClr val="FFFFFF"/>
                    </a:solidFill>
                  </a:tcPr>
                </a:tc>
                <a:tc>
                  <a:txBody>
                    <a:bodyPr/>
                    <a:lstStyle/>
                    <a:p>
                      <a:pPr algn="ctr">
                        <a:defRPr sz="850">
                          <a:latin typeface="Montserrat"/>
                        </a:defRPr>
                      </a:pPr>
                      <a:r>
                        <a:t>0.0%</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-10.49%</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-3.39%</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-2.09%</a:t>
            </a:r>
          </a:p>
        </p:txBody>
      </p:sp>
      <p:sp>
        <p:nvSpPr>
          <p:cNvPr id="484" name="Rounded Rectangle 483"/>
          <p:cNvSpPr/>
          <p:nvPr/>
        </p:nvSpPr>
        <p:spPr>
          <a:xfrm>
            <a:off x="7020000" y="4968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-0.33%</a:t>
            </a:r>
          </a:p>
        </p:txBody>
      </p:sp>
      <p:sp>
        <p:nvSpPr>
          <p:cNvPr id="485" name="Rounded Rectangle 484"/>
          <p:cNvSpPr/>
          <p:nvPr/>
        </p:nvSpPr>
        <p:spPr>
          <a:xfrm>
            <a:off x="7020000" y="5364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-0.09%</a:t>
            </a:r>
          </a:p>
        </p:txBody>
      </p:sp>
      <p:sp>
        <p:nvSpPr>
          <p:cNvPr id="486" name="Rounded Rectangle 485"/>
          <p:cNvSpPr/>
          <p:nvPr/>
        </p:nvSpPr>
        <p:spPr>
          <a:xfrm>
            <a:off x="7020000" y="576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-0.06%</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+0.74%</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+0.90%</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+1.48%</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627,758</a:t>
                      </a:r>
                    </a:p>
                  </a:txBody>
                  <a:tcPr>
                    <a:solidFill>
                      <a:srgbClr val="FFFFFF"/>
                    </a:solidFill>
                  </a:tcPr>
                </a:tc>
                <a:tc>
                  <a:txBody>
                    <a:bodyPr/>
                    <a:lstStyle/>
                    <a:p>
                      <a:pPr algn="ctr">
                        <a:defRPr sz="900">
                          <a:latin typeface="Montserrat"/>
                        </a:defRPr>
                      </a:pPr>
                      <a:r>
                        <a:t>29,223</a:t>
                      </a:r>
                    </a:p>
                  </a:txBody>
                  <a:tcPr>
                    <a:solidFill>
                      <a:srgbClr val="FFFFFF"/>
                    </a:solidFill>
                  </a:tcPr>
                </a:tc>
                <a:tc>
                  <a:txBody>
                    <a:bodyPr/>
                    <a:lstStyle/>
                    <a:p>
                      <a:pPr algn="ctr">
                        <a:defRPr sz="900">
                          <a:latin typeface="Montserrat"/>
                        </a:defRPr>
                      </a:pPr>
                      <a:r>
                        <a:t>105,958</a:t>
                      </a:r>
                    </a:p>
                  </a:txBody>
                  <a:tcPr>
                    <a:solidFill>
                      <a:srgbClr val="FFFFFF"/>
                    </a:solidFill>
                  </a:tcPr>
                </a:tc>
                <a:tc>
                  <a:txBody>
                    <a:bodyPr/>
                    <a:lstStyle/>
                    <a:p>
                      <a:pPr algn="ctr">
                        <a:defRPr sz="900">
                          <a:latin typeface="Montserrat"/>
                        </a:defRPr>
                      </a:pPr>
                      <a:r>
                        <a:t>17,874</a:t>
                      </a:r>
                    </a:p>
                  </a:txBody>
                  <a:tcPr>
                    <a:solidFill>
                      <a:srgbClr val="FFFFFF"/>
                    </a:solidFill>
                  </a:tcPr>
                </a:tc>
                <a:tc>
                  <a:txBody>
                    <a:bodyPr/>
                    <a:lstStyle/>
                    <a:p>
                      <a:pPr algn="ctr">
                        <a:defRPr sz="900">
                          <a:latin typeface="Montserrat"/>
                        </a:defRPr>
                      </a:pPr>
                      <a:r>
                        <a:t>780,813</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632,519</a:t>
                      </a:r>
                    </a:p>
                  </a:txBody>
                  <a:tcPr>
                    <a:solidFill>
                      <a:srgbClr val="D9D9D9"/>
                    </a:solidFill>
                  </a:tcPr>
                </a:tc>
                <a:tc>
                  <a:txBody>
                    <a:bodyPr/>
                    <a:lstStyle/>
                    <a:p>
                      <a:pPr algn="ctr">
                        <a:defRPr sz="900">
                          <a:latin typeface="Montserrat"/>
                        </a:defRPr>
                      </a:pPr>
                      <a:r>
                        <a:t>26,571</a:t>
                      </a:r>
                    </a:p>
                  </a:txBody>
                  <a:tcPr>
                    <a:solidFill>
                      <a:srgbClr val="D9D9D9"/>
                    </a:solidFill>
                  </a:tcPr>
                </a:tc>
                <a:tc>
                  <a:txBody>
                    <a:bodyPr/>
                    <a:lstStyle/>
                    <a:p>
                      <a:pPr algn="ctr">
                        <a:defRPr sz="900">
                          <a:latin typeface="Montserrat"/>
                        </a:defRPr>
                      </a:pPr>
                      <a:r>
                        <a:t>101,654</a:t>
                      </a:r>
                    </a:p>
                  </a:txBody>
                  <a:tcPr>
                    <a:solidFill>
                      <a:srgbClr val="D9D9D9"/>
                    </a:solidFill>
                  </a:tcPr>
                </a:tc>
                <a:tc>
                  <a:txBody>
                    <a:bodyPr/>
                    <a:lstStyle/>
                    <a:p>
                      <a:pPr algn="ctr">
                        <a:defRPr sz="900">
                          <a:latin typeface="Montserrat"/>
                        </a:defRPr>
                      </a:pPr>
                      <a:r>
                        <a:t>15,331</a:t>
                      </a:r>
                    </a:p>
                  </a:txBody>
                  <a:tcPr>
                    <a:solidFill>
                      <a:srgbClr val="D9D9D9"/>
                    </a:solidFill>
                  </a:tcPr>
                </a:tc>
                <a:tc>
                  <a:txBody>
                    <a:bodyPr/>
                    <a:lstStyle/>
                    <a:p>
                      <a:pPr algn="ctr">
                        <a:defRPr sz="900">
                          <a:latin typeface="Montserrat"/>
                        </a:defRPr>
                      </a:pPr>
                      <a:r>
                        <a:t>776,075</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1">
                          <a:solidFill>
                            <a:srgbClr val="006455"/>
                          </a:solidFill>
                          <a:latin typeface="Montserrat"/>
                        </a:defRPr>
                      </a:pPr>
                      <a:r>
                        <a:t>+0.8%</a:t>
                      </a:r>
                    </a:p>
                  </a:txBody>
                  <a:tcPr>
                    <a:solidFill>
                      <a:srgbClr val="FFFFFF"/>
                    </a:solidFill>
                  </a:tcPr>
                </a:tc>
                <a:tc>
                  <a:txBody>
                    <a:bodyPr/>
                    <a:lstStyle/>
                    <a:p>
                      <a:pPr algn="ctr">
                        <a:defRPr sz="900" b="0">
                          <a:solidFill>
                            <a:srgbClr val="691C32"/>
                          </a:solidFill>
                          <a:latin typeface="Montserrat"/>
                        </a:defRPr>
                      </a:pPr>
                      <a:r>
                        <a:t>-9.1%</a:t>
                      </a:r>
                    </a:p>
                  </a:txBody>
                  <a:tcPr>
                    <a:solidFill>
                      <a:srgbClr val="FFFFFF"/>
                    </a:solidFill>
                  </a:tcPr>
                </a:tc>
                <a:tc>
                  <a:txBody>
                    <a:bodyPr/>
                    <a:lstStyle/>
                    <a:p>
                      <a:pPr algn="ctr">
                        <a:defRPr sz="900" b="0">
                          <a:solidFill>
                            <a:srgbClr val="691C32"/>
                          </a:solidFill>
                          <a:latin typeface="Montserrat"/>
                        </a:defRPr>
                      </a:pPr>
                      <a:r>
                        <a:t>-4.1%</a:t>
                      </a:r>
                    </a:p>
                  </a:txBody>
                  <a:tcPr>
                    <a:solidFill>
                      <a:srgbClr val="FFFFFF"/>
                    </a:solidFill>
                  </a:tcPr>
                </a:tc>
                <a:tc>
                  <a:txBody>
                    <a:bodyPr/>
                    <a:lstStyle/>
                    <a:p>
                      <a:pPr algn="ctr">
                        <a:defRPr sz="900" b="0">
                          <a:solidFill>
                            <a:srgbClr val="691C32"/>
                          </a:solidFill>
                          <a:latin typeface="Montserrat"/>
                        </a:defRPr>
                      </a:pPr>
                      <a:r>
                        <a:t>-14.2%</a:t>
                      </a:r>
                    </a:p>
                  </a:txBody>
                  <a:tcPr>
                    <a:solidFill>
                      <a:srgbClr val="FFFFFF"/>
                    </a:solidFill>
                  </a:tcPr>
                </a:tc>
                <a:tc>
                  <a:txBody>
                    <a:bodyPr/>
                    <a:lstStyle/>
                    <a:p>
                      <a:pPr algn="ctr">
                        <a:defRPr sz="900" b="0">
                          <a:solidFill>
                            <a:srgbClr val="691C32"/>
                          </a:solidFill>
                          <a:latin typeface="Montserrat"/>
                        </a:defRPr>
                      </a:pPr>
                      <a:r>
                        <a:t>-0.6%</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CCD876A1-E3AF-88C2-A863-C9B44AAA3503}"/>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$620.05</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$350.25</a:t>
                      </a:r>
                    </a:p>
                  </a:txBody>
                  <a:tcPr anchor="ctr">
                    <a:solidFill>
                      <a:srgbClr val="EEEEEE"/>
                    </a:solidFill>
                  </a:tcPr>
                </a:tc>
                <a:tc>
                  <a:txBody>
                    <a:bodyPr/>
                    <a:lstStyle/>
                    <a:p>
                      <a:pPr algn="ctr">
                        <a:defRPr sz="1100" b="1">
                          <a:latin typeface="Montserrat"/>
                        </a:defRPr>
                      </a:pPr>
                      <a:r>
                        <a:t>$620.05</a:t>
                      </a:r>
                    </a:p>
                  </a:txBody>
                  <a:tcPr anchor="ctr">
                    <a:solidFill>
                      <a:srgbClr val="EEEEEE"/>
                    </a:solidFill>
                  </a:tcPr>
                </a:tc>
                <a:tc>
                  <a:txBody>
                    <a:bodyPr/>
                    <a:lstStyle/>
                    <a:p>
                      <a:pPr algn="ctr">
                        <a:defRPr sz="1100">
                          <a:latin typeface="Montserrat"/>
                        </a:defRPr>
                      </a:pPr>
                      <a:r>
                        <a:t>25.1%</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$18,601.5</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2339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rowSpan="3">
                  <a:txBody>
                    <a:bodyPr/>
                    <a:lstStyle/>
                    <a:p>
                      <a:pPr algn="ctr">
                        <a:defRPr sz="1100">
                          <a:solidFill>
                            <a:srgbClr val="FFFFFF"/>
                          </a:solidFill>
                          <a:latin typeface="Montserrat"/>
                        </a:defRPr>
                      </a:pPr>
                      <a:r>
                        <a:t>Principal deudor público</a:t>
                      </a:r>
                    </a:p>
                  </a:txBody>
                  <a:tcPr anchor="ctr">
                    <a:solidFill>
                      <a:srgbClr val="006455"/>
                    </a:solidFill>
                  </a:tcPr>
                </a:tc>
                <a:tc>
                  <a:txBody>
                    <a:bodyPr/>
                    <a:lstStyle/>
                    <a:p>
                      <a:pPr algn="ctr">
                        <a:defRPr sz="900">
                          <a:latin typeface="Montserrat"/>
                        </a:defRPr>
                      </a:pPr>
                      <a:r>
                        <a:t>Municipio de Tuxpan</a:t>
                      </a:r>
                    </a:p>
                  </a:txBody>
                  <a:tcPr>
                    <a:solidFill>
                      <a:srgbClr val="FFFFFF"/>
                    </a:solidFill>
                  </a:tcPr>
                </a:tc>
                <a:tc>
                  <a:txBody>
                    <a:bodyPr/>
                    <a:lstStyle/>
                    <a:p>
                      <a:pPr algn="ctr">
                        <a:defRPr sz="900">
                          <a:latin typeface="Montserrat"/>
                        </a:defRPr>
                      </a:pPr>
                      <a:r>
                        <a:t>$25.74</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Comisión Municipal de Agua y Saneamiento de Coatzacoalcos</a:t>
                      </a:r>
                    </a:p>
                  </a:txBody>
                  <a:tcPr>
                    <a:solidFill>
                      <a:srgbClr val="EEEEEE"/>
                    </a:solidFill>
                  </a:tcPr>
                </a:tc>
                <a:tc>
                  <a:txBody>
                    <a:bodyPr/>
                    <a:lstStyle/>
                    <a:p>
                      <a:pPr algn="ctr">
                        <a:defRPr sz="900">
                          <a:latin typeface="Montserrat"/>
                        </a:defRPr>
                      </a:pPr>
                      <a:r>
                        <a:t>$22.53</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Municipio de Lerdo de Tejada</a:t>
                      </a:r>
                    </a:p>
                  </a:txBody>
                  <a:tcPr>
                    <a:solidFill>
                      <a:srgbClr val="FFFFFF"/>
                    </a:solidFill>
                  </a:tcPr>
                </a:tc>
                <a:tc>
                  <a:txBody>
                    <a:bodyPr/>
                    <a:lstStyle/>
                    <a:p>
                      <a:pPr algn="ctr">
                        <a:defRPr sz="900">
                          <a:latin typeface="Montserrat"/>
                        </a:defRPr>
                      </a:pPr>
                      <a:r>
                        <a:t>$11.25</a:t>
                      </a:r>
                    </a:p>
                  </a:txBody>
                  <a:tcPr>
                    <a:solidFill>
                      <a:srgbClr val="FFFFFF"/>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Expectras SA de CV</a:t>
                      </a:r>
                    </a:p>
                  </a:txBody>
                  <a:tcPr>
                    <a:solidFill>
                      <a:srgbClr val="EEEEEE"/>
                    </a:solidFill>
                  </a:tcPr>
                </a:tc>
                <a:tc>
                  <a:txBody>
                    <a:bodyPr/>
                    <a:lstStyle/>
                    <a:p>
                      <a:pPr algn="ctr">
                        <a:defRPr sz="900">
                          <a:latin typeface="Montserrat"/>
                        </a:defRPr>
                      </a:pPr>
                      <a:r>
                        <a:t>$30.67</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Miguel Martínez Wong</a:t>
                      </a:r>
                    </a:p>
                  </a:txBody>
                  <a:tcPr>
                    <a:solidFill>
                      <a:srgbClr val="FFFFFF"/>
                    </a:solidFill>
                  </a:tcPr>
                </a:tc>
                <a:tc>
                  <a:txBody>
                    <a:bodyPr/>
                    <a:lstStyle/>
                    <a:p>
                      <a:pPr algn="ctr">
                        <a:defRPr sz="900">
                          <a:latin typeface="Montserrat"/>
                        </a:defRPr>
                      </a:pPr>
                      <a:r>
                        <a:t>$26.55</a:t>
                      </a:r>
                    </a:p>
                  </a:txBody>
                  <a:tcPr>
                    <a:solidFill>
                      <a:srgbClr val="FFFFFF"/>
                    </a:solidFill>
                  </a:tcPr>
                </a:tc>
              </a:tr>
              <a:tr h="288000">
                <a:tc vMerge="1">
                  <a:txBody>
                    <a:bodyPr/>
                    <a:lstStyle/>
                    <a:p/>
                  </a:txBody>
                  <a:tcPr>
                    <a:solidFill>
                      <a:srgbClr val="006455"/>
                    </a:solidFill>
                  </a:tcPr>
                </a:tc>
                <a:tc>
                  <a:txBody>
                    <a:bodyPr/>
                    <a:lstStyle/>
                    <a:p>
                      <a:pPr algn="ctr">
                        <a:defRPr sz="900">
                          <a:latin typeface="Montserrat"/>
                        </a:defRPr>
                      </a:pPr>
                      <a:r>
                        <a:t>Asociacion de Cañeros Propietarios R Ej y Com del Ing la Margarita A.C</a:t>
                      </a:r>
                    </a:p>
                  </a:txBody>
                  <a:tcPr>
                    <a:solidFill>
                      <a:srgbClr val="EEEEEE"/>
                    </a:solidFill>
                  </a:tcPr>
                </a:tc>
                <a:tc>
                  <a:txBody>
                    <a:bodyPr/>
                    <a:lstStyle/>
                    <a:p>
                      <a:pPr algn="ctr">
                        <a:defRPr sz="900">
                          <a:latin typeface="Montserrat"/>
                        </a:defRPr>
                      </a:pPr>
                      <a:r>
                        <a:t>$23.05</a:t>
                      </a:r>
                    </a:p>
                  </a:txBody>
                  <a:tcPr>
                    <a:solidFill>
                      <a:srgbClr val="EEEEEE"/>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05"/>
        <p:cNvGrpSpPr/>
        <p:nvPr/>
      </p:nvGrpSpPr>
      <p:grpSpPr>
        <a:xfrm>
          <a:off x="0" y="0"/>
          <a:ext cx="0" cy="0"/>
          <a:chOff x="0" y="0"/>
          <a:chExt cx="0" cy="0"/>
        </a:xfrm>
      </p:grpSpPr>
      <p:graphicFrame>
        <p:nvGraphicFramePr>
          <p:cNvPr id="512" name="Google Shape;512;g370e87ffe7a_0_0"/>
          <p:cNvGraphicFramePr/>
          <p:nvPr/>
        </p:nvGraphicFramePr>
        <p:xfrm>
          <a:off x="-126" y="2788487"/>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3. Productividad</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18" name="Google Shape;518;g370e87ffe7a_0_0"/>
          <p:cNvGraphicFramePr/>
          <p:nvPr/>
        </p:nvGraphicFramePr>
        <p:xfrm>
          <a:off x="0" y="5391789"/>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dirty="0">
                          <a:solidFill>
                            <a:srgbClr val="006455"/>
                          </a:solidFill>
                          <a:latin typeface="Montserrat"/>
                          <a:ea typeface="Montserrat"/>
                          <a:cs typeface="Montserrat"/>
                          <a:sym typeface="Montserrat"/>
                        </a:rPr>
                        <a:t>4. Personal</a:t>
                      </a:r>
                      <a:endParaRPr sz="1700" b="1" u="none" strike="noStrike" cap="none" dirty="0">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0" name="Google Shape;520;g370e87ffe7a_0_0"/>
          <p:cNvGraphicFramePr/>
          <p:nvPr/>
        </p:nvGraphicFramePr>
        <p:xfrm>
          <a:off x="-2134" y="811308"/>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635000" marR="0" lvl="0" indent="-336550" algn="l" rtl="0">
                        <a:lnSpc>
                          <a:spcPct val="100000"/>
                        </a:lnSpc>
                        <a:spcBef>
                          <a:spcPts val="0"/>
                        </a:spcBef>
                        <a:spcAft>
                          <a:spcPts val="0"/>
                        </a:spcAft>
                        <a:buClr>
                          <a:srgbClr val="006455"/>
                        </a:buClr>
                        <a:buSzPts val="1700"/>
                        <a:buFont typeface="Montserrat"/>
                        <a:buAutoNum type="arabicPeriod"/>
                      </a:pPr>
                      <a:r>
                        <a:rPr lang="es" sz="1600" b="1" u="none" strike="noStrike" cap="none">
                          <a:solidFill>
                            <a:srgbClr val="006455"/>
                          </a:solidFill>
                          <a:latin typeface="Montserrat"/>
                          <a:ea typeface="Montserrat"/>
                          <a:cs typeface="Montserrat"/>
                          <a:sym typeface="Montserrat"/>
                        </a:rPr>
                        <a:t>Infraestructura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1" name="Google Shape;521;g370e87ffe7a_0_0"/>
          <p:cNvGraphicFramePr/>
          <p:nvPr/>
        </p:nvGraphicFramePr>
        <p:xfrm>
          <a:off x="-126" y="7519253"/>
          <a:ext cx="7772400" cy="39605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3960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5. Organización comunitaria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3" name="Google Shape;523;g370e87ffe7a_0_0"/>
          <p:cNvGraphicFramePr/>
          <p:nvPr/>
        </p:nvGraphicFramePr>
        <p:xfrm>
          <a:off x="3884217" y="826580"/>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2.  Población beneficiada </a:t>
                      </a:r>
                      <a:endParaRPr sz="16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524" name="Google Shape;524;g370e87ffe7a_0_0"/>
          <p:cNvCxnSpPr/>
          <p:nvPr/>
        </p:nvCxnSpPr>
        <p:spPr>
          <a:xfrm>
            <a:off x="6214233" y="1355079"/>
            <a:ext cx="0" cy="524700"/>
          </a:xfrm>
          <a:prstGeom prst="straightConnector1">
            <a:avLst/>
          </a:prstGeom>
          <a:noFill/>
          <a:ln w="19050" cap="flat" cmpd="sng">
            <a:solidFill>
              <a:srgbClr val="A48250"/>
            </a:solidFill>
            <a:prstDash val="solid"/>
            <a:round/>
            <a:headEnd type="none" w="sm" len="sm"/>
            <a:tailEnd type="none" w="sm" len="sm"/>
          </a:ln>
        </p:spPr>
      </p:cxnSp>
      <p:cxnSp>
        <p:nvCxnSpPr>
          <p:cNvPr id="529" name="Google Shape;529;g370e87ffe7a_0_0"/>
          <p:cNvCxnSpPr/>
          <p:nvPr/>
        </p:nvCxnSpPr>
        <p:spPr>
          <a:xfrm>
            <a:off x="6214233" y="2225029"/>
            <a:ext cx="0" cy="524700"/>
          </a:xfrm>
          <a:prstGeom prst="straightConnector1">
            <a:avLst/>
          </a:prstGeom>
          <a:noFill/>
          <a:ln w="19050" cap="flat" cmpd="sng">
            <a:solidFill>
              <a:srgbClr val="A48250"/>
            </a:solidFill>
            <a:prstDash val="solid"/>
            <a:round/>
            <a:headEnd type="none" w="sm" len="sm"/>
            <a:tailEnd type="none" w="sm" len="sm"/>
          </a:ln>
        </p:spPr>
      </p:cxnSp>
      <p:sp>
        <p:nvSpPr>
          <p:cNvPr id="530" name="TextBox 529"/>
          <p:cNvSpPr txBox="1"/>
          <p:nvPr/>
        </p:nvSpPr>
        <p:spPr>
          <a:xfrm>
            <a:off x="0" y="27432"/>
            <a:ext cx="7772400" cy="548640"/>
          </a:xfrm>
          <a:prstGeom prst="rect">
            <a:avLst/>
          </a:prstGeom>
          <a:noFill/>
        </p:spPr>
        <p:txBody>
          <a:bodyPr wrap="none">
            <a:spAutoFit/>
          </a:bodyPr>
          <a:lstStyle/>
          <a:p>
            <a:pPr algn="l">
              <a:defRPr sz="2000">
                <a:solidFill>
                  <a:srgbClr val="FFFFFF"/>
                </a:solidFill>
                <a:latin typeface="Montserrat"/>
              </a:defRPr>
            </a:pPr>
            <a:r>
              <a:t>VERACRUZ PROGRAMA IMSS-COPLAMAR</a:t>
            </a:r>
          </a:p>
        </p:txBody>
      </p:sp>
      <p:sp>
        <p:nvSpPr>
          <p:cNvPr id="531" name="TextBox 530"/>
          <p:cNvSpPr txBox="1"/>
          <p:nvPr/>
        </p:nvSpPr>
        <p:spPr>
          <a:xfrm>
            <a:off x="309600" y="51192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sp>
        <p:nvSpPr>
          <p:cNvPr id="532" name="TextBox 531"/>
          <p:cNvSpPr txBox="1"/>
          <p:nvPr/>
        </p:nvSpPr>
        <p:spPr>
          <a:xfrm>
            <a:off x="309600" y="91908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graphicFrame>
        <p:nvGraphicFramePr>
          <p:cNvPr id="533" name="Table 532"/>
          <p:cNvGraphicFramePr>
            <a:graphicFrameLocks noGrp="1"/>
          </p:cNvGraphicFramePr>
          <p:nvPr/>
        </p:nvGraphicFramePr>
        <p:xfrm>
          <a:off x="310896" y="1335024"/>
          <a:ext cx="3575304" cy="1243584"/>
        </p:xfrm>
        <a:graphic>
          <a:graphicData uri="http://schemas.openxmlformats.org/drawingml/2006/table">
            <a:tbl>
              <a:tblPr firstRow="1" bandRow="1">
                <a:tableStyleId>{5C22544A-7EE6-4342-B048-85BDC9FD1C3A}</a:tableStyleId>
              </a:tblPr>
              <a:tblGrid>
                <a:gridCol w="2551176"/>
                <a:gridCol w="1024128"/>
              </a:tblGrid>
              <a:tr h="177654">
                <a:tc>
                  <a:txBody>
                    <a:bodyPr/>
                    <a:lstStyle/>
                    <a:p>
                      <a:pPr algn="ctr">
                        <a:defRPr b="1" sz="1100">
                          <a:solidFill>
                            <a:srgbClr val="FFFFFF"/>
                          </a:solidFill>
                          <a:latin typeface="Montserrat"/>
                        </a:defRPr>
                      </a:pPr>
                      <a:r>
                        <a:t>Unidades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177654">
                <a:tc>
                  <a:txBody>
                    <a:bodyPr/>
                    <a:lstStyle/>
                    <a:p>
                      <a:pPr algn="l">
                        <a:defRPr b="0" sz="1100">
                          <a:solidFill>
                            <a:srgbClr val="000000"/>
                          </a:solidFill>
                          <a:latin typeface="Montserrat"/>
                        </a:defRPr>
                      </a:pPr>
                      <a:r>
                        <a:t>Hospital Rural</a:t>
                      </a:r>
                    </a:p>
                  </a:txBody>
                  <a:tcPr anchor="ctr" marL="73152" marR="73152" marT="0" marB="0">
                    <a:solidFill>
                      <a:srgbClr val="FFFFFF"/>
                    </a:solidFill>
                  </a:tcPr>
                </a:tc>
                <a:tc>
                  <a:txBody>
                    <a:bodyPr/>
                    <a:lstStyle/>
                    <a:p>
                      <a:pPr algn="ctr">
                        <a:defRPr b="1" sz="1000">
                          <a:solidFill>
                            <a:srgbClr val="006455"/>
                          </a:solidFill>
                          <a:latin typeface="Montserrat"/>
                        </a:defRPr>
                      </a:pPr>
                      <a:r>
                        <a:t>6</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Rural</a:t>
                      </a:r>
                    </a:p>
                  </a:txBody>
                  <a:tcPr anchor="ctr" marL="73152" marR="73152" marT="0" marB="0">
                    <a:solidFill>
                      <a:srgbClr val="EFEFEF"/>
                    </a:solidFill>
                  </a:tcPr>
                </a:tc>
                <a:tc>
                  <a:txBody>
                    <a:bodyPr/>
                    <a:lstStyle/>
                    <a:p>
                      <a:pPr algn="ctr">
                        <a:defRPr b="1" sz="1000">
                          <a:solidFill>
                            <a:srgbClr val="006455"/>
                          </a:solidFill>
                          <a:latin typeface="Montserrat"/>
                        </a:defRPr>
                      </a:pPr>
                      <a:r>
                        <a:t>520</a:t>
                      </a:r>
                    </a:p>
                  </a:txBody>
                  <a:tcPr anchor="ctr" marL="73152" marR="73152" marT="0" marB="0">
                    <a:solidFill>
                      <a:srgbClr val="D3E9E7"/>
                    </a:solidFill>
                  </a:tcPr>
                </a:tc>
              </a:tr>
              <a:tr h="177654">
                <a:tc>
                  <a:txBody>
                    <a:bodyPr/>
                    <a:lstStyle/>
                    <a:p>
                      <a:pPr algn="l">
                        <a:defRPr b="0" sz="1100">
                          <a:solidFill>
                            <a:srgbClr val="000000"/>
                          </a:solidFill>
                          <a:latin typeface="Montserrat"/>
                        </a:defRPr>
                      </a:pPr>
                      <a:r>
                        <a:t>Brigada Salud</a:t>
                      </a:r>
                    </a:p>
                  </a:txBody>
                  <a:tcPr anchor="ctr" marL="73152" marR="73152" marT="0" marB="0">
                    <a:solidFill>
                      <a:srgbClr val="FFFFFF"/>
                    </a:solidFill>
                  </a:tcPr>
                </a:tc>
                <a:tc>
                  <a:txBody>
                    <a:bodyPr/>
                    <a:lstStyle/>
                    <a:p>
                      <a:pPr algn="ctr">
                        <a:defRPr b="1" sz="1000">
                          <a:solidFill>
                            <a:srgbClr val="006455"/>
                          </a:solidFill>
                          <a:latin typeface="Montserrat"/>
                        </a:defRPr>
                      </a:pPr>
                      <a:r>
                        <a:t>33</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Móvil</a:t>
                      </a:r>
                    </a:p>
                  </a:txBody>
                  <a:tcPr anchor="ctr" marL="73152" marR="73152" marT="0" marB="0">
                    <a:solidFill>
                      <a:srgbClr val="EFEFEF"/>
                    </a:solidFill>
                  </a:tcPr>
                </a:tc>
                <a:tc>
                  <a:txBody>
                    <a:bodyPr/>
                    <a:lstStyle/>
                    <a:p>
                      <a:pPr algn="ctr">
                        <a:defRPr b="1" sz="1000">
                          <a:solidFill>
                            <a:srgbClr val="006455"/>
                          </a:solidFill>
                          <a:latin typeface="Montserrat"/>
                        </a:defRPr>
                      </a:pPr>
                      <a:r>
                        <a:t>15</a:t>
                      </a:r>
                    </a:p>
                  </a:txBody>
                  <a:tcPr anchor="ctr" marL="73152" marR="73152" marT="0" marB="0">
                    <a:solidFill>
                      <a:srgbClr val="D3E9E7"/>
                    </a:solidFill>
                  </a:tcPr>
                </a:tc>
              </a:tr>
              <a:tr h="177654">
                <a:tc>
                  <a:txBody>
                    <a:bodyPr/>
                    <a:lstStyle/>
                    <a:p>
                      <a:pPr algn="l">
                        <a:defRPr b="0" sz="1100">
                          <a:solidFill>
                            <a:srgbClr val="000000"/>
                          </a:solidFill>
                          <a:latin typeface="Montserrat"/>
                        </a:defRPr>
                      </a:pPr>
                      <a:r>
                        <a:t>Centros de Atención Rural Obstétrica</a:t>
                      </a:r>
                    </a:p>
                  </a:txBody>
                  <a:tcPr anchor="ctr" marL="73152" marR="73152" marT="0" marB="0">
                    <a:solidFill>
                      <a:srgbClr val="FFFFFF"/>
                    </a:solidFill>
                  </a:tcPr>
                </a:tc>
                <a:tc>
                  <a:txBody>
                    <a:bodyPr/>
                    <a:lstStyle/>
                    <a:p>
                      <a:pPr algn="ctr">
                        <a:defRPr b="1" sz="1000">
                          <a:solidFill>
                            <a:srgbClr val="006455"/>
                          </a:solidFill>
                          <a:latin typeface="Montserrat"/>
                        </a:defRPr>
                      </a:pPr>
                      <a:r>
                        <a:t>7</a:t>
                      </a:r>
                    </a:p>
                  </a:txBody>
                  <a:tcPr anchor="ctr" marL="73152" marR="73152" marT="0" marB="0">
                    <a:solidFill>
                      <a:srgbClr val="D3E9E7"/>
                    </a:solidFill>
                  </a:tcPr>
                </a:tc>
              </a:tr>
              <a:tr h="177660">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581</a:t>
                      </a:r>
                    </a:p>
                  </a:txBody>
                  <a:tcPr anchor="ctr" marL="73152" marR="73152" marT="0" marB="0">
                    <a:solidFill>
                      <a:srgbClr val="D3E9E7"/>
                    </a:solidFill>
                  </a:tcPr>
                </a:tc>
              </a:tr>
            </a:tbl>
          </a:graphicData>
        </a:graphic>
      </p:graphicFrame>
      <p:graphicFrame>
        <p:nvGraphicFramePr>
          <p:cNvPr id="534" name="Table 533"/>
          <p:cNvGraphicFramePr>
            <a:graphicFrameLocks noGrp="1"/>
          </p:cNvGraphicFramePr>
          <p:nvPr/>
        </p:nvGraphicFramePr>
        <p:xfrm>
          <a:off x="310896" y="3209544"/>
          <a:ext cx="4965192" cy="1691640"/>
        </p:xfrm>
        <a:graphic>
          <a:graphicData uri="http://schemas.openxmlformats.org/drawingml/2006/table">
            <a:tbl>
              <a:tblPr firstRow="1" bandRow="1">
                <a:tableStyleId>{5C22544A-7EE6-4342-B048-85BDC9FD1C3A}</a:tableStyleId>
              </a:tblPr>
              <a:tblGrid>
                <a:gridCol w="1655064"/>
                <a:gridCol w="1655064"/>
                <a:gridCol w="1655064"/>
              </a:tblGrid>
              <a:tr h="187960">
                <a:tc>
                  <a:txBody>
                    <a:bodyPr/>
                    <a:lstStyle/>
                    <a:p>
                      <a:pPr algn="ctr">
                        <a:defRPr b="1" sz="1100">
                          <a:solidFill>
                            <a:srgbClr val="FFFFFF"/>
                          </a:solidFill>
                          <a:latin typeface="Montserrat"/>
                        </a:defRPr>
                      </a:pPr>
                      <a:r>
                        <a:t>Concepto</a:t>
                      </a:r>
                    </a:p>
                  </a:txBody>
                  <a:tcPr marL="36576" marR="36576" marT="36576" marB="36576">
                    <a:solidFill>
                      <a:srgbClr val="006455"/>
                    </a:solidFill>
                  </a:tcPr>
                </a:tc>
                <a:tc>
                  <a:txBody>
                    <a:bodyPr/>
                    <a:lstStyle/>
                    <a:p>
                      <a:pPr algn="ctr">
                        <a:defRPr b="1" sz="1100">
                          <a:solidFill>
                            <a:srgbClr val="FFFFFF"/>
                          </a:solidFill>
                          <a:latin typeface="Montserrat"/>
                        </a:defRPr>
                      </a:pPr>
                      <a:r>
                        <a:t>Productividad</a:t>
                      </a:r>
                    </a:p>
                  </a:txBody>
                  <a:tcPr marL="36576" marR="36576" marT="36576" marB="36576">
                    <a:solidFill>
                      <a:srgbClr val="006455"/>
                    </a:solidFill>
                  </a:tcPr>
                </a:tc>
                <a:tc>
                  <a:txBody>
                    <a:bodyPr/>
                    <a:lstStyle/>
                    <a:p>
                      <a:pPr algn="ctr">
                        <a:defRPr b="1" sz="1100">
                          <a:solidFill>
                            <a:srgbClr val="FFFFFF"/>
                          </a:solidFill>
                          <a:latin typeface="Montserrat"/>
                        </a:defRPr>
                      </a:pPr>
                      <a:r>
                        <a:t>Día Típico</a:t>
                      </a:r>
                    </a:p>
                  </a:txBody>
                  <a:tcPr marL="36576" marR="36576" marT="36576" marB="36576">
                    <a:solidFill>
                      <a:srgbClr val="006455"/>
                    </a:solidFill>
                  </a:tcPr>
                </a:tc>
              </a:tr>
              <a:tr h="187960">
                <a:tc>
                  <a:txBody>
                    <a:bodyPr/>
                    <a:lstStyle/>
                    <a:p>
                      <a:pPr algn="l">
                        <a:defRPr b="1" sz="1100">
                          <a:solidFill>
                            <a:srgbClr val="006455"/>
                          </a:solidFill>
                          <a:latin typeface="Montserrat"/>
                        </a:defRPr>
                      </a:pPr>
                      <a:r>
                        <a:t>Total consultas</a:t>
                      </a:r>
                    </a:p>
                  </a:txBody>
                  <a:tcPr anchor="ctr" marL="73152" marR="73152" marT="0" marB="0">
                    <a:solidFill>
                      <a:srgbClr val="D3E9E7"/>
                    </a:solidFill>
                  </a:tcPr>
                </a:tc>
                <a:tc>
                  <a:txBody>
                    <a:bodyPr/>
                    <a:lstStyle/>
                    <a:p>
                      <a:pPr algn="ctr">
                        <a:defRPr b="1" sz="1000">
                          <a:solidFill>
                            <a:srgbClr val="006455"/>
                          </a:solidFill>
                          <a:latin typeface="Montserrat"/>
                        </a:defRPr>
                      </a:pPr>
                      <a:r>
                        <a:t>1,509,670</a:t>
                      </a:r>
                    </a:p>
                  </a:txBody>
                  <a:tcPr anchor="ctr" marL="73152" marR="73152" marT="0" marB="0">
                    <a:solidFill>
                      <a:srgbClr val="D3E9E7"/>
                    </a:solidFill>
                  </a:tcPr>
                </a:tc>
                <a:tc>
                  <a:txBody>
                    <a:bodyPr/>
                    <a:lstStyle/>
                    <a:p>
                      <a:pPr algn="ctr">
                        <a:defRPr b="1" sz="1000">
                          <a:solidFill>
                            <a:srgbClr val="006455"/>
                          </a:solidFill>
                          <a:latin typeface="Montserrat"/>
                        </a:defRPr>
                      </a:pPr>
                      <a:r>
                        <a:t>5,752</a:t>
                      </a:r>
                    </a:p>
                  </a:txBody>
                  <a:tcPr anchor="ctr" marL="73152" marR="73152" marT="0" marB="0">
                    <a:solidFill>
                      <a:srgbClr val="D3E9E7"/>
                    </a:solidFill>
                  </a:tcPr>
                </a:tc>
              </a:tr>
              <a:tr h="187960">
                <a:tc>
                  <a:txBody>
                    <a:bodyPr/>
                    <a:lstStyle/>
                    <a:p>
                      <a:pPr algn="ctr">
                        <a:defRPr b="0" sz="1100">
                          <a:solidFill>
                            <a:srgbClr val="000000"/>
                          </a:solidFill>
                          <a:latin typeface="Montserrat"/>
                        </a:defRPr>
                      </a:pPr>
                      <a:r>
                        <a:t>Familiar</a:t>
                      </a:r>
                    </a:p>
                  </a:txBody>
                  <a:tcPr anchor="ctr" marL="73152" marR="73152" marT="0" marB="0">
                    <a:solidFill>
                      <a:srgbClr val="FFFFFF"/>
                    </a:solidFill>
                  </a:tcPr>
                </a:tc>
                <a:tc>
                  <a:txBody>
                    <a:bodyPr/>
                    <a:lstStyle/>
                    <a:p>
                      <a:pPr algn="ctr">
                        <a:defRPr b="0" sz="1000">
                          <a:solidFill>
                            <a:srgbClr val="000000"/>
                          </a:solidFill>
                          <a:latin typeface="Montserrat"/>
                        </a:defRPr>
                      </a:pPr>
                      <a:r>
                        <a:t>1,431,763</a:t>
                      </a:r>
                    </a:p>
                  </a:txBody>
                  <a:tcPr anchor="ctr" marL="73152" marR="73152" marT="0" marB="0">
                    <a:solidFill>
                      <a:srgbClr val="FFFFFF"/>
                    </a:solidFill>
                  </a:tcPr>
                </a:tc>
                <a:tc>
                  <a:txBody>
                    <a:bodyPr/>
                    <a:lstStyle/>
                    <a:p>
                      <a:pPr algn="ctr">
                        <a:defRPr b="0" sz="1000">
                          <a:solidFill>
                            <a:srgbClr val="000000"/>
                          </a:solidFill>
                          <a:latin typeface="Montserrat"/>
                        </a:defRPr>
                      </a:pPr>
                      <a:r>
                        <a:t>5,486</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Estomatología</a:t>
                      </a:r>
                    </a:p>
                  </a:txBody>
                  <a:tcPr anchor="ctr" marL="73152" marR="73152" marT="0" marB="0">
                    <a:solidFill>
                      <a:srgbClr val="EFEFEF"/>
                    </a:solidFill>
                  </a:tcPr>
                </a:tc>
                <a:tc>
                  <a:txBody>
                    <a:bodyPr/>
                    <a:lstStyle/>
                    <a:p>
                      <a:pPr algn="ctr">
                        <a:defRPr b="0" sz="1000">
                          <a:solidFill>
                            <a:srgbClr val="000000"/>
                          </a:solidFill>
                          <a:latin typeface="Montserrat"/>
                        </a:defRPr>
                      </a:pPr>
                      <a:r>
                        <a:t>18,372</a:t>
                      </a:r>
                    </a:p>
                  </a:txBody>
                  <a:tcPr anchor="ctr" marL="73152" marR="73152" marT="0" marB="0">
                    <a:solidFill>
                      <a:srgbClr val="EFEFEF"/>
                    </a:solidFill>
                  </a:tcPr>
                </a:tc>
                <a:tc>
                  <a:txBody>
                    <a:bodyPr/>
                    <a:lstStyle/>
                    <a:p>
                      <a:pPr algn="ctr">
                        <a:defRPr b="0" sz="1000">
                          <a:solidFill>
                            <a:srgbClr val="000000"/>
                          </a:solidFill>
                          <a:latin typeface="Montserrat"/>
                        </a:defRPr>
                      </a:pPr>
                      <a:r>
                        <a:t>70</a:t>
                      </a:r>
                    </a:p>
                  </a:txBody>
                  <a:tcPr anchor="ctr" marL="73152" marR="73152" marT="0" marB="0">
                    <a:solidFill>
                      <a:srgbClr val="EFEFEF"/>
                    </a:solidFill>
                  </a:tcPr>
                </a:tc>
              </a:tr>
              <a:tr h="187960">
                <a:tc>
                  <a:txBody>
                    <a:bodyPr/>
                    <a:lstStyle/>
                    <a:p>
                      <a:pPr algn="ctr">
                        <a:defRPr b="0" sz="1100">
                          <a:solidFill>
                            <a:srgbClr val="000000"/>
                          </a:solidFill>
                          <a:latin typeface="Montserrat"/>
                        </a:defRPr>
                      </a:pPr>
                      <a:r>
                        <a:t>Urgencias</a:t>
                      </a:r>
                    </a:p>
                  </a:txBody>
                  <a:tcPr anchor="ctr" marL="73152" marR="73152" marT="0" marB="0">
                    <a:solidFill>
                      <a:srgbClr val="FFFFFF"/>
                    </a:solidFill>
                  </a:tcPr>
                </a:tc>
                <a:tc>
                  <a:txBody>
                    <a:bodyPr/>
                    <a:lstStyle/>
                    <a:p>
                      <a:pPr algn="ctr">
                        <a:defRPr b="0" sz="1000">
                          <a:solidFill>
                            <a:srgbClr val="000000"/>
                          </a:solidFill>
                          <a:latin typeface="Montserrat"/>
                        </a:defRPr>
                      </a:pPr>
                      <a:r>
                        <a:t>29,716</a:t>
                      </a:r>
                    </a:p>
                  </a:txBody>
                  <a:tcPr anchor="ctr" marL="73152" marR="73152" marT="0" marB="0">
                    <a:solidFill>
                      <a:srgbClr val="FFFFFF"/>
                    </a:solidFill>
                  </a:tcPr>
                </a:tc>
                <a:tc>
                  <a:txBody>
                    <a:bodyPr/>
                    <a:lstStyle/>
                    <a:p>
                      <a:pPr algn="ctr">
                        <a:defRPr b="0" sz="1000">
                          <a:solidFill>
                            <a:srgbClr val="000000"/>
                          </a:solidFill>
                          <a:latin typeface="Montserrat"/>
                        </a:defRPr>
                      </a:pPr>
                      <a:r>
                        <a:t>81</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Especialidades</a:t>
                      </a:r>
                    </a:p>
                  </a:txBody>
                  <a:tcPr anchor="ctr" marL="73152" marR="73152" marT="0" marB="0">
                    <a:solidFill>
                      <a:srgbClr val="EFEFEF"/>
                    </a:solidFill>
                  </a:tcPr>
                </a:tc>
                <a:tc>
                  <a:txBody>
                    <a:bodyPr/>
                    <a:lstStyle/>
                    <a:p>
                      <a:pPr algn="ctr">
                        <a:defRPr b="0" sz="1000">
                          <a:solidFill>
                            <a:srgbClr val="000000"/>
                          </a:solidFill>
                          <a:latin typeface="Montserrat"/>
                        </a:defRPr>
                      </a:pPr>
                      <a:r>
                        <a:t>29,819</a:t>
                      </a:r>
                    </a:p>
                  </a:txBody>
                  <a:tcPr anchor="ctr" marL="73152" marR="73152" marT="0" marB="0">
                    <a:solidFill>
                      <a:srgbClr val="EFEFEF"/>
                    </a:solidFill>
                  </a:tcPr>
                </a:tc>
                <a:tc>
                  <a:txBody>
                    <a:bodyPr/>
                    <a:lstStyle/>
                    <a:p>
                      <a:pPr algn="ctr">
                        <a:defRPr b="0" sz="1000">
                          <a:solidFill>
                            <a:srgbClr val="000000"/>
                          </a:solidFill>
                          <a:latin typeface="Montserrat"/>
                        </a:defRPr>
                      </a:pPr>
                      <a:r>
                        <a:t>114</a:t>
                      </a:r>
                    </a:p>
                  </a:txBody>
                  <a:tcPr anchor="ctr" marL="73152" marR="73152" marT="0" marB="0">
                    <a:solidFill>
                      <a:srgbClr val="EFEFEF"/>
                    </a:solidFill>
                  </a:tcPr>
                </a:tc>
              </a:tr>
              <a:tr h="187960">
                <a:tc>
                  <a:txBody>
                    <a:bodyPr/>
                    <a:lstStyle/>
                    <a:p>
                      <a:pPr algn="l">
                        <a:defRPr b="1" sz="1100">
                          <a:solidFill>
                            <a:srgbClr val="000000"/>
                          </a:solidFill>
                          <a:latin typeface="Montserrat"/>
                        </a:defRPr>
                      </a:pPr>
                      <a:r>
                        <a:t>Cirugías</a:t>
                      </a:r>
                    </a:p>
                  </a:txBody>
                  <a:tcPr anchor="ctr" marL="73152" marR="73152" marT="0" marB="0">
                    <a:solidFill>
                      <a:srgbClr val="FFFFFF"/>
                    </a:solidFill>
                  </a:tcPr>
                </a:tc>
                <a:tc>
                  <a:txBody>
                    <a:bodyPr/>
                    <a:lstStyle/>
                    <a:p>
                      <a:pPr algn="ctr">
                        <a:defRPr b="0" sz="1000">
                          <a:solidFill>
                            <a:srgbClr val="000000"/>
                          </a:solidFill>
                          <a:latin typeface="Montserrat"/>
                        </a:defRPr>
                      </a:pPr>
                      <a:r>
                        <a:t>7,131</a:t>
                      </a:r>
                    </a:p>
                  </a:txBody>
                  <a:tcPr anchor="ctr" marL="73152" marR="73152" marT="0" marB="0">
                    <a:solidFill>
                      <a:srgbClr val="FFFFFF"/>
                    </a:solidFill>
                  </a:tcPr>
                </a:tc>
                <a:tc>
                  <a:txBody>
                    <a:bodyPr/>
                    <a:lstStyle/>
                    <a:p>
                      <a:pPr algn="ctr">
                        <a:defRPr b="0" sz="1000">
                          <a:solidFill>
                            <a:srgbClr val="000000"/>
                          </a:solidFill>
                          <a:latin typeface="Montserrat"/>
                        </a:defRPr>
                      </a:pPr>
                      <a:r>
                        <a:t>20</a:t>
                      </a:r>
                    </a:p>
                  </a:txBody>
                  <a:tcPr anchor="ctr" marL="73152" marR="73152" marT="0" marB="0">
                    <a:solidFill>
                      <a:srgbClr val="FFFFFF"/>
                    </a:solidFill>
                  </a:tcPr>
                </a:tc>
              </a:tr>
              <a:tr h="187960">
                <a:tc>
                  <a:txBody>
                    <a:bodyPr/>
                    <a:lstStyle/>
                    <a:p>
                      <a:pPr algn="l">
                        <a:defRPr b="1" sz="1100">
                          <a:solidFill>
                            <a:srgbClr val="000000"/>
                          </a:solidFill>
                          <a:latin typeface="Montserrat"/>
                        </a:defRPr>
                      </a:pPr>
                      <a:r>
                        <a:t>Partos</a:t>
                      </a:r>
                    </a:p>
                  </a:txBody>
                  <a:tcPr anchor="ctr" marL="73152" marR="73152" marT="0" marB="0">
                    <a:solidFill>
                      <a:srgbClr val="EFEFEF"/>
                    </a:solidFill>
                  </a:tcPr>
                </a:tc>
                <a:tc>
                  <a:txBody>
                    <a:bodyPr/>
                    <a:lstStyle/>
                    <a:p>
                      <a:pPr algn="ctr">
                        <a:defRPr b="0" sz="1000">
                          <a:solidFill>
                            <a:srgbClr val="000000"/>
                          </a:solidFill>
                          <a:latin typeface="Montserrat"/>
                        </a:defRPr>
                      </a:pPr>
                      <a:r>
                        <a:t>6,017</a:t>
                      </a:r>
                    </a:p>
                  </a:txBody>
                  <a:tcPr anchor="ctr" marL="73152" marR="73152" marT="0" marB="0">
                    <a:solidFill>
                      <a:srgbClr val="EFEFEF"/>
                    </a:solidFill>
                  </a:tcPr>
                </a:tc>
                <a:tc>
                  <a:txBody>
                    <a:bodyPr/>
                    <a:lstStyle/>
                    <a:p>
                      <a:pPr algn="ctr">
                        <a:defRPr b="0" sz="1000">
                          <a:solidFill>
                            <a:srgbClr val="000000"/>
                          </a:solidFill>
                          <a:latin typeface="Montserrat"/>
                        </a:defRPr>
                      </a:pPr>
                      <a:r>
                        <a:t>16</a:t>
                      </a:r>
                    </a:p>
                  </a:txBody>
                  <a:tcPr anchor="ctr" marL="73152" marR="73152" marT="0" marB="0">
                    <a:solidFill>
                      <a:srgbClr val="EFEFEF"/>
                    </a:solidFill>
                  </a:tcPr>
                </a:tc>
              </a:tr>
              <a:tr h="187960">
                <a:tc>
                  <a:txBody>
                    <a:bodyPr/>
                    <a:lstStyle/>
                    <a:p>
                      <a:pPr algn="l">
                        <a:defRPr b="1" sz="1100">
                          <a:solidFill>
                            <a:srgbClr val="000000"/>
                          </a:solidFill>
                          <a:latin typeface="Montserrat"/>
                        </a:defRPr>
                      </a:pPr>
                      <a:r>
                        <a:t>Egresos Hosp.</a:t>
                      </a:r>
                    </a:p>
                  </a:txBody>
                  <a:tcPr anchor="ctr" marL="73152" marR="73152" marT="0" marB="0">
                    <a:solidFill>
                      <a:srgbClr val="FFFFFF"/>
                    </a:solidFill>
                  </a:tcPr>
                </a:tc>
                <a:tc>
                  <a:txBody>
                    <a:bodyPr/>
                    <a:lstStyle/>
                    <a:p>
                      <a:pPr algn="ctr">
                        <a:defRPr b="0" sz="1000">
                          <a:solidFill>
                            <a:srgbClr val="000000"/>
                          </a:solidFill>
                          <a:latin typeface="Montserrat"/>
                        </a:defRPr>
                      </a:pPr>
                      <a:r>
                        <a:t>14,193</a:t>
                      </a:r>
                    </a:p>
                  </a:txBody>
                  <a:tcPr anchor="ctr" marL="73152" marR="73152" marT="0" marB="0">
                    <a:solidFill>
                      <a:srgbClr val="FFFFFF"/>
                    </a:solidFill>
                  </a:tcPr>
                </a:tc>
                <a:tc>
                  <a:txBody>
                    <a:bodyPr/>
                    <a:lstStyle/>
                    <a:p>
                      <a:pPr algn="ctr">
                        <a:defRPr b="0" sz="1000">
                          <a:solidFill>
                            <a:srgbClr val="000000"/>
                          </a:solidFill>
                          <a:latin typeface="Montserrat"/>
                        </a:defRPr>
                      </a:pPr>
                      <a:r>
                        <a:t>39</a:t>
                      </a:r>
                    </a:p>
                  </a:txBody>
                  <a:tcPr anchor="ctr" marL="73152" marR="73152" marT="0" marB="0">
                    <a:solidFill>
                      <a:srgbClr val="FFFFFF"/>
                    </a:solidFill>
                  </a:tcPr>
                </a:tc>
              </a:tr>
            </a:tbl>
          </a:graphicData>
        </a:graphic>
      </p:graphicFrame>
      <p:graphicFrame>
        <p:nvGraphicFramePr>
          <p:cNvPr id="535" name="Table 534"/>
          <p:cNvGraphicFramePr>
            <a:graphicFrameLocks noGrp="1"/>
          </p:cNvGraphicFramePr>
          <p:nvPr/>
        </p:nvGraphicFramePr>
        <p:xfrm>
          <a:off x="310896" y="5815584"/>
          <a:ext cx="7022592" cy="1609344"/>
        </p:xfrm>
        <a:graphic>
          <a:graphicData uri="http://schemas.openxmlformats.org/drawingml/2006/table">
            <a:tbl>
              <a:tblPr firstRow="1" bandRow="1">
                <a:tableStyleId>{5C22544A-7EE6-4342-B048-85BDC9FD1C3A}</a:tableStyleId>
              </a:tblPr>
              <a:tblGrid>
                <a:gridCol w="1664208"/>
                <a:gridCol w="923544"/>
                <a:gridCol w="1179576"/>
                <a:gridCol w="1179576"/>
                <a:gridCol w="1179576"/>
                <a:gridCol w="896112"/>
              </a:tblGrid>
              <a:tr h="201168">
                <a:tc>
                  <a:txBody>
                    <a:bodyPr/>
                    <a:lstStyle/>
                    <a:p>
                      <a:pPr algn="ctr">
                        <a:defRPr b="1" sz="1100">
                          <a:solidFill>
                            <a:srgbClr val="FFFFFF"/>
                          </a:solidFill>
                          <a:latin typeface="Montserrat"/>
                        </a:defRPr>
                      </a:pPr>
                      <a:r>
                        <a:t>Disciplina</a:t>
                      </a:r>
                    </a:p>
                  </a:txBody>
                  <a:tcPr marL="36576" marR="36576" marT="36576" marB="36576">
                    <a:solidFill>
                      <a:srgbClr val="006455"/>
                    </a:solidFill>
                  </a:tcPr>
                </a:tc>
                <a:tc>
                  <a:txBody>
                    <a:bodyPr/>
                    <a:lstStyle/>
                    <a:p>
                      <a:pPr algn="ctr">
                        <a:defRPr b="1" sz="1100">
                          <a:solidFill>
                            <a:srgbClr val="FFFFFF"/>
                          </a:solidFill>
                          <a:latin typeface="Montserrat"/>
                        </a:defRPr>
                      </a:pPr>
                      <a:r>
                        <a:t>Base</a:t>
                      </a:r>
                    </a:p>
                  </a:txBody>
                  <a:tcPr marL="36576" marR="36576" marT="36576" marB="36576">
                    <a:solidFill>
                      <a:srgbClr val="006455"/>
                    </a:solidFill>
                  </a:tcPr>
                </a:tc>
                <a:tc>
                  <a:txBody>
                    <a:bodyPr/>
                    <a:lstStyle/>
                    <a:p>
                      <a:pPr algn="ctr">
                        <a:defRPr b="1" sz="1100">
                          <a:solidFill>
                            <a:srgbClr val="FFFFFF"/>
                          </a:solidFill>
                          <a:latin typeface="Montserrat"/>
                        </a:defRPr>
                      </a:pPr>
                      <a:r>
                        <a:t>Confianza</a:t>
                      </a:r>
                    </a:p>
                  </a:txBody>
                  <a:tcPr marL="36576" marR="36576" marT="36576" marB="36576">
                    <a:solidFill>
                      <a:srgbClr val="006455"/>
                    </a:solidFill>
                  </a:tcPr>
                </a:tc>
                <a:tc>
                  <a:txBody>
                    <a:bodyPr/>
                    <a:lstStyle/>
                    <a:p>
                      <a:pPr algn="ctr">
                        <a:defRPr b="1" sz="1100">
                          <a:solidFill>
                            <a:srgbClr val="FFFFFF"/>
                          </a:solidFill>
                          <a:latin typeface="Montserrat"/>
                        </a:defRPr>
                      </a:pPr>
                      <a:r>
                        <a:t>Estatuto A</a:t>
                      </a:r>
                    </a:p>
                  </a:txBody>
                  <a:tcPr marL="36576" marR="36576" marT="36576" marB="36576">
                    <a:solidFill>
                      <a:srgbClr val="006455"/>
                    </a:solidFill>
                  </a:tcPr>
                </a:tc>
                <a:tc>
                  <a:txBody>
                    <a:bodyPr/>
                    <a:lstStyle/>
                    <a:p>
                      <a:pPr algn="ctr">
                        <a:defRPr b="1" sz="1100">
                          <a:solidFill>
                            <a:srgbClr val="FFFFFF"/>
                          </a:solidFill>
                          <a:latin typeface="Montserrat"/>
                        </a:defRPr>
                      </a:pPr>
                      <a:r>
                        <a:t>Sustitutos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201168">
                <a:tc>
                  <a:txBody>
                    <a:bodyPr/>
                    <a:lstStyle/>
                    <a:p>
                      <a:pPr algn="l">
                        <a:defRPr b="0" sz="1100">
                          <a:solidFill>
                            <a:srgbClr val="000000"/>
                          </a:solidFill>
                          <a:latin typeface="Montserrat"/>
                        </a:defRPr>
                      </a:pPr>
                      <a:r>
                        <a:t>Médicos</a:t>
                      </a:r>
                    </a:p>
                  </a:txBody>
                  <a:tcPr anchor="ctr" marL="73152" marR="73152" marT="0" marB="0">
                    <a:solidFill>
                      <a:srgbClr val="FFFFFF"/>
                    </a:solidFill>
                  </a:tcPr>
                </a:tc>
                <a:tc>
                  <a:txBody>
                    <a:bodyPr/>
                    <a:lstStyle/>
                    <a:p>
                      <a:pPr algn="ctr">
                        <a:defRPr b="0" sz="1000">
                          <a:solidFill>
                            <a:srgbClr val="000000"/>
                          </a:solidFill>
                          <a:latin typeface="Montserrat"/>
                        </a:defRPr>
                      </a:pPr>
                      <a:r>
                        <a:t>505</a:t>
                      </a:r>
                    </a:p>
                  </a:txBody>
                  <a:tcPr anchor="ctr" marL="73152" marR="73152" marT="0" marB="0">
                    <a:solidFill>
                      <a:srgbClr val="FFFFFF"/>
                    </a:solidFill>
                  </a:tcPr>
                </a:tc>
                <a:tc>
                  <a:txBody>
                    <a:bodyPr/>
                    <a:lstStyle/>
                    <a:p>
                      <a:pPr algn="ctr">
                        <a:defRPr b="0" sz="1000">
                          <a:solidFill>
                            <a:srgbClr val="000000"/>
                          </a:solidFill>
                          <a:latin typeface="Montserrat"/>
                        </a:defRPr>
                      </a:pPr>
                      <a:r>
                        <a:t>39</a:t>
                      </a:r>
                    </a:p>
                  </a:txBody>
                  <a:tcPr anchor="ctr" marL="73152" marR="73152" marT="0" marB="0">
                    <a:solidFill>
                      <a:srgbClr val="FFFFFF"/>
                    </a:solidFill>
                  </a:tcPr>
                </a:tc>
                <a:tc>
                  <a:txBody>
                    <a:bodyPr/>
                    <a:lstStyle/>
                    <a:p>
                      <a:pPr algn="ctr">
                        <a:defRPr b="0" sz="1000">
                          <a:solidFill>
                            <a:srgbClr val="000000"/>
                          </a:solidFill>
                          <a:latin typeface="Montserrat"/>
                        </a:defRPr>
                      </a:pPr>
                      <a:r>
                        <a:t>6</a:t>
                      </a:r>
                    </a:p>
                  </a:txBody>
                  <a:tcPr anchor="ctr" marL="73152" marR="73152" marT="0" marB="0">
                    <a:solidFill>
                      <a:srgbClr val="FFFFFF"/>
                    </a:solidFill>
                  </a:tcPr>
                </a:tc>
                <a:tc>
                  <a:txBody>
                    <a:bodyPr/>
                    <a:lstStyle/>
                    <a:p>
                      <a:pPr algn="ctr">
                        <a:defRPr b="0" sz="1000">
                          <a:solidFill>
                            <a:srgbClr val="000000"/>
                          </a:solidFill>
                          <a:latin typeface="Montserrat"/>
                        </a:defRPr>
                      </a:pPr>
                      <a:r>
                        <a:t>41</a:t>
                      </a:r>
                    </a:p>
                  </a:txBody>
                  <a:tcPr anchor="ctr" marL="73152" marR="73152" marT="0" marB="0">
                    <a:solidFill>
                      <a:srgbClr val="FFFFFF"/>
                    </a:solidFill>
                  </a:tcPr>
                </a:tc>
                <a:tc>
                  <a:txBody>
                    <a:bodyPr/>
                    <a:lstStyle/>
                    <a:p>
                      <a:pPr algn="ctr">
                        <a:defRPr b="1" sz="1000">
                          <a:solidFill>
                            <a:srgbClr val="006455"/>
                          </a:solidFill>
                          <a:latin typeface="Montserrat"/>
                        </a:defRPr>
                      </a:pPr>
                      <a:r>
                        <a:t>591</a:t>
                      </a:r>
                    </a:p>
                  </a:txBody>
                  <a:tcPr anchor="ctr" marL="73152" marR="73152" marT="0" marB="0">
                    <a:solidFill>
                      <a:srgbClr val="D3E9E7"/>
                    </a:solidFill>
                  </a:tcPr>
                </a:tc>
              </a:tr>
              <a:tr h="201168">
                <a:tc>
                  <a:txBody>
                    <a:bodyPr/>
                    <a:lstStyle/>
                    <a:p>
                      <a:pPr algn="l">
                        <a:defRPr b="0" sz="1100">
                          <a:solidFill>
                            <a:srgbClr val="000000"/>
                          </a:solidFill>
                          <a:latin typeface="Montserrat"/>
                        </a:defRPr>
                      </a:pPr>
                      <a:r>
                        <a:t>Enfermeras</a:t>
                      </a:r>
                    </a:p>
                  </a:txBody>
                  <a:tcPr anchor="ctr" marL="73152" marR="73152" marT="0" marB="0">
                    <a:solidFill>
                      <a:srgbClr val="EFEFEF"/>
                    </a:solidFill>
                  </a:tcPr>
                </a:tc>
                <a:tc>
                  <a:txBody>
                    <a:bodyPr/>
                    <a:lstStyle/>
                    <a:p>
                      <a:pPr algn="ctr">
                        <a:defRPr b="0" sz="1000">
                          <a:solidFill>
                            <a:srgbClr val="000000"/>
                          </a:solidFill>
                          <a:latin typeface="Montserrat"/>
                        </a:defRPr>
                      </a:pPr>
                      <a:r>
                        <a:t>727</a:t>
                      </a:r>
                    </a:p>
                  </a:txBody>
                  <a:tcPr anchor="ctr" marL="73152" marR="73152" marT="0" marB="0">
                    <a:solidFill>
                      <a:srgbClr val="EFEFEF"/>
                    </a:solidFill>
                  </a:tcPr>
                </a:tc>
                <a:tc>
                  <a:txBody>
                    <a:bodyPr/>
                    <a:lstStyle/>
                    <a:p>
                      <a:pPr algn="ctr">
                        <a:defRPr b="0" sz="1000">
                          <a:solidFill>
                            <a:srgbClr val="000000"/>
                          </a:solidFill>
                          <a:latin typeface="Montserrat"/>
                        </a:defRPr>
                      </a:pPr>
                      <a:r>
                        <a:t>9</a:t>
                      </a:r>
                    </a:p>
                  </a:txBody>
                  <a:tcPr anchor="ctr" marL="73152" marR="73152" marT="0" marB="0">
                    <a:solidFill>
                      <a:srgbClr val="EFEFEF"/>
                    </a:solidFill>
                  </a:tcPr>
                </a:tc>
                <a:tc>
                  <a:txBody>
                    <a:bodyPr/>
                    <a:lstStyle/>
                    <a:p>
                      <a:pPr algn="ctr">
                        <a:defRPr b="0" sz="1000">
                          <a:solidFill>
                            <a:srgbClr val="000000"/>
                          </a:solidFill>
                          <a:latin typeface="Montserrat"/>
                        </a:defRPr>
                      </a:pPr>
                      <a:r>
                        <a:t>1</a:t>
                      </a:r>
                    </a:p>
                  </a:txBody>
                  <a:tcPr anchor="ctr" marL="73152" marR="73152" marT="0" marB="0">
                    <a:solidFill>
                      <a:srgbClr val="EFEFEF"/>
                    </a:solidFill>
                  </a:tcPr>
                </a:tc>
                <a:tc>
                  <a:txBody>
                    <a:bodyPr/>
                    <a:lstStyle/>
                    <a:p>
                      <a:pPr algn="ctr">
                        <a:defRPr b="0" sz="1000">
                          <a:solidFill>
                            <a:srgbClr val="000000"/>
                          </a:solidFill>
                          <a:latin typeface="Montserrat"/>
                        </a:defRPr>
                      </a:pPr>
                      <a:r>
                        <a:t>528</a:t>
                      </a:r>
                    </a:p>
                  </a:txBody>
                  <a:tcPr anchor="ctr" marL="73152" marR="73152" marT="0" marB="0">
                    <a:solidFill>
                      <a:srgbClr val="EFEFEF"/>
                    </a:solidFill>
                  </a:tcPr>
                </a:tc>
                <a:tc>
                  <a:txBody>
                    <a:bodyPr/>
                    <a:lstStyle/>
                    <a:p>
                      <a:pPr algn="ctr">
                        <a:defRPr b="1" sz="1000">
                          <a:solidFill>
                            <a:srgbClr val="006455"/>
                          </a:solidFill>
                          <a:latin typeface="Montserrat"/>
                        </a:defRPr>
                      </a:pPr>
                      <a:r>
                        <a:t>1,265</a:t>
                      </a:r>
                    </a:p>
                  </a:txBody>
                  <a:tcPr anchor="ctr" marL="73152" marR="73152" marT="0" marB="0">
                    <a:solidFill>
                      <a:srgbClr val="D3E9E7"/>
                    </a:solidFill>
                  </a:tcPr>
                </a:tc>
              </a:tr>
              <a:tr h="201168">
                <a:tc>
                  <a:txBody>
                    <a:bodyPr/>
                    <a:lstStyle/>
                    <a:p>
                      <a:pPr algn="l">
                        <a:defRPr b="0" sz="1100">
                          <a:solidFill>
                            <a:srgbClr val="000000"/>
                          </a:solidFill>
                          <a:latin typeface="Montserrat"/>
                        </a:defRPr>
                      </a:pPr>
                      <a:r>
                        <a:t>Paramédicos</a:t>
                      </a:r>
                    </a:p>
                  </a:txBody>
                  <a:tcPr anchor="ctr" marL="73152" marR="73152" marT="0" marB="0">
                    <a:solidFill>
                      <a:srgbClr val="FFFFFF"/>
                    </a:solidFill>
                  </a:tcPr>
                </a:tc>
                <a:tc>
                  <a:txBody>
                    <a:bodyPr/>
                    <a:lstStyle/>
                    <a:p>
                      <a:pPr algn="ctr">
                        <a:defRPr b="0" sz="1000">
                          <a:solidFill>
                            <a:srgbClr val="000000"/>
                          </a:solidFill>
                          <a:latin typeface="Montserrat"/>
                        </a:defRPr>
                      </a:pPr>
                      <a:r>
                        <a:t>66</a:t>
                      </a:r>
                    </a:p>
                  </a:txBody>
                  <a:tcPr anchor="ctr" marL="73152" marR="73152" marT="0" marB="0">
                    <a:solidFill>
                      <a:srgbClr val="FFFFFF"/>
                    </a:solidFill>
                  </a:tcPr>
                </a:tc>
                <a:tc>
                  <a:txBody>
                    <a:bodyPr/>
                    <a:lstStyle/>
                    <a:p>
                      <a:pPr algn="ctr">
                        <a:defRPr b="0" sz="1000">
                          <a:solidFill>
                            <a:srgbClr val="000000"/>
                          </a:solidFill>
                          <a:latin typeface="Montserrat"/>
                        </a:defRPr>
                      </a:pPr>
                      <a:r>
                        <a:t>0</a:t>
                      </a:r>
                    </a:p>
                  </a:txBody>
                  <a:tcPr anchor="ctr" marL="73152" marR="73152" marT="0" marB="0">
                    <a:solidFill>
                      <a:srgbClr val="FFFFFF"/>
                    </a:solidFill>
                  </a:tcPr>
                </a:tc>
                <a:tc>
                  <a:txBody>
                    <a:bodyPr/>
                    <a:lstStyle/>
                    <a:p>
                      <a:pPr algn="ctr">
                        <a:defRPr b="0" sz="1000">
                          <a:solidFill>
                            <a:srgbClr val="000000"/>
                          </a:solidFill>
                          <a:latin typeface="Montserrat"/>
                        </a:defRPr>
                      </a:pPr>
                      <a:r>
                        <a:t>6</a:t>
                      </a:r>
                    </a:p>
                  </a:txBody>
                  <a:tcPr anchor="ctr" marL="73152" marR="73152" marT="0" marB="0">
                    <a:solidFill>
                      <a:srgbClr val="FFFFFF"/>
                    </a:solidFill>
                  </a:tcPr>
                </a:tc>
                <a:tc>
                  <a:txBody>
                    <a:bodyPr/>
                    <a:lstStyle/>
                    <a:p>
                      <a:pPr algn="ctr">
                        <a:defRPr b="0" sz="1000">
                          <a:solidFill>
                            <a:srgbClr val="000000"/>
                          </a:solidFill>
                          <a:latin typeface="Montserrat"/>
                        </a:defRPr>
                      </a:pPr>
                      <a:r>
                        <a:t>22</a:t>
                      </a:r>
                    </a:p>
                  </a:txBody>
                  <a:tcPr anchor="ctr" marL="73152" marR="73152" marT="0" marB="0">
                    <a:solidFill>
                      <a:srgbClr val="FFFFFF"/>
                    </a:solidFill>
                  </a:tcPr>
                </a:tc>
                <a:tc>
                  <a:txBody>
                    <a:bodyPr/>
                    <a:lstStyle/>
                    <a:p>
                      <a:pPr algn="ctr">
                        <a:defRPr b="1" sz="1000">
                          <a:solidFill>
                            <a:srgbClr val="006455"/>
                          </a:solidFill>
                          <a:latin typeface="Montserrat"/>
                        </a:defRPr>
                      </a:pPr>
                      <a:r>
                        <a:t>94</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Administrativas</a:t>
                      </a:r>
                    </a:p>
                  </a:txBody>
                  <a:tcPr anchor="ctr" marL="73152" marR="73152" marT="0" marB="0">
                    <a:solidFill>
                      <a:srgbClr val="EFEFEF"/>
                    </a:solidFill>
                  </a:tcPr>
                </a:tc>
                <a:tc>
                  <a:txBody>
                    <a:bodyPr/>
                    <a:lstStyle/>
                    <a:p>
                      <a:pPr algn="ctr">
                        <a:defRPr b="0" sz="1000">
                          <a:solidFill>
                            <a:srgbClr val="000000"/>
                          </a:solidFill>
                          <a:latin typeface="Montserrat"/>
                        </a:defRPr>
                      </a:pPr>
                      <a:r>
                        <a:t>54</a:t>
                      </a:r>
                    </a:p>
                  </a:txBody>
                  <a:tcPr anchor="ctr" marL="73152" marR="73152" marT="0" marB="0">
                    <a:solidFill>
                      <a:srgbClr val="EFEFEF"/>
                    </a:solidFill>
                  </a:tcPr>
                </a:tc>
                <a:tc>
                  <a:txBody>
                    <a:bodyPr/>
                    <a:lstStyle/>
                    <a:p>
                      <a:pPr algn="ctr">
                        <a:defRPr b="0" sz="1000">
                          <a:solidFill>
                            <a:srgbClr val="000000"/>
                          </a:solidFill>
                          <a:latin typeface="Montserrat"/>
                        </a:defRPr>
                      </a:pPr>
                      <a:r>
                        <a:t>19</a:t>
                      </a:r>
                    </a:p>
                  </a:txBody>
                  <a:tcPr anchor="ctr" marL="73152" marR="73152" marT="0" marB="0">
                    <a:solidFill>
                      <a:srgbClr val="EFEFEF"/>
                    </a:solidFill>
                  </a:tcPr>
                </a:tc>
                <a:tc>
                  <a:txBody>
                    <a:bodyPr/>
                    <a:lstStyle/>
                    <a:p>
                      <a:pPr algn="ctr">
                        <a:defRPr b="0" sz="1000">
                          <a:solidFill>
                            <a:srgbClr val="000000"/>
                          </a:solidFill>
                          <a:latin typeface="Montserrat"/>
                        </a:defRPr>
                      </a:pPr>
                      <a:r>
                        <a:t>64</a:t>
                      </a:r>
                    </a:p>
                  </a:txBody>
                  <a:tcPr anchor="ctr" marL="73152" marR="73152" marT="0" marB="0">
                    <a:solidFill>
                      <a:srgbClr val="EFEFEF"/>
                    </a:solidFill>
                  </a:tcPr>
                </a:tc>
                <a:tc>
                  <a:txBody>
                    <a:bodyPr/>
                    <a:lstStyle/>
                    <a:p>
                      <a:pPr algn="ctr">
                        <a:defRPr b="0" sz="1000">
                          <a:solidFill>
                            <a:srgbClr val="000000"/>
                          </a:solidFill>
                          <a:latin typeface="Montserrat"/>
                        </a:defRPr>
                      </a:pPr>
                      <a:r>
                        <a:t>12</a:t>
                      </a:r>
                    </a:p>
                  </a:txBody>
                  <a:tcPr anchor="ctr" marL="73152" marR="73152" marT="0" marB="0">
                    <a:solidFill>
                      <a:srgbClr val="EFEFEF"/>
                    </a:solidFill>
                  </a:tcPr>
                </a:tc>
                <a:tc>
                  <a:txBody>
                    <a:bodyPr/>
                    <a:lstStyle/>
                    <a:p>
                      <a:pPr algn="ctr">
                        <a:defRPr b="1" sz="1000">
                          <a:solidFill>
                            <a:srgbClr val="006455"/>
                          </a:solidFill>
                          <a:latin typeface="Montserrat"/>
                        </a:defRPr>
                      </a:pPr>
                      <a:r>
                        <a:t>149</a:t>
                      </a:r>
                    </a:p>
                  </a:txBody>
                  <a:tcPr anchor="ctr" marL="73152" marR="73152" marT="0" marB="0">
                    <a:solidFill>
                      <a:srgbClr val="D3E9E7"/>
                    </a:solidFill>
                  </a:tcPr>
                </a:tc>
              </a:tr>
              <a:tr h="201168">
                <a:tc>
                  <a:txBody>
                    <a:bodyPr/>
                    <a:lstStyle/>
                    <a:p>
                      <a:pPr algn="l">
                        <a:defRPr b="0" sz="1100">
                          <a:solidFill>
                            <a:srgbClr val="000000"/>
                          </a:solidFill>
                          <a:latin typeface="Montserrat"/>
                        </a:defRPr>
                      </a:pPr>
                      <a:r>
                        <a:t>Servicios Generales</a:t>
                      </a:r>
                    </a:p>
                  </a:txBody>
                  <a:tcPr anchor="ctr" marL="73152" marR="73152" marT="0" marB="0">
                    <a:solidFill>
                      <a:srgbClr val="FFFFFF"/>
                    </a:solidFill>
                  </a:tcPr>
                </a:tc>
                <a:tc>
                  <a:txBody>
                    <a:bodyPr/>
                    <a:lstStyle/>
                    <a:p>
                      <a:pPr algn="ctr">
                        <a:defRPr b="0" sz="1000">
                          <a:solidFill>
                            <a:srgbClr val="000000"/>
                          </a:solidFill>
                          <a:latin typeface="Montserrat"/>
                        </a:defRPr>
                      </a:pPr>
                      <a:r>
                        <a:t>187</a:t>
                      </a:r>
                    </a:p>
                  </a:txBody>
                  <a:tcPr anchor="ctr" marL="73152" marR="73152" marT="0" marB="0">
                    <a:solidFill>
                      <a:srgbClr val="FFFFFF"/>
                    </a:solidFill>
                  </a:tcPr>
                </a:tc>
                <a:tc>
                  <a:txBody>
                    <a:bodyPr/>
                    <a:lstStyle/>
                    <a:p>
                      <a:pPr algn="ctr">
                        <a:defRPr b="0" sz="1000">
                          <a:solidFill>
                            <a:srgbClr val="000000"/>
                          </a:solidFill>
                          <a:latin typeface="Montserrat"/>
                        </a:defRPr>
                      </a:pPr>
                      <a:r>
                        <a:t>13</a:t>
                      </a:r>
                    </a:p>
                  </a:txBody>
                  <a:tcPr anchor="ctr" marL="73152" marR="73152" marT="0" marB="0">
                    <a:solidFill>
                      <a:srgbClr val="FFFFFF"/>
                    </a:solidFill>
                  </a:tcPr>
                </a:tc>
                <a:tc>
                  <a:txBody>
                    <a:bodyPr/>
                    <a:lstStyle/>
                    <a:p>
                      <a:pPr algn="ctr">
                        <a:defRPr b="0" sz="1000">
                          <a:solidFill>
                            <a:srgbClr val="000000"/>
                          </a:solidFill>
                          <a:latin typeface="Montserrat"/>
                        </a:defRPr>
                      </a:pPr>
                      <a:r>
                        <a:t>27</a:t>
                      </a:r>
                    </a:p>
                  </a:txBody>
                  <a:tcPr anchor="ctr" marL="73152" marR="73152" marT="0" marB="0">
                    <a:solidFill>
                      <a:srgbClr val="FFFFFF"/>
                    </a:solidFill>
                  </a:tcPr>
                </a:tc>
                <a:tc>
                  <a:txBody>
                    <a:bodyPr/>
                    <a:lstStyle/>
                    <a:p>
                      <a:pPr algn="ctr">
                        <a:defRPr b="0" sz="1000">
                          <a:solidFill>
                            <a:srgbClr val="000000"/>
                          </a:solidFill>
                          <a:latin typeface="Montserrat"/>
                        </a:defRPr>
                      </a:pPr>
                      <a:r>
                        <a:t>66</a:t>
                      </a:r>
                    </a:p>
                  </a:txBody>
                  <a:tcPr anchor="ctr" marL="73152" marR="73152" marT="0" marB="0">
                    <a:solidFill>
                      <a:srgbClr val="FFFFFF"/>
                    </a:solidFill>
                  </a:tcPr>
                </a:tc>
                <a:tc>
                  <a:txBody>
                    <a:bodyPr/>
                    <a:lstStyle/>
                    <a:p>
                      <a:pPr algn="ctr">
                        <a:defRPr b="1" sz="1000">
                          <a:solidFill>
                            <a:srgbClr val="006455"/>
                          </a:solidFill>
                          <a:latin typeface="Montserrat"/>
                        </a:defRPr>
                      </a:pPr>
                      <a:r>
                        <a:t>293</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Acción Comunitaria</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0" sz="1000">
                          <a:solidFill>
                            <a:srgbClr val="000000"/>
                          </a:solidFill>
                          <a:latin typeface="Montserrat"/>
                        </a:defRPr>
                      </a:pPr>
                      <a:r>
                        <a:t>17</a:t>
                      </a:r>
                    </a:p>
                  </a:txBody>
                  <a:tcPr anchor="ctr" marL="73152" marR="73152" marT="0" marB="0">
                    <a:solidFill>
                      <a:srgbClr val="EFEFEF"/>
                    </a:solidFill>
                  </a:tcPr>
                </a:tc>
                <a:tc>
                  <a:txBody>
                    <a:bodyPr/>
                    <a:lstStyle/>
                    <a:p>
                      <a:pPr algn="ctr">
                        <a:defRPr b="0" sz="1000">
                          <a:solidFill>
                            <a:srgbClr val="000000"/>
                          </a:solidFill>
                          <a:latin typeface="Montserrat"/>
                        </a:defRPr>
                      </a:pPr>
                      <a:r>
                        <a:t>9</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1" sz="1000">
                          <a:solidFill>
                            <a:srgbClr val="006455"/>
                          </a:solidFill>
                          <a:latin typeface="Montserrat"/>
                        </a:defRPr>
                      </a:pPr>
                      <a:r>
                        <a:t>26</a:t>
                      </a:r>
                    </a:p>
                  </a:txBody>
                  <a:tcPr anchor="ctr" marL="73152" marR="73152" marT="0" marB="0">
                    <a:solidFill>
                      <a:srgbClr val="D3E9E7"/>
                    </a:solidFill>
                  </a:tcPr>
                </a:tc>
              </a:tr>
              <a:tr h="201168">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1,539</a:t>
                      </a:r>
                    </a:p>
                  </a:txBody>
                  <a:tcPr anchor="ctr" marL="73152" marR="73152" marT="0" marB="0">
                    <a:solidFill>
                      <a:srgbClr val="D3E9E7"/>
                    </a:solidFill>
                  </a:tcPr>
                </a:tc>
                <a:tc>
                  <a:txBody>
                    <a:bodyPr/>
                    <a:lstStyle/>
                    <a:p>
                      <a:pPr algn="ctr">
                        <a:defRPr b="1" sz="1000">
                          <a:solidFill>
                            <a:srgbClr val="006455"/>
                          </a:solidFill>
                          <a:latin typeface="Montserrat"/>
                        </a:defRPr>
                      </a:pPr>
                      <a:r>
                        <a:t>97</a:t>
                      </a:r>
                    </a:p>
                  </a:txBody>
                  <a:tcPr anchor="ctr" marL="73152" marR="73152" marT="0" marB="0">
                    <a:solidFill>
                      <a:srgbClr val="D3E9E7"/>
                    </a:solidFill>
                  </a:tcPr>
                </a:tc>
                <a:tc>
                  <a:txBody>
                    <a:bodyPr/>
                    <a:lstStyle/>
                    <a:p>
                      <a:pPr algn="ctr">
                        <a:defRPr b="1" sz="1000">
                          <a:solidFill>
                            <a:srgbClr val="006455"/>
                          </a:solidFill>
                          <a:latin typeface="Montserrat"/>
                        </a:defRPr>
                      </a:pPr>
                      <a:r>
                        <a:t>113</a:t>
                      </a:r>
                    </a:p>
                  </a:txBody>
                  <a:tcPr anchor="ctr" marL="73152" marR="73152" marT="0" marB="0">
                    <a:solidFill>
                      <a:srgbClr val="D3E9E7"/>
                    </a:solidFill>
                  </a:tcPr>
                </a:tc>
                <a:tc>
                  <a:txBody>
                    <a:bodyPr/>
                    <a:lstStyle/>
                    <a:p>
                      <a:pPr algn="ctr">
                        <a:defRPr b="1" sz="1000">
                          <a:solidFill>
                            <a:srgbClr val="006455"/>
                          </a:solidFill>
                          <a:latin typeface="Montserrat"/>
                        </a:defRPr>
                      </a:pPr>
                      <a:r>
                        <a:t>669</a:t>
                      </a:r>
                    </a:p>
                  </a:txBody>
                  <a:tcPr anchor="ctr" marL="73152" marR="73152" marT="0" marB="0">
                    <a:solidFill>
                      <a:srgbClr val="D3E9E7"/>
                    </a:solidFill>
                  </a:tcPr>
                </a:tc>
                <a:tc>
                  <a:txBody>
                    <a:bodyPr/>
                    <a:lstStyle/>
                    <a:p>
                      <a:pPr algn="ctr">
                        <a:defRPr b="1" sz="1000">
                          <a:solidFill>
                            <a:srgbClr val="006455"/>
                          </a:solidFill>
                          <a:latin typeface="Montserrat"/>
                        </a:defRPr>
                      </a:pPr>
                      <a:r>
                        <a:t>2,418</a:t>
                      </a:r>
                    </a:p>
                  </a:txBody>
                  <a:tcPr anchor="ctr" marL="73152" marR="73152" marT="0" marB="0">
                    <a:solidFill>
                      <a:srgbClr val="D3E9E7"/>
                    </a:solidFill>
                  </a:tcPr>
                </a:tc>
              </a:tr>
            </a:tbl>
          </a:graphicData>
        </a:graphic>
      </p:graphicFrame>
      <p:graphicFrame>
        <p:nvGraphicFramePr>
          <p:cNvPr id="536" name="Table 535"/>
          <p:cNvGraphicFramePr>
            <a:graphicFrameLocks noGrp="1"/>
          </p:cNvGraphicFramePr>
          <p:nvPr/>
        </p:nvGraphicFramePr>
        <p:xfrm>
          <a:off x="310896" y="7991856"/>
          <a:ext cx="7004303" cy="612648"/>
        </p:xfrm>
        <a:graphic>
          <a:graphicData uri="http://schemas.openxmlformats.org/drawingml/2006/table">
            <a:tbl>
              <a:tblPr firstRow="1" bandRow="1">
                <a:tableStyleId>{5C22544A-7EE6-4342-B048-85BDC9FD1C3A}</a:tableStyleId>
              </a:tblPr>
              <a:tblGrid>
                <a:gridCol w="996696"/>
                <a:gridCol w="996696"/>
                <a:gridCol w="832104"/>
                <a:gridCol w="1060704"/>
                <a:gridCol w="969264"/>
                <a:gridCol w="1042415"/>
                <a:gridCol w="1106424"/>
              </a:tblGrid>
              <a:tr h="306324">
                <a:tc>
                  <a:txBody>
                    <a:bodyPr/>
                    <a:lstStyle/>
                    <a:p>
                      <a:pPr algn="ctr">
                        <a:defRPr b="1" sz="1100">
                          <a:solidFill>
                            <a:srgbClr val="FFFFFF"/>
                          </a:solidFill>
                          <a:latin typeface="Montserrat"/>
                        </a:defRPr>
                      </a:pPr>
                      <a:r>
                        <a:t>OOAD</a:t>
                      </a:r>
                    </a:p>
                  </a:txBody>
                  <a:tcPr marL="36576" marR="36576" marT="36576" marB="36576">
                    <a:solidFill>
                      <a:srgbClr val="006455"/>
                    </a:solidFill>
                  </a:tcPr>
                </a:tc>
                <a:tc>
                  <a:txBody>
                    <a:bodyPr/>
                    <a:lstStyle/>
                    <a:p>
                      <a:pPr algn="ctr">
                        <a:defRPr b="1" sz="1100">
                          <a:solidFill>
                            <a:srgbClr val="FFFFFF"/>
                          </a:solidFill>
                          <a:latin typeface="Montserrat"/>
                        </a:defRPr>
                      </a:pPr>
                      <a:r>
                        <a:t>Voluntarios Rurales</a:t>
                      </a:r>
                    </a:p>
                  </a:txBody>
                  <a:tcPr marL="36576" marR="36576" marT="36576" marB="36576">
                    <a:solidFill>
                      <a:srgbClr val="006455"/>
                    </a:solidFill>
                  </a:tcPr>
                </a:tc>
                <a:tc>
                  <a:txBody>
                    <a:bodyPr/>
                    <a:lstStyle/>
                    <a:p>
                      <a:pPr algn="ctr">
                        <a:defRPr b="1" sz="1100">
                          <a:solidFill>
                            <a:srgbClr val="FFFFFF"/>
                          </a:solidFill>
                          <a:latin typeface="Montserrat"/>
                        </a:defRPr>
                      </a:pPr>
                      <a:r>
                        <a:t>Comités de Salud</a:t>
                      </a:r>
                    </a:p>
                  </a:txBody>
                  <a:tcPr marL="36576" marR="36576" marT="36576" marB="36576">
                    <a:solidFill>
                      <a:srgbClr val="006455"/>
                    </a:solidFill>
                  </a:tcPr>
                </a:tc>
                <a:tc>
                  <a:txBody>
                    <a:bodyPr/>
                    <a:lstStyle/>
                    <a:p>
                      <a:pPr algn="ctr">
                        <a:defRPr b="1" sz="1100">
                          <a:solidFill>
                            <a:srgbClr val="FFFFFF"/>
                          </a:solidFill>
                          <a:latin typeface="Montserrat"/>
                        </a:defRPr>
                      </a:pPr>
                      <a:r>
                        <a:t>Integrantes de Comités</a:t>
                      </a:r>
                    </a:p>
                  </a:txBody>
                  <a:tcPr marL="36576" marR="36576" marT="36576" marB="36576">
                    <a:solidFill>
                      <a:srgbClr val="006455"/>
                    </a:solidFill>
                  </a:tcPr>
                </a:tc>
                <a:tc>
                  <a:txBody>
                    <a:bodyPr/>
                    <a:lstStyle/>
                    <a:p>
                      <a:pPr algn="ctr">
                        <a:defRPr b="1" sz="1100">
                          <a:solidFill>
                            <a:srgbClr val="FFFFFF"/>
                          </a:solidFill>
                          <a:latin typeface="Montserrat"/>
                        </a:defRPr>
                      </a:pPr>
                      <a:r>
                        <a:t>Voluntarios</a:t>
                      </a:r>
                    </a:p>
                  </a:txBody>
                  <a:tcPr marL="36576" marR="36576" marT="36576" marB="36576">
                    <a:solidFill>
                      <a:srgbClr val="006455"/>
                    </a:solidFill>
                  </a:tcPr>
                </a:tc>
                <a:tc>
                  <a:txBody>
                    <a:bodyPr/>
                    <a:lstStyle/>
                    <a:p>
                      <a:pPr algn="ctr">
                        <a:defRPr b="1" sz="1100">
                          <a:solidFill>
                            <a:srgbClr val="FFFFFF"/>
                          </a:solidFill>
                          <a:latin typeface="Montserrat"/>
                        </a:defRPr>
                      </a:pPr>
                      <a:r>
                        <a:t>Parteras Voluntarias</a:t>
                      </a:r>
                    </a:p>
                  </a:txBody>
                  <a:tcPr marL="36576" marR="36576" marT="36576" marB="36576">
                    <a:solidFill>
                      <a:srgbClr val="006455"/>
                    </a:solidFill>
                  </a:tcPr>
                </a:tc>
                <a:tc>
                  <a:txBody>
                    <a:bodyPr/>
                    <a:lstStyle/>
                    <a:p>
                      <a:pPr algn="ctr">
                        <a:defRPr b="1" sz="1100">
                          <a:solidFill>
                            <a:srgbClr val="FFFFFF"/>
                          </a:solidFill>
                          <a:latin typeface="Montserrat"/>
                        </a:defRPr>
                      </a:pPr>
                      <a:r>
                        <a:t>Médicos Tradicionales</a:t>
                      </a:r>
                    </a:p>
                  </a:txBody>
                  <a:tcPr marL="36576" marR="36576" marT="36576" marB="36576">
                    <a:solidFill>
                      <a:srgbClr val="006455"/>
                    </a:solidFill>
                  </a:tcPr>
                </a:tc>
              </a:tr>
              <a:tr h="306324">
                <a:tc>
                  <a:txBody>
                    <a:bodyPr/>
                    <a:lstStyle/>
                    <a:p>
                      <a:pPr algn="l">
                        <a:defRPr b="1" sz="1000">
                          <a:solidFill>
                            <a:srgbClr val="006455"/>
                          </a:solidFill>
                          <a:latin typeface="Montserrat"/>
                        </a:defRPr>
                      </a:pPr>
                      <a:r>
                        <a:t>Total Programa</a:t>
                      </a:r>
                    </a:p>
                  </a:txBody>
                  <a:tcPr anchor="ctr" marL="73152" marR="73152" marT="0" marB="0">
                    <a:solidFill>
                      <a:srgbClr val="D3E9E7"/>
                    </a:solidFill>
                  </a:tcPr>
                </a:tc>
                <a:tc>
                  <a:txBody>
                    <a:bodyPr/>
                    <a:lstStyle/>
                    <a:p>
                      <a:pPr algn="ctr">
                        <a:defRPr b="1" sz="1000">
                          <a:solidFill>
                            <a:srgbClr val="006455"/>
                          </a:solidFill>
                          <a:latin typeface="Montserrat"/>
                        </a:defRPr>
                      </a:pPr>
                      <a:r>
                        <a:t>2,443</a:t>
                      </a:r>
                    </a:p>
                  </a:txBody>
                  <a:tcPr anchor="ctr" marL="73152" marR="73152" marT="0" marB="0">
                    <a:solidFill>
                      <a:srgbClr val="D3E9E7"/>
                    </a:solidFill>
                  </a:tcPr>
                </a:tc>
                <a:tc>
                  <a:txBody>
                    <a:bodyPr/>
                    <a:lstStyle/>
                    <a:p>
                      <a:pPr algn="ctr">
                        <a:defRPr b="1" sz="1000">
                          <a:solidFill>
                            <a:srgbClr val="006455"/>
                          </a:solidFill>
                          <a:latin typeface="Montserrat"/>
                        </a:defRPr>
                      </a:pPr>
                      <a:r>
                        <a:t>2,791</a:t>
                      </a:r>
                    </a:p>
                  </a:txBody>
                  <a:tcPr anchor="ctr" marL="73152" marR="73152" marT="0" marB="0">
                    <a:solidFill>
                      <a:srgbClr val="D3E9E7"/>
                    </a:solidFill>
                  </a:tcPr>
                </a:tc>
                <a:tc>
                  <a:txBody>
                    <a:bodyPr/>
                    <a:lstStyle/>
                    <a:p>
                      <a:pPr algn="ctr">
                        <a:defRPr b="1" sz="1000">
                          <a:solidFill>
                            <a:srgbClr val="006455"/>
                          </a:solidFill>
                          <a:latin typeface="Montserrat"/>
                        </a:defRPr>
                      </a:pPr>
                      <a:r>
                        <a:t>17,171</a:t>
                      </a:r>
                    </a:p>
                  </a:txBody>
                  <a:tcPr anchor="ctr" marL="73152" marR="73152" marT="0" marB="0">
                    <a:solidFill>
                      <a:srgbClr val="D3E9E7"/>
                    </a:solidFill>
                  </a:tcPr>
                </a:tc>
                <a:tc>
                  <a:txBody>
                    <a:bodyPr/>
                    <a:lstStyle/>
                    <a:p>
                      <a:pPr algn="ctr">
                        <a:defRPr b="1" sz="1000">
                          <a:solidFill>
                            <a:srgbClr val="006455"/>
                          </a:solidFill>
                          <a:latin typeface="Montserrat"/>
                        </a:defRPr>
                      </a:pPr>
                      <a:r>
                        <a:t>26,243</a:t>
                      </a:r>
                    </a:p>
                  </a:txBody>
                  <a:tcPr anchor="ctr" marL="73152" marR="73152" marT="0" marB="0">
                    <a:solidFill>
                      <a:srgbClr val="D3E9E7"/>
                    </a:solidFill>
                  </a:tcPr>
                </a:tc>
                <a:tc>
                  <a:txBody>
                    <a:bodyPr/>
                    <a:lstStyle/>
                    <a:p>
                      <a:pPr algn="ctr">
                        <a:defRPr b="1" sz="1000">
                          <a:solidFill>
                            <a:srgbClr val="006455"/>
                          </a:solidFill>
                          <a:latin typeface="Montserrat"/>
                        </a:defRPr>
                      </a:pPr>
                      <a:r>
                        <a:t>1,096</a:t>
                      </a:r>
                    </a:p>
                  </a:txBody>
                  <a:tcPr anchor="ctr" marL="73152" marR="73152" marT="0" marB="0">
                    <a:solidFill>
                      <a:srgbClr val="D3E9E7"/>
                    </a:solidFill>
                  </a:tcPr>
                </a:tc>
                <a:tc>
                  <a:txBody>
                    <a:bodyPr/>
                    <a:lstStyle/>
                    <a:p>
                      <a:pPr algn="ctr">
                        <a:defRPr b="1" sz="1000">
                          <a:solidFill>
                            <a:srgbClr val="006455"/>
                          </a:solidFill>
                          <a:latin typeface="Montserrat"/>
                        </a:defRPr>
                      </a:pPr>
                      <a:r>
                        <a:t>127</a:t>
                      </a:r>
                    </a:p>
                  </a:txBody>
                  <a:tcPr anchor="ctr" marL="73152" marR="73152" marT="0" marB="0">
                    <a:solidFill>
                      <a:srgbClr val="D3E9E7"/>
                    </a:solidFill>
                  </a:tcPr>
                </a:tc>
              </a:tr>
            </a:tbl>
          </a:graphicData>
        </a:graphic>
      </p:graphicFrame>
      <p:sp>
        <p:nvSpPr>
          <p:cNvPr id="537" name="Rounded Rectangle 536"/>
          <p:cNvSpPr/>
          <p:nvPr/>
        </p:nvSpPr>
        <p:spPr>
          <a:xfrm rot="16200000">
            <a:off x="5648400" y="-93600"/>
            <a:ext cx="7920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8" name="Connector 537"/>
          <p:cNvCxnSpPr/>
          <p:nvPr/>
        </p:nvCxnSpPr>
        <p:spPr>
          <a:xfrm>
            <a:off x="6213600" y="1353600"/>
            <a:ext cx="0" cy="5760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39" name="TextBox 538"/>
          <p:cNvSpPr txBox="1"/>
          <p:nvPr/>
        </p:nvSpPr>
        <p:spPr>
          <a:xfrm>
            <a:off x="4478400" y="1429200"/>
            <a:ext cx="1645200" cy="500399"/>
          </a:xfrm>
          <a:prstGeom prst="rect">
            <a:avLst/>
          </a:prstGeom>
          <a:noFill/>
        </p:spPr>
        <p:txBody>
          <a:bodyPr wrap="none">
            <a:spAutoFit/>
          </a:bodyPr>
          <a:lstStyle/>
          <a:p>
            <a:pPr algn="ctr">
              <a:defRPr b="1" sz="2000">
                <a:solidFill>
                  <a:srgbClr val="A08250"/>
                </a:solidFill>
                <a:latin typeface="Montserrat"/>
              </a:defRPr>
            </a:pPr>
            <a:r>
              <a:t>1,449,130</a:t>
            </a:r>
          </a:p>
          <a:p>
            <a:pPr algn="ctr">
              <a:defRPr sz="1000">
                <a:solidFill>
                  <a:srgbClr val="A08250"/>
                </a:solidFill>
                <a:latin typeface="Montserrat"/>
              </a:defRPr>
            </a:pPr>
            <a:r>
              <a:t>Población beneficiaria</a:t>
            </a:r>
          </a:p>
        </p:txBody>
      </p:sp>
      <p:sp>
        <p:nvSpPr>
          <p:cNvPr id="540" name="TextBox 539"/>
          <p:cNvSpPr txBox="1"/>
          <p:nvPr/>
        </p:nvSpPr>
        <p:spPr>
          <a:xfrm>
            <a:off x="6393600" y="1195200"/>
            <a:ext cx="1137600" cy="500399"/>
          </a:xfrm>
          <a:prstGeom prst="rect">
            <a:avLst/>
          </a:prstGeom>
          <a:noFill/>
        </p:spPr>
        <p:txBody>
          <a:bodyPr wrap="none">
            <a:spAutoFit/>
          </a:bodyPr>
          <a:lstStyle/>
          <a:p>
            <a:pPr algn="ctr">
              <a:defRPr b="1" sz="1500">
                <a:solidFill>
                  <a:srgbClr val="A08250"/>
                </a:solidFill>
                <a:latin typeface="Montserrat"/>
              </a:defRPr>
            </a:pPr>
            <a:r>
              <a:t>379,440</a:t>
            </a:r>
          </a:p>
          <a:p>
            <a:pPr algn="ctr">
              <a:defRPr sz="1000">
                <a:solidFill>
                  <a:srgbClr val="A08250"/>
                </a:solidFill>
                <a:latin typeface="Montserrat"/>
              </a:defRPr>
            </a:pPr>
            <a:r>
              <a:t>Derechohabiente</a:t>
            </a:r>
          </a:p>
        </p:txBody>
      </p:sp>
      <p:sp>
        <p:nvSpPr>
          <p:cNvPr id="541" name="TextBox 540"/>
          <p:cNvSpPr txBox="1"/>
          <p:nvPr/>
        </p:nvSpPr>
        <p:spPr>
          <a:xfrm>
            <a:off x="5443200" y="1602000"/>
            <a:ext cx="2998800" cy="370800"/>
          </a:xfrm>
          <a:prstGeom prst="rect">
            <a:avLst/>
          </a:prstGeom>
          <a:noFill/>
        </p:spPr>
        <p:txBody>
          <a:bodyPr wrap="none">
            <a:spAutoFit/>
          </a:bodyPr>
          <a:lstStyle/>
          <a:p>
            <a:pPr algn="ctr">
              <a:defRPr b="1" sz="1500">
                <a:solidFill>
                  <a:srgbClr val="A08250"/>
                </a:solidFill>
                <a:latin typeface="Montserrat"/>
              </a:defRPr>
            </a:pPr>
            <a:r>
              <a:t>1,069,690</a:t>
            </a:r>
          </a:p>
          <a:p>
            <a:pPr algn="ctr">
              <a:defRPr sz="1000">
                <a:solidFill>
                  <a:srgbClr val="A08250"/>
                </a:solidFill>
                <a:latin typeface="Montserrat"/>
              </a:defRPr>
            </a:pPr>
            <a:r>
              <a:t>Población abierta</a:t>
            </a:r>
          </a:p>
        </p:txBody>
      </p:sp>
      <p:sp>
        <p:nvSpPr>
          <p:cNvPr id="542" name="Rounded Rectangle 541"/>
          <p:cNvSpPr/>
          <p:nvPr/>
        </p:nvSpPr>
        <p:spPr>
          <a:xfrm rot="16200000">
            <a:off x="5652000" y="802800"/>
            <a:ext cx="7632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3" name="Connector 542"/>
          <p:cNvCxnSpPr/>
          <p:nvPr/>
        </p:nvCxnSpPr>
        <p:spPr>
          <a:xfrm>
            <a:off x="6213600" y="2224800"/>
            <a:ext cx="0" cy="5256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44" name="TextBox 543"/>
          <p:cNvSpPr txBox="1"/>
          <p:nvPr/>
        </p:nvSpPr>
        <p:spPr>
          <a:xfrm>
            <a:off x="4672800" y="2289600"/>
            <a:ext cx="1198800" cy="432000"/>
          </a:xfrm>
          <a:prstGeom prst="rect">
            <a:avLst/>
          </a:prstGeom>
          <a:noFill/>
        </p:spPr>
        <p:txBody>
          <a:bodyPr wrap="none">
            <a:spAutoFit/>
          </a:bodyPr>
          <a:lstStyle/>
          <a:p>
            <a:pPr algn="ctr">
              <a:defRPr sz="2000" b="1">
                <a:solidFill>
                  <a:srgbClr val="A08250"/>
                </a:solidFill>
                <a:latin typeface="Montserrat"/>
              </a:defRPr>
            </a:pPr>
            <a:r>
              <a:t>524,103</a:t>
            </a:r>
          </a:p>
        </p:txBody>
      </p:sp>
      <p:sp>
        <p:nvSpPr>
          <p:cNvPr id="545" name="TextBox 544"/>
          <p:cNvSpPr txBox="1"/>
          <p:nvPr/>
        </p:nvSpPr>
        <p:spPr>
          <a:xfrm>
            <a:off x="6501600" y="2163600"/>
            <a:ext cx="1007999" cy="500399"/>
          </a:xfrm>
          <a:prstGeom prst="rect">
            <a:avLst/>
          </a:prstGeom>
          <a:noFill/>
        </p:spPr>
        <p:txBody>
          <a:bodyPr wrap="square">
            <a:spAutoFit/>
          </a:bodyPr>
          <a:lstStyle/>
          <a:p>
            <a:pPr algn="ctr">
              <a:defRPr sz="1000" b="1">
                <a:solidFill>
                  <a:srgbClr val="A08250"/>
                </a:solidFill>
                <a:latin typeface="Montserrat"/>
              </a:defRPr>
            </a:pPr>
            <a:r>
              <a:t>Población en localidades indígenas</a:t>
            </a:r>
          </a:p>
        </p:txBody>
      </p:sp>
      <p:sp>
        <p:nvSpPr>
          <p:cNvPr id="546" name="Rounded Rectangle 545"/>
          <p:cNvSpPr/>
          <p:nvPr/>
        </p:nvSpPr>
        <p:spPr>
          <a:xfrm>
            <a:off x="5608800" y="32904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TextBox 546"/>
          <p:cNvSpPr txBox="1"/>
          <p:nvPr/>
        </p:nvSpPr>
        <p:spPr>
          <a:xfrm>
            <a:off x="5608800" y="3290400"/>
            <a:ext cx="2163600" cy="684000"/>
          </a:xfrm>
          <a:prstGeom prst="rect">
            <a:avLst/>
          </a:prstGeom>
          <a:noFill/>
        </p:spPr>
        <p:txBody>
          <a:bodyPr wrap="none">
            <a:spAutoFit/>
          </a:bodyPr>
          <a:lstStyle/>
          <a:p>
            <a:pPr algn="ctr">
              <a:defRPr b="1" sz="2600">
                <a:solidFill>
                  <a:srgbClr val="FFFFFF"/>
                </a:solidFill>
                <a:latin typeface="Montserrat"/>
              </a:defRPr>
            </a:pPr>
            <a:r>
              <a:t>1,509,670</a:t>
            </a:r>
          </a:p>
          <a:p>
            <a:pPr algn="ctr">
              <a:defRPr sz="1600">
                <a:solidFill>
                  <a:srgbClr val="CFC48C"/>
                </a:solidFill>
                <a:latin typeface="Montserrat"/>
              </a:defRPr>
            </a:pPr>
            <a:r>
              <a:t>consultas anuales</a:t>
            </a:r>
          </a:p>
        </p:txBody>
      </p:sp>
      <p:sp>
        <p:nvSpPr>
          <p:cNvPr id="548" name="Rounded Rectangle 547"/>
          <p:cNvSpPr/>
          <p:nvPr/>
        </p:nvSpPr>
        <p:spPr>
          <a:xfrm>
            <a:off x="5608800" y="42120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TextBox 548"/>
          <p:cNvSpPr txBox="1"/>
          <p:nvPr/>
        </p:nvSpPr>
        <p:spPr>
          <a:xfrm>
            <a:off x="5608800" y="4212000"/>
            <a:ext cx="2163600" cy="684000"/>
          </a:xfrm>
          <a:prstGeom prst="rect">
            <a:avLst/>
          </a:prstGeom>
          <a:noFill/>
        </p:spPr>
        <p:txBody>
          <a:bodyPr wrap="none">
            <a:spAutoFit/>
          </a:bodyPr>
          <a:lstStyle/>
          <a:p>
            <a:pPr algn="ctr">
              <a:defRPr b="1" sz="2600">
                <a:solidFill>
                  <a:srgbClr val="FFFFFF"/>
                </a:solidFill>
                <a:latin typeface="Montserrat"/>
              </a:defRPr>
            </a:pPr>
            <a:r>
              <a:t>7,131</a:t>
            </a:r>
          </a:p>
          <a:p>
            <a:pPr algn="ctr">
              <a:defRPr sz="1600">
                <a:solidFill>
                  <a:srgbClr val="CFC48C"/>
                </a:solidFill>
                <a:latin typeface="Montserrat"/>
              </a:defRPr>
            </a:pPr>
            <a:r>
              <a:t>cirugías anuales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4" name="Connector 3"/>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75600" y="1234800"/>
          <a:ext cx="7650000" cy="2073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HGR Orizaba</a:t>
                      </a:r>
                    </a:p>
                  </a:txBody>
                  <a:tcPr anchor="ctr">
                    <a:solidFill>
                      <a:srgbClr val="FFFFFF"/>
                    </a:solidFill>
                  </a:tcPr>
                </a:tc>
                <a:tc>
                  <a:txBody>
                    <a:bodyPr/>
                    <a:lstStyle/>
                    <a:p>
                      <a:pPr algn="ctr">
                        <a:defRPr sz="900">
                          <a:latin typeface="Montserrat"/>
                        </a:defRPr>
                      </a:pPr>
                      <a:r>
                        <a:t>Diciembre de 1975</a:t>
                      </a:r>
                    </a:p>
                  </a:txBody>
                  <a:tcPr anchor="ctr">
                    <a:solidFill>
                      <a:srgbClr val="FFFFFF"/>
                    </a:solidFill>
                  </a:tcPr>
                </a:tc>
                <a:tc>
                  <a:txBody>
                    <a:bodyPr/>
                    <a:lstStyle/>
                    <a:p>
                      <a:pPr algn="ctr">
                        <a:defRPr sz="900">
                          <a:latin typeface="Montserrat"/>
                        </a:defRPr>
                      </a:pPr>
                      <a:r>
                        <a:t>231</a:t>
                      </a:r>
                    </a:p>
                  </a:txBody>
                  <a:tcPr anchor="ctr">
                    <a:solidFill>
                      <a:srgbClr val="FFFFFF"/>
                    </a:solidFill>
                  </a:tcPr>
                </a:tc>
                <a:tc>
                  <a:txBody>
                    <a:bodyPr/>
                    <a:lstStyle/>
                    <a:p>
                      <a:pPr algn="ctr">
                        <a:defRPr sz="900">
                          <a:latin typeface="Montserrat"/>
                        </a:defRPr>
                      </a:pPr>
                      <a:r>
                        <a:t>106</a:t>
                      </a:r>
                    </a:p>
                  </a:txBody>
                  <a:tcPr anchor="ctr">
                    <a:solidFill>
                      <a:srgbClr val="FFFFFF"/>
                    </a:solidFill>
                  </a:tcPr>
                </a:tc>
                <a:tc>
                  <a:txBody>
                    <a:bodyPr/>
                    <a:lstStyle/>
                    <a:p>
                      <a:pPr algn="ctr">
                        <a:defRPr sz="900">
                          <a:latin typeface="Montserrat"/>
                        </a:defRPr>
                      </a:pPr>
                      <a:r>
                        <a:t>16</a:t>
                      </a:r>
                    </a:p>
                  </a:txBody>
                  <a:tcPr anchor="ctr">
                    <a:solidFill>
                      <a:srgbClr val="FFFFFF"/>
                    </a:solidFill>
                  </a:tcPr>
                </a:tc>
                <a:tc>
                  <a:txBody>
                    <a:bodyPr/>
                    <a:lstStyle/>
                    <a:p>
                      <a:pPr algn="ctr">
                        <a:defRPr sz="900">
                          <a:latin typeface="Montserrat"/>
                        </a:defRPr>
                      </a:pPr>
                      <a:r>
                        <a:t>8</a:t>
                      </a:r>
                    </a:p>
                  </a:txBody>
                  <a:tcPr anchor="ctr">
                    <a:solidFill>
                      <a:srgbClr val="FFFFFF"/>
                    </a:solidFill>
                  </a:tcPr>
                </a:tc>
                <a:tc>
                  <a:txBody>
                    <a:bodyPr/>
                    <a:lstStyle/>
                    <a:p>
                      <a:pPr algn="ctr">
                        <a:defRPr sz="900">
                          <a:latin typeface="Montserrat"/>
                        </a:defRPr>
                      </a:pPr>
                      <a:r>
                        <a:t>29</a:t>
                      </a:r>
                    </a:p>
                  </a:txBody>
                  <a:tcPr anchor="ctr">
                    <a:solidFill>
                      <a:srgbClr val="FFFFFF"/>
                    </a:solidFill>
                  </a:tcPr>
                </a:tc>
              </a:tr>
              <a:tr h="230400">
                <a:tc>
                  <a:txBody>
                    <a:bodyPr/>
                    <a:lstStyle/>
                    <a:p>
                      <a:pPr algn="l">
                        <a:defRPr sz="900">
                          <a:latin typeface="Montserrat"/>
                        </a:defRPr>
                      </a:pPr>
                      <a:r>
                        <a:t>HGZMF 28 Martínez de la Torre</a:t>
                      </a:r>
                    </a:p>
                  </a:txBody>
                  <a:tcPr anchor="ctr">
                    <a:solidFill>
                      <a:srgbClr val="EFEFEF"/>
                    </a:solidFill>
                  </a:tcPr>
                </a:tc>
                <a:tc>
                  <a:txBody>
                    <a:bodyPr/>
                    <a:lstStyle/>
                    <a:p>
                      <a:pPr algn="ctr">
                        <a:defRPr sz="900">
                          <a:latin typeface="Montserrat"/>
                        </a:defRPr>
                      </a:pPr>
                      <a:r>
                        <a:t>Febrero de 1976</a:t>
                      </a:r>
                    </a:p>
                  </a:txBody>
                  <a:tcPr anchor="ctr">
                    <a:solidFill>
                      <a:srgbClr val="EFEFEF"/>
                    </a:solidFill>
                  </a:tcPr>
                </a:tc>
                <a:tc>
                  <a:txBody>
                    <a:bodyPr/>
                    <a:lstStyle/>
                    <a:p>
                      <a:pPr algn="ctr">
                        <a:defRPr sz="900">
                          <a:latin typeface="Montserrat"/>
                        </a:defRPr>
                      </a:pPr>
                      <a:r>
                        <a:t>53</a:t>
                      </a:r>
                    </a:p>
                  </a:txBody>
                  <a:tcPr anchor="ctr">
                    <a:solidFill>
                      <a:srgbClr val="EFEFEF"/>
                    </a:solidFill>
                  </a:tcPr>
                </a:tc>
                <a:tc>
                  <a:txBody>
                    <a:bodyPr/>
                    <a:lstStyle/>
                    <a:p>
                      <a:pPr algn="ctr">
                        <a:defRPr sz="900">
                          <a:latin typeface="Montserrat"/>
                        </a:defRPr>
                      </a:pPr>
                      <a:r>
                        <a:t>27</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9</a:t>
                      </a:r>
                    </a:p>
                  </a:txBody>
                  <a:tcPr anchor="ctr">
                    <a:solidFill>
                      <a:srgbClr val="EFEFEF"/>
                    </a:solidFill>
                  </a:tcPr>
                </a:tc>
              </a:tr>
              <a:tr h="230400">
                <a:tc>
                  <a:txBody>
                    <a:bodyPr/>
                    <a:lstStyle/>
                    <a:p>
                      <a:pPr algn="l">
                        <a:defRPr sz="900">
                          <a:latin typeface="Montserrat"/>
                        </a:defRPr>
                      </a:pPr>
                      <a:r>
                        <a:t>HGZ 24 Poza Rica</a:t>
                      </a:r>
                    </a:p>
                  </a:txBody>
                  <a:tcPr anchor="ctr">
                    <a:solidFill>
                      <a:srgbClr val="FFFFFF"/>
                    </a:solidFill>
                  </a:tcPr>
                </a:tc>
                <a:tc>
                  <a:txBody>
                    <a:bodyPr/>
                    <a:lstStyle/>
                    <a:p>
                      <a:pPr algn="ctr">
                        <a:defRPr sz="900">
                          <a:latin typeface="Montserrat"/>
                        </a:defRPr>
                      </a:pPr>
                      <a:r>
                        <a:t>Noviembre de 1976</a:t>
                      </a:r>
                    </a:p>
                  </a:txBody>
                  <a:tcPr anchor="ctr">
                    <a:solidFill>
                      <a:srgbClr val="FFFFFF"/>
                    </a:solidFill>
                  </a:tcPr>
                </a:tc>
                <a:tc>
                  <a:txBody>
                    <a:bodyPr/>
                    <a:lstStyle/>
                    <a:p>
                      <a:pPr algn="ctr">
                        <a:defRPr sz="900">
                          <a:latin typeface="Montserrat"/>
                        </a:defRPr>
                      </a:pPr>
                      <a:r>
                        <a:t>122</a:t>
                      </a:r>
                    </a:p>
                  </a:txBody>
                  <a:tcPr anchor="ctr">
                    <a:solidFill>
                      <a:srgbClr val="FFFFFF"/>
                    </a:solidFill>
                  </a:tcPr>
                </a:tc>
                <a:tc>
                  <a:txBody>
                    <a:bodyPr/>
                    <a:lstStyle/>
                    <a:p>
                      <a:pPr algn="ctr">
                        <a:defRPr sz="900">
                          <a:latin typeface="Montserrat"/>
                        </a:defRPr>
                      </a:pPr>
                      <a:r>
                        <a:t>58</a:t>
                      </a:r>
                    </a:p>
                  </a:txBody>
                  <a:tcPr anchor="ctr">
                    <a:solidFill>
                      <a:srgbClr val="FFFFFF"/>
                    </a:solidFill>
                  </a:tcPr>
                </a:tc>
                <a:tc>
                  <a:txBody>
                    <a:bodyPr/>
                    <a:lstStyle/>
                    <a:p>
                      <a:pPr algn="ctr">
                        <a:defRPr sz="900">
                          <a:latin typeface="Montserrat"/>
                        </a:defRPr>
                      </a:pPr>
                      <a:r>
                        <a:t>8</a:t>
                      </a:r>
                    </a:p>
                  </a:txBody>
                  <a:tcPr anchor="ctr">
                    <a:solidFill>
                      <a:srgbClr val="FFFFFF"/>
                    </a:solidFill>
                  </a:tcPr>
                </a:tc>
                <a:tc>
                  <a:txBody>
                    <a:bodyPr/>
                    <a:lstStyle/>
                    <a:p>
                      <a:pPr algn="ctr">
                        <a:defRPr sz="900">
                          <a:latin typeface="Montserrat"/>
                        </a:defRPr>
                      </a:pPr>
                      <a:r>
                        <a:t>3</a:t>
                      </a:r>
                    </a:p>
                  </a:txBody>
                  <a:tcPr anchor="ctr">
                    <a:solidFill>
                      <a:srgbClr val="FFFFFF"/>
                    </a:solidFill>
                  </a:tcPr>
                </a:tc>
                <a:tc>
                  <a:txBody>
                    <a:bodyPr/>
                    <a:lstStyle/>
                    <a:p>
                      <a:pPr algn="ctr">
                        <a:defRPr sz="900">
                          <a:latin typeface="Montserrat"/>
                        </a:defRPr>
                      </a:pPr>
                      <a:r>
                        <a:t>24</a:t>
                      </a:r>
                    </a:p>
                  </a:txBody>
                  <a:tcPr anchor="ctr">
                    <a:solidFill>
                      <a:srgbClr val="FFFFFF"/>
                    </a:solidFill>
                  </a:tcPr>
                </a:tc>
              </a:tr>
              <a:tr h="230400">
                <a:tc>
                  <a:txBody>
                    <a:bodyPr/>
                    <a:lstStyle/>
                    <a:p>
                      <a:pPr algn="l">
                        <a:defRPr sz="900">
                          <a:latin typeface="Montserrat"/>
                        </a:defRPr>
                      </a:pPr>
                      <a:r>
                        <a:t>HGSMF 33 S. Andrés Tuxtla</a:t>
                      </a:r>
                    </a:p>
                  </a:txBody>
                  <a:tcPr anchor="ctr">
                    <a:solidFill>
                      <a:srgbClr val="EFEFEF"/>
                    </a:solidFill>
                  </a:tcPr>
                </a:tc>
                <a:tc>
                  <a:txBody>
                    <a:bodyPr/>
                    <a:lstStyle/>
                    <a:p>
                      <a:pPr algn="ctr">
                        <a:defRPr sz="900">
                          <a:latin typeface="Montserrat"/>
                        </a:defRPr>
                      </a:pPr>
                      <a:r>
                        <a:t>Noviembre de 1979</a:t>
                      </a:r>
                    </a:p>
                  </a:txBody>
                  <a:tcPr anchor="ctr">
                    <a:solidFill>
                      <a:srgbClr val="EFEFEF"/>
                    </a:solidFill>
                  </a:tcPr>
                </a:tc>
                <a:tc>
                  <a:txBody>
                    <a:bodyPr/>
                    <a:lstStyle/>
                    <a:p>
                      <a:pPr algn="ctr">
                        <a:defRPr sz="900">
                          <a:latin typeface="Montserrat"/>
                        </a:defRPr>
                      </a:pPr>
                      <a:r>
                        <a:t>45</a:t>
                      </a:r>
                    </a:p>
                  </a:txBody>
                  <a:tcPr anchor="ctr">
                    <a:solidFill>
                      <a:srgbClr val="EFEFEF"/>
                    </a:solidFill>
                  </a:tcPr>
                </a:tc>
                <a:tc>
                  <a:txBody>
                    <a:bodyPr/>
                    <a:lstStyle/>
                    <a:p>
                      <a:pPr algn="ctr">
                        <a:defRPr sz="900">
                          <a:latin typeface="Montserrat"/>
                        </a:defRPr>
                      </a:pPr>
                      <a:r>
                        <a:t>14</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6</a:t>
                      </a:r>
                    </a:p>
                  </a:txBody>
                  <a:tcPr anchor="ctr">
                    <a:solidFill>
                      <a:srgbClr val="EFEFEF"/>
                    </a:solidFill>
                  </a:tcPr>
                </a:tc>
              </a:tr>
              <a:tr h="230400">
                <a:tc>
                  <a:txBody>
                    <a:bodyPr/>
                    <a:lstStyle/>
                    <a:p>
                      <a:pPr algn="l">
                        <a:defRPr sz="900">
                          <a:latin typeface="Montserrat"/>
                        </a:defRPr>
                      </a:pPr>
                      <a:r>
                        <a:t>HGZMF 36 José Cardel</a:t>
                      </a:r>
                    </a:p>
                  </a:txBody>
                  <a:tcPr anchor="ctr">
                    <a:solidFill>
                      <a:srgbClr val="FFFFFF"/>
                    </a:solidFill>
                  </a:tcPr>
                </a:tc>
                <a:tc>
                  <a:txBody>
                    <a:bodyPr/>
                    <a:lstStyle/>
                    <a:p>
                      <a:pPr algn="ctr">
                        <a:defRPr sz="900">
                          <a:latin typeface="Montserrat"/>
                        </a:defRPr>
                      </a:pPr>
                      <a:r>
                        <a:t>Enero de 1993</a:t>
                      </a:r>
                    </a:p>
                  </a:txBody>
                  <a:tcPr anchor="ctr">
                    <a:solidFill>
                      <a:srgbClr val="FFFFFF"/>
                    </a:solidFill>
                  </a:tcPr>
                </a:tc>
                <a:tc>
                  <a:txBody>
                    <a:bodyPr/>
                    <a:lstStyle/>
                    <a:p>
                      <a:pPr algn="ctr">
                        <a:defRPr sz="900">
                          <a:latin typeface="Montserrat"/>
                        </a:defRPr>
                      </a:pPr>
                      <a:r>
                        <a:t>62</a:t>
                      </a:r>
                    </a:p>
                  </a:txBody>
                  <a:tcPr anchor="ctr">
                    <a:solidFill>
                      <a:srgbClr val="FFFFFF"/>
                    </a:solidFill>
                  </a:tcPr>
                </a:tc>
                <a:tc>
                  <a:txBody>
                    <a:bodyPr/>
                    <a:lstStyle/>
                    <a:p>
                      <a:pPr algn="ctr">
                        <a:defRPr sz="900">
                          <a:latin typeface="Montserrat"/>
                        </a:defRPr>
                      </a:pPr>
                      <a:r>
                        <a:t>24</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12</a:t>
                      </a:r>
                    </a:p>
                  </a:txBody>
                  <a:tcPr anchor="ctr">
                    <a:solidFill>
                      <a:srgbClr val="FFFFFF"/>
                    </a:solidFill>
                  </a:tcPr>
                </a:tc>
              </a:tr>
              <a:tr h="230400">
                <a:tc>
                  <a:txBody>
                    <a:bodyPr/>
                    <a:lstStyle/>
                    <a:p>
                      <a:pPr algn="l">
                        <a:defRPr sz="900">
                          <a:latin typeface="Montserrat"/>
                        </a:defRPr>
                      </a:pPr>
                      <a:r>
                        <a:t>HGZ 71 Veracruz</a:t>
                      </a:r>
                    </a:p>
                  </a:txBody>
                  <a:tcPr anchor="ctr">
                    <a:solidFill>
                      <a:srgbClr val="EFEFEF"/>
                    </a:solidFill>
                  </a:tcPr>
                </a:tc>
                <a:tc>
                  <a:txBody>
                    <a:bodyPr/>
                    <a:lstStyle/>
                    <a:p>
                      <a:pPr algn="ctr">
                        <a:defRPr sz="900">
                          <a:latin typeface="Montserrat"/>
                        </a:defRPr>
                      </a:pPr>
                      <a:r>
                        <a:t>Octubre de 1994</a:t>
                      </a:r>
                    </a:p>
                  </a:txBody>
                  <a:tcPr anchor="ctr">
                    <a:solidFill>
                      <a:srgbClr val="EFEFEF"/>
                    </a:solidFill>
                  </a:tcPr>
                </a:tc>
                <a:tc>
                  <a:txBody>
                    <a:bodyPr/>
                    <a:lstStyle/>
                    <a:p>
                      <a:pPr algn="ctr">
                        <a:defRPr sz="900">
                          <a:latin typeface="Montserrat"/>
                        </a:defRPr>
                      </a:pPr>
                      <a:r>
                        <a:t>223</a:t>
                      </a:r>
                    </a:p>
                  </a:txBody>
                  <a:tcPr anchor="ctr">
                    <a:solidFill>
                      <a:srgbClr val="EFEFEF"/>
                    </a:solidFill>
                  </a:tcPr>
                </a:tc>
                <a:tc>
                  <a:txBody>
                    <a:bodyPr/>
                    <a:lstStyle/>
                    <a:p>
                      <a:pPr algn="ctr">
                        <a:defRPr sz="900">
                          <a:latin typeface="Montserrat"/>
                        </a:defRPr>
                      </a:pPr>
                      <a:r>
                        <a:t>97</a:t>
                      </a:r>
                    </a:p>
                  </a:txBody>
                  <a:tcPr anchor="ctr">
                    <a:solidFill>
                      <a:srgbClr val="EFEFEF"/>
                    </a:solidFill>
                  </a:tcPr>
                </a:tc>
                <a:tc>
                  <a:txBody>
                    <a:bodyPr/>
                    <a:lstStyle/>
                    <a:p>
                      <a:pPr algn="ctr">
                        <a:defRPr sz="900">
                          <a:latin typeface="Montserrat"/>
                        </a:defRPr>
                      </a:pPr>
                      <a:r>
                        <a:t>10</a:t>
                      </a:r>
                    </a:p>
                  </a:txBody>
                  <a:tcPr anchor="ctr">
                    <a:solidFill>
                      <a:srgbClr val="EFEFEF"/>
                    </a:solidFill>
                  </a:tcPr>
                </a:tc>
                <a:tc>
                  <a:txBody>
                    <a:bodyPr/>
                    <a:lstStyle/>
                    <a:p>
                      <a:pPr algn="ctr">
                        <a:defRPr sz="900">
                          <a:latin typeface="Montserrat"/>
                        </a:defRPr>
                      </a:pPr>
                      <a:r>
                        <a:t>5</a:t>
                      </a:r>
                    </a:p>
                  </a:txBody>
                  <a:tcPr anchor="ctr">
                    <a:solidFill>
                      <a:srgbClr val="EFEFEF"/>
                    </a:solidFill>
                  </a:tcPr>
                </a:tc>
                <a:tc>
                  <a:txBody>
                    <a:bodyPr/>
                    <a:lstStyle/>
                    <a:p>
                      <a:pPr algn="ctr">
                        <a:defRPr sz="900">
                          <a:latin typeface="Montserrat"/>
                        </a:defRPr>
                      </a:pPr>
                      <a:r>
                        <a:t>23</a:t>
                      </a:r>
                    </a:p>
                  </a:txBody>
                  <a:tcPr anchor="ctr">
                    <a:solidFill>
                      <a:srgbClr val="EFEFEF"/>
                    </a:solidFill>
                  </a:tcPr>
                </a:tc>
              </a:tr>
              <a:tr h="230400">
                <a:tc>
                  <a:txBody>
                    <a:bodyPr/>
                    <a:lstStyle/>
                    <a:p>
                      <a:pPr algn="l">
                        <a:defRPr sz="900">
                          <a:latin typeface="Montserrat"/>
                        </a:defRPr>
                      </a:pPr>
                      <a:r>
                        <a:t>HGSMF 26 Tuxpan</a:t>
                      </a:r>
                    </a:p>
                  </a:txBody>
                  <a:tcPr anchor="ctr">
                    <a:solidFill>
                      <a:srgbClr val="FFFFFF"/>
                    </a:solidFill>
                  </a:tcPr>
                </a:tc>
                <a:tc>
                  <a:txBody>
                    <a:bodyPr/>
                    <a:lstStyle/>
                    <a:p>
                      <a:pPr algn="ctr">
                        <a:defRPr sz="900">
                          <a:latin typeface="Montserrat"/>
                        </a:defRPr>
                      </a:pPr>
                      <a:r>
                        <a:t>Octubre de 1996</a:t>
                      </a:r>
                    </a:p>
                  </a:txBody>
                  <a:tcPr anchor="ctr">
                    <a:solidFill>
                      <a:srgbClr val="FFFFFF"/>
                    </a:solidFill>
                  </a:tcPr>
                </a:tc>
                <a:tc>
                  <a:txBody>
                    <a:bodyPr/>
                    <a:lstStyle/>
                    <a:p>
                      <a:pPr algn="ctr">
                        <a:defRPr sz="900">
                          <a:latin typeface="Montserrat"/>
                        </a:defRPr>
                      </a:pPr>
                      <a:r>
                        <a:t>60</a:t>
                      </a:r>
                    </a:p>
                  </a:txBody>
                  <a:tcPr anchor="ctr">
                    <a:solidFill>
                      <a:srgbClr val="FFFFFF"/>
                    </a:solidFill>
                  </a:tcPr>
                </a:tc>
                <a:tc>
                  <a:txBody>
                    <a:bodyPr/>
                    <a:lstStyle/>
                    <a:p>
                      <a:pPr algn="ctr">
                        <a:defRPr sz="900">
                          <a:latin typeface="Montserrat"/>
                        </a:defRPr>
                      </a:pPr>
                      <a:r>
                        <a:t>19</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6</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1,510</a:t>
                      </a:r>
                    </a:p>
                  </a:txBody>
                  <a:tcPr anchor="ctr">
                    <a:solidFill>
                      <a:srgbClr val="D3E9E7"/>
                    </a:solidFill>
                  </a:tcPr>
                </a:tc>
                <a:tc>
                  <a:txBody>
                    <a:bodyPr/>
                    <a:lstStyle/>
                    <a:p>
                      <a:pPr algn="ctr">
                        <a:defRPr sz="900" b="1">
                          <a:solidFill>
                            <a:srgbClr val="006556"/>
                          </a:solidFill>
                          <a:latin typeface="Montserrat"/>
                        </a:defRPr>
                      </a:pPr>
                      <a:r>
                        <a:t>678</a:t>
                      </a:r>
                    </a:p>
                  </a:txBody>
                  <a:tcPr anchor="ctr">
                    <a:solidFill>
                      <a:srgbClr val="D3E9E7"/>
                    </a:solidFill>
                  </a:tcPr>
                </a:tc>
                <a:tc>
                  <a:txBody>
                    <a:bodyPr/>
                    <a:lstStyle/>
                    <a:p>
                      <a:pPr algn="ctr">
                        <a:defRPr sz="900" b="1">
                          <a:solidFill>
                            <a:srgbClr val="006556"/>
                          </a:solidFill>
                          <a:latin typeface="Montserrat"/>
                        </a:defRPr>
                      </a:pPr>
                      <a:r>
                        <a:t>42</a:t>
                      </a:r>
                    </a:p>
                  </a:txBody>
                  <a:tcPr anchor="ctr">
                    <a:solidFill>
                      <a:srgbClr val="D3E9E7"/>
                    </a:solidFill>
                  </a:tcPr>
                </a:tc>
                <a:tc>
                  <a:txBody>
                    <a:bodyPr/>
                    <a:lstStyle/>
                    <a:p>
                      <a:pPr algn="ctr">
                        <a:defRPr sz="900" b="1">
                          <a:solidFill>
                            <a:srgbClr val="006556"/>
                          </a:solidFill>
                          <a:latin typeface="Montserrat"/>
                        </a:defRPr>
                      </a:pPr>
                      <a:r>
                        <a:t>53</a:t>
                      </a:r>
                    </a:p>
                  </a:txBody>
                  <a:tcPr anchor="ctr">
                    <a:solidFill>
                      <a:srgbClr val="D3E9E7"/>
                    </a:solidFill>
                  </a:tcPr>
                </a:tc>
                <a:tc>
                  <a:txBody>
                    <a:bodyPr/>
                    <a:lstStyle/>
                    <a:p>
                      <a:pPr algn="ctr">
                        <a:defRPr sz="900" b="1">
                          <a:solidFill>
                            <a:srgbClr val="006556"/>
                          </a:solidFill>
                          <a:latin typeface="Montserrat"/>
                        </a:defRPr>
                      </a:pPr>
                      <a:r>
                        <a:t>241</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75600" y="3668400"/>
          <a:ext cx="7650000" cy="18432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IMSS-Coplamar</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HR Chicontepec de Tejeda</a:t>
                      </a:r>
                    </a:p>
                  </a:txBody>
                  <a:tcPr anchor="ctr">
                    <a:solidFill>
                      <a:srgbClr val="FFFFFF"/>
                    </a:solidFill>
                  </a:tcPr>
                </a:tc>
                <a:tc>
                  <a:txBody>
                    <a:bodyPr/>
                    <a:lstStyle/>
                    <a:p>
                      <a:pPr algn="ctr">
                        <a:defRPr sz="900">
                          <a:latin typeface="Montserrat"/>
                        </a:defRPr>
                      </a:pPr>
                      <a:r>
                        <a:t>Enero de 1979</a:t>
                      </a:r>
                    </a:p>
                  </a:txBody>
                  <a:tcPr anchor="ctr">
                    <a:solidFill>
                      <a:srgbClr val="FFFFFF"/>
                    </a:solidFill>
                  </a:tcPr>
                </a:tc>
                <a:tc>
                  <a:txBody>
                    <a:bodyPr/>
                    <a:lstStyle/>
                    <a:p>
                      <a:pPr algn="ctr">
                        <a:defRPr sz="900">
                          <a:latin typeface="Montserrat"/>
                        </a:defRPr>
                      </a:pPr>
                      <a:r>
                        <a:t>37</a:t>
                      </a:r>
                    </a:p>
                  </a:txBody>
                  <a:tcPr anchor="ctr">
                    <a:solidFill>
                      <a:srgbClr val="FFFFFF"/>
                    </a:solidFill>
                  </a:tcPr>
                </a:tc>
                <a:tc>
                  <a:txBody>
                    <a:bodyPr/>
                    <a:lstStyle/>
                    <a:p>
                      <a:pPr algn="ctr">
                        <a:defRPr sz="900">
                          <a:latin typeface="Montserrat"/>
                        </a:defRPr>
                      </a:pPr>
                      <a:r>
                        <a:t>11</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5</a:t>
                      </a:r>
                    </a:p>
                  </a:txBody>
                  <a:tcPr anchor="ctr">
                    <a:solidFill>
                      <a:srgbClr val="FFFFFF"/>
                    </a:solidFill>
                  </a:tcPr>
                </a:tc>
              </a:tr>
              <a:tr h="230400">
                <a:tc>
                  <a:txBody>
                    <a:bodyPr/>
                    <a:lstStyle/>
                    <a:p>
                      <a:pPr algn="l">
                        <a:defRPr sz="900">
                          <a:latin typeface="Montserrat"/>
                        </a:defRPr>
                      </a:pPr>
                      <a:r>
                        <a:t>HR Zongolica</a:t>
                      </a:r>
                    </a:p>
                  </a:txBody>
                  <a:tcPr anchor="ctr">
                    <a:solidFill>
                      <a:srgbClr val="EFEFEF"/>
                    </a:solidFill>
                  </a:tcPr>
                </a:tc>
                <a:tc>
                  <a:txBody>
                    <a:bodyPr/>
                    <a:lstStyle/>
                    <a:p>
                      <a:pPr algn="ctr">
                        <a:defRPr sz="900">
                          <a:latin typeface="Montserrat"/>
                        </a:defRPr>
                      </a:pPr>
                      <a:r>
                        <a:t>Agosto de 1980</a:t>
                      </a:r>
                    </a:p>
                  </a:txBody>
                  <a:tcPr anchor="ctr">
                    <a:solidFill>
                      <a:srgbClr val="EFEFEF"/>
                    </a:solidFill>
                  </a:tcPr>
                </a:tc>
                <a:tc>
                  <a:txBody>
                    <a:bodyPr/>
                    <a:lstStyle/>
                    <a:p>
                      <a:pPr algn="ctr">
                        <a:defRPr sz="900">
                          <a:latin typeface="Montserrat"/>
                        </a:defRPr>
                      </a:pPr>
                      <a:r>
                        <a:t>26</a:t>
                      </a:r>
                    </a:p>
                  </a:txBody>
                  <a:tcPr anchor="ctr">
                    <a:solidFill>
                      <a:srgbClr val="EFEFEF"/>
                    </a:solidFill>
                  </a:tcPr>
                </a:tc>
                <a:tc>
                  <a:txBody>
                    <a:bodyPr/>
                    <a:lstStyle/>
                    <a:p>
                      <a:pPr algn="ctr">
                        <a:defRPr sz="900">
                          <a:latin typeface="Montserrat"/>
                        </a:defRPr>
                      </a:pPr>
                      <a:r>
                        <a:t>12</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4</a:t>
                      </a:r>
                    </a:p>
                  </a:txBody>
                  <a:tcPr anchor="ctr">
                    <a:solidFill>
                      <a:srgbClr val="EFEFEF"/>
                    </a:solidFill>
                  </a:tcPr>
                </a:tc>
              </a:tr>
              <a:tr h="230400">
                <a:tc>
                  <a:txBody>
                    <a:bodyPr/>
                    <a:lstStyle/>
                    <a:p>
                      <a:pPr algn="l">
                        <a:defRPr sz="900">
                          <a:latin typeface="Montserrat"/>
                        </a:defRPr>
                      </a:pPr>
                      <a:r>
                        <a:t>HR Papantla de Olarte</a:t>
                      </a:r>
                    </a:p>
                  </a:txBody>
                  <a:tcPr anchor="ctr">
                    <a:solidFill>
                      <a:srgbClr val="FFFFFF"/>
                    </a:solidFill>
                  </a:tcPr>
                </a:tc>
                <a:tc>
                  <a:txBody>
                    <a:bodyPr/>
                    <a:lstStyle/>
                    <a:p>
                      <a:pPr algn="ctr">
                        <a:defRPr sz="900">
                          <a:latin typeface="Montserrat"/>
                        </a:defRPr>
                      </a:pPr>
                      <a:r>
                        <a:t>Febrero de 1985</a:t>
                      </a:r>
                    </a:p>
                  </a:txBody>
                  <a:tcPr anchor="ctr">
                    <a:solidFill>
                      <a:srgbClr val="FFFFFF"/>
                    </a:solidFill>
                  </a:tcPr>
                </a:tc>
                <a:tc>
                  <a:txBody>
                    <a:bodyPr/>
                    <a:lstStyle/>
                    <a:p>
                      <a:pPr algn="ctr">
                        <a:defRPr sz="900">
                          <a:latin typeface="Montserrat"/>
                        </a:defRPr>
                      </a:pPr>
                      <a:r>
                        <a:t>39</a:t>
                      </a:r>
                    </a:p>
                  </a:txBody>
                  <a:tcPr anchor="ctr">
                    <a:solidFill>
                      <a:srgbClr val="FFFFFF"/>
                    </a:solidFill>
                  </a:tcPr>
                </a:tc>
                <a:tc>
                  <a:txBody>
                    <a:bodyPr/>
                    <a:lstStyle/>
                    <a:p>
                      <a:pPr algn="ctr">
                        <a:defRPr sz="900">
                          <a:latin typeface="Montserrat"/>
                        </a:defRPr>
                      </a:pPr>
                      <a:r>
                        <a:t>15</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6</a:t>
                      </a:r>
                    </a:p>
                  </a:txBody>
                  <a:tcPr anchor="ctr">
                    <a:solidFill>
                      <a:srgbClr val="FFFFFF"/>
                    </a:solidFill>
                  </a:tcPr>
                </a:tc>
              </a:tr>
              <a:tr h="230400">
                <a:tc>
                  <a:txBody>
                    <a:bodyPr/>
                    <a:lstStyle/>
                    <a:p>
                      <a:pPr algn="l">
                        <a:defRPr sz="900">
                          <a:latin typeface="Montserrat"/>
                        </a:defRPr>
                      </a:pPr>
                      <a:r>
                        <a:t>HR Jáltipan de Morelos</a:t>
                      </a:r>
                    </a:p>
                  </a:txBody>
                  <a:tcPr anchor="ctr">
                    <a:solidFill>
                      <a:srgbClr val="EFEFEF"/>
                    </a:solidFill>
                  </a:tcPr>
                </a:tc>
                <a:tc>
                  <a:txBody>
                    <a:bodyPr/>
                    <a:lstStyle/>
                    <a:p>
                      <a:pPr algn="ctr">
                        <a:defRPr sz="900">
                          <a:latin typeface="Montserrat"/>
                        </a:defRPr>
                      </a:pPr>
                      <a:r>
                        <a:t>Marzo de 1988</a:t>
                      </a:r>
                    </a:p>
                  </a:txBody>
                  <a:tcPr anchor="ctr">
                    <a:solidFill>
                      <a:srgbClr val="EFEFEF"/>
                    </a:solidFill>
                  </a:tcPr>
                </a:tc>
                <a:tc>
                  <a:txBody>
                    <a:bodyPr/>
                    <a:lstStyle/>
                    <a:p>
                      <a:pPr algn="ctr">
                        <a:defRPr sz="900">
                          <a:latin typeface="Montserrat"/>
                        </a:defRPr>
                      </a:pPr>
                      <a:r>
                        <a:t>48</a:t>
                      </a:r>
                    </a:p>
                  </a:txBody>
                  <a:tcPr anchor="ctr">
                    <a:solidFill>
                      <a:srgbClr val="EFEFEF"/>
                    </a:solidFill>
                  </a:tcPr>
                </a:tc>
                <a:tc>
                  <a:txBody>
                    <a:bodyPr/>
                    <a:lstStyle/>
                    <a:p>
                      <a:pPr algn="ctr">
                        <a:defRPr sz="900">
                          <a:latin typeface="Montserrat"/>
                        </a:defRPr>
                      </a:pPr>
                      <a:r>
                        <a:t>15</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6</a:t>
                      </a:r>
                    </a:p>
                  </a:txBody>
                  <a:tcPr anchor="ctr">
                    <a:solidFill>
                      <a:srgbClr val="EFEFEF"/>
                    </a:solidFill>
                  </a:tcPr>
                </a:tc>
              </a:tr>
              <a:tr h="230400">
                <a:tc>
                  <a:txBody>
                    <a:bodyPr/>
                    <a:lstStyle/>
                    <a:p>
                      <a:pPr algn="l">
                        <a:defRPr sz="900">
                          <a:latin typeface="Montserrat"/>
                        </a:defRPr>
                      </a:pPr>
                      <a:r>
                        <a:t>HR Coscomatepec de Bravo</a:t>
                      </a:r>
                    </a:p>
                  </a:txBody>
                  <a:tcPr anchor="ctr">
                    <a:solidFill>
                      <a:srgbClr val="FFFFFF"/>
                    </a:solidFill>
                  </a:tcPr>
                </a:tc>
                <a:tc>
                  <a:txBody>
                    <a:bodyPr/>
                    <a:lstStyle/>
                    <a:p>
                      <a:pPr algn="ctr">
                        <a:defRPr sz="900">
                          <a:latin typeface="Montserrat"/>
                        </a:defRPr>
                      </a:pPr>
                      <a:r>
                        <a:t>Noviembre de 1992</a:t>
                      </a:r>
                    </a:p>
                  </a:txBody>
                  <a:tcPr anchor="ctr">
                    <a:solidFill>
                      <a:srgbClr val="FFFFFF"/>
                    </a:solidFill>
                  </a:tcPr>
                </a:tc>
                <a:tc>
                  <a:txBody>
                    <a:bodyPr/>
                    <a:lstStyle/>
                    <a:p>
                      <a:pPr algn="ctr">
                        <a:defRPr sz="900">
                          <a:latin typeface="Montserrat"/>
                        </a:defRPr>
                      </a:pPr>
                      <a:r>
                        <a:t>40</a:t>
                      </a:r>
                    </a:p>
                  </a:txBody>
                  <a:tcPr anchor="ctr">
                    <a:solidFill>
                      <a:srgbClr val="FFFFFF"/>
                    </a:solidFill>
                  </a:tcPr>
                </a:tc>
                <a:tc>
                  <a:txBody>
                    <a:bodyPr/>
                    <a:lstStyle/>
                    <a:p>
                      <a:pPr algn="ctr">
                        <a:defRPr sz="900">
                          <a:latin typeface="Montserrat"/>
                        </a:defRPr>
                      </a:pPr>
                      <a:r>
                        <a:t>13</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6</a:t>
                      </a:r>
                    </a:p>
                  </a:txBody>
                  <a:tcPr anchor="ctr">
                    <a:solidFill>
                      <a:srgbClr val="FFFFFF"/>
                    </a:solidFill>
                  </a:tcPr>
                </a:tc>
              </a:tr>
              <a:tr h="230400">
                <a:tc>
                  <a:txBody>
                    <a:bodyPr/>
                    <a:lstStyle/>
                    <a:p>
                      <a:pPr algn="l">
                        <a:defRPr sz="900">
                          <a:latin typeface="Montserrat"/>
                        </a:defRPr>
                      </a:pPr>
                      <a:r>
                        <a:t>HR Plan de Arroyos</a:t>
                      </a:r>
                    </a:p>
                  </a:txBody>
                  <a:tcPr anchor="ctr">
                    <a:solidFill>
                      <a:srgbClr val="EFEFEF"/>
                    </a:solidFill>
                  </a:tcPr>
                </a:tc>
                <a:tc>
                  <a:txBody>
                    <a:bodyPr/>
                    <a:lstStyle/>
                    <a:p>
                      <a:pPr algn="ctr">
                        <a:defRPr sz="900">
                          <a:latin typeface="Montserrat"/>
                        </a:defRPr>
                      </a:pPr>
                      <a:r>
                        <a:t>Noviembre de 2010</a:t>
                      </a:r>
                    </a:p>
                  </a:txBody>
                  <a:tcPr anchor="ctr">
                    <a:solidFill>
                      <a:srgbClr val="EFEFEF"/>
                    </a:solidFill>
                  </a:tcPr>
                </a:tc>
                <a:tc>
                  <a:txBody>
                    <a:bodyPr/>
                    <a:lstStyle/>
                    <a:p>
                      <a:pPr algn="ctr">
                        <a:defRPr sz="900">
                          <a:latin typeface="Montserrat"/>
                        </a:defRPr>
                      </a:pPr>
                      <a:r>
                        <a:t>30</a:t>
                      </a:r>
                    </a:p>
                  </a:txBody>
                  <a:tcPr anchor="ctr">
                    <a:solidFill>
                      <a:srgbClr val="EFEFEF"/>
                    </a:solidFill>
                  </a:tcPr>
                </a:tc>
                <a:tc>
                  <a:txBody>
                    <a:bodyPr/>
                    <a:lstStyle/>
                    <a:p>
                      <a:pPr algn="ctr">
                        <a:defRPr sz="900">
                          <a:latin typeface="Montserrat"/>
                        </a:defRPr>
                      </a:pPr>
                      <a:r>
                        <a:t>17</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6</a:t>
                      </a:r>
                    </a:p>
                  </a:txBody>
                  <a:tcPr anchor="ctr">
                    <a:solidFill>
                      <a:srgbClr val="EFEFE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220</a:t>
                      </a:r>
                    </a:p>
                  </a:txBody>
                  <a:tcPr anchor="ctr">
                    <a:solidFill>
                      <a:srgbClr val="D3E9E7"/>
                    </a:solidFill>
                  </a:tcPr>
                </a:tc>
                <a:tc>
                  <a:txBody>
                    <a:bodyPr/>
                    <a:lstStyle/>
                    <a:p>
                      <a:pPr algn="ctr">
                        <a:defRPr sz="900" b="1">
                          <a:solidFill>
                            <a:srgbClr val="006556"/>
                          </a:solidFill>
                          <a:latin typeface="Montserrat"/>
                        </a:defRPr>
                      </a:pPr>
                      <a:r>
                        <a:t>83</a:t>
                      </a:r>
                    </a:p>
                  </a:txBody>
                  <a:tcPr anchor="ctr">
                    <a:solidFill>
                      <a:srgbClr val="D3E9E7"/>
                    </a:solidFill>
                  </a:tcPr>
                </a:tc>
                <a:tc>
                  <a:txBody>
                    <a:bodyPr/>
                    <a:lstStyle/>
                    <a:p>
                      <a:pPr algn="ctr">
                        <a:defRPr sz="900" b="1">
                          <a:solidFill>
                            <a:srgbClr val="006556"/>
                          </a:solidFill>
                          <a:latin typeface="Montserrat"/>
                        </a:defRPr>
                      </a:pPr>
                      <a:r>
                        <a:t>0</a:t>
                      </a:r>
                    </a:p>
                  </a:txBody>
                  <a:tcPr anchor="ctr">
                    <a:solidFill>
                      <a:srgbClr val="D3E9E7"/>
                    </a:solidFill>
                  </a:tcPr>
                </a:tc>
                <a:tc>
                  <a:txBody>
                    <a:bodyPr/>
                    <a:lstStyle/>
                    <a:p>
                      <a:pPr algn="ctr">
                        <a:defRPr sz="900" b="1">
                          <a:solidFill>
                            <a:srgbClr val="006556"/>
                          </a:solidFill>
                          <a:latin typeface="Montserrat"/>
                        </a:defRPr>
                      </a:pPr>
                      <a:r>
                        <a:t>6</a:t>
                      </a:r>
                    </a:p>
                  </a:txBody>
                  <a:tcPr anchor="ctr">
                    <a:solidFill>
                      <a:srgbClr val="D3E9E7"/>
                    </a:solidFill>
                  </a:tcPr>
                </a:tc>
                <a:tc>
                  <a:txBody>
                    <a:bodyPr/>
                    <a:lstStyle/>
                    <a:p>
                      <a:pPr algn="ctr">
                        <a:defRPr sz="900" b="1">
                          <a:solidFill>
                            <a:srgbClr val="006556"/>
                          </a:solidFill>
                          <a:latin typeface="Montserrat"/>
                        </a:defRPr>
                      </a:pPr>
                      <a:r>
                        <a:t>33</a:t>
                      </a:r>
                    </a:p>
                  </a:txBody>
                  <a:tcPr anchor="ctr">
                    <a:solidFill>
                      <a:srgbClr val="D3E9E7"/>
                    </a:solidFill>
                  </a:tcPr>
                </a:tc>
              </a:tr>
            </a:tbl>
          </a:graphicData>
        </a:graphic>
      </p:graphicFrame>
      <p:graphicFrame>
        <p:nvGraphicFramePr>
          <p:cNvPr id="7" name="Table 6"/>
          <p:cNvGraphicFramePr>
            <a:graphicFrameLocks noGrp="1"/>
          </p:cNvGraphicFramePr>
          <p:nvPr/>
        </p:nvGraphicFramePr>
        <p:xfrm>
          <a:off x="75600" y="5871600"/>
          <a:ext cx="7650000" cy="921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UMAE</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HES 14 Veracruz</a:t>
                      </a:r>
                    </a:p>
                  </a:txBody>
                  <a:tcPr anchor="ctr">
                    <a:solidFill>
                      <a:srgbClr val="FFFFFF"/>
                    </a:solidFill>
                  </a:tcPr>
                </a:tc>
                <a:tc>
                  <a:txBody>
                    <a:bodyPr/>
                    <a:lstStyle/>
                    <a:p>
                      <a:pPr algn="ctr">
                        <a:defRPr sz="900">
                          <a:latin typeface="Montserrat"/>
                        </a:defRPr>
                      </a:pPr>
                      <a:r>
                        <a:t>Marzo de 1970</a:t>
                      </a:r>
                    </a:p>
                  </a:txBody>
                  <a:tcPr anchor="ctr">
                    <a:solidFill>
                      <a:srgbClr val="FFFFFF"/>
                    </a:solidFill>
                  </a:tcPr>
                </a:tc>
                <a:tc>
                  <a:txBody>
                    <a:bodyPr/>
                    <a:lstStyle/>
                    <a:p>
                      <a:pPr algn="ctr">
                        <a:defRPr sz="900">
                          <a:latin typeface="Montserrat"/>
                        </a:defRPr>
                      </a:pPr>
                      <a:r>
                        <a:t>329</a:t>
                      </a:r>
                    </a:p>
                  </a:txBody>
                  <a:tcPr anchor="ctr">
                    <a:solidFill>
                      <a:srgbClr val="FFFFFF"/>
                    </a:solidFill>
                  </a:tcPr>
                </a:tc>
                <a:tc>
                  <a:txBody>
                    <a:bodyPr/>
                    <a:lstStyle/>
                    <a:p>
                      <a:pPr algn="ctr">
                        <a:defRPr sz="900">
                          <a:latin typeface="Montserrat"/>
                        </a:defRPr>
                      </a:pPr>
                      <a:r>
                        <a:t>107</a:t>
                      </a:r>
                    </a:p>
                  </a:txBody>
                  <a:tcPr anchor="ctr">
                    <a:solidFill>
                      <a:srgbClr val="FFFFFF"/>
                    </a:solidFill>
                  </a:tcPr>
                </a:tc>
                <a:tc>
                  <a:txBody>
                    <a:bodyPr/>
                    <a:lstStyle/>
                    <a:p>
                      <a:pPr algn="ctr">
                        <a:defRPr sz="900">
                          <a:latin typeface="Montserrat"/>
                        </a:defRPr>
                      </a:pPr>
                      <a:r>
                        <a:t>22</a:t>
                      </a:r>
                    </a:p>
                  </a:txBody>
                  <a:tcPr anchor="ctr">
                    <a:solidFill>
                      <a:srgbClr val="FFFFFF"/>
                    </a:solidFill>
                  </a:tcPr>
                </a:tc>
                <a:tc>
                  <a:txBody>
                    <a:bodyPr/>
                    <a:lstStyle/>
                    <a:p>
                      <a:pPr algn="ctr">
                        <a:defRPr sz="900">
                          <a:latin typeface="Montserrat"/>
                        </a:defRPr>
                      </a:pPr>
                      <a:r>
                        <a:t>13</a:t>
                      </a:r>
                    </a:p>
                  </a:txBody>
                  <a:tcPr anchor="ctr">
                    <a:solidFill>
                      <a:srgbClr val="FFFFFF"/>
                    </a:solidFill>
                  </a:tcPr>
                </a:tc>
                <a:tc>
                  <a:txBody>
                    <a:bodyPr/>
                    <a:lstStyle/>
                    <a:p>
                      <a:pPr algn="ctr">
                        <a:defRPr sz="900">
                          <a:latin typeface="Montserrat"/>
                        </a:defRPr>
                      </a:pPr>
                      <a:r>
                        <a:t>63</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329</a:t>
                      </a:r>
                    </a:p>
                  </a:txBody>
                  <a:tcPr anchor="ctr">
                    <a:solidFill>
                      <a:srgbClr val="D3E9E7"/>
                    </a:solidFill>
                  </a:tcPr>
                </a:tc>
                <a:tc>
                  <a:txBody>
                    <a:bodyPr/>
                    <a:lstStyle/>
                    <a:p>
                      <a:pPr algn="ctr">
                        <a:defRPr sz="900" b="1">
                          <a:solidFill>
                            <a:srgbClr val="006556"/>
                          </a:solidFill>
                          <a:latin typeface="Montserrat"/>
                        </a:defRPr>
                      </a:pPr>
                      <a:r>
                        <a:t>107</a:t>
                      </a:r>
                    </a:p>
                  </a:txBody>
                  <a:tcPr anchor="ctr">
                    <a:solidFill>
                      <a:srgbClr val="D3E9E7"/>
                    </a:solidFill>
                  </a:tcPr>
                </a:tc>
                <a:tc>
                  <a:txBody>
                    <a:bodyPr/>
                    <a:lstStyle/>
                    <a:p>
                      <a:pPr algn="ctr">
                        <a:defRPr sz="900" b="1">
                          <a:solidFill>
                            <a:srgbClr val="006556"/>
                          </a:solidFill>
                          <a:latin typeface="Montserrat"/>
                        </a:defRPr>
                      </a:pPr>
                      <a:r>
                        <a:t>22</a:t>
                      </a:r>
                    </a:p>
                  </a:txBody>
                  <a:tcPr anchor="ctr">
                    <a:solidFill>
                      <a:srgbClr val="D3E9E7"/>
                    </a:solidFill>
                  </a:tcPr>
                </a:tc>
                <a:tc>
                  <a:txBody>
                    <a:bodyPr/>
                    <a:lstStyle/>
                    <a:p>
                      <a:pPr algn="ctr">
                        <a:defRPr sz="900" b="1">
                          <a:solidFill>
                            <a:srgbClr val="006556"/>
                          </a:solidFill>
                          <a:latin typeface="Montserrat"/>
                        </a:defRPr>
                      </a:pPr>
                      <a:r>
                        <a:t>13</a:t>
                      </a:r>
                    </a:p>
                  </a:txBody>
                  <a:tcPr anchor="ctr">
                    <a:solidFill>
                      <a:srgbClr val="D3E9E7"/>
                    </a:solidFill>
                  </a:tcPr>
                </a:tc>
                <a:tc>
                  <a:txBody>
                    <a:bodyPr/>
                    <a:lstStyle/>
                    <a:p>
                      <a:pPr algn="ctr">
                        <a:defRPr sz="900" b="1">
                          <a:solidFill>
                            <a:srgbClr val="006556"/>
                          </a:solidFill>
                          <a:latin typeface="Montserrat"/>
                        </a:defRPr>
                      </a:pPr>
                      <a:r>
                        <a:t>63</a:t>
                      </a:r>
                    </a:p>
                  </a:txBody>
                  <a:tcPr anchor="ctr">
                    <a:solidFill>
                      <a:srgbClr val="D3E9E7"/>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2,059</a:t>
                      </a:r>
                    </a:p>
                  </a:txBody>
                  <a:tcPr anchor="ctr">
                    <a:solidFill>
                      <a:srgbClr val="D3E9E7"/>
                    </a:solidFill>
                  </a:tcPr>
                </a:tc>
                <a:tc>
                  <a:txBody>
                    <a:bodyPr/>
                    <a:lstStyle/>
                    <a:p>
                      <a:pPr algn="ctr">
                        <a:defRPr sz="900" b="1">
                          <a:solidFill>
                            <a:srgbClr val="006556"/>
                          </a:solidFill>
                          <a:latin typeface="Montserrat"/>
                        </a:defRPr>
                      </a:pPr>
                      <a:r>
                        <a:t>868</a:t>
                      </a:r>
                    </a:p>
                  </a:txBody>
                  <a:tcPr anchor="ctr">
                    <a:solidFill>
                      <a:srgbClr val="D3E9E7"/>
                    </a:solidFill>
                  </a:tcPr>
                </a:tc>
                <a:tc>
                  <a:txBody>
                    <a:bodyPr/>
                    <a:lstStyle/>
                    <a:p>
                      <a:pPr algn="ctr">
                        <a:defRPr sz="900" b="1">
                          <a:solidFill>
                            <a:srgbClr val="006556"/>
                          </a:solidFill>
                          <a:latin typeface="Montserrat"/>
                        </a:defRPr>
                      </a:pPr>
                      <a:r>
                        <a:t>64</a:t>
                      </a:r>
                    </a:p>
                  </a:txBody>
                  <a:tcPr anchor="ctr">
                    <a:solidFill>
                      <a:srgbClr val="D3E9E7"/>
                    </a:solidFill>
                  </a:tcPr>
                </a:tc>
                <a:tc>
                  <a:txBody>
                    <a:bodyPr/>
                    <a:lstStyle/>
                    <a:p>
                      <a:pPr algn="ctr">
                        <a:defRPr sz="900" b="1">
                          <a:solidFill>
                            <a:srgbClr val="006556"/>
                          </a:solidFill>
                          <a:latin typeface="Montserrat"/>
                        </a:defRPr>
                      </a:pPr>
                      <a:r>
                        <a:t>72</a:t>
                      </a:r>
                    </a:p>
                  </a:txBody>
                  <a:tcPr anchor="ctr">
                    <a:solidFill>
                      <a:srgbClr val="D3E9E7"/>
                    </a:solidFill>
                  </a:tcPr>
                </a:tc>
                <a:tc>
                  <a:txBody>
                    <a:bodyPr/>
                    <a:lstStyle/>
                    <a:p>
                      <a:pPr algn="ctr">
                        <a:defRPr sz="900" b="1">
                          <a:solidFill>
                            <a:srgbClr val="006556"/>
                          </a:solidFill>
                          <a:latin typeface="Montserrat"/>
                        </a:defRPr>
                      </a:pPr>
                      <a:r>
                        <a:t>337</a:t>
                      </a:r>
                    </a:p>
                  </a:txBody>
                  <a:tcPr anchor="ctr">
                    <a:solidFill>
                      <a:srgbClr val="D3E9E7"/>
                    </a:solidFill>
                  </a:tcPr>
                </a:tc>
              </a:tr>
            </a:tbl>
          </a:graphicData>
        </a:graphic>
      </p:graphicFrame>
      <p:sp>
        <p:nvSpPr>
          <p:cNvPr id="8" name="TextBox 7"/>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147600" y="630000"/>
            <a:ext cx="7473600" cy="381600"/>
          </a:xfrm>
          <a:prstGeom prst="rect">
            <a:avLst/>
          </a:prstGeom>
          <a:noFill/>
        </p:spPr>
        <p:txBody>
          <a:bodyPr wrap="none">
            <a:spAutoFit/>
          </a:bodyPr>
          <a:lstStyle/>
          <a:p>
            <a:pPr algn="l">
              <a:defRPr sz="2100" b="1">
                <a:solidFill>
                  <a:srgbClr val="BC955C"/>
                </a:solidFill>
                <a:latin typeface="Montserrat"/>
              </a:defRPr>
            </a:pPr>
            <a:r>
              <a:t>Equipo relevante</a:t>
            </a:r>
          </a:p>
        </p:txBody>
      </p:sp>
      <p:cxnSp>
        <p:nvCxnSpPr>
          <p:cNvPr id="4" name="Connector 3"/>
          <p:cNvCxnSpPr/>
          <p:nvPr/>
        </p:nvCxnSpPr>
        <p:spPr>
          <a:xfrm>
            <a:off x="147600" y="10116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93600" y="1692000"/>
          <a:ext cx="7534799" cy="864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UMAE</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HES 14 Veracruz</a:t>
                      </a:r>
                    </a:p>
                  </a:txBody>
                  <a:tcPr>
                    <a:solidFill>
                      <a:srgbClr val="FFFFFF"/>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5</a:t>
                      </a:r>
                    </a:p>
                  </a:txBody>
                  <a:tcPr>
                    <a:solidFill>
                      <a:srgbClr val="FFFFFF"/>
                    </a:solidFill>
                  </a:tcPr>
                </a:tc>
                <a:tc>
                  <a:txBody>
                    <a:bodyPr/>
                    <a:lstStyle/>
                    <a:p>
                      <a:pPr algn="ctr">
                        <a:defRPr sz="1000">
                          <a:latin typeface="Montserrat"/>
                        </a:defRPr>
                      </a:pPr>
                      <a:r>
                        <a:t>13</a:t>
                      </a:r>
                    </a:p>
                  </a:txBody>
                  <a:tcPr>
                    <a:solidFill>
                      <a:srgbClr val="FFFFFF"/>
                    </a:solidFill>
                  </a:tcPr>
                </a:tc>
                <a:tc>
                  <a:txBody>
                    <a:bodyPr/>
                    <a:lstStyle/>
                    <a:p>
                      <a:pPr algn="ctr">
                        <a:defRPr sz="1000">
                          <a:latin typeface="Montserrat"/>
                        </a:defRPr>
                      </a:pPr>
                      <a:r>
                        <a:t>2</a:t>
                      </a:r>
                    </a:p>
                  </a:txBody>
                  <a:tcPr>
                    <a:solidFill>
                      <a:srgbClr val="FFFFFF"/>
                    </a:solidFill>
                  </a:tcPr>
                </a:tc>
              </a:tr>
              <a:tr h="2160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5</a:t>
                      </a:r>
                    </a:p>
                  </a:txBody>
                  <a:tcPr>
                    <a:solidFill>
                      <a:srgbClr val="D3E9E7"/>
                    </a:solidFill>
                  </a:tcPr>
                </a:tc>
                <a:tc>
                  <a:txBody>
                    <a:bodyPr/>
                    <a:lstStyle/>
                    <a:p>
                      <a:pPr algn="ctr">
                        <a:defRPr sz="1000" b="1">
                          <a:solidFill>
                            <a:srgbClr val="006556"/>
                          </a:solidFill>
                          <a:latin typeface="Montserrat"/>
                        </a:defRPr>
                      </a:pPr>
                      <a:r>
                        <a:t>13</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r>
              <a:tr h="2160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9</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10</a:t>
                      </a:r>
                    </a:p>
                  </a:txBody>
                  <a:tcPr>
                    <a:solidFill>
                      <a:srgbClr val="D3E9E7"/>
                    </a:solidFill>
                  </a:tcPr>
                </a:tc>
                <a:tc>
                  <a:txBody>
                    <a:bodyPr/>
                    <a:lstStyle/>
                    <a:p>
                      <a:pPr algn="ctr">
                        <a:defRPr sz="1000" b="1">
                          <a:solidFill>
                            <a:srgbClr val="006556"/>
                          </a:solidFill>
                          <a:latin typeface="Montserrat"/>
                        </a:defRPr>
                      </a:pPr>
                      <a:r>
                        <a:t>13</a:t>
                      </a:r>
                    </a:p>
                  </a:txBody>
                  <a:tcPr>
                    <a:solidFill>
                      <a:srgbClr val="D3E9E7"/>
                    </a:solidFill>
                  </a:tcPr>
                </a:tc>
                <a:tc>
                  <a:txBody>
                    <a:bodyPr/>
                    <a:lstStyle/>
                    <a:p>
                      <a:pPr algn="ctr">
                        <a:defRPr sz="1000" b="1">
                          <a:solidFill>
                            <a:srgbClr val="006556"/>
                          </a:solidFill>
                          <a:latin typeface="Montserrat"/>
                        </a:defRPr>
                      </a:pPr>
                      <a:r>
                        <a:t>111</a:t>
                      </a:r>
                    </a:p>
                  </a:txBody>
                  <a:tcPr>
                    <a:solidFill>
                      <a:srgbClr val="D3E9E7"/>
                    </a:solidFill>
                  </a:tcPr>
                </a:tc>
                <a:tc>
                  <a:txBody>
                    <a:bodyPr/>
                    <a:lstStyle/>
                    <a:p>
                      <a:pPr algn="ctr">
                        <a:defRPr sz="1000" b="1">
                          <a:solidFill>
                            <a:srgbClr val="006556"/>
                          </a:solidFill>
                          <a:latin typeface="Montserrat"/>
                        </a:defRPr>
                      </a:pPr>
                      <a:r>
                        <a:t>4</a:t>
                      </a:r>
                    </a:p>
                  </a:txBody>
                  <a:tcPr>
                    <a:solidFill>
                      <a:srgbClr val="D3E9E7"/>
                    </a:solidFill>
                  </a:tcPr>
                </a:tc>
              </a:tr>
            </a:tbl>
          </a:graphicData>
        </a:graphic>
      </p:graphicFrame>
      <p:sp>
        <p:nvSpPr>
          <p:cNvPr id="6" name="Rectangle 5"/>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No incluye equipo relevante no instalado.</a:t>
            </a:r>
            <a:br/>
            <a:r>
              <a:t>Fuente: Cédula de actualización de variables seleccionadas del IFU, enviadas por el OOAD.</a:t>
            </a:r>
            <a:br/>
            <a:r>
              <a:t>Corte de información: marzo de 2026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104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88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6" name="Connector 5"/>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151200" y="1692000"/>
          <a:ext cx="7473599" cy="58968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51 Acayucan</a:t>
                      </a:r>
                    </a:p>
                  </a:txBody>
                  <a:tcPr marL="0" marR="0" marT="0" marB="0">
                    <a:solidFill>
                      <a:srgbClr val="FFFFFF"/>
                    </a:solidFill>
                  </a:tcPr>
                </a:tc>
                <a:tc>
                  <a:txBody>
                    <a:bodyPr/>
                    <a:lstStyle/>
                    <a:p>
                      <a:pPr algn="ctr">
                        <a:defRPr sz="1000">
                          <a:latin typeface="Montserrat"/>
                        </a:defRPr>
                      </a:pPr>
                      <a:r>
                        <a:t>72,884</a:t>
                      </a:r>
                    </a:p>
                  </a:txBody>
                  <a:tcPr marL="0" marR="0" marT="0" marB="0">
                    <a:solidFill>
                      <a:srgbClr val="FFFFFF"/>
                    </a:solidFill>
                  </a:tcPr>
                </a:tc>
                <a:tc>
                  <a:txBody>
                    <a:bodyPr/>
                    <a:lstStyle/>
                    <a:p>
                      <a:pPr algn="ctr">
                        <a:defRPr sz="1000">
                          <a:latin typeface="Montserrat"/>
                        </a:defRPr>
                      </a:pPr>
                      <a:r>
                        <a:t>5,871</a:t>
                      </a:r>
                    </a:p>
                  </a:txBody>
                  <a:tcPr marL="0" marR="0" marT="0" marB="0">
                    <a:solidFill>
                      <a:srgbClr val="FFFFFF"/>
                    </a:solidFill>
                  </a:tcPr>
                </a:tc>
                <a:tc>
                  <a:txBody>
                    <a:bodyPr/>
                    <a:lstStyle/>
                    <a:p>
                      <a:pPr algn="ctr">
                        <a:defRPr sz="1000">
                          <a:latin typeface="Montserrat"/>
                        </a:defRPr>
                      </a:pPr>
                      <a:r>
                        <a:t>28,325</a:t>
                      </a:r>
                    </a:p>
                  </a:txBody>
                  <a:tcPr marL="0" marR="0" marT="0" marB="0">
                    <a:solidFill>
                      <a:srgbClr val="ECD3D9"/>
                    </a:solidFill>
                  </a:tcPr>
                </a:tc>
                <a:tc>
                  <a:txBody>
                    <a:bodyPr/>
                    <a:lstStyle/>
                    <a:p>
                      <a:pPr algn="ctr">
                        <a:defRPr sz="1000">
                          <a:latin typeface="Montserrat"/>
                        </a:defRPr>
                      </a:pPr>
                      <a:r>
                        <a:t>68,000</a:t>
                      </a:r>
                    </a:p>
                  </a:txBody>
                  <a:tcPr marL="0" marR="0" marT="0" marB="0">
                    <a:solidFill>
                      <a:srgbClr val="ECD3D9"/>
                    </a:solidFill>
                  </a:tcPr>
                </a:tc>
                <a:tc>
                  <a:txBody>
                    <a:bodyPr/>
                    <a:lstStyle/>
                    <a:p>
                      <a:pPr algn="ctr">
                        <a:defRPr sz="1000">
                          <a:latin typeface="Montserrat"/>
                        </a:defRPr>
                      </a:pPr>
                      <a:r>
                        <a:t>41.7%</a:t>
                      </a:r>
                    </a:p>
                  </a:txBody>
                  <a:tcPr marL="0" marR="0" marT="0" marB="0">
                    <a:solidFill>
                      <a:srgbClr val="ECD3D9"/>
                    </a:solidFill>
                  </a:tcPr>
                </a:tc>
              </a:tr>
              <a:tr h="151200">
                <a:tc>
                  <a:txBody>
                    <a:bodyPr/>
                    <a:lstStyle/>
                    <a:p>
                      <a:pPr algn="l">
                        <a:defRPr sz="1000">
                          <a:latin typeface="Montserrat"/>
                        </a:defRPr>
                      </a:pPr>
                      <a:r>
                        <a:t>UMF 68 Veracruz</a:t>
                      </a:r>
                    </a:p>
                  </a:txBody>
                  <a:tcPr marL="0" marR="0" marT="0" marB="0">
                    <a:solidFill>
                      <a:srgbClr val="EFEFEF"/>
                    </a:solidFill>
                  </a:tcPr>
                </a:tc>
                <a:tc>
                  <a:txBody>
                    <a:bodyPr/>
                    <a:lstStyle/>
                    <a:p>
                      <a:pPr algn="ctr">
                        <a:defRPr sz="1000">
                          <a:latin typeface="Montserrat"/>
                        </a:defRPr>
                      </a:pPr>
                      <a:r>
                        <a:t>235,764</a:t>
                      </a:r>
                    </a:p>
                  </a:txBody>
                  <a:tcPr marL="0" marR="0" marT="0" marB="0">
                    <a:solidFill>
                      <a:srgbClr val="EFEFEF"/>
                    </a:solidFill>
                  </a:tcPr>
                </a:tc>
                <a:tc>
                  <a:txBody>
                    <a:bodyPr/>
                    <a:lstStyle/>
                    <a:p>
                      <a:pPr algn="ctr">
                        <a:defRPr sz="1000">
                          <a:latin typeface="Montserrat"/>
                        </a:defRPr>
                      </a:pPr>
                      <a:r>
                        <a:t>8,808</a:t>
                      </a:r>
                    </a:p>
                  </a:txBody>
                  <a:tcPr marL="0" marR="0" marT="0" marB="0">
                    <a:solidFill>
                      <a:srgbClr val="EFEFEF"/>
                    </a:solidFill>
                  </a:tcPr>
                </a:tc>
                <a:tc>
                  <a:txBody>
                    <a:bodyPr/>
                    <a:lstStyle/>
                    <a:p>
                      <a:pPr algn="ctr">
                        <a:defRPr sz="1000">
                          <a:latin typeface="Montserrat"/>
                        </a:defRPr>
                      </a:pPr>
                      <a:r>
                        <a:t>93,345</a:t>
                      </a:r>
                    </a:p>
                  </a:txBody>
                  <a:tcPr marL="0" marR="0" marT="0" marB="0">
                    <a:solidFill>
                      <a:srgbClr val="ECD3D9"/>
                    </a:solidFill>
                  </a:tcPr>
                </a:tc>
                <a:tc>
                  <a:txBody>
                    <a:bodyPr/>
                    <a:lstStyle/>
                    <a:p>
                      <a:pPr algn="ctr">
                        <a:defRPr sz="1000">
                          <a:latin typeface="Montserrat"/>
                        </a:defRPr>
                      </a:pPr>
                      <a:r>
                        <a:t>250,560</a:t>
                      </a:r>
                    </a:p>
                  </a:txBody>
                  <a:tcPr marL="0" marR="0" marT="0" marB="0">
                    <a:solidFill>
                      <a:srgbClr val="ECD3D9"/>
                    </a:solidFill>
                  </a:tcPr>
                </a:tc>
                <a:tc>
                  <a:txBody>
                    <a:bodyPr/>
                    <a:lstStyle/>
                    <a:p>
                      <a:pPr algn="ctr">
                        <a:defRPr sz="1000">
                          <a:latin typeface="Montserrat"/>
                        </a:defRPr>
                      </a:pPr>
                      <a:r>
                        <a:t>37.3%</a:t>
                      </a:r>
                    </a:p>
                  </a:txBody>
                  <a:tcPr marL="0" marR="0" marT="0" marB="0">
                    <a:solidFill>
                      <a:srgbClr val="ECD3D9"/>
                    </a:solidFill>
                  </a:tcPr>
                </a:tc>
              </a:tr>
              <a:tr h="151200">
                <a:tc>
                  <a:txBody>
                    <a:bodyPr/>
                    <a:lstStyle/>
                    <a:p>
                      <a:pPr algn="l">
                        <a:defRPr sz="1000">
                          <a:latin typeface="Montserrat"/>
                        </a:defRPr>
                      </a:pPr>
                      <a:r>
                        <a:t>UMF 53 Aguadulce</a:t>
                      </a:r>
                    </a:p>
                  </a:txBody>
                  <a:tcPr marL="0" marR="0" marT="0" marB="0">
                    <a:solidFill>
                      <a:srgbClr val="FFFFFF"/>
                    </a:solidFill>
                  </a:tcPr>
                </a:tc>
                <a:tc>
                  <a:txBody>
                    <a:bodyPr/>
                    <a:lstStyle/>
                    <a:p>
                      <a:pPr algn="ctr">
                        <a:defRPr sz="1000">
                          <a:latin typeface="Montserrat"/>
                        </a:defRPr>
                      </a:pPr>
                      <a:r>
                        <a:t>15,260</a:t>
                      </a:r>
                    </a:p>
                  </a:txBody>
                  <a:tcPr marL="0" marR="0" marT="0" marB="0">
                    <a:solidFill>
                      <a:srgbClr val="FFFFFF"/>
                    </a:solidFill>
                  </a:tcPr>
                </a:tc>
                <a:tc>
                  <a:txBody>
                    <a:bodyPr/>
                    <a:lstStyle/>
                    <a:p>
                      <a:pPr algn="ctr">
                        <a:defRPr sz="1000">
                          <a:latin typeface="Montserrat"/>
                        </a:defRPr>
                      </a:pPr>
                      <a:r>
                        <a:t>1,120</a:t>
                      </a:r>
                    </a:p>
                  </a:txBody>
                  <a:tcPr marL="0" marR="0" marT="0" marB="0">
                    <a:solidFill>
                      <a:srgbClr val="FFFFFF"/>
                    </a:solidFill>
                  </a:tcPr>
                </a:tc>
                <a:tc>
                  <a:txBody>
                    <a:bodyPr/>
                    <a:lstStyle/>
                    <a:p>
                      <a:pPr algn="ctr">
                        <a:defRPr sz="1000">
                          <a:latin typeface="Montserrat"/>
                        </a:defRPr>
                      </a:pPr>
                      <a:r>
                        <a:t>6,346</a:t>
                      </a:r>
                    </a:p>
                  </a:txBody>
                  <a:tcPr marL="0" marR="0" marT="0" marB="0">
                    <a:solidFill>
                      <a:srgbClr val="ECD3D9"/>
                    </a:solidFill>
                  </a:tcPr>
                </a:tc>
                <a:tc>
                  <a:txBody>
                    <a:bodyPr/>
                    <a:lstStyle/>
                    <a:p>
                      <a:pPr algn="ctr">
                        <a:defRPr sz="1000">
                          <a:latin typeface="Montserrat"/>
                        </a:defRPr>
                      </a:pPr>
                      <a:r>
                        <a:t>16,000</a:t>
                      </a:r>
                    </a:p>
                  </a:txBody>
                  <a:tcPr marL="0" marR="0" marT="0" marB="0">
                    <a:solidFill>
                      <a:srgbClr val="ECD3D9"/>
                    </a:solidFill>
                  </a:tcPr>
                </a:tc>
                <a:tc>
                  <a:txBody>
                    <a:bodyPr/>
                    <a:lstStyle/>
                    <a:p>
                      <a:pPr algn="ctr">
                        <a:defRPr sz="1000">
                          <a:latin typeface="Montserrat"/>
                        </a:defRPr>
                      </a:pPr>
                      <a:r>
                        <a:t>39.7%</a:t>
                      </a:r>
                    </a:p>
                  </a:txBody>
                  <a:tcPr marL="0" marR="0" marT="0" marB="0">
                    <a:solidFill>
                      <a:srgbClr val="ECD3D9"/>
                    </a:solidFill>
                  </a:tcPr>
                </a:tc>
              </a:tr>
              <a:tr h="151200">
                <a:tc>
                  <a:txBody>
                    <a:bodyPr/>
                    <a:lstStyle/>
                    <a:p>
                      <a:pPr algn="l">
                        <a:defRPr sz="1000">
                          <a:latin typeface="Montserrat"/>
                        </a:defRPr>
                      </a:pPr>
                      <a:r>
                        <a:t>UMF 29 Los Naranjos</a:t>
                      </a:r>
                    </a:p>
                  </a:txBody>
                  <a:tcPr marL="0" marR="0" marT="0" marB="0">
                    <a:solidFill>
                      <a:srgbClr val="EFEFEF"/>
                    </a:solidFill>
                  </a:tcPr>
                </a:tc>
                <a:tc>
                  <a:txBody>
                    <a:bodyPr/>
                    <a:lstStyle/>
                    <a:p>
                      <a:pPr algn="ctr">
                        <a:defRPr sz="1000">
                          <a:latin typeface="Montserrat"/>
                        </a:defRPr>
                      </a:pPr>
                      <a:r>
                        <a:t>3,712</a:t>
                      </a:r>
                    </a:p>
                  </a:txBody>
                  <a:tcPr marL="0" marR="0" marT="0" marB="0">
                    <a:solidFill>
                      <a:srgbClr val="EFEFEF"/>
                    </a:solidFill>
                  </a:tcPr>
                </a:tc>
                <a:tc>
                  <a:txBody>
                    <a:bodyPr/>
                    <a:lstStyle/>
                    <a:p>
                      <a:pPr algn="ctr">
                        <a:defRPr sz="1000">
                          <a:latin typeface="Montserrat"/>
                        </a:defRPr>
                      </a:pPr>
                      <a:r>
                        <a:t>2,556</a:t>
                      </a:r>
                    </a:p>
                  </a:txBody>
                  <a:tcPr marL="0" marR="0" marT="0" marB="0">
                    <a:solidFill>
                      <a:srgbClr val="EFEFEF"/>
                    </a:solidFill>
                  </a:tcPr>
                </a:tc>
                <a:tc>
                  <a:txBody>
                    <a:bodyPr/>
                    <a:lstStyle/>
                    <a:p>
                      <a:pPr algn="ctr">
                        <a:defRPr sz="1000">
                          <a:latin typeface="Montserrat"/>
                        </a:defRPr>
                      </a:pPr>
                      <a:r>
                        <a:t>2,046</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40.9%</a:t>
                      </a:r>
                    </a:p>
                  </a:txBody>
                  <a:tcPr marL="0" marR="0" marT="0" marB="0">
                    <a:solidFill>
                      <a:srgbClr val="ECD3D9"/>
                    </a:solidFill>
                  </a:tcPr>
                </a:tc>
              </a:tr>
              <a:tr h="151200">
                <a:tc>
                  <a:txBody>
                    <a:bodyPr/>
                    <a:lstStyle/>
                    <a:p>
                      <a:pPr algn="l">
                        <a:defRPr sz="1000">
                          <a:latin typeface="Montserrat"/>
                        </a:defRPr>
                      </a:pPr>
                      <a:r>
                        <a:t>UMF 6 Ixhuatlancillo</a:t>
                      </a:r>
                    </a:p>
                  </a:txBody>
                  <a:tcPr marL="0" marR="0" marT="0" marB="0">
                    <a:solidFill>
                      <a:srgbClr val="FFFFFF"/>
                    </a:solidFill>
                  </a:tcPr>
                </a:tc>
                <a:tc>
                  <a:txBody>
                    <a:bodyPr/>
                    <a:lstStyle/>
                    <a:p>
                      <a:pPr algn="ctr">
                        <a:defRPr sz="1000">
                          <a:latin typeface="Montserrat"/>
                        </a:defRPr>
                      </a:pPr>
                      <a:r>
                        <a:t>98,938</a:t>
                      </a:r>
                    </a:p>
                  </a:txBody>
                  <a:tcPr marL="0" marR="0" marT="0" marB="0">
                    <a:solidFill>
                      <a:srgbClr val="FFFFFF"/>
                    </a:solidFill>
                  </a:tcPr>
                </a:tc>
                <a:tc>
                  <a:txBody>
                    <a:bodyPr/>
                    <a:lstStyle/>
                    <a:p>
                      <a:pPr algn="ctr">
                        <a:defRPr sz="1000">
                          <a:latin typeface="Montserrat"/>
                        </a:defRPr>
                      </a:pPr>
                      <a:r>
                        <a:t>11,925</a:t>
                      </a:r>
                    </a:p>
                  </a:txBody>
                  <a:tcPr marL="0" marR="0" marT="0" marB="0">
                    <a:solidFill>
                      <a:srgbClr val="FFFFFF"/>
                    </a:solidFill>
                  </a:tcPr>
                </a:tc>
                <a:tc>
                  <a:txBody>
                    <a:bodyPr/>
                    <a:lstStyle/>
                    <a:p>
                      <a:pPr algn="ctr">
                        <a:defRPr sz="1000">
                          <a:latin typeface="Montserrat"/>
                        </a:defRPr>
                      </a:pPr>
                      <a:r>
                        <a:t>34,943</a:t>
                      </a:r>
                    </a:p>
                  </a:txBody>
                  <a:tcPr marL="0" marR="0" marT="0" marB="0">
                    <a:solidFill>
                      <a:srgbClr val="ECD3D9"/>
                    </a:solidFill>
                  </a:tcPr>
                </a:tc>
                <a:tc>
                  <a:txBody>
                    <a:bodyPr/>
                    <a:lstStyle/>
                    <a:p>
                      <a:pPr algn="ctr">
                        <a:defRPr sz="1000">
                          <a:latin typeface="Montserrat"/>
                        </a:defRPr>
                      </a:pPr>
                      <a:r>
                        <a:t>93,000</a:t>
                      </a:r>
                    </a:p>
                  </a:txBody>
                  <a:tcPr marL="0" marR="0" marT="0" marB="0">
                    <a:solidFill>
                      <a:srgbClr val="ECD3D9"/>
                    </a:solidFill>
                  </a:tcPr>
                </a:tc>
                <a:tc>
                  <a:txBody>
                    <a:bodyPr/>
                    <a:lstStyle/>
                    <a:p>
                      <a:pPr algn="ctr">
                        <a:defRPr sz="1000">
                          <a:latin typeface="Montserrat"/>
                        </a:defRPr>
                      </a:pPr>
                      <a:r>
                        <a:t>37.6%</a:t>
                      </a:r>
                    </a:p>
                  </a:txBody>
                  <a:tcPr marL="0" marR="0" marT="0" marB="0">
                    <a:solidFill>
                      <a:srgbClr val="ECD3D9"/>
                    </a:solidFill>
                  </a:tcPr>
                </a:tc>
              </a:tr>
              <a:tr h="151200">
                <a:tc>
                  <a:txBody>
                    <a:bodyPr/>
                    <a:lstStyle/>
                    <a:p>
                      <a:pPr algn="l">
                        <a:defRPr sz="1000">
                          <a:latin typeface="Montserrat"/>
                        </a:defRPr>
                      </a:pPr>
                      <a:r>
                        <a:t>UMF 32 Alvarado</a:t>
                      </a:r>
                    </a:p>
                  </a:txBody>
                  <a:tcPr marL="0" marR="0" marT="0" marB="0">
                    <a:solidFill>
                      <a:srgbClr val="EFEFEF"/>
                    </a:solidFill>
                  </a:tcPr>
                </a:tc>
                <a:tc>
                  <a:txBody>
                    <a:bodyPr/>
                    <a:lstStyle/>
                    <a:p>
                      <a:pPr algn="ctr">
                        <a:defRPr sz="1000">
                          <a:latin typeface="Montserrat"/>
                        </a:defRPr>
                      </a:pPr>
                      <a:r>
                        <a:t>35,696</a:t>
                      </a:r>
                    </a:p>
                  </a:txBody>
                  <a:tcPr marL="0" marR="0" marT="0" marB="0">
                    <a:solidFill>
                      <a:srgbClr val="EFEFEF"/>
                    </a:solidFill>
                  </a:tcPr>
                </a:tc>
                <a:tc>
                  <a:txBody>
                    <a:bodyPr/>
                    <a:lstStyle/>
                    <a:p>
                      <a:pPr algn="ctr">
                        <a:defRPr sz="1000">
                          <a:latin typeface="Montserrat"/>
                        </a:defRPr>
                      </a:pPr>
                      <a:r>
                        <a:t>46</a:t>
                      </a:r>
                    </a:p>
                  </a:txBody>
                  <a:tcPr marL="0" marR="0" marT="0" marB="0">
                    <a:solidFill>
                      <a:srgbClr val="EFEFEF"/>
                    </a:solidFill>
                  </a:tcPr>
                </a:tc>
                <a:tc>
                  <a:txBody>
                    <a:bodyPr/>
                    <a:lstStyle/>
                    <a:p>
                      <a:pPr algn="ctr">
                        <a:defRPr sz="1000">
                          <a:latin typeface="Montserrat"/>
                        </a:defRPr>
                      </a:pPr>
                      <a:r>
                        <a:t>15,069</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40.1%</a:t>
                      </a:r>
                    </a:p>
                  </a:txBody>
                  <a:tcPr marL="0" marR="0" marT="0" marB="0">
                    <a:solidFill>
                      <a:srgbClr val="ECD3D9"/>
                    </a:solidFill>
                  </a:tcPr>
                </a:tc>
              </a:tr>
              <a:tr h="151200">
                <a:tc>
                  <a:txBody>
                    <a:bodyPr/>
                    <a:lstStyle/>
                    <a:p>
                      <a:pPr algn="l">
                        <a:defRPr sz="1000">
                          <a:latin typeface="Montserrat"/>
                        </a:defRPr>
                      </a:pPr>
                      <a:r>
                        <a:t>UMF 21 Zempoala</a:t>
                      </a:r>
                    </a:p>
                  </a:txBody>
                  <a:tcPr marL="0" marR="0" marT="0" marB="0">
                    <a:solidFill>
                      <a:srgbClr val="FFFFFF"/>
                    </a:solidFill>
                  </a:tcPr>
                </a:tc>
                <a:tc>
                  <a:txBody>
                    <a:bodyPr/>
                    <a:lstStyle/>
                    <a:p>
                      <a:pPr algn="ctr">
                        <a:defRPr sz="1000">
                          <a:latin typeface="Montserrat"/>
                        </a:defRPr>
                      </a:pPr>
                      <a:r>
                        <a:t>20,661</a:t>
                      </a:r>
                    </a:p>
                  </a:txBody>
                  <a:tcPr marL="0" marR="0" marT="0" marB="0">
                    <a:solidFill>
                      <a:srgbClr val="FFFFFF"/>
                    </a:solidFill>
                  </a:tcPr>
                </a:tc>
                <a:tc>
                  <a:txBody>
                    <a:bodyPr/>
                    <a:lstStyle/>
                    <a:p>
                      <a:pPr algn="ctr">
                        <a:defRPr sz="1000">
                          <a:latin typeface="Montserrat"/>
                        </a:defRPr>
                      </a:pPr>
                      <a:r>
                        <a:t>221</a:t>
                      </a:r>
                    </a:p>
                  </a:txBody>
                  <a:tcPr marL="0" marR="0" marT="0" marB="0">
                    <a:solidFill>
                      <a:srgbClr val="FFFFFF"/>
                    </a:solidFill>
                  </a:tcPr>
                </a:tc>
                <a:tc>
                  <a:txBody>
                    <a:bodyPr/>
                    <a:lstStyle/>
                    <a:p>
                      <a:pPr algn="ctr">
                        <a:defRPr sz="1000">
                          <a:latin typeface="Montserrat"/>
                        </a:defRPr>
                      </a:pPr>
                      <a:r>
                        <a:t>7,900</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31.5%</a:t>
                      </a:r>
                    </a:p>
                  </a:txBody>
                  <a:tcPr marL="0" marR="0" marT="0" marB="0">
                    <a:solidFill>
                      <a:srgbClr val="ECD3D9"/>
                    </a:solidFill>
                  </a:tcPr>
                </a:tc>
              </a:tr>
              <a:tr h="151200">
                <a:tc>
                  <a:txBody>
                    <a:bodyPr/>
                    <a:lstStyle/>
                    <a:p>
                      <a:pPr algn="l">
                        <a:defRPr sz="1000">
                          <a:latin typeface="Montserrat"/>
                        </a:defRPr>
                      </a:pPr>
                      <a:r>
                        <a:t>UMF 57 Jaltipan</a:t>
                      </a:r>
                    </a:p>
                  </a:txBody>
                  <a:tcPr marL="0" marR="0" marT="0" marB="0">
                    <a:solidFill>
                      <a:srgbClr val="EFEFEF"/>
                    </a:solidFill>
                  </a:tcPr>
                </a:tc>
                <a:tc>
                  <a:txBody>
                    <a:bodyPr/>
                    <a:lstStyle/>
                    <a:p>
                      <a:pPr algn="ctr">
                        <a:defRPr sz="1000">
                          <a:latin typeface="Montserrat"/>
                        </a:defRPr>
                      </a:pPr>
                      <a:r>
                        <a:t>33,958</a:t>
                      </a:r>
                    </a:p>
                  </a:txBody>
                  <a:tcPr marL="0" marR="0" marT="0" marB="0">
                    <a:solidFill>
                      <a:srgbClr val="EFEFEF"/>
                    </a:solidFill>
                  </a:tcPr>
                </a:tc>
                <a:tc>
                  <a:txBody>
                    <a:bodyPr/>
                    <a:lstStyle/>
                    <a:p>
                      <a:pPr algn="ctr">
                        <a:defRPr sz="1000">
                          <a:latin typeface="Montserrat"/>
                        </a:defRPr>
                      </a:pPr>
                      <a:r>
                        <a:t>10,363</a:t>
                      </a:r>
                    </a:p>
                  </a:txBody>
                  <a:tcPr marL="0" marR="0" marT="0" marB="0">
                    <a:solidFill>
                      <a:srgbClr val="EFEFEF"/>
                    </a:solidFill>
                  </a:tcPr>
                </a:tc>
                <a:tc>
                  <a:txBody>
                    <a:bodyPr/>
                    <a:lstStyle/>
                    <a:p>
                      <a:pPr algn="ctr">
                        <a:defRPr sz="1000">
                          <a:latin typeface="Montserrat"/>
                        </a:defRPr>
                      </a:pPr>
                      <a:r>
                        <a:t>12,560</a:t>
                      </a:r>
                    </a:p>
                  </a:txBody>
                  <a:tcPr marL="0" marR="0" marT="0" marB="0">
                    <a:solidFill>
                      <a:srgbClr val="ECD3D9"/>
                    </a:solidFill>
                  </a:tcPr>
                </a:tc>
                <a:tc>
                  <a:txBody>
                    <a:bodyPr/>
                    <a:lstStyle/>
                    <a:p>
                      <a:pPr algn="ctr">
                        <a:defRPr sz="1000">
                          <a:latin typeface="Montserrat"/>
                        </a:defRPr>
                      </a:pPr>
                      <a:r>
                        <a:t>30,000</a:t>
                      </a:r>
                    </a:p>
                  </a:txBody>
                  <a:tcPr marL="0" marR="0" marT="0" marB="0">
                    <a:solidFill>
                      <a:srgbClr val="ECD3D9"/>
                    </a:solidFill>
                  </a:tcPr>
                </a:tc>
                <a:tc>
                  <a:txBody>
                    <a:bodyPr/>
                    <a:lstStyle/>
                    <a:p>
                      <a:pPr algn="ctr">
                        <a:defRPr sz="1000">
                          <a:latin typeface="Montserrat"/>
                        </a:defRPr>
                      </a:pPr>
                      <a:r>
                        <a:t>41.9%</a:t>
                      </a:r>
                    </a:p>
                  </a:txBody>
                  <a:tcPr marL="0" marR="0" marT="0" marB="0">
                    <a:solidFill>
                      <a:srgbClr val="ECD3D9"/>
                    </a:solidFill>
                  </a:tcPr>
                </a:tc>
              </a:tr>
              <a:tr h="151200">
                <a:tc>
                  <a:txBody>
                    <a:bodyPr/>
                    <a:lstStyle/>
                    <a:p>
                      <a:pPr algn="l">
                        <a:defRPr sz="1000">
                          <a:latin typeface="Montserrat"/>
                        </a:defRPr>
                      </a:pPr>
                      <a:r>
                        <a:t>UMF 34 Catemaco</a:t>
                      </a:r>
                    </a:p>
                  </a:txBody>
                  <a:tcPr marL="0" marR="0" marT="0" marB="0">
                    <a:solidFill>
                      <a:srgbClr val="FFFFFF"/>
                    </a:solidFill>
                  </a:tcPr>
                </a:tc>
                <a:tc>
                  <a:txBody>
                    <a:bodyPr/>
                    <a:lstStyle/>
                    <a:p>
                      <a:pPr algn="ctr">
                        <a:defRPr sz="1000">
                          <a:latin typeface="Montserrat"/>
                        </a:defRPr>
                      </a:pPr>
                      <a:r>
                        <a:t>12,063</a:t>
                      </a:r>
                    </a:p>
                  </a:txBody>
                  <a:tcPr marL="0" marR="0" marT="0" marB="0">
                    <a:solidFill>
                      <a:srgbClr val="FFFFFF"/>
                    </a:solidFill>
                  </a:tcPr>
                </a:tc>
                <a:tc>
                  <a:txBody>
                    <a:bodyPr/>
                    <a:lstStyle/>
                    <a:p>
                      <a:pPr algn="ctr">
                        <a:defRPr sz="1000">
                          <a:latin typeface="Montserrat"/>
                        </a:defRPr>
                      </a:pPr>
                      <a:r>
                        <a:t>178</a:t>
                      </a:r>
                    </a:p>
                  </a:txBody>
                  <a:tcPr marL="0" marR="0" marT="0" marB="0">
                    <a:solidFill>
                      <a:srgbClr val="FFFFFF"/>
                    </a:solidFill>
                  </a:tcPr>
                </a:tc>
                <a:tc>
                  <a:txBody>
                    <a:bodyPr/>
                    <a:lstStyle/>
                    <a:p>
                      <a:pPr algn="ctr">
                        <a:defRPr sz="1000">
                          <a:latin typeface="Montserrat"/>
                        </a:defRPr>
                      </a:pPr>
                      <a:r>
                        <a:t>6,671</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51.3%</a:t>
                      </a:r>
                    </a:p>
                  </a:txBody>
                  <a:tcPr marL="0" marR="0" marT="0" marB="0">
                    <a:solidFill>
                      <a:srgbClr val="ECD3D9"/>
                    </a:solidFill>
                  </a:tcPr>
                </a:tc>
              </a:tr>
              <a:tr h="151200">
                <a:tc>
                  <a:txBody>
                    <a:bodyPr/>
                    <a:lstStyle/>
                    <a:p>
                      <a:pPr algn="l">
                        <a:defRPr sz="1000">
                          <a:latin typeface="Montserrat"/>
                        </a:defRPr>
                      </a:pPr>
                      <a:r>
                        <a:t>UMF 59 Choapas</a:t>
                      </a:r>
                    </a:p>
                  </a:txBody>
                  <a:tcPr marL="0" marR="0" marT="0" marB="0">
                    <a:solidFill>
                      <a:srgbClr val="EFEFEF"/>
                    </a:solidFill>
                  </a:tcPr>
                </a:tc>
                <a:tc>
                  <a:txBody>
                    <a:bodyPr/>
                    <a:lstStyle/>
                    <a:p>
                      <a:pPr algn="ctr">
                        <a:defRPr sz="1000">
                          <a:latin typeface="Montserrat"/>
                        </a:defRPr>
                      </a:pPr>
                      <a:r>
                        <a:t>15,984</a:t>
                      </a:r>
                    </a:p>
                  </a:txBody>
                  <a:tcPr marL="0" marR="0" marT="0" marB="0">
                    <a:solidFill>
                      <a:srgbClr val="EFEFEF"/>
                    </a:solidFill>
                  </a:tcPr>
                </a:tc>
                <a:tc>
                  <a:txBody>
                    <a:bodyPr/>
                    <a:lstStyle/>
                    <a:p>
                      <a:pPr algn="ctr">
                        <a:defRPr sz="1000">
                          <a:latin typeface="Montserrat"/>
                        </a:defRPr>
                      </a:pPr>
                      <a:r>
                        <a:t>349</a:t>
                      </a:r>
                    </a:p>
                  </a:txBody>
                  <a:tcPr marL="0" marR="0" marT="0" marB="0">
                    <a:solidFill>
                      <a:srgbClr val="EFEFEF"/>
                    </a:solidFill>
                  </a:tcPr>
                </a:tc>
                <a:tc>
                  <a:txBody>
                    <a:bodyPr/>
                    <a:lstStyle/>
                    <a:p>
                      <a:pPr algn="ctr">
                        <a:defRPr sz="1000">
                          <a:latin typeface="Montserrat"/>
                        </a:defRPr>
                      </a:pPr>
                      <a:r>
                        <a:t>6,691</a:t>
                      </a:r>
                    </a:p>
                  </a:txBody>
                  <a:tcPr marL="0" marR="0" marT="0" marB="0">
                    <a:solidFill>
                      <a:srgbClr val="ECD3D9"/>
                    </a:solidFill>
                  </a:tcPr>
                </a:tc>
                <a:tc>
                  <a:txBody>
                    <a:bodyPr/>
                    <a:lstStyle/>
                    <a:p>
                      <a:pPr algn="ctr">
                        <a:defRPr sz="1000">
                          <a:latin typeface="Montserrat"/>
                        </a:defRPr>
                      </a:pPr>
                      <a:r>
                        <a:t>17,000</a:t>
                      </a:r>
                    </a:p>
                  </a:txBody>
                  <a:tcPr marL="0" marR="0" marT="0" marB="0">
                    <a:solidFill>
                      <a:srgbClr val="ECD3D9"/>
                    </a:solidFill>
                  </a:tcPr>
                </a:tc>
                <a:tc>
                  <a:txBody>
                    <a:bodyPr/>
                    <a:lstStyle/>
                    <a:p>
                      <a:pPr algn="ctr">
                        <a:defRPr sz="1000">
                          <a:latin typeface="Montserrat"/>
                        </a:defRPr>
                      </a:pPr>
                      <a:r>
                        <a:t>39.4%</a:t>
                      </a:r>
                    </a:p>
                  </a:txBody>
                  <a:tcPr marL="0" marR="0" marT="0" marB="0">
                    <a:solidFill>
                      <a:srgbClr val="ECD3D9"/>
                    </a:solidFill>
                  </a:tcPr>
                </a:tc>
              </a:tr>
              <a:tr h="151200">
                <a:tc>
                  <a:txBody>
                    <a:bodyPr/>
                    <a:lstStyle/>
                    <a:p>
                      <a:pPr algn="l">
                        <a:defRPr sz="1000">
                          <a:latin typeface="Montserrat"/>
                        </a:defRPr>
                      </a:pPr>
                      <a:r>
                        <a:t>UMF 58 Huatusco</a:t>
                      </a:r>
                    </a:p>
                  </a:txBody>
                  <a:tcPr marL="0" marR="0" marT="0" marB="0">
                    <a:solidFill>
                      <a:srgbClr val="FFFFFF"/>
                    </a:solidFill>
                  </a:tcPr>
                </a:tc>
                <a:tc>
                  <a:txBody>
                    <a:bodyPr/>
                    <a:lstStyle/>
                    <a:p>
                      <a:pPr algn="ctr">
                        <a:defRPr sz="1000">
                          <a:latin typeface="Montserrat"/>
                        </a:defRPr>
                      </a:pPr>
                      <a:r>
                        <a:t>18,211</a:t>
                      </a:r>
                    </a:p>
                  </a:txBody>
                  <a:tcPr marL="0" marR="0" marT="0" marB="0">
                    <a:solidFill>
                      <a:srgbClr val="FFFFFF"/>
                    </a:solidFill>
                  </a:tcPr>
                </a:tc>
                <a:tc>
                  <a:txBody>
                    <a:bodyPr/>
                    <a:lstStyle/>
                    <a:p>
                      <a:pPr algn="ctr">
                        <a:defRPr sz="1000">
                          <a:latin typeface="Montserrat"/>
                        </a:defRPr>
                      </a:pPr>
                      <a:r>
                        <a:t>-212</a:t>
                      </a:r>
                    </a:p>
                  </a:txBody>
                  <a:tcPr marL="0" marR="0" marT="0" marB="0">
                    <a:solidFill>
                      <a:srgbClr val="FFFFFF"/>
                    </a:solidFill>
                  </a:tcPr>
                </a:tc>
                <a:tc>
                  <a:txBody>
                    <a:bodyPr/>
                    <a:lstStyle/>
                    <a:p>
                      <a:pPr algn="ctr">
                        <a:defRPr sz="1000">
                          <a:latin typeface="Montserrat"/>
                        </a:defRPr>
                      </a:pPr>
                      <a:r>
                        <a:t>9,276</a:t>
                      </a:r>
                    </a:p>
                  </a:txBody>
                  <a:tcPr marL="0" marR="0" marT="0" marB="0">
                    <a:solidFill>
                      <a:srgbClr val="ECD3D9"/>
                    </a:solidFill>
                  </a:tcPr>
                </a:tc>
                <a:tc>
                  <a:txBody>
                    <a:bodyPr/>
                    <a:lstStyle/>
                    <a:p>
                      <a:pPr algn="ctr">
                        <a:defRPr sz="1000">
                          <a:latin typeface="Montserrat"/>
                        </a:defRPr>
                      </a:pPr>
                      <a:r>
                        <a:t>19,000</a:t>
                      </a:r>
                    </a:p>
                  </a:txBody>
                  <a:tcPr marL="0" marR="0" marT="0" marB="0">
                    <a:solidFill>
                      <a:srgbClr val="ECD3D9"/>
                    </a:solidFill>
                  </a:tcPr>
                </a:tc>
                <a:tc>
                  <a:txBody>
                    <a:bodyPr/>
                    <a:lstStyle/>
                    <a:p>
                      <a:pPr algn="ctr">
                        <a:defRPr sz="1000">
                          <a:latin typeface="Montserrat"/>
                        </a:defRPr>
                      </a:pPr>
                      <a:r>
                        <a:t>48.8%</a:t>
                      </a:r>
                    </a:p>
                  </a:txBody>
                  <a:tcPr marL="0" marR="0" marT="0" marB="0">
                    <a:solidFill>
                      <a:srgbClr val="ECD3D9"/>
                    </a:solidFill>
                  </a:tcPr>
                </a:tc>
              </a:tr>
              <a:tr h="151200">
                <a:tc>
                  <a:txBody>
                    <a:bodyPr/>
                    <a:lstStyle/>
                    <a:p>
                      <a:pPr algn="l">
                        <a:defRPr sz="1000">
                          <a:latin typeface="Montserrat"/>
                        </a:defRPr>
                      </a:pPr>
                      <a:r>
                        <a:t>UMF 56 V. Islas</a:t>
                      </a:r>
                    </a:p>
                  </a:txBody>
                  <a:tcPr marL="0" marR="0" marT="0" marB="0">
                    <a:solidFill>
                      <a:srgbClr val="EFEFEF"/>
                    </a:solidFill>
                  </a:tcPr>
                </a:tc>
                <a:tc>
                  <a:txBody>
                    <a:bodyPr/>
                    <a:lstStyle/>
                    <a:p>
                      <a:pPr algn="ctr">
                        <a:defRPr sz="1000">
                          <a:latin typeface="Montserrat"/>
                        </a:defRPr>
                      </a:pPr>
                      <a:r>
                        <a:t>35,173</a:t>
                      </a:r>
                    </a:p>
                  </a:txBody>
                  <a:tcPr marL="0" marR="0" marT="0" marB="0">
                    <a:solidFill>
                      <a:srgbClr val="EFEFEF"/>
                    </a:solidFill>
                  </a:tcPr>
                </a:tc>
                <a:tc>
                  <a:txBody>
                    <a:bodyPr/>
                    <a:lstStyle/>
                    <a:p>
                      <a:pPr algn="ctr">
                        <a:defRPr sz="1000">
                          <a:latin typeface="Montserrat"/>
                        </a:defRPr>
                      </a:pPr>
                      <a:r>
                        <a:t>9,682</a:t>
                      </a:r>
                    </a:p>
                  </a:txBody>
                  <a:tcPr marL="0" marR="0" marT="0" marB="0">
                    <a:solidFill>
                      <a:srgbClr val="EFEFEF"/>
                    </a:solidFill>
                  </a:tcPr>
                </a:tc>
                <a:tc>
                  <a:txBody>
                    <a:bodyPr/>
                    <a:lstStyle/>
                    <a:p>
                      <a:pPr algn="ctr">
                        <a:defRPr sz="1000">
                          <a:latin typeface="Montserrat"/>
                        </a:defRPr>
                      </a:pPr>
                      <a:r>
                        <a:t>14,742</a:t>
                      </a:r>
                    </a:p>
                  </a:txBody>
                  <a:tcPr marL="0" marR="0" marT="0" marB="0">
                    <a:solidFill>
                      <a:srgbClr val="ECD3D9"/>
                    </a:solidFill>
                  </a:tcPr>
                </a:tc>
                <a:tc>
                  <a:txBody>
                    <a:bodyPr/>
                    <a:lstStyle/>
                    <a:p>
                      <a:pPr algn="ctr">
                        <a:defRPr sz="1000">
                          <a:latin typeface="Montserrat"/>
                        </a:defRPr>
                      </a:pPr>
                      <a:r>
                        <a:t>34,000</a:t>
                      </a:r>
                    </a:p>
                  </a:txBody>
                  <a:tcPr marL="0" marR="0" marT="0" marB="0">
                    <a:solidFill>
                      <a:srgbClr val="ECD3D9"/>
                    </a:solidFill>
                  </a:tcPr>
                </a:tc>
                <a:tc>
                  <a:txBody>
                    <a:bodyPr/>
                    <a:lstStyle/>
                    <a:p>
                      <a:pPr algn="ctr">
                        <a:defRPr sz="1000">
                          <a:latin typeface="Montserrat"/>
                        </a:defRPr>
                      </a:pPr>
                      <a:r>
                        <a:t>43.4%</a:t>
                      </a:r>
                    </a:p>
                  </a:txBody>
                  <a:tcPr marL="0" marR="0" marT="0" marB="0">
                    <a:solidFill>
                      <a:srgbClr val="ECD3D9"/>
                    </a:solidFill>
                  </a:tcPr>
                </a:tc>
              </a:tr>
              <a:tr h="151200">
                <a:tc>
                  <a:txBody>
                    <a:bodyPr/>
                    <a:lstStyle/>
                    <a:p>
                      <a:pPr algn="l">
                        <a:defRPr sz="1000">
                          <a:latin typeface="Montserrat"/>
                        </a:defRPr>
                      </a:pPr>
                      <a:r>
                        <a:t>UMF 75 Pueblo Viejo</a:t>
                      </a:r>
                    </a:p>
                  </a:txBody>
                  <a:tcPr marL="0" marR="0" marT="0" marB="0">
                    <a:solidFill>
                      <a:srgbClr val="FFFFFF"/>
                    </a:solidFill>
                  </a:tcPr>
                </a:tc>
                <a:tc>
                  <a:txBody>
                    <a:bodyPr/>
                    <a:lstStyle/>
                    <a:p>
                      <a:pPr algn="ctr">
                        <a:defRPr sz="1000">
                          <a:latin typeface="Montserrat"/>
                        </a:defRPr>
                      </a:pPr>
                      <a:r>
                        <a:t>14,268</a:t>
                      </a:r>
                    </a:p>
                  </a:txBody>
                  <a:tcPr marL="0" marR="0" marT="0" marB="0">
                    <a:solidFill>
                      <a:srgbClr val="FFFFFF"/>
                    </a:solidFill>
                  </a:tcPr>
                </a:tc>
                <a:tc>
                  <a:txBody>
                    <a:bodyPr/>
                    <a:lstStyle/>
                    <a:p>
                      <a:pPr algn="ctr">
                        <a:defRPr sz="1000">
                          <a:latin typeface="Montserrat"/>
                        </a:defRPr>
                      </a:pPr>
                      <a:r>
                        <a:t>3,968</a:t>
                      </a:r>
                    </a:p>
                  </a:txBody>
                  <a:tcPr marL="0" marR="0" marT="0" marB="0">
                    <a:solidFill>
                      <a:srgbClr val="FFFFFF"/>
                    </a:solidFill>
                  </a:tcPr>
                </a:tc>
                <a:tc>
                  <a:txBody>
                    <a:bodyPr/>
                    <a:lstStyle/>
                    <a:p>
                      <a:pPr algn="ctr">
                        <a:defRPr sz="1000">
                          <a:latin typeface="Montserrat"/>
                        </a:defRPr>
                      </a:pPr>
                      <a:r>
                        <a:t>7,619</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54.4%</a:t>
                      </a:r>
                    </a:p>
                  </a:txBody>
                  <a:tcPr marL="0" marR="0" marT="0" marB="0">
                    <a:solidFill>
                      <a:srgbClr val="ECD3D9"/>
                    </a:solidFill>
                  </a:tcPr>
                </a:tc>
              </a:tr>
              <a:tr h="151200">
                <a:tc>
                  <a:txBody>
                    <a:bodyPr/>
                    <a:lstStyle/>
                    <a:p>
                      <a:pPr algn="l">
                        <a:defRPr sz="1000">
                          <a:latin typeface="Montserrat"/>
                        </a:defRPr>
                      </a:pPr>
                      <a:r>
                        <a:t>UMF 74 Tampico Alto</a:t>
                      </a:r>
                    </a:p>
                  </a:txBody>
                  <a:tcPr marL="0" marR="0" marT="0" marB="0">
                    <a:solidFill>
                      <a:srgbClr val="EFEFEF"/>
                    </a:solidFill>
                  </a:tcPr>
                </a:tc>
                <a:tc>
                  <a:txBody>
                    <a:bodyPr/>
                    <a:lstStyle/>
                    <a:p>
                      <a:pPr algn="ctr">
                        <a:defRPr sz="1000">
                          <a:latin typeface="Montserrat"/>
                        </a:defRPr>
                      </a:pPr>
                      <a:r>
                        <a:t>7,898</a:t>
                      </a:r>
                    </a:p>
                  </a:txBody>
                  <a:tcPr marL="0" marR="0" marT="0" marB="0">
                    <a:solidFill>
                      <a:srgbClr val="EFEFEF"/>
                    </a:solidFill>
                  </a:tcPr>
                </a:tc>
                <a:tc>
                  <a:txBody>
                    <a:bodyPr/>
                    <a:lstStyle/>
                    <a:p>
                      <a:pPr algn="ctr">
                        <a:defRPr sz="1000">
                          <a:latin typeface="Montserrat"/>
                        </a:defRPr>
                      </a:pPr>
                      <a:r>
                        <a:t>3,111</a:t>
                      </a:r>
                    </a:p>
                  </a:txBody>
                  <a:tcPr marL="0" marR="0" marT="0" marB="0">
                    <a:solidFill>
                      <a:srgbClr val="EFEFEF"/>
                    </a:solidFill>
                  </a:tcPr>
                </a:tc>
                <a:tc>
                  <a:txBody>
                    <a:bodyPr/>
                    <a:lstStyle/>
                    <a:p>
                      <a:pPr algn="ctr">
                        <a:defRPr sz="1000">
                          <a:latin typeface="Montserrat"/>
                        </a:defRPr>
                      </a:pPr>
                      <a:r>
                        <a:t>3,820</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42.4%</a:t>
                      </a:r>
                    </a:p>
                  </a:txBody>
                  <a:tcPr marL="0" marR="0" marT="0" marB="0">
                    <a:solidFill>
                      <a:srgbClr val="ECD3D9"/>
                    </a:solidFill>
                  </a:tcPr>
                </a:tc>
              </a:tr>
              <a:tr h="151200">
                <a:tc>
                  <a:txBody>
                    <a:bodyPr/>
                    <a:lstStyle/>
                    <a:p>
                      <a:pPr algn="l">
                        <a:defRPr sz="1000">
                          <a:latin typeface="Montserrat"/>
                        </a:defRPr>
                      </a:pPr>
                      <a:r>
                        <a:t>UMF 67 Jalapa</a:t>
                      </a:r>
                    </a:p>
                  </a:txBody>
                  <a:tcPr marL="0" marR="0" marT="0" marB="0">
                    <a:solidFill>
                      <a:srgbClr val="FFFFFF"/>
                    </a:solidFill>
                  </a:tcPr>
                </a:tc>
                <a:tc>
                  <a:txBody>
                    <a:bodyPr/>
                    <a:lstStyle/>
                    <a:p>
                      <a:pPr algn="ctr">
                        <a:defRPr sz="1000">
                          <a:latin typeface="Montserrat"/>
                        </a:defRPr>
                      </a:pPr>
                      <a:r>
                        <a:t>24,319</a:t>
                      </a:r>
                    </a:p>
                  </a:txBody>
                  <a:tcPr marL="0" marR="0" marT="0" marB="0">
                    <a:solidFill>
                      <a:srgbClr val="FFFFFF"/>
                    </a:solidFill>
                  </a:tcPr>
                </a:tc>
                <a:tc>
                  <a:txBody>
                    <a:bodyPr/>
                    <a:lstStyle/>
                    <a:p>
                      <a:pPr algn="ctr">
                        <a:defRPr sz="1000">
                          <a:latin typeface="Montserrat"/>
                        </a:defRPr>
                      </a:pPr>
                      <a:r>
                        <a:t>5,740</a:t>
                      </a:r>
                    </a:p>
                  </a:txBody>
                  <a:tcPr marL="0" marR="0" marT="0" marB="0">
                    <a:solidFill>
                      <a:srgbClr val="FFFFFF"/>
                    </a:solidFill>
                  </a:tcPr>
                </a:tc>
                <a:tc>
                  <a:txBody>
                    <a:bodyPr/>
                    <a:lstStyle/>
                    <a:p>
                      <a:pPr algn="ctr">
                        <a:defRPr sz="1000">
                          <a:latin typeface="Montserrat"/>
                        </a:defRPr>
                      </a:pPr>
                      <a:r>
                        <a:t>9,903</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39.5%</a:t>
                      </a:r>
                    </a:p>
                  </a:txBody>
                  <a:tcPr marL="0" marR="0" marT="0" marB="0">
                    <a:solidFill>
                      <a:srgbClr val="ECD3D9"/>
                    </a:solidFill>
                  </a:tcPr>
                </a:tc>
              </a:tr>
              <a:tr h="151200">
                <a:tc>
                  <a:txBody>
                    <a:bodyPr/>
                    <a:lstStyle/>
                    <a:p>
                      <a:pPr algn="l">
                        <a:defRPr sz="1000">
                          <a:latin typeface="Montserrat"/>
                        </a:defRPr>
                      </a:pPr>
                      <a:r>
                        <a:t>UMF 46 Gutiérrez</a:t>
                      </a:r>
                    </a:p>
                  </a:txBody>
                  <a:tcPr marL="0" marR="0" marT="0" marB="0">
                    <a:solidFill>
                      <a:srgbClr val="EFEFEF"/>
                    </a:solidFill>
                  </a:tcPr>
                </a:tc>
                <a:tc>
                  <a:txBody>
                    <a:bodyPr/>
                    <a:lstStyle/>
                    <a:p>
                      <a:pPr algn="ctr">
                        <a:defRPr sz="1000">
                          <a:latin typeface="Montserrat"/>
                        </a:defRPr>
                      </a:pPr>
                      <a:r>
                        <a:t>8,266</a:t>
                      </a:r>
                    </a:p>
                  </a:txBody>
                  <a:tcPr marL="0" marR="0" marT="0" marB="0">
                    <a:solidFill>
                      <a:srgbClr val="EFEFEF"/>
                    </a:solidFill>
                  </a:tcPr>
                </a:tc>
                <a:tc>
                  <a:txBody>
                    <a:bodyPr/>
                    <a:lstStyle/>
                    <a:p>
                      <a:pPr algn="ctr">
                        <a:defRPr sz="1000">
                          <a:latin typeface="Montserrat"/>
                        </a:defRPr>
                      </a:pPr>
                      <a:r>
                        <a:t>2,407</a:t>
                      </a:r>
                    </a:p>
                  </a:txBody>
                  <a:tcPr marL="0" marR="0" marT="0" marB="0">
                    <a:solidFill>
                      <a:srgbClr val="EFEFEF"/>
                    </a:solidFill>
                  </a:tcPr>
                </a:tc>
                <a:tc>
                  <a:txBody>
                    <a:bodyPr/>
                    <a:lstStyle/>
                    <a:p>
                      <a:pPr algn="ctr">
                        <a:defRPr sz="1000">
                          <a:latin typeface="Montserrat"/>
                        </a:defRPr>
                      </a:pPr>
                      <a:r>
                        <a:t>4,379</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48.7%</a:t>
                      </a:r>
                    </a:p>
                  </a:txBody>
                  <a:tcPr marL="0" marR="0" marT="0" marB="0">
                    <a:solidFill>
                      <a:srgbClr val="ECD3D9"/>
                    </a:solidFill>
                  </a:tcPr>
                </a:tc>
              </a:tr>
              <a:tr h="151200">
                <a:tc>
                  <a:txBody>
                    <a:bodyPr/>
                    <a:lstStyle/>
                    <a:p>
                      <a:pPr algn="l">
                        <a:defRPr sz="1000">
                          <a:latin typeface="Montserrat"/>
                        </a:defRPr>
                      </a:pPr>
                      <a:r>
                        <a:t>UMF 44 Tlapacoyan</a:t>
                      </a:r>
                    </a:p>
                  </a:txBody>
                  <a:tcPr marL="0" marR="0" marT="0" marB="0">
                    <a:solidFill>
                      <a:srgbClr val="FFFFFF"/>
                    </a:solidFill>
                  </a:tcPr>
                </a:tc>
                <a:tc>
                  <a:txBody>
                    <a:bodyPr/>
                    <a:lstStyle/>
                    <a:p>
                      <a:pPr algn="ctr">
                        <a:defRPr sz="1000">
                          <a:latin typeface="Montserrat"/>
                        </a:defRPr>
                      </a:pPr>
                      <a:r>
                        <a:t>12,286</a:t>
                      </a:r>
                    </a:p>
                  </a:txBody>
                  <a:tcPr marL="0" marR="0" marT="0" marB="0">
                    <a:solidFill>
                      <a:srgbClr val="FFFFFF"/>
                    </a:solidFill>
                  </a:tcPr>
                </a:tc>
                <a:tc>
                  <a:txBody>
                    <a:bodyPr/>
                    <a:lstStyle/>
                    <a:p>
                      <a:pPr algn="ctr">
                        <a:defRPr sz="1000">
                          <a:latin typeface="Montserrat"/>
                        </a:defRPr>
                      </a:pPr>
                      <a:r>
                        <a:t>1,781</a:t>
                      </a:r>
                    </a:p>
                  </a:txBody>
                  <a:tcPr marL="0" marR="0" marT="0" marB="0">
                    <a:solidFill>
                      <a:srgbClr val="FFFFFF"/>
                    </a:solidFill>
                  </a:tcPr>
                </a:tc>
                <a:tc>
                  <a:txBody>
                    <a:bodyPr/>
                    <a:lstStyle/>
                    <a:p>
                      <a:pPr algn="ctr">
                        <a:defRPr sz="1000">
                          <a:latin typeface="Montserrat"/>
                        </a:defRPr>
                      </a:pPr>
                      <a:r>
                        <a:t>5,102</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39.2%</a:t>
                      </a:r>
                    </a:p>
                  </a:txBody>
                  <a:tcPr marL="0" marR="0" marT="0" marB="0">
                    <a:solidFill>
                      <a:srgbClr val="ECD3D9"/>
                    </a:solidFill>
                  </a:tcPr>
                </a:tc>
              </a:tr>
              <a:tr h="151200">
                <a:tc>
                  <a:txBody>
                    <a:bodyPr/>
                    <a:lstStyle/>
                    <a:p>
                      <a:pPr algn="l">
                        <a:defRPr sz="1000">
                          <a:latin typeface="Montserrat"/>
                        </a:defRPr>
                      </a:pPr>
                      <a:r>
                        <a:t>UMF 45 Misantla</a:t>
                      </a:r>
                    </a:p>
                  </a:txBody>
                  <a:tcPr marL="0" marR="0" marT="0" marB="0">
                    <a:solidFill>
                      <a:srgbClr val="EFEFEF"/>
                    </a:solidFill>
                  </a:tcPr>
                </a:tc>
                <a:tc>
                  <a:txBody>
                    <a:bodyPr/>
                    <a:lstStyle/>
                    <a:p>
                      <a:pPr algn="ctr">
                        <a:defRPr sz="1000">
                          <a:latin typeface="Montserrat"/>
                        </a:defRPr>
                      </a:pPr>
                      <a:r>
                        <a:t>19,542</a:t>
                      </a:r>
                    </a:p>
                  </a:txBody>
                  <a:tcPr marL="0" marR="0" marT="0" marB="0">
                    <a:solidFill>
                      <a:srgbClr val="EFEFEF"/>
                    </a:solidFill>
                  </a:tcPr>
                </a:tc>
                <a:tc>
                  <a:txBody>
                    <a:bodyPr/>
                    <a:lstStyle/>
                    <a:p>
                      <a:pPr algn="ctr">
                        <a:defRPr sz="1000">
                          <a:latin typeface="Montserrat"/>
                        </a:defRPr>
                      </a:pPr>
                      <a:r>
                        <a:t>4,521</a:t>
                      </a:r>
                    </a:p>
                  </a:txBody>
                  <a:tcPr marL="0" marR="0" marT="0" marB="0">
                    <a:solidFill>
                      <a:srgbClr val="EFEFEF"/>
                    </a:solidFill>
                  </a:tcPr>
                </a:tc>
                <a:tc>
                  <a:txBody>
                    <a:bodyPr/>
                    <a:lstStyle/>
                    <a:p>
                      <a:pPr algn="ctr">
                        <a:defRPr sz="1000">
                          <a:latin typeface="Montserrat"/>
                        </a:defRPr>
                      </a:pPr>
                      <a:r>
                        <a:t>8,976</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35.8%</a:t>
                      </a:r>
                    </a:p>
                  </a:txBody>
                  <a:tcPr marL="0" marR="0" marT="0" marB="0">
                    <a:solidFill>
                      <a:srgbClr val="ECD3D9"/>
                    </a:solidFill>
                  </a:tcPr>
                </a:tc>
              </a:tr>
              <a:tr h="151200">
                <a:tc>
                  <a:txBody>
                    <a:bodyPr/>
                    <a:lstStyle/>
                    <a:p>
                      <a:pPr algn="l">
                        <a:defRPr sz="1000">
                          <a:latin typeface="Montserrat"/>
                        </a:defRPr>
                      </a:pPr>
                      <a:r>
                        <a:t>UMF 43 Altotonga</a:t>
                      </a:r>
                    </a:p>
                  </a:txBody>
                  <a:tcPr marL="0" marR="0" marT="0" marB="0">
                    <a:solidFill>
                      <a:srgbClr val="FFFFFF"/>
                    </a:solidFill>
                  </a:tcPr>
                </a:tc>
                <a:tc>
                  <a:txBody>
                    <a:bodyPr/>
                    <a:lstStyle/>
                    <a:p>
                      <a:pPr algn="ctr">
                        <a:defRPr sz="1000">
                          <a:latin typeface="Montserrat"/>
                        </a:defRPr>
                      </a:pPr>
                      <a:r>
                        <a:t>10,673</a:t>
                      </a:r>
                    </a:p>
                  </a:txBody>
                  <a:tcPr marL="0" marR="0" marT="0" marB="0">
                    <a:solidFill>
                      <a:srgbClr val="FFFFFF"/>
                    </a:solidFill>
                  </a:tcPr>
                </a:tc>
                <a:tc>
                  <a:txBody>
                    <a:bodyPr/>
                    <a:lstStyle/>
                    <a:p>
                      <a:pPr algn="ctr">
                        <a:defRPr sz="1000">
                          <a:latin typeface="Montserrat"/>
                        </a:defRPr>
                      </a:pPr>
                      <a:r>
                        <a:t>231</a:t>
                      </a:r>
                    </a:p>
                  </a:txBody>
                  <a:tcPr marL="0" marR="0" marT="0" marB="0">
                    <a:solidFill>
                      <a:srgbClr val="FFFFFF"/>
                    </a:solidFill>
                  </a:tcPr>
                </a:tc>
                <a:tc>
                  <a:txBody>
                    <a:bodyPr/>
                    <a:lstStyle/>
                    <a:p>
                      <a:pPr algn="ctr">
                        <a:defRPr sz="1000">
                          <a:latin typeface="Montserrat"/>
                        </a:defRPr>
                      </a:pPr>
                      <a:r>
                        <a:t>4,474</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37.3%</a:t>
                      </a:r>
                    </a:p>
                  </a:txBody>
                  <a:tcPr marL="0" marR="0" marT="0" marB="0">
                    <a:solidFill>
                      <a:srgbClr val="ECD3D9"/>
                    </a:solidFill>
                  </a:tcPr>
                </a:tc>
              </a:tr>
              <a:tr h="151200">
                <a:tc>
                  <a:txBody>
                    <a:bodyPr/>
                    <a:lstStyle/>
                    <a:p>
                      <a:pPr algn="l">
                        <a:defRPr sz="1000">
                          <a:latin typeface="Montserrat"/>
                        </a:defRPr>
                      </a:pPr>
                      <a:r>
                        <a:t>UMF 39 Paso Ovejas</a:t>
                      </a:r>
                    </a:p>
                  </a:txBody>
                  <a:tcPr marL="0" marR="0" marT="0" marB="0">
                    <a:solidFill>
                      <a:srgbClr val="EFEFEF"/>
                    </a:solidFill>
                  </a:tcPr>
                </a:tc>
                <a:tc>
                  <a:txBody>
                    <a:bodyPr/>
                    <a:lstStyle/>
                    <a:p>
                      <a:pPr algn="ctr">
                        <a:defRPr sz="1000">
                          <a:latin typeface="Montserrat"/>
                        </a:defRPr>
                      </a:pPr>
                      <a:r>
                        <a:t>21,990</a:t>
                      </a:r>
                    </a:p>
                  </a:txBody>
                  <a:tcPr marL="0" marR="0" marT="0" marB="0">
                    <a:solidFill>
                      <a:srgbClr val="EFEFEF"/>
                    </a:solidFill>
                  </a:tcPr>
                </a:tc>
                <a:tc>
                  <a:txBody>
                    <a:bodyPr/>
                    <a:lstStyle/>
                    <a:p>
                      <a:pPr algn="ctr">
                        <a:defRPr sz="1000">
                          <a:latin typeface="Montserrat"/>
                        </a:defRPr>
                      </a:pPr>
                      <a:r>
                        <a:t>2,136</a:t>
                      </a:r>
                    </a:p>
                  </a:txBody>
                  <a:tcPr marL="0" marR="0" marT="0" marB="0">
                    <a:solidFill>
                      <a:srgbClr val="EFEFEF"/>
                    </a:solidFill>
                  </a:tcPr>
                </a:tc>
                <a:tc>
                  <a:txBody>
                    <a:bodyPr/>
                    <a:lstStyle/>
                    <a:p>
                      <a:pPr algn="ctr">
                        <a:defRPr sz="1000">
                          <a:latin typeface="Montserrat"/>
                        </a:defRPr>
                      </a:pPr>
                      <a:r>
                        <a:t>8,386</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33.5%</a:t>
                      </a:r>
                    </a:p>
                  </a:txBody>
                  <a:tcPr marL="0" marR="0" marT="0" marB="0">
                    <a:solidFill>
                      <a:srgbClr val="ECD3D9"/>
                    </a:solidFill>
                  </a:tcPr>
                </a:tc>
              </a:tr>
              <a:tr h="151200">
                <a:tc>
                  <a:txBody>
                    <a:bodyPr/>
                    <a:lstStyle/>
                    <a:p>
                      <a:pPr algn="l">
                        <a:defRPr sz="1000">
                          <a:latin typeface="Montserrat"/>
                        </a:defRPr>
                      </a:pPr>
                      <a:r>
                        <a:t>UMF 37 Rinconada</a:t>
                      </a:r>
                    </a:p>
                  </a:txBody>
                  <a:tcPr marL="0" marR="0" marT="0" marB="0">
                    <a:solidFill>
                      <a:srgbClr val="FFFFFF"/>
                    </a:solidFill>
                  </a:tcPr>
                </a:tc>
                <a:tc>
                  <a:txBody>
                    <a:bodyPr/>
                    <a:lstStyle/>
                    <a:p>
                      <a:pPr algn="ctr">
                        <a:defRPr sz="1000">
                          <a:latin typeface="Montserrat"/>
                        </a:defRPr>
                      </a:pPr>
                      <a:r>
                        <a:t>11,823</a:t>
                      </a:r>
                    </a:p>
                  </a:txBody>
                  <a:tcPr marL="0" marR="0" marT="0" marB="0">
                    <a:solidFill>
                      <a:srgbClr val="FFFFFF"/>
                    </a:solidFill>
                  </a:tcPr>
                </a:tc>
                <a:tc>
                  <a:txBody>
                    <a:bodyPr/>
                    <a:lstStyle/>
                    <a:p>
                      <a:pPr algn="ctr">
                        <a:defRPr sz="1000">
                          <a:latin typeface="Montserrat"/>
                        </a:defRPr>
                      </a:pPr>
                      <a:r>
                        <a:t>1,595</a:t>
                      </a:r>
                    </a:p>
                  </a:txBody>
                  <a:tcPr marL="0" marR="0" marT="0" marB="0">
                    <a:solidFill>
                      <a:srgbClr val="FFFFFF"/>
                    </a:solidFill>
                  </a:tcPr>
                </a:tc>
                <a:tc>
                  <a:txBody>
                    <a:bodyPr/>
                    <a:lstStyle/>
                    <a:p>
                      <a:pPr algn="ctr">
                        <a:defRPr sz="1000">
                          <a:latin typeface="Montserrat"/>
                        </a:defRPr>
                      </a:pPr>
                      <a:r>
                        <a:t>5,206</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40.0%</a:t>
                      </a:r>
                    </a:p>
                  </a:txBody>
                  <a:tcPr marL="0" marR="0" marT="0" marB="0">
                    <a:solidFill>
                      <a:srgbClr val="ECD3D9"/>
                    </a:solidFill>
                  </a:tcPr>
                </a:tc>
              </a:tr>
              <a:tr h="151200">
                <a:tc>
                  <a:txBody>
                    <a:bodyPr/>
                    <a:lstStyle/>
                    <a:p>
                      <a:pPr algn="l">
                        <a:defRPr sz="1000">
                          <a:latin typeface="Montserrat"/>
                        </a:defRPr>
                      </a:pPr>
                      <a:r>
                        <a:t>UMF 48 Tamiahua</a:t>
                      </a:r>
                    </a:p>
                  </a:txBody>
                  <a:tcPr marL="0" marR="0" marT="0" marB="0">
                    <a:solidFill>
                      <a:srgbClr val="EFEFEF"/>
                    </a:solidFill>
                  </a:tcPr>
                </a:tc>
                <a:tc>
                  <a:txBody>
                    <a:bodyPr/>
                    <a:lstStyle/>
                    <a:p>
                      <a:pPr algn="ctr">
                        <a:defRPr sz="1000">
                          <a:latin typeface="Montserrat"/>
                        </a:defRPr>
                      </a:pPr>
                      <a:r>
                        <a:t>8,785</a:t>
                      </a:r>
                    </a:p>
                  </a:txBody>
                  <a:tcPr marL="0" marR="0" marT="0" marB="0">
                    <a:solidFill>
                      <a:srgbClr val="EFEFEF"/>
                    </a:solidFill>
                  </a:tcPr>
                </a:tc>
                <a:tc>
                  <a:txBody>
                    <a:bodyPr/>
                    <a:lstStyle/>
                    <a:p>
                      <a:pPr algn="ctr">
                        <a:defRPr sz="1000">
                          <a:latin typeface="Montserrat"/>
                        </a:defRPr>
                      </a:pPr>
                      <a:r>
                        <a:t>3,359</a:t>
                      </a:r>
                    </a:p>
                  </a:txBody>
                  <a:tcPr marL="0" marR="0" marT="0" marB="0">
                    <a:solidFill>
                      <a:srgbClr val="EFEFEF"/>
                    </a:solidFill>
                  </a:tcPr>
                </a:tc>
                <a:tc>
                  <a:txBody>
                    <a:bodyPr/>
                    <a:lstStyle/>
                    <a:p>
                      <a:pPr algn="ctr">
                        <a:defRPr sz="1000">
                          <a:latin typeface="Montserrat"/>
                        </a:defRPr>
                      </a:pPr>
                      <a:r>
                        <a:t>5,134</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51.3%</a:t>
                      </a:r>
                    </a:p>
                  </a:txBody>
                  <a:tcPr marL="0" marR="0" marT="0" marB="0">
                    <a:solidFill>
                      <a:srgbClr val="ECD3D9"/>
                    </a:solidFill>
                  </a:tcPr>
                </a:tc>
              </a:tr>
              <a:tr h="151200">
                <a:tc>
                  <a:txBody>
                    <a:bodyPr/>
                    <a:lstStyle/>
                    <a:p>
                      <a:pPr algn="l">
                        <a:defRPr sz="1000">
                          <a:latin typeface="Montserrat"/>
                        </a:defRPr>
                      </a:pPr>
                      <a:r>
                        <a:t>UMF 59 Tantoyuca</a:t>
                      </a:r>
                    </a:p>
                  </a:txBody>
                  <a:tcPr marL="0" marR="0" marT="0" marB="0">
                    <a:solidFill>
                      <a:srgbClr val="FFFFFF"/>
                    </a:solidFill>
                  </a:tcPr>
                </a:tc>
                <a:tc>
                  <a:txBody>
                    <a:bodyPr/>
                    <a:lstStyle/>
                    <a:p>
                      <a:pPr algn="ctr">
                        <a:defRPr sz="1000">
                          <a:latin typeface="Montserrat"/>
                        </a:defRPr>
                      </a:pPr>
                      <a:r>
                        <a:t>19,536</a:t>
                      </a:r>
                    </a:p>
                  </a:txBody>
                  <a:tcPr marL="0" marR="0" marT="0" marB="0">
                    <a:solidFill>
                      <a:srgbClr val="FFFFFF"/>
                    </a:solidFill>
                  </a:tcPr>
                </a:tc>
                <a:tc>
                  <a:txBody>
                    <a:bodyPr/>
                    <a:lstStyle/>
                    <a:p>
                      <a:pPr algn="ctr">
                        <a:defRPr sz="1000">
                          <a:latin typeface="Montserrat"/>
                        </a:defRPr>
                      </a:pPr>
                      <a:r>
                        <a:t>4,068</a:t>
                      </a:r>
                    </a:p>
                  </a:txBody>
                  <a:tcPr marL="0" marR="0" marT="0" marB="0">
                    <a:solidFill>
                      <a:srgbClr val="FFFFFF"/>
                    </a:solidFill>
                  </a:tcPr>
                </a:tc>
                <a:tc>
                  <a:txBody>
                    <a:bodyPr/>
                    <a:lstStyle/>
                    <a:p>
                      <a:pPr algn="ctr">
                        <a:defRPr sz="1000">
                          <a:latin typeface="Montserrat"/>
                        </a:defRPr>
                      </a:pPr>
                      <a:r>
                        <a:t>8,426</a:t>
                      </a:r>
                    </a:p>
                  </a:txBody>
                  <a:tcPr marL="0" marR="0" marT="0" marB="0">
                    <a:solidFill>
                      <a:srgbClr val="ECD3D9"/>
                    </a:solidFill>
                  </a:tcPr>
                </a:tc>
                <a:tc>
                  <a:txBody>
                    <a:bodyPr/>
                    <a:lstStyle/>
                    <a:p>
                      <a:pPr algn="ctr">
                        <a:defRPr sz="1000">
                          <a:latin typeface="Montserrat"/>
                        </a:defRPr>
                      </a:pPr>
                      <a:r>
                        <a:t>20,000</a:t>
                      </a:r>
                    </a:p>
                  </a:txBody>
                  <a:tcPr marL="0" marR="0" marT="0" marB="0">
                    <a:solidFill>
                      <a:srgbClr val="ECD3D9"/>
                    </a:solidFill>
                  </a:tcPr>
                </a:tc>
                <a:tc>
                  <a:txBody>
                    <a:bodyPr/>
                    <a:lstStyle/>
                    <a:p>
                      <a:pPr algn="ctr">
                        <a:defRPr sz="1000">
                          <a:latin typeface="Montserrat"/>
                        </a:defRPr>
                      </a:pPr>
                      <a:r>
                        <a:t>42.1%</a:t>
                      </a:r>
                    </a:p>
                  </a:txBody>
                  <a:tcPr marL="0" marR="0" marT="0" marB="0">
                    <a:solidFill>
                      <a:srgbClr val="ECD3D9"/>
                    </a:solidFill>
                  </a:tcPr>
                </a:tc>
              </a:tr>
              <a:tr h="151200">
                <a:tc>
                  <a:txBody>
                    <a:bodyPr/>
                    <a:lstStyle/>
                    <a:p>
                      <a:pPr algn="l">
                        <a:defRPr sz="1000">
                          <a:latin typeface="Montserrat"/>
                        </a:defRPr>
                      </a:pPr>
                      <a:r>
                        <a:t>UMF 49 Cerro Azul</a:t>
                      </a:r>
                    </a:p>
                  </a:txBody>
                  <a:tcPr marL="0" marR="0" marT="0" marB="0">
                    <a:solidFill>
                      <a:srgbClr val="EFEFEF"/>
                    </a:solidFill>
                  </a:tcPr>
                </a:tc>
                <a:tc>
                  <a:txBody>
                    <a:bodyPr/>
                    <a:lstStyle/>
                    <a:p>
                      <a:pPr algn="ctr">
                        <a:defRPr sz="1000">
                          <a:latin typeface="Montserrat"/>
                        </a:defRPr>
                      </a:pPr>
                      <a:r>
                        <a:t>12,259</a:t>
                      </a:r>
                    </a:p>
                  </a:txBody>
                  <a:tcPr marL="0" marR="0" marT="0" marB="0">
                    <a:solidFill>
                      <a:srgbClr val="EFEFEF"/>
                    </a:solidFill>
                  </a:tcPr>
                </a:tc>
                <a:tc>
                  <a:txBody>
                    <a:bodyPr/>
                    <a:lstStyle/>
                    <a:p>
                      <a:pPr algn="ctr">
                        <a:defRPr sz="1000">
                          <a:latin typeface="Montserrat"/>
                        </a:defRPr>
                      </a:pPr>
                      <a:r>
                        <a:t>2,808</a:t>
                      </a:r>
                    </a:p>
                  </a:txBody>
                  <a:tcPr marL="0" marR="0" marT="0" marB="0">
                    <a:solidFill>
                      <a:srgbClr val="EFEFEF"/>
                    </a:solidFill>
                  </a:tcPr>
                </a:tc>
                <a:tc>
                  <a:txBody>
                    <a:bodyPr/>
                    <a:lstStyle/>
                    <a:p>
                      <a:pPr algn="ctr">
                        <a:defRPr sz="1000">
                          <a:latin typeface="Montserrat"/>
                        </a:defRPr>
                      </a:pPr>
                      <a:r>
                        <a:t>5,852</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45.0%</a:t>
                      </a:r>
                    </a:p>
                  </a:txBody>
                  <a:tcPr marL="0" marR="0" marT="0" marB="0">
                    <a:solidFill>
                      <a:srgbClr val="ECD3D9"/>
                    </a:solidFill>
                  </a:tcPr>
                </a:tc>
              </a:tr>
              <a:tr h="151200">
                <a:tc>
                  <a:txBody>
                    <a:bodyPr/>
                    <a:lstStyle/>
                    <a:p>
                      <a:pPr algn="l">
                        <a:defRPr sz="1000">
                          <a:latin typeface="Montserrat"/>
                        </a:defRPr>
                      </a:pPr>
                      <a:r>
                        <a:t>UMF 20 Saltabarranca</a:t>
                      </a:r>
                    </a:p>
                  </a:txBody>
                  <a:tcPr marL="0" marR="0" marT="0" marB="0">
                    <a:solidFill>
                      <a:srgbClr val="FFFFFF"/>
                    </a:solidFill>
                  </a:tcPr>
                </a:tc>
                <a:tc>
                  <a:txBody>
                    <a:bodyPr/>
                    <a:lstStyle/>
                    <a:p>
                      <a:pPr algn="ctr">
                        <a:defRPr sz="1000">
                          <a:latin typeface="Montserrat"/>
                        </a:defRPr>
                      </a:pPr>
                      <a:r>
                        <a:t>13,016</a:t>
                      </a:r>
                    </a:p>
                  </a:txBody>
                  <a:tcPr marL="0" marR="0" marT="0" marB="0">
                    <a:solidFill>
                      <a:srgbClr val="FFFFFF"/>
                    </a:solidFill>
                  </a:tcPr>
                </a:tc>
                <a:tc>
                  <a:txBody>
                    <a:bodyPr/>
                    <a:lstStyle/>
                    <a:p>
                      <a:pPr algn="ctr">
                        <a:defRPr sz="1000">
                          <a:latin typeface="Montserrat"/>
                        </a:defRPr>
                      </a:pPr>
                      <a:r>
                        <a:t>-538</a:t>
                      </a:r>
                    </a:p>
                  </a:txBody>
                  <a:tcPr marL="0" marR="0" marT="0" marB="0">
                    <a:solidFill>
                      <a:srgbClr val="FFFFFF"/>
                    </a:solidFill>
                  </a:tcPr>
                </a:tc>
                <a:tc>
                  <a:txBody>
                    <a:bodyPr/>
                    <a:lstStyle/>
                    <a:p>
                      <a:pPr algn="ctr">
                        <a:defRPr sz="1000">
                          <a:latin typeface="Montserrat"/>
                        </a:defRPr>
                      </a:pPr>
                      <a:r>
                        <a:t>5,300</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37.9%</a:t>
                      </a:r>
                    </a:p>
                  </a:txBody>
                  <a:tcPr marL="0" marR="0" marT="0" marB="0">
                    <a:solidFill>
                      <a:srgbClr val="ECD3D9"/>
                    </a:solidFill>
                  </a:tcPr>
                </a:tc>
              </a:tr>
              <a:tr h="151200">
                <a:tc>
                  <a:txBody>
                    <a:bodyPr/>
                    <a:lstStyle/>
                    <a:p>
                      <a:pPr algn="l">
                        <a:defRPr sz="1000">
                          <a:latin typeface="Montserrat"/>
                        </a:defRPr>
                      </a:pPr>
                      <a:r>
                        <a:t>UMF 60 Platón Sánchez</a:t>
                      </a:r>
                    </a:p>
                  </a:txBody>
                  <a:tcPr marL="0" marR="0" marT="0" marB="0">
                    <a:solidFill>
                      <a:srgbClr val="EFEFEF"/>
                    </a:solidFill>
                  </a:tcPr>
                </a:tc>
                <a:tc>
                  <a:txBody>
                    <a:bodyPr/>
                    <a:lstStyle/>
                    <a:p>
                      <a:pPr algn="ctr">
                        <a:defRPr sz="1000">
                          <a:latin typeface="Montserrat"/>
                        </a:defRPr>
                      </a:pPr>
                      <a:r>
                        <a:t>11,384</a:t>
                      </a:r>
                    </a:p>
                  </a:txBody>
                  <a:tcPr marL="0" marR="0" marT="0" marB="0">
                    <a:solidFill>
                      <a:srgbClr val="EFEFEF"/>
                    </a:solidFill>
                  </a:tcPr>
                </a:tc>
                <a:tc>
                  <a:txBody>
                    <a:bodyPr/>
                    <a:lstStyle/>
                    <a:p>
                      <a:pPr algn="ctr">
                        <a:defRPr sz="1000">
                          <a:latin typeface="Montserrat"/>
                        </a:defRPr>
                      </a:pPr>
                      <a:r>
                        <a:t>3,272</a:t>
                      </a:r>
                    </a:p>
                  </a:txBody>
                  <a:tcPr marL="0" marR="0" marT="0" marB="0">
                    <a:solidFill>
                      <a:srgbClr val="EFEFEF"/>
                    </a:solidFill>
                  </a:tcPr>
                </a:tc>
                <a:tc>
                  <a:txBody>
                    <a:bodyPr/>
                    <a:lstStyle/>
                    <a:p>
                      <a:pPr algn="ctr">
                        <a:defRPr sz="1000">
                          <a:latin typeface="Montserrat"/>
                        </a:defRPr>
                      </a:pPr>
                      <a:r>
                        <a:t>5,482</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45.7%</a:t>
                      </a:r>
                    </a:p>
                  </a:txBody>
                  <a:tcPr marL="0" marR="0" marT="0" marB="0">
                    <a:solidFill>
                      <a:srgbClr val="ECD3D9"/>
                    </a:solidFill>
                  </a:tcPr>
                </a:tc>
              </a:tr>
              <a:tr h="151200">
                <a:tc>
                  <a:txBody>
                    <a:bodyPr/>
                    <a:lstStyle/>
                    <a:p>
                      <a:pPr algn="l">
                        <a:defRPr sz="1000">
                          <a:latin typeface="Montserrat"/>
                        </a:defRPr>
                      </a:pPr>
                      <a:r>
                        <a:t>UMF 23 S. Rafael</a:t>
                      </a:r>
                    </a:p>
                  </a:txBody>
                  <a:tcPr marL="0" marR="0" marT="0" marB="0">
                    <a:solidFill>
                      <a:srgbClr val="FFFFFF"/>
                    </a:solidFill>
                  </a:tcPr>
                </a:tc>
                <a:tc>
                  <a:txBody>
                    <a:bodyPr/>
                    <a:lstStyle/>
                    <a:p>
                      <a:pPr algn="ctr">
                        <a:defRPr sz="1000">
                          <a:latin typeface="Montserrat"/>
                        </a:defRPr>
                      </a:pPr>
                      <a:r>
                        <a:t>22,753</a:t>
                      </a:r>
                    </a:p>
                  </a:txBody>
                  <a:tcPr marL="0" marR="0" marT="0" marB="0">
                    <a:solidFill>
                      <a:srgbClr val="FFFFFF"/>
                    </a:solidFill>
                  </a:tcPr>
                </a:tc>
                <a:tc>
                  <a:txBody>
                    <a:bodyPr/>
                    <a:lstStyle/>
                    <a:p>
                      <a:pPr algn="ctr">
                        <a:defRPr sz="1000">
                          <a:latin typeface="Montserrat"/>
                        </a:defRPr>
                      </a:pPr>
                      <a:r>
                        <a:t>5,065</a:t>
                      </a:r>
                    </a:p>
                  </a:txBody>
                  <a:tcPr marL="0" marR="0" marT="0" marB="0">
                    <a:solidFill>
                      <a:srgbClr val="FFFFFF"/>
                    </a:solidFill>
                  </a:tcPr>
                </a:tc>
                <a:tc>
                  <a:txBody>
                    <a:bodyPr/>
                    <a:lstStyle/>
                    <a:p>
                      <a:pPr algn="ctr">
                        <a:defRPr sz="1000">
                          <a:latin typeface="Montserrat"/>
                        </a:defRPr>
                      </a:pPr>
                      <a:r>
                        <a:t>10,001</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39.9%</a:t>
                      </a:r>
                    </a:p>
                  </a:txBody>
                  <a:tcPr marL="0" marR="0" marT="0" marB="0">
                    <a:solidFill>
                      <a:srgbClr val="ECD3D9"/>
                    </a:solidFill>
                  </a:tcPr>
                </a:tc>
              </a:tr>
              <a:tr h="151200">
                <a:tc>
                  <a:txBody>
                    <a:bodyPr/>
                    <a:lstStyle/>
                    <a:p>
                      <a:pPr algn="l">
                        <a:defRPr sz="1000">
                          <a:latin typeface="Montserrat"/>
                        </a:defRPr>
                      </a:pPr>
                      <a:r>
                        <a:t>UMF 62 Medias Aguas</a:t>
                      </a:r>
                    </a:p>
                  </a:txBody>
                  <a:tcPr marL="0" marR="0" marT="0" marB="0">
                    <a:solidFill>
                      <a:srgbClr val="EFEFEF"/>
                    </a:solidFill>
                  </a:tcPr>
                </a:tc>
                <a:tc>
                  <a:txBody>
                    <a:bodyPr/>
                    <a:lstStyle/>
                    <a:p>
                      <a:pPr algn="ctr">
                        <a:defRPr sz="1000">
                          <a:latin typeface="Montserrat"/>
                        </a:defRPr>
                      </a:pPr>
                      <a:r>
                        <a:t>1,957</a:t>
                      </a:r>
                    </a:p>
                  </a:txBody>
                  <a:tcPr marL="0" marR="0" marT="0" marB="0">
                    <a:solidFill>
                      <a:srgbClr val="EFEFEF"/>
                    </a:solidFill>
                  </a:tcPr>
                </a:tc>
                <a:tc>
                  <a:txBody>
                    <a:bodyPr/>
                    <a:lstStyle/>
                    <a:p>
                      <a:pPr algn="ctr">
                        <a:defRPr sz="1000">
                          <a:latin typeface="Montserrat"/>
                        </a:defRPr>
                      </a:pPr>
                      <a:r>
                        <a:t>428</a:t>
                      </a:r>
                    </a:p>
                  </a:txBody>
                  <a:tcPr marL="0" marR="0" marT="0" marB="0">
                    <a:solidFill>
                      <a:srgbClr val="EFEFEF"/>
                    </a:solidFill>
                  </a:tcPr>
                </a:tc>
                <a:tc>
                  <a:txBody>
                    <a:bodyPr/>
                    <a:lstStyle/>
                    <a:p>
                      <a:pPr algn="ctr">
                        <a:defRPr sz="1000">
                          <a:latin typeface="Montserrat"/>
                        </a:defRPr>
                      </a:pPr>
                      <a:r>
                        <a:t>635</a:t>
                      </a:r>
                    </a:p>
                  </a:txBody>
                  <a:tcPr marL="0" marR="0" marT="0" marB="0">
                    <a:solidFill>
                      <a:srgbClr val="ECD3D9"/>
                    </a:solidFill>
                  </a:tcPr>
                </a:tc>
                <a:tc>
                  <a:txBody>
                    <a:bodyPr/>
                    <a:lstStyle/>
                    <a:p>
                      <a:pPr algn="ctr">
                        <a:defRPr sz="1000">
                          <a:latin typeface="Montserrat"/>
                        </a:defRPr>
                      </a:pPr>
                      <a:r>
                        <a:t>3,000</a:t>
                      </a:r>
                    </a:p>
                  </a:txBody>
                  <a:tcPr marL="0" marR="0" marT="0" marB="0">
                    <a:solidFill>
                      <a:srgbClr val="ECD3D9"/>
                    </a:solidFill>
                  </a:tcPr>
                </a:tc>
                <a:tc>
                  <a:txBody>
                    <a:bodyPr/>
                    <a:lstStyle/>
                    <a:p>
                      <a:pPr algn="ctr">
                        <a:defRPr sz="1000">
                          <a:latin typeface="Montserrat"/>
                        </a:defRPr>
                      </a:pPr>
                      <a:r>
                        <a:t>21.2%</a:t>
                      </a:r>
                    </a:p>
                  </a:txBody>
                  <a:tcPr marL="0" marR="0" marT="0" marB="0">
                    <a:solidFill>
                      <a:srgbClr val="ECD3D9"/>
                    </a:solidFill>
                  </a:tcPr>
                </a:tc>
              </a:tr>
              <a:tr h="151200">
                <a:tc>
                  <a:txBody>
                    <a:bodyPr/>
                    <a:lstStyle/>
                    <a:p>
                      <a:pPr algn="l">
                        <a:defRPr sz="1000">
                          <a:latin typeface="Montserrat"/>
                        </a:defRPr>
                      </a:pPr>
                      <a:r>
                        <a:t>UMF 35 Santiago Tuxtla</a:t>
                      </a:r>
                    </a:p>
                  </a:txBody>
                  <a:tcPr marL="0" marR="0" marT="0" marB="0">
                    <a:solidFill>
                      <a:srgbClr val="FFFFFF"/>
                    </a:solidFill>
                  </a:tcPr>
                </a:tc>
                <a:tc>
                  <a:txBody>
                    <a:bodyPr/>
                    <a:lstStyle/>
                    <a:p>
                      <a:pPr algn="ctr">
                        <a:defRPr sz="1000">
                          <a:latin typeface="Montserrat"/>
                        </a:defRPr>
                      </a:pPr>
                      <a:r>
                        <a:t>20,124</a:t>
                      </a:r>
                    </a:p>
                  </a:txBody>
                  <a:tcPr marL="0" marR="0" marT="0" marB="0">
                    <a:solidFill>
                      <a:srgbClr val="FFFFFF"/>
                    </a:solidFill>
                  </a:tcPr>
                </a:tc>
                <a:tc>
                  <a:txBody>
                    <a:bodyPr/>
                    <a:lstStyle/>
                    <a:p>
                      <a:pPr algn="ctr">
                        <a:defRPr sz="1000">
                          <a:latin typeface="Montserrat"/>
                        </a:defRPr>
                      </a:pPr>
                      <a:r>
                        <a:t>3,270</a:t>
                      </a:r>
                    </a:p>
                  </a:txBody>
                  <a:tcPr marL="0" marR="0" marT="0" marB="0">
                    <a:solidFill>
                      <a:srgbClr val="FFFFFF"/>
                    </a:solidFill>
                  </a:tcPr>
                </a:tc>
                <a:tc>
                  <a:txBody>
                    <a:bodyPr/>
                    <a:lstStyle/>
                    <a:p>
                      <a:pPr algn="ctr">
                        <a:defRPr sz="1000">
                          <a:latin typeface="Montserrat"/>
                        </a:defRPr>
                      </a:pPr>
                      <a:r>
                        <a:t>7,792</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31.1%</a:t>
                      </a:r>
                    </a:p>
                  </a:txBody>
                  <a:tcPr marL="0" marR="0" marT="0" marB="0">
                    <a:solidFill>
                      <a:srgbClr val="ECD3D9"/>
                    </a:solidFill>
                  </a:tcPr>
                </a:tc>
              </a:tr>
              <a:tr h="151200">
                <a:tc>
                  <a:txBody>
                    <a:bodyPr/>
                    <a:lstStyle/>
                    <a:p>
                      <a:pPr algn="l">
                        <a:defRPr sz="1000">
                          <a:latin typeface="Montserrat"/>
                        </a:defRPr>
                      </a:pPr>
                      <a:r>
                        <a:t>UMF 55 Texistepec</a:t>
                      </a:r>
                    </a:p>
                  </a:txBody>
                  <a:tcPr marL="0" marR="0" marT="0" marB="0">
                    <a:solidFill>
                      <a:srgbClr val="EFEFEF"/>
                    </a:solidFill>
                  </a:tcPr>
                </a:tc>
                <a:tc>
                  <a:txBody>
                    <a:bodyPr/>
                    <a:lstStyle/>
                    <a:p>
                      <a:pPr algn="ctr">
                        <a:defRPr sz="1000">
                          <a:latin typeface="Montserrat"/>
                        </a:defRPr>
                      </a:pPr>
                      <a:r>
                        <a:t>9,045</a:t>
                      </a:r>
                    </a:p>
                  </a:txBody>
                  <a:tcPr marL="0" marR="0" marT="0" marB="0">
                    <a:solidFill>
                      <a:srgbClr val="EFEFEF"/>
                    </a:solidFill>
                  </a:tcPr>
                </a:tc>
                <a:tc>
                  <a:txBody>
                    <a:bodyPr/>
                    <a:lstStyle/>
                    <a:p>
                      <a:pPr algn="ctr">
                        <a:defRPr sz="1000">
                          <a:latin typeface="Montserrat"/>
                        </a:defRPr>
                      </a:pPr>
                      <a:r>
                        <a:t>3,689</a:t>
                      </a:r>
                    </a:p>
                  </a:txBody>
                  <a:tcPr marL="0" marR="0" marT="0" marB="0">
                    <a:solidFill>
                      <a:srgbClr val="EFEFEF"/>
                    </a:solidFill>
                  </a:tcPr>
                </a:tc>
                <a:tc>
                  <a:txBody>
                    <a:bodyPr/>
                    <a:lstStyle/>
                    <a:p>
                      <a:pPr algn="ctr">
                        <a:defRPr sz="1000">
                          <a:latin typeface="Montserrat"/>
                        </a:defRPr>
                      </a:pPr>
                      <a:r>
                        <a:t>3,282</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36.5%</a:t>
                      </a:r>
                    </a:p>
                  </a:txBody>
                  <a:tcPr marL="0" marR="0" marT="0" marB="0">
                    <a:solidFill>
                      <a:srgbClr val="ECD3D9"/>
                    </a:solidFill>
                  </a:tcPr>
                </a:tc>
              </a:tr>
              <a:tr h="151200">
                <a:tc>
                  <a:txBody>
                    <a:bodyPr/>
                    <a:lstStyle/>
                    <a:p>
                      <a:pPr algn="l">
                        <a:defRPr sz="1000">
                          <a:latin typeface="Montserrat"/>
                        </a:defRPr>
                      </a:pPr>
                      <a:r>
                        <a:t>UMF 70 Tres Zapotes</a:t>
                      </a:r>
                    </a:p>
                  </a:txBody>
                  <a:tcPr marL="0" marR="0" marT="0" marB="0">
                    <a:solidFill>
                      <a:srgbClr val="FFFFFF"/>
                    </a:solidFill>
                  </a:tcPr>
                </a:tc>
                <a:tc>
                  <a:txBody>
                    <a:bodyPr/>
                    <a:lstStyle/>
                    <a:p>
                      <a:pPr algn="ctr">
                        <a:defRPr sz="1000">
                          <a:latin typeface="Montserrat"/>
                        </a:defRPr>
                      </a:pPr>
                      <a:r>
                        <a:t>11,913</a:t>
                      </a:r>
                    </a:p>
                  </a:txBody>
                  <a:tcPr marL="0" marR="0" marT="0" marB="0">
                    <a:solidFill>
                      <a:srgbClr val="FFFFFF"/>
                    </a:solidFill>
                  </a:tcPr>
                </a:tc>
                <a:tc>
                  <a:txBody>
                    <a:bodyPr/>
                    <a:lstStyle/>
                    <a:p>
                      <a:pPr algn="ctr">
                        <a:defRPr sz="1000">
                          <a:latin typeface="Montserrat"/>
                        </a:defRPr>
                      </a:pPr>
                      <a:r>
                        <a:t>-78</a:t>
                      </a:r>
                    </a:p>
                  </a:txBody>
                  <a:tcPr marL="0" marR="0" marT="0" marB="0">
                    <a:solidFill>
                      <a:srgbClr val="FFFFFF"/>
                    </a:solidFill>
                  </a:tcPr>
                </a:tc>
                <a:tc>
                  <a:txBody>
                    <a:bodyPr/>
                    <a:lstStyle/>
                    <a:p>
                      <a:pPr algn="ctr">
                        <a:defRPr sz="1000">
                          <a:latin typeface="Montserrat"/>
                        </a:defRPr>
                      </a:pPr>
                      <a:r>
                        <a:t>4,261</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32.8%</a:t>
                      </a:r>
                    </a:p>
                  </a:txBody>
                  <a:tcPr marL="0" marR="0" marT="0" marB="0">
                    <a:solidFill>
                      <a:srgbClr val="ECD3D9"/>
                    </a:solidFill>
                  </a:tcPr>
                </a:tc>
              </a:tr>
              <a:tr h="151200">
                <a:tc>
                  <a:txBody>
                    <a:bodyPr/>
                    <a:lstStyle/>
                    <a:p>
                      <a:pPr algn="l">
                        <a:defRPr sz="1000">
                          <a:latin typeface="Montserrat"/>
                        </a:defRPr>
                      </a:pPr>
                      <a:r>
                        <a:t>UMF 56 Actopan</a:t>
                      </a:r>
                    </a:p>
                  </a:txBody>
                  <a:tcPr marL="0" marR="0" marT="0" marB="0">
                    <a:solidFill>
                      <a:srgbClr val="EFEFEF"/>
                    </a:solidFill>
                  </a:tcPr>
                </a:tc>
                <a:tc>
                  <a:txBody>
                    <a:bodyPr/>
                    <a:lstStyle/>
                    <a:p>
                      <a:pPr algn="ctr">
                        <a:defRPr sz="1000">
                          <a:latin typeface="Montserrat"/>
                        </a:defRPr>
                      </a:pPr>
                      <a:r>
                        <a:t>6,455</a:t>
                      </a:r>
                    </a:p>
                  </a:txBody>
                  <a:tcPr marL="0" marR="0" marT="0" marB="0">
                    <a:solidFill>
                      <a:srgbClr val="EFEFEF"/>
                    </a:solidFill>
                  </a:tcPr>
                </a:tc>
                <a:tc>
                  <a:txBody>
                    <a:bodyPr/>
                    <a:lstStyle/>
                    <a:p>
                      <a:pPr algn="ctr">
                        <a:defRPr sz="1000">
                          <a:latin typeface="Montserrat"/>
                        </a:defRPr>
                      </a:pPr>
                      <a:r>
                        <a:t>834</a:t>
                      </a:r>
                    </a:p>
                  </a:txBody>
                  <a:tcPr marL="0" marR="0" marT="0" marB="0">
                    <a:solidFill>
                      <a:srgbClr val="EFEFEF"/>
                    </a:solidFill>
                  </a:tcPr>
                </a:tc>
                <a:tc>
                  <a:txBody>
                    <a:bodyPr/>
                    <a:lstStyle/>
                    <a:p>
                      <a:pPr algn="ctr">
                        <a:defRPr sz="1000">
                          <a:latin typeface="Montserrat"/>
                        </a:defRPr>
                      </a:pPr>
                      <a:r>
                        <a:t>2,661</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33.3%</a:t>
                      </a:r>
                    </a:p>
                  </a:txBody>
                  <a:tcPr marL="0" marR="0" marT="0" marB="0">
                    <a:solidFill>
                      <a:srgbClr val="ECD3D9"/>
                    </a:solidFill>
                  </a:tcPr>
                </a:tc>
              </a:tr>
              <a:tr h="151200">
                <a:tc>
                  <a:txBody>
                    <a:bodyPr/>
                    <a:lstStyle/>
                    <a:p>
                      <a:pPr algn="l">
                        <a:defRPr sz="1000">
                          <a:latin typeface="Montserrat"/>
                        </a:defRPr>
                      </a:pPr>
                      <a:r>
                        <a:t>UMF 13 Paso del Macho</a:t>
                      </a:r>
                    </a:p>
                  </a:txBody>
                  <a:tcPr marL="0" marR="0" marT="0" marB="0">
                    <a:solidFill>
                      <a:srgbClr val="FFFFFF"/>
                    </a:solidFill>
                  </a:tcPr>
                </a:tc>
                <a:tc>
                  <a:txBody>
                    <a:bodyPr/>
                    <a:lstStyle/>
                    <a:p>
                      <a:pPr algn="ctr">
                        <a:defRPr sz="1000">
                          <a:latin typeface="Montserrat"/>
                        </a:defRPr>
                      </a:pPr>
                      <a:r>
                        <a:t>37,285</a:t>
                      </a:r>
                    </a:p>
                  </a:txBody>
                  <a:tcPr marL="0" marR="0" marT="0" marB="0">
                    <a:solidFill>
                      <a:srgbClr val="FFFFFF"/>
                    </a:solidFill>
                  </a:tcPr>
                </a:tc>
                <a:tc>
                  <a:txBody>
                    <a:bodyPr/>
                    <a:lstStyle/>
                    <a:p>
                      <a:pPr algn="ctr">
                        <a:defRPr sz="1000">
                          <a:latin typeface="Montserrat"/>
                        </a:defRPr>
                      </a:pPr>
                      <a:r>
                        <a:t>5,237</a:t>
                      </a:r>
                    </a:p>
                  </a:txBody>
                  <a:tcPr marL="0" marR="0" marT="0" marB="0">
                    <a:solidFill>
                      <a:srgbClr val="FFFFFF"/>
                    </a:solidFill>
                  </a:tcPr>
                </a:tc>
                <a:tc>
                  <a:txBody>
                    <a:bodyPr/>
                    <a:lstStyle/>
                    <a:p>
                      <a:pPr algn="ctr">
                        <a:defRPr sz="1000">
                          <a:latin typeface="Montserrat"/>
                        </a:defRPr>
                      </a:pPr>
                      <a:r>
                        <a:t>16,349</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43.5%</a:t>
                      </a:r>
                    </a:p>
                  </a:txBody>
                  <a:tcPr marL="0" marR="0" marT="0" marB="0">
                    <a:solidFill>
                      <a:srgbClr val="ECD3D9"/>
                    </a:solidFill>
                  </a:tcPr>
                </a:tc>
              </a:tr>
              <a:tr h="151200">
                <a:tc>
                  <a:txBody>
                    <a:bodyPr/>
                    <a:lstStyle/>
                    <a:p>
                      <a:pPr algn="l">
                        <a:defRPr sz="1000">
                          <a:latin typeface="Montserrat"/>
                        </a:defRPr>
                      </a:pPr>
                      <a:r>
                        <a:t>UMF 45 Tlacojalpan</a:t>
                      </a:r>
                    </a:p>
                  </a:txBody>
                  <a:tcPr marL="0" marR="0" marT="0" marB="0">
                    <a:solidFill>
                      <a:srgbClr val="EFEFEF"/>
                    </a:solidFill>
                  </a:tcPr>
                </a:tc>
                <a:tc>
                  <a:txBody>
                    <a:bodyPr/>
                    <a:lstStyle/>
                    <a:p>
                      <a:pPr algn="ctr">
                        <a:defRPr sz="1000">
                          <a:latin typeface="Montserrat"/>
                        </a:defRPr>
                      </a:pPr>
                      <a:r>
                        <a:t>5,846</a:t>
                      </a:r>
                    </a:p>
                  </a:txBody>
                  <a:tcPr marL="0" marR="0" marT="0" marB="0">
                    <a:solidFill>
                      <a:srgbClr val="EFEFEF"/>
                    </a:solidFill>
                  </a:tcPr>
                </a:tc>
                <a:tc>
                  <a:txBody>
                    <a:bodyPr/>
                    <a:lstStyle/>
                    <a:p>
                      <a:pPr algn="ctr">
                        <a:defRPr sz="1000">
                          <a:latin typeface="Montserrat"/>
                        </a:defRPr>
                      </a:pPr>
                      <a:r>
                        <a:t>2,461</a:t>
                      </a:r>
                    </a:p>
                  </a:txBody>
                  <a:tcPr marL="0" marR="0" marT="0" marB="0">
                    <a:solidFill>
                      <a:srgbClr val="EFEFEF"/>
                    </a:solidFill>
                  </a:tcPr>
                </a:tc>
                <a:tc>
                  <a:txBody>
                    <a:bodyPr/>
                    <a:lstStyle/>
                    <a:p>
                      <a:pPr algn="ctr">
                        <a:defRPr sz="1000">
                          <a:latin typeface="Montserrat"/>
                        </a:defRPr>
                      </a:pPr>
                      <a:r>
                        <a:t>2,198</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31.4%</a:t>
                      </a:r>
                    </a:p>
                  </a:txBody>
                  <a:tcPr marL="0" marR="0" marT="0" marB="0">
                    <a:solidFill>
                      <a:srgbClr val="ECD3D9"/>
                    </a:solidFill>
                  </a:tcPr>
                </a:tc>
              </a:tr>
              <a:tr h="151200">
                <a:tc>
                  <a:txBody>
                    <a:bodyPr/>
                    <a:lstStyle/>
                    <a:p>
                      <a:pPr algn="l">
                        <a:defRPr sz="1000">
                          <a:latin typeface="Montserrat"/>
                        </a:defRPr>
                      </a:pPr>
                      <a:r>
                        <a:t>UMF 42 Paraiso Nuevo</a:t>
                      </a:r>
                    </a:p>
                  </a:txBody>
                  <a:tcPr marL="0" marR="0" marT="0" marB="0">
                    <a:solidFill>
                      <a:srgbClr val="FFFFFF"/>
                    </a:solidFill>
                  </a:tcPr>
                </a:tc>
                <a:tc>
                  <a:txBody>
                    <a:bodyPr/>
                    <a:lstStyle/>
                    <a:p>
                      <a:pPr algn="ctr">
                        <a:defRPr sz="1000">
                          <a:latin typeface="Montserrat"/>
                        </a:defRPr>
                      </a:pPr>
                      <a:r>
                        <a:t>6,313</a:t>
                      </a:r>
                    </a:p>
                  </a:txBody>
                  <a:tcPr marL="0" marR="0" marT="0" marB="0">
                    <a:solidFill>
                      <a:srgbClr val="FFFFFF"/>
                    </a:solidFill>
                  </a:tcPr>
                </a:tc>
                <a:tc>
                  <a:txBody>
                    <a:bodyPr/>
                    <a:lstStyle/>
                    <a:p>
                      <a:pPr algn="ctr">
                        <a:defRPr sz="1000">
                          <a:latin typeface="Montserrat"/>
                        </a:defRPr>
                      </a:pPr>
                      <a:r>
                        <a:t>2,531</a:t>
                      </a:r>
                    </a:p>
                  </a:txBody>
                  <a:tcPr marL="0" marR="0" marT="0" marB="0">
                    <a:solidFill>
                      <a:srgbClr val="FFFFFF"/>
                    </a:solidFill>
                  </a:tcPr>
                </a:tc>
                <a:tc>
                  <a:txBody>
                    <a:bodyPr/>
                    <a:lstStyle/>
                    <a:p>
                      <a:pPr algn="ctr">
                        <a:defRPr sz="1000">
                          <a:latin typeface="Montserrat"/>
                        </a:defRPr>
                      </a:pPr>
                      <a:r>
                        <a:t>2,821</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40.3%</a:t>
                      </a:r>
                    </a:p>
                  </a:txBody>
                  <a:tcPr marL="0" marR="0" marT="0" marB="0">
                    <a:solidFill>
                      <a:srgbClr val="ECD3D9"/>
                    </a:solidFill>
                  </a:tcPr>
                </a:tc>
              </a:tr>
              <a:tr h="151200">
                <a:tc>
                  <a:txBody>
                    <a:bodyPr/>
                    <a:lstStyle/>
                    <a:p>
                      <a:pPr algn="l">
                        <a:defRPr sz="1000">
                          <a:latin typeface="Montserrat"/>
                        </a:defRPr>
                      </a:pPr>
                      <a:r>
                        <a:t>UMF 38 Tenejapan</a:t>
                      </a:r>
                    </a:p>
                  </a:txBody>
                  <a:tcPr marL="0" marR="0" marT="0" marB="0">
                    <a:solidFill>
                      <a:srgbClr val="EFEFEF"/>
                    </a:solidFill>
                  </a:tcPr>
                </a:tc>
                <a:tc>
                  <a:txBody>
                    <a:bodyPr/>
                    <a:lstStyle/>
                    <a:p>
                      <a:pPr algn="ctr">
                        <a:defRPr sz="1000">
                          <a:latin typeface="Montserrat"/>
                        </a:defRPr>
                      </a:pPr>
                      <a:r>
                        <a:t>3,658</a:t>
                      </a:r>
                    </a:p>
                  </a:txBody>
                  <a:tcPr marL="0" marR="0" marT="0" marB="0">
                    <a:solidFill>
                      <a:srgbClr val="EFEFEF"/>
                    </a:solidFill>
                  </a:tcPr>
                </a:tc>
                <a:tc>
                  <a:txBody>
                    <a:bodyPr/>
                    <a:lstStyle/>
                    <a:p>
                      <a:pPr algn="ctr">
                        <a:defRPr sz="1000">
                          <a:latin typeface="Montserrat"/>
                        </a:defRPr>
                      </a:pPr>
                      <a:r>
                        <a:t>1,755</a:t>
                      </a:r>
                    </a:p>
                  </a:txBody>
                  <a:tcPr marL="0" marR="0" marT="0" marB="0">
                    <a:solidFill>
                      <a:srgbClr val="EFEFEF"/>
                    </a:solidFill>
                  </a:tcPr>
                </a:tc>
                <a:tc>
                  <a:txBody>
                    <a:bodyPr/>
                    <a:lstStyle/>
                    <a:p>
                      <a:pPr algn="ctr">
                        <a:defRPr sz="1000">
                          <a:latin typeface="Montserrat"/>
                        </a:defRPr>
                      </a:pPr>
                      <a:r>
                        <a:t>1,541</a:t>
                      </a:r>
                    </a:p>
                  </a:txBody>
                  <a:tcPr marL="0" marR="0" marT="0" marB="0">
                    <a:solidFill>
                      <a:srgbClr val="ECD3D9"/>
                    </a:solidFill>
                  </a:tcPr>
                </a:tc>
                <a:tc>
                  <a:txBody>
                    <a:bodyPr/>
                    <a:lstStyle/>
                    <a:p>
                      <a:pPr algn="ctr">
                        <a:defRPr sz="1000">
                          <a:latin typeface="Montserrat"/>
                        </a:defRPr>
                      </a:pPr>
                      <a:r>
                        <a:t>4,000</a:t>
                      </a:r>
                    </a:p>
                  </a:txBody>
                  <a:tcPr marL="0" marR="0" marT="0" marB="0">
                    <a:solidFill>
                      <a:srgbClr val="ECD3D9"/>
                    </a:solidFill>
                  </a:tcPr>
                </a:tc>
                <a:tc>
                  <a:txBody>
                    <a:bodyPr/>
                    <a:lstStyle/>
                    <a:p>
                      <a:pPr algn="ctr">
                        <a:defRPr sz="1000">
                          <a:latin typeface="Montserrat"/>
                        </a:defRPr>
                      </a:pPr>
                      <a:r>
                        <a:t>38.5%</a:t>
                      </a:r>
                    </a:p>
                  </a:txBody>
                  <a:tcPr marL="0" marR="0" marT="0" marB="0">
                    <a:solidFill>
                      <a:srgbClr val="ECD3D9"/>
                    </a:solidFill>
                  </a:tcPr>
                </a:tc>
              </a:tr>
              <a:tr h="151200">
                <a:tc>
                  <a:txBody>
                    <a:bodyPr/>
                    <a:lstStyle/>
                    <a:p>
                      <a:pPr algn="l">
                        <a:defRPr sz="1000">
                          <a:latin typeface="Montserrat"/>
                        </a:defRPr>
                      </a:pPr>
                      <a:r>
                        <a:t>UMF 37 Ciudad Cuauhtémoc</a:t>
                      </a:r>
                    </a:p>
                  </a:txBody>
                  <a:tcPr marL="0" marR="0" marT="0" marB="0">
                    <a:solidFill>
                      <a:srgbClr val="FFFFFF"/>
                    </a:solidFill>
                  </a:tcPr>
                </a:tc>
                <a:tc>
                  <a:txBody>
                    <a:bodyPr/>
                    <a:lstStyle/>
                    <a:p>
                      <a:pPr algn="ctr">
                        <a:defRPr sz="1000">
                          <a:latin typeface="Montserrat"/>
                        </a:defRPr>
                      </a:pPr>
                      <a:r>
                        <a:t>17,652</a:t>
                      </a:r>
                    </a:p>
                  </a:txBody>
                  <a:tcPr marL="0" marR="0" marT="0" marB="0">
                    <a:solidFill>
                      <a:srgbClr val="FFFFFF"/>
                    </a:solidFill>
                  </a:tcPr>
                </a:tc>
                <a:tc>
                  <a:txBody>
                    <a:bodyPr/>
                    <a:lstStyle/>
                    <a:p>
                      <a:pPr algn="ctr">
                        <a:defRPr sz="1000">
                          <a:latin typeface="Montserrat"/>
                        </a:defRPr>
                      </a:pPr>
                      <a:r>
                        <a:t>6,508</a:t>
                      </a:r>
                    </a:p>
                  </a:txBody>
                  <a:tcPr marL="0" marR="0" marT="0" marB="0">
                    <a:solidFill>
                      <a:srgbClr val="FFFFFF"/>
                    </a:solidFill>
                  </a:tcPr>
                </a:tc>
                <a:tc>
                  <a:txBody>
                    <a:bodyPr/>
                    <a:lstStyle/>
                    <a:p>
                      <a:pPr algn="ctr">
                        <a:defRPr sz="1000">
                          <a:latin typeface="Montserrat"/>
                        </a:defRPr>
                      </a:pPr>
                      <a:r>
                        <a:t>8,963</a:t>
                      </a:r>
                    </a:p>
                  </a:txBody>
                  <a:tcPr marL="0" marR="0" marT="0" marB="0">
                    <a:solidFill>
                      <a:srgbClr val="ECD3D9"/>
                    </a:solidFill>
                  </a:tcPr>
                </a:tc>
                <a:tc>
                  <a:txBody>
                    <a:bodyPr/>
                    <a:lstStyle/>
                    <a:p>
                      <a:pPr algn="ctr">
                        <a:defRPr sz="1000">
                          <a:latin typeface="Montserrat"/>
                        </a:defRPr>
                      </a:pPr>
                      <a:r>
                        <a:t>18,000</a:t>
                      </a:r>
                    </a:p>
                  </a:txBody>
                  <a:tcPr marL="0" marR="0" marT="0" marB="0">
                    <a:solidFill>
                      <a:srgbClr val="ECD3D9"/>
                    </a:solidFill>
                  </a:tcPr>
                </a:tc>
                <a:tc>
                  <a:txBody>
                    <a:bodyPr/>
                    <a:lstStyle/>
                    <a:p>
                      <a:pPr algn="ctr">
                        <a:defRPr sz="1000">
                          <a:latin typeface="Montserrat"/>
                        </a:defRPr>
                      </a:pPr>
                      <a:r>
                        <a:t>49.8%</a:t>
                      </a:r>
                    </a:p>
                  </a:txBody>
                  <a:tcPr marL="0" marR="0" marT="0" marB="0">
                    <a:solidFill>
                      <a:srgbClr val="ECD3D9"/>
                    </a:solidFill>
                  </a:tcPr>
                </a:tc>
              </a:tr>
              <a:tr h="151200">
                <a:tc>
                  <a:txBody>
                    <a:bodyPr/>
                    <a:lstStyle/>
                    <a:p>
                      <a:pPr algn="l">
                        <a:defRPr sz="1000">
                          <a:latin typeface="Montserrat"/>
                        </a:defRPr>
                      </a:pPr>
                      <a:r>
                        <a:t>UMF 22 Palmas</a:t>
                      </a:r>
                    </a:p>
                  </a:txBody>
                  <a:tcPr marL="0" marR="0" marT="0" marB="0">
                    <a:solidFill>
                      <a:srgbClr val="EFEFEF"/>
                    </a:solidFill>
                  </a:tcPr>
                </a:tc>
                <a:tc>
                  <a:txBody>
                    <a:bodyPr/>
                    <a:lstStyle/>
                    <a:p>
                      <a:pPr algn="ctr">
                        <a:defRPr sz="1000">
                          <a:latin typeface="Montserrat"/>
                        </a:defRPr>
                      </a:pPr>
                      <a:r>
                        <a:t>12,304</a:t>
                      </a:r>
                    </a:p>
                  </a:txBody>
                  <a:tcPr marL="0" marR="0" marT="0" marB="0">
                    <a:solidFill>
                      <a:srgbClr val="EFEFEF"/>
                    </a:solidFill>
                  </a:tcPr>
                </a:tc>
                <a:tc>
                  <a:txBody>
                    <a:bodyPr/>
                    <a:lstStyle/>
                    <a:p>
                      <a:pPr algn="ctr">
                        <a:defRPr sz="1000">
                          <a:latin typeface="Montserrat"/>
                        </a:defRPr>
                      </a:pPr>
                      <a:r>
                        <a:t>-4,924</a:t>
                      </a:r>
                    </a:p>
                  </a:txBody>
                  <a:tcPr marL="0" marR="0" marT="0" marB="0">
                    <a:solidFill>
                      <a:srgbClr val="EFEFEF"/>
                    </a:solidFill>
                  </a:tcPr>
                </a:tc>
                <a:tc>
                  <a:txBody>
                    <a:bodyPr/>
                    <a:lstStyle/>
                    <a:p>
                      <a:pPr algn="ctr">
                        <a:defRPr sz="1000">
                          <a:latin typeface="Montserrat"/>
                        </a:defRPr>
                      </a:pPr>
                      <a:r>
                        <a:t>4,353</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33.5%</a:t>
                      </a:r>
                    </a:p>
                  </a:txBody>
                  <a:tcPr marL="0" marR="0" marT="0" marB="0">
                    <a:solidFill>
                      <a:srgbClr val="ECD3D9"/>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104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88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6" name="Connector 5"/>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151200" y="1692000"/>
          <a:ext cx="7473599" cy="21168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5 Ixtaczoquitlán</a:t>
                      </a:r>
                    </a:p>
                  </a:txBody>
                  <a:tcPr marL="0" marR="0" marT="0" marB="0">
                    <a:solidFill>
                      <a:srgbClr val="FFFFFF"/>
                    </a:solidFill>
                  </a:tcPr>
                </a:tc>
                <a:tc>
                  <a:txBody>
                    <a:bodyPr/>
                    <a:lstStyle/>
                    <a:p>
                      <a:pPr algn="ctr">
                        <a:defRPr sz="1000">
                          <a:latin typeface="Montserrat"/>
                        </a:defRPr>
                      </a:pPr>
                      <a:r>
                        <a:t>22,899</a:t>
                      </a:r>
                    </a:p>
                  </a:txBody>
                  <a:tcPr marL="0" marR="0" marT="0" marB="0">
                    <a:solidFill>
                      <a:srgbClr val="FFFFFF"/>
                    </a:solidFill>
                  </a:tcPr>
                </a:tc>
                <a:tc>
                  <a:txBody>
                    <a:bodyPr/>
                    <a:lstStyle/>
                    <a:p>
                      <a:pPr algn="ctr">
                        <a:defRPr sz="1000">
                          <a:latin typeface="Montserrat"/>
                        </a:defRPr>
                      </a:pPr>
                      <a:r>
                        <a:t>4,978</a:t>
                      </a:r>
                    </a:p>
                  </a:txBody>
                  <a:tcPr marL="0" marR="0" marT="0" marB="0">
                    <a:solidFill>
                      <a:srgbClr val="FFFFFF"/>
                    </a:solidFill>
                  </a:tcPr>
                </a:tc>
                <a:tc>
                  <a:txBody>
                    <a:bodyPr/>
                    <a:lstStyle/>
                    <a:p>
                      <a:pPr algn="ctr">
                        <a:defRPr sz="1000">
                          <a:latin typeface="Montserrat"/>
                        </a:defRPr>
                      </a:pPr>
                      <a:r>
                        <a:t>9,313</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37.2%</a:t>
                      </a:r>
                    </a:p>
                  </a:txBody>
                  <a:tcPr marL="0" marR="0" marT="0" marB="0">
                    <a:solidFill>
                      <a:srgbClr val="ECD3D9"/>
                    </a:solidFill>
                  </a:tcPr>
                </a:tc>
              </a:tr>
              <a:tr h="151200">
                <a:tc>
                  <a:txBody>
                    <a:bodyPr/>
                    <a:lstStyle/>
                    <a:p>
                      <a:pPr algn="l">
                        <a:defRPr sz="1000">
                          <a:latin typeface="Montserrat"/>
                        </a:defRPr>
                      </a:pPr>
                      <a:r>
                        <a:t>UMF 63 El Farallón</a:t>
                      </a:r>
                    </a:p>
                  </a:txBody>
                  <a:tcPr marL="0" marR="0" marT="0" marB="0">
                    <a:solidFill>
                      <a:srgbClr val="EFEFEF"/>
                    </a:solidFill>
                  </a:tcPr>
                </a:tc>
                <a:tc>
                  <a:txBody>
                    <a:bodyPr/>
                    <a:lstStyle/>
                    <a:p>
                      <a:pPr algn="ctr">
                        <a:defRPr sz="1000">
                          <a:latin typeface="Montserrat"/>
                        </a:defRPr>
                      </a:pPr>
                      <a:r>
                        <a:t>7,538</a:t>
                      </a:r>
                    </a:p>
                  </a:txBody>
                  <a:tcPr marL="0" marR="0" marT="0" marB="0">
                    <a:solidFill>
                      <a:srgbClr val="EFEFEF"/>
                    </a:solidFill>
                  </a:tcPr>
                </a:tc>
                <a:tc>
                  <a:txBody>
                    <a:bodyPr/>
                    <a:lstStyle/>
                    <a:p>
                      <a:pPr algn="ctr">
                        <a:defRPr sz="1000">
                          <a:latin typeface="Montserrat"/>
                        </a:defRPr>
                      </a:pPr>
                      <a:r>
                        <a:t>-531</a:t>
                      </a:r>
                    </a:p>
                  </a:txBody>
                  <a:tcPr marL="0" marR="0" marT="0" marB="0">
                    <a:solidFill>
                      <a:srgbClr val="EFEFEF"/>
                    </a:solidFill>
                  </a:tcPr>
                </a:tc>
                <a:tc>
                  <a:txBody>
                    <a:bodyPr/>
                    <a:lstStyle/>
                    <a:p>
                      <a:pPr algn="ctr">
                        <a:defRPr sz="1000">
                          <a:latin typeface="Montserrat"/>
                        </a:defRPr>
                      </a:pPr>
                      <a:r>
                        <a:t>2,531</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28.1%</a:t>
                      </a:r>
                    </a:p>
                  </a:txBody>
                  <a:tcPr marL="0" marR="0" marT="0" marB="0">
                    <a:solidFill>
                      <a:srgbClr val="ECD3D9"/>
                    </a:solidFill>
                  </a:tcPr>
                </a:tc>
              </a:tr>
              <a:tr h="151200">
                <a:tc>
                  <a:txBody>
                    <a:bodyPr/>
                    <a:lstStyle/>
                    <a:p>
                      <a:pPr algn="l">
                        <a:defRPr sz="1000">
                          <a:latin typeface="Montserrat"/>
                        </a:defRPr>
                      </a:pPr>
                      <a:r>
                        <a:t>UMF 12 La Concepción</a:t>
                      </a:r>
                    </a:p>
                  </a:txBody>
                  <a:tcPr marL="0" marR="0" marT="0" marB="0">
                    <a:solidFill>
                      <a:srgbClr val="FFFFFF"/>
                    </a:solidFill>
                  </a:tcPr>
                </a:tc>
                <a:tc>
                  <a:txBody>
                    <a:bodyPr/>
                    <a:lstStyle/>
                    <a:p>
                      <a:pPr algn="ctr">
                        <a:defRPr sz="1000">
                          <a:latin typeface="Montserrat"/>
                        </a:defRPr>
                      </a:pPr>
                      <a:r>
                        <a:t>24,034</a:t>
                      </a:r>
                    </a:p>
                  </a:txBody>
                  <a:tcPr marL="0" marR="0" marT="0" marB="0">
                    <a:solidFill>
                      <a:srgbClr val="FFFFFF"/>
                    </a:solidFill>
                  </a:tcPr>
                </a:tc>
                <a:tc>
                  <a:txBody>
                    <a:bodyPr/>
                    <a:lstStyle/>
                    <a:p>
                      <a:pPr algn="ctr">
                        <a:defRPr sz="1000">
                          <a:latin typeface="Montserrat"/>
                        </a:defRPr>
                      </a:pPr>
                      <a:r>
                        <a:t>5,778</a:t>
                      </a:r>
                    </a:p>
                  </a:txBody>
                  <a:tcPr marL="0" marR="0" marT="0" marB="0">
                    <a:solidFill>
                      <a:srgbClr val="FFFFFF"/>
                    </a:solidFill>
                  </a:tcPr>
                </a:tc>
                <a:tc>
                  <a:txBody>
                    <a:bodyPr/>
                    <a:lstStyle/>
                    <a:p>
                      <a:pPr algn="ctr">
                        <a:defRPr sz="1000">
                          <a:latin typeface="Montserrat"/>
                        </a:defRPr>
                      </a:pPr>
                      <a:r>
                        <a:t>9,698</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38.7%</a:t>
                      </a:r>
                    </a:p>
                  </a:txBody>
                  <a:tcPr marL="0" marR="0" marT="0" marB="0">
                    <a:solidFill>
                      <a:srgbClr val="ECD3D9"/>
                    </a:solidFill>
                  </a:tcPr>
                </a:tc>
              </a:tr>
              <a:tr h="151200">
                <a:tc>
                  <a:txBody>
                    <a:bodyPr/>
                    <a:lstStyle/>
                    <a:p>
                      <a:pPr algn="l">
                        <a:defRPr sz="1000">
                          <a:latin typeface="Montserrat"/>
                        </a:defRPr>
                      </a:pPr>
                      <a:r>
                        <a:t>UMF 25 Cotaxtla</a:t>
                      </a:r>
                    </a:p>
                  </a:txBody>
                  <a:tcPr marL="0" marR="0" marT="0" marB="0">
                    <a:solidFill>
                      <a:srgbClr val="EFEFEF"/>
                    </a:solidFill>
                  </a:tcPr>
                </a:tc>
                <a:tc>
                  <a:txBody>
                    <a:bodyPr/>
                    <a:lstStyle/>
                    <a:p>
                      <a:pPr algn="ctr">
                        <a:defRPr sz="1000">
                          <a:latin typeface="Montserrat"/>
                        </a:defRPr>
                      </a:pPr>
                      <a:r>
                        <a:t>7,938</a:t>
                      </a:r>
                    </a:p>
                  </a:txBody>
                  <a:tcPr marL="0" marR="0" marT="0" marB="0">
                    <a:solidFill>
                      <a:srgbClr val="EFEFEF"/>
                    </a:solidFill>
                  </a:tcPr>
                </a:tc>
                <a:tc>
                  <a:txBody>
                    <a:bodyPr/>
                    <a:lstStyle/>
                    <a:p>
                      <a:pPr algn="ctr">
                        <a:defRPr sz="1000">
                          <a:latin typeface="Montserrat"/>
                        </a:defRPr>
                      </a:pPr>
                      <a:r>
                        <a:t>1,233</a:t>
                      </a:r>
                    </a:p>
                  </a:txBody>
                  <a:tcPr marL="0" marR="0" marT="0" marB="0">
                    <a:solidFill>
                      <a:srgbClr val="EFEFEF"/>
                    </a:solidFill>
                  </a:tcPr>
                </a:tc>
                <a:tc>
                  <a:txBody>
                    <a:bodyPr/>
                    <a:lstStyle/>
                    <a:p>
                      <a:pPr algn="ctr">
                        <a:defRPr sz="1000">
                          <a:latin typeface="Montserrat"/>
                        </a:defRPr>
                      </a:pPr>
                      <a:r>
                        <a:t>3,479</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38.7%</a:t>
                      </a:r>
                    </a:p>
                  </a:txBody>
                  <a:tcPr marL="0" marR="0" marT="0" marB="0">
                    <a:solidFill>
                      <a:srgbClr val="ECD3D9"/>
                    </a:solidFill>
                  </a:tcPr>
                </a:tc>
              </a:tr>
              <a:tr h="151200">
                <a:tc>
                  <a:txBody>
                    <a:bodyPr/>
                    <a:lstStyle/>
                    <a:p>
                      <a:pPr algn="l">
                        <a:defRPr sz="1000">
                          <a:latin typeface="Montserrat"/>
                        </a:defRPr>
                      </a:pPr>
                      <a:r>
                        <a:t>UMF 63 Tierra Blanca</a:t>
                      </a:r>
                    </a:p>
                  </a:txBody>
                  <a:tcPr marL="0" marR="0" marT="0" marB="0">
                    <a:solidFill>
                      <a:srgbClr val="FFFFFF"/>
                    </a:solidFill>
                  </a:tcPr>
                </a:tc>
                <a:tc>
                  <a:txBody>
                    <a:bodyPr/>
                    <a:lstStyle/>
                    <a:p>
                      <a:pPr algn="ctr">
                        <a:defRPr sz="1000">
                          <a:latin typeface="Montserrat"/>
                        </a:defRPr>
                      </a:pPr>
                      <a:r>
                        <a:t>78,371</a:t>
                      </a:r>
                    </a:p>
                  </a:txBody>
                  <a:tcPr marL="0" marR="0" marT="0" marB="0">
                    <a:solidFill>
                      <a:srgbClr val="FFFFFF"/>
                    </a:solidFill>
                  </a:tcPr>
                </a:tc>
                <a:tc>
                  <a:txBody>
                    <a:bodyPr/>
                    <a:lstStyle/>
                    <a:p>
                      <a:pPr algn="ctr">
                        <a:defRPr sz="1000">
                          <a:latin typeface="Montserrat"/>
                        </a:defRPr>
                      </a:pPr>
                      <a:r>
                        <a:t>9,667</a:t>
                      </a:r>
                    </a:p>
                  </a:txBody>
                  <a:tcPr marL="0" marR="0" marT="0" marB="0">
                    <a:solidFill>
                      <a:srgbClr val="FFFFFF"/>
                    </a:solidFill>
                  </a:tcPr>
                </a:tc>
                <a:tc>
                  <a:txBody>
                    <a:bodyPr/>
                    <a:lstStyle/>
                    <a:p>
                      <a:pPr algn="ctr">
                        <a:defRPr sz="1000">
                          <a:latin typeface="Montserrat"/>
                        </a:defRPr>
                      </a:pPr>
                      <a:r>
                        <a:t>29,595</a:t>
                      </a:r>
                    </a:p>
                  </a:txBody>
                  <a:tcPr marL="0" marR="0" marT="0" marB="0">
                    <a:solidFill>
                      <a:srgbClr val="ECD3D9"/>
                    </a:solidFill>
                  </a:tcPr>
                </a:tc>
                <a:tc>
                  <a:txBody>
                    <a:bodyPr/>
                    <a:lstStyle/>
                    <a:p>
                      <a:pPr algn="ctr">
                        <a:defRPr sz="1000">
                          <a:latin typeface="Montserrat"/>
                        </a:defRPr>
                      </a:pPr>
                      <a:r>
                        <a:t>75,000</a:t>
                      </a:r>
                    </a:p>
                  </a:txBody>
                  <a:tcPr marL="0" marR="0" marT="0" marB="0">
                    <a:solidFill>
                      <a:srgbClr val="ECD3D9"/>
                    </a:solidFill>
                  </a:tcPr>
                </a:tc>
                <a:tc>
                  <a:txBody>
                    <a:bodyPr/>
                    <a:lstStyle/>
                    <a:p>
                      <a:pPr algn="ctr">
                        <a:defRPr sz="1000">
                          <a:latin typeface="Montserrat"/>
                        </a:defRPr>
                      </a:pPr>
                      <a:r>
                        <a:t>39.5%</a:t>
                      </a:r>
                    </a:p>
                  </a:txBody>
                  <a:tcPr marL="0" marR="0" marT="0" marB="0">
                    <a:solidFill>
                      <a:srgbClr val="ECD3D9"/>
                    </a:solidFill>
                  </a:tcPr>
                </a:tc>
              </a:tr>
              <a:tr h="151200">
                <a:tc>
                  <a:txBody>
                    <a:bodyPr/>
                    <a:lstStyle/>
                    <a:p>
                      <a:pPr algn="l">
                        <a:defRPr sz="1000">
                          <a:latin typeface="Montserrat"/>
                        </a:defRPr>
                      </a:pPr>
                      <a:r>
                        <a:t>UMF 64 Córdoba</a:t>
                      </a:r>
                    </a:p>
                  </a:txBody>
                  <a:tcPr marL="0" marR="0" marT="0" marB="0">
                    <a:solidFill>
                      <a:srgbClr val="EFEFEF"/>
                    </a:solidFill>
                  </a:tcPr>
                </a:tc>
                <a:tc>
                  <a:txBody>
                    <a:bodyPr/>
                    <a:lstStyle/>
                    <a:p>
                      <a:pPr algn="ctr">
                        <a:defRPr sz="1000">
                          <a:latin typeface="Montserrat"/>
                        </a:defRPr>
                      </a:pPr>
                      <a:r>
                        <a:t>147,918</a:t>
                      </a:r>
                    </a:p>
                  </a:txBody>
                  <a:tcPr marL="0" marR="0" marT="0" marB="0">
                    <a:solidFill>
                      <a:srgbClr val="EFEFEF"/>
                    </a:solidFill>
                  </a:tcPr>
                </a:tc>
                <a:tc>
                  <a:txBody>
                    <a:bodyPr/>
                    <a:lstStyle/>
                    <a:p>
                      <a:pPr algn="ctr">
                        <a:defRPr sz="1000">
                          <a:latin typeface="Montserrat"/>
                        </a:defRPr>
                      </a:pPr>
                      <a:r>
                        <a:t>12,117</a:t>
                      </a:r>
                    </a:p>
                  </a:txBody>
                  <a:tcPr marL="0" marR="0" marT="0" marB="0">
                    <a:solidFill>
                      <a:srgbClr val="EFEFEF"/>
                    </a:solidFill>
                  </a:tcPr>
                </a:tc>
                <a:tc>
                  <a:txBody>
                    <a:bodyPr/>
                    <a:lstStyle/>
                    <a:p>
                      <a:pPr algn="ctr">
                        <a:defRPr sz="1000">
                          <a:latin typeface="Montserrat"/>
                        </a:defRPr>
                      </a:pPr>
                      <a:r>
                        <a:t>54,011</a:t>
                      </a:r>
                    </a:p>
                  </a:txBody>
                  <a:tcPr marL="0" marR="0" marT="0" marB="0">
                    <a:solidFill>
                      <a:srgbClr val="ECD3D9"/>
                    </a:solidFill>
                  </a:tcPr>
                </a:tc>
                <a:tc>
                  <a:txBody>
                    <a:bodyPr/>
                    <a:lstStyle/>
                    <a:p>
                      <a:pPr algn="ctr">
                        <a:defRPr sz="1000">
                          <a:latin typeface="Montserrat"/>
                        </a:defRPr>
                      </a:pPr>
                      <a:r>
                        <a:t>142,000</a:t>
                      </a:r>
                    </a:p>
                  </a:txBody>
                  <a:tcPr marL="0" marR="0" marT="0" marB="0">
                    <a:solidFill>
                      <a:srgbClr val="ECD3D9"/>
                    </a:solidFill>
                  </a:tcPr>
                </a:tc>
                <a:tc>
                  <a:txBody>
                    <a:bodyPr/>
                    <a:lstStyle/>
                    <a:p>
                      <a:pPr algn="ctr">
                        <a:defRPr sz="1000">
                          <a:latin typeface="Montserrat"/>
                        </a:defRPr>
                      </a:pPr>
                      <a:r>
                        <a:t>38.0%</a:t>
                      </a:r>
                    </a:p>
                  </a:txBody>
                  <a:tcPr marL="0" marR="0" marT="0" marB="0">
                    <a:solidFill>
                      <a:srgbClr val="ECD3D9"/>
                    </a:solidFill>
                  </a:tcPr>
                </a:tc>
              </a:tr>
              <a:tr h="151200">
                <a:tc>
                  <a:txBody>
                    <a:bodyPr/>
                    <a:lstStyle/>
                    <a:p>
                      <a:pPr algn="l">
                        <a:defRPr sz="1000">
                          <a:latin typeface="Montserrat"/>
                        </a:defRPr>
                      </a:pPr>
                      <a:r>
                        <a:t>UMF 60 Coatzacoalcos</a:t>
                      </a:r>
                    </a:p>
                  </a:txBody>
                  <a:tcPr marL="0" marR="0" marT="0" marB="0">
                    <a:solidFill>
                      <a:srgbClr val="FFFFFF"/>
                    </a:solidFill>
                  </a:tcPr>
                </a:tc>
                <a:tc>
                  <a:txBody>
                    <a:bodyPr/>
                    <a:lstStyle/>
                    <a:p>
                      <a:pPr algn="ctr">
                        <a:defRPr sz="1000">
                          <a:latin typeface="Montserrat"/>
                        </a:defRPr>
                      </a:pPr>
                      <a:r>
                        <a:t>88,768</a:t>
                      </a:r>
                    </a:p>
                  </a:txBody>
                  <a:tcPr marL="0" marR="0" marT="0" marB="0">
                    <a:solidFill>
                      <a:srgbClr val="FFFFFF"/>
                    </a:solidFill>
                  </a:tcPr>
                </a:tc>
                <a:tc>
                  <a:txBody>
                    <a:bodyPr/>
                    <a:lstStyle/>
                    <a:p>
                      <a:pPr algn="ctr">
                        <a:defRPr sz="1000">
                          <a:latin typeface="Montserrat"/>
                        </a:defRPr>
                      </a:pPr>
                      <a:r>
                        <a:t>21,026</a:t>
                      </a:r>
                    </a:p>
                  </a:txBody>
                  <a:tcPr marL="0" marR="0" marT="0" marB="0">
                    <a:solidFill>
                      <a:srgbClr val="FFFFFF"/>
                    </a:solidFill>
                  </a:tcPr>
                </a:tc>
                <a:tc>
                  <a:txBody>
                    <a:bodyPr/>
                    <a:lstStyle/>
                    <a:p>
                      <a:pPr algn="ctr">
                        <a:defRPr sz="1000">
                          <a:latin typeface="Montserrat"/>
                        </a:defRPr>
                      </a:pPr>
                      <a:r>
                        <a:t>36,578</a:t>
                      </a:r>
                    </a:p>
                  </a:txBody>
                  <a:tcPr marL="0" marR="0" marT="0" marB="0">
                    <a:solidFill>
                      <a:srgbClr val="ECD3D9"/>
                    </a:solidFill>
                  </a:tcPr>
                </a:tc>
                <a:tc>
                  <a:txBody>
                    <a:bodyPr/>
                    <a:lstStyle/>
                    <a:p>
                      <a:pPr algn="ctr">
                        <a:defRPr sz="1000">
                          <a:latin typeface="Montserrat"/>
                        </a:defRPr>
                      </a:pPr>
                      <a:r>
                        <a:t>85,000</a:t>
                      </a:r>
                    </a:p>
                  </a:txBody>
                  <a:tcPr marL="0" marR="0" marT="0" marB="0">
                    <a:solidFill>
                      <a:srgbClr val="ECD3D9"/>
                    </a:solidFill>
                  </a:tcPr>
                </a:tc>
                <a:tc>
                  <a:txBody>
                    <a:bodyPr/>
                    <a:lstStyle/>
                    <a:p>
                      <a:pPr algn="ctr">
                        <a:defRPr sz="1000">
                          <a:latin typeface="Montserrat"/>
                        </a:defRPr>
                      </a:pPr>
                      <a:r>
                        <a:t>43.0%</a:t>
                      </a:r>
                    </a:p>
                  </a:txBody>
                  <a:tcPr marL="0" marR="0" marT="0" marB="0">
                    <a:solidFill>
                      <a:srgbClr val="ECD3D9"/>
                    </a:solidFill>
                  </a:tcPr>
                </a:tc>
              </a:tr>
              <a:tr h="151200">
                <a:tc>
                  <a:txBody>
                    <a:bodyPr/>
                    <a:lstStyle/>
                    <a:p>
                      <a:pPr algn="l">
                        <a:defRPr sz="1000">
                          <a:latin typeface="Montserrat"/>
                        </a:defRPr>
                      </a:pPr>
                      <a:r>
                        <a:t>UMF 65 Congregación</a:t>
                      </a:r>
                    </a:p>
                  </a:txBody>
                  <a:tcPr marL="0" marR="0" marT="0" marB="0">
                    <a:solidFill>
                      <a:srgbClr val="EFEFEF"/>
                    </a:solidFill>
                  </a:tcPr>
                </a:tc>
                <a:tc>
                  <a:txBody>
                    <a:bodyPr/>
                    <a:lstStyle/>
                    <a:p>
                      <a:pPr algn="ctr">
                        <a:defRPr sz="1000">
                          <a:latin typeface="Montserrat"/>
                        </a:defRPr>
                      </a:pPr>
                      <a:r>
                        <a:t>21,356</a:t>
                      </a:r>
                    </a:p>
                  </a:txBody>
                  <a:tcPr marL="0" marR="0" marT="0" marB="0">
                    <a:solidFill>
                      <a:srgbClr val="EFEFEF"/>
                    </a:solidFill>
                  </a:tcPr>
                </a:tc>
                <a:tc>
                  <a:txBody>
                    <a:bodyPr/>
                    <a:lstStyle/>
                    <a:p>
                      <a:pPr algn="ctr">
                        <a:defRPr sz="1000">
                          <a:latin typeface="Montserrat"/>
                        </a:defRPr>
                      </a:pPr>
                      <a:r>
                        <a:t>3,518</a:t>
                      </a:r>
                    </a:p>
                  </a:txBody>
                  <a:tcPr marL="0" marR="0" marT="0" marB="0">
                    <a:solidFill>
                      <a:srgbClr val="EFEFEF"/>
                    </a:solidFill>
                  </a:tcPr>
                </a:tc>
                <a:tc>
                  <a:txBody>
                    <a:bodyPr/>
                    <a:lstStyle/>
                    <a:p>
                      <a:pPr algn="ctr">
                        <a:defRPr sz="1000">
                          <a:latin typeface="Montserrat"/>
                        </a:defRPr>
                      </a:pPr>
                      <a:r>
                        <a:t>5,309</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21.2%</a:t>
                      </a:r>
                    </a:p>
                  </a:txBody>
                  <a:tcPr marL="0" marR="0" marT="0" marB="0">
                    <a:solidFill>
                      <a:srgbClr val="ECD3D9"/>
                    </a:solidFill>
                  </a:tcPr>
                </a:tc>
              </a:tr>
              <a:tr h="151200">
                <a:tc>
                  <a:txBody>
                    <a:bodyPr/>
                    <a:lstStyle/>
                    <a:p>
                      <a:pPr algn="l">
                        <a:defRPr sz="1000">
                          <a:latin typeface="Montserrat"/>
                        </a:defRPr>
                      </a:pPr>
                      <a:r>
                        <a:t>UMF 66 Nanchital</a:t>
                      </a:r>
                    </a:p>
                  </a:txBody>
                  <a:tcPr marL="0" marR="0" marT="0" marB="0">
                    <a:solidFill>
                      <a:srgbClr val="FFFFFF"/>
                    </a:solidFill>
                  </a:tcPr>
                </a:tc>
                <a:tc>
                  <a:txBody>
                    <a:bodyPr/>
                    <a:lstStyle/>
                    <a:p>
                      <a:pPr algn="ctr">
                        <a:defRPr sz="1000">
                          <a:latin typeface="Montserrat"/>
                        </a:defRPr>
                      </a:pPr>
                      <a:r>
                        <a:t>26,678</a:t>
                      </a:r>
                    </a:p>
                  </a:txBody>
                  <a:tcPr marL="0" marR="0" marT="0" marB="0">
                    <a:solidFill>
                      <a:srgbClr val="FFFFFF"/>
                    </a:solidFill>
                  </a:tcPr>
                </a:tc>
                <a:tc>
                  <a:txBody>
                    <a:bodyPr/>
                    <a:lstStyle/>
                    <a:p>
                      <a:pPr algn="ctr">
                        <a:defRPr sz="1000">
                          <a:latin typeface="Montserrat"/>
                        </a:defRPr>
                      </a:pPr>
                      <a:r>
                        <a:t>4,034</a:t>
                      </a:r>
                    </a:p>
                  </a:txBody>
                  <a:tcPr marL="0" marR="0" marT="0" marB="0">
                    <a:solidFill>
                      <a:srgbClr val="FFFFFF"/>
                    </a:solidFill>
                  </a:tcPr>
                </a:tc>
                <a:tc>
                  <a:txBody>
                    <a:bodyPr/>
                    <a:lstStyle/>
                    <a:p>
                      <a:pPr algn="ctr">
                        <a:defRPr sz="1000">
                          <a:latin typeface="Montserrat"/>
                        </a:defRPr>
                      </a:pPr>
                      <a:r>
                        <a:t>9,007</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35.9%</a:t>
                      </a:r>
                    </a:p>
                  </a:txBody>
                  <a:tcPr marL="0" marR="0" marT="0" marB="0">
                    <a:solidFill>
                      <a:srgbClr val="ECD3D9"/>
                    </a:solidFill>
                  </a:tcPr>
                </a:tc>
              </a:tr>
              <a:tr h="151200">
                <a:tc>
                  <a:txBody>
                    <a:bodyPr/>
                    <a:lstStyle/>
                    <a:p>
                      <a:pPr algn="l">
                        <a:defRPr sz="1000">
                          <a:latin typeface="Montserrat"/>
                        </a:defRPr>
                      </a:pPr>
                      <a:r>
                        <a:t>UMF 67 Revolución</a:t>
                      </a:r>
                    </a:p>
                  </a:txBody>
                  <a:tcPr marL="0" marR="0" marT="0" marB="0">
                    <a:solidFill>
                      <a:srgbClr val="EFEFEF"/>
                    </a:solidFill>
                  </a:tcPr>
                </a:tc>
                <a:tc>
                  <a:txBody>
                    <a:bodyPr/>
                    <a:lstStyle/>
                    <a:p>
                      <a:pPr algn="ctr">
                        <a:defRPr sz="1000">
                          <a:latin typeface="Montserrat"/>
                        </a:defRPr>
                      </a:pPr>
                      <a:r>
                        <a:t>116,311</a:t>
                      </a:r>
                    </a:p>
                  </a:txBody>
                  <a:tcPr marL="0" marR="0" marT="0" marB="0">
                    <a:solidFill>
                      <a:srgbClr val="EFEFEF"/>
                    </a:solidFill>
                  </a:tcPr>
                </a:tc>
                <a:tc>
                  <a:txBody>
                    <a:bodyPr/>
                    <a:lstStyle/>
                    <a:p>
                      <a:pPr algn="ctr">
                        <a:defRPr sz="1000">
                          <a:latin typeface="Montserrat"/>
                        </a:defRPr>
                      </a:pPr>
                      <a:r>
                        <a:t>29,010</a:t>
                      </a:r>
                    </a:p>
                  </a:txBody>
                  <a:tcPr marL="0" marR="0" marT="0" marB="0">
                    <a:solidFill>
                      <a:srgbClr val="EFEFEF"/>
                    </a:solidFill>
                  </a:tcPr>
                </a:tc>
                <a:tc>
                  <a:txBody>
                    <a:bodyPr/>
                    <a:lstStyle/>
                    <a:p>
                      <a:pPr algn="ctr">
                        <a:defRPr sz="1000">
                          <a:latin typeface="Montserrat"/>
                        </a:defRPr>
                      </a:pPr>
                      <a:r>
                        <a:t>53,308</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42.6%</a:t>
                      </a:r>
                    </a:p>
                  </a:txBody>
                  <a:tcPr marL="0" marR="0" marT="0" marB="0">
                    <a:solidFill>
                      <a:srgbClr val="ECD3D9"/>
                    </a:solidFill>
                  </a:tcPr>
                </a:tc>
              </a:tr>
              <a:tr h="151200">
                <a:tc>
                  <a:txBody>
                    <a:bodyPr/>
                    <a:lstStyle/>
                    <a:p>
                      <a:pPr algn="l">
                        <a:defRPr sz="1000">
                          <a:latin typeface="Montserrat"/>
                        </a:defRPr>
                      </a:pPr>
                      <a:r>
                        <a:t>UMF 52 Cosoleacaque</a:t>
                      </a:r>
                    </a:p>
                  </a:txBody>
                  <a:tcPr marL="0" marR="0" marT="0" marB="0">
                    <a:solidFill>
                      <a:srgbClr val="FFFFFF"/>
                    </a:solidFill>
                  </a:tcPr>
                </a:tc>
                <a:tc>
                  <a:txBody>
                    <a:bodyPr/>
                    <a:lstStyle/>
                    <a:p>
                      <a:pPr algn="ctr">
                        <a:defRPr sz="1000">
                          <a:latin typeface="Montserrat"/>
                        </a:defRPr>
                      </a:pPr>
                      <a:r>
                        <a:t>74,534</a:t>
                      </a:r>
                    </a:p>
                  </a:txBody>
                  <a:tcPr marL="0" marR="0" marT="0" marB="0">
                    <a:solidFill>
                      <a:srgbClr val="FFFFFF"/>
                    </a:solidFill>
                  </a:tcPr>
                </a:tc>
                <a:tc>
                  <a:txBody>
                    <a:bodyPr/>
                    <a:lstStyle/>
                    <a:p>
                      <a:pPr algn="ctr">
                        <a:defRPr sz="1000">
                          <a:latin typeface="Montserrat"/>
                        </a:defRPr>
                      </a:pPr>
                      <a:r>
                        <a:t>12,362</a:t>
                      </a:r>
                    </a:p>
                  </a:txBody>
                  <a:tcPr marL="0" marR="0" marT="0" marB="0">
                    <a:solidFill>
                      <a:srgbClr val="FFFFFF"/>
                    </a:solidFill>
                  </a:tcPr>
                </a:tc>
                <a:tc>
                  <a:txBody>
                    <a:bodyPr/>
                    <a:lstStyle/>
                    <a:p>
                      <a:pPr algn="ctr">
                        <a:defRPr sz="1000">
                          <a:latin typeface="Montserrat"/>
                        </a:defRPr>
                      </a:pPr>
                      <a:r>
                        <a:t>30,797</a:t>
                      </a:r>
                    </a:p>
                  </a:txBody>
                  <a:tcPr marL="0" marR="0" marT="0" marB="0">
                    <a:solidFill>
                      <a:srgbClr val="ECD3D9"/>
                    </a:solidFill>
                  </a:tcPr>
                </a:tc>
                <a:tc>
                  <a:txBody>
                    <a:bodyPr/>
                    <a:lstStyle/>
                    <a:p>
                      <a:pPr algn="ctr">
                        <a:defRPr sz="1000">
                          <a:latin typeface="Montserrat"/>
                        </a:defRPr>
                      </a:pPr>
                      <a:r>
                        <a:t>71,000</a:t>
                      </a:r>
                    </a:p>
                  </a:txBody>
                  <a:tcPr marL="0" marR="0" marT="0" marB="0">
                    <a:solidFill>
                      <a:srgbClr val="ECD3D9"/>
                    </a:solidFill>
                  </a:tcPr>
                </a:tc>
                <a:tc>
                  <a:txBody>
                    <a:bodyPr/>
                    <a:lstStyle/>
                    <a:p>
                      <a:pPr algn="ctr">
                        <a:defRPr sz="1000">
                          <a:latin typeface="Montserrat"/>
                        </a:defRPr>
                      </a:pPr>
                      <a:r>
                        <a:t>43.4%</a:t>
                      </a:r>
                    </a:p>
                  </a:txBody>
                  <a:tcPr marL="0" marR="0" marT="0" marB="0">
                    <a:solidFill>
                      <a:srgbClr val="ECD3D9"/>
                    </a:solidFill>
                  </a:tcPr>
                </a:tc>
              </a:tr>
              <a:tr h="151200">
                <a:tc>
                  <a:txBody>
                    <a:bodyPr/>
                    <a:lstStyle/>
                    <a:p>
                      <a:pPr algn="l">
                        <a:defRPr sz="1000">
                          <a:latin typeface="Montserrat"/>
                        </a:defRPr>
                      </a:pPr>
                      <a:r>
                        <a:t>UMF 34 Juan Díaz</a:t>
                      </a:r>
                    </a:p>
                  </a:txBody>
                  <a:tcPr marL="0" marR="0" marT="0" marB="0">
                    <a:solidFill>
                      <a:srgbClr val="EFEFEF"/>
                    </a:solidFill>
                  </a:tcPr>
                </a:tc>
                <a:tc>
                  <a:txBody>
                    <a:bodyPr/>
                    <a:lstStyle/>
                    <a:p>
                      <a:pPr algn="ctr">
                        <a:defRPr sz="1000">
                          <a:latin typeface="Montserrat"/>
                        </a:defRPr>
                      </a:pPr>
                      <a:r>
                        <a:t>31,184</a:t>
                      </a:r>
                    </a:p>
                  </a:txBody>
                  <a:tcPr marL="0" marR="0" marT="0" marB="0">
                    <a:solidFill>
                      <a:srgbClr val="EFEFEF"/>
                    </a:solidFill>
                  </a:tcPr>
                </a:tc>
                <a:tc>
                  <a:txBody>
                    <a:bodyPr/>
                    <a:lstStyle/>
                    <a:p>
                      <a:pPr algn="ctr">
                        <a:defRPr sz="1000">
                          <a:latin typeface="Montserrat"/>
                        </a:defRPr>
                      </a:pPr>
                      <a:r>
                        <a:t>6,244</a:t>
                      </a:r>
                    </a:p>
                  </a:txBody>
                  <a:tcPr marL="0" marR="0" marT="0" marB="0">
                    <a:solidFill>
                      <a:srgbClr val="EFEFEF"/>
                    </a:solidFill>
                  </a:tcPr>
                </a:tc>
                <a:tc>
                  <a:txBody>
                    <a:bodyPr/>
                    <a:lstStyle/>
                    <a:p>
                      <a:pPr algn="ctr">
                        <a:defRPr sz="1000">
                          <a:latin typeface="Montserrat"/>
                        </a:defRPr>
                      </a:pPr>
                      <a:r>
                        <a:t>11,747</a:t>
                      </a:r>
                    </a:p>
                  </a:txBody>
                  <a:tcPr marL="0" marR="0" marT="0" marB="0">
                    <a:solidFill>
                      <a:srgbClr val="ECD3D9"/>
                    </a:solidFill>
                  </a:tcPr>
                </a:tc>
                <a:tc>
                  <a:txBody>
                    <a:bodyPr/>
                    <a:lstStyle/>
                    <a:p>
                      <a:pPr algn="ctr">
                        <a:defRPr sz="1000">
                          <a:latin typeface="Montserrat"/>
                        </a:defRPr>
                      </a:pPr>
                      <a:r>
                        <a:t>40,716</a:t>
                      </a:r>
                    </a:p>
                  </a:txBody>
                  <a:tcPr marL="0" marR="0" marT="0" marB="0">
                    <a:solidFill>
                      <a:srgbClr val="ECD3D9"/>
                    </a:solidFill>
                  </a:tcPr>
                </a:tc>
                <a:tc>
                  <a:txBody>
                    <a:bodyPr/>
                    <a:lstStyle/>
                    <a:p>
                      <a:pPr algn="ctr">
                        <a:defRPr sz="1000">
                          <a:latin typeface="Montserrat"/>
                        </a:defRPr>
                      </a:pPr>
                      <a:r>
                        <a:t>28.9%</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2,306,054</a:t>
                      </a:r>
                    </a:p>
                  </a:txBody>
                  <a:tcPr marL="0" marR="0" marT="0" marB="0">
                    <a:solidFill>
                      <a:srgbClr val="D3E9E7"/>
                    </a:solidFill>
                  </a:tcPr>
                </a:tc>
                <a:tc>
                  <a:txBody>
                    <a:bodyPr/>
                    <a:lstStyle/>
                    <a:p>
                      <a:pPr algn="ctr">
                        <a:defRPr sz="1000" b="1">
                          <a:solidFill>
                            <a:srgbClr val="006556"/>
                          </a:solidFill>
                          <a:latin typeface="Montserrat"/>
                        </a:defRPr>
                      </a:pPr>
                      <a:r>
                        <a:t>315,781</a:t>
                      </a:r>
                    </a:p>
                  </a:txBody>
                  <a:tcPr marL="0" marR="0" marT="0" marB="0">
                    <a:solidFill>
                      <a:srgbClr val="D3E9E7"/>
                    </a:solidFill>
                  </a:tcPr>
                </a:tc>
                <a:tc>
                  <a:txBody>
                    <a:bodyPr/>
                    <a:lstStyle/>
                    <a:p>
                      <a:pPr algn="ctr">
                        <a:defRPr sz="1000" b="1">
                          <a:solidFill>
                            <a:srgbClr val="FFFFFF"/>
                          </a:solidFill>
                          <a:latin typeface="Montserrat"/>
                        </a:defRPr>
                      </a:pPr>
                      <a:r>
                        <a:t>940,520</a:t>
                      </a:r>
                    </a:p>
                  </a:txBody>
                  <a:tcPr marL="0" marR="0" marT="0" marB="0">
                    <a:solidFill>
                      <a:srgbClr val="9F2241"/>
                    </a:solidFill>
                  </a:tcPr>
                </a:tc>
                <a:tc>
                  <a:txBody>
                    <a:bodyPr/>
                    <a:lstStyle/>
                    <a:p>
                      <a:pPr algn="ctr">
                        <a:defRPr sz="1000" b="1">
                          <a:solidFill>
                            <a:srgbClr val="FFFFFF"/>
                          </a:solidFill>
                          <a:latin typeface="Montserrat"/>
                        </a:defRPr>
                      </a:pPr>
                      <a:r>
                        <a:t>2,417,540</a:t>
                      </a:r>
                    </a:p>
                  </a:txBody>
                  <a:tcPr marL="0" marR="0" marT="0" marB="0">
                    <a:solidFill>
                      <a:srgbClr val="9F2241"/>
                    </a:solidFill>
                  </a:tcPr>
                </a:tc>
                <a:tc>
                  <a:txBody>
                    <a:bodyPr/>
                    <a:lstStyle/>
                    <a:p>
                      <a:pPr algn="ctr">
                        <a:defRPr sz="1000" b="1">
                          <a:solidFill>
                            <a:srgbClr val="FFFFFF"/>
                          </a:solidFill>
                          <a:latin typeface="Montserrat"/>
                        </a:defRPr>
                      </a:pPr>
                      <a:r>
                        <a:t>38.9%</a:t>
                      </a:r>
                    </a:p>
                  </a:txBody>
                  <a:tcPr marL="0" marR="0" marT="0" marB="0">
                    <a:solidFill>
                      <a:srgbClr val="9F2241"/>
                    </a:solidFill>
                  </a:tcPr>
                </a:tc>
              </a:tr>
            </a:tbl>
          </a:graphicData>
        </a:graphic>
      </p:graphicFrame>
      <p:graphicFrame>
        <p:nvGraphicFramePr>
          <p:cNvPr id="8" name="Chart 7"/>
          <p:cNvGraphicFramePr>
            <a:graphicFrameLocks noGrp="1"/>
          </p:cNvGraphicFramePr>
          <p:nvPr/>
        </p:nvGraphicFramePr>
        <p:xfrm>
          <a:off x="4780800" y="4528800"/>
          <a:ext cx="1800000" cy="1800000"/>
        </p:xfrm>
        <a:graphic>
          <a:graphicData uri="http://schemas.openxmlformats.org/drawingml/2006/chart">
            <c:chart xmlns:c="http://schemas.openxmlformats.org/drawingml/2006/chart" r:id="rId2"/>
          </a:graphicData>
        </a:graphic>
      </p:graphicFrame>
      <p:sp>
        <p:nvSpPr>
          <p:cNvPr id="9" name="TextBox 8"/>
          <p:cNvSpPr txBox="1"/>
          <p:nvPr/>
        </p:nvSpPr>
        <p:spPr>
          <a:xfrm>
            <a:off x="4780800" y="5248800"/>
            <a:ext cx="1800000" cy="360000"/>
          </a:xfrm>
          <a:prstGeom prst="rect">
            <a:avLst/>
          </a:prstGeom>
          <a:noFill/>
        </p:spPr>
        <p:txBody>
          <a:bodyPr wrap="none">
            <a:spAutoFit/>
          </a:bodyPr>
          <a:lstStyle/>
          <a:p>
            <a:pPr algn="ctr"/>
            <a:r>
              <a:rPr sz="2400" b="1">
                <a:solidFill>
                  <a:srgbClr val="9F2241"/>
                </a:solidFill>
                <a:latin typeface="Montserrat"/>
              </a:rPr>
              <a:t>38.9%</a:t>
            </a:r>
          </a:p>
        </p:txBody>
      </p:sp>
      <p:sp>
        <p:nvSpPr>
          <p:cNvPr id="10" name="TextBox 9"/>
          <p:cNvSpPr txBox="1"/>
          <p:nvPr/>
        </p:nvSpPr>
        <p:spPr>
          <a:xfrm>
            <a:off x="4780800" y="61488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1" name="TextBox 10"/>
          <p:cNvSpPr txBox="1"/>
          <p:nvPr/>
        </p:nvSpPr>
        <p:spPr>
          <a:xfrm>
            <a:off x="730799" y="4528800"/>
            <a:ext cx="2854800" cy="1198800"/>
          </a:xfrm>
          <a:prstGeom prst="rect">
            <a:avLst/>
          </a:prstGeom>
          <a:noFill/>
        </p:spPr>
        <p:txBody>
          <a:bodyPr wrap="square">
            <a:spAutoFit/>
          </a:bodyPr>
          <a:lstStyle/>
          <a:p>
            <a:pPr algn="ctr">
              <a:defRPr sz="3600" b="1">
                <a:solidFill>
                  <a:srgbClr val="9F2241"/>
                </a:solidFill>
                <a:latin typeface="Montserrat"/>
              </a:defRPr>
            </a:pPr>
            <a:r>
              <a:t>2,417,540 </a:t>
            </a:r>
            <a:br/>
            <a:r>
              <a:t>Meta 2026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516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260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General de Subzona C/MF 33</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13</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Zona 11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Hemodinamia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Patología Clínica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Servicios de Sangre</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4233600"/>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Zona 71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4233600"/>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Zona 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6897600"/>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Zona C/MF 24</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13</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6897600"/>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General de Zona C/MF 28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516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260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General de Zona C/MF 32</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de Zona C/MF 35</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18</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4485599"/>
          <a:ext cx="3456000" cy="324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4">
                  <a:txBody>
                    <a:bodyPr/>
                    <a:lstStyle/>
                    <a:p>
                      <a:pPr algn="ctr">
                        <a:defRPr sz="800" b="1">
                          <a:solidFill>
                            <a:srgbClr val="000000"/>
                          </a:solidFill>
                          <a:latin typeface="Montserrat"/>
                        </a:defRPr>
                      </a:pPr>
                      <a:r>
                        <a:t>Hospital General de Zona C/MF 36</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Anatomía Patológica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7</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Servicios de Sangre</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25</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4485599"/>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General de Zona C/MF 50</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8409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Rural Chicontepec</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8409599"/>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Rural Coscomatepec</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30</a:t>
                      </a:r>
                    </a:p>
                  </a:txBody>
                  <a:tcPr>
                    <a:solidFill>
                      <a:srgbClr val="D3E9E7"/>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516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260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Rural Jáltipan</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22</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Rural Papantla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10</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3981600"/>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Rural Plan Arroyos</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9816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Rural Zongolica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8</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5889599"/>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de Especialidades 14 (Parte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Calidad de la Atención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Cardiotorácica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Coloproctología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Gastroenterología y Nutrición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Hemodinamia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Infectología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Infectología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Pediátrico en Estado Crítico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bl>
          </a:graphicData>
        </a:graphic>
      </p:graphicFrame>
      <p:graphicFrame>
        <p:nvGraphicFramePr>
          <p:cNvPr id="12" name="Table 11"/>
          <p:cNvGraphicFramePr>
            <a:graphicFrameLocks noGrp="1"/>
          </p:cNvGraphicFramePr>
          <p:nvPr/>
        </p:nvGraphicFramePr>
        <p:xfrm>
          <a:off x="3960000" y="5889599"/>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de Especialidades 14 (Parte 2)</a:t>
                      </a:r>
                    </a:p>
                  </a:txBody>
                  <a:tcPr anchor="ctr">
                    <a:no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Neumología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Oncología Médica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Reumatología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Servicios de Sangre</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30</a:t>
                      </a:r>
                    </a:p>
                  </a:txBody>
                  <a:tcPr>
                    <a:solidFill>
                      <a:srgbClr val="D3E9E7"/>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516 total especialistas contratados en el draft 2026</a:t>
            </a:r>
          </a:p>
        </p:txBody>
      </p:sp>
      <p:sp>
        <p:nvSpPr>
          <p:cNvPr id="4" name="TextBox 3"/>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5 Sede delegacional</a:t>
            </a:r>
          </a:p>
        </p:txBody>
      </p:sp>
      <p:cxnSp>
        <p:nvCxnSpPr>
          <p:cNvPr id="5" name="Connector 4"/>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360000" y="1569600"/>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Sede Delegación</a:t>
                      </a:r>
                    </a:p>
                  </a:txBody>
                  <a:tcPr anchor="ctr">
                    <a:no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sp>
        <p:nvSpPr>
          <p:cNvPr id="7" name="TextBox 6"/>
          <p:cNvSpPr txBox="1"/>
          <p:nvPr/>
        </p:nvSpPr>
        <p:spPr>
          <a:xfrm>
            <a:off x="360000" y="3153600"/>
            <a:ext cx="6840000" cy="360000"/>
          </a:xfrm>
          <a:prstGeom prst="rect">
            <a:avLst/>
          </a:prstGeom>
          <a:noFill/>
        </p:spPr>
        <p:txBody>
          <a:bodyPr wrap="none" anchor="ctr">
            <a:spAutoFit/>
          </a:bodyPr>
          <a:lstStyle/>
          <a:p>
            <a:pPr algn="l">
              <a:defRPr sz="2000" b="1">
                <a:solidFill>
                  <a:srgbClr val="BC955C"/>
                </a:solidFill>
                <a:latin typeface="Montserrat"/>
              </a:defRPr>
            </a:pPr>
            <a:r>
              <a:t>90 en Unidades de Medicina Familiar</a:t>
            </a:r>
          </a:p>
        </p:txBody>
      </p:sp>
      <p:cxnSp>
        <p:nvCxnSpPr>
          <p:cNvPr id="8" name="Connector 7"/>
          <p:cNvCxnSpPr/>
          <p:nvPr/>
        </p:nvCxnSpPr>
        <p:spPr>
          <a:xfrm>
            <a:off x="360000" y="3549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360000" y="3621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621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12</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4521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15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Oncología Médica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4521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5673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23</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5673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6573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31</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6" name="Table 15"/>
          <p:cNvGraphicFramePr>
            <a:graphicFrameLocks noGrp="1"/>
          </p:cNvGraphicFramePr>
          <p:nvPr/>
        </p:nvGraphicFramePr>
        <p:xfrm>
          <a:off x="3960000" y="6573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7" name="Table 16"/>
          <p:cNvGraphicFramePr>
            <a:graphicFrameLocks noGrp="1"/>
          </p:cNvGraphicFramePr>
          <p:nvPr/>
        </p:nvGraphicFramePr>
        <p:xfrm>
          <a:off x="360000" y="7473596"/>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34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18" name="Table 17"/>
          <p:cNvGraphicFramePr>
            <a:graphicFrameLocks noGrp="1"/>
          </p:cNvGraphicFramePr>
          <p:nvPr/>
        </p:nvGraphicFramePr>
        <p:xfrm>
          <a:off x="3960000" y="7473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9" name="Table 18"/>
          <p:cNvGraphicFramePr>
            <a:graphicFrameLocks noGrp="1"/>
          </p:cNvGraphicFramePr>
          <p:nvPr/>
        </p:nvGraphicFramePr>
        <p:xfrm>
          <a:off x="360000" y="8625595"/>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38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20" name="Table 19"/>
          <p:cNvGraphicFramePr>
            <a:graphicFrameLocks noGrp="1"/>
          </p:cNvGraphicFramePr>
          <p:nvPr/>
        </p:nvGraphicFramePr>
        <p:xfrm>
          <a:off x="3960000" y="8625595"/>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39</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516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90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42</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44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2721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46</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2721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47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3873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48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3873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49</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5025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51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5025597"/>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52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6429597"/>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53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6" name="Table 15"/>
          <p:cNvGraphicFramePr>
            <a:graphicFrameLocks noGrp="1"/>
          </p:cNvGraphicFramePr>
          <p:nvPr/>
        </p:nvGraphicFramePr>
        <p:xfrm>
          <a:off x="3960000" y="6429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55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7" name="Table 16"/>
          <p:cNvGraphicFramePr>
            <a:graphicFrameLocks noGrp="1"/>
          </p:cNvGraphicFramePr>
          <p:nvPr/>
        </p:nvGraphicFramePr>
        <p:xfrm>
          <a:off x="360000" y="7581596"/>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57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8" name="Table 17"/>
          <p:cNvGraphicFramePr>
            <a:graphicFrameLocks noGrp="1"/>
          </p:cNvGraphicFramePr>
          <p:nvPr/>
        </p:nvGraphicFramePr>
        <p:xfrm>
          <a:off x="3960000" y="7581596"/>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59</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516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90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61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Unidad de Medicina Familiar 63</a:t>
                      </a:r>
                    </a:p>
                  </a:txBody>
                  <a:tcPr anchor="ctr">
                    <a:no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3225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65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225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66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4377598"/>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68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4377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70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5781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73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5781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74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6933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C/hosp 39</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6" name="Table 15"/>
          <p:cNvGraphicFramePr>
            <a:graphicFrameLocks noGrp="1"/>
          </p:cNvGraphicFramePr>
          <p:nvPr/>
        </p:nvGraphicFramePr>
        <p:xfrm>
          <a:off x="3960000" y="6933597"/>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C/hosp 43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7" name="Table 16"/>
          <p:cNvGraphicFramePr>
            <a:graphicFrameLocks noGrp="1"/>
          </p:cNvGraphicFramePr>
          <p:nvPr/>
        </p:nvGraphicFramePr>
        <p:xfrm>
          <a:off x="360000" y="8085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C/hosp 44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8" name="Table 17"/>
          <p:cNvGraphicFramePr>
            <a:graphicFrameLocks noGrp="1"/>
          </p:cNvGraphicFramePr>
          <p:nvPr/>
        </p:nvGraphicFramePr>
        <p:xfrm>
          <a:off x="3960000" y="8085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C/hosp 46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516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90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C/hosp 47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C/hosp 50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2721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C/hosp 51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2721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C/hosp 56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
        <p:nvSpPr>
          <p:cNvPr id="11" name="TextBox 10"/>
          <p:cNvSpPr txBox="1"/>
          <p:nvPr/>
        </p:nvSpPr>
        <p:spPr>
          <a:xfrm>
            <a:off x="360000" y="4053598"/>
            <a:ext cx="6840000" cy="360000"/>
          </a:xfrm>
          <a:prstGeom prst="rect">
            <a:avLst/>
          </a:prstGeom>
          <a:noFill/>
        </p:spPr>
        <p:txBody>
          <a:bodyPr wrap="none" anchor="ctr">
            <a:spAutoFit/>
          </a:bodyPr>
          <a:lstStyle/>
          <a:p>
            <a:pPr algn="l">
              <a:defRPr sz="2000" b="1">
                <a:solidFill>
                  <a:srgbClr val="BC955C"/>
                </a:solidFill>
                <a:latin typeface="Montserrat"/>
              </a:defRPr>
            </a:pPr>
            <a:r>
              <a:t>161 especialistas (sustitutos)</a:t>
            </a:r>
          </a:p>
        </p:txBody>
      </p:sp>
      <p:cxnSp>
        <p:nvCxnSpPr>
          <p:cNvPr id="12" name="Connector 11"/>
          <p:cNvCxnSpPr/>
          <p:nvPr/>
        </p:nvCxnSpPr>
        <p:spPr>
          <a:xfrm>
            <a:off x="360000" y="4449598"/>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360000" y="4521598"/>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1)</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Anatomía Patológica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30</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Audiología Otoneurología y Foniatría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10</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Oncológica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9</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9</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bl>
          </a:graphicData>
        </a:graphic>
      </p:graphicFrame>
      <p:graphicFrame>
        <p:nvGraphicFramePr>
          <p:cNvPr id="14" name="Table 13"/>
          <p:cNvGraphicFramePr>
            <a:graphicFrameLocks noGrp="1"/>
          </p:cNvGraphicFramePr>
          <p:nvPr/>
        </p:nvGraphicFramePr>
        <p:xfrm>
          <a:off x="3960000" y="4521598"/>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2)</a:t>
                      </a:r>
                    </a:p>
                  </a:txBody>
                  <a:tcPr anchor="ctr">
                    <a:noFill/>
                  </a:tcPr>
                </a:tc>
                <a:tc>
                  <a:txBody>
                    <a:bodyPr/>
                    <a:lstStyle/>
                    <a:p>
                      <a:pPr algn="ctr">
                        <a:defRPr sz="800" b="0">
                          <a:solidFill>
                            <a:srgbClr val="000000"/>
                          </a:solidFill>
                          <a:latin typeface="Montserrat"/>
                        </a:defRPr>
                      </a:pPr>
                      <a:r>
                        <a:t>Medicina Materno Fetal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Nefrología Pediátrica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Neonatología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Radioncología Directa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Reumatología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161</a:t>
                      </a:r>
                    </a:p>
                  </a:txBody>
                  <a:tcPr>
                    <a:solidFill>
                      <a:srgbClr val="D3E9E7"/>
                    </a:solidFill>
                  </a:tcPr>
                </a:tc>
              </a:tr>
            </a:tbl>
          </a:graphicData>
        </a:graphic>
      </p:graphicFrame>
      <p:sp>
        <p:nvSpPr>
          <p:cNvPr id="15" name="TextBox 14"/>
          <p:cNvSpPr txBox="1"/>
          <p:nvPr/>
        </p:nvSpPr>
        <p:spPr>
          <a:xfrm>
            <a:off x="270000" y="9597597"/>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75050">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75050">
                <a:tc>
                  <a:txBody>
                    <a:bodyPr/>
                    <a:lstStyle/>
                    <a:p>
                      <a:pPr algn="l">
                        <a:defRPr sz="1100" b="0">
                          <a:solidFill>
                            <a:srgbClr val="000000"/>
                          </a:solidFill>
                          <a:latin typeface="Montserrat"/>
                        </a:defRPr>
                      </a:pPr>
                      <a:r>
                        <a:t>Hematología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94.9%</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Neumología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95.3%</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Medicina del Enfermo en Estado Crítico</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95.7%</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Hemodinamia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96.1%</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Cirugía Cardiotorácica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96.5%</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Nefrología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96.8%</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Gastroenterología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97.0%</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Coloproctología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97.2%</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Cirugía Oncológica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97.4%</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Calidad de la Atención Clínica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97.6%</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Angiología y Cirugía Vascular</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97.8%</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Anestesiología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98.0%</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Gastroenterología y Nutrición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98.2%</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Infectología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98.4%</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Medicina del Enfermo Pediátrico en Estado Crítico</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98.6%</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Medicina Materno Fetal</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98.8%</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Infectología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99.0%</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Neonatología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99.2%</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Neumología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99.4%</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Radioncología Directa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99.6%</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Patología Clínica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99.8%</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Psiquiatría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100.0%</a:t>
                      </a:r>
                    </a:p>
                  </a:txBody>
                  <a:tcPr anchor="ctr" marL="45720" marR="45720" marT="45720" marB="45720">
                    <a:solidFill>
                      <a:srgbClr val="FFFFFF"/>
                    </a:solidFill>
                  </a:tcPr>
                </a:tc>
              </a:tr>
              <a:tr h="175050">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516</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397</TotalTime>
  <Words>414</Words>
  <Application>Microsoft Office PowerPoint</Application>
  <PresentationFormat>Personalizado</PresentationFormat>
  <Paragraphs>108</Paragraphs>
  <Slides>25</Slides>
  <Notes>22</Notes>
  <HiddenSlides>0</HiddenSlides>
  <MMClips>0</MMClips>
  <ScaleCrop>false</ScaleCrop>
  <HeadingPairs>
    <vt:vector size="4" baseType="variant">
      <vt:variant>
        <vt:lpstr>Tema</vt:lpstr>
      </vt:variant>
      <vt:variant>
        <vt:i4>1</vt:i4>
      </vt:variant>
      <vt:variant>
        <vt:lpstr>Títulos de diapositiva</vt:lpstr>
      </vt:variant>
      <vt:variant>
        <vt:i4>25</vt:i4>
      </vt:variant>
    </vt:vector>
  </HeadingPairs>
  <TitlesOfParts>
    <vt:vector size="26"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114</cp:revision>
  <dcterms:modified xsi:type="dcterms:W3CDTF">2026-05-13T00:06:32Z</dcterms:modified>
</cp:coreProperties>
</file>