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DC5E8-9301-65C9-02BF-14600C77F70C}" v="290" dt="2026-05-12T21:49:28.82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0:46.898" v="0"/>
      <pc:docMkLst>
        <pc:docMk/>
      </pc:docMkLst>
      <pc:sldChg chg="add">
        <pc:chgData name="Carlos Esponda Rosales" userId="08a2b2cc-6d12-4dea-90fe-c484bece8186" providerId="ADAL" clId="{6846A1DD-3EC1-5A12-B3C5-9C410579EE4F}" dt="2026-05-08T17:30:46.898" v="0"/>
        <pc:sldMkLst>
          <pc:docMk/>
          <pc:sldMk cId="3760051836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6:46:10.941" v="107" actId="1036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2:57:39.098" v="88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2:57:39.098" v="88" actId="1076"/>
          <ac:spMkLst>
            <pc:docMk/>
            <pc:sldMk cId="0" sldId="260"/>
            <ac:spMk id="9" creationId="{5E604CEE-4A3B-6570-AEF5-C6416554CF4C}"/>
          </ac:spMkLst>
        </pc:spChg>
        <pc:graphicFrameChg chg="add mod">
          <ac:chgData name="Edgar Rosales Ortega" userId="d1d54fc2-1570-4978-babc-e22e1526833f" providerId="ADAL" clId="{66BE7C30-C669-4152-AC74-10076FC0590C}" dt="2026-04-30T22:57:26.804" v="86" actId="1076"/>
          <ac:graphicFrameMkLst>
            <pc:docMk/>
            <pc:sldMk cId="0" sldId="260"/>
            <ac:graphicFrameMk id="8" creationId="{EB4DDCCC-4B95-8BE9-FDCF-38C03EE8909A}"/>
          </ac:graphicFrameMkLst>
        </pc:graphicFrameChg>
        <pc:picChg chg="add mod">
          <ac:chgData name="Edgar Rosales Ortega" userId="d1d54fc2-1570-4978-babc-e22e1526833f" providerId="ADAL" clId="{66BE7C30-C669-4152-AC74-10076FC0590C}" dt="2026-04-30T22:57:39.098" v="88" actId="1076"/>
          <ac:picMkLst>
            <pc:docMk/>
            <pc:sldMk cId="0" sldId="260"/>
            <ac:picMk id="6" creationId="{E60D6C16-9C89-F89F-2CDB-90BB782EF3D4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47:41.568" v="89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5" creationId="{C2E4B35A-8FE3-BD67-ECE6-9BCBEE1C6382}"/>
          </ac:spMkLst>
        </pc:spChg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7" creationId="{BE74383B-E7CD-43CC-88FE-AAAB24F754AA}"/>
          </ac:spMkLst>
        </pc:spChg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8" creationId="{7CB20B2C-CB79-AB6D-97CF-63C0C4B975B9}"/>
          </ac:spMkLst>
        </pc:spChg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9" creationId="{57E603F4-544A-6563-13D1-F86AC2F43A61}"/>
          </ac:spMkLst>
        </pc:spChg>
        <pc:grpChg chg="add mod">
          <ac:chgData name="Edgar Rosales Ortega" userId="d1d54fc2-1570-4978-babc-e22e1526833f" providerId="ADAL" clId="{66BE7C30-C669-4152-AC74-10076FC0590C}" dt="2026-05-05T17:47:41.568" v="89" actId="164"/>
          <ac:grpSpMkLst>
            <pc:docMk/>
            <pc:sldMk cId="0" sldId="261"/>
            <ac:grpSpMk id="2" creationId="{57421A28-9A7E-957F-B18A-821DA9768172}"/>
          </ac:grpSpMkLst>
        </pc:grpChg>
        <pc:picChg chg="add mod">
          <ac:chgData name="Edgar Rosales Ortega" userId="d1d54fc2-1570-4978-babc-e22e1526833f" providerId="ADAL" clId="{66BE7C30-C669-4152-AC74-10076FC0590C}" dt="2026-05-05T17:47:41.568" v="89" actId="164"/>
          <ac:picMkLst>
            <pc:docMk/>
            <pc:sldMk cId="0" sldId="261"/>
            <ac:picMk id="6" creationId="{C0FE22F2-D00F-9474-556B-52B246737CE9}"/>
          </ac:picMkLst>
        </pc:picChg>
      </pc:sldChg>
      <pc:sldChg chg="delSp modSp mod">
        <pc:chgData name="Edgar Rosales Ortega" userId="d1d54fc2-1570-4978-babc-e22e1526833f" providerId="ADAL" clId="{66BE7C30-C669-4152-AC74-10076FC0590C}" dt="2026-05-07T16:43:56.040" v="9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44:06.368" v="96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3:19.418" v="8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8:45.830" v="6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6:44:18.954" v="97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6:44:18.954" v="97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48:06.448" v="91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3:31.254" v="82" actId="1076"/>
          <ac:spMkLst>
            <pc:docMk/>
            <pc:sldMk cId="0" sldId="279"/>
            <ac:spMk id="2" creationId="{521153B7-2353-05F4-2DF4-CBB919C8CF00}"/>
          </ac:spMkLst>
        </pc:spChg>
        <pc:spChg chg="mod">
          <ac:chgData name="Edgar Rosales Ortega" userId="d1d54fc2-1570-4978-babc-e22e1526833f" providerId="ADAL" clId="{66BE7C30-C669-4152-AC74-10076FC0590C}" dt="2026-05-05T17:48:06.448" v="91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3:16.609" v="7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8:51.731" v="66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47:49.962" v="90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46:10.941" v="107" actId="1036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46:10.941" v="107" actId="1036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3:00.839" v="7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8:56.181" v="72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45:44.865" v="99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45:44.865" v="99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DC9DC5E8-9301-65C9-02BF-14600C77F70C}"/>
    <pc:docChg chg="modSld">
      <pc:chgData name="Gerardo Jahir Lara Garcia" userId="S::gerardo.larag@imss.gob.mx::84d5cd65-4601-4e92-b448-a9da4809e012" providerId="AD" clId="Web-{DC9DC5E8-9301-65C9-02BF-14600C77F70C}" dt="2026-05-12T21:49:28.823" v="168" actId="1076"/>
      <pc:docMkLst>
        <pc:docMk/>
      </pc:docMkLst>
      <pc:sldChg chg="addSp delSp modSp">
        <pc:chgData name="Gerardo Jahir Lara Garcia" userId="S::gerardo.larag@imss.gob.mx::84d5cd65-4601-4e92-b448-a9da4809e012" providerId="AD" clId="Web-{DC9DC5E8-9301-65C9-02BF-14600C77F70C}" dt="2026-05-12T21:46:38.583" v="73" actId="1076"/>
        <pc:sldMkLst>
          <pc:docMk/>
          <pc:sldMk cId="364733940" sldId="284"/>
        </pc:sldMkLst>
        <pc:spChg chg="add del mod">
          <ac:chgData name="Gerardo Jahir Lara Garcia" userId="S::gerardo.larag@imss.gob.mx::84d5cd65-4601-4e92-b448-a9da4809e012" providerId="AD" clId="Web-{DC9DC5E8-9301-65C9-02BF-14600C77F70C}" dt="2026-05-12T21:44:34.345" v="19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5:00.736" v="28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DC9DC5E8-9301-65C9-02BF-14600C77F70C}" dt="2026-05-12T21:45:31.034" v="29"/>
          <ac:spMkLst>
            <pc:docMk/>
            <pc:sldMk cId="364733940" sldId="284"/>
            <ac:spMk id="9" creationId="{0C08FC0F-9DF2-D636-E638-CE92F3DEC115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6:38.583" v="73" actId="1076"/>
          <ac:spMkLst>
            <pc:docMk/>
            <pc:sldMk cId="364733940" sldId="284"/>
            <ac:spMk id="11" creationId="{31F06996-6695-0609-49FC-3D48462AAA79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5:52.254" v="49" actId="20577"/>
          <ac:spMkLst>
            <pc:docMk/>
            <pc:sldMk cId="364733940" sldId="284"/>
            <ac:spMk id="12" creationId="{E1B580E5-6D56-5F69-A504-B7466A9C0007}"/>
          </ac:spMkLst>
        </pc:spChg>
        <pc:picChg chg="add">
          <ac:chgData name="Gerardo Jahir Lara Garcia" userId="S::gerardo.larag@imss.gob.mx::84d5cd65-4601-4e92-b448-a9da4809e012" providerId="AD" clId="Web-{DC9DC5E8-9301-65C9-02BF-14600C77F70C}" dt="2026-05-12T21:04:05.710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DC9DC5E8-9301-65C9-02BF-14600C77F70C}" dt="2026-05-12T21:45:31.034" v="30"/>
          <ac:picMkLst>
            <pc:docMk/>
            <pc:sldMk cId="364733940" sldId="284"/>
            <ac:picMk id="8" creationId="{9822E17B-1489-11B0-F897-EB691741AD05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6:38.568" v="72" actId="1076"/>
          <ac:picMkLst>
            <pc:docMk/>
            <pc:sldMk cId="364733940" sldId="284"/>
            <ac:picMk id="10" creationId="{93A97F7C-8571-8E37-50FF-4EEB5D75E748}"/>
          </ac:picMkLst>
        </pc:picChg>
      </pc:sldChg>
      <pc:sldChg chg="addSp modSp">
        <pc:chgData name="Gerardo Jahir Lara Garcia" userId="S::gerardo.larag@imss.gob.mx::84d5cd65-4601-4e92-b448-a9da4809e012" providerId="AD" clId="Web-{DC9DC5E8-9301-65C9-02BF-14600C77F70C}" dt="2026-05-12T21:49:28.823" v="168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DC9DC5E8-9301-65C9-02BF-14600C77F70C}" dt="2026-05-12T21:49:17.682" v="15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698" v="157" actId="1076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713" v="159" actId="1076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729" v="16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744" v="162" actId="1076"/>
          <ac:spMkLst>
            <pc:docMk/>
            <pc:sldMk cId="3240565764" sldId="297"/>
            <ac:spMk id="12" creationId="{CA535D92-E281-11D7-D7CB-F8BAB9F176B8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28.807" v="166" actId="1076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28.823" v="168" actId="1076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DC9DC5E8-9301-65C9-02BF-14600C77F70C}" dt="2026-05-12T21:49:17.698" v="156" actId="1076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9:17.713" v="158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9:17.729" v="161" actId="1076"/>
          <ac:picMkLst>
            <pc:docMk/>
            <pc:sldMk cId="3240565764" sldId="297"/>
            <ac:picMk id="11" creationId="{F7B31A16-FD1A-331A-6F76-259EB810FD76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9:28.807" v="167" actId="1076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388951.0</c:v>
                </c:pt>
                <c:pt idx="1">
                  <c:v>135277.0</c:v>
                </c:pt>
                <c:pt idx="2">
                  <c:v>114689.0</c:v>
                </c:pt>
                <c:pt idx="3">
                  <c:v>279945.0</c:v>
                </c:pt>
                <c:pt idx="4">
                  <c:v>43152.0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35.620201716092126</c:v>
                </c:pt>
                <c:pt idx="1">
                  <c:v>64.37979828390787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12.3028180012</c:v>
                </c:pt>
                <c:pt idx="1">
                  <c:v>87.6971819988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34.05221870975296</c:v>
                </c:pt>
                <c:pt idx="1">
                  <c:v>65.94778129024704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30.045871559633024</c:v>
                </c:pt>
                <c:pt idx="1">
                  <c:v>69.95412844036697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77</c:v>
                </c:pt>
                <c:pt idx="2">
                  <c:v>48</c:v>
                </c:pt>
                <c:pt idx="3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Industria de la Construcción</c:v>
                </c:pt>
                <c:pt idx="3">
                  <c:v>Comercio</c:v>
                </c:pt>
                <c:pt idx="4">
                  <c:v>Industrias Extractivas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Agricultura, Ganaderia, Silvicultura, Pesca y Caza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23879</c:v>
                </c:pt>
                <c:pt idx="1">
                  <c:v>12725</c:v>
                </c:pt>
                <c:pt idx="2">
                  <c:v>20346</c:v>
                </c:pt>
                <c:pt idx="3">
                  <c:v>24102</c:v>
                </c:pt>
                <c:pt idx="4">
                  <c:v>1726</c:v>
                </c:pt>
                <c:pt idx="5">
                  <c:v>25558</c:v>
                </c:pt>
                <c:pt idx="6">
                  <c:v>19498</c:v>
                </c:pt>
                <c:pt idx="7">
                  <c:v>4490</c:v>
                </c:pt>
                <c:pt idx="8">
                  <c:v>1371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Industria de la Construcción</c:v>
                </c:pt>
                <c:pt idx="3">
                  <c:v>Comercio</c:v>
                </c:pt>
                <c:pt idx="4">
                  <c:v>Industrias Extractivas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Agricultura, Ganaderia, Silvicultura, Pesca y Caza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18237</c:v>
                </c:pt>
                <c:pt idx="1">
                  <c:v>11776</c:v>
                </c:pt>
                <c:pt idx="2">
                  <c:v>19359</c:v>
                </c:pt>
                <c:pt idx="3">
                  <c:v>23744</c:v>
                </c:pt>
                <c:pt idx="4">
                  <c:v>1703</c:v>
                </c:pt>
                <c:pt idx="5">
                  <c:v>25927</c:v>
                </c:pt>
                <c:pt idx="6">
                  <c:v>20740</c:v>
                </c:pt>
                <c:pt idx="7">
                  <c:v>4851</c:v>
                </c:pt>
                <c:pt idx="8">
                  <c:v>1545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122435</c:v>
                </c:pt>
                <c:pt idx="1">
                  <c:v>129443</c:v>
                </c:pt>
                <c:pt idx="2">
                  <c:v>131649</c:v>
                </c:pt>
                <c:pt idx="3">
                  <c:v>128729</c:v>
                </c:pt>
                <c:pt idx="4">
                  <c:v>133270</c:v>
                </c:pt>
                <c:pt idx="5">
                  <c:v>140182</c:v>
                </c:pt>
                <c:pt idx="6">
                  <c:v>141221</c:v>
                </c:pt>
                <c:pt idx="7">
                  <c:v>133695</c:v>
                </c:pt>
                <c:pt idx="8">
                  <c:v>127882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Campeche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_Campe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54%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388,951</a:t>
            </a:r>
            <a:br/>
            <a:r>
              <a:t>40%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135,277</a:t>
            </a:r>
            <a:br/>
            <a:r>
              <a:t>14%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114,689</a:t>
            </a:r>
            <a:br/>
            <a:r>
              <a:t>12%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279,945</a:t>
            </a:r>
            <a:br/>
            <a:r>
              <a:t>29%</a:t>
            </a:r>
          </a:p>
        </p:txBody>
      </p:sp>
      <p:pic>
        <p:nvPicPr>
          <p:cNvPr id="128" name="Picture 127" descr="0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43,152</a:t>
            </a:r>
            <a:br/>
            <a:r>
              <a:t>4%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962,014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363,191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388,951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212,047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233,656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127,882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56,688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65,148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151,144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155,295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-37%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1,265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4_ca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8 UMF, 1 UMFH y no incluye 6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9;g3d0b4d3c5c9_3_0">
            <a:extLst>
              <a:ext uri="{FF2B5EF4-FFF2-40B4-BE49-F238E27FC236}">
                <a16:creationId xmlns:a16="http://schemas.microsoft.com/office/drawing/2014/main" id="{E60D6C16-9C89-F89F-2CDB-90BB782EF3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97" b="37562"/>
          <a:stretch/>
        </p:blipFill>
        <p:spPr>
          <a:xfrm>
            <a:off x="288000" y="2314627"/>
            <a:ext cx="3007750" cy="2203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oogle Shape;91;g3d0b4d3c5c9_3_0">
            <a:extLst>
              <a:ext uri="{FF2B5EF4-FFF2-40B4-BE49-F238E27FC236}">
                <a16:creationId xmlns:a16="http://schemas.microsoft.com/office/drawing/2014/main" id="{EB4DDCCC-4B95-8BE9-FDCF-38C03EE89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0627488"/>
              </p:ext>
            </p:extLst>
          </p:nvPr>
        </p:nvGraphicFramePr>
        <p:xfrm>
          <a:off x="288000" y="1191600"/>
          <a:ext cx="68474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1, San Francisco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E604CEE-4A3B-6570-AEF5-C6416554CF4C}"/>
              </a:ext>
            </a:extLst>
          </p:cNvPr>
          <p:cNvSpPr txBox="1"/>
          <p:nvPr/>
        </p:nvSpPr>
        <p:spPr>
          <a:xfrm>
            <a:off x="3387054" y="2111940"/>
            <a:ext cx="4123034" cy="240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en 1954 con atención  ambulatoria, mediante consultas de medicina general y servicios preventivos. </a:t>
            </a:r>
          </a:p>
          <a:p>
            <a:pPr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1967 se inauguró el HGZ No. 1 “Dr. Abraham Azar Farah”, primer hospital del Instituto en la entidad, que contaba con una capacidad aproximada de 25 camas censables.</a:t>
            </a:r>
            <a:endParaRPr lang="es-ES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Los servicios iniciales, fueron medicina general, atención de urgencias, hospitalización básica, gineco‑obstetricia, quirófano, rayos X y laboratorio clínico.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am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15 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57421A28-9A7E-957F-B18A-821DA9768172}"/>
              </a:ext>
            </a:extLst>
          </p:cNvPr>
          <p:cNvGrpSpPr/>
          <p:nvPr/>
        </p:nvGrpSpPr>
        <p:grpSpPr>
          <a:xfrm>
            <a:off x="0" y="5692782"/>
            <a:ext cx="7772400" cy="3268427"/>
            <a:chOff x="0" y="5692782"/>
            <a:chExt cx="7772400" cy="3268427"/>
          </a:xfrm>
        </p:grpSpPr>
        <p:sp>
          <p:nvSpPr>
            <p:cNvPr id="5" name="Google Shape;97;g3d62d805bc0_1_54">
              <a:extLst>
                <a:ext uri="{FF2B5EF4-FFF2-40B4-BE49-F238E27FC236}">
                  <a16:creationId xmlns:a16="http://schemas.microsoft.com/office/drawing/2014/main" id="{C2E4B35A-8FE3-BD67-ECE6-9BCBEE1C6382}"/>
                </a:ext>
              </a:extLst>
            </p:cNvPr>
            <p:cNvSpPr txBox="1"/>
            <p:nvPr/>
          </p:nvSpPr>
          <p:spPr>
            <a:xfrm>
              <a:off x="2572199" y="8315357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1 Campeche</a:t>
              </a:r>
            </a:p>
            <a:p>
              <a:pPr marR="50800" lvl="0" algn="ctr">
                <a:lnSpc>
                  <a:spcPct val="111000"/>
                </a:lnSpc>
              </a:pPr>
              <a:r>
                <a:rPr lang="es-MX" b="1" dirty="0">
                  <a:solidFill>
                    <a:srgbClr val="595959"/>
                  </a:solidFill>
                  <a:latin typeface="Montserrat"/>
                </a:rPr>
                <a:t>$  29.6 </a:t>
              </a:r>
              <a:r>
                <a:rPr lang="es-MX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6" name="Google Shape;98;g3d62d805bc0_1_54">
              <a:extLst>
                <a:ext uri="{FF2B5EF4-FFF2-40B4-BE49-F238E27FC236}">
                  <a16:creationId xmlns:a16="http://schemas.microsoft.com/office/drawing/2014/main" id="{C0FE22F2-D00F-9474-556B-52B246737CE9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94923" y="6411113"/>
              <a:ext cx="2382553" cy="1576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5;g3d62d805bc0_1_54">
              <a:extLst>
                <a:ext uri="{FF2B5EF4-FFF2-40B4-BE49-F238E27FC236}">
                  <a16:creationId xmlns:a16="http://schemas.microsoft.com/office/drawing/2014/main" id="{BE74383B-E7CD-43CC-88FE-AAAB24F754AA}"/>
                </a:ext>
              </a:extLst>
            </p:cNvPr>
            <p:cNvSpPr txBox="1"/>
            <p:nvPr/>
          </p:nvSpPr>
          <p:spPr>
            <a:xfrm>
              <a:off x="0" y="5692782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83;g37263673d04_0_31">
              <a:extLst>
                <a:ext uri="{FF2B5EF4-FFF2-40B4-BE49-F238E27FC236}">
                  <a16:creationId xmlns:a16="http://schemas.microsoft.com/office/drawing/2014/main" id="{7CB20B2C-CB79-AB6D-97CF-63C0C4B975B9}"/>
                </a:ext>
              </a:extLst>
            </p:cNvPr>
            <p:cNvSpPr/>
            <p:nvPr/>
          </p:nvSpPr>
          <p:spPr>
            <a:xfrm>
              <a:off x="2694923" y="7934357"/>
              <a:ext cx="454200" cy="3810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 dirty="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" name="Google Shape;84;g37263673d04_0_31">
              <a:extLst>
                <a:ext uri="{FF2B5EF4-FFF2-40B4-BE49-F238E27FC236}">
                  <a16:creationId xmlns:a16="http://schemas.microsoft.com/office/drawing/2014/main" id="{57E603F4-544A-6563-13D1-F86AC2F43A61}"/>
                </a:ext>
              </a:extLst>
            </p:cNvPr>
            <p:cNvSpPr/>
            <p:nvPr/>
          </p:nvSpPr>
          <p:spPr>
            <a:xfrm>
              <a:off x="3149124" y="7934364"/>
              <a:ext cx="1928351" cy="3810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5006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876EAEB5-7AEA-F638-E629-06E9A8068C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774378C-F4AE-1A20-70CE-782293AA959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46FBCA9-CB46-46C4-A771-082401D1EBED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7437D4-A6C0-B8BB-88DC-46382915762E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6244E693-0956-49DD-C3A7-3EC3AEDC0137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ACE77E-5436-8986-4B27-57AB18E86166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133C5B-D04A-3AAF-0C51-BF9BD9D3CA65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+2,636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+115,642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+43,937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788,698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115,642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324,977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783,716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226,347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43,937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87,252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11,758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2,636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4,192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13,952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9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La Joya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Escarcega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32,070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Hopelchen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Palizada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66,676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16,892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28,395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79,716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319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403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493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319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79,716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4538BAEF-7D46-6E6F-CF90-65236CAF7054}"/>
              </a:ext>
            </a:extLst>
          </p:cNvPr>
          <p:cNvSpPr txBox="1"/>
          <p:nvPr/>
        </p:nvSpPr>
        <p:spPr>
          <a:xfrm>
            <a:off x="3923811" y="5366214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3 consultorios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4BD83F32-CF0A-2405-27C3-4C9FF1D89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63534"/>
              </p:ext>
            </p:extLst>
          </p:nvPr>
        </p:nvGraphicFramePr>
        <p:xfrm>
          <a:off x="4277404" y="6613932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HGSMF 1 Campeche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5 Unidades Médicas de tiempo completo (11 consultorios)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(60,654 consultas)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51200" y="1695600"/>
          <a:ext cx="7473599" cy="1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 Champotón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42,801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17,679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10 Santa Lucía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34,098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Ah Kim Pech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72,143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29,863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Cd. del Carmen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163,165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65,001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Campeche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129,697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53,998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493,009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53,999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200,639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481,000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006555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121,035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19,591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48,247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226,347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43,937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87,252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65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3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34.1%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2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65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256,230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31452424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11,758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4,192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13,952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29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0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30.0%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49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29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13,952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94 en Hospitales, 1 en sede, 4 en UMF y 43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320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Hecelchakan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320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Mamantel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55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90963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7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2C89D34-2E72-65BC-2392-915825C861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9751134"/>
              </p:ext>
            </p:extLst>
          </p:nvPr>
        </p:nvGraphicFramePr>
        <p:xfrm>
          <a:off x="287050" y="951445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Columna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493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9,254	 Personal de Salud: 2,724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+363.6%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+74.0%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408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+43.8%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+42.3%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669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+97.9%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-20.1%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3,252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232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979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364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4,827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(42,697)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(4,386)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(436)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(1,006)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(33,398)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(3,649)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(342)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(13,861)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(3,288)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(258)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(7,337)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(3,004)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(345)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(6,370)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(3,002)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Las demás enfermedades del ojo y sus anexos
(168)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53,790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397,173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30,392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496,166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02E7-EA6F-EC02-E6CF-A8600450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74,440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69,905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60,446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57,588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56,515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53,590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48,867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43,750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35,423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Loratadina, tableta o gragea (antihistamínico)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33,787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051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BC955C"/>
                </a:solidFill>
                <a:latin typeface="Montserrat"/>
              </a:rPr>
              <a:t>Salas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de Banco de Sangre y Laboratorio Clínico del HGZMF No. 1,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$72.8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HGZMF 4, Cd. del Carmen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HGZMF 1 ,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$169.7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3384000"/>
          <a:ext cx="52956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$250.5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Campeche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, San Francisco Campeche y HGZ No. 4 Ciudad del Cármen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HGZ No. 1 San Francisco Campeche y HGZ No. 4 Ciudad del Cármen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4 Ciudad del Cármen y UMAA 14 San Francisco Campeche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HGZ No. 1 San Francisco Campeche y HGZ No. 4 Cd. del Carmen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$300.8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34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8  piezas de equipo médico: 1 congelador horizontal de refrigerantes para vacunas, 5 refrigeradores para vacunas, 1 refrigerador congelador de 5.4 pies cúbicos, 1 tomógrafo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6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508.4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69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Rehabilitación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87693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de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Rescate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3A97F7C-8571-8E37-50FF-4EEB5D75E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4" y="3228669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31F06996-6695-0609-49FC-3D48462AAA79}"/>
              </a:ext>
            </a:extLst>
          </p:cNvPr>
          <p:cNvSpPr txBox="1"/>
          <p:nvPr/>
        </p:nvSpPr>
        <p:spPr>
          <a:xfrm>
            <a:off x="-1260276" y="3223932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15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</a:rPr>
              <a:t> </a:t>
            </a:r>
            <a:endParaRPr lang="en-US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</a:rPr>
              <a:t>-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canicos</a:t>
            </a:r>
            <a:endParaRPr lang="en-US" dirty="0" err="1"/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E1B580E5-6D56-5F69-A504-B7466A9C0007}"/>
              </a:ext>
            </a:extLst>
          </p:cNvPr>
          <p:cNvSpPr txBox="1"/>
          <p:nvPr/>
        </p:nvSpPr>
        <p:spPr>
          <a:xfrm>
            <a:off x="-1184911" y="288218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Gineco-Pediátrico 38 camas, Ciudad del Carmen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$877.6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2519997"/>
          <a:ext cx="53964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023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023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2 HR (HR Mamantel y HR Hecelchakán)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$101.7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023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023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con urgencias, laboratorio y rayos X de la UMF No.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13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024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$194.0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4211991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15 Equipos electromecánicos de aire acondicionado para 6 Unidades Hospitalarias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$149.1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1,220.7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San Francisco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integración de expediente para donación: 1 en San Francisco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0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645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Campeche, Ciudad del Carmen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 Campeche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4_ca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553325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432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Estado De Campeche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Industria Petrolera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Estado De Campeche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Industria Petrolera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Bme Subtec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4,503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Bme Subtec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del Carmen Cam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Distribuidora Moyel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del Carmen Cam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Distribuidora Moyel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1,593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-23.63%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-7.46%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-4.85%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+1.44%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+6.37%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+8.04%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+12.69%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102,302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22,347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127,882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21153B7-2353-05F4-2DF4-CBB919C8CF00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$702.90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$402.34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$702.90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$21,087.0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Municipal de Agua Potable y Alcantarillado de Campeche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$44.96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Tecnológico Superior de Champotón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Marinsa de México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$29.54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Promotora Petrolera Regiomontana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Desarrolladora de Proyectos Especializados Trada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$16.32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112,410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94,300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3,589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8,208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460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135,277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41,391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93,886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68,561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112,410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1,810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Hecelchakán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Mamantel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4917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5313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385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6465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en Unidades de Medicina Familiar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6861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93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93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43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0000" y="63936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314</Words>
  <Application>Microsoft Office PowerPoint</Application>
  <PresentationFormat>Personalizado</PresentationFormat>
  <Paragraphs>86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112</cp:revision>
  <dcterms:modified xsi:type="dcterms:W3CDTF">2026-05-12T21:49:32Z</dcterms:modified>
</cp:coreProperties>
</file>