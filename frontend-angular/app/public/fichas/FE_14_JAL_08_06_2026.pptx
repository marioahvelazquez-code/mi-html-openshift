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89" r:id="rId3"/>
    <p:sldId id="258" r:id="rId4"/>
    <p:sldId id="259" r:id="rId5"/>
    <p:sldId id="260" r:id="rId6"/>
    <p:sldId id="303" r:id="rId45"/>
    <p:sldId id="261" r:id="rId7"/>
    <p:sldId id="304" r:id="rId46"/>
    <p:sldId id="287" r:id="rId8"/>
    <p:sldId id="262" r:id="rId9"/>
    <p:sldId id="305" r:id="rId47"/>
    <p:sldId id="306" r:id="rId48"/>
    <p:sldId id="301" r:id="rId10"/>
    <p:sldId id="280" r:id="rId11"/>
    <p:sldId id="307" r:id="rId49"/>
    <p:sldId id="267" r:id="rId12"/>
    <p:sldId id="308" r:id="rId50"/>
    <p:sldId id="298" r:id="rId13"/>
    <p:sldId id="309" r:id="rId51"/>
    <p:sldId id="310" r:id="rId44"/>
    <p:sldId id="311" r:id="rId43"/>
    <p:sldId id="312" r:id="rId42"/>
    <p:sldId id="313" r:id="rId41"/>
    <p:sldId id="314" r:id="rId40"/>
    <p:sldId id="281" r:id="rId14"/>
    <p:sldId id="315" r:id="rId39"/>
    <p:sldId id="316" r:id="rId38"/>
    <p:sldId id="288" r:id="rId15"/>
    <p:sldId id="270" r:id="rId16"/>
    <p:sldId id="271" r:id="rId17"/>
    <p:sldId id="272" r:id="rId18"/>
    <p:sldId id="302" r:id="rId19"/>
    <p:sldId id="297" r:id="rId20"/>
    <p:sldId id="284" r:id="rId21"/>
    <p:sldId id="299" r:id="rId22"/>
    <p:sldId id="277" r:id="rId23"/>
    <p:sldId id="278" r:id="rId24"/>
    <p:sldId id="279" r:id="rId25"/>
  </p:sldIdLst>
  <p:sldSz cx="7772400" cy="10058400"/>
  <p:notesSz cx="6858000" cy="9144000"/>
  <p:embeddedFontLst>
    <p:embeddedFont>
      <p:font typeface="Montserrat" panose="00000500000000000000" pitchFamily="2" charset="0"/>
      <p:regular r:id="rId27"/>
      <p:bold r:id="rId28"/>
      <p:italic r:id="rId29"/>
      <p:boldItalic r:id="rId30"/>
    </p:embeddedFont>
    <p:embeddedFont>
      <p:font typeface="Noto Sans" panose="020B0502040504020204" pitchFamily="34" charset="0"/>
      <p:regular r:id="rId31"/>
      <p:bold r:id="rId32"/>
      <p:italic r:id="rId33"/>
      <p:boldItalic r:id="rId34"/>
    </p:embeddedFont>
    <p:embeddedFont>
      <p:font typeface="Noto Sans Black" panose="020B0604020202020204" charset="0"/>
      <p:bold r:id="rId35"/>
      <p:italic r:id="rId36"/>
      <p:boldItalic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168">
          <p15:clr>
            <a:srgbClr val="747775"/>
          </p15:clr>
        </p15:guide>
        <p15:guide id="2" pos="2448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2" roundtripDataSignature="AMtx7mgJIVYfpSqv7bc7uOu75F5IJOjB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CBE2D00-6E21-7FD0-3AD6-3D2E59EC2DB2}" v="8" dt="2026-05-12T22:48:41.049"/>
  </p1510:revLst>
</p1510:revInfo>
</file>

<file path=ppt/tableStyles.xml><?xml version="1.0" encoding="utf-8"?>
<a:tblStyleLst xmlns:a="http://schemas.openxmlformats.org/drawingml/2006/main" def="{4F9E4E24-231D-441B-AD27-9C975659944D}">
  <a:tblStyle styleId="{4F9E4E24-231D-441B-AD27-9C975659944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3C216991-1C96-4F05-AC00-DA6B9BB01C7E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065061A0-15E6-4003-B1DC-5A3A13AD39BA}" styleName="Table_2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/>
    <p:restoredTop sz="94759"/>
  </p:normalViewPr>
  <p:slideViewPr>
    <p:cSldViewPr snapToGrid="0">
      <p:cViewPr varScale="1">
        <p:scale>
          <a:sx n="78" d="100"/>
          <a:sy n="78" d="100"/>
        </p:scale>
        <p:origin x="3024" y="184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font" Target="fonts/font1.fntdata"/><Relationship Id="rId28" Type="http://schemas.openxmlformats.org/officeDocument/2006/relationships/font" Target="fonts/font2.fntdata"/><Relationship Id="rId29" Type="http://schemas.openxmlformats.org/officeDocument/2006/relationships/font" Target="fonts/font3.fntdata"/><Relationship Id="rId30" Type="http://schemas.openxmlformats.org/officeDocument/2006/relationships/font" Target="fonts/font4.fntdata"/><Relationship Id="rId31" Type="http://schemas.openxmlformats.org/officeDocument/2006/relationships/font" Target="fonts/font5.fntdata"/><Relationship Id="rId32" Type="http://schemas.openxmlformats.org/officeDocument/2006/relationships/font" Target="fonts/font6.fntdata"/><Relationship Id="rId33" Type="http://schemas.openxmlformats.org/officeDocument/2006/relationships/font" Target="fonts/font7.fntdata"/><Relationship Id="rId34" Type="http://schemas.openxmlformats.org/officeDocument/2006/relationships/font" Target="fonts/font8.fntdata"/><Relationship Id="rId35" Type="http://schemas.openxmlformats.org/officeDocument/2006/relationships/font" Target="fonts/font9.fntdata"/><Relationship Id="rId36" Type="http://schemas.openxmlformats.org/officeDocument/2006/relationships/font" Target="fonts/font10.fntdata"/><Relationship Id="rId37" Type="http://schemas.openxmlformats.org/officeDocument/2006/relationships/font" Target="fonts/font11.fntdata"/><Relationship Id="rId38" Type="http://schemas.openxmlformats.org/officeDocument/2006/relationships/slide" Target="slides/slide38.xml"/><Relationship Id="rId39" Type="http://schemas.openxmlformats.org/officeDocument/2006/relationships/slide" Target="slides/slide37.xml"/><Relationship Id="rId40" Type="http://schemas.openxmlformats.org/officeDocument/2006/relationships/slide" Target="slides/slide36.xml"/><Relationship Id="rId41" Type="http://schemas.openxmlformats.org/officeDocument/2006/relationships/slide" Target="slides/slide35.xml"/><Relationship Id="rId42" Type="http://schemas.openxmlformats.org/officeDocument/2006/relationships/slide" Target="slides/slide34.xml"/><Relationship Id="rId43" Type="http://schemas.openxmlformats.org/officeDocument/2006/relationships/slide" Target="slides/slide33.xml"/><Relationship Id="rId44" Type="http://schemas.openxmlformats.org/officeDocument/2006/relationships/slide" Target="slides/slide32.xml"/><Relationship Id="rId45" Type="http://schemas.openxmlformats.org/officeDocument/2006/relationships/slide" Target="slides/slide25.xml"/><Relationship Id="rId46" Type="http://schemas.openxmlformats.org/officeDocument/2006/relationships/slide" Target="slides/slide26.xml"/><Relationship Id="rId47" Type="http://schemas.openxmlformats.org/officeDocument/2006/relationships/slide" Target="slides/slide27.xml"/><Relationship Id="rId48" Type="http://schemas.openxmlformats.org/officeDocument/2006/relationships/slide" Target="slides/slide28.xml"/><Relationship Id="rId49" Type="http://schemas.openxmlformats.org/officeDocument/2006/relationships/slide" Target="slides/slide29.xml"/><Relationship Id="rId50" Type="http://schemas.openxmlformats.org/officeDocument/2006/relationships/slide" Target="slides/slide30.xml"/><Relationship Id="rId51" Type="http://schemas.openxmlformats.org/officeDocument/2006/relationships/slide" Target="slides/slide31.xml"/><Relationship Id="rId52" Type="http://customschemas.google.com/relationships/presentationmetadata" Target="metadata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Relationship Id="rId57" Type="http://schemas.microsoft.com/office/2016/11/relationships/changesInfo" Target="changesInfos/changesInfo1.xml"/><Relationship Id="rId58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los Esponda Rosales" userId="08a2b2cc-6d12-4dea-90fe-c484bece8186" providerId="ADAL" clId="{6846A1DD-3EC1-5A12-B3C5-9C410579EE4F}"/>
    <pc:docChg chg="addSld modSld">
      <pc:chgData name="Carlos Esponda Rosales" userId="08a2b2cc-6d12-4dea-90fe-c484bece8186" providerId="ADAL" clId="{6846A1DD-3EC1-5A12-B3C5-9C410579EE4F}" dt="2026-05-08T17:34:40.929" v="0"/>
      <pc:docMkLst>
        <pc:docMk/>
      </pc:docMkLst>
      <pc:sldChg chg="add">
        <pc:chgData name="Carlos Esponda Rosales" userId="08a2b2cc-6d12-4dea-90fe-c484bece8186" providerId="ADAL" clId="{6846A1DD-3EC1-5A12-B3C5-9C410579EE4F}" dt="2026-05-08T17:34:40.929" v="0"/>
        <pc:sldMkLst>
          <pc:docMk/>
          <pc:sldMk cId="1993487481" sldId="302"/>
        </pc:sldMkLst>
      </pc:sldChg>
    </pc:docChg>
  </pc:docChgLst>
  <pc:docChgLst>
    <pc:chgData name="Edgar Rosales Ortega" userId="d1d54fc2-1570-4978-babc-e22e1526833f" providerId="ADAL" clId="{66BE7C30-C669-4152-AC74-10076FC0590C}"/>
    <pc:docChg chg="custSel addSld delSld modSld sldOrd">
      <pc:chgData name="Edgar Rosales Ortega" userId="d1d54fc2-1570-4978-babc-e22e1526833f" providerId="ADAL" clId="{66BE7C30-C669-4152-AC74-10076FC0590C}" dt="2026-05-07T18:57:38.121" v="65" actId="14100"/>
      <pc:docMkLst>
        <pc:docMk/>
      </pc:docMkLst>
      <pc:sldChg chg="addSp delSp modSp mod">
        <pc:chgData name="Edgar Rosales Ortega" userId="d1d54fc2-1570-4978-babc-e22e1526833f" providerId="ADAL" clId="{66BE7C30-C669-4152-AC74-10076FC0590C}" dt="2026-04-30T20:26:06.836" v="54" actId="1076"/>
        <pc:sldMkLst>
          <pc:docMk/>
          <pc:sldMk cId="0" sldId="260"/>
        </pc:sldMkLst>
        <pc:spChg chg="add mod">
          <ac:chgData name="Edgar Rosales Ortega" userId="d1d54fc2-1570-4978-babc-e22e1526833f" providerId="ADAL" clId="{66BE7C30-C669-4152-AC74-10076FC0590C}" dt="2026-04-30T20:26:06.836" v="54" actId="1076"/>
          <ac:spMkLst>
            <pc:docMk/>
            <pc:sldMk cId="0" sldId="260"/>
            <ac:spMk id="9" creationId="{CB94C34A-F5BD-16FB-C523-148B92639C40}"/>
          </ac:spMkLst>
        </pc:spChg>
        <pc:graphicFrameChg chg="add mod">
          <ac:chgData name="Edgar Rosales Ortega" userId="d1d54fc2-1570-4978-babc-e22e1526833f" providerId="ADAL" clId="{66BE7C30-C669-4152-AC74-10076FC0590C}" dt="2026-04-30T20:26:06.836" v="54" actId="1076"/>
          <ac:graphicFrameMkLst>
            <pc:docMk/>
            <pc:sldMk cId="0" sldId="260"/>
            <ac:graphicFrameMk id="6" creationId="{A75A6BA6-1AD0-365F-2E99-8B28F7AD55A2}"/>
          </ac:graphicFrameMkLst>
        </pc:graphicFrameChg>
        <pc:picChg chg="add mod">
          <ac:chgData name="Edgar Rosales Ortega" userId="d1d54fc2-1570-4978-babc-e22e1526833f" providerId="ADAL" clId="{66BE7C30-C669-4152-AC74-10076FC0590C}" dt="2026-04-30T20:26:06.836" v="54" actId="1076"/>
          <ac:picMkLst>
            <pc:docMk/>
            <pc:sldMk cId="0" sldId="260"/>
            <ac:picMk id="7" creationId="{0139AD3E-A2BB-9121-2D42-4DFFA5094F39}"/>
          </ac:picMkLst>
        </pc:picChg>
        <pc:picChg chg="add mod">
          <ac:chgData name="Edgar Rosales Ortega" userId="d1d54fc2-1570-4978-babc-e22e1526833f" providerId="ADAL" clId="{66BE7C30-C669-4152-AC74-10076FC0590C}" dt="2026-04-30T20:26:06.836" v="54" actId="1076"/>
          <ac:picMkLst>
            <pc:docMk/>
            <pc:sldMk cId="0" sldId="260"/>
            <ac:picMk id="8" creationId="{F5459F8C-33AB-C255-41B5-46AB1DCCE2F1}"/>
          </ac:picMkLst>
        </pc:picChg>
      </pc:sldChg>
      <pc:sldChg chg="addSp delSp modSp mod">
        <pc:chgData name="Edgar Rosales Ortega" userId="d1d54fc2-1570-4978-babc-e22e1526833f" providerId="ADAL" clId="{66BE7C30-C669-4152-AC74-10076FC0590C}" dt="2026-05-05T17:57:58.981" v="57" actId="164"/>
        <pc:sldMkLst>
          <pc:docMk/>
          <pc:sldMk cId="0" sldId="261"/>
        </pc:sldMkLst>
        <pc:spChg chg="add mod">
          <ac:chgData name="Edgar Rosales Ortega" userId="d1d54fc2-1570-4978-babc-e22e1526833f" providerId="ADAL" clId="{66BE7C30-C669-4152-AC74-10076FC0590C}" dt="2026-05-05T17:57:58.981" v="57" actId="164"/>
          <ac:spMkLst>
            <pc:docMk/>
            <pc:sldMk cId="0" sldId="261"/>
            <ac:spMk id="15" creationId="{7FED1FA9-9994-C9D0-2D59-7B4D917DD763}"/>
          </ac:spMkLst>
        </pc:spChg>
        <pc:spChg chg="add mod">
          <ac:chgData name="Edgar Rosales Ortega" userId="d1d54fc2-1570-4978-babc-e22e1526833f" providerId="ADAL" clId="{66BE7C30-C669-4152-AC74-10076FC0590C}" dt="2026-05-05T17:57:58.981" v="57" actId="164"/>
          <ac:spMkLst>
            <pc:docMk/>
            <pc:sldMk cId="0" sldId="261"/>
            <ac:spMk id="16" creationId="{F912C5BF-A9C5-5854-6D68-6A9C774E95BF}"/>
          </ac:spMkLst>
        </pc:spChg>
        <pc:spChg chg="add mod">
          <ac:chgData name="Edgar Rosales Ortega" userId="d1d54fc2-1570-4978-babc-e22e1526833f" providerId="ADAL" clId="{66BE7C30-C669-4152-AC74-10076FC0590C}" dt="2026-05-05T17:57:58.981" v="57" actId="164"/>
          <ac:spMkLst>
            <pc:docMk/>
            <pc:sldMk cId="0" sldId="261"/>
            <ac:spMk id="17" creationId="{826EE74C-DA7B-CA1E-E3AF-AF3E379F8995}"/>
          </ac:spMkLst>
        </pc:spChg>
        <pc:spChg chg="add mod">
          <ac:chgData name="Edgar Rosales Ortega" userId="d1d54fc2-1570-4978-babc-e22e1526833f" providerId="ADAL" clId="{66BE7C30-C669-4152-AC74-10076FC0590C}" dt="2026-05-05T17:57:58.981" v="57" actId="164"/>
          <ac:spMkLst>
            <pc:docMk/>
            <pc:sldMk cId="0" sldId="261"/>
            <ac:spMk id="18" creationId="{B1F9638B-0B46-EDF9-B352-368BF047C5AC}"/>
          </ac:spMkLst>
        </pc:spChg>
        <pc:spChg chg="add mod">
          <ac:chgData name="Edgar Rosales Ortega" userId="d1d54fc2-1570-4978-babc-e22e1526833f" providerId="ADAL" clId="{66BE7C30-C669-4152-AC74-10076FC0590C}" dt="2026-05-05T17:57:58.981" v="57" actId="164"/>
          <ac:spMkLst>
            <pc:docMk/>
            <pc:sldMk cId="0" sldId="261"/>
            <ac:spMk id="19" creationId="{6984241B-8545-12FE-1097-F68FE0454B73}"/>
          </ac:spMkLst>
        </pc:spChg>
        <pc:spChg chg="add mod">
          <ac:chgData name="Edgar Rosales Ortega" userId="d1d54fc2-1570-4978-babc-e22e1526833f" providerId="ADAL" clId="{66BE7C30-C669-4152-AC74-10076FC0590C}" dt="2026-05-05T17:57:58.981" v="57" actId="164"/>
          <ac:spMkLst>
            <pc:docMk/>
            <pc:sldMk cId="0" sldId="261"/>
            <ac:spMk id="20" creationId="{7B572646-6117-7054-AE5A-6F149BDFB53C}"/>
          </ac:spMkLst>
        </pc:spChg>
        <pc:spChg chg="add mod">
          <ac:chgData name="Edgar Rosales Ortega" userId="d1d54fc2-1570-4978-babc-e22e1526833f" providerId="ADAL" clId="{66BE7C30-C669-4152-AC74-10076FC0590C}" dt="2026-05-05T17:57:58.981" v="57" actId="164"/>
          <ac:spMkLst>
            <pc:docMk/>
            <pc:sldMk cId="0" sldId="261"/>
            <ac:spMk id="21" creationId="{4D26C603-448C-75DB-A044-687A1EDBA8BE}"/>
          </ac:spMkLst>
        </pc:spChg>
        <pc:spChg chg="add mod">
          <ac:chgData name="Edgar Rosales Ortega" userId="d1d54fc2-1570-4978-babc-e22e1526833f" providerId="ADAL" clId="{66BE7C30-C669-4152-AC74-10076FC0590C}" dt="2026-05-05T17:57:58.981" v="57" actId="164"/>
          <ac:spMkLst>
            <pc:docMk/>
            <pc:sldMk cId="0" sldId="261"/>
            <ac:spMk id="22" creationId="{74384714-3CEB-E179-CF78-7E2056F92675}"/>
          </ac:spMkLst>
        </pc:spChg>
        <pc:spChg chg="add mod">
          <ac:chgData name="Edgar Rosales Ortega" userId="d1d54fc2-1570-4978-babc-e22e1526833f" providerId="ADAL" clId="{66BE7C30-C669-4152-AC74-10076FC0590C}" dt="2026-05-05T17:57:58.981" v="57" actId="164"/>
          <ac:spMkLst>
            <pc:docMk/>
            <pc:sldMk cId="0" sldId="261"/>
            <ac:spMk id="23" creationId="{A7323E39-F503-1EEF-8CD7-247E3FD64DCE}"/>
          </ac:spMkLst>
        </pc:spChg>
        <pc:spChg chg="add mod">
          <ac:chgData name="Edgar Rosales Ortega" userId="d1d54fc2-1570-4978-babc-e22e1526833f" providerId="ADAL" clId="{66BE7C30-C669-4152-AC74-10076FC0590C}" dt="2026-05-05T17:57:58.981" v="57" actId="164"/>
          <ac:spMkLst>
            <pc:docMk/>
            <pc:sldMk cId="0" sldId="261"/>
            <ac:spMk id="26" creationId="{99D6BA84-5E45-2329-0F62-43E147876FDB}"/>
          </ac:spMkLst>
        </pc:spChg>
      </pc:sldChg>
      <pc:sldChg chg="delSp mod">
        <pc:chgData name="Edgar Rosales Ortega" userId="d1d54fc2-1570-4978-babc-e22e1526833f" providerId="ADAL" clId="{66BE7C30-C669-4152-AC74-10076FC0590C}" dt="2026-05-07T18:57:01.466" v="58" actId="478"/>
        <pc:sldMkLst>
          <pc:docMk/>
          <pc:sldMk cId="0" sldId="262"/>
        </pc:sldMkLst>
      </pc:sldChg>
      <pc:sldChg chg="modSp mod ord">
        <pc:chgData name="Edgar Rosales Ortega" userId="d1d54fc2-1570-4978-babc-e22e1526833f" providerId="ADAL" clId="{66BE7C30-C669-4152-AC74-10076FC0590C}" dt="2026-04-30T15:49:21.173" v="39"/>
        <pc:sldMkLst>
          <pc:docMk/>
          <pc:sldMk cId="0" sldId="267"/>
        </pc:sldMkLst>
        <pc:graphicFrameChg chg="modGraphic">
          <ac:chgData name="Edgar Rosales Ortega" userId="d1d54fc2-1570-4978-babc-e22e1526833f" providerId="ADAL" clId="{66BE7C30-C669-4152-AC74-10076FC0590C}" dt="2026-04-30T00:11:53.227" v="28" actId="6549"/>
          <ac:graphicFrameMkLst>
            <pc:docMk/>
            <pc:sldMk cId="0" sldId="267"/>
            <ac:graphicFrameMk id="230" creationId="{00000000-0000-0000-0000-000000000000}"/>
          </ac:graphicFrameMkLst>
        </pc:graphicFrameChg>
      </pc:sldChg>
      <pc:sldChg chg="modSp">
        <pc:chgData name="Edgar Rosales Ortega" userId="d1d54fc2-1570-4978-babc-e22e1526833f" providerId="ADAL" clId="{66BE7C30-C669-4152-AC74-10076FC0590C}" dt="2026-05-07T18:57:12.376" v="60"/>
        <pc:sldMkLst>
          <pc:docMk/>
          <pc:sldMk cId="0" sldId="272"/>
        </pc:sldMkLst>
        <pc:graphicFrameChg chg="mod">
          <ac:chgData name="Edgar Rosales Ortega" userId="d1d54fc2-1570-4978-babc-e22e1526833f" providerId="ADAL" clId="{66BE7C30-C669-4152-AC74-10076FC0590C}" dt="2026-05-07T18:57:12.376" v="60"/>
          <ac:graphicFrameMkLst>
            <pc:docMk/>
            <pc:sldMk cId="0" sldId="272"/>
            <ac:graphicFrameMk id="347" creationId="{00000000-0000-0000-0000-000000000000}"/>
          </ac:graphicFrameMkLst>
        </pc:graphicFrameChg>
      </pc:sldChg>
      <pc:sldChg chg="addSp delSp modSp mod">
        <pc:chgData name="Edgar Rosales Ortega" userId="d1d54fc2-1570-4978-babc-e22e1526833f" providerId="ADAL" clId="{66BE7C30-C669-4152-AC74-10076FC0590C}" dt="2026-05-05T01:37:54.289" v="55" actId="1076"/>
        <pc:sldMkLst>
          <pc:docMk/>
          <pc:sldMk cId="0" sldId="279"/>
        </pc:sldMkLst>
        <pc:spChg chg="add mod">
          <ac:chgData name="Edgar Rosales Ortega" userId="d1d54fc2-1570-4978-babc-e22e1526833f" providerId="ADAL" clId="{66BE7C30-C669-4152-AC74-10076FC0590C}" dt="2026-04-30T16:26:40.288" v="40" actId="1076"/>
          <ac:spMkLst>
            <pc:docMk/>
            <pc:sldMk cId="0" sldId="279"/>
            <ac:spMk id="2" creationId="{07C2BE47-A0E6-098F-27E6-583F78F76A0C}"/>
          </ac:spMkLst>
        </pc:spChg>
        <pc:spChg chg="mod">
          <ac:chgData name="Edgar Rosales Ortega" userId="d1d54fc2-1570-4978-babc-e22e1526833f" providerId="ADAL" clId="{66BE7C30-C669-4152-AC74-10076FC0590C}" dt="2026-05-05T01:37:54.289" v="55" actId="1076"/>
          <ac:spMkLst>
            <pc:docMk/>
            <pc:sldMk cId="0" sldId="279"/>
            <ac:spMk id="500" creationId="{00000000-0000-0000-0000-000000000000}"/>
          </ac:spMkLst>
        </pc:spChg>
      </pc:sldChg>
      <pc:sldChg chg="modSp mod ord">
        <pc:chgData name="Edgar Rosales Ortega" userId="d1d54fc2-1570-4978-babc-e22e1526833f" providerId="ADAL" clId="{66BE7C30-C669-4152-AC74-10076FC0590C}" dt="2026-04-30T15:49:18.561" v="37"/>
        <pc:sldMkLst>
          <pc:docMk/>
          <pc:sldMk cId="540716406" sldId="280"/>
        </pc:sldMkLst>
        <pc:graphicFrameChg chg="modGraphic">
          <ac:chgData name="Edgar Rosales Ortega" userId="d1d54fc2-1570-4978-babc-e22e1526833f" providerId="ADAL" clId="{66BE7C30-C669-4152-AC74-10076FC0590C}" dt="2026-04-30T00:11:57.457" v="29" actId="6549"/>
          <ac:graphicFrameMkLst>
            <pc:docMk/>
            <pc:sldMk cId="540716406" sldId="280"/>
            <ac:graphicFrameMk id="230" creationId="{64EDC3BC-A199-227A-0CEC-FB808E16739F}"/>
          </ac:graphicFrameMkLst>
        </pc:graphicFrameChg>
      </pc:sldChg>
      <pc:sldChg chg="addSp delSp modSp mod">
        <pc:chgData name="Edgar Rosales Ortega" userId="d1d54fc2-1570-4978-babc-e22e1526833f" providerId="ADAL" clId="{66BE7C30-C669-4152-AC74-10076FC0590C}" dt="2026-05-05T16:39:18.922" v="56" actId="478"/>
        <pc:sldMkLst>
          <pc:docMk/>
          <pc:sldMk cId="3828482411" sldId="281"/>
        </pc:sldMkLst>
      </pc:sldChg>
      <pc:sldChg chg="modSp mod">
        <pc:chgData name="Edgar Rosales Ortega" userId="d1d54fc2-1570-4978-babc-e22e1526833f" providerId="ADAL" clId="{66BE7C30-C669-4152-AC74-10076FC0590C}" dt="2026-05-07T18:57:38.121" v="65" actId="14100"/>
        <pc:sldMkLst>
          <pc:docMk/>
          <pc:sldMk cId="364733940" sldId="284"/>
        </pc:sldMkLst>
        <pc:picChg chg="mod">
          <ac:chgData name="Edgar Rosales Ortega" userId="d1d54fc2-1570-4978-babc-e22e1526833f" providerId="ADAL" clId="{66BE7C30-C669-4152-AC74-10076FC0590C}" dt="2026-05-07T18:57:38.121" v="65" actId="14100"/>
          <ac:picMkLst>
            <pc:docMk/>
            <pc:sldMk cId="364733940" sldId="284"/>
            <ac:picMk id="2" creationId="{1B5687F4-45A0-92B4-9653-1598AF1BC42E}"/>
          </ac:picMkLst>
        </pc:picChg>
      </pc:sldChg>
      <pc:sldChg chg="modSp mod ord">
        <pc:chgData name="Edgar Rosales Ortega" userId="d1d54fc2-1570-4978-babc-e22e1526833f" providerId="ADAL" clId="{66BE7C30-C669-4152-AC74-10076FC0590C}" dt="2026-04-30T15:49:11.854" v="35"/>
        <pc:sldMkLst>
          <pc:docMk/>
          <pc:sldMk cId="748044913" sldId="287"/>
        </pc:sldMkLst>
        <pc:graphicFrameChg chg="modGraphic">
          <ac:chgData name="Edgar Rosales Ortega" userId="d1d54fc2-1570-4978-babc-e22e1526833f" providerId="ADAL" clId="{66BE7C30-C669-4152-AC74-10076FC0590C}" dt="2026-04-30T00:12:02.349" v="30" actId="6549"/>
          <ac:graphicFrameMkLst>
            <pc:docMk/>
            <pc:sldMk cId="748044913" sldId="287"/>
            <ac:graphicFrameMk id="230" creationId="{AC3C5A3E-612D-5067-1D46-BCA5AE81D01D}"/>
          </ac:graphicFrameMkLst>
        </pc:graphicFrameChg>
      </pc:sldChg>
      <pc:sldChg chg="modSp mod">
        <pc:chgData name="Edgar Rosales Ortega" userId="d1d54fc2-1570-4978-babc-e22e1526833f" providerId="ADAL" clId="{66BE7C30-C669-4152-AC74-10076FC0590C}" dt="2026-05-07T18:57:23.713" v="62" actId="14100"/>
        <pc:sldMkLst>
          <pc:docMk/>
          <pc:sldMk cId="3240565764" sldId="297"/>
        </pc:sldMkLst>
        <pc:picChg chg="mod">
          <ac:chgData name="Edgar Rosales Ortega" userId="d1d54fc2-1570-4978-babc-e22e1526833f" providerId="ADAL" clId="{66BE7C30-C669-4152-AC74-10076FC0590C}" dt="2026-05-07T18:57:23.713" v="62" actId="14100"/>
          <ac:picMkLst>
            <pc:docMk/>
            <pc:sldMk cId="3240565764" sldId="297"/>
            <ac:picMk id="5" creationId="{4689FF38-8CFA-FB37-4E7B-B5603B7FC116}"/>
          </ac:picMkLst>
        </pc:picChg>
      </pc:sldChg>
      <pc:sldChg chg="ord">
        <pc:chgData name="Edgar Rosales Ortega" userId="d1d54fc2-1570-4978-babc-e22e1526833f" providerId="ADAL" clId="{66BE7C30-C669-4152-AC74-10076FC0590C}" dt="2026-04-17T20:29:51.023" v="6"/>
        <pc:sldMkLst>
          <pc:docMk/>
          <pc:sldMk cId="2281299220" sldId="298"/>
        </pc:sldMkLst>
      </pc:sldChg>
      <pc:sldChg chg="addSp delSp modSp add mod">
        <pc:chgData name="Edgar Rosales Ortega" userId="d1d54fc2-1570-4978-babc-e22e1526833f" providerId="ADAL" clId="{66BE7C30-C669-4152-AC74-10076FC0590C}" dt="2026-05-07T18:57:05.444" v="59" actId="478"/>
        <pc:sldMkLst>
          <pc:docMk/>
          <pc:sldMk cId="3847437424" sldId="301"/>
        </pc:sldMkLst>
        <pc:spChg chg="add mod">
          <ac:chgData name="Edgar Rosales Ortega" userId="d1d54fc2-1570-4978-babc-e22e1526833f" providerId="ADAL" clId="{66BE7C30-C669-4152-AC74-10076FC0590C}" dt="2026-04-30T17:53:41.104" v="48"/>
          <ac:spMkLst>
            <pc:docMk/>
            <pc:sldMk cId="3847437424" sldId="301"/>
            <ac:spMk id="6" creationId="{74D86D49-ABF8-EBE9-7E8B-DBEDCC31AEF0}"/>
          </ac:spMkLst>
        </pc:spChg>
        <pc:graphicFrameChg chg="add mod">
          <ac:chgData name="Edgar Rosales Ortega" userId="d1d54fc2-1570-4978-babc-e22e1526833f" providerId="ADAL" clId="{66BE7C30-C669-4152-AC74-10076FC0590C}" dt="2026-04-30T17:53:41.104" v="48"/>
          <ac:graphicFrameMkLst>
            <pc:docMk/>
            <pc:sldMk cId="3847437424" sldId="301"/>
            <ac:graphicFrameMk id="7" creationId="{052558E1-5A4D-8CA1-01BE-9E53CE5F9B9B}"/>
          </ac:graphicFrameMkLst>
        </pc:graphicFrameChg>
      </pc:sldChg>
    </pc:docChg>
  </pc:docChgLst>
  <pc:docChgLst>
    <pc:chgData name="Gerardo Jahir Lara Garcia" userId="S::gerardo.larag@imss.gob.mx::84d5cd65-4601-4e92-b448-a9da4809e012" providerId="AD" clId="Web-{7CBE2D00-6E21-7FD0-3AD6-3D2E59EC2DB2}"/>
    <pc:docChg chg="modSld">
      <pc:chgData name="Gerardo Jahir Lara Garcia" userId="S::gerardo.larag@imss.gob.mx::84d5cd65-4601-4e92-b448-a9da4809e012" providerId="AD" clId="Web-{7CBE2D00-6E21-7FD0-3AD6-3D2E59EC2DB2}" dt="2026-05-12T22:48:41.049" v="5" actId="1076"/>
      <pc:docMkLst>
        <pc:docMk/>
      </pc:docMkLst>
      <pc:sldChg chg="addSp modSp">
        <pc:chgData name="Gerardo Jahir Lara Garcia" userId="S::gerardo.larag@imss.gob.mx::84d5cd65-4601-4e92-b448-a9da4809e012" providerId="AD" clId="Web-{7CBE2D00-6E21-7FD0-3AD6-3D2E59EC2DB2}" dt="2026-05-12T22:48:41.049" v="5" actId="1076"/>
        <pc:sldMkLst>
          <pc:docMk/>
          <pc:sldMk cId="364733940" sldId="284"/>
        </pc:sldMkLst>
        <pc:picChg chg="add mod">
          <ac:chgData name="Gerardo Jahir Lara Garcia" userId="S::gerardo.larag@imss.gob.mx::84d5cd65-4601-4e92-b448-a9da4809e012" providerId="AD" clId="Web-{7CBE2D00-6E21-7FD0-3AD6-3D2E59EC2DB2}" dt="2026-05-12T22:48:41.049" v="5" actId="1076"/>
          <ac:picMkLst>
            <pc:docMk/>
            <pc:sldMk cId="364733940" sldId="284"/>
            <ac:picMk id="3" creationId="{078CF335-FFDD-4318-E8C6-16DF76321D37}"/>
          </ac:picMkLst>
        </pc:picChg>
      </pc:sldChg>
      <pc:sldChg chg="addSp modSp">
        <pc:chgData name="Gerardo Jahir Lara Garcia" userId="S::gerardo.larag@imss.gob.mx::84d5cd65-4601-4e92-b448-a9da4809e012" providerId="AD" clId="Web-{7CBE2D00-6E21-7FD0-3AD6-3D2E59EC2DB2}" dt="2026-05-12T22:48:14.924" v="2" actId="1076"/>
        <pc:sldMkLst>
          <pc:docMk/>
          <pc:sldMk cId="3240565764" sldId="297"/>
        </pc:sldMkLst>
        <pc:picChg chg="add mod">
          <ac:chgData name="Gerardo Jahir Lara Garcia" userId="S::gerardo.larag@imss.gob.mx::84d5cd65-4601-4e92-b448-a9da4809e012" providerId="AD" clId="Web-{7CBE2D00-6E21-7FD0-3AD6-3D2E59EC2DB2}" dt="2026-05-12T22:48:14.924" v="2" actId="1076"/>
          <ac:picMkLst>
            <pc:docMk/>
            <pc:sldMk cId="3240565764" sldId="297"/>
            <ac:picMk id="3" creationId="{A449E935-506B-5438-7138-805AB9A8192A}"/>
          </ac:picMkLst>
        </pc:picChg>
      </pc:sld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006455"/>
              </a:solidFill>
            </c:spPr>
          </c:dPt>
          <c:dPt>
            <c:idx val="1"/>
            <c:spPr>
              <a:solidFill>
                <a:srgbClr val="691C32"/>
              </a:solidFill>
            </c:spPr>
          </c:dPt>
          <c:dPt>
            <c:idx val="2"/>
            <c:spPr>
              <a:solidFill>
                <a:srgbClr val="BC955C"/>
              </a:solidFill>
            </c:spPr>
          </c:dPt>
          <c:dPt>
            <c:idx val="3"/>
            <c:spPr>
              <a:solidFill>
                <a:srgbClr val="9E9E9E"/>
              </a:solidFill>
            </c:spPr>
          </c:dPt>
          <c:cat>
            <c:strRef>
              <c:f>Sheet1!$A$2:$A$5</c:f>
              <c:strCache>
                <c:ptCount val="4"/>
                <c:pt idx="0">
                  <c:v>IMSS</c:v>
                </c:pt>
                <c:pt idx="1">
                  <c:v>ISSSTE</c:v>
                </c:pt>
                <c:pt idx="2">
                  <c:v>IMSS-BIENESTAR</c:v>
                </c:pt>
                <c:pt idx="3">
                  <c:v>Otros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5432372.0</c:v>
                </c:pt>
                <c:pt idx="1">
                  <c:v>522707.0</c:v>
                </c:pt>
                <c:pt idx="2">
                  <c:v>2999953.0</c:v>
                </c:pt>
                <c:pt idx="3">
                  <c:v>26995.0</c:v>
                </c:pt>
              </c:numCache>
            </c:numRef>
          </c:val>
        </c:ser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37.1404947318862</c:v>
                </c:pt>
                <c:pt idx="1">
                  <c:v>62.8595052681138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9.0405413947</c:v>
                </c:pt>
                <c:pt idx="1">
                  <c:v>90.9594586053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  <c:autoTitleDeleted val="1"/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41.6</c:v>
                </c:pt>
                <c:pt idx="1">
                  <c:v>58.4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38.05</c:v>
                </c:pt>
                <c:pt idx="1">
                  <c:v>61.95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Pt>
            <c:idx val="3"/>
            <c:spPr>
              <a:solidFill>
                <a:srgbClr val="691C32"/>
              </a:solidFill>
            </c:spPr>
          </c:dPt>
          <c:cat>
            <c:strRef>
              <c:f>Sheet1!$A$2:$A$5</c:f>
              <c:strCache>
                <c:ptCount val="4"/>
                <c:pt idx="0">
                  <c:v>2018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466</c:v>
                </c:pt>
                <c:pt idx="1">
                  <c:v>799</c:v>
                </c:pt>
                <c:pt idx="2">
                  <c:v>785</c:v>
                </c:pt>
                <c:pt idx="3">
                  <c:v>859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000" b="1">
                  <a:solidFill>
                    <a:srgbClr val="FFFFFF"/>
                  </a:solidFill>
                  <a:latin typeface="Montserrat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10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Mes Anterior</c:v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Industrias Extractivas</c:v>
                </c:pt>
                <c:pt idx="1">
                  <c:v>Industria de la Construcción</c:v>
                </c:pt>
                <c:pt idx="2">
                  <c:v>Transportes y Comunicaciones</c:v>
                </c:pt>
                <c:pt idx="3">
                  <c:v>Agricultura, Ganaderia, Silvicultura, Pesca y Caza</c:v>
                </c:pt>
                <c:pt idx="4">
                  <c:v>Servicios para Empresas, Personas y el Hogar</c:v>
                </c:pt>
                <c:pt idx="5">
                  <c:v>Industrias de la Transformación</c:v>
                </c:pt>
                <c:pt idx="6">
                  <c:v>Servicios Sociales y Comunales</c:v>
                </c:pt>
                <c:pt idx="7">
                  <c:v>Ind Eléctrica y Captación y Suministro de Agua Potable</c:v>
                </c:pt>
                <c:pt idx="8">
                  <c:v>Comercio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3174</c:v>
                </c:pt>
                <c:pt idx="1">
                  <c:v>152077</c:v>
                </c:pt>
                <c:pt idx="2">
                  <c:v>121334</c:v>
                </c:pt>
                <c:pt idx="3">
                  <c:v>114954</c:v>
                </c:pt>
                <c:pt idx="4">
                  <c:v>397245</c:v>
                </c:pt>
                <c:pt idx="5">
                  <c:v>525959</c:v>
                </c:pt>
                <c:pt idx="6">
                  <c:v>294246</c:v>
                </c:pt>
                <c:pt idx="7">
                  <c:v>10561</c:v>
                </c:pt>
                <c:pt idx="8">
                  <c:v>431393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Mes Actual</c:v>
                </c:pt>
              </c:strCache>
            </c:strRef>
          </c:tx>
          <c:spPr>
            <a:solidFill>
              <a:srgbClr val="9F2241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Industrias Extractivas</c:v>
                </c:pt>
                <c:pt idx="1">
                  <c:v>Industria de la Construcción</c:v>
                </c:pt>
                <c:pt idx="2">
                  <c:v>Transportes y Comunicaciones</c:v>
                </c:pt>
                <c:pt idx="3">
                  <c:v>Agricultura, Ganaderia, Silvicultura, Pesca y Caza</c:v>
                </c:pt>
                <c:pt idx="4">
                  <c:v>Servicios para Empresas, Personas y el Hogar</c:v>
                </c:pt>
                <c:pt idx="5">
                  <c:v>Industrias de la Transformación</c:v>
                </c:pt>
                <c:pt idx="6">
                  <c:v>Servicios Sociales y Comunales</c:v>
                </c:pt>
                <c:pt idx="7">
                  <c:v>Ind Eléctrica y Captación y Suministro de Agua Potable</c:v>
                </c:pt>
                <c:pt idx="8">
                  <c:v>Comercio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3066</c:v>
                </c:pt>
                <c:pt idx="1">
                  <c:v>148376</c:v>
                </c:pt>
                <c:pt idx="2">
                  <c:v>121145</c:v>
                </c:pt>
                <c:pt idx="3">
                  <c:v>115397</c:v>
                </c:pt>
                <c:pt idx="4">
                  <c:v>400994</c:v>
                </c:pt>
                <c:pt idx="5">
                  <c:v>531560</c:v>
                </c:pt>
                <c:pt idx="6">
                  <c:v>299939</c:v>
                </c:pt>
                <c:pt idx="7">
                  <c:v>10781</c:v>
                </c:pt>
                <c:pt idx="8">
                  <c:v>441538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700" b="1">
                <a:solidFill>
                  <a:srgbClr val="000000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1000" b="1">
                    <a:solidFill>
                      <a:srgbClr val="006455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numRef>
              <c:f>Sheet1!$A$2:$A$10</c:f>
              <c:numCache>
                <c:formatCode>General</c:formatCode>
                <c:ptCount val="9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</c:v>
                </c:pt>
                <c:pt idx="8">
                  <c:v>2026</c:v>
                </c:pt>
              </c:numCache>
            </c:num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1749012</c:v>
                </c:pt>
                <c:pt idx="1">
                  <c:v>1798713</c:v>
                </c:pt>
                <c:pt idx="2">
                  <c:v>1793795</c:v>
                </c:pt>
                <c:pt idx="3">
                  <c:v>1810884</c:v>
                </c:pt>
                <c:pt idx="4">
                  <c:v>1884715</c:v>
                </c:pt>
                <c:pt idx="5">
                  <c:v>1973202</c:v>
                </c:pt>
                <c:pt idx="6">
                  <c:v>2023394</c:v>
                </c:pt>
                <c:pt idx="7">
                  <c:v>2050943</c:v>
                </c:pt>
                <c:pt idx="8">
                  <c:v>2072796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inMax"/>
        </c:scaling>
        <c:delete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04480" y="685800"/>
            <a:ext cx="2649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953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0" name="Google Shape;100;p2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" name="Google Shape;126;p3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7" name="Google Shape;127;p3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70e475fb19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g370e475fb19_0_7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0" name="Google Shape;140;g370e475fb19_0_7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70e475fb19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g370e475fb19_0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9" name="Google Shape;149;g370e475fb19_0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D8CC2EB2-B4B5-DF9D-D03F-84BA21932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D61FD4FA-3960-F948-705D-21ADCFA06B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B4D1B589-042A-686D-1FA4-40E5F0171D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85849D9F-FCA5-3D56-88F1-3CCEF7C754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061085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70e87ffe7a_2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g370e87ffe7a_2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1" name="Google Shape;161;g370e87ffe7a_2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>
          <a:extLst>
            <a:ext uri="{FF2B5EF4-FFF2-40B4-BE49-F238E27FC236}">
              <a16:creationId xmlns:a16="http://schemas.microsoft.com/office/drawing/2014/main" id="{5304E320-2DA4-C979-86BB-B30F54962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70e87ffe7a_2_8:notes">
            <a:extLst>
              <a:ext uri="{FF2B5EF4-FFF2-40B4-BE49-F238E27FC236}">
                <a16:creationId xmlns:a16="http://schemas.microsoft.com/office/drawing/2014/main" id="{E3281A3A-5196-931A-9DFE-5FF0E5F96C5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g370e87ffe7a_2_8:notes">
            <a:extLst>
              <a:ext uri="{FF2B5EF4-FFF2-40B4-BE49-F238E27FC236}">
                <a16:creationId xmlns:a16="http://schemas.microsoft.com/office/drawing/2014/main" id="{1D71C3E6-42AB-8CFB-B8AE-D36B4D1F5D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1" name="Google Shape;161;g370e87ffe7a_2_8:notes">
            <a:extLst>
              <a:ext uri="{FF2B5EF4-FFF2-40B4-BE49-F238E27FC236}">
                <a16:creationId xmlns:a16="http://schemas.microsoft.com/office/drawing/2014/main" id="{D9FB8651-2756-E62E-9D93-1836CB54A57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524418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713CA8D3-B9B4-BC1B-ED04-0F0A8FB5D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0C12CFCD-9EDC-91CC-392B-3071D00822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2AF8A86E-90FD-0940-0A54-4F37F3BBC8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6013F875-DB71-E5E2-F8FA-6CB348085A1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51458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4BBC1820-6F1A-4880-262B-A409E4701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>
            <a:extLst>
              <a:ext uri="{FF2B5EF4-FFF2-40B4-BE49-F238E27FC236}">
                <a16:creationId xmlns:a16="http://schemas.microsoft.com/office/drawing/2014/main" id="{BF2E40AE-DCD2-1429-6B72-57325BC9F1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>
            <a:extLst>
              <a:ext uri="{FF2B5EF4-FFF2-40B4-BE49-F238E27FC236}">
                <a16:creationId xmlns:a16="http://schemas.microsoft.com/office/drawing/2014/main" id="{28567A14-31BD-9E56-867C-B69C8D2DC9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>
            <a:extLst>
              <a:ext uri="{FF2B5EF4-FFF2-40B4-BE49-F238E27FC236}">
                <a16:creationId xmlns:a16="http://schemas.microsoft.com/office/drawing/2014/main" id="{3C8E11FD-DB15-A65D-65ED-FA131BC9849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11561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AFE433D0-89C5-16E2-5C15-2BF5968CA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4D0685CF-5CBC-59A9-38DF-D0644AA3C0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420B0C9D-FA1D-88D5-A07F-389E7A7CB1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3CB75F7B-DBC0-B30C-AF51-88EA51AC237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525213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5" name="Google Shape;255;p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6" name="Google Shape;256;p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7" name="Google Shape;307;p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8" name="Google Shape;308;p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302DA1AD-DC59-3000-7A33-461D8414C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8B2E3E8A-1EC6-D995-AC17-846CE9C515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55E2556A-7BF8-3E42-359D-76358D9BCB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09489A0A-9EDD-DF26-612E-143D64D53E0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19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6715715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6748FD04-E291-0974-F4E5-FC419EB55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023253F0-14D4-7F0B-EE6E-A818859FFA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471D9D08-AB58-0AA1-FB4E-ED2CE9BA97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9D7235F3-FF7F-6E66-9B6F-24EAFC762A0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20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4621163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99F6AE50-7516-062A-8150-10B1F45D6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9480E368-56B1-0B8B-C173-5B48C9CF4D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1B9C63BB-C6A9-A587-325E-C12C2D94C1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A359AA88-700C-9A17-FB2E-8A8735D21CF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21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7942081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3" name="Google Shape;453;p16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54" name="Google Shape;454;p16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70e87ffe7a_2_2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9" name="Google Shape;469;g370e87ffe7a_2_29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70" name="Google Shape;470;g370e87ffe7a_2_29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70e87ffe7a_2_3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8" name="Google Shape;488;g370e87ffe7a_2_31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9" name="Google Shape;489;g370e87ffe7a_2_31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>
            <a:spLocks noGrp="1"/>
          </p:cNvSpPr>
          <p:nvPr>
            <p:ph type="ctrTitle"/>
          </p:nvPr>
        </p:nvSpPr>
        <p:spPr>
          <a:xfrm>
            <a:off x="264952" y="1456058"/>
            <a:ext cx="7242600" cy="40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9"/>
          <p:cNvSpPr txBox="1">
            <a:spLocks noGrp="1"/>
          </p:cNvSpPr>
          <p:nvPr>
            <p:ph type="subTitle" idx="1"/>
          </p:nvPr>
        </p:nvSpPr>
        <p:spPr>
          <a:xfrm>
            <a:off x="264945" y="5542289"/>
            <a:ext cx="7242600" cy="15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1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3" name="Picture 2" descr="A white background with black lines&#10;&#10;AI-generated content may be incorrect.">
            <a:extLst>
              <a:ext uri="{FF2B5EF4-FFF2-40B4-BE49-F238E27FC236}">
                <a16:creationId xmlns:a16="http://schemas.microsoft.com/office/drawing/2014/main" id="{A0ABD2DF-B429-0564-31D9-12741B10B2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050" y="19050"/>
            <a:ext cx="7734300" cy="100203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0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20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20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" name="Google Shape;20;p20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2"/>
          <p:cNvSpPr txBox="1">
            <a:spLocks noGrp="1"/>
          </p:cNvSpPr>
          <p:nvPr>
            <p:ph type="title"/>
          </p:nvPr>
        </p:nvSpPr>
        <p:spPr>
          <a:xfrm>
            <a:off x="264945" y="4206107"/>
            <a:ext cx="7242600" cy="16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9" name="Google Shape;29;p22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3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3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3" name="Google Shape;33;p23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4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4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p24"/>
          <p:cNvSpPr txBox="1">
            <a:spLocks noGrp="1"/>
          </p:cNvSpPr>
          <p:nvPr>
            <p:ph type="body" idx="2"/>
          </p:nvPr>
        </p:nvSpPr>
        <p:spPr>
          <a:xfrm>
            <a:off x="4107540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24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5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5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6"/>
          <p:cNvSpPr txBox="1">
            <a:spLocks noGrp="1"/>
          </p:cNvSpPr>
          <p:nvPr>
            <p:ph type="title"/>
          </p:nvPr>
        </p:nvSpPr>
        <p:spPr>
          <a:xfrm>
            <a:off x="264945" y="1086507"/>
            <a:ext cx="2386800" cy="14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body" idx="1"/>
          </p:nvPr>
        </p:nvSpPr>
        <p:spPr>
          <a:xfrm>
            <a:off x="264945" y="2717440"/>
            <a:ext cx="2386800" cy="6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5" name="Google Shape;45;p26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7"/>
          <p:cNvSpPr txBox="1">
            <a:spLocks noGrp="1"/>
          </p:cNvSpPr>
          <p:nvPr>
            <p:ph type="title"/>
          </p:nvPr>
        </p:nvSpPr>
        <p:spPr>
          <a:xfrm>
            <a:off x="416713" y="880293"/>
            <a:ext cx="5412600" cy="79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/>
          <p:nvPr/>
        </p:nvSpPr>
        <p:spPr>
          <a:xfrm>
            <a:off x="3886200" y="-244"/>
            <a:ext cx="3886200" cy="1005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8"/>
          <p:cNvSpPr txBox="1">
            <a:spLocks noGrp="1"/>
          </p:cNvSpPr>
          <p:nvPr>
            <p:ph type="title"/>
          </p:nvPr>
        </p:nvSpPr>
        <p:spPr>
          <a:xfrm>
            <a:off x="225675" y="2411542"/>
            <a:ext cx="3438300" cy="28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subTitle" idx="1"/>
          </p:nvPr>
        </p:nvSpPr>
        <p:spPr>
          <a:xfrm>
            <a:off x="225675" y="5481569"/>
            <a:ext cx="3438300" cy="24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body" idx="2"/>
          </p:nvPr>
        </p:nvSpPr>
        <p:spPr>
          <a:xfrm>
            <a:off x="4198575" y="1415969"/>
            <a:ext cx="3261600" cy="72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2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264945" y="8273124"/>
            <a:ext cx="5099100" cy="11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0"/>
          <p:cNvSpPr txBox="1">
            <a:spLocks noGrp="1"/>
          </p:cNvSpPr>
          <p:nvPr>
            <p:ph type="title" hasCustomPrompt="1"/>
          </p:nvPr>
        </p:nvSpPr>
        <p:spPr>
          <a:xfrm>
            <a:off x="264945" y="2163089"/>
            <a:ext cx="7242600" cy="38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0" name="Google Shape;60;p30"/>
          <p:cNvSpPr txBox="1">
            <a:spLocks noGrp="1"/>
          </p:cNvSpPr>
          <p:nvPr>
            <p:ph type="body" idx="1"/>
          </p:nvPr>
        </p:nvSpPr>
        <p:spPr>
          <a:xfrm>
            <a:off x="264945" y="6164351"/>
            <a:ext cx="7242600" cy="25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30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 1">
  <p:cSld name="Título y objetos 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1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21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" name="Google Shape;25;p21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" name="Google Shape;26;p21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5914906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8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chart" Target="../charts/chart1.xml"/><Relationship Id="rId6" Type="http://schemas.openxmlformats.org/officeDocument/2006/relationships/image" Target="../media/image26.png"/><Relationship Id="rId7" Type="http://schemas.openxmlformats.org/officeDocument/2006/relationships/image" Target="../media/image27.png"/><Relationship Id="rId8" Type="http://schemas.openxmlformats.org/officeDocument/2006/relationships/image" Target="../media/image28.png"/><Relationship Id="rId9" Type="http://schemas.openxmlformats.org/officeDocument/2006/relationships/image" Target="../media/image2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3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3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7.jp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chart" Target="../charts/char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Relationship Id="rId9" Type="http://schemas.openxmlformats.org/officeDocument/2006/relationships/image" Target="../media/image16.png"/><Relationship Id="rId10" Type="http://schemas.openxmlformats.org/officeDocument/2006/relationships/chart" Target="../charts/char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1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3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Relationship Id="rId4" Type="http://schemas.openxmlformats.org/officeDocument/2006/relationships/image" Target="../media/image18.png"/><Relationship Id="rId5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Relationship Id="rId4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3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Relationship Id="rId4" Type="http://schemas.openxmlformats.org/officeDocument/2006/relationships/chart" Target="../charts/char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Relationship Id="rId4" Type="http://schemas.openxmlformats.org/officeDocument/2006/relationships/image" Target="../media/image24.png"/><Relationship Id="rId5" Type="http://schemas.openxmlformats.org/officeDocument/2006/relationships/chart" Target="../charts/chart8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4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" name="Google Shape;68;p1"/>
          <p:cNvCxnSpPr/>
          <p:nvPr/>
        </p:nvCxnSpPr>
        <p:spPr>
          <a:xfrm>
            <a:off x="-9525" y="5307000"/>
            <a:ext cx="7818000" cy="0"/>
          </a:xfrm>
          <a:prstGeom prst="straightConnector1">
            <a:avLst/>
          </a:prstGeom>
          <a:noFill/>
          <a:ln w="9525" cap="flat" cmpd="sng">
            <a:solidFill>
              <a:srgbClr val="00645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9" name="TextBox 68"/>
          <p:cNvSpPr txBox="1"/>
          <p:nvPr/>
        </p:nvSpPr>
        <p:spPr>
          <a:xfrm>
            <a:off x="0" y="4323600"/>
            <a:ext cx="7772400" cy="10007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0">
                <a:solidFill>
                  <a:srgbClr val="9F2241"/>
                </a:solidFill>
                <a:latin typeface="Montserrat Medium"/>
              </a:defRPr>
            </a:pPr>
            <a:r>
              <a:t>Jalisco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0" y="5472000"/>
            <a:ext cx="7772400" cy="55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0">
                <a:solidFill>
                  <a:srgbClr val="7F7F7F"/>
                </a:solidFill>
                <a:latin typeface="Montserrat"/>
              </a:defRPr>
            </a:pPr>
            <a:r>
              <a:t>Ficha Estatal</a:t>
            </a:r>
          </a:p>
          <a:p>
            <a:pPr algn="ctr">
              <a:defRPr sz="1500" b="1">
                <a:solidFill>
                  <a:srgbClr val="7F7F7F"/>
                </a:solidFill>
                <a:latin typeface="Montserrat"/>
              </a:defRPr>
            </a:pPr>
            <a:r>
              <a:t>Junio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4_Jalis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99200"/>
            <a:ext cx="7793999" cy="8067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</p:spTree>
    <p:extLst>
      <p:ext uri="{BB962C8B-B14F-4D97-AF65-F5344CB8AC3E}">
        <p14:creationId xmlns:p14="http://schemas.microsoft.com/office/powerpoint/2010/main" val="3763779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2"/>
          <p:cNvGrpSpPr/>
          <p:nvPr/>
        </p:nvGrpSpPr>
        <p:grpSpPr>
          <a:xfrm>
            <a:off x="5948585" y="6692612"/>
            <a:ext cx="642477" cy="533794"/>
            <a:chOff x="3121178" y="4414994"/>
            <a:chExt cx="1106956" cy="919701"/>
          </a:xfrm>
        </p:grpSpPr>
        <p:sp>
          <p:nvSpPr>
            <p:cNvPr id="103" name="Google Shape;103;p2"/>
            <p:cNvSpPr/>
            <p:nvPr/>
          </p:nvSpPr>
          <p:spPr>
            <a:xfrm>
              <a:off x="3204464" y="4533424"/>
              <a:ext cx="101815" cy="33643"/>
            </a:xfrm>
            <a:custGeom>
              <a:avLst/>
              <a:gdLst/>
              <a:ahLst/>
              <a:cxnLst/>
              <a:rect l="l" t="t" r="r" b="b"/>
              <a:pathLst>
                <a:path w="101815" h="33643" extrusionOk="0">
                  <a:moveTo>
                    <a:pt x="18288" y="33546"/>
                  </a:moveTo>
                  <a:cubicBezTo>
                    <a:pt x="29304" y="33766"/>
                    <a:pt x="40542" y="33546"/>
                    <a:pt x="51558" y="33546"/>
                  </a:cubicBezTo>
                  <a:cubicBezTo>
                    <a:pt x="62355" y="33546"/>
                    <a:pt x="73151" y="33766"/>
                    <a:pt x="83947" y="33546"/>
                  </a:cubicBezTo>
                  <a:cubicBezTo>
                    <a:pt x="93862" y="33325"/>
                    <a:pt x="101354" y="26936"/>
                    <a:pt x="101794" y="18343"/>
                  </a:cubicBezTo>
                  <a:cubicBezTo>
                    <a:pt x="102015" y="13716"/>
                    <a:pt x="100472" y="9309"/>
                    <a:pt x="97608" y="6004"/>
                  </a:cubicBezTo>
                  <a:cubicBezTo>
                    <a:pt x="94744" y="2699"/>
                    <a:pt x="90557" y="496"/>
                    <a:pt x="85490" y="496"/>
                  </a:cubicBezTo>
                  <a:cubicBezTo>
                    <a:pt x="85490" y="496"/>
                    <a:pt x="85490" y="496"/>
                    <a:pt x="85490" y="496"/>
                  </a:cubicBezTo>
                  <a:cubicBezTo>
                    <a:pt x="62575" y="-165"/>
                    <a:pt x="39660" y="-165"/>
                    <a:pt x="16746" y="496"/>
                  </a:cubicBezTo>
                  <a:cubicBezTo>
                    <a:pt x="14322" y="496"/>
                    <a:pt x="12118" y="1157"/>
                    <a:pt x="10136" y="2038"/>
                  </a:cubicBezTo>
                  <a:cubicBezTo>
                    <a:pt x="6169" y="4021"/>
                    <a:pt x="2864" y="7326"/>
                    <a:pt x="1322" y="11292"/>
                  </a:cubicBezTo>
                  <a:cubicBezTo>
                    <a:pt x="441" y="13275"/>
                    <a:pt x="0" y="15258"/>
                    <a:pt x="0" y="17241"/>
                  </a:cubicBezTo>
                  <a:cubicBezTo>
                    <a:pt x="221" y="25834"/>
                    <a:pt x="8373" y="33325"/>
                    <a:pt x="18288" y="33546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3136160" y="4414994"/>
              <a:ext cx="238180" cy="272002"/>
            </a:xfrm>
            <a:custGeom>
              <a:avLst/>
              <a:gdLst/>
              <a:ahLst/>
              <a:cxnLst/>
              <a:rect l="l" t="t" r="r" b="b"/>
              <a:pathLst>
                <a:path w="238180" h="272002" extrusionOk="0">
                  <a:moveTo>
                    <a:pt x="21813" y="271837"/>
                  </a:moveTo>
                  <a:cubicBezTo>
                    <a:pt x="87032" y="272057"/>
                    <a:pt x="152471" y="272057"/>
                    <a:pt x="217690" y="271837"/>
                  </a:cubicBezTo>
                  <a:cubicBezTo>
                    <a:pt x="224961" y="271837"/>
                    <a:pt x="230029" y="270074"/>
                    <a:pt x="233333" y="266769"/>
                  </a:cubicBezTo>
                  <a:cubicBezTo>
                    <a:pt x="236638" y="263244"/>
                    <a:pt x="238181" y="257956"/>
                    <a:pt x="238181" y="250685"/>
                  </a:cubicBezTo>
                  <a:cubicBezTo>
                    <a:pt x="238181" y="174009"/>
                    <a:pt x="238181" y="97112"/>
                    <a:pt x="238181" y="20436"/>
                  </a:cubicBezTo>
                  <a:cubicBezTo>
                    <a:pt x="238181" y="4792"/>
                    <a:pt x="233994" y="165"/>
                    <a:pt x="218571" y="165"/>
                  </a:cubicBezTo>
                  <a:cubicBezTo>
                    <a:pt x="152471" y="-55"/>
                    <a:pt x="86591" y="-55"/>
                    <a:pt x="20491" y="165"/>
                  </a:cubicBezTo>
                  <a:cubicBezTo>
                    <a:pt x="5068" y="165"/>
                    <a:pt x="220" y="5453"/>
                    <a:pt x="0" y="21097"/>
                  </a:cubicBezTo>
                  <a:cubicBezTo>
                    <a:pt x="0" y="59215"/>
                    <a:pt x="0" y="97553"/>
                    <a:pt x="0" y="135671"/>
                  </a:cubicBezTo>
                  <a:cubicBezTo>
                    <a:pt x="0" y="173788"/>
                    <a:pt x="0" y="212126"/>
                    <a:pt x="0" y="250244"/>
                  </a:cubicBezTo>
                  <a:cubicBezTo>
                    <a:pt x="220" y="265227"/>
                    <a:pt x="6830" y="271837"/>
                    <a:pt x="21813" y="271837"/>
                  </a:cubicBezTo>
                  <a:close/>
                  <a:moveTo>
                    <a:pt x="98489" y="32775"/>
                  </a:moveTo>
                  <a:cubicBezTo>
                    <a:pt x="105099" y="32555"/>
                    <a:pt x="111709" y="32555"/>
                    <a:pt x="118319" y="32555"/>
                  </a:cubicBezTo>
                  <a:cubicBezTo>
                    <a:pt x="125810" y="32555"/>
                    <a:pt x="133522" y="32555"/>
                    <a:pt x="141014" y="32775"/>
                  </a:cubicBezTo>
                  <a:cubicBezTo>
                    <a:pt x="144539" y="32775"/>
                    <a:pt x="148285" y="33436"/>
                    <a:pt x="153132" y="33876"/>
                  </a:cubicBezTo>
                  <a:cubicBezTo>
                    <a:pt x="152250" y="36741"/>
                    <a:pt x="151369" y="39164"/>
                    <a:pt x="150268" y="41148"/>
                  </a:cubicBezTo>
                  <a:cubicBezTo>
                    <a:pt x="149827" y="41808"/>
                    <a:pt x="149386" y="42249"/>
                    <a:pt x="148946" y="42910"/>
                  </a:cubicBezTo>
                  <a:cubicBezTo>
                    <a:pt x="148064" y="44232"/>
                    <a:pt x="147183" y="45554"/>
                    <a:pt x="146302" y="46435"/>
                  </a:cubicBezTo>
                  <a:cubicBezTo>
                    <a:pt x="145641" y="46876"/>
                    <a:pt x="144980" y="47317"/>
                    <a:pt x="144319" y="47757"/>
                  </a:cubicBezTo>
                  <a:cubicBezTo>
                    <a:pt x="143217" y="48419"/>
                    <a:pt x="142335" y="49080"/>
                    <a:pt x="141014" y="49520"/>
                  </a:cubicBezTo>
                  <a:cubicBezTo>
                    <a:pt x="140132" y="49741"/>
                    <a:pt x="139251" y="49741"/>
                    <a:pt x="138149" y="49961"/>
                  </a:cubicBezTo>
                  <a:cubicBezTo>
                    <a:pt x="137268" y="50181"/>
                    <a:pt x="136387" y="50402"/>
                    <a:pt x="135285" y="50402"/>
                  </a:cubicBezTo>
                  <a:cubicBezTo>
                    <a:pt x="134624" y="50402"/>
                    <a:pt x="133742" y="50402"/>
                    <a:pt x="132861" y="50402"/>
                  </a:cubicBezTo>
                  <a:cubicBezTo>
                    <a:pt x="127794" y="49961"/>
                    <a:pt x="122726" y="49961"/>
                    <a:pt x="117658" y="49961"/>
                  </a:cubicBezTo>
                  <a:cubicBezTo>
                    <a:pt x="113472" y="49961"/>
                    <a:pt x="109065" y="50181"/>
                    <a:pt x="104879" y="50181"/>
                  </a:cubicBezTo>
                  <a:cubicBezTo>
                    <a:pt x="103777" y="50181"/>
                    <a:pt x="102675" y="50181"/>
                    <a:pt x="101574" y="50181"/>
                  </a:cubicBezTo>
                  <a:cubicBezTo>
                    <a:pt x="98930" y="50181"/>
                    <a:pt x="95184" y="50181"/>
                    <a:pt x="93642" y="48639"/>
                  </a:cubicBezTo>
                  <a:cubicBezTo>
                    <a:pt x="90557" y="45113"/>
                    <a:pt x="88574" y="40707"/>
                    <a:pt x="86150" y="36741"/>
                  </a:cubicBezTo>
                  <a:cubicBezTo>
                    <a:pt x="90777" y="34978"/>
                    <a:pt x="94523" y="32775"/>
                    <a:pt x="98489" y="32775"/>
                  </a:cubicBezTo>
                  <a:close/>
                  <a:moveTo>
                    <a:pt x="34152" y="135891"/>
                  </a:moveTo>
                  <a:cubicBezTo>
                    <a:pt x="34152" y="105264"/>
                    <a:pt x="33931" y="74638"/>
                    <a:pt x="34372" y="44012"/>
                  </a:cubicBezTo>
                  <a:cubicBezTo>
                    <a:pt x="34372" y="40487"/>
                    <a:pt x="36796" y="36961"/>
                    <a:pt x="38118" y="33215"/>
                  </a:cubicBezTo>
                  <a:cubicBezTo>
                    <a:pt x="40982" y="35419"/>
                    <a:pt x="44728" y="36961"/>
                    <a:pt x="46711" y="39825"/>
                  </a:cubicBezTo>
                  <a:cubicBezTo>
                    <a:pt x="54202" y="50181"/>
                    <a:pt x="61032" y="60977"/>
                    <a:pt x="68083" y="71774"/>
                  </a:cubicBezTo>
                  <a:cubicBezTo>
                    <a:pt x="69405" y="73757"/>
                    <a:pt x="70727" y="75520"/>
                    <a:pt x="72269" y="77062"/>
                  </a:cubicBezTo>
                  <a:cubicBezTo>
                    <a:pt x="72710" y="77502"/>
                    <a:pt x="73371" y="77943"/>
                    <a:pt x="73812" y="78384"/>
                  </a:cubicBezTo>
                  <a:cubicBezTo>
                    <a:pt x="74913" y="79265"/>
                    <a:pt x="75795" y="80367"/>
                    <a:pt x="77117" y="81028"/>
                  </a:cubicBezTo>
                  <a:cubicBezTo>
                    <a:pt x="77778" y="81469"/>
                    <a:pt x="78659" y="81689"/>
                    <a:pt x="79320" y="81909"/>
                  </a:cubicBezTo>
                  <a:cubicBezTo>
                    <a:pt x="80422" y="82350"/>
                    <a:pt x="81523" y="83011"/>
                    <a:pt x="82845" y="83231"/>
                  </a:cubicBezTo>
                  <a:cubicBezTo>
                    <a:pt x="83727" y="83452"/>
                    <a:pt x="84828" y="83452"/>
                    <a:pt x="85710" y="83672"/>
                  </a:cubicBezTo>
                  <a:cubicBezTo>
                    <a:pt x="87252" y="83892"/>
                    <a:pt x="88795" y="84113"/>
                    <a:pt x="90337" y="84113"/>
                  </a:cubicBezTo>
                  <a:cubicBezTo>
                    <a:pt x="99811" y="83672"/>
                    <a:pt x="109285" y="83452"/>
                    <a:pt x="118760" y="83452"/>
                  </a:cubicBezTo>
                  <a:cubicBezTo>
                    <a:pt x="118980" y="83452"/>
                    <a:pt x="119200" y="83452"/>
                    <a:pt x="119421" y="83452"/>
                  </a:cubicBezTo>
                  <a:cubicBezTo>
                    <a:pt x="129556" y="83452"/>
                    <a:pt x="139692" y="83672"/>
                    <a:pt x="149827" y="83892"/>
                  </a:cubicBezTo>
                  <a:cubicBezTo>
                    <a:pt x="151369" y="83892"/>
                    <a:pt x="152471" y="83672"/>
                    <a:pt x="153793" y="83672"/>
                  </a:cubicBezTo>
                  <a:cubicBezTo>
                    <a:pt x="154674" y="83672"/>
                    <a:pt x="155556" y="83672"/>
                    <a:pt x="156437" y="83452"/>
                  </a:cubicBezTo>
                  <a:cubicBezTo>
                    <a:pt x="157539" y="83231"/>
                    <a:pt x="158640" y="82791"/>
                    <a:pt x="159742" y="82350"/>
                  </a:cubicBezTo>
                  <a:cubicBezTo>
                    <a:pt x="160403" y="82130"/>
                    <a:pt x="161064" y="81909"/>
                    <a:pt x="161725" y="81689"/>
                  </a:cubicBezTo>
                  <a:cubicBezTo>
                    <a:pt x="162827" y="81028"/>
                    <a:pt x="163708" y="80367"/>
                    <a:pt x="164810" y="79485"/>
                  </a:cubicBezTo>
                  <a:cubicBezTo>
                    <a:pt x="165250" y="79045"/>
                    <a:pt x="165691" y="78824"/>
                    <a:pt x="166132" y="78384"/>
                  </a:cubicBezTo>
                  <a:cubicBezTo>
                    <a:pt x="167454" y="77062"/>
                    <a:pt x="168775" y="75520"/>
                    <a:pt x="169877" y="73757"/>
                  </a:cubicBezTo>
                  <a:cubicBezTo>
                    <a:pt x="177809" y="61859"/>
                    <a:pt x="185741" y="50181"/>
                    <a:pt x="193894" y="38503"/>
                  </a:cubicBezTo>
                  <a:cubicBezTo>
                    <a:pt x="195656" y="36080"/>
                    <a:pt x="199182" y="34978"/>
                    <a:pt x="201826" y="33215"/>
                  </a:cubicBezTo>
                  <a:cubicBezTo>
                    <a:pt x="202927" y="36080"/>
                    <a:pt x="204690" y="38724"/>
                    <a:pt x="204911" y="41588"/>
                  </a:cubicBezTo>
                  <a:cubicBezTo>
                    <a:pt x="205131" y="104163"/>
                    <a:pt x="204911" y="166738"/>
                    <a:pt x="205131" y="229312"/>
                  </a:cubicBezTo>
                  <a:cubicBezTo>
                    <a:pt x="205131" y="230855"/>
                    <a:pt x="204911" y="232397"/>
                    <a:pt x="204690" y="233499"/>
                  </a:cubicBezTo>
                  <a:cubicBezTo>
                    <a:pt x="204690" y="233940"/>
                    <a:pt x="204249" y="234160"/>
                    <a:pt x="204249" y="234601"/>
                  </a:cubicBezTo>
                  <a:cubicBezTo>
                    <a:pt x="204029" y="235262"/>
                    <a:pt x="203809" y="235923"/>
                    <a:pt x="203368" y="236363"/>
                  </a:cubicBezTo>
                  <a:cubicBezTo>
                    <a:pt x="203148" y="236584"/>
                    <a:pt x="202707" y="236804"/>
                    <a:pt x="202266" y="237024"/>
                  </a:cubicBezTo>
                  <a:cubicBezTo>
                    <a:pt x="201826" y="237465"/>
                    <a:pt x="201165" y="237905"/>
                    <a:pt x="200504" y="237905"/>
                  </a:cubicBezTo>
                  <a:cubicBezTo>
                    <a:pt x="200063" y="238126"/>
                    <a:pt x="199402" y="238126"/>
                    <a:pt x="198741" y="238126"/>
                  </a:cubicBezTo>
                  <a:cubicBezTo>
                    <a:pt x="197860" y="238346"/>
                    <a:pt x="197199" y="238346"/>
                    <a:pt x="196317" y="238346"/>
                  </a:cubicBezTo>
                  <a:cubicBezTo>
                    <a:pt x="196317" y="238346"/>
                    <a:pt x="196317" y="238346"/>
                    <a:pt x="196317" y="238346"/>
                  </a:cubicBezTo>
                  <a:cubicBezTo>
                    <a:pt x="145641" y="238126"/>
                    <a:pt x="94744" y="238126"/>
                    <a:pt x="44067" y="238346"/>
                  </a:cubicBezTo>
                  <a:cubicBezTo>
                    <a:pt x="44067" y="238346"/>
                    <a:pt x="44067" y="238346"/>
                    <a:pt x="43846" y="238346"/>
                  </a:cubicBezTo>
                  <a:cubicBezTo>
                    <a:pt x="42745" y="238346"/>
                    <a:pt x="42304" y="238126"/>
                    <a:pt x="41423" y="238126"/>
                  </a:cubicBezTo>
                  <a:cubicBezTo>
                    <a:pt x="40762" y="238126"/>
                    <a:pt x="39880" y="238126"/>
                    <a:pt x="39219" y="237905"/>
                  </a:cubicBezTo>
                  <a:cubicBezTo>
                    <a:pt x="38558" y="237685"/>
                    <a:pt x="38118" y="237245"/>
                    <a:pt x="37677" y="236804"/>
                  </a:cubicBezTo>
                  <a:cubicBezTo>
                    <a:pt x="37236" y="236584"/>
                    <a:pt x="36796" y="236363"/>
                    <a:pt x="36355" y="235923"/>
                  </a:cubicBezTo>
                  <a:cubicBezTo>
                    <a:pt x="35914" y="235482"/>
                    <a:pt x="35694" y="234601"/>
                    <a:pt x="35474" y="233940"/>
                  </a:cubicBezTo>
                  <a:cubicBezTo>
                    <a:pt x="35253" y="233499"/>
                    <a:pt x="35033" y="233279"/>
                    <a:pt x="35033" y="232838"/>
                  </a:cubicBezTo>
                  <a:cubicBezTo>
                    <a:pt x="34813" y="231516"/>
                    <a:pt x="34592" y="230194"/>
                    <a:pt x="34592" y="228431"/>
                  </a:cubicBezTo>
                  <a:cubicBezTo>
                    <a:pt x="34372" y="197805"/>
                    <a:pt x="34152" y="166738"/>
                    <a:pt x="34152" y="13589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3204459" y="4585380"/>
              <a:ext cx="101578" cy="33564"/>
            </a:xfrm>
            <a:custGeom>
              <a:avLst/>
              <a:gdLst/>
              <a:ahLst/>
              <a:cxnLst/>
              <a:rect l="l" t="t" r="r" b="b"/>
              <a:pathLst>
                <a:path w="101578" h="33564" extrusionOk="0">
                  <a:moveTo>
                    <a:pt x="83070" y="98"/>
                  </a:moveTo>
                  <a:cubicBezTo>
                    <a:pt x="62139" y="-122"/>
                    <a:pt x="41427" y="98"/>
                    <a:pt x="20496" y="98"/>
                  </a:cubicBezTo>
                  <a:cubicBezTo>
                    <a:pt x="8818" y="98"/>
                    <a:pt x="225" y="6928"/>
                    <a:pt x="4" y="16182"/>
                  </a:cubicBezTo>
                  <a:cubicBezTo>
                    <a:pt x="-216" y="25657"/>
                    <a:pt x="7936" y="32928"/>
                    <a:pt x="19614" y="33368"/>
                  </a:cubicBezTo>
                  <a:cubicBezTo>
                    <a:pt x="29970" y="33809"/>
                    <a:pt x="40546" y="33368"/>
                    <a:pt x="50901" y="33368"/>
                  </a:cubicBezTo>
                  <a:cubicBezTo>
                    <a:pt x="61037" y="33368"/>
                    <a:pt x="70952" y="33368"/>
                    <a:pt x="81087" y="33368"/>
                  </a:cubicBezTo>
                  <a:cubicBezTo>
                    <a:pt x="81748" y="33368"/>
                    <a:pt x="82409" y="33368"/>
                    <a:pt x="83070" y="33368"/>
                  </a:cubicBezTo>
                  <a:cubicBezTo>
                    <a:pt x="94528" y="32487"/>
                    <a:pt x="101578" y="26097"/>
                    <a:pt x="101578" y="16403"/>
                  </a:cubicBezTo>
                  <a:cubicBezTo>
                    <a:pt x="101578" y="13979"/>
                    <a:pt x="101138" y="11776"/>
                    <a:pt x="100256" y="9793"/>
                  </a:cubicBezTo>
                  <a:cubicBezTo>
                    <a:pt x="98053" y="3623"/>
                    <a:pt x="91884" y="98"/>
                    <a:pt x="83070" y="9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3956022" y="4464955"/>
              <a:ext cx="272112" cy="187944"/>
            </a:xfrm>
            <a:custGeom>
              <a:avLst/>
              <a:gdLst/>
              <a:ahLst/>
              <a:cxnLst/>
              <a:rect l="l" t="t" r="r" b="b"/>
              <a:pathLst>
                <a:path w="272112" h="187944" extrusionOk="0">
                  <a:moveTo>
                    <a:pt x="267045" y="5288"/>
                  </a:moveTo>
                  <a:cubicBezTo>
                    <a:pt x="263519" y="1763"/>
                    <a:pt x="257791" y="220"/>
                    <a:pt x="249859" y="0"/>
                  </a:cubicBezTo>
                  <a:cubicBezTo>
                    <a:pt x="248757" y="0"/>
                    <a:pt x="247876" y="0"/>
                    <a:pt x="246774" y="0"/>
                  </a:cubicBezTo>
                  <a:cubicBezTo>
                    <a:pt x="209978" y="0"/>
                    <a:pt x="172962" y="0"/>
                    <a:pt x="136166" y="0"/>
                  </a:cubicBezTo>
                  <a:cubicBezTo>
                    <a:pt x="97608" y="0"/>
                    <a:pt x="59050" y="0"/>
                    <a:pt x="20491" y="0"/>
                  </a:cubicBezTo>
                  <a:cubicBezTo>
                    <a:pt x="6169" y="0"/>
                    <a:pt x="0" y="5949"/>
                    <a:pt x="0" y="20050"/>
                  </a:cubicBezTo>
                  <a:cubicBezTo>
                    <a:pt x="0" y="69405"/>
                    <a:pt x="0" y="118760"/>
                    <a:pt x="0" y="168115"/>
                  </a:cubicBezTo>
                  <a:cubicBezTo>
                    <a:pt x="0" y="181775"/>
                    <a:pt x="5949" y="187945"/>
                    <a:pt x="19389" y="187945"/>
                  </a:cubicBezTo>
                  <a:cubicBezTo>
                    <a:pt x="96947" y="187945"/>
                    <a:pt x="174284" y="187945"/>
                    <a:pt x="251842" y="187945"/>
                  </a:cubicBezTo>
                  <a:cubicBezTo>
                    <a:pt x="255367" y="187945"/>
                    <a:pt x="258231" y="187504"/>
                    <a:pt x="260655" y="186623"/>
                  </a:cubicBezTo>
                  <a:cubicBezTo>
                    <a:pt x="265723" y="184860"/>
                    <a:pt x="269028" y="181555"/>
                    <a:pt x="270790" y="176487"/>
                  </a:cubicBezTo>
                  <a:cubicBezTo>
                    <a:pt x="271672" y="173843"/>
                    <a:pt x="272112" y="170979"/>
                    <a:pt x="272112" y="167674"/>
                  </a:cubicBezTo>
                  <a:cubicBezTo>
                    <a:pt x="272112" y="119421"/>
                    <a:pt x="272112" y="71168"/>
                    <a:pt x="272112" y="22915"/>
                  </a:cubicBezTo>
                  <a:cubicBezTo>
                    <a:pt x="272112" y="14542"/>
                    <a:pt x="270570" y="8813"/>
                    <a:pt x="267045" y="5288"/>
                  </a:cubicBezTo>
                  <a:close/>
                  <a:moveTo>
                    <a:pt x="66982" y="34813"/>
                  </a:moveTo>
                  <a:cubicBezTo>
                    <a:pt x="112811" y="34813"/>
                    <a:pt x="158640" y="34813"/>
                    <a:pt x="207775" y="34813"/>
                  </a:cubicBezTo>
                  <a:cubicBezTo>
                    <a:pt x="200945" y="40982"/>
                    <a:pt x="196538" y="45169"/>
                    <a:pt x="191911" y="49134"/>
                  </a:cubicBezTo>
                  <a:cubicBezTo>
                    <a:pt x="176267" y="62795"/>
                    <a:pt x="160183" y="75795"/>
                    <a:pt x="144759" y="89896"/>
                  </a:cubicBezTo>
                  <a:cubicBezTo>
                    <a:pt x="142997" y="91438"/>
                    <a:pt x="141454" y="92540"/>
                    <a:pt x="140132" y="93422"/>
                  </a:cubicBezTo>
                  <a:cubicBezTo>
                    <a:pt x="139471" y="93642"/>
                    <a:pt x="139031" y="93642"/>
                    <a:pt x="138590" y="93862"/>
                  </a:cubicBezTo>
                  <a:cubicBezTo>
                    <a:pt x="137709" y="94083"/>
                    <a:pt x="136827" y="94523"/>
                    <a:pt x="135946" y="94523"/>
                  </a:cubicBezTo>
                  <a:cubicBezTo>
                    <a:pt x="135946" y="94523"/>
                    <a:pt x="135946" y="94523"/>
                    <a:pt x="135946" y="94523"/>
                  </a:cubicBezTo>
                  <a:cubicBezTo>
                    <a:pt x="135065" y="94523"/>
                    <a:pt x="133963" y="94083"/>
                    <a:pt x="133082" y="93642"/>
                  </a:cubicBezTo>
                  <a:cubicBezTo>
                    <a:pt x="132641" y="93422"/>
                    <a:pt x="132200" y="93422"/>
                    <a:pt x="131760" y="93201"/>
                  </a:cubicBezTo>
                  <a:cubicBezTo>
                    <a:pt x="130217" y="92320"/>
                    <a:pt x="128675" y="91218"/>
                    <a:pt x="126913" y="89676"/>
                  </a:cubicBezTo>
                  <a:cubicBezTo>
                    <a:pt x="109506" y="73812"/>
                    <a:pt x="91218" y="58829"/>
                    <a:pt x="73371" y="43626"/>
                  </a:cubicBezTo>
                  <a:cubicBezTo>
                    <a:pt x="70727" y="41423"/>
                    <a:pt x="67863" y="39660"/>
                    <a:pt x="64998" y="37677"/>
                  </a:cubicBezTo>
                  <a:cubicBezTo>
                    <a:pt x="65439" y="36796"/>
                    <a:pt x="66321" y="35915"/>
                    <a:pt x="66982" y="34813"/>
                  </a:cubicBezTo>
                  <a:close/>
                  <a:moveTo>
                    <a:pt x="34813" y="55524"/>
                  </a:moveTo>
                  <a:cubicBezTo>
                    <a:pt x="50897" y="69405"/>
                    <a:pt x="64558" y="81303"/>
                    <a:pt x="79320" y="94303"/>
                  </a:cubicBezTo>
                  <a:cubicBezTo>
                    <a:pt x="64337" y="107302"/>
                    <a:pt x="50677" y="119201"/>
                    <a:pt x="34813" y="132861"/>
                  </a:cubicBezTo>
                  <a:cubicBezTo>
                    <a:pt x="34813" y="106421"/>
                    <a:pt x="34813" y="82405"/>
                    <a:pt x="34813" y="55524"/>
                  </a:cubicBezTo>
                  <a:close/>
                  <a:moveTo>
                    <a:pt x="66761" y="153353"/>
                  </a:moveTo>
                  <a:cubicBezTo>
                    <a:pt x="66321" y="152471"/>
                    <a:pt x="65880" y="151810"/>
                    <a:pt x="65439" y="150929"/>
                  </a:cubicBezTo>
                  <a:cubicBezTo>
                    <a:pt x="77998" y="140353"/>
                    <a:pt x="90557" y="129556"/>
                    <a:pt x="103337" y="119201"/>
                  </a:cubicBezTo>
                  <a:cubicBezTo>
                    <a:pt x="103557" y="118980"/>
                    <a:pt x="104218" y="118760"/>
                    <a:pt x="104659" y="118760"/>
                  </a:cubicBezTo>
                  <a:cubicBezTo>
                    <a:pt x="105099" y="118760"/>
                    <a:pt x="105540" y="118980"/>
                    <a:pt x="106201" y="118980"/>
                  </a:cubicBezTo>
                  <a:cubicBezTo>
                    <a:pt x="106642" y="118980"/>
                    <a:pt x="106862" y="118980"/>
                    <a:pt x="107082" y="119201"/>
                  </a:cubicBezTo>
                  <a:cubicBezTo>
                    <a:pt x="108404" y="119641"/>
                    <a:pt x="109506" y="120082"/>
                    <a:pt x="110387" y="120743"/>
                  </a:cubicBezTo>
                  <a:cubicBezTo>
                    <a:pt x="114353" y="123387"/>
                    <a:pt x="117879" y="126912"/>
                    <a:pt x="121624" y="129997"/>
                  </a:cubicBezTo>
                  <a:cubicBezTo>
                    <a:pt x="124048" y="131980"/>
                    <a:pt x="126472" y="133743"/>
                    <a:pt x="128895" y="134624"/>
                  </a:cubicBezTo>
                  <a:cubicBezTo>
                    <a:pt x="129777" y="135065"/>
                    <a:pt x="130438" y="134844"/>
                    <a:pt x="131319" y="135065"/>
                  </a:cubicBezTo>
                  <a:cubicBezTo>
                    <a:pt x="132861" y="135505"/>
                    <a:pt x="134404" y="136166"/>
                    <a:pt x="135946" y="136166"/>
                  </a:cubicBezTo>
                  <a:cubicBezTo>
                    <a:pt x="137488" y="136166"/>
                    <a:pt x="139031" y="135505"/>
                    <a:pt x="140793" y="135065"/>
                  </a:cubicBezTo>
                  <a:cubicBezTo>
                    <a:pt x="141454" y="134844"/>
                    <a:pt x="142336" y="134844"/>
                    <a:pt x="142997" y="134624"/>
                  </a:cubicBezTo>
                  <a:cubicBezTo>
                    <a:pt x="145420" y="133522"/>
                    <a:pt x="147844" y="131980"/>
                    <a:pt x="150268" y="129777"/>
                  </a:cubicBezTo>
                  <a:cubicBezTo>
                    <a:pt x="152912" y="127573"/>
                    <a:pt x="154895" y="125811"/>
                    <a:pt x="156878" y="124268"/>
                  </a:cubicBezTo>
                  <a:cubicBezTo>
                    <a:pt x="157759" y="123607"/>
                    <a:pt x="158640" y="122946"/>
                    <a:pt x="159302" y="122285"/>
                  </a:cubicBezTo>
                  <a:cubicBezTo>
                    <a:pt x="159742" y="122065"/>
                    <a:pt x="160183" y="121845"/>
                    <a:pt x="160624" y="121624"/>
                  </a:cubicBezTo>
                  <a:cubicBezTo>
                    <a:pt x="161285" y="121184"/>
                    <a:pt x="161946" y="120743"/>
                    <a:pt x="162606" y="120523"/>
                  </a:cubicBezTo>
                  <a:cubicBezTo>
                    <a:pt x="163047" y="120302"/>
                    <a:pt x="163488" y="120302"/>
                    <a:pt x="163928" y="120302"/>
                  </a:cubicBezTo>
                  <a:cubicBezTo>
                    <a:pt x="164369" y="120082"/>
                    <a:pt x="165030" y="120082"/>
                    <a:pt x="165471" y="120082"/>
                  </a:cubicBezTo>
                  <a:cubicBezTo>
                    <a:pt x="165471" y="120082"/>
                    <a:pt x="165471" y="120082"/>
                    <a:pt x="165471" y="120082"/>
                  </a:cubicBezTo>
                  <a:cubicBezTo>
                    <a:pt x="166132" y="120082"/>
                    <a:pt x="166572" y="120302"/>
                    <a:pt x="167234" y="120523"/>
                  </a:cubicBezTo>
                  <a:cubicBezTo>
                    <a:pt x="167674" y="120523"/>
                    <a:pt x="168115" y="120523"/>
                    <a:pt x="168556" y="120743"/>
                  </a:cubicBezTo>
                  <a:cubicBezTo>
                    <a:pt x="169217" y="120963"/>
                    <a:pt x="169878" y="121404"/>
                    <a:pt x="170539" y="121845"/>
                  </a:cubicBezTo>
                  <a:cubicBezTo>
                    <a:pt x="170979" y="122065"/>
                    <a:pt x="171420" y="122285"/>
                    <a:pt x="171860" y="122506"/>
                  </a:cubicBezTo>
                  <a:cubicBezTo>
                    <a:pt x="172742" y="123167"/>
                    <a:pt x="173623" y="123828"/>
                    <a:pt x="174725" y="124709"/>
                  </a:cubicBezTo>
                  <a:cubicBezTo>
                    <a:pt x="175165" y="125150"/>
                    <a:pt x="175606" y="125370"/>
                    <a:pt x="176047" y="125811"/>
                  </a:cubicBezTo>
                  <a:cubicBezTo>
                    <a:pt x="177589" y="127133"/>
                    <a:pt x="179352" y="128675"/>
                    <a:pt x="181335" y="130217"/>
                  </a:cubicBezTo>
                  <a:cubicBezTo>
                    <a:pt x="188606" y="136607"/>
                    <a:pt x="196097" y="142776"/>
                    <a:pt x="203148" y="149386"/>
                  </a:cubicBezTo>
                  <a:cubicBezTo>
                    <a:pt x="203809" y="150047"/>
                    <a:pt x="204029" y="151149"/>
                    <a:pt x="204690" y="153353"/>
                  </a:cubicBezTo>
                  <a:cubicBezTo>
                    <a:pt x="158420" y="153353"/>
                    <a:pt x="112591" y="153353"/>
                    <a:pt x="66761" y="153353"/>
                  </a:cubicBezTo>
                  <a:close/>
                  <a:moveTo>
                    <a:pt x="237079" y="133081"/>
                  </a:moveTo>
                  <a:cubicBezTo>
                    <a:pt x="222317" y="120302"/>
                    <a:pt x="209317" y="109506"/>
                    <a:pt x="196758" y="98269"/>
                  </a:cubicBezTo>
                  <a:cubicBezTo>
                    <a:pt x="195436" y="96947"/>
                    <a:pt x="194996" y="91659"/>
                    <a:pt x="196318" y="90557"/>
                  </a:cubicBezTo>
                  <a:cubicBezTo>
                    <a:pt x="209097" y="79100"/>
                    <a:pt x="222097" y="68083"/>
                    <a:pt x="237079" y="55083"/>
                  </a:cubicBezTo>
                  <a:cubicBezTo>
                    <a:pt x="237079" y="81964"/>
                    <a:pt x="237079" y="105981"/>
                    <a:pt x="237079" y="13308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4024106" y="4993811"/>
              <a:ext cx="136551" cy="187834"/>
            </a:xfrm>
            <a:custGeom>
              <a:avLst/>
              <a:gdLst/>
              <a:ahLst/>
              <a:cxnLst/>
              <a:rect l="l" t="t" r="r" b="b"/>
              <a:pathLst>
                <a:path w="136551" h="187834" extrusionOk="0">
                  <a:moveTo>
                    <a:pt x="115235" y="165"/>
                  </a:moveTo>
                  <a:cubicBezTo>
                    <a:pt x="83727" y="-55"/>
                    <a:pt x="52219" y="-55"/>
                    <a:pt x="20711" y="165"/>
                  </a:cubicBezTo>
                  <a:cubicBezTo>
                    <a:pt x="20491" y="165"/>
                    <a:pt x="20491" y="165"/>
                    <a:pt x="20271" y="165"/>
                  </a:cubicBezTo>
                  <a:cubicBezTo>
                    <a:pt x="16965" y="165"/>
                    <a:pt x="13881" y="606"/>
                    <a:pt x="11457" y="1487"/>
                  </a:cubicBezTo>
                  <a:cubicBezTo>
                    <a:pt x="3966" y="4131"/>
                    <a:pt x="0" y="10741"/>
                    <a:pt x="0" y="20877"/>
                  </a:cubicBezTo>
                  <a:cubicBezTo>
                    <a:pt x="0" y="45113"/>
                    <a:pt x="0" y="69571"/>
                    <a:pt x="0" y="93807"/>
                  </a:cubicBezTo>
                  <a:cubicBezTo>
                    <a:pt x="0" y="117824"/>
                    <a:pt x="0" y="141840"/>
                    <a:pt x="0" y="165856"/>
                  </a:cubicBezTo>
                  <a:cubicBezTo>
                    <a:pt x="0" y="181500"/>
                    <a:pt x="5949" y="187669"/>
                    <a:pt x="22033" y="187669"/>
                  </a:cubicBezTo>
                  <a:cubicBezTo>
                    <a:pt x="52660" y="187890"/>
                    <a:pt x="83286" y="187890"/>
                    <a:pt x="113913" y="187669"/>
                  </a:cubicBezTo>
                  <a:cubicBezTo>
                    <a:pt x="117878" y="187669"/>
                    <a:pt x="121184" y="187229"/>
                    <a:pt x="124048" y="186348"/>
                  </a:cubicBezTo>
                  <a:cubicBezTo>
                    <a:pt x="129777" y="184585"/>
                    <a:pt x="133302" y="181059"/>
                    <a:pt x="135064" y="175551"/>
                  </a:cubicBezTo>
                  <a:cubicBezTo>
                    <a:pt x="135946" y="172687"/>
                    <a:pt x="136386" y="169382"/>
                    <a:pt x="136386" y="165636"/>
                  </a:cubicBezTo>
                  <a:cubicBezTo>
                    <a:pt x="136607" y="117603"/>
                    <a:pt x="136607" y="69791"/>
                    <a:pt x="136386" y="21758"/>
                  </a:cubicBezTo>
                  <a:cubicBezTo>
                    <a:pt x="136166" y="7877"/>
                    <a:pt x="128675" y="165"/>
                    <a:pt x="115235" y="165"/>
                  </a:cubicBezTo>
                  <a:close/>
                  <a:moveTo>
                    <a:pt x="96947" y="153958"/>
                  </a:moveTo>
                  <a:cubicBezTo>
                    <a:pt x="94082" y="154399"/>
                    <a:pt x="91218" y="154399"/>
                    <a:pt x="88134" y="154399"/>
                  </a:cubicBezTo>
                  <a:cubicBezTo>
                    <a:pt x="87913" y="154399"/>
                    <a:pt x="87472" y="154399"/>
                    <a:pt x="87252" y="154399"/>
                  </a:cubicBezTo>
                  <a:cubicBezTo>
                    <a:pt x="83727" y="154399"/>
                    <a:pt x="79981" y="154179"/>
                    <a:pt x="75574" y="154179"/>
                  </a:cubicBezTo>
                  <a:cubicBezTo>
                    <a:pt x="85489" y="141179"/>
                    <a:pt x="86150" y="131044"/>
                    <a:pt x="79540" y="124874"/>
                  </a:cubicBezTo>
                  <a:cubicBezTo>
                    <a:pt x="77998" y="123332"/>
                    <a:pt x="76015" y="122230"/>
                    <a:pt x="74252" y="121569"/>
                  </a:cubicBezTo>
                  <a:cubicBezTo>
                    <a:pt x="73591" y="121349"/>
                    <a:pt x="72930" y="121349"/>
                    <a:pt x="72269" y="121129"/>
                  </a:cubicBezTo>
                  <a:cubicBezTo>
                    <a:pt x="70947" y="120908"/>
                    <a:pt x="69625" y="120468"/>
                    <a:pt x="68303" y="120468"/>
                  </a:cubicBezTo>
                  <a:cubicBezTo>
                    <a:pt x="66981" y="120468"/>
                    <a:pt x="65659" y="120908"/>
                    <a:pt x="64337" y="121129"/>
                  </a:cubicBezTo>
                  <a:cubicBezTo>
                    <a:pt x="63676" y="121349"/>
                    <a:pt x="63015" y="121349"/>
                    <a:pt x="62354" y="121569"/>
                  </a:cubicBezTo>
                  <a:cubicBezTo>
                    <a:pt x="60371" y="122230"/>
                    <a:pt x="58609" y="123332"/>
                    <a:pt x="57066" y="124654"/>
                  </a:cubicBezTo>
                  <a:cubicBezTo>
                    <a:pt x="49795" y="131264"/>
                    <a:pt x="50456" y="140077"/>
                    <a:pt x="60592" y="154399"/>
                  </a:cubicBezTo>
                  <a:cubicBezTo>
                    <a:pt x="56405" y="154399"/>
                    <a:pt x="52439" y="154619"/>
                    <a:pt x="48914" y="154619"/>
                  </a:cubicBezTo>
                  <a:cubicBezTo>
                    <a:pt x="48694" y="154619"/>
                    <a:pt x="48473" y="154619"/>
                    <a:pt x="48253" y="154619"/>
                  </a:cubicBezTo>
                  <a:cubicBezTo>
                    <a:pt x="44948" y="154619"/>
                    <a:pt x="41643" y="154619"/>
                    <a:pt x="38558" y="154179"/>
                  </a:cubicBezTo>
                  <a:cubicBezTo>
                    <a:pt x="36796" y="153958"/>
                    <a:pt x="34151" y="149772"/>
                    <a:pt x="34151" y="147348"/>
                  </a:cubicBezTo>
                  <a:cubicBezTo>
                    <a:pt x="33931" y="111875"/>
                    <a:pt x="33711" y="76401"/>
                    <a:pt x="34151" y="41147"/>
                  </a:cubicBezTo>
                  <a:cubicBezTo>
                    <a:pt x="34151" y="39385"/>
                    <a:pt x="36575" y="36520"/>
                    <a:pt x="38779" y="35198"/>
                  </a:cubicBezTo>
                  <a:cubicBezTo>
                    <a:pt x="39440" y="34758"/>
                    <a:pt x="40321" y="34538"/>
                    <a:pt x="40762" y="34538"/>
                  </a:cubicBezTo>
                  <a:cubicBezTo>
                    <a:pt x="40762" y="34538"/>
                    <a:pt x="40762" y="34538"/>
                    <a:pt x="40762" y="34538"/>
                  </a:cubicBezTo>
                  <a:cubicBezTo>
                    <a:pt x="49795" y="34317"/>
                    <a:pt x="58609" y="34097"/>
                    <a:pt x="67642" y="34097"/>
                  </a:cubicBezTo>
                  <a:cubicBezTo>
                    <a:pt x="76676" y="34097"/>
                    <a:pt x="85930" y="34317"/>
                    <a:pt x="94964" y="34538"/>
                  </a:cubicBezTo>
                  <a:cubicBezTo>
                    <a:pt x="97388" y="34538"/>
                    <a:pt x="101794" y="38503"/>
                    <a:pt x="101794" y="40707"/>
                  </a:cubicBezTo>
                  <a:cubicBezTo>
                    <a:pt x="102235" y="76401"/>
                    <a:pt x="102235" y="112315"/>
                    <a:pt x="102014" y="148009"/>
                  </a:cubicBezTo>
                  <a:cubicBezTo>
                    <a:pt x="101794" y="149992"/>
                    <a:pt x="98930" y="153738"/>
                    <a:pt x="96947" y="15395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3204188" y="4492717"/>
              <a:ext cx="956157" cy="841978"/>
            </a:xfrm>
            <a:custGeom>
              <a:avLst/>
              <a:gdLst/>
              <a:ahLst/>
              <a:cxnLst/>
              <a:rect l="l" t="t" r="r" b="b"/>
              <a:pathLst>
                <a:path w="956157" h="841978" extrusionOk="0">
                  <a:moveTo>
                    <a:pt x="898797" y="718949"/>
                  </a:moveTo>
                  <a:cubicBezTo>
                    <a:pt x="888441" y="710797"/>
                    <a:pt x="875001" y="706831"/>
                    <a:pt x="858255" y="706391"/>
                  </a:cubicBezTo>
                  <a:cubicBezTo>
                    <a:pt x="836883" y="705950"/>
                    <a:pt x="816171" y="702424"/>
                    <a:pt x="797223" y="691628"/>
                  </a:cubicBezTo>
                  <a:cubicBezTo>
                    <a:pt x="791935" y="688543"/>
                    <a:pt x="787088" y="685459"/>
                    <a:pt x="782460" y="681934"/>
                  </a:cubicBezTo>
                  <a:cubicBezTo>
                    <a:pt x="764173" y="668273"/>
                    <a:pt x="751173" y="651527"/>
                    <a:pt x="743241" y="631697"/>
                  </a:cubicBezTo>
                  <a:cubicBezTo>
                    <a:pt x="737292" y="616935"/>
                    <a:pt x="733987" y="600410"/>
                    <a:pt x="733546" y="582343"/>
                  </a:cubicBezTo>
                  <a:cubicBezTo>
                    <a:pt x="732665" y="558106"/>
                    <a:pt x="730241" y="534089"/>
                    <a:pt x="728699" y="509852"/>
                  </a:cubicBezTo>
                  <a:cubicBezTo>
                    <a:pt x="728479" y="507209"/>
                    <a:pt x="728699" y="504565"/>
                    <a:pt x="728699" y="501700"/>
                  </a:cubicBezTo>
                  <a:cubicBezTo>
                    <a:pt x="732004" y="501480"/>
                    <a:pt x="734207" y="501039"/>
                    <a:pt x="736631" y="501039"/>
                  </a:cubicBezTo>
                  <a:cubicBezTo>
                    <a:pt x="744343" y="501039"/>
                    <a:pt x="752055" y="500599"/>
                    <a:pt x="759546" y="499717"/>
                  </a:cubicBezTo>
                  <a:cubicBezTo>
                    <a:pt x="782240" y="497294"/>
                    <a:pt x="804274" y="491124"/>
                    <a:pt x="825205" y="481430"/>
                  </a:cubicBezTo>
                  <a:cubicBezTo>
                    <a:pt x="868611" y="461600"/>
                    <a:pt x="901881" y="430753"/>
                    <a:pt x="923915" y="393957"/>
                  </a:cubicBezTo>
                  <a:cubicBezTo>
                    <a:pt x="945948" y="357161"/>
                    <a:pt x="957185" y="313976"/>
                    <a:pt x="956084" y="269469"/>
                  </a:cubicBezTo>
                  <a:cubicBezTo>
                    <a:pt x="955643" y="243249"/>
                    <a:pt x="934931" y="219012"/>
                    <a:pt x="910474" y="213944"/>
                  </a:cubicBezTo>
                  <a:cubicBezTo>
                    <a:pt x="905407" y="212843"/>
                    <a:pt x="900559" y="212402"/>
                    <a:pt x="895712" y="212402"/>
                  </a:cubicBezTo>
                  <a:cubicBezTo>
                    <a:pt x="891305" y="212402"/>
                    <a:pt x="886899" y="212843"/>
                    <a:pt x="882712" y="213724"/>
                  </a:cubicBezTo>
                  <a:cubicBezTo>
                    <a:pt x="881390" y="213944"/>
                    <a:pt x="880068" y="214385"/>
                    <a:pt x="878967" y="214825"/>
                  </a:cubicBezTo>
                  <a:cubicBezTo>
                    <a:pt x="876323" y="215486"/>
                    <a:pt x="873679" y="216368"/>
                    <a:pt x="871035" y="217470"/>
                  </a:cubicBezTo>
                  <a:cubicBezTo>
                    <a:pt x="869713" y="218131"/>
                    <a:pt x="868391" y="218792"/>
                    <a:pt x="866848" y="219673"/>
                  </a:cubicBezTo>
                  <a:cubicBezTo>
                    <a:pt x="864645" y="220775"/>
                    <a:pt x="862442" y="222097"/>
                    <a:pt x="860459" y="223639"/>
                  </a:cubicBezTo>
                  <a:cubicBezTo>
                    <a:pt x="859137" y="224520"/>
                    <a:pt x="858035" y="225622"/>
                    <a:pt x="856713" y="226724"/>
                  </a:cubicBezTo>
                  <a:cubicBezTo>
                    <a:pt x="854950" y="228266"/>
                    <a:pt x="853188" y="230029"/>
                    <a:pt x="851645" y="231791"/>
                  </a:cubicBezTo>
                  <a:cubicBezTo>
                    <a:pt x="850544" y="233113"/>
                    <a:pt x="849442" y="234215"/>
                    <a:pt x="848561" y="235537"/>
                  </a:cubicBezTo>
                  <a:cubicBezTo>
                    <a:pt x="847018" y="237520"/>
                    <a:pt x="845696" y="239723"/>
                    <a:pt x="844595" y="241927"/>
                  </a:cubicBezTo>
                  <a:cubicBezTo>
                    <a:pt x="843934" y="243249"/>
                    <a:pt x="843052" y="244791"/>
                    <a:pt x="842391" y="246333"/>
                  </a:cubicBezTo>
                  <a:cubicBezTo>
                    <a:pt x="841289" y="248977"/>
                    <a:pt x="840408" y="251842"/>
                    <a:pt x="839527" y="254706"/>
                  </a:cubicBezTo>
                  <a:cubicBezTo>
                    <a:pt x="839086" y="256028"/>
                    <a:pt x="838646" y="257350"/>
                    <a:pt x="838205" y="258892"/>
                  </a:cubicBezTo>
                  <a:cubicBezTo>
                    <a:pt x="837324" y="263299"/>
                    <a:pt x="836663" y="267926"/>
                    <a:pt x="836442" y="272773"/>
                  </a:cubicBezTo>
                  <a:cubicBezTo>
                    <a:pt x="836002" y="289739"/>
                    <a:pt x="834239" y="306705"/>
                    <a:pt x="826527" y="322349"/>
                  </a:cubicBezTo>
                  <a:cubicBezTo>
                    <a:pt x="824103" y="327416"/>
                    <a:pt x="821460" y="332043"/>
                    <a:pt x="818595" y="336450"/>
                  </a:cubicBezTo>
                  <a:cubicBezTo>
                    <a:pt x="804274" y="358263"/>
                    <a:pt x="784664" y="371924"/>
                    <a:pt x="760868" y="378313"/>
                  </a:cubicBezTo>
                  <a:cubicBezTo>
                    <a:pt x="751394" y="380957"/>
                    <a:pt x="741258" y="382279"/>
                    <a:pt x="730462" y="382500"/>
                  </a:cubicBezTo>
                  <a:cubicBezTo>
                    <a:pt x="709310" y="383161"/>
                    <a:pt x="688158" y="383381"/>
                    <a:pt x="667006" y="383381"/>
                  </a:cubicBezTo>
                  <a:cubicBezTo>
                    <a:pt x="662819" y="383381"/>
                    <a:pt x="658633" y="383381"/>
                    <a:pt x="654667" y="383381"/>
                  </a:cubicBezTo>
                  <a:cubicBezTo>
                    <a:pt x="627125" y="383381"/>
                    <a:pt x="599584" y="382940"/>
                    <a:pt x="572042" y="382940"/>
                  </a:cubicBezTo>
                  <a:cubicBezTo>
                    <a:pt x="569398" y="382940"/>
                    <a:pt x="566093" y="382279"/>
                    <a:pt x="564550" y="380737"/>
                  </a:cubicBezTo>
                  <a:cubicBezTo>
                    <a:pt x="561466" y="377432"/>
                    <a:pt x="562347" y="369280"/>
                    <a:pt x="564771" y="362890"/>
                  </a:cubicBezTo>
                  <a:cubicBezTo>
                    <a:pt x="626685" y="330942"/>
                    <a:pt x="669209" y="266604"/>
                    <a:pt x="669209" y="192131"/>
                  </a:cubicBezTo>
                  <a:cubicBezTo>
                    <a:pt x="669209" y="86151"/>
                    <a:pt x="583059" y="0"/>
                    <a:pt x="477078" y="0"/>
                  </a:cubicBezTo>
                  <a:cubicBezTo>
                    <a:pt x="371097" y="0"/>
                    <a:pt x="284947" y="86151"/>
                    <a:pt x="284947" y="192131"/>
                  </a:cubicBezTo>
                  <a:cubicBezTo>
                    <a:pt x="284947" y="267706"/>
                    <a:pt x="329013" y="333145"/>
                    <a:pt x="392690" y="364432"/>
                  </a:cubicBezTo>
                  <a:cubicBezTo>
                    <a:pt x="393351" y="368839"/>
                    <a:pt x="392249" y="373466"/>
                    <a:pt x="391809" y="378093"/>
                  </a:cubicBezTo>
                  <a:cubicBezTo>
                    <a:pt x="391809" y="378534"/>
                    <a:pt x="391148" y="379195"/>
                    <a:pt x="390487" y="379635"/>
                  </a:cubicBezTo>
                  <a:cubicBezTo>
                    <a:pt x="388724" y="380737"/>
                    <a:pt x="385859" y="381839"/>
                    <a:pt x="383216" y="382279"/>
                  </a:cubicBezTo>
                  <a:cubicBezTo>
                    <a:pt x="381894" y="382500"/>
                    <a:pt x="380572" y="382720"/>
                    <a:pt x="379470" y="382720"/>
                  </a:cubicBezTo>
                  <a:cubicBezTo>
                    <a:pt x="356335" y="382940"/>
                    <a:pt x="333200" y="383161"/>
                    <a:pt x="310285" y="383161"/>
                  </a:cubicBezTo>
                  <a:cubicBezTo>
                    <a:pt x="292658" y="383161"/>
                    <a:pt x="275032" y="383161"/>
                    <a:pt x="257405" y="382940"/>
                  </a:cubicBezTo>
                  <a:cubicBezTo>
                    <a:pt x="240439" y="382720"/>
                    <a:pt x="223474" y="381398"/>
                    <a:pt x="206508" y="380076"/>
                  </a:cubicBezTo>
                  <a:cubicBezTo>
                    <a:pt x="182051" y="378093"/>
                    <a:pt x="162662" y="365754"/>
                    <a:pt x="146136" y="348348"/>
                  </a:cubicBezTo>
                  <a:cubicBezTo>
                    <a:pt x="136001" y="337552"/>
                    <a:pt x="129391" y="325653"/>
                    <a:pt x="125205" y="312874"/>
                  </a:cubicBezTo>
                  <a:cubicBezTo>
                    <a:pt x="123222" y="306484"/>
                    <a:pt x="121679" y="299874"/>
                    <a:pt x="120578" y="293044"/>
                  </a:cubicBezTo>
                  <a:cubicBezTo>
                    <a:pt x="119476" y="286214"/>
                    <a:pt x="119035" y="279163"/>
                    <a:pt x="118815" y="272112"/>
                  </a:cubicBezTo>
                  <a:cubicBezTo>
                    <a:pt x="118595" y="266824"/>
                    <a:pt x="117713" y="261977"/>
                    <a:pt x="116612" y="257130"/>
                  </a:cubicBezTo>
                  <a:cubicBezTo>
                    <a:pt x="116171" y="255808"/>
                    <a:pt x="115730" y="254265"/>
                    <a:pt x="115290" y="252943"/>
                  </a:cubicBezTo>
                  <a:cubicBezTo>
                    <a:pt x="114188" y="249638"/>
                    <a:pt x="112866" y="246554"/>
                    <a:pt x="111324" y="243469"/>
                  </a:cubicBezTo>
                  <a:cubicBezTo>
                    <a:pt x="110663" y="242147"/>
                    <a:pt x="110002" y="241045"/>
                    <a:pt x="109341" y="239723"/>
                  </a:cubicBezTo>
                  <a:cubicBezTo>
                    <a:pt x="107137" y="236198"/>
                    <a:pt x="104714" y="233113"/>
                    <a:pt x="102070" y="230249"/>
                  </a:cubicBezTo>
                  <a:cubicBezTo>
                    <a:pt x="101629" y="229808"/>
                    <a:pt x="101409" y="229368"/>
                    <a:pt x="101188" y="229147"/>
                  </a:cubicBezTo>
                  <a:cubicBezTo>
                    <a:pt x="98104" y="226063"/>
                    <a:pt x="94358" y="223418"/>
                    <a:pt x="90612" y="220995"/>
                  </a:cubicBezTo>
                  <a:cubicBezTo>
                    <a:pt x="89511" y="220334"/>
                    <a:pt x="88409" y="219893"/>
                    <a:pt x="87307" y="219232"/>
                  </a:cubicBezTo>
                  <a:cubicBezTo>
                    <a:pt x="84443" y="217690"/>
                    <a:pt x="81358" y="216368"/>
                    <a:pt x="78274" y="215266"/>
                  </a:cubicBezTo>
                  <a:cubicBezTo>
                    <a:pt x="76952" y="214825"/>
                    <a:pt x="75629" y="214385"/>
                    <a:pt x="74307" y="213944"/>
                  </a:cubicBezTo>
                  <a:cubicBezTo>
                    <a:pt x="70782" y="213063"/>
                    <a:pt x="67257" y="212402"/>
                    <a:pt x="63511" y="212402"/>
                  </a:cubicBezTo>
                  <a:cubicBezTo>
                    <a:pt x="62630" y="212402"/>
                    <a:pt x="61749" y="212182"/>
                    <a:pt x="60867" y="212182"/>
                  </a:cubicBezTo>
                  <a:cubicBezTo>
                    <a:pt x="57562" y="212182"/>
                    <a:pt x="54257" y="212843"/>
                    <a:pt x="50952" y="213283"/>
                  </a:cubicBezTo>
                  <a:cubicBezTo>
                    <a:pt x="49189" y="213504"/>
                    <a:pt x="47647" y="213504"/>
                    <a:pt x="45885" y="213944"/>
                  </a:cubicBezTo>
                  <a:cubicBezTo>
                    <a:pt x="40817" y="215266"/>
                    <a:pt x="35749" y="217029"/>
                    <a:pt x="30902" y="219893"/>
                  </a:cubicBezTo>
                  <a:cubicBezTo>
                    <a:pt x="10631" y="230910"/>
                    <a:pt x="496" y="249418"/>
                    <a:pt x="55" y="272112"/>
                  </a:cubicBezTo>
                  <a:cubicBezTo>
                    <a:pt x="-165" y="282468"/>
                    <a:pt x="275" y="292824"/>
                    <a:pt x="1377" y="302959"/>
                  </a:cubicBezTo>
                  <a:cubicBezTo>
                    <a:pt x="3580" y="323230"/>
                    <a:pt x="8428" y="343060"/>
                    <a:pt x="15919" y="361788"/>
                  </a:cubicBezTo>
                  <a:cubicBezTo>
                    <a:pt x="19665" y="371263"/>
                    <a:pt x="24292" y="380517"/>
                    <a:pt x="29580" y="389550"/>
                  </a:cubicBezTo>
                  <a:cubicBezTo>
                    <a:pt x="64392" y="448600"/>
                    <a:pt x="115510" y="485616"/>
                    <a:pt x="183593" y="497514"/>
                  </a:cubicBezTo>
                  <a:cubicBezTo>
                    <a:pt x="198135" y="500158"/>
                    <a:pt x="212898" y="501259"/>
                    <a:pt x="225897" y="502802"/>
                  </a:cubicBezTo>
                  <a:cubicBezTo>
                    <a:pt x="224795" y="531005"/>
                    <a:pt x="223694" y="558546"/>
                    <a:pt x="222592" y="586088"/>
                  </a:cubicBezTo>
                  <a:cubicBezTo>
                    <a:pt x="221050" y="624647"/>
                    <a:pt x="206508" y="656595"/>
                    <a:pt x="176102" y="680832"/>
                  </a:cubicBezTo>
                  <a:cubicBezTo>
                    <a:pt x="164204" y="690306"/>
                    <a:pt x="151424" y="696916"/>
                    <a:pt x="137764" y="701102"/>
                  </a:cubicBezTo>
                  <a:cubicBezTo>
                    <a:pt x="124103" y="705289"/>
                    <a:pt x="109781" y="707052"/>
                    <a:pt x="94578" y="707052"/>
                  </a:cubicBezTo>
                  <a:cubicBezTo>
                    <a:pt x="70562" y="707272"/>
                    <a:pt x="52935" y="719170"/>
                    <a:pt x="43020" y="735474"/>
                  </a:cubicBezTo>
                  <a:cubicBezTo>
                    <a:pt x="37071" y="745389"/>
                    <a:pt x="34207" y="756627"/>
                    <a:pt x="34207" y="768084"/>
                  </a:cubicBezTo>
                  <a:cubicBezTo>
                    <a:pt x="34647" y="798931"/>
                    <a:pt x="61528" y="825591"/>
                    <a:pt x="92816" y="825811"/>
                  </a:cubicBezTo>
                  <a:cubicBezTo>
                    <a:pt x="98324" y="825811"/>
                    <a:pt x="103832" y="825371"/>
                    <a:pt x="109561" y="824930"/>
                  </a:cubicBezTo>
                  <a:cubicBezTo>
                    <a:pt x="111544" y="824710"/>
                    <a:pt x="113747" y="824710"/>
                    <a:pt x="115730" y="824710"/>
                  </a:cubicBezTo>
                  <a:cubicBezTo>
                    <a:pt x="123001" y="824049"/>
                    <a:pt x="130272" y="823167"/>
                    <a:pt x="137543" y="822286"/>
                  </a:cubicBezTo>
                  <a:cubicBezTo>
                    <a:pt x="147899" y="821184"/>
                    <a:pt x="157814" y="819201"/>
                    <a:pt x="167729" y="816557"/>
                  </a:cubicBezTo>
                  <a:cubicBezTo>
                    <a:pt x="197034" y="808625"/>
                    <a:pt x="223694" y="794524"/>
                    <a:pt x="248151" y="775796"/>
                  </a:cubicBezTo>
                  <a:cubicBezTo>
                    <a:pt x="270184" y="759050"/>
                    <a:pt x="288252" y="738779"/>
                    <a:pt x="303455" y="715645"/>
                  </a:cubicBezTo>
                  <a:cubicBezTo>
                    <a:pt x="304556" y="715865"/>
                    <a:pt x="305658" y="715865"/>
                    <a:pt x="306540" y="716085"/>
                  </a:cubicBezTo>
                  <a:cubicBezTo>
                    <a:pt x="306980" y="720051"/>
                    <a:pt x="307641" y="723797"/>
                    <a:pt x="307641" y="727763"/>
                  </a:cubicBezTo>
                  <a:cubicBezTo>
                    <a:pt x="307641" y="759050"/>
                    <a:pt x="307641" y="790338"/>
                    <a:pt x="307861" y="821625"/>
                  </a:cubicBezTo>
                  <a:cubicBezTo>
                    <a:pt x="307861" y="825150"/>
                    <a:pt x="308302" y="828235"/>
                    <a:pt x="308963" y="830659"/>
                  </a:cubicBezTo>
                  <a:cubicBezTo>
                    <a:pt x="309183" y="831320"/>
                    <a:pt x="309624" y="831760"/>
                    <a:pt x="309844" y="832201"/>
                  </a:cubicBezTo>
                  <a:cubicBezTo>
                    <a:pt x="310505" y="833964"/>
                    <a:pt x="311166" y="835726"/>
                    <a:pt x="312268" y="836828"/>
                  </a:cubicBezTo>
                  <a:cubicBezTo>
                    <a:pt x="312929" y="837489"/>
                    <a:pt x="313811" y="837709"/>
                    <a:pt x="314472" y="838370"/>
                  </a:cubicBezTo>
                  <a:cubicBezTo>
                    <a:pt x="315573" y="839031"/>
                    <a:pt x="316234" y="840133"/>
                    <a:pt x="317556" y="840574"/>
                  </a:cubicBezTo>
                  <a:cubicBezTo>
                    <a:pt x="318437" y="841015"/>
                    <a:pt x="319759" y="841015"/>
                    <a:pt x="320861" y="841015"/>
                  </a:cubicBezTo>
                  <a:cubicBezTo>
                    <a:pt x="322183" y="841235"/>
                    <a:pt x="323285" y="841676"/>
                    <a:pt x="325047" y="841676"/>
                  </a:cubicBezTo>
                  <a:cubicBezTo>
                    <a:pt x="336505" y="841676"/>
                    <a:pt x="340691" y="836608"/>
                    <a:pt x="340691" y="822066"/>
                  </a:cubicBezTo>
                  <a:cubicBezTo>
                    <a:pt x="340691" y="744508"/>
                    <a:pt x="340691" y="666951"/>
                    <a:pt x="340691" y="589393"/>
                  </a:cubicBezTo>
                  <a:cubicBezTo>
                    <a:pt x="340691" y="577495"/>
                    <a:pt x="334522" y="570224"/>
                    <a:pt x="325268" y="569783"/>
                  </a:cubicBezTo>
                  <a:cubicBezTo>
                    <a:pt x="323946" y="569783"/>
                    <a:pt x="322624" y="570224"/>
                    <a:pt x="321302" y="570444"/>
                  </a:cubicBezTo>
                  <a:cubicBezTo>
                    <a:pt x="320420" y="570665"/>
                    <a:pt x="319539" y="570665"/>
                    <a:pt x="318658" y="570885"/>
                  </a:cubicBezTo>
                  <a:cubicBezTo>
                    <a:pt x="317556" y="571326"/>
                    <a:pt x="316675" y="572207"/>
                    <a:pt x="315573" y="573089"/>
                  </a:cubicBezTo>
                  <a:cubicBezTo>
                    <a:pt x="314912" y="573529"/>
                    <a:pt x="314251" y="573970"/>
                    <a:pt x="313590" y="574631"/>
                  </a:cubicBezTo>
                  <a:cubicBezTo>
                    <a:pt x="312709" y="575732"/>
                    <a:pt x="311827" y="577054"/>
                    <a:pt x="311166" y="578376"/>
                  </a:cubicBezTo>
                  <a:cubicBezTo>
                    <a:pt x="310726" y="579037"/>
                    <a:pt x="310285" y="579478"/>
                    <a:pt x="309844" y="580360"/>
                  </a:cubicBezTo>
                  <a:cubicBezTo>
                    <a:pt x="308963" y="582563"/>
                    <a:pt x="308082" y="585207"/>
                    <a:pt x="307861" y="588071"/>
                  </a:cubicBezTo>
                  <a:cubicBezTo>
                    <a:pt x="305658" y="603935"/>
                    <a:pt x="303895" y="619579"/>
                    <a:pt x="301031" y="635223"/>
                  </a:cubicBezTo>
                  <a:cubicBezTo>
                    <a:pt x="295082" y="666951"/>
                    <a:pt x="279659" y="694272"/>
                    <a:pt x="258947" y="718729"/>
                  </a:cubicBezTo>
                  <a:cubicBezTo>
                    <a:pt x="230524" y="752440"/>
                    <a:pt x="194830" y="774914"/>
                    <a:pt x="152306" y="785270"/>
                  </a:cubicBezTo>
                  <a:cubicBezTo>
                    <a:pt x="133577" y="789897"/>
                    <a:pt x="113968" y="790558"/>
                    <a:pt x="94578" y="791439"/>
                  </a:cubicBezTo>
                  <a:cubicBezTo>
                    <a:pt x="94138" y="791439"/>
                    <a:pt x="93917" y="791439"/>
                    <a:pt x="93477" y="791439"/>
                  </a:cubicBezTo>
                  <a:cubicBezTo>
                    <a:pt x="91934" y="791439"/>
                    <a:pt x="90612" y="790999"/>
                    <a:pt x="89070" y="790558"/>
                  </a:cubicBezTo>
                  <a:cubicBezTo>
                    <a:pt x="87968" y="790338"/>
                    <a:pt x="86646" y="790338"/>
                    <a:pt x="85545" y="789897"/>
                  </a:cubicBezTo>
                  <a:cubicBezTo>
                    <a:pt x="84002" y="789236"/>
                    <a:pt x="82460" y="788354"/>
                    <a:pt x="81138" y="787253"/>
                  </a:cubicBezTo>
                  <a:cubicBezTo>
                    <a:pt x="80257" y="786592"/>
                    <a:pt x="79155" y="786372"/>
                    <a:pt x="78274" y="785490"/>
                  </a:cubicBezTo>
                  <a:cubicBezTo>
                    <a:pt x="76731" y="784168"/>
                    <a:pt x="75629" y="782846"/>
                    <a:pt x="74528" y="781304"/>
                  </a:cubicBezTo>
                  <a:cubicBezTo>
                    <a:pt x="73867" y="780643"/>
                    <a:pt x="73206" y="779982"/>
                    <a:pt x="72765" y="779100"/>
                  </a:cubicBezTo>
                  <a:cubicBezTo>
                    <a:pt x="71223" y="776677"/>
                    <a:pt x="70121" y="774033"/>
                    <a:pt x="69240" y="771389"/>
                  </a:cubicBezTo>
                  <a:cubicBezTo>
                    <a:pt x="68579" y="769186"/>
                    <a:pt x="68359" y="766542"/>
                    <a:pt x="68579" y="764118"/>
                  </a:cubicBezTo>
                  <a:cubicBezTo>
                    <a:pt x="68799" y="761694"/>
                    <a:pt x="69240" y="759050"/>
                    <a:pt x="70121" y="756627"/>
                  </a:cubicBezTo>
                  <a:cubicBezTo>
                    <a:pt x="71884" y="751779"/>
                    <a:pt x="75189" y="747593"/>
                    <a:pt x="79816" y="745169"/>
                  </a:cubicBezTo>
                  <a:cubicBezTo>
                    <a:pt x="82900" y="743406"/>
                    <a:pt x="86206" y="742085"/>
                    <a:pt x="89731" y="741203"/>
                  </a:cubicBezTo>
                  <a:cubicBezTo>
                    <a:pt x="90832" y="740983"/>
                    <a:pt x="91934" y="740983"/>
                    <a:pt x="93256" y="740763"/>
                  </a:cubicBezTo>
                  <a:cubicBezTo>
                    <a:pt x="95460" y="740322"/>
                    <a:pt x="97883" y="739661"/>
                    <a:pt x="100086" y="739661"/>
                  </a:cubicBezTo>
                  <a:cubicBezTo>
                    <a:pt x="100307" y="739661"/>
                    <a:pt x="100307" y="739661"/>
                    <a:pt x="100527" y="739661"/>
                  </a:cubicBezTo>
                  <a:cubicBezTo>
                    <a:pt x="100527" y="739661"/>
                    <a:pt x="100527" y="739661"/>
                    <a:pt x="100527" y="739661"/>
                  </a:cubicBezTo>
                  <a:cubicBezTo>
                    <a:pt x="104493" y="739661"/>
                    <a:pt x="108239" y="739441"/>
                    <a:pt x="111985" y="739220"/>
                  </a:cubicBezTo>
                  <a:cubicBezTo>
                    <a:pt x="114408" y="739000"/>
                    <a:pt x="117052" y="739000"/>
                    <a:pt x="119476" y="738779"/>
                  </a:cubicBezTo>
                  <a:cubicBezTo>
                    <a:pt x="123001" y="738339"/>
                    <a:pt x="126306" y="737678"/>
                    <a:pt x="129832" y="737237"/>
                  </a:cubicBezTo>
                  <a:cubicBezTo>
                    <a:pt x="132035" y="736796"/>
                    <a:pt x="134459" y="736576"/>
                    <a:pt x="136662" y="736135"/>
                  </a:cubicBezTo>
                  <a:cubicBezTo>
                    <a:pt x="140408" y="735254"/>
                    <a:pt x="144153" y="734153"/>
                    <a:pt x="147679" y="733051"/>
                  </a:cubicBezTo>
                  <a:cubicBezTo>
                    <a:pt x="149662" y="732390"/>
                    <a:pt x="151424" y="731949"/>
                    <a:pt x="153408" y="731288"/>
                  </a:cubicBezTo>
                  <a:cubicBezTo>
                    <a:pt x="158916" y="729305"/>
                    <a:pt x="164424" y="726881"/>
                    <a:pt x="169712" y="724238"/>
                  </a:cubicBezTo>
                  <a:cubicBezTo>
                    <a:pt x="215982" y="700662"/>
                    <a:pt x="245066" y="663866"/>
                    <a:pt x="252998" y="612087"/>
                  </a:cubicBezTo>
                  <a:cubicBezTo>
                    <a:pt x="255863" y="593359"/>
                    <a:pt x="256083" y="573970"/>
                    <a:pt x="256083" y="555021"/>
                  </a:cubicBezTo>
                  <a:cubicBezTo>
                    <a:pt x="256303" y="515141"/>
                    <a:pt x="270184" y="480989"/>
                    <a:pt x="298828" y="453447"/>
                  </a:cubicBezTo>
                  <a:cubicBezTo>
                    <a:pt x="323285" y="429872"/>
                    <a:pt x="353470" y="418855"/>
                    <a:pt x="386961" y="415770"/>
                  </a:cubicBezTo>
                  <a:cubicBezTo>
                    <a:pt x="388504" y="415550"/>
                    <a:pt x="390266" y="415550"/>
                    <a:pt x="391809" y="415550"/>
                  </a:cubicBezTo>
                  <a:cubicBezTo>
                    <a:pt x="392249" y="415550"/>
                    <a:pt x="392470" y="415550"/>
                    <a:pt x="392910" y="415550"/>
                  </a:cubicBezTo>
                  <a:cubicBezTo>
                    <a:pt x="393571" y="415550"/>
                    <a:pt x="394232" y="415550"/>
                    <a:pt x="394893" y="415770"/>
                  </a:cubicBezTo>
                  <a:cubicBezTo>
                    <a:pt x="396215" y="415990"/>
                    <a:pt x="397317" y="415990"/>
                    <a:pt x="398639" y="416431"/>
                  </a:cubicBezTo>
                  <a:cubicBezTo>
                    <a:pt x="399300" y="416651"/>
                    <a:pt x="399961" y="416872"/>
                    <a:pt x="400622" y="417092"/>
                  </a:cubicBezTo>
                  <a:cubicBezTo>
                    <a:pt x="401724" y="417533"/>
                    <a:pt x="403045" y="418194"/>
                    <a:pt x="404147" y="418634"/>
                  </a:cubicBezTo>
                  <a:cubicBezTo>
                    <a:pt x="404588" y="418855"/>
                    <a:pt x="405249" y="419075"/>
                    <a:pt x="405690" y="419516"/>
                  </a:cubicBezTo>
                  <a:cubicBezTo>
                    <a:pt x="407232" y="420618"/>
                    <a:pt x="408774" y="421940"/>
                    <a:pt x="410317" y="423702"/>
                  </a:cubicBezTo>
                  <a:cubicBezTo>
                    <a:pt x="415605" y="430092"/>
                    <a:pt x="421774" y="435600"/>
                    <a:pt x="427723" y="441549"/>
                  </a:cubicBezTo>
                  <a:cubicBezTo>
                    <a:pt x="430147" y="443973"/>
                    <a:pt x="432791" y="445956"/>
                    <a:pt x="435435" y="447278"/>
                  </a:cubicBezTo>
                  <a:cubicBezTo>
                    <a:pt x="436316" y="447719"/>
                    <a:pt x="437197" y="447939"/>
                    <a:pt x="437858" y="448159"/>
                  </a:cubicBezTo>
                  <a:cubicBezTo>
                    <a:pt x="439621" y="448820"/>
                    <a:pt x="441384" y="449481"/>
                    <a:pt x="443367" y="449481"/>
                  </a:cubicBezTo>
                  <a:cubicBezTo>
                    <a:pt x="444689" y="449481"/>
                    <a:pt x="446231" y="449481"/>
                    <a:pt x="447553" y="449261"/>
                  </a:cubicBezTo>
                  <a:cubicBezTo>
                    <a:pt x="448214" y="449040"/>
                    <a:pt x="449096" y="449040"/>
                    <a:pt x="449756" y="448820"/>
                  </a:cubicBezTo>
                  <a:cubicBezTo>
                    <a:pt x="451960" y="448159"/>
                    <a:pt x="454383" y="447058"/>
                    <a:pt x="456807" y="445515"/>
                  </a:cubicBezTo>
                  <a:cubicBezTo>
                    <a:pt x="457248" y="445295"/>
                    <a:pt x="457468" y="445295"/>
                    <a:pt x="457909" y="445075"/>
                  </a:cubicBezTo>
                  <a:cubicBezTo>
                    <a:pt x="461214" y="442871"/>
                    <a:pt x="464519" y="441108"/>
                    <a:pt x="467603" y="440007"/>
                  </a:cubicBezTo>
                  <a:cubicBezTo>
                    <a:pt x="468705" y="439566"/>
                    <a:pt x="470027" y="439566"/>
                    <a:pt x="471129" y="439346"/>
                  </a:cubicBezTo>
                  <a:cubicBezTo>
                    <a:pt x="473332" y="438905"/>
                    <a:pt x="475756" y="438024"/>
                    <a:pt x="477959" y="438024"/>
                  </a:cubicBezTo>
                  <a:cubicBezTo>
                    <a:pt x="477959" y="438024"/>
                    <a:pt x="477959" y="438024"/>
                    <a:pt x="477959" y="438024"/>
                  </a:cubicBezTo>
                  <a:cubicBezTo>
                    <a:pt x="480383" y="438024"/>
                    <a:pt x="482807" y="438685"/>
                    <a:pt x="485010" y="439346"/>
                  </a:cubicBezTo>
                  <a:cubicBezTo>
                    <a:pt x="486111" y="439566"/>
                    <a:pt x="487213" y="439566"/>
                    <a:pt x="488535" y="440007"/>
                  </a:cubicBezTo>
                  <a:cubicBezTo>
                    <a:pt x="492061" y="441329"/>
                    <a:pt x="495806" y="443091"/>
                    <a:pt x="499332" y="445736"/>
                  </a:cubicBezTo>
                  <a:cubicBezTo>
                    <a:pt x="501755" y="447278"/>
                    <a:pt x="503958" y="448379"/>
                    <a:pt x="506162" y="449040"/>
                  </a:cubicBezTo>
                  <a:cubicBezTo>
                    <a:pt x="506823" y="449261"/>
                    <a:pt x="507484" y="449261"/>
                    <a:pt x="508365" y="449481"/>
                  </a:cubicBezTo>
                  <a:cubicBezTo>
                    <a:pt x="509687" y="449701"/>
                    <a:pt x="511229" y="449701"/>
                    <a:pt x="512551" y="449701"/>
                  </a:cubicBezTo>
                  <a:cubicBezTo>
                    <a:pt x="514314" y="449481"/>
                    <a:pt x="516297" y="449040"/>
                    <a:pt x="518060" y="448379"/>
                  </a:cubicBezTo>
                  <a:cubicBezTo>
                    <a:pt x="518941" y="447939"/>
                    <a:pt x="519822" y="447939"/>
                    <a:pt x="520483" y="447498"/>
                  </a:cubicBezTo>
                  <a:cubicBezTo>
                    <a:pt x="523128" y="446176"/>
                    <a:pt x="525772" y="444193"/>
                    <a:pt x="528195" y="441769"/>
                  </a:cubicBezTo>
                  <a:cubicBezTo>
                    <a:pt x="534805" y="435159"/>
                    <a:pt x="540975" y="427889"/>
                    <a:pt x="548246" y="422160"/>
                  </a:cubicBezTo>
                  <a:cubicBezTo>
                    <a:pt x="550008" y="420838"/>
                    <a:pt x="552212" y="419516"/>
                    <a:pt x="554415" y="418414"/>
                  </a:cubicBezTo>
                  <a:cubicBezTo>
                    <a:pt x="554635" y="418194"/>
                    <a:pt x="554856" y="418194"/>
                    <a:pt x="555296" y="417973"/>
                  </a:cubicBezTo>
                  <a:cubicBezTo>
                    <a:pt x="557500" y="417092"/>
                    <a:pt x="559483" y="416431"/>
                    <a:pt x="561686" y="416431"/>
                  </a:cubicBezTo>
                  <a:cubicBezTo>
                    <a:pt x="561906" y="416431"/>
                    <a:pt x="562127" y="416211"/>
                    <a:pt x="562347" y="416211"/>
                  </a:cubicBezTo>
                  <a:cubicBezTo>
                    <a:pt x="562788" y="416211"/>
                    <a:pt x="563449" y="416211"/>
                    <a:pt x="563889" y="416431"/>
                  </a:cubicBezTo>
                  <a:cubicBezTo>
                    <a:pt x="582618" y="419736"/>
                    <a:pt x="602227" y="421940"/>
                    <a:pt x="619193" y="429431"/>
                  </a:cubicBezTo>
                  <a:cubicBezTo>
                    <a:pt x="666124" y="450362"/>
                    <a:pt x="693225" y="487819"/>
                    <a:pt x="698734" y="539157"/>
                  </a:cubicBezTo>
                  <a:cubicBezTo>
                    <a:pt x="701378" y="563614"/>
                    <a:pt x="700276" y="588512"/>
                    <a:pt x="703140" y="612969"/>
                  </a:cubicBezTo>
                  <a:cubicBezTo>
                    <a:pt x="706886" y="647782"/>
                    <a:pt x="724072" y="676645"/>
                    <a:pt x="749631" y="700001"/>
                  </a:cubicBezTo>
                  <a:cubicBezTo>
                    <a:pt x="753377" y="703306"/>
                    <a:pt x="757122" y="706391"/>
                    <a:pt x="760868" y="709475"/>
                  </a:cubicBezTo>
                  <a:cubicBezTo>
                    <a:pt x="761970" y="710356"/>
                    <a:pt x="763291" y="711017"/>
                    <a:pt x="764393" y="711899"/>
                  </a:cubicBezTo>
                  <a:cubicBezTo>
                    <a:pt x="767037" y="713882"/>
                    <a:pt x="769902" y="715865"/>
                    <a:pt x="772545" y="717627"/>
                  </a:cubicBezTo>
                  <a:cubicBezTo>
                    <a:pt x="774088" y="718729"/>
                    <a:pt x="775851" y="719390"/>
                    <a:pt x="777393" y="720492"/>
                  </a:cubicBezTo>
                  <a:cubicBezTo>
                    <a:pt x="779816" y="721814"/>
                    <a:pt x="782240" y="723356"/>
                    <a:pt x="784884" y="724678"/>
                  </a:cubicBezTo>
                  <a:cubicBezTo>
                    <a:pt x="786647" y="725560"/>
                    <a:pt x="788410" y="726220"/>
                    <a:pt x="790172" y="727102"/>
                  </a:cubicBezTo>
                  <a:cubicBezTo>
                    <a:pt x="792596" y="728203"/>
                    <a:pt x="795240" y="729525"/>
                    <a:pt x="797663" y="730407"/>
                  </a:cubicBezTo>
                  <a:cubicBezTo>
                    <a:pt x="799426" y="731068"/>
                    <a:pt x="801409" y="731729"/>
                    <a:pt x="803392" y="732390"/>
                  </a:cubicBezTo>
                  <a:cubicBezTo>
                    <a:pt x="806036" y="733271"/>
                    <a:pt x="808460" y="734153"/>
                    <a:pt x="811104" y="735034"/>
                  </a:cubicBezTo>
                  <a:cubicBezTo>
                    <a:pt x="813087" y="735695"/>
                    <a:pt x="815290" y="735915"/>
                    <a:pt x="817273" y="736356"/>
                  </a:cubicBezTo>
                  <a:cubicBezTo>
                    <a:pt x="819917" y="737017"/>
                    <a:pt x="822341" y="737678"/>
                    <a:pt x="824985" y="738118"/>
                  </a:cubicBezTo>
                  <a:cubicBezTo>
                    <a:pt x="827188" y="738559"/>
                    <a:pt x="829392" y="738779"/>
                    <a:pt x="831595" y="739000"/>
                  </a:cubicBezTo>
                  <a:cubicBezTo>
                    <a:pt x="834239" y="739441"/>
                    <a:pt x="836663" y="739881"/>
                    <a:pt x="839307" y="740102"/>
                  </a:cubicBezTo>
                  <a:cubicBezTo>
                    <a:pt x="841510" y="740322"/>
                    <a:pt x="843934" y="740322"/>
                    <a:pt x="846137" y="740322"/>
                  </a:cubicBezTo>
                  <a:cubicBezTo>
                    <a:pt x="849001" y="740542"/>
                    <a:pt x="851866" y="740763"/>
                    <a:pt x="854730" y="740542"/>
                  </a:cubicBezTo>
                  <a:cubicBezTo>
                    <a:pt x="854730" y="740542"/>
                    <a:pt x="854730" y="740542"/>
                    <a:pt x="854950" y="740542"/>
                  </a:cubicBezTo>
                  <a:cubicBezTo>
                    <a:pt x="856052" y="740542"/>
                    <a:pt x="857374" y="740763"/>
                    <a:pt x="858476" y="740983"/>
                  </a:cubicBezTo>
                  <a:cubicBezTo>
                    <a:pt x="859357" y="741203"/>
                    <a:pt x="860459" y="741203"/>
                    <a:pt x="861340" y="741203"/>
                  </a:cubicBezTo>
                  <a:cubicBezTo>
                    <a:pt x="862662" y="741424"/>
                    <a:pt x="863764" y="741864"/>
                    <a:pt x="865086" y="742305"/>
                  </a:cubicBezTo>
                  <a:cubicBezTo>
                    <a:pt x="865967" y="742525"/>
                    <a:pt x="867069" y="742746"/>
                    <a:pt x="867950" y="743186"/>
                  </a:cubicBezTo>
                  <a:cubicBezTo>
                    <a:pt x="869272" y="743627"/>
                    <a:pt x="870374" y="744288"/>
                    <a:pt x="871696" y="744949"/>
                  </a:cubicBezTo>
                  <a:cubicBezTo>
                    <a:pt x="872577" y="745389"/>
                    <a:pt x="873458" y="745610"/>
                    <a:pt x="874340" y="746271"/>
                  </a:cubicBezTo>
                  <a:cubicBezTo>
                    <a:pt x="875441" y="746932"/>
                    <a:pt x="876543" y="747593"/>
                    <a:pt x="877645" y="748474"/>
                  </a:cubicBezTo>
                  <a:cubicBezTo>
                    <a:pt x="878526" y="748915"/>
                    <a:pt x="879187" y="749356"/>
                    <a:pt x="880068" y="750017"/>
                  </a:cubicBezTo>
                  <a:cubicBezTo>
                    <a:pt x="882051" y="751339"/>
                    <a:pt x="883594" y="753101"/>
                    <a:pt x="884695" y="754864"/>
                  </a:cubicBezTo>
                  <a:cubicBezTo>
                    <a:pt x="888441" y="760372"/>
                    <a:pt x="888882" y="767643"/>
                    <a:pt x="886018" y="774694"/>
                  </a:cubicBezTo>
                  <a:cubicBezTo>
                    <a:pt x="884916" y="777558"/>
                    <a:pt x="883373" y="779982"/>
                    <a:pt x="881831" y="782185"/>
                  </a:cubicBezTo>
                  <a:cubicBezTo>
                    <a:pt x="876763" y="788795"/>
                    <a:pt x="869713" y="792321"/>
                    <a:pt x="860459" y="792541"/>
                  </a:cubicBezTo>
                  <a:cubicBezTo>
                    <a:pt x="858696" y="792541"/>
                    <a:pt x="857154" y="792541"/>
                    <a:pt x="855391" y="792541"/>
                  </a:cubicBezTo>
                  <a:cubicBezTo>
                    <a:pt x="852527" y="792541"/>
                    <a:pt x="849662" y="792321"/>
                    <a:pt x="846578" y="792100"/>
                  </a:cubicBezTo>
                  <a:cubicBezTo>
                    <a:pt x="843713" y="791880"/>
                    <a:pt x="841069" y="791880"/>
                    <a:pt x="838205" y="791660"/>
                  </a:cubicBezTo>
                  <a:cubicBezTo>
                    <a:pt x="834239" y="791439"/>
                    <a:pt x="830273" y="790778"/>
                    <a:pt x="826527" y="790117"/>
                  </a:cubicBezTo>
                  <a:cubicBezTo>
                    <a:pt x="823883" y="789677"/>
                    <a:pt x="821460" y="789456"/>
                    <a:pt x="818816" y="789016"/>
                  </a:cubicBezTo>
                  <a:cubicBezTo>
                    <a:pt x="814629" y="788134"/>
                    <a:pt x="810223" y="787253"/>
                    <a:pt x="806036" y="786151"/>
                  </a:cubicBezTo>
                  <a:cubicBezTo>
                    <a:pt x="803833" y="785711"/>
                    <a:pt x="801850" y="785270"/>
                    <a:pt x="799646" y="784609"/>
                  </a:cubicBezTo>
                  <a:cubicBezTo>
                    <a:pt x="793257" y="782846"/>
                    <a:pt x="787088" y="780863"/>
                    <a:pt x="780918" y="778439"/>
                  </a:cubicBezTo>
                  <a:cubicBezTo>
                    <a:pt x="726055" y="757067"/>
                    <a:pt x="687497" y="718949"/>
                    <a:pt x="664141" y="665188"/>
                  </a:cubicBezTo>
                  <a:cubicBezTo>
                    <a:pt x="661497" y="658798"/>
                    <a:pt x="659074" y="652409"/>
                    <a:pt x="657311" y="646019"/>
                  </a:cubicBezTo>
                  <a:cubicBezTo>
                    <a:pt x="651803" y="626630"/>
                    <a:pt x="649599" y="606579"/>
                    <a:pt x="648057" y="586088"/>
                  </a:cubicBezTo>
                  <a:cubicBezTo>
                    <a:pt x="648057" y="586088"/>
                    <a:pt x="648057" y="586088"/>
                    <a:pt x="648057" y="586088"/>
                  </a:cubicBezTo>
                  <a:cubicBezTo>
                    <a:pt x="647836" y="583664"/>
                    <a:pt x="647175" y="581241"/>
                    <a:pt x="646294" y="579258"/>
                  </a:cubicBezTo>
                  <a:cubicBezTo>
                    <a:pt x="646074" y="578597"/>
                    <a:pt x="645413" y="578156"/>
                    <a:pt x="645193" y="577495"/>
                  </a:cubicBezTo>
                  <a:cubicBezTo>
                    <a:pt x="644532" y="576393"/>
                    <a:pt x="643871" y="575071"/>
                    <a:pt x="642769" y="574190"/>
                  </a:cubicBezTo>
                  <a:cubicBezTo>
                    <a:pt x="642108" y="573750"/>
                    <a:pt x="641447" y="573309"/>
                    <a:pt x="640786" y="572868"/>
                  </a:cubicBezTo>
                  <a:cubicBezTo>
                    <a:pt x="639684" y="572207"/>
                    <a:pt x="638803" y="571546"/>
                    <a:pt x="637701" y="571106"/>
                  </a:cubicBezTo>
                  <a:cubicBezTo>
                    <a:pt x="636820" y="570885"/>
                    <a:pt x="635939" y="570885"/>
                    <a:pt x="635057" y="570665"/>
                  </a:cubicBezTo>
                  <a:cubicBezTo>
                    <a:pt x="633735" y="570444"/>
                    <a:pt x="632413" y="570004"/>
                    <a:pt x="631091" y="570004"/>
                  </a:cubicBezTo>
                  <a:cubicBezTo>
                    <a:pt x="621837" y="570444"/>
                    <a:pt x="615668" y="577054"/>
                    <a:pt x="615668" y="587190"/>
                  </a:cubicBezTo>
                  <a:cubicBezTo>
                    <a:pt x="615668" y="666510"/>
                    <a:pt x="615447" y="745830"/>
                    <a:pt x="615668" y="824930"/>
                  </a:cubicBezTo>
                  <a:cubicBezTo>
                    <a:pt x="615668" y="828015"/>
                    <a:pt x="616329" y="830659"/>
                    <a:pt x="616990" y="832862"/>
                  </a:cubicBezTo>
                  <a:cubicBezTo>
                    <a:pt x="617210" y="833523"/>
                    <a:pt x="617651" y="834184"/>
                    <a:pt x="618092" y="834845"/>
                  </a:cubicBezTo>
                  <a:cubicBezTo>
                    <a:pt x="618753" y="836167"/>
                    <a:pt x="619634" y="837489"/>
                    <a:pt x="620735" y="838591"/>
                  </a:cubicBezTo>
                  <a:cubicBezTo>
                    <a:pt x="621396" y="839031"/>
                    <a:pt x="622057" y="839472"/>
                    <a:pt x="622718" y="839913"/>
                  </a:cubicBezTo>
                  <a:cubicBezTo>
                    <a:pt x="624040" y="840574"/>
                    <a:pt x="625363" y="841235"/>
                    <a:pt x="626685" y="841455"/>
                  </a:cubicBezTo>
                  <a:cubicBezTo>
                    <a:pt x="627566" y="841676"/>
                    <a:pt x="628227" y="841896"/>
                    <a:pt x="629108" y="841896"/>
                  </a:cubicBezTo>
                  <a:cubicBezTo>
                    <a:pt x="631532" y="842116"/>
                    <a:pt x="633956" y="841896"/>
                    <a:pt x="636600" y="841235"/>
                  </a:cubicBezTo>
                  <a:cubicBezTo>
                    <a:pt x="643871" y="839252"/>
                    <a:pt x="646514" y="834625"/>
                    <a:pt x="647616" y="828676"/>
                  </a:cubicBezTo>
                  <a:cubicBezTo>
                    <a:pt x="647836" y="826693"/>
                    <a:pt x="648057" y="824710"/>
                    <a:pt x="648057" y="822506"/>
                  </a:cubicBezTo>
                  <a:cubicBezTo>
                    <a:pt x="648057" y="790778"/>
                    <a:pt x="648057" y="759271"/>
                    <a:pt x="648057" y="727542"/>
                  </a:cubicBezTo>
                  <a:cubicBezTo>
                    <a:pt x="648057" y="723797"/>
                    <a:pt x="648718" y="719831"/>
                    <a:pt x="649379" y="713221"/>
                  </a:cubicBezTo>
                  <a:cubicBezTo>
                    <a:pt x="652904" y="717407"/>
                    <a:pt x="654226" y="718949"/>
                    <a:pt x="655768" y="720712"/>
                  </a:cubicBezTo>
                  <a:cubicBezTo>
                    <a:pt x="671633" y="738118"/>
                    <a:pt x="686175" y="757067"/>
                    <a:pt x="704022" y="772270"/>
                  </a:cubicBezTo>
                  <a:cubicBezTo>
                    <a:pt x="741919" y="804879"/>
                    <a:pt x="787528" y="821184"/>
                    <a:pt x="837103" y="824930"/>
                  </a:cubicBezTo>
                  <a:cubicBezTo>
                    <a:pt x="843273" y="825371"/>
                    <a:pt x="849662" y="825150"/>
                    <a:pt x="855832" y="824710"/>
                  </a:cubicBezTo>
                  <a:cubicBezTo>
                    <a:pt x="857815" y="824490"/>
                    <a:pt x="860018" y="824490"/>
                    <a:pt x="862001" y="824269"/>
                  </a:cubicBezTo>
                  <a:cubicBezTo>
                    <a:pt x="868831" y="823608"/>
                    <a:pt x="875662" y="822506"/>
                    <a:pt x="882272" y="821184"/>
                  </a:cubicBezTo>
                  <a:cubicBezTo>
                    <a:pt x="904305" y="816117"/>
                    <a:pt x="922373" y="788354"/>
                    <a:pt x="921932" y="764999"/>
                  </a:cubicBezTo>
                  <a:cubicBezTo>
                    <a:pt x="921932" y="761694"/>
                    <a:pt x="921491" y="758389"/>
                    <a:pt x="920610" y="755304"/>
                  </a:cubicBezTo>
                  <a:cubicBezTo>
                    <a:pt x="916423" y="739000"/>
                    <a:pt x="909152" y="727102"/>
                    <a:pt x="898797" y="718949"/>
                  </a:cubicBezTo>
                  <a:close/>
                  <a:moveTo>
                    <a:pt x="286269" y="417533"/>
                  </a:moveTo>
                  <a:cubicBezTo>
                    <a:pt x="284065" y="420177"/>
                    <a:pt x="281862" y="423041"/>
                    <a:pt x="279438" y="425685"/>
                  </a:cubicBezTo>
                  <a:cubicBezTo>
                    <a:pt x="269744" y="436922"/>
                    <a:pt x="260049" y="448379"/>
                    <a:pt x="250134" y="459176"/>
                  </a:cubicBezTo>
                  <a:cubicBezTo>
                    <a:pt x="247270" y="462481"/>
                    <a:pt x="242863" y="466226"/>
                    <a:pt x="238897" y="466447"/>
                  </a:cubicBezTo>
                  <a:cubicBezTo>
                    <a:pt x="233829" y="466667"/>
                    <a:pt x="228982" y="466887"/>
                    <a:pt x="224135" y="466887"/>
                  </a:cubicBezTo>
                  <a:cubicBezTo>
                    <a:pt x="222592" y="466887"/>
                    <a:pt x="221270" y="466667"/>
                    <a:pt x="219728" y="466667"/>
                  </a:cubicBezTo>
                  <a:cubicBezTo>
                    <a:pt x="216423" y="466667"/>
                    <a:pt x="213338" y="466447"/>
                    <a:pt x="210253" y="466226"/>
                  </a:cubicBezTo>
                  <a:cubicBezTo>
                    <a:pt x="206067" y="466006"/>
                    <a:pt x="202101" y="465566"/>
                    <a:pt x="198135" y="465125"/>
                  </a:cubicBezTo>
                  <a:cubicBezTo>
                    <a:pt x="195051" y="464684"/>
                    <a:pt x="191966" y="464244"/>
                    <a:pt x="188881" y="463803"/>
                  </a:cubicBezTo>
                  <a:cubicBezTo>
                    <a:pt x="184915" y="463142"/>
                    <a:pt x="181169" y="462261"/>
                    <a:pt x="177203" y="461379"/>
                  </a:cubicBezTo>
                  <a:cubicBezTo>
                    <a:pt x="174119" y="460718"/>
                    <a:pt x="171255" y="459837"/>
                    <a:pt x="168390" y="459176"/>
                  </a:cubicBezTo>
                  <a:cubicBezTo>
                    <a:pt x="164644" y="458074"/>
                    <a:pt x="160899" y="456752"/>
                    <a:pt x="157153" y="455430"/>
                  </a:cubicBezTo>
                  <a:cubicBezTo>
                    <a:pt x="154289" y="454329"/>
                    <a:pt x="151645" y="453447"/>
                    <a:pt x="148780" y="452345"/>
                  </a:cubicBezTo>
                  <a:cubicBezTo>
                    <a:pt x="145035" y="450803"/>
                    <a:pt x="141509" y="449040"/>
                    <a:pt x="137984" y="447278"/>
                  </a:cubicBezTo>
                  <a:cubicBezTo>
                    <a:pt x="135340" y="445956"/>
                    <a:pt x="132696" y="444634"/>
                    <a:pt x="130272" y="443312"/>
                  </a:cubicBezTo>
                  <a:cubicBezTo>
                    <a:pt x="126527" y="441329"/>
                    <a:pt x="123001" y="438905"/>
                    <a:pt x="119476" y="436482"/>
                  </a:cubicBezTo>
                  <a:cubicBezTo>
                    <a:pt x="117052" y="434939"/>
                    <a:pt x="114849" y="433617"/>
                    <a:pt x="112425" y="431854"/>
                  </a:cubicBezTo>
                  <a:cubicBezTo>
                    <a:pt x="108679" y="428990"/>
                    <a:pt x="104934" y="425905"/>
                    <a:pt x="101409" y="422821"/>
                  </a:cubicBezTo>
                  <a:cubicBezTo>
                    <a:pt x="99646" y="421279"/>
                    <a:pt x="97663" y="419736"/>
                    <a:pt x="95900" y="418194"/>
                  </a:cubicBezTo>
                  <a:cubicBezTo>
                    <a:pt x="90612" y="413126"/>
                    <a:pt x="85324" y="407838"/>
                    <a:pt x="80257" y="402109"/>
                  </a:cubicBezTo>
                  <a:cubicBezTo>
                    <a:pt x="58443" y="377212"/>
                    <a:pt x="43241" y="348568"/>
                    <a:pt x="38613" y="315298"/>
                  </a:cubicBezTo>
                  <a:cubicBezTo>
                    <a:pt x="36631" y="301858"/>
                    <a:pt x="34868" y="288417"/>
                    <a:pt x="34427" y="274977"/>
                  </a:cubicBezTo>
                  <a:cubicBezTo>
                    <a:pt x="33986" y="258011"/>
                    <a:pt x="45664" y="245452"/>
                    <a:pt x="59986" y="245452"/>
                  </a:cubicBezTo>
                  <a:cubicBezTo>
                    <a:pt x="59986" y="245452"/>
                    <a:pt x="59986" y="245452"/>
                    <a:pt x="59986" y="245452"/>
                  </a:cubicBezTo>
                  <a:cubicBezTo>
                    <a:pt x="61969" y="245452"/>
                    <a:pt x="63511" y="246113"/>
                    <a:pt x="65274" y="246554"/>
                  </a:cubicBezTo>
                  <a:cubicBezTo>
                    <a:pt x="66816" y="246994"/>
                    <a:pt x="68359" y="246994"/>
                    <a:pt x="69681" y="247435"/>
                  </a:cubicBezTo>
                  <a:cubicBezTo>
                    <a:pt x="71443" y="248316"/>
                    <a:pt x="72765" y="249638"/>
                    <a:pt x="74307" y="250740"/>
                  </a:cubicBezTo>
                  <a:cubicBezTo>
                    <a:pt x="75409" y="251622"/>
                    <a:pt x="76731" y="252283"/>
                    <a:pt x="77833" y="253384"/>
                  </a:cubicBezTo>
                  <a:cubicBezTo>
                    <a:pt x="79596" y="255147"/>
                    <a:pt x="80697" y="257570"/>
                    <a:pt x="82019" y="259994"/>
                  </a:cubicBezTo>
                  <a:cubicBezTo>
                    <a:pt x="82460" y="260876"/>
                    <a:pt x="83121" y="261536"/>
                    <a:pt x="83561" y="262418"/>
                  </a:cubicBezTo>
                  <a:cubicBezTo>
                    <a:pt x="85104" y="265943"/>
                    <a:pt x="85985" y="269689"/>
                    <a:pt x="86426" y="273655"/>
                  </a:cubicBezTo>
                  <a:cubicBezTo>
                    <a:pt x="86646" y="277180"/>
                    <a:pt x="87087" y="280926"/>
                    <a:pt x="87307" y="284451"/>
                  </a:cubicBezTo>
                  <a:cubicBezTo>
                    <a:pt x="88189" y="295248"/>
                    <a:pt x="88850" y="306264"/>
                    <a:pt x="91714" y="316620"/>
                  </a:cubicBezTo>
                  <a:cubicBezTo>
                    <a:pt x="104493" y="362670"/>
                    <a:pt x="134899" y="392855"/>
                    <a:pt x="179848" y="408719"/>
                  </a:cubicBezTo>
                  <a:cubicBezTo>
                    <a:pt x="185576" y="410702"/>
                    <a:pt x="191305" y="412025"/>
                    <a:pt x="197034" y="412906"/>
                  </a:cubicBezTo>
                  <a:cubicBezTo>
                    <a:pt x="198135" y="413126"/>
                    <a:pt x="199237" y="413346"/>
                    <a:pt x="200338" y="413346"/>
                  </a:cubicBezTo>
                  <a:cubicBezTo>
                    <a:pt x="205847" y="414007"/>
                    <a:pt x="211355" y="414448"/>
                    <a:pt x="217084" y="414668"/>
                  </a:cubicBezTo>
                  <a:cubicBezTo>
                    <a:pt x="218406" y="414668"/>
                    <a:pt x="219728" y="414668"/>
                    <a:pt x="220830" y="414668"/>
                  </a:cubicBezTo>
                  <a:cubicBezTo>
                    <a:pt x="226338" y="414668"/>
                    <a:pt x="231846" y="414668"/>
                    <a:pt x="237134" y="414668"/>
                  </a:cubicBezTo>
                  <a:cubicBezTo>
                    <a:pt x="240660" y="414668"/>
                    <a:pt x="244405" y="414668"/>
                    <a:pt x="247931" y="414668"/>
                  </a:cubicBezTo>
                  <a:cubicBezTo>
                    <a:pt x="250795" y="414668"/>
                    <a:pt x="253439" y="414668"/>
                    <a:pt x="256303" y="414668"/>
                  </a:cubicBezTo>
                  <a:cubicBezTo>
                    <a:pt x="265557" y="414889"/>
                    <a:pt x="275032" y="414668"/>
                    <a:pt x="284286" y="414668"/>
                  </a:cubicBezTo>
                  <a:cubicBezTo>
                    <a:pt x="285167" y="415990"/>
                    <a:pt x="285608" y="416872"/>
                    <a:pt x="286269" y="417533"/>
                  </a:cubicBezTo>
                  <a:lnTo>
                    <a:pt x="286269" y="417533"/>
                  </a:lnTo>
                  <a:close/>
                  <a:moveTo>
                    <a:pt x="509026" y="410482"/>
                  </a:moveTo>
                  <a:cubicBezTo>
                    <a:pt x="508586" y="410482"/>
                    <a:pt x="508145" y="410482"/>
                    <a:pt x="507704" y="410482"/>
                  </a:cubicBezTo>
                  <a:cubicBezTo>
                    <a:pt x="507484" y="410482"/>
                    <a:pt x="507264" y="410262"/>
                    <a:pt x="507043" y="410262"/>
                  </a:cubicBezTo>
                  <a:cubicBezTo>
                    <a:pt x="505280" y="410041"/>
                    <a:pt x="503297" y="409601"/>
                    <a:pt x="501535" y="408719"/>
                  </a:cubicBezTo>
                  <a:cubicBezTo>
                    <a:pt x="501315" y="408499"/>
                    <a:pt x="500874" y="408499"/>
                    <a:pt x="500654" y="408279"/>
                  </a:cubicBezTo>
                  <a:cubicBezTo>
                    <a:pt x="498671" y="407397"/>
                    <a:pt x="496908" y="406296"/>
                    <a:pt x="495145" y="405194"/>
                  </a:cubicBezTo>
                  <a:cubicBezTo>
                    <a:pt x="492281" y="403432"/>
                    <a:pt x="489637" y="401889"/>
                    <a:pt x="486772" y="401008"/>
                  </a:cubicBezTo>
                  <a:cubicBezTo>
                    <a:pt x="485891" y="400787"/>
                    <a:pt x="485010" y="400567"/>
                    <a:pt x="484129" y="400347"/>
                  </a:cubicBezTo>
                  <a:cubicBezTo>
                    <a:pt x="482366" y="399906"/>
                    <a:pt x="480383" y="399465"/>
                    <a:pt x="478620" y="399465"/>
                  </a:cubicBezTo>
                  <a:cubicBezTo>
                    <a:pt x="476857" y="399465"/>
                    <a:pt x="475095" y="399686"/>
                    <a:pt x="473332" y="400126"/>
                  </a:cubicBezTo>
                  <a:cubicBezTo>
                    <a:pt x="472451" y="400347"/>
                    <a:pt x="471569" y="400347"/>
                    <a:pt x="470688" y="400567"/>
                  </a:cubicBezTo>
                  <a:cubicBezTo>
                    <a:pt x="468044" y="401448"/>
                    <a:pt x="465400" y="402550"/>
                    <a:pt x="462536" y="404313"/>
                  </a:cubicBezTo>
                  <a:cubicBezTo>
                    <a:pt x="460773" y="405414"/>
                    <a:pt x="458570" y="406516"/>
                    <a:pt x="456146" y="407397"/>
                  </a:cubicBezTo>
                  <a:cubicBezTo>
                    <a:pt x="455705" y="407618"/>
                    <a:pt x="455265" y="407838"/>
                    <a:pt x="454604" y="408058"/>
                  </a:cubicBezTo>
                  <a:cubicBezTo>
                    <a:pt x="452180" y="408940"/>
                    <a:pt x="449977" y="409601"/>
                    <a:pt x="448214" y="409601"/>
                  </a:cubicBezTo>
                  <a:cubicBezTo>
                    <a:pt x="448214" y="409601"/>
                    <a:pt x="447994" y="409601"/>
                    <a:pt x="447773" y="409601"/>
                  </a:cubicBezTo>
                  <a:cubicBezTo>
                    <a:pt x="446672" y="409601"/>
                    <a:pt x="446011" y="409380"/>
                    <a:pt x="445350" y="408940"/>
                  </a:cubicBezTo>
                  <a:cubicBezTo>
                    <a:pt x="436316" y="401889"/>
                    <a:pt x="424198" y="395500"/>
                    <a:pt x="427062" y="380296"/>
                  </a:cubicBezTo>
                  <a:cubicBezTo>
                    <a:pt x="427282" y="379415"/>
                    <a:pt x="427503" y="378313"/>
                    <a:pt x="427723" y="377212"/>
                  </a:cubicBezTo>
                  <a:cubicBezTo>
                    <a:pt x="443587" y="381398"/>
                    <a:pt x="459892" y="383822"/>
                    <a:pt x="477078" y="383822"/>
                  </a:cubicBezTo>
                  <a:cubicBezTo>
                    <a:pt x="494484" y="383822"/>
                    <a:pt x="511229" y="381398"/>
                    <a:pt x="527094" y="376991"/>
                  </a:cubicBezTo>
                  <a:cubicBezTo>
                    <a:pt x="529517" y="390652"/>
                    <a:pt x="520263" y="408499"/>
                    <a:pt x="509026" y="410482"/>
                  </a:cubicBezTo>
                  <a:close/>
                  <a:moveTo>
                    <a:pt x="477298" y="350992"/>
                  </a:moveTo>
                  <a:cubicBezTo>
                    <a:pt x="389605" y="350992"/>
                    <a:pt x="318217" y="279604"/>
                    <a:pt x="318217" y="191911"/>
                  </a:cubicBezTo>
                  <a:cubicBezTo>
                    <a:pt x="318217" y="104218"/>
                    <a:pt x="389605" y="32830"/>
                    <a:pt x="477298" y="32830"/>
                  </a:cubicBezTo>
                  <a:cubicBezTo>
                    <a:pt x="564991" y="32830"/>
                    <a:pt x="636379" y="104218"/>
                    <a:pt x="636379" y="191911"/>
                  </a:cubicBezTo>
                  <a:cubicBezTo>
                    <a:pt x="636379" y="279604"/>
                    <a:pt x="564991" y="350992"/>
                    <a:pt x="477298" y="350992"/>
                  </a:cubicBezTo>
                  <a:close/>
                  <a:moveTo>
                    <a:pt x="708428" y="462922"/>
                  </a:moveTo>
                  <a:cubicBezTo>
                    <a:pt x="696530" y="449481"/>
                    <a:pt x="684632" y="436041"/>
                    <a:pt x="672954" y="422380"/>
                  </a:cubicBezTo>
                  <a:cubicBezTo>
                    <a:pt x="671633" y="421058"/>
                    <a:pt x="671192" y="418855"/>
                    <a:pt x="669429" y="415109"/>
                  </a:cubicBezTo>
                  <a:cubicBezTo>
                    <a:pt x="680666" y="415109"/>
                    <a:pt x="691242" y="414889"/>
                    <a:pt x="701598" y="414889"/>
                  </a:cubicBezTo>
                  <a:cubicBezTo>
                    <a:pt x="703581" y="414889"/>
                    <a:pt x="706005" y="414889"/>
                    <a:pt x="707988" y="414889"/>
                  </a:cubicBezTo>
                  <a:cubicBezTo>
                    <a:pt x="715259" y="414889"/>
                    <a:pt x="722530" y="414889"/>
                    <a:pt x="729801" y="415329"/>
                  </a:cubicBezTo>
                  <a:cubicBezTo>
                    <a:pt x="734869" y="415550"/>
                    <a:pt x="739716" y="415109"/>
                    <a:pt x="744563" y="414668"/>
                  </a:cubicBezTo>
                  <a:cubicBezTo>
                    <a:pt x="747868" y="414448"/>
                    <a:pt x="751394" y="414228"/>
                    <a:pt x="754698" y="413787"/>
                  </a:cubicBezTo>
                  <a:cubicBezTo>
                    <a:pt x="758664" y="413126"/>
                    <a:pt x="762410" y="412245"/>
                    <a:pt x="766156" y="411364"/>
                  </a:cubicBezTo>
                  <a:cubicBezTo>
                    <a:pt x="769241" y="410702"/>
                    <a:pt x="772545" y="410041"/>
                    <a:pt x="775630" y="409160"/>
                  </a:cubicBezTo>
                  <a:cubicBezTo>
                    <a:pt x="779376" y="408058"/>
                    <a:pt x="782901" y="406516"/>
                    <a:pt x="786427" y="404974"/>
                  </a:cubicBezTo>
                  <a:cubicBezTo>
                    <a:pt x="789291" y="403872"/>
                    <a:pt x="792376" y="402770"/>
                    <a:pt x="795240" y="401448"/>
                  </a:cubicBezTo>
                  <a:cubicBezTo>
                    <a:pt x="798765" y="399686"/>
                    <a:pt x="801850" y="397703"/>
                    <a:pt x="805155" y="395720"/>
                  </a:cubicBezTo>
                  <a:cubicBezTo>
                    <a:pt x="807799" y="394177"/>
                    <a:pt x="810443" y="392635"/>
                    <a:pt x="812867" y="390872"/>
                  </a:cubicBezTo>
                  <a:cubicBezTo>
                    <a:pt x="816171" y="388669"/>
                    <a:pt x="819036" y="386025"/>
                    <a:pt x="822121" y="383381"/>
                  </a:cubicBezTo>
                  <a:cubicBezTo>
                    <a:pt x="824324" y="381398"/>
                    <a:pt x="826748" y="379856"/>
                    <a:pt x="828731" y="377652"/>
                  </a:cubicBezTo>
                  <a:cubicBezTo>
                    <a:pt x="831595" y="374788"/>
                    <a:pt x="834239" y="371483"/>
                    <a:pt x="836883" y="368398"/>
                  </a:cubicBezTo>
                  <a:cubicBezTo>
                    <a:pt x="838646" y="366415"/>
                    <a:pt x="840629" y="364432"/>
                    <a:pt x="842171" y="362229"/>
                  </a:cubicBezTo>
                  <a:cubicBezTo>
                    <a:pt x="845035" y="358703"/>
                    <a:pt x="847239" y="354738"/>
                    <a:pt x="849662" y="350772"/>
                  </a:cubicBezTo>
                  <a:cubicBezTo>
                    <a:pt x="850764" y="348789"/>
                    <a:pt x="852306" y="347026"/>
                    <a:pt x="853408" y="345043"/>
                  </a:cubicBezTo>
                  <a:cubicBezTo>
                    <a:pt x="856713" y="338874"/>
                    <a:pt x="859577" y="332704"/>
                    <a:pt x="861781" y="326094"/>
                  </a:cubicBezTo>
                  <a:cubicBezTo>
                    <a:pt x="867289" y="310451"/>
                    <a:pt x="867730" y="292824"/>
                    <a:pt x="869713" y="276078"/>
                  </a:cubicBezTo>
                  <a:cubicBezTo>
                    <a:pt x="870374" y="269909"/>
                    <a:pt x="871475" y="263960"/>
                    <a:pt x="873899" y="259113"/>
                  </a:cubicBezTo>
                  <a:cubicBezTo>
                    <a:pt x="876323" y="254265"/>
                    <a:pt x="880289" y="250079"/>
                    <a:pt x="886899" y="247655"/>
                  </a:cubicBezTo>
                  <a:cubicBezTo>
                    <a:pt x="889763" y="246554"/>
                    <a:pt x="892627" y="246113"/>
                    <a:pt x="895492" y="246113"/>
                  </a:cubicBezTo>
                  <a:cubicBezTo>
                    <a:pt x="895933" y="246113"/>
                    <a:pt x="896153" y="245893"/>
                    <a:pt x="896593" y="245893"/>
                  </a:cubicBezTo>
                  <a:cubicBezTo>
                    <a:pt x="896814" y="245893"/>
                    <a:pt x="897254" y="246113"/>
                    <a:pt x="897475" y="246113"/>
                  </a:cubicBezTo>
                  <a:cubicBezTo>
                    <a:pt x="900339" y="246113"/>
                    <a:pt x="902983" y="246774"/>
                    <a:pt x="905627" y="247655"/>
                  </a:cubicBezTo>
                  <a:cubicBezTo>
                    <a:pt x="906068" y="247876"/>
                    <a:pt x="906288" y="248096"/>
                    <a:pt x="906729" y="248096"/>
                  </a:cubicBezTo>
                  <a:cubicBezTo>
                    <a:pt x="909152" y="249198"/>
                    <a:pt x="911136" y="250520"/>
                    <a:pt x="913119" y="252062"/>
                  </a:cubicBezTo>
                  <a:cubicBezTo>
                    <a:pt x="913559" y="252283"/>
                    <a:pt x="913780" y="252723"/>
                    <a:pt x="914220" y="252943"/>
                  </a:cubicBezTo>
                  <a:cubicBezTo>
                    <a:pt x="916203" y="254926"/>
                    <a:pt x="917745" y="257130"/>
                    <a:pt x="919068" y="259774"/>
                  </a:cubicBezTo>
                  <a:cubicBezTo>
                    <a:pt x="919288" y="260215"/>
                    <a:pt x="919508" y="260876"/>
                    <a:pt x="919729" y="261536"/>
                  </a:cubicBezTo>
                  <a:cubicBezTo>
                    <a:pt x="920830" y="264180"/>
                    <a:pt x="921712" y="267265"/>
                    <a:pt x="921932" y="270570"/>
                  </a:cubicBezTo>
                  <a:cubicBezTo>
                    <a:pt x="923694" y="311552"/>
                    <a:pt x="913119" y="349449"/>
                    <a:pt x="890204" y="383822"/>
                  </a:cubicBezTo>
                  <a:cubicBezTo>
                    <a:pt x="864865" y="421719"/>
                    <a:pt x="829832" y="446397"/>
                    <a:pt x="786867" y="460057"/>
                  </a:cubicBezTo>
                  <a:cubicBezTo>
                    <a:pt x="781579" y="461820"/>
                    <a:pt x="776291" y="462922"/>
                    <a:pt x="771003" y="464023"/>
                  </a:cubicBezTo>
                  <a:cubicBezTo>
                    <a:pt x="769461" y="464244"/>
                    <a:pt x="767698" y="464464"/>
                    <a:pt x="766156" y="464905"/>
                  </a:cubicBezTo>
                  <a:cubicBezTo>
                    <a:pt x="762190" y="465566"/>
                    <a:pt x="758224" y="466006"/>
                    <a:pt x="754478" y="466226"/>
                  </a:cubicBezTo>
                  <a:cubicBezTo>
                    <a:pt x="752936" y="466447"/>
                    <a:pt x="751173" y="466447"/>
                    <a:pt x="749631" y="466667"/>
                  </a:cubicBezTo>
                  <a:cubicBezTo>
                    <a:pt x="744784" y="466887"/>
                    <a:pt x="739716" y="467108"/>
                    <a:pt x="734869" y="467108"/>
                  </a:cubicBezTo>
                  <a:cubicBezTo>
                    <a:pt x="734428" y="467108"/>
                    <a:pt x="733987" y="467108"/>
                    <a:pt x="733546" y="467108"/>
                  </a:cubicBezTo>
                  <a:cubicBezTo>
                    <a:pt x="733546" y="467108"/>
                    <a:pt x="733326" y="467108"/>
                    <a:pt x="733326" y="467108"/>
                  </a:cubicBezTo>
                  <a:cubicBezTo>
                    <a:pt x="727377" y="467108"/>
                    <a:pt x="721648" y="466887"/>
                    <a:pt x="715699" y="466667"/>
                  </a:cubicBezTo>
                  <a:cubicBezTo>
                    <a:pt x="713055" y="466447"/>
                    <a:pt x="710191" y="464905"/>
                    <a:pt x="708428" y="4629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3121178" y="4996180"/>
              <a:ext cx="137929" cy="223418"/>
            </a:xfrm>
            <a:custGeom>
              <a:avLst/>
              <a:gdLst/>
              <a:ahLst/>
              <a:cxnLst/>
              <a:rect l="l" t="t" r="r" b="b"/>
              <a:pathLst>
                <a:path w="137929" h="223418" extrusionOk="0">
                  <a:moveTo>
                    <a:pt x="137929" y="146522"/>
                  </a:moveTo>
                  <a:cubicBezTo>
                    <a:pt x="137929" y="135946"/>
                    <a:pt x="135285" y="127573"/>
                    <a:pt x="129997" y="121184"/>
                  </a:cubicBezTo>
                  <a:cubicBezTo>
                    <a:pt x="124709" y="114794"/>
                    <a:pt x="118320" y="109947"/>
                    <a:pt x="110608" y="106641"/>
                  </a:cubicBezTo>
                  <a:cubicBezTo>
                    <a:pt x="102896" y="103337"/>
                    <a:pt x="93422" y="100472"/>
                    <a:pt x="82405" y="98048"/>
                  </a:cubicBezTo>
                  <a:lnTo>
                    <a:pt x="82405" y="57507"/>
                  </a:lnTo>
                  <a:cubicBezTo>
                    <a:pt x="94744" y="58829"/>
                    <a:pt x="106862" y="63015"/>
                    <a:pt x="118760" y="69846"/>
                  </a:cubicBezTo>
                  <a:lnTo>
                    <a:pt x="130658" y="40541"/>
                  </a:lnTo>
                  <a:cubicBezTo>
                    <a:pt x="117879" y="32389"/>
                    <a:pt x="101794" y="27542"/>
                    <a:pt x="82405" y="25999"/>
                  </a:cubicBezTo>
                  <a:lnTo>
                    <a:pt x="82405" y="0"/>
                  </a:lnTo>
                  <a:lnTo>
                    <a:pt x="58609" y="0"/>
                  </a:lnTo>
                  <a:lnTo>
                    <a:pt x="58609" y="26440"/>
                  </a:lnTo>
                  <a:cubicBezTo>
                    <a:pt x="40541" y="28423"/>
                    <a:pt x="26661" y="34152"/>
                    <a:pt x="17186" y="43626"/>
                  </a:cubicBezTo>
                  <a:cubicBezTo>
                    <a:pt x="7712" y="53101"/>
                    <a:pt x="2864" y="64337"/>
                    <a:pt x="2864" y="77558"/>
                  </a:cubicBezTo>
                  <a:cubicBezTo>
                    <a:pt x="2864" y="88134"/>
                    <a:pt x="5508" y="96727"/>
                    <a:pt x="10796" y="103116"/>
                  </a:cubicBezTo>
                  <a:cubicBezTo>
                    <a:pt x="16085" y="109506"/>
                    <a:pt x="22474" y="114353"/>
                    <a:pt x="30406" y="117658"/>
                  </a:cubicBezTo>
                  <a:cubicBezTo>
                    <a:pt x="38118" y="120963"/>
                    <a:pt x="47592" y="124048"/>
                    <a:pt x="59050" y="126692"/>
                  </a:cubicBezTo>
                  <a:lnTo>
                    <a:pt x="59050" y="166352"/>
                  </a:lnTo>
                  <a:cubicBezTo>
                    <a:pt x="50457" y="165471"/>
                    <a:pt x="42084" y="163708"/>
                    <a:pt x="34152" y="160623"/>
                  </a:cubicBezTo>
                  <a:cubicBezTo>
                    <a:pt x="26000" y="157539"/>
                    <a:pt x="18949" y="153793"/>
                    <a:pt x="13000" y="149386"/>
                  </a:cubicBezTo>
                  <a:lnTo>
                    <a:pt x="0" y="178471"/>
                  </a:lnTo>
                  <a:cubicBezTo>
                    <a:pt x="6610" y="183538"/>
                    <a:pt x="14983" y="187725"/>
                    <a:pt x="25779" y="191250"/>
                  </a:cubicBezTo>
                  <a:cubicBezTo>
                    <a:pt x="36575" y="194775"/>
                    <a:pt x="47592" y="196758"/>
                    <a:pt x="59270" y="197419"/>
                  </a:cubicBezTo>
                  <a:lnTo>
                    <a:pt x="59270" y="223418"/>
                  </a:lnTo>
                  <a:lnTo>
                    <a:pt x="83066" y="223418"/>
                  </a:lnTo>
                  <a:lnTo>
                    <a:pt x="83066" y="196758"/>
                  </a:lnTo>
                  <a:cubicBezTo>
                    <a:pt x="100913" y="194555"/>
                    <a:pt x="114794" y="188826"/>
                    <a:pt x="124268" y="179572"/>
                  </a:cubicBezTo>
                  <a:cubicBezTo>
                    <a:pt x="133082" y="170539"/>
                    <a:pt x="137929" y="159522"/>
                    <a:pt x="137929" y="146522"/>
                  </a:cubicBezTo>
                  <a:close/>
                  <a:moveTo>
                    <a:pt x="58609" y="91879"/>
                  </a:moveTo>
                  <a:cubicBezTo>
                    <a:pt x="52880" y="90116"/>
                    <a:pt x="48473" y="87913"/>
                    <a:pt x="45609" y="85490"/>
                  </a:cubicBezTo>
                  <a:cubicBezTo>
                    <a:pt x="42745" y="83066"/>
                    <a:pt x="40982" y="79761"/>
                    <a:pt x="40982" y="75795"/>
                  </a:cubicBezTo>
                  <a:cubicBezTo>
                    <a:pt x="40982" y="71608"/>
                    <a:pt x="42304" y="68083"/>
                    <a:pt x="45169" y="64998"/>
                  </a:cubicBezTo>
                  <a:cubicBezTo>
                    <a:pt x="48033" y="61914"/>
                    <a:pt x="52440" y="59711"/>
                    <a:pt x="58389" y="58168"/>
                  </a:cubicBezTo>
                  <a:lnTo>
                    <a:pt x="58389" y="91879"/>
                  </a:lnTo>
                  <a:close/>
                  <a:moveTo>
                    <a:pt x="95405" y="159522"/>
                  </a:moveTo>
                  <a:cubicBezTo>
                    <a:pt x="92540" y="162386"/>
                    <a:pt x="88354" y="164369"/>
                    <a:pt x="82625" y="165691"/>
                  </a:cubicBezTo>
                  <a:lnTo>
                    <a:pt x="82625" y="132861"/>
                  </a:lnTo>
                  <a:cubicBezTo>
                    <a:pt x="88134" y="134844"/>
                    <a:pt x="92320" y="137048"/>
                    <a:pt x="95405" y="139471"/>
                  </a:cubicBezTo>
                  <a:cubicBezTo>
                    <a:pt x="98489" y="141895"/>
                    <a:pt x="99811" y="145200"/>
                    <a:pt x="99811" y="149166"/>
                  </a:cubicBezTo>
                  <a:cubicBezTo>
                    <a:pt x="99591" y="153353"/>
                    <a:pt x="98269" y="156657"/>
                    <a:pt x="95405" y="1595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10" name="Google Shape;110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2436" y="5025201"/>
            <a:ext cx="1153699" cy="68422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"/>
          <p:cNvSpPr txBox="1"/>
          <p:nvPr/>
        </p:nvSpPr>
        <p:spPr>
          <a:xfrm>
            <a:off x="6810875" y="6697663"/>
            <a:ext cx="936900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s" sz="700" b="1" i="0" u="none" strike="noStrike" cap="none" dirty="0">
                <a:solidFill>
                  <a:srgbClr val="006455"/>
                </a:solidFill>
                <a:latin typeface="Noto Sans"/>
                <a:ea typeface="Noto Sans"/>
                <a:cs typeface="Noto Sans"/>
                <a:sym typeface="Noto Sans"/>
              </a:rPr>
              <a:t>Personas Trabajadoras Independientes</a:t>
            </a:r>
            <a:endParaRPr sz="700" b="1" i="0" u="none" strike="noStrike" cap="none" dirty="0">
              <a:solidFill>
                <a:srgbClr val="006455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0" y="583200"/>
            <a:ext cx="74736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IMSS atiende 60% de la población</a:t>
            </a:r>
          </a:p>
        </p:txBody>
      </p:sp>
      <p:cxnSp>
        <p:nvCxnSpPr>
          <p:cNvPr id="115" name="Connector 114"/>
          <p:cNvCxnSpPr/>
          <p:nvPr/>
        </p:nvCxnSpPr>
        <p:spPr>
          <a:xfrm>
            <a:off x="0" y="9684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TextBox 115"/>
          <p:cNvSpPr txBox="1"/>
          <p:nvPr/>
        </p:nvSpPr>
        <p:spPr>
          <a:xfrm>
            <a:off x="82800" y="46224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CONAPO, proyección a enero de 2026.</a:t>
            </a:r>
          </a:p>
        </p:txBody>
      </p:sp>
      <p:graphicFrame>
        <p:nvGraphicFramePr>
          <p:cNvPr id="117" name="Chart 116"/>
          <p:cNvGraphicFramePr>
            <a:graphicFrameLocks noGrp="1"/>
          </p:cNvGraphicFramePr>
          <p:nvPr/>
        </p:nvGraphicFramePr>
        <p:xfrm>
          <a:off x="2268000" y="1116000"/>
          <a:ext cx="3240000" cy="3240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18" name="TextBox 117"/>
          <p:cNvSpPr txBox="1"/>
          <p:nvPr/>
        </p:nvSpPr>
        <p:spPr>
          <a:xfrm>
            <a:off x="6552000" y="14652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5,432,372</a:t>
            </a:r>
            <a:br/>
            <a:r>
              <a:t>60%</a:t>
            </a:r>
          </a:p>
        </p:txBody>
      </p:sp>
      <p:pic>
        <p:nvPicPr>
          <p:cNvPr id="119" name="Picture 118" descr="ims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3600" y="1461599"/>
            <a:ext cx="377265" cy="468000"/>
          </a:xfrm>
          <a:prstGeom prst="rect">
            <a:avLst/>
          </a:prstGeom>
        </p:spPr>
      </p:pic>
      <p:sp>
        <p:nvSpPr>
          <p:cNvPr id="120" name="Rectangle 119"/>
          <p:cNvSpPr/>
          <p:nvPr/>
        </p:nvSpPr>
        <p:spPr>
          <a:xfrm>
            <a:off x="5868000" y="1634400"/>
            <a:ext cx="122400" cy="122400"/>
          </a:xfrm>
          <a:prstGeom prst="rect">
            <a:avLst/>
          </a:prstGeom>
          <a:solidFill>
            <a:srgbClr val="006354"/>
          </a:solidFill>
          <a:ln>
            <a:solidFill>
              <a:srgbClr val="006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552000" y="37548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522,707</a:t>
            </a:r>
            <a:br/>
            <a:r>
              <a:t>6%</a:t>
            </a:r>
          </a:p>
        </p:txBody>
      </p:sp>
      <p:pic>
        <p:nvPicPr>
          <p:cNvPr id="122" name="Picture 121" descr="isss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51600" y="3798000"/>
            <a:ext cx="1437091" cy="468000"/>
          </a:xfrm>
          <a:prstGeom prst="rect">
            <a:avLst/>
          </a:prstGeom>
        </p:spPr>
      </p:pic>
      <p:sp>
        <p:nvSpPr>
          <p:cNvPr id="123" name="Rectangle 122"/>
          <p:cNvSpPr/>
          <p:nvPr/>
        </p:nvSpPr>
        <p:spPr>
          <a:xfrm>
            <a:off x="4942800" y="3978000"/>
            <a:ext cx="122400" cy="122400"/>
          </a:xfrm>
          <a:prstGeom prst="rect">
            <a:avLst/>
          </a:prstGeom>
          <a:solidFill>
            <a:srgbClr val="681C31"/>
          </a:solidFill>
          <a:ln>
            <a:solidFill>
              <a:srgbClr val="681C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7200" y="3254399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2,999,953</a:t>
            </a:r>
            <a:br/>
            <a:r>
              <a:t>33%</a:t>
            </a:r>
          </a:p>
        </p:txBody>
      </p:sp>
      <p:pic>
        <p:nvPicPr>
          <p:cNvPr id="125" name="Picture 124" descr="1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20400" y="3290400"/>
            <a:ext cx="1404000" cy="468000"/>
          </a:xfrm>
          <a:prstGeom prst="rect">
            <a:avLst/>
          </a:prstGeom>
        </p:spPr>
      </p:pic>
      <p:sp>
        <p:nvSpPr>
          <p:cNvPr id="126" name="Rectangle 125"/>
          <p:cNvSpPr/>
          <p:nvPr/>
        </p:nvSpPr>
        <p:spPr>
          <a:xfrm>
            <a:off x="75600" y="3463199"/>
            <a:ext cx="122400" cy="122400"/>
          </a:xfrm>
          <a:prstGeom prst="rect">
            <a:avLst/>
          </a:prstGeom>
          <a:solidFill>
            <a:srgbClr val="B79259"/>
          </a:solidFill>
          <a:ln>
            <a:solidFill>
              <a:srgbClr val="B79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7200" y="17820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Otros</a:t>
            </a:r>
            <a:br/>
            <a:r>
              <a:t>26,995</a:t>
            </a:r>
            <a:br/>
            <a:r>
              <a:t>0.30%</a:t>
            </a:r>
          </a:p>
        </p:txBody>
      </p:sp>
      <p:pic>
        <p:nvPicPr>
          <p:cNvPr id="128" name="Picture 127" descr="otro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20400" y="1800000"/>
            <a:ext cx="468000" cy="468000"/>
          </a:xfrm>
          <a:prstGeom prst="rect">
            <a:avLst/>
          </a:prstGeom>
        </p:spPr>
      </p:pic>
      <p:sp>
        <p:nvSpPr>
          <p:cNvPr id="129" name="Rectangle 128"/>
          <p:cNvSpPr/>
          <p:nvPr/>
        </p:nvSpPr>
        <p:spPr>
          <a:xfrm>
            <a:off x="75600" y="1868400"/>
            <a:ext cx="122400" cy="122400"/>
          </a:xfrm>
          <a:prstGeom prst="rect">
            <a:avLst/>
          </a:prstGeom>
          <a:solidFill>
            <a:srgbClr val="9E9E9E"/>
          </a:solidFill>
          <a:ln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2988000" y="2296800"/>
            <a:ext cx="1800000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F2241"/>
                </a:solidFill>
                <a:latin typeface="Montserrat"/>
              </a:defRPr>
            </a:pPr>
            <a:r>
              <a:t>Población </a:t>
            </a:r>
            <a:br/>
            <a:r>
              <a:t>estatal</a:t>
            </a:r>
            <a:br/>
            <a:r>
              <a:t>8,982,027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2800" y="89100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Dirección de Incorporación y Recaudación. Corte abril de 2026.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82800" y="90900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¹ Se refiere a personas derechohabientes (titulares y familiares) adscritas a UMF.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82800" y="9270000"/>
            <a:ext cx="76536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² La afiliación al Seguro de Salud de Familia disminuye en virtud del incremento en los nuevos esquemas de aseguramiento.</a:t>
            </a:r>
          </a:p>
        </p:txBody>
      </p:sp>
      <p:graphicFrame>
        <p:nvGraphicFramePr>
          <p:cNvPr id="134" name="Table 133"/>
          <p:cNvGraphicFramePr>
            <a:graphicFrameLocks noGrp="1"/>
          </p:cNvGraphicFramePr>
          <p:nvPr/>
        </p:nvGraphicFramePr>
        <p:xfrm>
          <a:off x="313200" y="5270400"/>
          <a:ext cx="5364000" cy="35279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2800"/>
                <a:gridCol w="1206000"/>
                <a:gridCol w="1206000"/>
                <a:gridCol w="11592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PDA¹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4,758,012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5,432,372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Titulares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2,558,127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3,208,199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25%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Puestos de trabajo</a:t>
                      </a:r>
                    </a:p>
                  </a:txBody>
                  <a:tcPr>
                    <a:solidFill>
                      <a:srgbClr val="DDC9A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1,761,000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2,072,796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Pensionados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327,058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476,719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Conservación de derechos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54,279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66,010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Sin empleo asociado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415,790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627,462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51%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Estudiantes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368,682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577,535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Seguro de Salud de Familia²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30,573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24,172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-21%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Continuación voluntaria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16,535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25,755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Familiares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2,199,885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2,224,173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Esposa(o)/concubina(rio)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738,686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798,569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Hijas e hijos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1,112,462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963,872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-13%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Madres y padres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348,737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461,732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5" name="Table 134"/>
          <p:cNvGraphicFramePr>
            <a:graphicFrameLocks noGrp="1"/>
          </p:cNvGraphicFramePr>
          <p:nvPr/>
        </p:nvGraphicFramePr>
        <p:xfrm>
          <a:off x="5792400" y="5688000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/>
                <a:gridCol w="648000"/>
                <a:gridCol w="648000"/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abril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marL="0" marR="0" marB="0" marT="216000" anchor="ctr"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4,568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4,692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2%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6" name="Table 135"/>
          <p:cNvGraphicFramePr>
            <a:graphicFrameLocks noGrp="1"/>
          </p:cNvGraphicFramePr>
          <p:nvPr/>
        </p:nvGraphicFramePr>
        <p:xfrm>
          <a:off x="5792400" y="7268400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/>
                <a:gridCol w="648000"/>
                <a:gridCol w="648000"/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abril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marL="0" marR="0" marB="0" marT="216000" anchor="ctr"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23,479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33,201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41%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</a:tbl>
          </a:graphicData>
        </a:graphic>
      </p:graphicFrame>
      <p:sp>
        <p:nvSpPr>
          <p:cNvPr id="137" name="TextBox 136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" name="Google Shape;133;p3"/>
          <p:cNvGraphicFramePr/>
          <p:nvPr>
            <p:extLst>
              <p:ext uri="{D42A27DB-BD31-4B8C-83A1-F6EECF244321}">
                <p14:modId xmlns:p14="http://schemas.microsoft.com/office/powerpoint/2010/main" val="1042193973"/>
              </p:ext>
            </p:extLst>
          </p:nvPr>
        </p:nvGraphicFramePr>
        <p:xfrm>
          <a:off x="211500" y="725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médica IMSS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34" name="Picture 133" descr="map_tipo1_14_j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000" y="1475999"/>
            <a:ext cx="5461200" cy="5011200"/>
          </a:xfrm>
          <a:prstGeom prst="rect">
            <a:avLst/>
          </a:prstGeom>
        </p:spPr>
      </p:pic>
      <p:graphicFrame>
        <p:nvGraphicFramePr>
          <p:cNvPr id="135" name="Table 134"/>
          <p:cNvGraphicFramePr>
            <a:graphicFrameLocks noGrp="1"/>
          </p:cNvGraphicFramePr>
          <p:nvPr/>
        </p:nvGraphicFramePr>
        <p:xfrm>
          <a:off x="1706400" y="6854400"/>
          <a:ext cx="4359600" cy="140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1920"/>
                <a:gridCol w="871920"/>
                <a:gridCol w="871920"/>
                <a:gridCol w="871920"/>
                <a:gridCol w="871920"/>
              </a:tblGrid>
              <a:tr h="234000"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Nivel</a:t>
                      </a:r>
                    </a:p>
                  </a:txBody>
                  <a:tcPr marL="10800" marR="10800" marT="10800" marB="10800" anchor="ctr">
                    <a:solidFill>
                      <a:srgbClr val="660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 Ordinario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</a:tr>
              <a:tr h="234000">
                <a:tc vMerge="1">
                  <a:txBody>
                    <a:bodyPr/>
                    <a:lstStyle/>
                    <a:p/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MF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Primer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107</a:t>
                      </a:r>
                      <a:r>
                        <a:rPr sz="700">
                          <a:latin typeface="Montserrat"/>
                        </a:rPr>
                        <a:t> 1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606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53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367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Segundo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17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38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2,551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1,042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Tercer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3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0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889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402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Total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127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644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3,493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1,811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6" name="Table 135"/>
          <p:cNvGraphicFramePr>
            <a:graphicFrameLocks noGrp="1"/>
          </p:cNvGraphicFramePr>
          <p:nvPr/>
        </p:nvGraphicFramePr>
        <p:xfrm>
          <a:off x="5659200" y="1155600"/>
          <a:ext cx="2026800" cy="117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3400"/>
                <a:gridCol w="1013400"/>
              </a:tblGrid>
              <a:tr h="23472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2o Nivel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347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HGZ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347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47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HGR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347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37" name="TextBox 136"/>
          <p:cNvSpPr txBox="1"/>
          <p:nvPr/>
        </p:nvSpPr>
        <p:spPr>
          <a:xfrm>
            <a:off x="212400" y="8877600"/>
            <a:ext cx="720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¹ Incluye 94 UMF, 12 UMFH, 1 UMF-UMAA y no incluye 59 Unidades Auxiliares de Medicina Familiar.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212400" y="9057600"/>
            <a:ext cx="1713600" cy="122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Corte de información: marzo de 2026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Google Shape;156;g3d7b9a303e3_0_33">
            <a:extLst>
              <a:ext uri="{FF2B5EF4-FFF2-40B4-BE49-F238E27FC236}">
                <a16:creationId xmlns:a16="http://schemas.microsoft.com/office/drawing/2014/main" id="{A75A6BA6-1AD0-365F-2E99-8B28F7AD55A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68015904"/>
              </p:ext>
            </p:extLst>
          </p:nvPr>
        </p:nvGraphicFramePr>
        <p:xfrm>
          <a:off x="286850" y="1190046"/>
          <a:ext cx="7198700" cy="54864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198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800" b="1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Primer hospital en la entidad:</a:t>
                      </a:r>
                      <a:endParaRPr sz="1800" b="1" dirty="0">
                        <a:solidFill>
                          <a:srgbClr val="A4214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800" b="1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Hospital Ayala</a:t>
                      </a:r>
                      <a:endParaRPr sz="18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7" name="Google Shape;157;g3d7b9a303e3_0_33">
            <a:extLst>
              <a:ext uri="{FF2B5EF4-FFF2-40B4-BE49-F238E27FC236}">
                <a16:creationId xmlns:a16="http://schemas.microsoft.com/office/drawing/2014/main" id="{0139AD3E-A2BB-9121-2D42-4DFFA5094F3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1208" y="3812481"/>
            <a:ext cx="2800350" cy="1771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158;g3d7b9a303e3_0_33">
            <a:extLst>
              <a:ext uri="{FF2B5EF4-FFF2-40B4-BE49-F238E27FC236}">
                <a16:creationId xmlns:a16="http://schemas.microsoft.com/office/drawing/2014/main" id="{F5459F8C-33AB-C255-41B5-46AB1DCCE2F1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6850" y="1945299"/>
            <a:ext cx="3029070" cy="180252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CB94C34A-F5BD-16FB-C523-148B92639C40}"/>
              </a:ext>
            </a:extLst>
          </p:cNvPr>
          <p:cNvSpPr txBox="1"/>
          <p:nvPr/>
        </p:nvSpPr>
        <p:spPr>
          <a:xfrm>
            <a:off x="3417406" y="2104969"/>
            <a:ext cx="4179377" cy="3223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1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El IMSS inició operaciones el 1 de julio de 1946 en Guadalajara con tres locales rentados, uno en el Centro Histórico.</a:t>
            </a:r>
          </a:p>
          <a:p>
            <a:pPr algn="just" rtl="0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1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En 1958 se inauguró la primera clínica de Zona No. 1, ahora UMF en Agua Azul. </a:t>
            </a:r>
          </a:p>
          <a:p>
            <a:pPr algn="just" rtl="0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1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El primer hospital del IMSS fue el Hospital Ayala, adquirido en 1958 y posteriormente renombrado como Hospital Regional de Occidente, antecedente del Hospital General Regional No. 45 y del Centro Médico Nacional de Occidente. </a:t>
            </a:r>
          </a:p>
          <a:p>
            <a:pPr algn="just" rtl="0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1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Contaba con aproximada de 60 camas, y ofrecía servicios de hospitalización general, urgencias, medicina interna, cirugía general básica, gineco‑obstetricia, laboratorio y farmacia, para la atención de alta especialidad contó con el apoyo del entonces Centro Médico Nacional de la Ciudad de México.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" y="640080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Capacidad médica instalada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46304" y="1024128"/>
            <a:ext cx="7470648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Picture 12" descr="jal_1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400" y="5666400"/>
            <a:ext cx="7488000" cy="727200"/>
          </a:xfrm>
          <a:prstGeom prst="rect">
            <a:avLst/>
          </a:prstGeom>
        </p:spPr>
      </p:pic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75600" y="6476399"/>
          <a:ext cx="7650000" cy="253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/>
                <a:gridCol w="1339200"/>
                <a:gridCol w="684000"/>
                <a:gridCol w="781200"/>
                <a:gridCol w="810000"/>
                <a:gridCol w="957600"/>
                <a:gridCol w="1098000"/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operaciones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Salas Quirúrgicas¹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HGR 45 Guadalajara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Marzo de 1962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277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HGSMF 27 Villa Corona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Junio de 1964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 21 Tepatitlán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Septiembre de 1964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HGSMF 15 Tamazula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Mayo de 1965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HGZMF 26 Tala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Junio de 1969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HGZMF 9 Cd. Guzmán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Mayo de 1970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HGZMF 20 Autlan Navarro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Junio de 1970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HGSMF 28 Casimiro Castillo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1971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 14 Guadalajara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Septiembre de 1973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231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HGZMF 6 Ocotlán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Septiembre de 1973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100800" y="9507600"/>
            <a:ext cx="7387200" cy="28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¹Incluye salas de quirófano, salas híbridas y salas mixtas, no considera salas de tococirugía y expulsión.</a:t>
            </a:r>
            <a:br/>
            <a:r>
              <a:t>Fuente: Cédula de actualización de variables seleccionados del IFU enviados por el OOAD.</a:t>
            </a:r>
            <a:br/>
            <a:r>
              <a:t>Corte de Información: marzo de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2" name="Google Shape;152;g370e475fb19_0_8"/>
          <p:cNvGraphicFramePr/>
          <p:nvPr/>
        </p:nvGraphicFramePr>
        <p:xfrm>
          <a:off x="149075" y="72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Equipo relevante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2" name="Grupo 1">
            <a:extLst>
              <a:ext uri="{FF2B5EF4-FFF2-40B4-BE49-F238E27FC236}">
                <a16:creationId xmlns:a16="http://schemas.microsoft.com/office/drawing/2014/main" id="{0A867F28-C662-2B28-0045-0BAE488E1282}"/>
              </a:ext>
            </a:extLst>
          </p:cNvPr>
          <p:cNvGrpSpPr/>
          <p:nvPr/>
        </p:nvGrpSpPr>
        <p:grpSpPr>
          <a:xfrm>
            <a:off x="59675" y="3983888"/>
            <a:ext cx="7788378" cy="5040519"/>
            <a:chOff x="59675" y="3983888"/>
            <a:chExt cx="7788378" cy="5040519"/>
          </a:xfrm>
        </p:grpSpPr>
        <p:pic>
          <p:nvPicPr>
            <p:cNvPr id="14" name="Google Shape;186;g3d62d805bc0_1_198" title="HGZ 86 URUAPAN.jpg">
              <a:extLst>
                <a:ext uri="{FF2B5EF4-FFF2-40B4-BE49-F238E27FC236}">
                  <a16:creationId xmlns:a16="http://schemas.microsoft.com/office/drawing/2014/main" id="{631D7C35-81BF-2887-3E9E-ED7AA127099A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 l="1417" t="15479" r="44279" b="26090"/>
            <a:stretch/>
          </p:blipFill>
          <p:spPr>
            <a:xfrm>
              <a:off x="5276651" y="4731027"/>
              <a:ext cx="2225749" cy="1420595"/>
            </a:xfrm>
            <a:prstGeom prst="rect">
              <a:avLst/>
            </a:prstGeom>
            <a:noFill/>
            <a:ln>
              <a:noFill/>
            </a:ln>
            <a:effectLst>
              <a:outerShdw blurRad="114300" dist="57150" dir="10800000" algn="bl" rotWithShape="0">
                <a:srgbClr val="000000">
                  <a:alpha val="50000"/>
                </a:srgbClr>
              </a:outerShdw>
            </a:effectLst>
          </p:spPr>
        </p:pic>
        <p:sp>
          <p:nvSpPr>
            <p:cNvPr id="15" name="Google Shape;188;g3d62d805bc0_1_198">
              <a:extLst>
                <a:ext uri="{FF2B5EF4-FFF2-40B4-BE49-F238E27FC236}">
                  <a16:creationId xmlns:a16="http://schemas.microsoft.com/office/drawing/2014/main" id="{7FED1FA9-9994-C9D0-2D59-7B4D917DD763}"/>
                </a:ext>
              </a:extLst>
            </p:cNvPr>
            <p:cNvSpPr/>
            <p:nvPr/>
          </p:nvSpPr>
          <p:spPr>
            <a:xfrm>
              <a:off x="5707253" y="6189053"/>
              <a:ext cx="1795147" cy="343435"/>
            </a:xfrm>
            <a:prstGeom prst="rect">
              <a:avLst/>
            </a:prstGeom>
            <a:gradFill>
              <a:gsLst>
                <a:gs pos="0">
                  <a:srgbClr val="006455"/>
                </a:gs>
                <a:gs pos="100000">
                  <a:srgbClr val="1C342D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300" b="1" dirty="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Mastógrafos</a:t>
              </a:r>
              <a:endParaRPr sz="1100" dirty="0">
                <a:solidFill>
                  <a:srgbClr val="FFFFFF"/>
                </a:solidFill>
              </a:endParaRPr>
            </a:p>
          </p:txBody>
        </p:sp>
        <p:sp>
          <p:nvSpPr>
            <p:cNvPr id="16" name="Google Shape;189;g3d62d805bc0_1_198">
              <a:extLst>
                <a:ext uri="{FF2B5EF4-FFF2-40B4-BE49-F238E27FC236}">
                  <a16:creationId xmlns:a16="http://schemas.microsoft.com/office/drawing/2014/main" id="{F912C5BF-A9C5-5854-6D68-6A9C774E95BF}"/>
                </a:ext>
              </a:extLst>
            </p:cNvPr>
            <p:cNvSpPr txBox="1"/>
            <p:nvPr/>
          </p:nvSpPr>
          <p:spPr>
            <a:xfrm>
              <a:off x="5246753" y="6569919"/>
              <a:ext cx="2601300" cy="24544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Font typeface="Arial"/>
                <a:buNone/>
              </a:pPr>
              <a:r>
                <a:rPr lang="es" sz="1300" b="1" dirty="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7 UMF</a:t>
              </a:r>
              <a:endParaRPr sz="1050" dirty="0">
                <a:solidFill>
                  <a:srgbClr val="434343"/>
                </a:solidFill>
                <a:latin typeface="Noto Sans"/>
                <a:ea typeface="Noto Sans"/>
                <a:cs typeface="Noto Sans"/>
                <a:sym typeface="Noto Sans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s" sz="1050" dirty="0">
                  <a:solidFill>
                    <a:srgbClr val="434343"/>
                  </a:solidFill>
                  <a:latin typeface="Noto Sans"/>
                  <a:ea typeface="Noto Sans"/>
                  <a:cs typeface="Noto Sans"/>
                  <a:sym typeface="Noto Sans"/>
                </a:rPr>
                <a:t>UMF 78 Guadalajara,UMF 34 Guadalajara, UMF 88 Guadalajara, UMF 49 Guadalajara, UMF 178 Guadalupe, UMF 3 Guadalajara, UMF 48 Guadalajara, UMF 1 Guadalajara, HGR 45 Guadalajara </a:t>
              </a:r>
              <a:endParaRPr sz="1050" dirty="0">
                <a:solidFill>
                  <a:srgbClr val="434343"/>
                </a:solidFill>
                <a:latin typeface="Noto Sans"/>
                <a:ea typeface="Noto Sans"/>
                <a:cs typeface="Noto Sans"/>
                <a:sym typeface="Noto Sa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Font typeface="Arial"/>
                <a:buNone/>
              </a:pPr>
              <a:r>
                <a:rPr lang="es" sz="1300" b="1" dirty="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4 Hospitales</a:t>
              </a:r>
              <a:endParaRPr sz="1050" dirty="0">
                <a:solidFill>
                  <a:srgbClr val="434343"/>
                </a:solidFill>
                <a:latin typeface="Noto Sans"/>
                <a:ea typeface="Noto Sans"/>
                <a:cs typeface="Noto Sans"/>
                <a:sym typeface="Noto Sans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s" sz="1050" dirty="0">
                  <a:solidFill>
                    <a:srgbClr val="434343"/>
                  </a:solidFill>
                  <a:latin typeface="Noto Sans"/>
                  <a:ea typeface="Noto Sans"/>
                  <a:cs typeface="Noto Sans"/>
                  <a:sym typeface="Noto Sans"/>
                </a:rPr>
                <a:t>HGZ-UMAA 7 Lagos de Moreno, HGZMF 20 Autlan Navarro, HES CMN Occidente, HGR 110 Oblatos</a:t>
              </a: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s" b="1" dirty="0">
                  <a:solidFill>
                    <a:srgbClr val="434343"/>
                  </a:solidFill>
                  <a:latin typeface="Noto Sans"/>
                  <a:ea typeface="Noto Sans"/>
                  <a:cs typeface="Noto Sans"/>
                  <a:sym typeface="Noto Sans"/>
                </a:rPr>
                <a:t>$39.3 mdp</a:t>
              </a:r>
              <a:endParaRPr b="1" dirty="0">
                <a:solidFill>
                  <a:srgbClr val="434343"/>
                </a:solidFill>
                <a:latin typeface="Noto Sans"/>
                <a:ea typeface="Noto Sans"/>
                <a:cs typeface="Noto Sans"/>
                <a:sym typeface="Noto Sans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1300" dirty="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7" name="Google Shape;190;g3d62d805bc0_1_198">
              <a:extLst>
                <a:ext uri="{FF2B5EF4-FFF2-40B4-BE49-F238E27FC236}">
                  <a16:creationId xmlns:a16="http://schemas.microsoft.com/office/drawing/2014/main" id="{826EE74C-DA7B-CA1E-E3AF-AF3E379F8995}"/>
                </a:ext>
              </a:extLst>
            </p:cNvPr>
            <p:cNvSpPr/>
            <p:nvPr/>
          </p:nvSpPr>
          <p:spPr>
            <a:xfrm>
              <a:off x="5246753" y="6193984"/>
              <a:ext cx="460500" cy="377700"/>
            </a:xfrm>
            <a:prstGeom prst="rect">
              <a:avLst/>
            </a:prstGeom>
            <a:gradFill>
              <a:gsLst>
                <a:gs pos="0">
                  <a:srgbClr val="691932"/>
                </a:gs>
                <a:gs pos="100000">
                  <a:srgbClr val="A42145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>
                  <a:solidFill>
                    <a:srgbClr val="FFFFFF"/>
                  </a:solidFill>
                  <a:latin typeface="Noto Sans Black"/>
                  <a:ea typeface="Noto Sans Black"/>
                  <a:cs typeface="Noto Sans Black"/>
                  <a:sym typeface="Noto Sans Black"/>
                </a:rPr>
                <a:t>13</a:t>
              </a:r>
              <a:endParaRPr>
                <a:solidFill>
                  <a:srgbClr val="FFFFFF"/>
                </a:solidFill>
                <a:latin typeface="Noto Sans Black"/>
                <a:ea typeface="Noto Sans Black"/>
                <a:cs typeface="Noto Sans Black"/>
                <a:sym typeface="Noto Sans Black"/>
              </a:endParaRPr>
            </a:p>
          </p:txBody>
        </p:sp>
        <p:sp>
          <p:nvSpPr>
            <p:cNvPr id="18" name="Google Shape;191;g3d62d805bc0_1_198">
              <a:extLst>
                <a:ext uri="{FF2B5EF4-FFF2-40B4-BE49-F238E27FC236}">
                  <a16:creationId xmlns:a16="http://schemas.microsoft.com/office/drawing/2014/main" id="{B1F9638B-0B46-EDF9-B352-368BF047C5AC}"/>
                </a:ext>
              </a:extLst>
            </p:cNvPr>
            <p:cNvSpPr/>
            <p:nvPr/>
          </p:nvSpPr>
          <p:spPr>
            <a:xfrm>
              <a:off x="149075" y="6228249"/>
              <a:ext cx="426886" cy="343435"/>
            </a:xfrm>
            <a:prstGeom prst="rect">
              <a:avLst/>
            </a:prstGeom>
            <a:gradFill>
              <a:gsLst>
                <a:gs pos="0">
                  <a:srgbClr val="691932"/>
                </a:gs>
                <a:gs pos="100000">
                  <a:srgbClr val="A42145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s">
                  <a:solidFill>
                    <a:srgbClr val="FFFFFF"/>
                  </a:solidFill>
                  <a:latin typeface="Noto Sans Black"/>
                  <a:ea typeface="Noto Sans Black"/>
                  <a:cs typeface="Noto Sans Black"/>
                  <a:sym typeface="Noto Sans Black"/>
                </a:rPr>
                <a:t>1</a:t>
              </a:r>
              <a:endParaRPr sz="1400" b="0" i="0" u="none" strike="noStrike" cap="none">
                <a:solidFill>
                  <a:srgbClr val="FFFFFF"/>
                </a:solidFill>
                <a:latin typeface="Noto Sans Black"/>
                <a:ea typeface="Noto Sans Black"/>
                <a:cs typeface="Noto Sans Black"/>
                <a:sym typeface="Noto Sans Black"/>
              </a:endParaRPr>
            </a:p>
          </p:txBody>
        </p:sp>
        <p:sp>
          <p:nvSpPr>
            <p:cNvPr id="19" name="Google Shape;192;g3d62d805bc0_1_198">
              <a:extLst>
                <a:ext uri="{FF2B5EF4-FFF2-40B4-BE49-F238E27FC236}">
                  <a16:creationId xmlns:a16="http://schemas.microsoft.com/office/drawing/2014/main" id="{6984241B-8545-12FE-1097-F68FE0454B73}"/>
                </a:ext>
              </a:extLst>
            </p:cNvPr>
            <p:cNvSpPr/>
            <p:nvPr/>
          </p:nvSpPr>
          <p:spPr>
            <a:xfrm>
              <a:off x="607282" y="6228249"/>
              <a:ext cx="1889701" cy="343435"/>
            </a:xfrm>
            <a:prstGeom prst="rect">
              <a:avLst/>
            </a:prstGeom>
            <a:gradFill>
              <a:gsLst>
                <a:gs pos="0">
                  <a:srgbClr val="006455"/>
                </a:gs>
                <a:gs pos="100000">
                  <a:srgbClr val="1C342D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s" sz="1300" b="1" i="0" u="none" strike="noStrike" cap="non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Resonador magnético </a:t>
              </a:r>
              <a:endParaRPr sz="13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0" name="Google Shape;193;g3d62d805bc0_1_198">
              <a:extLst>
                <a:ext uri="{FF2B5EF4-FFF2-40B4-BE49-F238E27FC236}">
                  <a16:creationId xmlns:a16="http://schemas.microsoft.com/office/drawing/2014/main" id="{7B572646-6117-7054-AE5A-6F149BDFB53C}"/>
                </a:ext>
              </a:extLst>
            </p:cNvPr>
            <p:cNvSpPr txBox="1"/>
            <p:nvPr/>
          </p:nvSpPr>
          <p:spPr>
            <a:xfrm>
              <a:off x="94800" y="6569919"/>
              <a:ext cx="2323200" cy="66245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6350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300" dirty="0">
                  <a:solidFill>
                    <a:srgbClr val="59595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HGR 180 Tlajomulco</a:t>
              </a:r>
            </a:p>
            <a:p>
              <a:pPr marL="0" marR="6350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300" b="1" dirty="0">
                  <a:solidFill>
                    <a:srgbClr val="595959"/>
                  </a:solidFill>
                  <a:latin typeface="Montserrat"/>
                  <a:ea typeface="Noto Sans"/>
                  <a:cs typeface="Noto Sans"/>
                  <a:sym typeface="Montserrat"/>
                </a:rPr>
                <a:t>$38.2 mdp</a:t>
              </a:r>
              <a:r>
                <a:rPr lang="es" dirty="0">
                  <a:solidFill>
                    <a:srgbClr val="434343"/>
                  </a:solidFill>
                  <a:latin typeface="Noto Sans"/>
                  <a:ea typeface="Noto Sans"/>
                  <a:cs typeface="Noto Sans"/>
                  <a:sym typeface="Noto Sans"/>
                </a:rPr>
                <a:t> </a:t>
              </a:r>
              <a:r>
                <a:rPr lang="es" sz="1300" dirty="0">
                  <a:solidFill>
                    <a:srgbClr val="59595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endParaRPr dirty="0"/>
            </a:p>
          </p:txBody>
        </p:sp>
        <p:sp>
          <p:nvSpPr>
            <p:cNvPr id="21" name="Google Shape;194;g3d62d805bc0_1_198">
              <a:extLst>
                <a:ext uri="{FF2B5EF4-FFF2-40B4-BE49-F238E27FC236}">
                  <a16:creationId xmlns:a16="http://schemas.microsoft.com/office/drawing/2014/main" id="{4D26C603-448C-75DB-A044-687A1EDBA8BE}"/>
                </a:ext>
              </a:extLst>
            </p:cNvPr>
            <p:cNvSpPr/>
            <p:nvPr/>
          </p:nvSpPr>
          <p:spPr>
            <a:xfrm>
              <a:off x="3165414" y="6158699"/>
              <a:ext cx="1795147" cy="343435"/>
            </a:xfrm>
            <a:prstGeom prst="rect">
              <a:avLst/>
            </a:prstGeom>
            <a:gradFill>
              <a:gsLst>
                <a:gs pos="0">
                  <a:srgbClr val="006455"/>
                </a:gs>
                <a:gs pos="100000">
                  <a:srgbClr val="1C342D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s" sz="1300" b="1" i="0" u="none" strike="noStrike" cap="non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Tomógrafo</a:t>
              </a:r>
              <a:r>
                <a:rPr lang="es" sz="1300" b="1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</a:t>
              </a: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195;g3d62d805bc0_1_198">
              <a:extLst>
                <a:ext uri="{FF2B5EF4-FFF2-40B4-BE49-F238E27FC236}">
                  <a16:creationId xmlns:a16="http://schemas.microsoft.com/office/drawing/2014/main" id="{74384714-3CEB-E179-CF78-7E2056F92675}"/>
                </a:ext>
              </a:extLst>
            </p:cNvPr>
            <p:cNvSpPr/>
            <p:nvPr/>
          </p:nvSpPr>
          <p:spPr>
            <a:xfrm>
              <a:off x="2656367" y="6158699"/>
              <a:ext cx="476666" cy="343435"/>
            </a:xfrm>
            <a:prstGeom prst="rect">
              <a:avLst/>
            </a:prstGeom>
            <a:gradFill>
              <a:gsLst>
                <a:gs pos="0">
                  <a:srgbClr val="691932"/>
                </a:gs>
                <a:gs pos="100000">
                  <a:srgbClr val="A42145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s">
                  <a:solidFill>
                    <a:srgbClr val="FFFFFF"/>
                  </a:solidFill>
                  <a:latin typeface="Noto Sans Black"/>
                  <a:ea typeface="Noto Sans Black"/>
                  <a:cs typeface="Noto Sans Black"/>
                  <a:sym typeface="Noto Sans Black"/>
                </a:rPr>
                <a:t>2</a:t>
              </a:r>
              <a:endParaRPr sz="1400" b="0" i="0" u="none" strike="noStrike" cap="none">
                <a:solidFill>
                  <a:srgbClr val="FFFFFF"/>
                </a:solidFill>
                <a:latin typeface="Noto Sans Black"/>
                <a:ea typeface="Noto Sans Black"/>
                <a:cs typeface="Noto Sans Black"/>
                <a:sym typeface="Noto Sans Black"/>
              </a:endParaRPr>
            </a:p>
          </p:txBody>
        </p:sp>
        <p:sp>
          <p:nvSpPr>
            <p:cNvPr id="23" name="Google Shape;196;g3d62d805bc0_1_198">
              <a:extLst>
                <a:ext uri="{FF2B5EF4-FFF2-40B4-BE49-F238E27FC236}">
                  <a16:creationId xmlns:a16="http://schemas.microsoft.com/office/drawing/2014/main" id="{A7323E39-F503-1EEF-8CD7-247E3FD64DCE}"/>
                </a:ext>
              </a:extLst>
            </p:cNvPr>
            <p:cNvSpPr txBox="1"/>
            <p:nvPr/>
          </p:nvSpPr>
          <p:spPr>
            <a:xfrm>
              <a:off x="2633153" y="6544373"/>
              <a:ext cx="2613600" cy="6287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50800" lvl="0" indent="0" algn="l" rtl="0">
                <a:lnSpc>
                  <a:spcPct val="11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300" dirty="0">
                  <a:solidFill>
                    <a:srgbClr val="59595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HES CMN Occidente (2)</a:t>
              </a:r>
            </a:p>
            <a:p>
              <a:pPr marL="0" marR="50800" lvl="0" indent="0" algn="l" rtl="0">
                <a:lnSpc>
                  <a:spcPct val="11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300" b="1" dirty="0">
                  <a:solidFill>
                    <a:srgbClr val="59595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$59.3 mdp</a:t>
              </a:r>
              <a:endParaRPr sz="1300" b="1" dirty="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24" name="Google Shape;197;g3d62d805bc0_1_198">
              <a:extLst>
                <a:ext uri="{FF2B5EF4-FFF2-40B4-BE49-F238E27FC236}">
                  <a16:creationId xmlns:a16="http://schemas.microsoft.com/office/drawing/2014/main" id="{1A34E238-1EDE-14BE-C980-AA5E0A4E1C0B}"/>
                </a:ext>
              </a:extLst>
            </p:cNvPr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86932" y="4738105"/>
              <a:ext cx="2239471" cy="142059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" name="Google Shape;198;g3d62d805bc0_1_198">
              <a:extLst>
                <a:ext uri="{FF2B5EF4-FFF2-40B4-BE49-F238E27FC236}">
                  <a16:creationId xmlns:a16="http://schemas.microsoft.com/office/drawing/2014/main" id="{4472105F-D51D-A123-BD7B-5F81EDDEE46B}"/>
                </a:ext>
              </a:extLst>
            </p:cNvPr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26808" y="4773396"/>
              <a:ext cx="2291192" cy="142059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" name="Google Shape;169;g3d62d805bc0_1_167">
              <a:extLst>
                <a:ext uri="{FF2B5EF4-FFF2-40B4-BE49-F238E27FC236}">
                  <a16:creationId xmlns:a16="http://schemas.microsoft.com/office/drawing/2014/main" id="{99D6BA84-5E45-2329-0F62-43E147876FDB}"/>
                </a:ext>
              </a:extLst>
            </p:cNvPr>
            <p:cNvSpPr txBox="1"/>
            <p:nvPr/>
          </p:nvSpPr>
          <p:spPr>
            <a:xfrm>
              <a:off x="59675" y="3983888"/>
              <a:ext cx="7772400" cy="34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s" sz="1600" b="1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Fortalecimiento de equipo médico</a:t>
              </a:r>
              <a:endParaRPr sz="1600" b="1" dirty="0">
                <a:solidFill>
                  <a:srgbClr val="00685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s" sz="1600" b="1" i="0" u="none" strike="noStrike" cap="none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Compra 2025-2026 equipo mayor  (</a:t>
              </a:r>
              <a:r>
                <a:rPr lang="es" sz="1600" b="1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Instalación</a:t>
              </a:r>
              <a:r>
                <a:rPr lang="es" sz="1600" b="1" i="0" u="none" strike="noStrike" cap="none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abr</a:t>
              </a:r>
              <a:r>
                <a:rPr lang="es" sz="1600" b="1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il-</a:t>
              </a:r>
              <a:r>
                <a:rPr lang="es" sz="1600" b="1" i="0" u="none" strike="noStrike" cap="none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mayo)</a:t>
              </a:r>
              <a:endParaRPr sz="2300" b="1" i="0" u="none" strike="noStrike" cap="none" dirty="0">
                <a:solidFill>
                  <a:srgbClr val="00685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53" name="TextBox 15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  <p:graphicFrame>
        <p:nvGraphicFramePr>
          <p:cNvPr id="154" name="Table 153"/>
          <p:cNvGraphicFramePr>
            <a:graphicFrameLocks noGrp="1"/>
          </p:cNvGraphicFramePr>
          <p:nvPr/>
        </p:nvGraphicFramePr>
        <p:xfrm>
          <a:off x="93600" y="1180800"/>
          <a:ext cx="7534799" cy="43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2400"/>
                <a:gridCol w="943200"/>
                <a:gridCol w="925200"/>
                <a:gridCol w="896400"/>
                <a:gridCol w="525600"/>
                <a:gridCol w="1000799"/>
                <a:gridCol w="1051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Aparatos de Tomografía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Equipos de Resonancia Magnética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Mastógrafo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Arcos en C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Máquinas de Hemodiálisis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 de Hemodinamia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45 Guadalajara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14 Guadalajara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20 Autlan Navarro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CCSM 1 Oblatos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110 Oblatos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27 Villa Corona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26 Tala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HGZ-UMAA 7 Lagos de Moreno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42 Pto. Vallarta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46 Guadalajara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6 Ocotlán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9 Cd. Guzmán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 185 Arandas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28 Casimiro Castillo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15 Tamazula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89 Guadalajara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180 Tlajomulco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21 Tepatitlán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125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55" name="Rectangle 154"/>
          <p:cNvSpPr/>
          <p:nvPr/>
        </p:nvSpPr>
        <p:spPr>
          <a:xfrm>
            <a:off x="270000" y="9072000"/>
            <a:ext cx="183600" cy="183600"/>
          </a:xfrm>
          <a:prstGeom prst="rect">
            <a:avLst/>
          </a:prstGeom>
          <a:solidFill>
            <a:srgbClr val="E6D1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406799" y="9010800"/>
            <a:ext cx="7149600" cy="30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000000"/>
                </a:solidFill>
                <a:latin typeface="Montserrat"/>
              </a:defRPr>
            </a:pPr>
            <a:r>
              <a:t>Proyectos de implementación/sustitución 2019-2025. Compra 2025-2026. No incluye equipo relevante no instalado.</a:t>
            </a:r>
            <a:br/>
            <a:r>
              <a:t>Fuente: Cédula de actualización de variables seleccionadas del IFU, enviadas por el OOAD.</a:t>
            </a:r>
            <a:br/>
            <a:r>
              <a:t>Corte de información: marzo de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8FB27329-326A-81A1-AB7A-32DE7C6EE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AC3C5A3E-612D-5067-1D46-BCA5AE81D01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6085409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Resumen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Google Shape;230;g370e87ffe7a_2_137">
            <a:extLst>
              <a:ext uri="{FF2B5EF4-FFF2-40B4-BE49-F238E27FC236}">
                <a16:creationId xmlns:a16="http://schemas.microsoft.com/office/drawing/2014/main" id="{7E852578-4BF0-70E0-A72E-010701678A2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58233477"/>
              </p:ext>
            </p:extLst>
          </p:nvPr>
        </p:nvGraphicFramePr>
        <p:xfrm>
          <a:off x="143502" y="4166360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Resultados 2025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3" name="Imagen 2">
            <a:extLst>
              <a:ext uri="{FF2B5EF4-FFF2-40B4-BE49-F238E27FC236}">
                <a16:creationId xmlns:a16="http://schemas.microsoft.com/office/drawing/2014/main" id="{8F297F37-CC3A-A783-53CA-4D1F7F00753D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10705" y="5114007"/>
            <a:ext cx="2975495" cy="3699793"/>
          </a:xfrm>
          <a:prstGeom prst="rect">
            <a:avLst/>
          </a:prstGeom>
        </p:spPr>
      </p:pic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188AB7FD-7756-64D3-57E1-2E5DF0910CA4}"/>
              </a:ext>
            </a:extLst>
          </p:cNvPr>
          <p:cNvCxnSpPr>
            <a:cxnSpLocks/>
          </p:cNvCxnSpPr>
          <p:nvPr/>
        </p:nvCxnSpPr>
        <p:spPr>
          <a:xfrm>
            <a:off x="5210629" y="5586778"/>
            <a:ext cx="1637335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514A1A6D-DCDB-0493-E46E-F93BB5BBC1A9}"/>
              </a:ext>
            </a:extLst>
          </p:cNvPr>
          <p:cNvCxnSpPr>
            <a:cxnSpLocks/>
          </p:cNvCxnSpPr>
          <p:nvPr/>
        </p:nvCxnSpPr>
        <p:spPr>
          <a:xfrm>
            <a:off x="5210629" y="7248664"/>
            <a:ext cx="1637335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6" name="CuadroTexto 5">
            <a:extLst>
              <a:ext uri="{FF2B5EF4-FFF2-40B4-BE49-F238E27FC236}">
                <a16:creationId xmlns:a16="http://schemas.microsoft.com/office/drawing/2014/main" id="{E4E5F87D-1396-1993-2353-840514BCD5C1}"/>
              </a:ext>
            </a:extLst>
          </p:cNvPr>
          <p:cNvSpPr txBox="1"/>
          <p:nvPr/>
        </p:nvSpPr>
        <p:spPr>
          <a:xfrm>
            <a:off x="5064096" y="5124571"/>
            <a:ext cx="19304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Cirugías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EE4C9F3D-582F-6ED1-D49D-AF69B42F8F2E}"/>
              </a:ext>
            </a:extLst>
          </p:cNvPr>
          <p:cNvSpPr txBox="1"/>
          <p:nvPr/>
        </p:nvSpPr>
        <p:spPr>
          <a:xfrm>
            <a:off x="5064096" y="6510000"/>
            <a:ext cx="19304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Consultas Especialidad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1F074432-C30C-A92B-8D83-E006CFACECF2}"/>
              </a:ext>
            </a:extLst>
          </p:cNvPr>
          <p:cNvSpPr txBox="1"/>
          <p:nvPr/>
        </p:nvSpPr>
        <p:spPr>
          <a:xfrm>
            <a:off x="4701239" y="8131971"/>
            <a:ext cx="265611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Consultas Medicina Familiar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76400" y="8982000"/>
            <a:ext cx="29772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Corte de información: semana 22, 24 mayo 2026</a:t>
            </a:r>
            <a:br/>
            <a:r>
              <a:t>¹Las consultas de medicina familiar incluyen los hospitales con UMF.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5270400" y="46620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+37,559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5270400" y="75132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+519,102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5270400" y="59112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+448,746</a:t>
            </a:r>
          </a:p>
        </p:txBody>
      </p:sp>
      <p:graphicFrame>
        <p:nvGraphicFramePr>
          <p:cNvPr id="236" name="Table 235"/>
          <p:cNvGraphicFramePr>
            <a:graphicFrameLocks noGrp="1"/>
          </p:cNvGraphicFramePr>
          <p:nvPr/>
        </p:nvGraphicFramePr>
        <p:xfrm>
          <a:off x="144000" y="1620000"/>
          <a:ext cx="7469999" cy="158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4800"/>
                <a:gridCol w="1007999"/>
                <a:gridCol w="1188000"/>
                <a:gridCol w="1098000"/>
                <a:gridCol w="1098000"/>
                <a:gridCol w="943200"/>
              </a:tblGrid>
              <a:tr h="39600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Indicador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2024 vs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</a:t>
                      </a:r>
                    </a:p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 Medicina Familiar¹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7,838,839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519,102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3,264,675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8,152,360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40.0%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</a:t>
                      </a:r>
                    </a:p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 Especialidad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2,491,449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448,746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1,060,293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2,548,795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41.6%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150,205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37,559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67,140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176,435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38.1%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80449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107 Unidades de Medicina Familiar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t>86 UMF de lunes a viernes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5999" y="13356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medicina familiar 2025-2026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En el año 2025 no incluye información de HR y UMU</a:t>
            </a:r>
            <a:br/>
            <a:r>
              <a:t>No incluye Unidades Auxiliares de Medicina Familiar, ni hospitales con servicio de medicina familiar.</a:t>
            </a:r>
            <a:br/>
            <a:r>
              <a:t>El año de proceso inicia del 26 de diciembre del año anterior al 25 de diciembre del año en curso:</a:t>
            </a:r>
            <a:br/>
            <a:r>
              <a:t>2025 (del 26 de Dic de 2024 al 25 de Dic de 2025).</a:t>
            </a:r>
            <a:br/>
            <a:r>
              <a:t>Corte de información: Semana 22, 24 mayo 2026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8800" y="12600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51200" y="1692000"/>
          <a:ext cx="7473599" cy="589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200"/>
                <a:gridCol w="1206000"/>
                <a:gridCol w="1216800"/>
                <a:gridCol w="1256400"/>
                <a:gridCol w="827999"/>
                <a:gridCol w="1285200"/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8 Experiencia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10,117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4,027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 Atemajac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83,264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-532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33,030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87,696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 Guadalajara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201,911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18,925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78,976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212,976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11 Amatitan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10,876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-500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4,661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97 Magdalena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14,320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1,123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6,106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16 Tecalitlán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20,723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1,914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8,744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13 Pihuamo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9,528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4,214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33 S. Marcos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3,276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-139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1,443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24 Ameca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54,489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2,756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21,305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62,640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10 Tequila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37,117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-2,982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16,022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37,584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19 Tuxpan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31,728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1,768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13,453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37,584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18 Zapotiltic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29,577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1,401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12,195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37,584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17 Atentique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512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44 Arandas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46,583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2,099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16,365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37,584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22 Atotonilco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53,205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5,095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21,887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62,640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23 La Barca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42,910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7,495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17,953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50,112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30 Bella Vista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18,061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5,367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7,511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29 Estipac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9,303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3,990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25 La Sauceda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4,792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-455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1,780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40 Chapala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35,508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4,833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15,281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37,584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50 Atotonilquillo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16,412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-970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7,373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37 Ing. Melchor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5,253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2,214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36 La Garita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2,711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-196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844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35 Vista Hermosa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6,435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-105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2,276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70 Careyes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11,014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5,606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5,694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47.5%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31 Ahualulco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22,507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-655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8,962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41 S. Juan Lagos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28,621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14,471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15,908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37,584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49 Guadalajara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48,954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-1,935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20,222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75,168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 Guadalajara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346,338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22,609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138,307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363,312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62 Sayula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25,094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-789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9,757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57 Ixtlahuacan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14,013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1,055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5,864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106 San Martín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3,711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1,742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2,463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49.3%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55 Guadalajara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49,601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1,746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19,558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50,112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43 Tomatlán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13,907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3,077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6,522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46.6%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83 La Huerta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11,834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4,913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5,712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87 Teocaltiche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11,299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3,185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4,926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80 Cihuatlán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12,885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547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5,205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58 Jocotepec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28,771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3,382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13,009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37,584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62">
          <a:extLst>
            <a:ext uri="{FF2B5EF4-FFF2-40B4-BE49-F238E27FC236}">
              <a16:creationId xmlns:a16="http://schemas.microsoft.com/office/drawing/2014/main" id="{77F216B2-12DD-F44A-DBFC-5525A6C0E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74D86D49-ABF8-EBE9-7E8B-DBEDCC31AEF0}"/>
              </a:ext>
            </a:extLst>
          </p:cNvPr>
          <p:cNvSpPr txBox="1"/>
          <p:nvPr/>
        </p:nvSpPr>
        <p:spPr>
          <a:xfrm>
            <a:off x="4210699" y="5944696"/>
            <a:ext cx="300667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rPr lang="es-MX" dirty="0"/>
              <a:t>Proyectos 2026</a:t>
            </a:r>
          </a:p>
          <a:p>
            <a:pPr algn="ctr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rPr lang="es-MX" dirty="0"/>
              <a:t>3 Nueva UMTC con   4 consultorios</a:t>
            </a:r>
          </a:p>
        </p:txBody>
      </p:sp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052558E1-5A4D-8CA1-01BE-9E53CE5F9B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0955069"/>
              </p:ext>
            </p:extLst>
          </p:nvPr>
        </p:nvGraphicFramePr>
        <p:xfrm>
          <a:off x="4814495" y="7160115"/>
          <a:ext cx="2808830" cy="1308735"/>
        </p:xfrm>
        <a:graphic>
          <a:graphicData uri="http://schemas.openxmlformats.org/drawingml/2006/table">
            <a:tbl>
              <a:tblPr>
                <a:tableStyleId>{4F9E4E24-231D-441B-AD27-9C975659944D}</a:tableStyleId>
              </a:tblPr>
              <a:tblGrid>
                <a:gridCol w="2808830">
                  <a:extLst>
                    <a:ext uri="{9D8B030D-6E8A-4147-A177-3AD203B41FA5}">
                      <a16:colId xmlns:a16="http://schemas.microsoft.com/office/drawing/2014/main" val="3003209570"/>
                    </a:ext>
                  </a:extLst>
                </a:gridCol>
              </a:tblGrid>
              <a:tr h="213360">
                <a:tc>
                  <a:txBody>
                    <a:bodyPr/>
                    <a:lstStyle/>
                    <a:p>
                      <a:pPr marL="228600" indent="-228600" algn="l" fontAlgn="b">
                        <a:buFont typeface="+mj-lt"/>
                        <a:buAutoNum type="arabicParenR"/>
                      </a:pPr>
                      <a:r>
                        <a:rPr lang="es-MX" sz="1400" b="0" u="none" strike="noStrike" dirty="0">
                          <a:effectLst/>
                          <a:latin typeface="Montserrat" panose="00000500000000000000" pitchFamily="2" charset="0"/>
                        </a:rPr>
                        <a:t>UMFH 22 Atotonilco</a:t>
                      </a:r>
                    </a:p>
                    <a:p>
                      <a:pPr marL="228600" indent="-228600" algn="l" fontAlgn="b">
                        <a:buFont typeface="+mj-lt"/>
                        <a:buAutoNum type="arabicParenR"/>
                      </a:pPr>
                      <a:r>
                        <a:rPr lang="es-MX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UMF 41 San Juan de los Lagos</a:t>
                      </a:r>
                    </a:p>
                    <a:p>
                      <a:pPr marL="228600" indent="-228600" algn="l" fontAlgn="b">
                        <a:buFont typeface="+mj-lt"/>
                        <a:buAutoNum type="arabicParenR"/>
                      </a:pPr>
                      <a:r>
                        <a:rPr lang="es-MX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UMF 55 Guadalajara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3740564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marL="0" indent="0" algn="l" fontAlgn="b">
                        <a:buFont typeface="+mj-lt"/>
                        <a:buNone/>
                      </a:pPr>
                      <a:endParaRPr lang="es-MX" sz="14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1794832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marL="0" indent="0" algn="l" fontAlgn="b">
                        <a:buFont typeface="+mj-lt"/>
                        <a:buNone/>
                      </a:pPr>
                      <a:endParaRPr lang="es-MX" sz="14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3022568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107 Unidades de Medicina Familiar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5B0F00"/>
                </a:solidFill>
                <a:latin typeface="Montserrat"/>
              </a:defRPr>
            </a:pPr>
            <a:r>
              <a:t>21 Unidades Médicas de tiempo completo (99 consultorios)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5999" y="13356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medicina familiar 2025-2026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18800" y="12600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En el año 2025 no incluye información de HR y UMU.</a:t>
            </a:r>
            <a:br/>
            <a:r>
              <a:t>No incluye Unidades Auxiliares de Medicina Familiar, ni hospitales con servicio de medicina familiar.</a:t>
            </a:r>
            <a:br/>
            <a:r>
              <a:t>El año de proceso inicia del 26 de diciembre del año anterior al 25 de diciembre del año en curso:</a:t>
            </a:r>
            <a:br/>
            <a:r>
              <a:t>2025 (del 26 de Dic de 2024 al 25 de Dic de 2025).</a:t>
            </a:r>
            <a:br/>
            <a:r>
              <a:t>Corte de información: Semana 22, 24 mayo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40400" y="5432400"/>
            <a:ext cx="1810800" cy="156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0000"/>
                </a:solidFill>
                <a:latin typeface="Montserrat"/>
              </a:defRPr>
            </a:pPr>
            <a:r>
              <a:t>de las consultas en 2025 fueron en fin de semana (451,958 consultas)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151200" y="1695600"/>
          <a:ext cx="7473599" cy="347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200"/>
                <a:gridCol w="1206000"/>
                <a:gridCol w="1216800"/>
                <a:gridCol w="1256400"/>
                <a:gridCol w="827999"/>
                <a:gridCol w="1285200"/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2024 vs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UMFH 5 El Salto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121,984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10,267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53,963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125,280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43.1%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168 Tepatitlán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139,007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10,827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61,843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137,808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44.9%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2 Guadalajara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348,211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41,065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143,576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371,952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38.6%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34 Guadalajara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433,879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-2,391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174,124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451,008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38.6%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39 Tlaquepaque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270,619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29,804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116,644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275,520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42.3%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UMF-UMAA 52 Guadalajara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138,951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11,921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60,144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135,000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44.6%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59 Tlajomulco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106,222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-667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44,600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104,000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42.9%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92 Miravalle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276,797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7,266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119,688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275,616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43.4%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48 Guadalajara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427,884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6,065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182,817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438,480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51 Guadalajara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263,057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28,088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102,667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263,088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39.0%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93 Tonalá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287,314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843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116,864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303,072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38.6%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88 Guadalajara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125,511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9,771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54,193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125,280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43.3%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53 Zapopan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373,961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29,894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151,748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363,312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78 Guadalajara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296,204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13,170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124,372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289,296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43.0%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171 Zapopan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318,350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26,275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136,263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309,000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44.1%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170 Del Mar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262,152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33,380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109,428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275,520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39.7%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177 Lagos de Moreno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174,386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4,161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74,137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179,088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179 Las Parotas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149,550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16,547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64,723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145,000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44.6%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181 Los Sabinos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85,343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4,734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35,647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83,000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42.9%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182 Tesistán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131,998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12,687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55,136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128,000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43.1%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184 Cerro de la Reina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136,429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13,599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58,431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133,000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43.9%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4,867,809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307,306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2,041,008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4,911,320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41.6%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385200" y="5400000"/>
          <a:ext cx="1555200" cy="1533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385200" y="5986800"/>
            <a:ext cx="15552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9F2241"/>
                </a:solidFill>
                <a:latin typeface="Montserrat"/>
              </a:rPr>
              <a:t>9%</a:t>
            </a:r>
          </a:p>
        </p:txBody>
      </p:sp>
    </p:spTree>
    <p:extLst>
      <p:ext uri="{BB962C8B-B14F-4D97-AF65-F5344CB8AC3E}">
        <p14:creationId xmlns:p14="http://schemas.microsoft.com/office/powerpoint/2010/main" val="38474374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7C68A8BE-FBC4-281A-A695-2B426A1D5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64EDC3BC-A199-227A-0CEC-FB808E1673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26490096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Consultas de especialidad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61200" y="601200"/>
            <a:ext cx="74700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9F2241"/>
                </a:solidFill>
                <a:latin typeface="Montserrat"/>
              </a:rPr>
              <a:t> </a:t>
            </a:r>
          </a:p>
        </p:txBody>
      </p:sp>
      <p:cxnSp>
        <p:nvCxnSpPr>
          <p:cNvPr id="233" name="Connector 232"/>
          <p:cNvCxnSpPr/>
          <p:nvPr/>
        </p:nvCxnSpPr>
        <p:spPr>
          <a:xfrm>
            <a:off x="61200" y="986400"/>
            <a:ext cx="7470000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4" name="TextBox 233"/>
          <p:cNvSpPr txBox="1"/>
          <p:nvPr/>
        </p:nvSpPr>
        <p:spPr>
          <a:xfrm>
            <a:off x="125999" y="11088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especialidad 2025-2026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No incluye la productividad de especialidad generada en UMF ni en HR</a:t>
            </a:r>
            <a:br/>
            <a:r>
              <a:t>En el año 2025 no incluye información de HR y UMU.</a:t>
            </a:r>
            <a:br/>
            <a:r>
              <a:t>El año de proceso inicia del 26 de diciembre del año anterior al 25 de diciembre del año en curso:</a:t>
            </a:r>
            <a:br/>
            <a:r>
              <a:t>2025 (del 26 de Dic de 2024 al 25 de Dic de 2025)</a:t>
            </a:r>
            <a:br/>
            <a:r>
              <a:t>Corte de información: Semana: 22, 24 mayo 2026</a:t>
            </a:r>
          </a:p>
        </p:txBody>
      </p:sp>
      <p:graphicFrame>
        <p:nvGraphicFramePr>
          <p:cNvPr id="236" name="Table 235"/>
          <p:cNvGraphicFramePr>
            <a:graphicFrameLocks noGrp="1"/>
          </p:cNvGraphicFramePr>
          <p:nvPr/>
        </p:nvGraphicFramePr>
        <p:xfrm>
          <a:off x="144000" y="1494000"/>
          <a:ext cx="7340399" cy="540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/>
                <a:gridCol w="874800"/>
                <a:gridCol w="1116000"/>
                <a:gridCol w="1116000"/>
                <a:gridCol w="986400"/>
                <a:gridCol w="1245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46 Guadalajara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429,816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89,248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183,349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315,360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58.1%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45 Guadalajara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230,791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46,379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95,626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229,950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41.6%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89 Guadalajara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148,443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29,363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62,181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151,110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41.1%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14 Guadalajara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176,192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41,463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72,965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177,390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41.1%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180 Tlajomulco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247,262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38,945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99,507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243,090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40.9%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6 Ocotlán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59,159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12,407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24,062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59,130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40.7%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110 Oblatos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243,933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21,448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98,835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249,660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39.6%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42 Pto. Vallarta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131,491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35,370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58,216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151,110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38.5%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9 Cd. Guzmán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58,752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8,817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23,905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65,700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36.4%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26 Tala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38,234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7,391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16,023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45,990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34.8%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21 Tepatitlán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66,185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9,012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28,336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86,870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32.6%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 185 Arandas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16,452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5,854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7,497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23,360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32.1%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20 Autlan Navarro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27,855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1,842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11,612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43,435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26.7%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CCSM 1 Oblatos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4,489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979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2,071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8,760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23.6%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15 Tamazula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6,436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1,894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2,365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11,680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20.2%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27 Villa Corona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6,372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-228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2,890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17,520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16.5%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28 Casimiro Castillo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2,185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1,003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11,680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8.6%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1,894,047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350,182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790,443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1,891,795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41.8%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07164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/>
          <p:cNvGraphicFramePr/>
          <p:nvPr>
            <p:extLst>
              <p:ext uri="{D42A27DB-BD31-4B8C-83A1-F6EECF244321}">
                <p14:modId xmlns:p14="http://schemas.microsoft.com/office/powerpoint/2010/main" val="208457629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Cirugías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No incluye las cirugías realizadas en HR.</a:t>
            </a:r>
            <a:br/>
            <a:r>
              <a:t>Sólo se consideran cirugías principales.</a:t>
            </a:r>
            <a:br/>
            <a:r>
              <a:t>Corte de información: Semana: 22, 24 mayo 2026</a:t>
            </a:r>
          </a:p>
        </p:txBody>
      </p:sp>
      <p:graphicFrame>
        <p:nvGraphicFramePr>
          <p:cNvPr id="233" name="Table 232"/>
          <p:cNvGraphicFramePr>
            <a:graphicFrameLocks noGrp="1"/>
          </p:cNvGraphicFramePr>
          <p:nvPr/>
        </p:nvGraphicFramePr>
        <p:xfrm>
          <a:off x="144000" y="1137600"/>
          <a:ext cx="7340399" cy="511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/>
                <a:gridCol w="874800"/>
                <a:gridCol w="1116000"/>
                <a:gridCol w="1116000"/>
                <a:gridCol w="986400"/>
                <a:gridCol w="1245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46 Guadalajara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19,219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4,423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8,741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19,340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45.2%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9 Cd. Guzmán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4,414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748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1,794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4,392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40.9%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42 Pto. Vallarta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6,660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2,815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6,900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40.8%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180 Tlajomulco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15,049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2,677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6,972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17,250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40.4%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14 Guadalajara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10,767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2,354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4,666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12,075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38.6%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20 Autlan Navarro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1,325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549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1,464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37.5%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110 Oblatos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12,123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1,110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5,174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13,800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37.5%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89 Guadalajara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13,041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3,522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5,477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14,640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37.4%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45 Guadalajara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14,113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4,052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5,582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15,525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36.0%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21 Tepatitlán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4,161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1,577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4,392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35.9%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26 Tala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3,482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1,420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4,392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32.3%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 185 Arandas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1,115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402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1,254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32.1%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6 Ocotlán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3,246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1,476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5,436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27.1%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27 Villa Corona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783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18.9%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15 Tamazula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783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10.0%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28 Casimiro Castillo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783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9.3%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109,497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21,963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46,944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123,209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38.1%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700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007999"/>
            <a:ext cx="77724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BC955C"/>
                </a:solidFill>
                <a:latin typeface="Montserrat"/>
              </a:defRPr>
            </a:pPr>
            <a:r>
              <a:t>99 en Hospitales, 15 en sede, 55 en UMF y 531 sustitutos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4400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99 en Hospitales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8360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908000"/>
          <a:ext cx="3456000" cy="151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6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Regional 110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Infectología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en Estado Crítico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Nefrología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Reumatología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908000"/>
          <a:ext cx="3456000" cy="129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Regional 180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Angiología y Cirugía Vascular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Neumología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Psiquiatría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4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3815999"/>
          <a:ext cx="3456000" cy="151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6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Regional 45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960000" y="3815999"/>
          <a:ext cx="3456000" cy="151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6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Regional 46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0000" y="5723998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Subzona C/MF 27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960000" y="5723998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Subzona C/MF 28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60000" y="6875997"/>
          <a:ext cx="3456000" cy="129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14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Angiología y Cirugía Vascular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Nefrología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4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960000" y="6875997"/>
          <a:ext cx="3456000" cy="151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6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21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en Estado Crítico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812992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>
          <a:extLst>
            <a:ext uri="{FF2B5EF4-FFF2-40B4-BE49-F238E27FC236}">
              <a16:creationId xmlns:a16="http://schemas.microsoft.com/office/drawing/2014/main" id="{8A5078DC-1E12-A75D-DCD2-2904311EE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3200" y="723599"/>
            <a:ext cx="7473600" cy="64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Contrataciones por especialidad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3200" y="1364399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07999" y="1655999"/>
          <a:ext cx="5756399" cy="420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2400"/>
                <a:gridCol w="1638000"/>
                <a:gridCol w="1475999"/>
              </a:tblGrid>
              <a:tr h="161584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Número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120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17.1%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77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28.1%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74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38.7%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49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45.7%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51.7%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36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56.8%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26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60.5%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25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64.1%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Geriatría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66.8%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69.0%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71.1%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en Estado Crítico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73.1%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75.0%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76.8%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Nefrología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78.5%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80.1%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y Cirugía de Cabeza y Cuello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81.5%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82.9%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Rehabilitación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84.2%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 Pediátrica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85.4%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Neonatología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86.5%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Neumología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87.5%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Neurocirugía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88.2%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Hemodinamia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88.9%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6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Plástica y Reconstructiva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89.5%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84824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16BF8589-348A-1D14-4A2E-7CF6A1956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230;g370e87ffe7a_2_137">
            <a:extLst>
              <a:ext uri="{FF2B5EF4-FFF2-40B4-BE49-F238E27FC236}">
                <a16:creationId xmlns:a16="http://schemas.microsoft.com/office/drawing/2014/main" id="{3514F2F7-4DFC-C0EA-BD69-FFDD60E3FDB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33325151"/>
              </p:ext>
            </p:extLst>
          </p:nvPr>
        </p:nvGraphicFramePr>
        <p:xfrm>
          <a:off x="287050" y="911688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Lista de espera por especialidad y por cirugía prioritaria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6400" y="8982000"/>
            <a:ext cx="5324400" cy="428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Corte de información: semana 22, 24 mayo 2026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400" y="3474000"/>
          <a:ext cx="3639599" cy="259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1599"/>
                <a:gridCol w="950400"/>
                <a:gridCol w="9576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 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4,877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2,901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54.3%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2,094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69.0%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Urología  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1,056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76.4%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Otorrinolaringología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736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81.5%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Obstetricia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658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86.1%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Cardiología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583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90.2%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Ginecología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535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93.9%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Pediátrica  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97.6%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Angiología y Cirugía Vascular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341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14,311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992400" y="3848400"/>
          <a:ext cx="3639599" cy="194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8800"/>
                <a:gridCol w="1000799"/>
                <a:gridCol w="9000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 prioritaria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del 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Catarata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1,124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rodilla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964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55.2%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Colecistectomías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668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72.9%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Hernioplastías abdominales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403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83.5%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cadera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90.9%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Histerectomías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277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98.2%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Mastectomías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3,783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56559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8" name="Google Shape;258;p8"/>
          <p:cNvGraphicFramePr/>
          <p:nvPr/>
        </p:nvGraphicFramePr>
        <p:xfrm>
          <a:off x="287700" y="789655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Vacantes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59" name="Google Shape;259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001" y="1426697"/>
            <a:ext cx="1165254" cy="102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1175" y="2436923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187225" y="1281647"/>
            <a:ext cx="1354900" cy="1188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1175" y="3532848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187225" y="2501823"/>
            <a:ext cx="1254675" cy="1101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237349" y="3569623"/>
            <a:ext cx="1165250" cy="102255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95" name="Google Shape;295;p8"/>
          <p:cNvGraphicFramePr/>
          <p:nvPr/>
        </p:nvGraphicFramePr>
        <p:xfrm>
          <a:off x="287700" y="5080408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Egreso de residentes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96" name="TextBox 295"/>
          <p:cNvSpPr txBox="1"/>
          <p:nvPr/>
        </p:nvSpPr>
        <p:spPr>
          <a:xfrm>
            <a:off x="0" y="27432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137160" y="722376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Personal Total: 38,952	 Personal de Salud: 26,550</a:t>
            </a:r>
          </a:p>
        </p:txBody>
      </p:sp>
      <p:cxnSp>
        <p:nvCxnSpPr>
          <p:cNvPr id="298" name="Connector 297"/>
          <p:cNvCxnSpPr/>
          <p:nvPr/>
        </p:nvCxnSpPr>
        <p:spPr>
          <a:xfrm>
            <a:off x="137160" y="1106424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9" name="Rounded Rectangle 298"/>
          <p:cNvSpPr/>
          <p:nvPr/>
        </p:nvSpPr>
        <p:spPr>
          <a:xfrm>
            <a:off x="1517904" y="1389888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Rounded Rectangle 299"/>
          <p:cNvSpPr/>
          <p:nvPr/>
        </p:nvSpPr>
        <p:spPr>
          <a:xfrm>
            <a:off x="151790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Generales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+65.4%</a:t>
            </a:r>
          </a:p>
        </p:txBody>
      </p:sp>
      <p:graphicFrame>
        <p:nvGraphicFramePr>
          <p:cNvPr id="301" name="Table 300"/>
          <p:cNvGraphicFramePr>
            <a:graphicFrameLocks noGrp="1"/>
          </p:cNvGraphicFramePr>
          <p:nvPr/>
        </p:nvGraphicFramePr>
        <p:xfrm>
          <a:off x="1517904" y="1915668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228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377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2" name="Rounded Rectangle 301"/>
          <p:cNvSpPr/>
          <p:nvPr/>
        </p:nvSpPr>
        <p:spPr>
          <a:xfrm>
            <a:off x="5495544" y="1389888"/>
            <a:ext cx="1984248" cy="1042415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Rounded Rectangle 302"/>
          <p:cNvSpPr/>
          <p:nvPr/>
        </p:nvSpPr>
        <p:spPr>
          <a:xfrm>
            <a:off x="549554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Especialistas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+32.1%</a:t>
            </a:r>
          </a:p>
        </p:txBody>
      </p:sp>
      <p:graphicFrame>
        <p:nvGraphicFramePr>
          <p:cNvPr id="304" name="Table 303"/>
          <p:cNvGraphicFramePr>
            <a:graphicFrameLocks noGrp="1"/>
          </p:cNvGraphicFramePr>
          <p:nvPr/>
        </p:nvGraphicFramePr>
        <p:xfrm>
          <a:off x="5495544" y="1915668"/>
          <a:ext cx="1984248" cy="5166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8317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8318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4,563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6,030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5" name="Rounded Rectangle 304"/>
          <p:cNvSpPr/>
          <p:nvPr/>
        </p:nvSpPr>
        <p:spPr>
          <a:xfrm>
            <a:off x="151790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Rounded Rectangle 305"/>
          <p:cNvSpPr/>
          <p:nvPr/>
        </p:nvSpPr>
        <p:spPr>
          <a:xfrm>
            <a:off x="151790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Enfermeras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+11.8%</a:t>
            </a:r>
          </a:p>
        </p:txBody>
      </p:sp>
      <p:graphicFrame>
        <p:nvGraphicFramePr>
          <p:cNvPr id="307" name="Table 306"/>
          <p:cNvGraphicFramePr>
            <a:graphicFrameLocks noGrp="1"/>
          </p:cNvGraphicFramePr>
          <p:nvPr/>
        </p:nvGraphicFramePr>
        <p:xfrm>
          <a:off x="151790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67462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9,308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10,410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8" name="Rounded Rectangle 307"/>
          <p:cNvSpPr/>
          <p:nvPr/>
        </p:nvSpPr>
        <p:spPr>
          <a:xfrm>
            <a:off x="549554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Rounded Rectangle 308"/>
          <p:cNvSpPr/>
          <p:nvPr/>
        </p:nvSpPr>
        <p:spPr>
          <a:xfrm>
            <a:off x="549554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Paramédicos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+8.8%</a:t>
            </a:r>
          </a:p>
        </p:txBody>
      </p:sp>
      <p:graphicFrame>
        <p:nvGraphicFramePr>
          <p:cNvPr id="310" name="Table 309"/>
          <p:cNvGraphicFramePr>
            <a:graphicFrameLocks noGrp="1"/>
          </p:cNvGraphicFramePr>
          <p:nvPr/>
        </p:nvGraphicFramePr>
        <p:xfrm>
          <a:off x="549554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67462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5,607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6,102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11" name="Rounded Rectangle 310"/>
          <p:cNvSpPr/>
          <p:nvPr/>
        </p:nvSpPr>
        <p:spPr>
          <a:xfrm>
            <a:off x="151790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Rounded Rectangle 311"/>
          <p:cNvSpPr/>
          <p:nvPr/>
        </p:nvSpPr>
        <p:spPr>
          <a:xfrm>
            <a:off x="151790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Residentes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+53.5%</a:t>
            </a:r>
          </a:p>
        </p:txBody>
      </p:sp>
      <p:graphicFrame>
        <p:nvGraphicFramePr>
          <p:cNvPr id="313" name="Table 312"/>
          <p:cNvGraphicFramePr>
            <a:graphicFrameLocks noGrp="1"/>
          </p:cNvGraphicFramePr>
          <p:nvPr/>
        </p:nvGraphicFramePr>
        <p:xfrm>
          <a:off x="151790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1,661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2,550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14" name="Rounded Rectangle 313"/>
          <p:cNvSpPr/>
          <p:nvPr/>
        </p:nvSpPr>
        <p:spPr>
          <a:xfrm>
            <a:off x="549554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Rounded Rectangle 314"/>
          <p:cNvSpPr/>
          <p:nvPr/>
        </p:nvSpPr>
        <p:spPr>
          <a:xfrm>
            <a:off x="549554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Técnicos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-13.7%</a:t>
            </a:r>
          </a:p>
        </p:txBody>
      </p:sp>
      <p:graphicFrame>
        <p:nvGraphicFramePr>
          <p:cNvPr id="316" name="Table 315"/>
          <p:cNvGraphicFramePr>
            <a:graphicFrameLocks noGrp="1"/>
          </p:cNvGraphicFramePr>
          <p:nvPr/>
        </p:nvGraphicFramePr>
        <p:xfrm>
          <a:off x="549554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1,253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1,081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graphicFrame>
        <p:nvGraphicFramePr>
          <p:cNvPr id="317" name="Table 316"/>
          <p:cNvGraphicFramePr>
            <a:graphicFrameLocks noGrp="1"/>
          </p:cNvGraphicFramePr>
          <p:nvPr/>
        </p:nvGraphicFramePr>
        <p:xfrm>
          <a:off x="4507200" y="5515200"/>
          <a:ext cx="2843784" cy="109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877824"/>
              </a:tblGrid>
              <a:tr h="18288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Top 5 Egresos 2025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195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115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54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32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27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8" name="Table 317"/>
          <p:cNvGraphicFramePr>
            <a:graphicFrameLocks noGrp="1"/>
          </p:cNvGraphicFramePr>
          <p:nvPr/>
        </p:nvGraphicFramePr>
        <p:xfrm>
          <a:off x="4507200" y="6850800"/>
          <a:ext cx="2843784" cy="109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877824"/>
              </a:tblGrid>
              <a:tr h="18288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Top 5 Egresos 2026</a:t>
                      </a:r>
                    </a:p>
                  </a:txBody>
                  <a:tcPr marL="36576" marR="36576" marT="36576" marB="36576">
                    <a:solidFill>
                      <a:srgbClr val="691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691C32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164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123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66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43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38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9" name="Table 318"/>
          <p:cNvGraphicFramePr>
            <a:graphicFrameLocks noGrp="1"/>
          </p:cNvGraphicFramePr>
          <p:nvPr/>
        </p:nvGraphicFramePr>
        <p:xfrm>
          <a:off x="384048" y="8313724"/>
          <a:ext cx="5266944" cy="914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218688"/>
                <a:gridCol w="2048256"/>
              </a:tblGrid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médico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154</a:t>
                      </a:r>
                    </a:p>
                  </a:txBody>
                  <a:tcPr anchor="ctr"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de Enfermería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124</a:t>
                      </a:r>
                    </a:p>
                  </a:txBody>
                  <a:tcPr anchor="ctr"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administrativos y básico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447</a:t>
                      </a:r>
                    </a:p>
                  </a:txBody>
                  <a:tcPr anchor="ctr"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paramédico y técnico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217</a:t>
                      </a:r>
                    </a:p>
                  </a:txBody>
                  <a:tcPr anchor="ctr"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00515E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36576" marR="36576" marT="36576" marB="36576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515E"/>
                          </a:solidFill>
                          <a:latin typeface="Montserrat"/>
                        </a:defRPr>
                      </a:pPr>
                      <a:r>
                        <a:t>942</a:t>
                      </a:r>
                    </a:p>
                  </a:txBody>
                  <a:tcPr anchor="ctr" marL="36576" marR="36576" marT="36576" marB="36576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0" name="Chart 319"/>
          <p:cNvGraphicFramePr>
            <a:graphicFrameLocks noGrp="1"/>
          </p:cNvGraphicFramePr>
          <p:nvPr/>
        </p:nvGraphicFramePr>
        <p:xfrm>
          <a:off x="320040" y="5404104"/>
          <a:ext cx="3438144" cy="2066543"/>
        </p:xfrm>
        <a:graphic>
          <a:graphicData uri="http://schemas.openxmlformats.org/drawingml/2006/chart">
            <c:chart xmlns:c="http://schemas.openxmlformats.org/drawingml/2006/chart" r:id="rId10"/>
          </a:graphicData>
        </a:graphic>
      </p:graphicFrame>
      <p:sp>
        <p:nvSpPr>
          <p:cNvPr id="321" name="TextBox 320"/>
          <p:cNvSpPr txBox="1"/>
          <p:nvPr/>
        </p:nvSpPr>
        <p:spPr>
          <a:xfrm>
            <a:off x="324000" y="4888800"/>
            <a:ext cx="7286399" cy="331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Fuente: Dirección de Administración. Base SIAP comparativa del diciembre 2018 con el 15 de mayo 2026.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162000" y="7405200"/>
            <a:ext cx="3888000" cy="370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Se muestra el total de egresos en la entidad y sólo las cinco especialidades con mayor egresos de cada año. Corte de información marzo 2026.</a:t>
            </a:r>
            <a:br/>
            <a:r>
              <a:t>Fuente: Dirección de Prestaciones Médicas.</a:t>
            </a:r>
          </a:p>
        </p:txBody>
      </p:sp>
      <p:sp>
        <p:nvSpPr>
          <p:cNvPr id="323" name="TextBox 322"/>
          <p:cNvSpPr txBox="1"/>
          <p:nvPr/>
        </p:nvSpPr>
        <p:spPr>
          <a:xfrm>
            <a:off x="5716800" y="8553600"/>
            <a:ext cx="2048400" cy="554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Sistema de Información Operativa. Personal de base. Corte de información: abril 2026.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9"/>
          <p:cNvSpPr txBox="1"/>
          <p:nvPr/>
        </p:nvSpPr>
        <p:spPr>
          <a:xfrm>
            <a:off x="2151325" y="8689650"/>
            <a:ext cx="3428100" cy="7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20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11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2000" b="1" i="0" u="none" strike="noStrike" cap="none" dirty="0">
                <a:solidFill>
                  <a:srgbClr val="980000"/>
                </a:solidFill>
                <a:latin typeface="Montserrat"/>
                <a:ea typeface="Montserrat"/>
                <a:cs typeface="Montserrat"/>
                <a:sym typeface="Montserrat"/>
              </a:rPr>
              <a:t>consultas diarias</a:t>
            </a:r>
            <a:endParaRPr sz="2000" b="0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311" name="Google Shape;311;p9"/>
          <p:cNvGraphicFramePr/>
          <p:nvPr>
            <p:extLst>
              <p:ext uri="{D42A27DB-BD31-4B8C-83A1-F6EECF244321}">
                <p14:modId xmlns:p14="http://schemas.microsoft.com/office/powerpoint/2010/main" val="2077789532"/>
              </p:ext>
            </p:extLst>
          </p:nvPr>
        </p:nvGraphicFramePr>
        <p:xfrm>
          <a:off x="218088" y="6048653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Día típico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12" name="Google Shape;312;p9"/>
          <p:cNvSpPr txBox="1"/>
          <p:nvPr/>
        </p:nvSpPr>
        <p:spPr>
          <a:xfrm>
            <a:off x="0" y="1776125"/>
            <a:ext cx="77724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3100"/>
              <a:buFont typeface="Montserrat"/>
              <a:buNone/>
            </a:pPr>
            <a:r>
              <a:rPr lang="es" sz="20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ESTADO DE MÉXICO</a:t>
            </a:r>
            <a:endParaRPr sz="2000" b="0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3" name="Google Shape;31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47656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9"/>
          <p:cNvSpPr txBox="1"/>
          <p:nvPr/>
        </p:nvSpPr>
        <p:spPr>
          <a:xfrm>
            <a:off x="4850850" y="6852664"/>
            <a:ext cx="870900" cy="1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cirugías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6" name="Google Shape;316;p9"/>
          <p:cNvSpPr txBox="1"/>
          <p:nvPr/>
        </p:nvSpPr>
        <p:spPr>
          <a:xfrm>
            <a:off x="3936446" y="7861911"/>
            <a:ext cx="10833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Urgencias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7" name="Google Shape;317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33252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9"/>
          <p:cNvSpPr txBox="1"/>
          <p:nvPr/>
        </p:nvSpPr>
        <p:spPr>
          <a:xfrm>
            <a:off x="6651731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egresos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0" name="Google Shape;320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1651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9"/>
          <p:cNvSpPr txBox="1"/>
          <p:nvPr/>
        </p:nvSpPr>
        <p:spPr>
          <a:xfrm>
            <a:off x="1096893" y="6679864"/>
            <a:ext cx="10626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Medicina Familiar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3" name="Google Shape;32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0377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9"/>
          <p:cNvSpPr txBox="1"/>
          <p:nvPr/>
        </p:nvSpPr>
        <p:spPr>
          <a:xfrm>
            <a:off x="5737325" y="7930718"/>
            <a:ext cx="870300" cy="1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partos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6" name="Google Shape;326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97246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9"/>
          <p:cNvSpPr txBox="1"/>
          <p:nvPr/>
        </p:nvSpPr>
        <p:spPr>
          <a:xfrm>
            <a:off x="2011304" y="7802771"/>
            <a:ext cx="1062600" cy="38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de Especialidad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9" name="Google Shape;329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64775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9"/>
          <p:cNvSpPr txBox="1"/>
          <p:nvPr/>
        </p:nvSpPr>
        <p:spPr>
          <a:xfrm>
            <a:off x="2955330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dentales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32" name="Google Shape;332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8733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34" name="Google Shape;334;p9"/>
          <p:cNvGraphicFramePr/>
          <p:nvPr/>
        </p:nvGraphicFramePr>
        <p:xfrm>
          <a:off x="145197" y="816031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Principales motivos de consulta, egresos, defunciones y cirugías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35" name="TextBox 334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  <p:sp>
        <p:nvSpPr>
          <p:cNvPr id="336" name="TextBox 335"/>
          <p:cNvSpPr txBox="1"/>
          <p:nvPr/>
        </p:nvSpPr>
        <p:spPr>
          <a:xfrm>
            <a:off x="324000" y="6825600"/>
            <a:ext cx="7632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32,711</a:t>
            </a:r>
          </a:p>
        </p:txBody>
      </p:sp>
      <p:sp>
        <p:nvSpPr>
          <p:cNvPr id="337" name="TextBox 336"/>
          <p:cNvSpPr txBox="1"/>
          <p:nvPr/>
        </p:nvSpPr>
        <p:spPr>
          <a:xfrm>
            <a:off x="22248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1,387</a:t>
            </a:r>
          </a:p>
        </p:txBody>
      </p:sp>
      <p:sp>
        <p:nvSpPr>
          <p:cNvPr id="338" name="TextBox 337"/>
          <p:cNvSpPr txBox="1"/>
          <p:nvPr/>
        </p:nvSpPr>
        <p:spPr>
          <a:xfrm>
            <a:off x="4064399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467</a:t>
            </a:r>
          </a:p>
        </p:txBody>
      </p:sp>
      <p:sp>
        <p:nvSpPr>
          <p:cNvPr id="339" name="TextBox 338"/>
          <p:cNvSpPr txBox="1"/>
          <p:nvPr/>
        </p:nvSpPr>
        <p:spPr>
          <a:xfrm>
            <a:off x="59292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574</a:t>
            </a:r>
          </a:p>
        </p:txBody>
      </p:sp>
      <p:sp>
        <p:nvSpPr>
          <p:cNvPr id="340" name="TextBox 339"/>
          <p:cNvSpPr txBox="1"/>
          <p:nvPr/>
        </p:nvSpPr>
        <p:spPr>
          <a:xfrm>
            <a:off x="1242000" y="7880400"/>
            <a:ext cx="7632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10,991</a:t>
            </a:r>
          </a:p>
        </p:txBody>
      </p:sp>
      <p:sp>
        <p:nvSpPr>
          <p:cNvPr id="341" name="TextBox 340"/>
          <p:cNvSpPr txBox="1"/>
          <p:nvPr/>
        </p:nvSpPr>
        <p:spPr>
          <a:xfrm>
            <a:off x="3114000" y="7880400"/>
            <a:ext cx="7524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4,533</a:t>
            </a:r>
          </a:p>
        </p:txBody>
      </p:sp>
      <p:sp>
        <p:nvSpPr>
          <p:cNvPr id="342" name="TextBox 341"/>
          <p:cNvSpPr txBox="1"/>
          <p:nvPr/>
        </p:nvSpPr>
        <p:spPr>
          <a:xfrm>
            <a:off x="5014800" y="7880400"/>
            <a:ext cx="6768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61</a:t>
            </a:r>
          </a:p>
        </p:txBody>
      </p:sp>
      <p:sp>
        <p:nvSpPr>
          <p:cNvPr id="343" name="TextBox 342"/>
          <p:cNvSpPr txBox="1"/>
          <p:nvPr/>
        </p:nvSpPr>
        <p:spPr>
          <a:xfrm>
            <a:off x="2152800" y="8690400"/>
            <a:ext cx="34272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980000"/>
                </a:solidFill>
                <a:latin typeface="Montserrat"/>
              </a:defRPr>
            </a:pPr>
            <a:r>
              <a:t>49,622</a:t>
            </a:r>
          </a:p>
        </p:txBody>
      </p:sp>
      <p:graphicFrame>
        <p:nvGraphicFramePr>
          <p:cNvPr id="344" name="Table 343"/>
          <p:cNvGraphicFramePr>
            <a:graphicFrameLocks noGrp="1"/>
          </p:cNvGraphicFramePr>
          <p:nvPr/>
        </p:nvGraphicFramePr>
        <p:xfrm>
          <a:off x="219600" y="1548000"/>
          <a:ext cx="7567200" cy="293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2400"/>
                <a:gridCol w="1468800"/>
                <a:gridCol w="1479600"/>
                <a:gridCol w="1602000"/>
                <a:gridCol w="1544400"/>
              </a:tblGrid>
              <a:tr h="4896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Egresos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Defunciones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(463,331)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(55,490)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y envenenamientos
(6,081)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Embarazo, parto y puerperio
(11,988)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Neumonía e influenza
(593)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Diabetes mellitus
(447,157)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(51,042)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Artropatias
(4,657)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(7,514)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(583)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(124,731)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y trastornos de las articulaciones
(37,812)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Cesárea
(3,423)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y trastornos de las articulaciones
(5,172)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(454)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Infecciones respiratorias agudas
(80,550)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Insuficiencia renal
(30,509)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Cirugía de Hernias (Hernioplastía)
(2,816)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(4,601)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Diabetes mellitus
(315)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mentales
(66,981)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Problemas y enfermedades de la columna vertebral
(29,209)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(2,290)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Hernias
(3,274)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cerebrovasculares
(225)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5" name="TextBox 344"/>
          <p:cNvSpPr txBox="1"/>
          <p:nvPr/>
        </p:nvSpPr>
        <p:spPr>
          <a:xfrm>
            <a:off x="219600" y="5608800"/>
            <a:ext cx="53316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El número de casos se presentan entre paréntesis.</a:t>
            </a:r>
            <a:br/>
            <a:r>
              <a:t>Fuente: IMSS/DPM/División de Información en Salud/Motivos de Consulta Externa (SUI27).</a:t>
            </a:r>
            <a:br/>
            <a:r>
              <a:t>Sistema de información Médico Operativo Central (SIMOC).</a:t>
            </a:r>
            <a:br/>
            <a:r>
              <a:t>Periodo: enero-diciembre 2025</a:t>
            </a:r>
          </a:p>
        </p:txBody>
      </p:sp>
      <p:sp>
        <p:nvSpPr>
          <p:cNvPr id="346" name="TextBox 345"/>
          <p:cNvSpPr txBox="1"/>
          <p:nvPr/>
        </p:nvSpPr>
        <p:spPr>
          <a:xfrm>
            <a:off x="230400" y="9093600"/>
            <a:ext cx="4244400" cy="255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Corte de información: marzo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74320" y="109728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74320" y="7315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BC955C"/>
                </a:solidFill>
                <a:latin typeface="Montserrat"/>
              </a:defRPr>
            </a:pPr>
            <a:r>
              <a:t>Recetas surtidas y negadas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69164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434343"/>
                </a:solidFill>
                <a:latin typeface="Montserrat"/>
              </a:defRPr>
            </a:pPr>
            <a:r>
              <a:t>Comparación interanual de enero a abril de cada año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400" y="1717199"/>
            <a:ext cx="7347600" cy="392796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62356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434343"/>
                </a:solidFill>
                <a:latin typeface="Montserrat"/>
              </a:defRPr>
            </a:pPr>
            <a:r>
              <a:t>Fuente: Portal de Control de Abasto. En 2026, se muestra lo correspondiente al periodo del 1 de enero al 30 de abril de 2026.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59436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BC955C"/>
                </a:solidFill>
                <a:latin typeface="Montserrat"/>
              </a:defRPr>
            </a:pPr>
            <a:r>
              <a:t>Recetas manuales y electrónicas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4320" y="630936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6583680"/>
          <a:ext cx="68580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/>
                <a:gridCol w="1714500"/>
                <a:gridCol w="1714500"/>
                <a:gridCol w="1714500"/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Año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Manuales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Electrónicas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Porcentaje de electrónicas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498,760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5,768,566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92.0%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351,163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5,070,171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93.5%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7955279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434343"/>
                </a:solidFill>
                <a:latin typeface="Montserrat"/>
              </a:defRPr>
            </a:pPr>
            <a:r>
              <a:t>Fuente: Portal de Control de Abasto. En 2026, se muestra lo correspondiente al periodo del 1 de enero al 30 de abril de 2026.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EF5A06-DBD8-14A7-978C-5DC025A5E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" y="612000"/>
            <a:ext cx="5400000" cy="32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Abasto de Medicamentos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000" y="917999"/>
            <a:ext cx="5400000" cy="251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500" b="0">
                <a:solidFill>
                  <a:srgbClr val="BC955C"/>
                </a:solidFill>
                <a:latin typeface="Montserrat"/>
              </a:defRPr>
            </a:pPr>
            <a:r>
              <a:t>Piezas consumidas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80000" y="1188000"/>
            <a:ext cx="720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grafica_piezas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600" y="1360800"/>
            <a:ext cx="7441200" cy="217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0000" y="3671999"/>
            <a:ext cx="6840000" cy="28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800" b="0">
                <a:solidFill>
                  <a:srgbClr val="BC955C"/>
                </a:solidFill>
                <a:latin typeface="Montserrat"/>
              </a:defRPr>
            </a:pPr>
            <a:r>
              <a:t>Medicamentos con mayor demanda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0000" y="3941999"/>
            <a:ext cx="720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80000" y="4121999"/>
          <a:ext cx="7200000" cy="203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0"/>
                <a:gridCol w="1800000"/>
              </a:tblGrid>
              <a:tr h="198000">
                <a:tc grid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 mayor demanda de enero a abril de 2026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6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Nombre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Consumo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Paracetamol, tableta (analgésico)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1,862,821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Losartán, gragea o comprimido recubierto (hipertensión)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1,128,190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Metformina, tableta (hipoglucemiante)                                                                            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703,054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Gabapentina, cápsula (antiepiléptico)                                                                                        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639,808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Atorvastatina, tableta (reducir colesterol y triglicéridos)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609,124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Pantoprazol o Rabeprazol u Omeprazol, tableta o gragea o cápsula (antiácido)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590,583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Electrolitos orales solución (hidratación)  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552,138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Metoprolol, tableta (hipertensión)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435,223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Dapagliflozina, tableta (hipoglucemiante)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430,118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Hidroclorotiazida, tableta (diurético)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405,241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34874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13DF9A8B-BC84-B53F-A860-42396A28C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394;p15">
            <a:extLst>
              <a:ext uri="{FF2B5EF4-FFF2-40B4-BE49-F238E27FC236}">
                <a16:creationId xmlns:a16="http://schemas.microsoft.com/office/drawing/2014/main" id="{434C3138-4D0E-D6F5-1979-61C724288F50}"/>
              </a:ext>
            </a:extLst>
          </p:cNvPr>
          <p:cNvGraphicFramePr/>
          <p:nvPr/>
        </p:nvGraphicFramePr>
        <p:xfrm>
          <a:off x="287700" y="1106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2025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5" name="Google Shape;395;p15">
            <a:extLst>
              <a:ext uri="{FF2B5EF4-FFF2-40B4-BE49-F238E27FC236}">
                <a16:creationId xmlns:a16="http://schemas.microsoft.com/office/drawing/2014/main" id="{4689FF38-8CFA-FB37-4E7B-B5603B7FC11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90550" y="768626"/>
            <a:ext cx="1599000" cy="7704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396;p15">
            <a:extLst>
              <a:ext uri="{FF2B5EF4-FFF2-40B4-BE49-F238E27FC236}">
                <a16:creationId xmlns:a16="http://schemas.microsoft.com/office/drawing/2014/main" id="{3C879FA3-8153-8C4E-8B9C-4DF691C41AD2}"/>
              </a:ext>
            </a:extLst>
          </p:cNvPr>
          <p:cNvSpPr txBox="1"/>
          <p:nvPr/>
        </p:nvSpPr>
        <p:spPr>
          <a:xfrm>
            <a:off x="4051800" y="1055450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 ¿Qué se hizo? </a:t>
            </a:r>
            <a:endParaRPr kumimoji="0" sz="1200" b="1" i="0" u="none" strike="noStrike" kern="0" cap="none" spc="0" normalizeH="0" baseline="0" noProof="0" dirty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2025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Imagen 2" descr="Imagen que contiene camino, firmar, foto, parada&#10;&#10;El contenido generado por IA puede ser incorrecto.">
            <a:extLst>
              <a:ext uri="{FF2B5EF4-FFF2-40B4-BE49-F238E27FC236}">
                <a16:creationId xmlns:a16="http://schemas.microsoft.com/office/drawing/2014/main" id="{A449E935-506B-5438-7138-805AB9A819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51" y="1657175"/>
            <a:ext cx="1409730" cy="573361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785600" y="1584000"/>
          <a:ext cx="5295600" cy="32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405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Infraestructura 2025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405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Ampliación Sala de Hemodinamia Hospital General Regional No. 46 Guadalajara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$46.8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05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Proyecto Ejecutivo para nueva UMF 20+10 con AMC Tlajomulco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$6.7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405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Proyecto Ejecutivo para la ampliación de áreas de gobierno UCIA y hospitalización en HGZ No. 14, Guadalajara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$4.9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05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Proyecto Ejecutivo para la ampliación y remodelación de UMF No. 5, El Salto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$4.5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405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Estudios de pre-inversión del HGR 260 camas, Zapopan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$4.5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05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Proyecto Ejecutivo para la ampliación y remodelación de Urgencias en HGZ No. 6, Ocotlán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$1.1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405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$68.5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785600" y="5004000"/>
          <a:ext cx="5295600" cy="59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54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 2025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Mantenimiento de Infraestructura (PAO 2025)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$1,634.4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Remodelación y mejora de imagen en el HGZ No. 89 Guadalajara y HGR No. 110 Oblatos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$259.9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terapia intensiva en 6 unidades (H. de Especialidades Oblatos CMN, </a:t>
                      </a: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H. Gineco-Obst. Oblatos CMN; HGR No.110, HGR No.45, HGZ No. 89, en Guadalajara; HGZ No.42 Puerto Vallarta)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$104.4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residencias médicas en 19 unidades, Jalisco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$101.9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mejora en 3 subdelegaciones Juárez, Tepatitlán e Hidalgo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$45.4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accesibilidad (rampas) en 34 unidades, Jalisco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$28.6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hemodiálisis interna en 7 unidades (H. de Especialidades Oblatos CMN, </a:t>
                      </a: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H. de Pediatría Oblatos CMN,HGR No.110, HGR No.45, HGZ No. 89 en Guadalajara; HGZ No. 42 Puerto Vallarta, HGZ No.7 Lagos de Moreno)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$8.4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Remodelación del área de hemodiálisis en HGR No. 180 Tlajomulco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$6.5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salud mental en 5 unidades (H. de Especialidades Oblatos CMN, HGR No.110, HGR No.45, HGR No.46, HGZ No.14, en Guadalajara)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$4.5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$2,194.0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1785600" y="11124000"/>
          <a:ext cx="5295600" cy="12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63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 Médico 2025, Instalación 2026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63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Adquisición de 29  piezas de equipo médico: 3 refrigeradores para vacunas, 10 refrigeradores congeladores de 5.4 pies cúbicos, 1 resonancia magnética de 1.5 teslas, 4 mastógrafos digitales con estereotaxia y tomosíntesis, 9 mastógrafos digitales, 2 unidades para tomografía axial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$137.7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1785600" y="12564000"/>
          <a:ext cx="5295600" cy="5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27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Equipamiento Electromecánico 2025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Adquisición de elevadores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$61.5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774400" y="8784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2,461.7</a:t>
            </a:r>
          </a:p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mdp</a:t>
            </a:r>
          </a:p>
        </p:txBody>
      </p:sp>
    </p:spTree>
    <p:extLst>
      <p:ext uri="{BB962C8B-B14F-4D97-AF65-F5344CB8AC3E}">
        <p14:creationId xmlns:p14="http://schemas.microsoft.com/office/powerpoint/2010/main" val="32405657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E90BEC93-CBF6-4FFC-F412-1E04A8985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oogle Shape;394;p15">
            <a:extLst>
              <a:ext uri="{FF2B5EF4-FFF2-40B4-BE49-F238E27FC236}">
                <a16:creationId xmlns:a16="http://schemas.microsoft.com/office/drawing/2014/main" id="{B762DBC9-2C5F-4219-04BA-4A2BF2F57E2F}"/>
              </a:ext>
            </a:extLst>
          </p:cNvPr>
          <p:cNvGraphicFramePr/>
          <p:nvPr/>
        </p:nvGraphicFramePr>
        <p:xfrm>
          <a:off x="287700" y="1105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F224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2026</a:t>
                      </a:r>
                      <a:endParaRPr sz="2100" b="1" u="none" strike="noStrike" cap="none" dirty="0">
                        <a:solidFill>
                          <a:srgbClr val="9F224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Google Shape;396;p15">
            <a:extLst>
              <a:ext uri="{FF2B5EF4-FFF2-40B4-BE49-F238E27FC236}">
                <a16:creationId xmlns:a16="http://schemas.microsoft.com/office/drawing/2014/main" id="{8E24F6E5-E3CB-0C93-0587-E21A33C953B7}"/>
              </a:ext>
            </a:extLst>
          </p:cNvPr>
          <p:cNvSpPr txBox="1"/>
          <p:nvPr/>
        </p:nvSpPr>
        <p:spPr>
          <a:xfrm>
            <a:off x="4031556" y="1055457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 ¿Qué se hará? </a:t>
            </a:r>
            <a:endParaRPr kumimoji="0" sz="1200" b="1" i="0" u="none" strike="noStrike" kern="0" cap="none" spc="0" normalizeH="0" baseline="0" noProof="0" dirty="0">
              <a:ln>
                <a:noFill/>
              </a:ln>
              <a:solidFill>
                <a:srgbClr val="9F2241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2026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9F2241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Google Shape;395;p15">
            <a:extLst>
              <a:ext uri="{FF2B5EF4-FFF2-40B4-BE49-F238E27FC236}">
                <a16:creationId xmlns:a16="http://schemas.microsoft.com/office/drawing/2014/main" id="{1B5687F4-45A0-92B4-9653-1598AF1BC42E}"/>
              </a:ext>
            </a:extLst>
          </p:cNvPr>
          <p:cNvPicPr preferRelativeResize="0"/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  <a:duotone>
              <a:prstClr val="black"/>
              <a:srgbClr val="FF0000">
                <a:tint val="45000"/>
                <a:satMod val="400000"/>
              </a:srgbClr>
            </a:duotone>
          </a:blip>
          <a:srcRect/>
          <a:stretch/>
        </p:blipFill>
        <p:spPr>
          <a:xfrm>
            <a:off x="5590800" y="702365"/>
            <a:ext cx="1599000" cy="77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Imagen 2" descr="Logotipo&#10;&#10;El contenido generado por IA puede ser incorrecto.">
            <a:extLst>
              <a:ext uri="{FF2B5EF4-FFF2-40B4-BE49-F238E27FC236}">
                <a16:creationId xmlns:a16="http://schemas.microsoft.com/office/drawing/2014/main" id="{078CF335-FFDD-4318-E8C6-16DF76321D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30" y="1605245"/>
            <a:ext cx="1503574" cy="354103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785600" y="1584000"/>
          <a:ext cx="5396400" cy="20159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/>
                <a:gridCol w="1141200"/>
              </a:tblGrid>
              <a:tr h="403198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Infraestructura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  <a:tr h="40319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Ampliación y remodelación UMF 181 Ixtlahuacán de los Membrillos (10 CMF + 5 Enfermería + Urgencias + 4 Especialidades (5 actuales + 5 nuevos)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$444.5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0319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Nueva UMF 20+10 con AMC, Tlajomulco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$353.7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40319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Ampliación, Construcción Torre de descanso para Médicos Residentes en la UMAE Hospital Especialidades del CMNO, Guadalajara, Jalisco.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$30.8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03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$829.0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1785600" y="3779992"/>
          <a:ext cx="53964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/>
                <a:gridCol w="11412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Mantenimiento de infraestructura (PAO 2026)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$431.8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1785600" y="4463990"/>
          <a:ext cx="5396400" cy="7559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/>
                <a:gridCol w="1141200"/>
              </a:tblGrid>
              <a:tr h="377998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 Médico 2026, Instalación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  <a:tr h="377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Programa para la Adquisición de Equipo CeSiECQ Jalisco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$36.1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1785600" y="5399987"/>
          <a:ext cx="5396400" cy="10079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/>
                <a:gridCol w="1141200"/>
              </a:tblGrid>
              <a:tr h="503998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Equipamiento Electromecánico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  <a:tr h="50399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58 Equipos electromecánicos para 23 unidades; 37 equipos para aire acondicionado, 14 equipos para casa de máquinas, 4 lavadoras y 3 secadoras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$387.1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781600" y="8784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1,684.0</a:t>
            </a:r>
          </a:p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mdp</a:t>
            </a:r>
          </a:p>
        </p:txBody>
      </p:sp>
    </p:spTree>
    <p:extLst>
      <p:ext uri="{BB962C8B-B14F-4D97-AF65-F5344CB8AC3E}">
        <p14:creationId xmlns:p14="http://schemas.microsoft.com/office/powerpoint/2010/main" val="3647339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FE744575-7751-A208-3347-5F7CBAC2C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551;g3d0ffe769cd_0_0">
            <a:extLst>
              <a:ext uri="{FF2B5EF4-FFF2-40B4-BE49-F238E27FC236}">
                <a16:creationId xmlns:a16="http://schemas.microsoft.com/office/drawing/2014/main" id="{5BD5C9B2-AB8A-FA14-D2D6-EBEB470169F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382" t="14684" r="1598" b="17771"/>
          <a:stretch/>
        </p:blipFill>
        <p:spPr>
          <a:xfrm>
            <a:off x="230902" y="5977920"/>
            <a:ext cx="7368300" cy="28629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Google Shape;394;p15">
            <a:extLst>
              <a:ext uri="{FF2B5EF4-FFF2-40B4-BE49-F238E27FC236}">
                <a16:creationId xmlns:a16="http://schemas.microsoft.com/office/drawing/2014/main" id="{57BAAA0D-10FB-75CD-3071-B491398A053A}"/>
              </a:ext>
            </a:extLst>
          </p:cNvPr>
          <p:cNvGraphicFramePr/>
          <p:nvPr/>
        </p:nvGraphicFramePr>
        <p:xfrm>
          <a:off x="287700" y="1159208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F224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en planeación</a:t>
                      </a:r>
                      <a:endParaRPr sz="2100" b="1" u="none" strike="noStrike" cap="none" dirty="0">
                        <a:solidFill>
                          <a:srgbClr val="9F224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" name="Google Shape;559;g3d0ffe769cd_0_0">
            <a:extLst>
              <a:ext uri="{FF2B5EF4-FFF2-40B4-BE49-F238E27FC236}">
                <a16:creationId xmlns:a16="http://schemas.microsoft.com/office/drawing/2014/main" id="{74EA239F-AD11-6BB6-2B07-15FDA93930A1}"/>
              </a:ext>
            </a:extLst>
          </p:cNvPr>
          <p:cNvGraphicFramePr/>
          <p:nvPr/>
        </p:nvGraphicFramePr>
        <p:xfrm>
          <a:off x="147600" y="5029200"/>
          <a:ext cx="7474250" cy="3810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Propuestas </a:t>
                      </a:r>
                      <a:r>
                        <a:rPr lang="es" sz="2100" b="1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en</a:t>
                      </a:r>
                      <a:r>
                        <a:rPr lang="es" sz="2100" b="1" u="none" strike="noStrike" cap="none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valoración</a:t>
                      </a:r>
                      <a:endParaRPr sz="2100" b="1" u="none" strike="noStrike" cap="none" dirty="0">
                        <a:solidFill>
                          <a:srgbClr val="A4214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4214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Google Shape;552;g3d0ffe769cd_0_0">
            <a:extLst>
              <a:ext uri="{FF2B5EF4-FFF2-40B4-BE49-F238E27FC236}">
                <a16:creationId xmlns:a16="http://schemas.microsoft.com/office/drawing/2014/main" id="{1CFCE444-12DD-D109-A796-7924C33A5D14}"/>
              </a:ext>
            </a:extLst>
          </p:cNvPr>
          <p:cNvSpPr/>
          <p:nvPr/>
        </p:nvSpPr>
        <p:spPr>
          <a:xfrm>
            <a:off x="234692" y="6000034"/>
            <a:ext cx="7338300" cy="2862900"/>
          </a:xfrm>
          <a:prstGeom prst="rect">
            <a:avLst/>
          </a:prstGeom>
          <a:solidFill>
            <a:srgbClr val="000000">
              <a:alpha val="498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556;g3d0ffe769cd_0_0">
            <a:extLst>
              <a:ext uri="{FF2B5EF4-FFF2-40B4-BE49-F238E27FC236}">
                <a16:creationId xmlns:a16="http://schemas.microsoft.com/office/drawing/2014/main" id="{7A6658D4-29D8-8663-D2C5-74863CD96596}"/>
              </a:ext>
            </a:extLst>
          </p:cNvPr>
          <p:cNvSpPr/>
          <p:nvPr/>
        </p:nvSpPr>
        <p:spPr>
          <a:xfrm>
            <a:off x="852084" y="6140331"/>
            <a:ext cx="893727" cy="769171"/>
          </a:xfrm>
          <a:prstGeom prst="ellipse">
            <a:avLst/>
          </a:prstGeom>
          <a:gradFill>
            <a:gsLst>
              <a:gs pos="0">
                <a:srgbClr val="714B8D"/>
              </a:gs>
              <a:gs pos="100000">
                <a:srgbClr val="B395BA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553;g3d0ffe769cd_0_0">
            <a:extLst>
              <a:ext uri="{FF2B5EF4-FFF2-40B4-BE49-F238E27FC236}">
                <a16:creationId xmlns:a16="http://schemas.microsoft.com/office/drawing/2014/main" id="{C2E1F9A0-4911-B1FF-D485-66518A66B9A6}"/>
              </a:ext>
            </a:extLst>
          </p:cNvPr>
          <p:cNvSpPr/>
          <p:nvPr/>
        </p:nvSpPr>
        <p:spPr>
          <a:xfrm>
            <a:off x="290798" y="6906978"/>
            <a:ext cx="2016300" cy="5856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714B8D"/>
              </a:gs>
              <a:gs pos="100000">
                <a:srgbClr val="B395BA"/>
              </a:gs>
            </a:gsLst>
            <a:lin ang="10800025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482600" marR="0" lvl="0" indent="-482600" algn="ctr" defTabSz="9144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kumimoji="0" sz="15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" name="Google Shape;554;g3d0ffe769cd_0_0">
            <a:extLst>
              <a:ext uri="{FF2B5EF4-FFF2-40B4-BE49-F238E27FC236}">
                <a16:creationId xmlns:a16="http://schemas.microsoft.com/office/drawing/2014/main" id="{6C0AF4EA-FBE1-4238-8146-A4C96C7D760B}"/>
              </a:ext>
            </a:extLst>
          </p:cNvPr>
          <p:cNvSpPr txBox="1"/>
          <p:nvPr/>
        </p:nvSpPr>
        <p:spPr>
          <a:xfrm>
            <a:off x="276701" y="7497965"/>
            <a:ext cx="19650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2025-2030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" name="Google Shape;562;g3d0ffe769cd_0_0">
            <a:extLst>
              <a:ext uri="{FF2B5EF4-FFF2-40B4-BE49-F238E27FC236}">
                <a16:creationId xmlns:a16="http://schemas.microsoft.com/office/drawing/2014/main" id="{D407F8E2-D0BB-FA42-30DC-AD7126C10878}"/>
              </a:ext>
            </a:extLst>
          </p:cNvPr>
          <p:cNvSpPr txBox="1"/>
          <p:nvPr/>
        </p:nvSpPr>
        <p:spPr>
          <a:xfrm rot="16200000">
            <a:off x="1958850" y="7286400"/>
            <a:ext cx="16596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2026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691200" y="1584000"/>
          <a:ext cx="6390000" cy="30239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335998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Infraestructura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335998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Hospital General Regional Zapopan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$3,953.4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5998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Nueva UMF Plus 3 20+8 CMF en Zapotlán el Grande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$901.0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335998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UMF No. 41  para una UMF Plus 3 de 10 CMF en San Juan de los Lagos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$855.3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5998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Ampliación y remodelación de UMF No. 5, El Salto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$302.7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335998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Construcción de una nueva sustitución de la UMF No. 40 de 3 a 6 CMF +3 EEMF + AMC, Chapala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$232.4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5998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Ampliación de áreas de gobierno UCIA y hospitalización en HGZ No. 14, Guadalajara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$224.7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335998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Ampliación y remodelación de Urgencias en HGZ No. 6, Ocotlán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$49.6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6004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$6,519.1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691200" y="4787988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691200" y="5471986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 Médico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91200" y="6155984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Equipamiento Electromecánico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5936399" y="10188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6,519.1 mdp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2552400" y="6141600"/>
          <a:ext cx="4928400" cy="186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1600"/>
                <a:gridCol w="1828800"/>
                <a:gridCol w="2628000"/>
              </a:tblGrid>
              <a:tr h="465300">
                <a:tc gridSpan="3"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30 Predios en ruta 2026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72000" marR="72000" anchor="ctr"/>
                </a:tc>
                <a:tc hMerge="1">
                  <a:txBody>
                    <a:bodyPr/>
                    <a:lstStyle/>
                    <a:p/>
                  </a:txBody>
                  <a:tcPr marL="72000" marR="72000" anchor="ctr"/>
                </a:tc>
              </a:tr>
              <a:tr h="465300">
                <a:tc gridSpan="2"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Estatus terrenos ¹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72000" marR="72000"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Municipios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</a:tr>
              <a:tr h="465300">
                <a:tc rowSpan="2">
                  <a:txBody>
                    <a:bodyPr/>
                    <a:lstStyle/>
                    <a:p/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11 Reserva IMSS</a:t>
                      </a:r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Unión de San Antonio, Tonalá, Tomatlán, Tlajomulco de Zúñiga, San Ignacio Cerro Gordo, Lagos de Moreno, Guadalajara, Cocula, Autlán de Navarro, Atotonilco el Alto, Ameca</a:t>
                      </a:r>
                    </a:p>
                  </a:txBody>
                  <a:tcPr marL="72000" marR="72000" anchor="ctr">
                    <a:noFill/>
                  </a:tcPr>
                </a:tc>
              </a:tr>
              <a:tr h="465300">
                <a:tc vMerge="1">
                  <a:txBody>
                    <a:bodyPr/>
                    <a:lstStyle/>
                    <a:p/>
                  </a:txBody>
                  <a:tcPr marL="72000" marR="72000"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19 Donación</a:t>
                      </a:r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Ayutla, Sayula, Jalostoltitlán, Arandas, Encarnación de Díaz, Ixtlahuacán de los Membrillos, Lagos de Moreno (3), Ocotlán (2), San Pedro Tlaquepaque, Tala, Tequila, Puerto Vallarta (2), Tlajomulco de Zúñiga, Tuxpan, Zapopan</a:t>
                      </a:r>
                    </a:p>
                  </a:txBody>
                  <a:tcPr marL="72000" marR="72000" anchor="ctr">
                    <a:noFill/>
                  </a:tcPr>
                </a:tc>
              </a:tr>
            </a:tbl>
          </a:graphicData>
        </a:graphic>
      </p:graphicFrame>
      <p:sp>
        <p:nvSpPr>
          <p:cNvPr id="26" name="Oval 25"/>
          <p:cNvSpPr/>
          <p:nvPr/>
        </p:nvSpPr>
        <p:spPr>
          <a:xfrm>
            <a:off x="885600" y="6163200"/>
            <a:ext cx="810000" cy="70920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705085"/>
                </a:solidFill>
                <a:latin typeface="Montserrat"/>
              </a:defRPr>
            </a:pPr>
            <a:r>
              <a:t>97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3600" y="6948000"/>
            <a:ext cx="1760400" cy="50399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36000" bIns="36000"/>
          <a:lstStyle/>
          <a:p>
            <a:pPr algn="ctr">
              <a:defRPr sz="1500" b="1">
                <a:solidFill>
                  <a:srgbClr val="FFFFFF"/>
                </a:solidFill>
                <a:latin typeface="Montserrat"/>
              </a:defRPr>
            </a:pPr>
            <a:r>
              <a:t>76 CECI IMSS</a:t>
            </a:r>
          </a:p>
          <a:p>
            <a:pPr algn="ctr">
              <a:defRPr sz="1500" b="1">
                <a:solidFill>
                  <a:srgbClr val="FFFFFF"/>
                </a:solidFill>
                <a:latin typeface="Montserrat"/>
              </a:defRPr>
            </a:pPr>
            <a:r>
              <a:t>21 CECI CAMPO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0" y="9273600"/>
            <a:ext cx="7574400" cy="230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¹ 1/Terrenos validados. CECI Ameca 110 niños, Cerro Gordo  110 niños, Atotonilco 110 niños, Tomatlán  110 niños, fallo 15 de mayo 2026. Para entregar a SICT: 11 en Autlán de Navarro, Cocula, Guadalajara, Lagos de Moreno, Tlajomulco de Zúñiga, Tonalá, Unión San Antonio, Atotonilco el Alto, Ameca, San Ignacio Cerro Gordo y Tomatlán. En validación o en integración de expediente para donación: 20 en municipios como Tomatlán, San Ignacio Cerro Gordo, Atotonilco El Alto, Ameca, Jalostotitlán, Encarnación de Díaz, Ocotlán, Tala, Tequila, Puerto Vallarta, Zapopan y Tala.</a:t>
            </a:r>
          </a:p>
        </p:txBody>
      </p:sp>
    </p:spTree>
    <p:extLst>
      <p:ext uri="{BB962C8B-B14F-4D97-AF65-F5344CB8AC3E}">
        <p14:creationId xmlns:p14="http://schemas.microsoft.com/office/powerpoint/2010/main" val="300773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7" name="Google Shape;457;p16"/>
          <p:cNvGraphicFramePr/>
          <p:nvPr/>
        </p:nvGraphicFramePr>
        <p:xfrm>
          <a:off x="287700" y="118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de prestaciones sociales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58" name="Google Shape;458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6200" y="3011565"/>
            <a:ext cx="1405326" cy="1233273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5540" y="4913783"/>
            <a:ext cx="926657" cy="813175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16"/>
          <p:cNvSpPr/>
          <p:nvPr/>
        </p:nvSpPr>
        <p:spPr>
          <a:xfrm>
            <a:off x="866642" y="1681836"/>
            <a:ext cx="822964" cy="738609"/>
          </a:xfrm>
          <a:custGeom>
            <a:avLst/>
            <a:gdLst/>
            <a:ahLst/>
            <a:cxnLst/>
            <a:rect l="l" t="t" r="r" b="b"/>
            <a:pathLst>
              <a:path w="1146988" h="1029420" extrusionOk="0">
                <a:moveTo>
                  <a:pt x="71580" y="796949"/>
                </a:moveTo>
                <a:lnTo>
                  <a:pt x="248013" y="898518"/>
                </a:lnTo>
                <a:lnTo>
                  <a:pt x="169866" y="661669"/>
                </a:lnTo>
                <a:lnTo>
                  <a:pt x="71580" y="796949"/>
                </a:lnTo>
                <a:close/>
                <a:moveTo>
                  <a:pt x="1145278" y="451745"/>
                </a:moveTo>
                <a:cubicBezTo>
                  <a:pt x="1119886" y="347331"/>
                  <a:pt x="1094275" y="243135"/>
                  <a:pt x="1068664" y="138939"/>
                </a:cubicBezTo>
                <a:cubicBezTo>
                  <a:pt x="1064505" y="122084"/>
                  <a:pt x="1054216" y="110263"/>
                  <a:pt x="1037799" y="105229"/>
                </a:cubicBezTo>
                <a:cubicBezTo>
                  <a:pt x="928131" y="70862"/>
                  <a:pt x="818463" y="36495"/>
                  <a:pt x="708794" y="2565"/>
                </a:cubicBezTo>
                <a:cubicBezTo>
                  <a:pt x="691720" y="-2688"/>
                  <a:pt x="675522" y="-62"/>
                  <a:pt x="661512" y="12197"/>
                </a:cubicBezTo>
                <a:cubicBezTo>
                  <a:pt x="580957" y="83339"/>
                  <a:pt x="500403" y="154481"/>
                  <a:pt x="420067" y="225842"/>
                </a:cubicBezTo>
                <a:cubicBezTo>
                  <a:pt x="405619" y="238757"/>
                  <a:pt x="400585" y="254956"/>
                  <a:pt x="405619" y="274000"/>
                </a:cubicBezTo>
                <a:cubicBezTo>
                  <a:pt x="407589" y="281880"/>
                  <a:pt x="409341" y="289760"/>
                  <a:pt x="411968" y="300486"/>
                </a:cubicBezTo>
                <a:cubicBezTo>
                  <a:pt x="389202" y="286696"/>
                  <a:pt x="369501" y="274875"/>
                  <a:pt x="349800" y="263055"/>
                </a:cubicBezTo>
                <a:cubicBezTo>
                  <a:pt x="332507" y="252548"/>
                  <a:pt x="315433" y="252767"/>
                  <a:pt x="298359" y="263055"/>
                </a:cubicBezTo>
                <a:cubicBezTo>
                  <a:pt x="207297" y="318217"/>
                  <a:pt x="116017" y="373380"/>
                  <a:pt x="24736" y="428323"/>
                </a:cubicBezTo>
                <a:cubicBezTo>
                  <a:pt x="8099" y="438393"/>
                  <a:pt x="0" y="452621"/>
                  <a:pt x="0" y="472322"/>
                </a:cubicBezTo>
                <a:cubicBezTo>
                  <a:pt x="219" y="585493"/>
                  <a:pt x="219" y="698882"/>
                  <a:pt x="0" y="812053"/>
                </a:cubicBezTo>
                <a:cubicBezTo>
                  <a:pt x="0" y="832191"/>
                  <a:pt x="7881" y="846858"/>
                  <a:pt x="25174" y="857146"/>
                </a:cubicBezTo>
                <a:cubicBezTo>
                  <a:pt x="115360" y="911433"/>
                  <a:pt x="205327" y="965720"/>
                  <a:pt x="295295" y="1020444"/>
                </a:cubicBezTo>
                <a:cubicBezTo>
                  <a:pt x="314776" y="1032265"/>
                  <a:pt x="332945" y="1032484"/>
                  <a:pt x="352646" y="1020663"/>
                </a:cubicBezTo>
                <a:cubicBezTo>
                  <a:pt x="440643" y="967252"/>
                  <a:pt x="528641" y="913622"/>
                  <a:pt x="617295" y="861086"/>
                </a:cubicBezTo>
                <a:cubicBezTo>
                  <a:pt x="639622" y="847733"/>
                  <a:pt x="649473" y="830440"/>
                  <a:pt x="648816" y="804391"/>
                </a:cubicBezTo>
                <a:cubicBezTo>
                  <a:pt x="647721" y="757766"/>
                  <a:pt x="648378" y="711141"/>
                  <a:pt x="648378" y="663202"/>
                </a:cubicBezTo>
                <a:cubicBezTo>
                  <a:pt x="653632" y="664734"/>
                  <a:pt x="657791" y="665828"/>
                  <a:pt x="661731" y="667142"/>
                </a:cubicBezTo>
                <a:cubicBezTo>
                  <a:pt x="721052" y="685748"/>
                  <a:pt x="780375" y="704136"/>
                  <a:pt x="839477" y="722961"/>
                </a:cubicBezTo>
                <a:cubicBezTo>
                  <a:pt x="857864" y="728871"/>
                  <a:pt x="874501" y="726901"/>
                  <a:pt x="889167" y="713986"/>
                </a:cubicBezTo>
                <a:cubicBezTo>
                  <a:pt x="969722" y="642844"/>
                  <a:pt x="1050057" y="571702"/>
                  <a:pt x="1130612" y="500341"/>
                </a:cubicBezTo>
                <a:cubicBezTo>
                  <a:pt x="1145278" y="486988"/>
                  <a:pt x="1149875" y="470571"/>
                  <a:pt x="1145278" y="451745"/>
                </a:cubicBezTo>
                <a:close/>
                <a:moveTo>
                  <a:pt x="484423" y="212489"/>
                </a:moveTo>
                <a:cubicBezTo>
                  <a:pt x="548560" y="155576"/>
                  <a:pt x="612916" y="99100"/>
                  <a:pt x="676835" y="41748"/>
                </a:cubicBezTo>
                <a:cubicBezTo>
                  <a:pt x="686467" y="33211"/>
                  <a:pt x="694785" y="31679"/>
                  <a:pt x="706824" y="35619"/>
                </a:cubicBezTo>
                <a:cubicBezTo>
                  <a:pt x="793946" y="63419"/>
                  <a:pt x="881287" y="90563"/>
                  <a:pt x="968408" y="117706"/>
                </a:cubicBezTo>
                <a:cubicBezTo>
                  <a:pt x="972568" y="119019"/>
                  <a:pt x="976726" y="120552"/>
                  <a:pt x="983293" y="122741"/>
                </a:cubicBezTo>
                <a:cubicBezTo>
                  <a:pt x="953304" y="149227"/>
                  <a:pt x="925504" y="173744"/>
                  <a:pt x="897704" y="198480"/>
                </a:cubicBezTo>
                <a:cubicBezTo>
                  <a:pt x="848452" y="242040"/>
                  <a:pt x="799419" y="285601"/>
                  <a:pt x="749728" y="328943"/>
                </a:cubicBezTo>
                <a:cubicBezTo>
                  <a:pt x="746445" y="331789"/>
                  <a:pt x="739878" y="334197"/>
                  <a:pt x="736157" y="332884"/>
                </a:cubicBezTo>
                <a:cubicBezTo>
                  <a:pt x="642030" y="303770"/>
                  <a:pt x="548123" y="274219"/>
                  <a:pt x="453996" y="244886"/>
                </a:cubicBezTo>
                <a:cubicBezTo>
                  <a:pt x="453340" y="244667"/>
                  <a:pt x="452683" y="243792"/>
                  <a:pt x="451151" y="242259"/>
                </a:cubicBezTo>
                <a:cubicBezTo>
                  <a:pt x="462314" y="232190"/>
                  <a:pt x="473259" y="222340"/>
                  <a:pt x="484423" y="212489"/>
                </a:cubicBezTo>
                <a:close/>
                <a:moveTo>
                  <a:pt x="298359" y="983669"/>
                </a:moveTo>
                <a:cubicBezTo>
                  <a:pt x="213645" y="932447"/>
                  <a:pt x="128713" y="881444"/>
                  <a:pt x="44436" y="829784"/>
                </a:cubicBezTo>
                <a:cubicBezTo>
                  <a:pt x="38746" y="826281"/>
                  <a:pt x="33054" y="817525"/>
                  <a:pt x="33054" y="811177"/>
                </a:cubicBezTo>
                <a:cubicBezTo>
                  <a:pt x="32397" y="715300"/>
                  <a:pt x="32616" y="619422"/>
                  <a:pt x="32616" y="523325"/>
                </a:cubicBezTo>
                <a:cubicBezTo>
                  <a:pt x="32616" y="521574"/>
                  <a:pt x="33054" y="520042"/>
                  <a:pt x="33491" y="515883"/>
                </a:cubicBezTo>
                <a:cubicBezTo>
                  <a:pt x="72237" y="539305"/>
                  <a:pt x="109012" y="561414"/>
                  <a:pt x="145787" y="583741"/>
                </a:cubicBezTo>
                <a:cubicBezTo>
                  <a:pt x="196790" y="614606"/>
                  <a:pt x="247574" y="645252"/>
                  <a:pt x="298359" y="676336"/>
                </a:cubicBezTo>
                <a:cubicBezTo>
                  <a:pt x="302299" y="678744"/>
                  <a:pt x="306896" y="683778"/>
                  <a:pt x="306896" y="687718"/>
                </a:cubicBezTo>
                <a:cubicBezTo>
                  <a:pt x="307334" y="787098"/>
                  <a:pt x="307334" y="886697"/>
                  <a:pt x="307334" y="987391"/>
                </a:cubicBezTo>
                <a:cubicBezTo>
                  <a:pt x="303612" y="985858"/>
                  <a:pt x="300767" y="984983"/>
                  <a:pt x="298359" y="983669"/>
                </a:cubicBezTo>
                <a:close/>
                <a:moveTo>
                  <a:pt x="310180" y="644814"/>
                </a:moveTo>
                <a:cubicBezTo>
                  <a:pt x="222183" y="591184"/>
                  <a:pt x="133966" y="537992"/>
                  <a:pt x="45750" y="484799"/>
                </a:cubicBezTo>
                <a:cubicBezTo>
                  <a:pt x="27801" y="474073"/>
                  <a:pt x="27581" y="464661"/>
                  <a:pt x="45312" y="453934"/>
                </a:cubicBezTo>
                <a:cubicBezTo>
                  <a:pt x="133747" y="400304"/>
                  <a:pt x="222401" y="346893"/>
                  <a:pt x="311056" y="293482"/>
                </a:cubicBezTo>
                <a:cubicBezTo>
                  <a:pt x="315215" y="291074"/>
                  <a:pt x="319592" y="289323"/>
                  <a:pt x="324189" y="287134"/>
                </a:cubicBezTo>
                <a:cubicBezTo>
                  <a:pt x="328786" y="289323"/>
                  <a:pt x="332726" y="290855"/>
                  <a:pt x="336447" y="293263"/>
                </a:cubicBezTo>
                <a:cubicBezTo>
                  <a:pt x="425102" y="346674"/>
                  <a:pt x="513537" y="400304"/>
                  <a:pt x="601972" y="453716"/>
                </a:cubicBezTo>
                <a:cubicBezTo>
                  <a:pt x="620359" y="464879"/>
                  <a:pt x="619921" y="474073"/>
                  <a:pt x="601096" y="485237"/>
                </a:cubicBezTo>
                <a:cubicBezTo>
                  <a:pt x="513318" y="538210"/>
                  <a:pt x="425321" y="591184"/>
                  <a:pt x="337761" y="644376"/>
                </a:cubicBezTo>
                <a:cubicBezTo>
                  <a:pt x="327911" y="650724"/>
                  <a:pt x="320468" y="651162"/>
                  <a:pt x="310180" y="644814"/>
                </a:cubicBezTo>
                <a:close/>
                <a:moveTo>
                  <a:pt x="601096" y="831754"/>
                </a:moveTo>
                <a:cubicBezTo>
                  <a:pt x="517914" y="881444"/>
                  <a:pt x="435171" y="931790"/>
                  <a:pt x="352427" y="981699"/>
                </a:cubicBezTo>
                <a:cubicBezTo>
                  <a:pt x="349144" y="983669"/>
                  <a:pt x="345641" y="985421"/>
                  <a:pt x="341045" y="987828"/>
                </a:cubicBezTo>
                <a:cubicBezTo>
                  <a:pt x="340606" y="982794"/>
                  <a:pt x="340169" y="978854"/>
                  <a:pt x="340169" y="975132"/>
                </a:cubicBezTo>
                <a:cubicBezTo>
                  <a:pt x="340169" y="881444"/>
                  <a:pt x="340169" y="787536"/>
                  <a:pt x="339950" y="693847"/>
                </a:cubicBezTo>
                <a:cubicBezTo>
                  <a:pt x="339950" y="684873"/>
                  <a:pt x="342358" y="679838"/>
                  <a:pt x="350457" y="675022"/>
                </a:cubicBezTo>
                <a:cubicBezTo>
                  <a:pt x="433857" y="625113"/>
                  <a:pt x="517039" y="574548"/>
                  <a:pt x="600221" y="524420"/>
                </a:cubicBezTo>
                <a:cubicBezTo>
                  <a:pt x="604380" y="522012"/>
                  <a:pt x="608539" y="519604"/>
                  <a:pt x="615543" y="515664"/>
                </a:cubicBezTo>
                <a:lnTo>
                  <a:pt x="615543" y="531862"/>
                </a:lnTo>
                <a:cubicBezTo>
                  <a:pt x="615543" y="622924"/>
                  <a:pt x="615325" y="713986"/>
                  <a:pt x="615762" y="805048"/>
                </a:cubicBezTo>
                <a:cubicBezTo>
                  <a:pt x="615762" y="817306"/>
                  <a:pt x="612260" y="825187"/>
                  <a:pt x="601096" y="831754"/>
                </a:cubicBezTo>
                <a:close/>
                <a:moveTo>
                  <a:pt x="733967" y="655102"/>
                </a:moveTo>
                <a:cubicBezTo>
                  <a:pt x="709889" y="647660"/>
                  <a:pt x="685810" y="639561"/>
                  <a:pt x="661512" y="632775"/>
                </a:cubicBezTo>
                <a:cubicBezTo>
                  <a:pt x="651662" y="629929"/>
                  <a:pt x="647503" y="625989"/>
                  <a:pt x="647721" y="614606"/>
                </a:cubicBezTo>
                <a:cubicBezTo>
                  <a:pt x="648597" y="567981"/>
                  <a:pt x="647721" y="521355"/>
                  <a:pt x="648159" y="474730"/>
                </a:cubicBezTo>
                <a:cubicBezTo>
                  <a:pt x="648378" y="453059"/>
                  <a:pt x="639622" y="437736"/>
                  <a:pt x="621016" y="426572"/>
                </a:cubicBezTo>
                <a:cubicBezTo>
                  <a:pt x="568480" y="395270"/>
                  <a:pt x="516382" y="363092"/>
                  <a:pt x="463628" y="331789"/>
                </a:cubicBezTo>
                <a:cubicBezTo>
                  <a:pt x="454434" y="326317"/>
                  <a:pt x="449399" y="319750"/>
                  <a:pt x="447648" y="309242"/>
                </a:cubicBezTo>
                <a:cubicBezTo>
                  <a:pt x="445897" y="298516"/>
                  <a:pt x="442832" y="288009"/>
                  <a:pt x="439767" y="274656"/>
                </a:cubicBezTo>
                <a:cubicBezTo>
                  <a:pt x="508721" y="296327"/>
                  <a:pt x="574609" y="316904"/>
                  <a:pt x="640717" y="337480"/>
                </a:cubicBezTo>
                <a:cubicBezTo>
                  <a:pt x="668736" y="346236"/>
                  <a:pt x="696755" y="354554"/>
                  <a:pt x="724336" y="363967"/>
                </a:cubicBezTo>
                <a:cubicBezTo>
                  <a:pt x="728714" y="365499"/>
                  <a:pt x="733749" y="370534"/>
                  <a:pt x="734843" y="375131"/>
                </a:cubicBezTo>
                <a:cubicBezTo>
                  <a:pt x="759141" y="472322"/>
                  <a:pt x="782782" y="569732"/>
                  <a:pt x="806642" y="667142"/>
                </a:cubicBezTo>
                <a:cubicBezTo>
                  <a:pt x="807299" y="669988"/>
                  <a:pt x="807518" y="673052"/>
                  <a:pt x="808394" y="678087"/>
                </a:cubicBezTo>
                <a:cubicBezTo>
                  <a:pt x="782563" y="670206"/>
                  <a:pt x="758266" y="662764"/>
                  <a:pt x="733967" y="655102"/>
                </a:cubicBezTo>
                <a:close/>
                <a:moveTo>
                  <a:pt x="1103688" y="479983"/>
                </a:moveTo>
                <a:cubicBezTo>
                  <a:pt x="1029043" y="546310"/>
                  <a:pt x="953742" y="611979"/>
                  <a:pt x="879536" y="678744"/>
                </a:cubicBezTo>
                <a:cubicBezTo>
                  <a:pt x="856770" y="699320"/>
                  <a:pt x="848014" y="698882"/>
                  <a:pt x="840133" y="666704"/>
                </a:cubicBezTo>
                <a:cubicBezTo>
                  <a:pt x="816930" y="569294"/>
                  <a:pt x="792633" y="471884"/>
                  <a:pt x="768554" y="374474"/>
                </a:cubicBezTo>
                <a:cubicBezTo>
                  <a:pt x="766146" y="364405"/>
                  <a:pt x="767459" y="357181"/>
                  <a:pt x="775777" y="349739"/>
                </a:cubicBezTo>
                <a:cubicBezTo>
                  <a:pt x="853924" y="281223"/>
                  <a:pt x="931633" y="212270"/>
                  <a:pt x="1009561" y="143536"/>
                </a:cubicBezTo>
                <a:cubicBezTo>
                  <a:pt x="1024665" y="130183"/>
                  <a:pt x="1033640" y="133029"/>
                  <a:pt x="1038237" y="152292"/>
                </a:cubicBezTo>
                <a:cubicBezTo>
                  <a:pt x="1062972" y="252985"/>
                  <a:pt x="1087708" y="353898"/>
                  <a:pt x="1112224" y="454810"/>
                </a:cubicBezTo>
                <a:cubicBezTo>
                  <a:pt x="1112881" y="457875"/>
                  <a:pt x="1113757" y="460939"/>
                  <a:pt x="1114852" y="466412"/>
                </a:cubicBezTo>
                <a:cubicBezTo>
                  <a:pt x="1111787" y="470352"/>
                  <a:pt x="1108284" y="475824"/>
                  <a:pt x="1103688" y="479983"/>
                </a:cubicBezTo>
                <a:close/>
                <a:moveTo>
                  <a:pt x="858740" y="150979"/>
                </a:moveTo>
                <a:lnTo>
                  <a:pt x="706387" y="93408"/>
                </a:lnTo>
                <a:lnTo>
                  <a:pt x="570669" y="214459"/>
                </a:lnTo>
                <a:lnTo>
                  <a:pt x="728933" y="268308"/>
                </a:lnTo>
                <a:lnTo>
                  <a:pt x="858740" y="150979"/>
                </a:lnTo>
                <a:close/>
                <a:moveTo>
                  <a:pt x="323971" y="404901"/>
                </a:moveTo>
                <a:cubicBezTo>
                  <a:pt x="278877" y="404901"/>
                  <a:pt x="242540" y="433358"/>
                  <a:pt x="242540" y="468382"/>
                </a:cubicBezTo>
                <a:cubicBezTo>
                  <a:pt x="242540" y="503406"/>
                  <a:pt x="279096" y="531862"/>
                  <a:pt x="323971" y="531862"/>
                </a:cubicBezTo>
                <a:cubicBezTo>
                  <a:pt x="368844" y="531862"/>
                  <a:pt x="405401" y="503406"/>
                  <a:pt x="405401" y="468382"/>
                </a:cubicBezTo>
                <a:cubicBezTo>
                  <a:pt x="405401" y="433358"/>
                  <a:pt x="368844" y="404901"/>
                  <a:pt x="323971" y="404901"/>
                </a:cubicBezTo>
                <a:close/>
                <a:moveTo>
                  <a:pt x="418753" y="872688"/>
                </a:moveTo>
                <a:lnTo>
                  <a:pt x="552063" y="798700"/>
                </a:lnTo>
                <a:lnTo>
                  <a:pt x="552063" y="630367"/>
                </a:lnTo>
                <a:lnTo>
                  <a:pt x="418753" y="704355"/>
                </a:lnTo>
                <a:lnTo>
                  <a:pt x="418753" y="872688"/>
                </a:lnTo>
                <a:close/>
                <a:moveTo>
                  <a:pt x="947613" y="355649"/>
                </a:moveTo>
                <a:cubicBezTo>
                  <a:pt x="915435" y="355649"/>
                  <a:pt x="889167" y="381917"/>
                  <a:pt x="889167" y="414095"/>
                </a:cubicBezTo>
                <a:cubicBezTo>
                  <a:pt x="889167" y="446273"/>
                  <a:pt x="915435" y="472541"/>
                  <a:pt x="947613" y="472541"/>
                </a:cubicBezTo>
                <a:cubicBezTo>
                  <a:pt x="979791" y="472541"/>
                  <a:pt x="1006059" y="446273"/>
                  <a:pt x="1006059" y="414095"/>
                </a:cubicBezTo>
                <a:cubicBezTo>
                  <a:pt x="1006059" y="381917"/>
                  <a:pt x="980010" y="355649"/>
                  <a:pt x="947613" y="355649"/>
                </a:cubicBezTo>
                <a:close/>
              </a:path>
            </a:pathLst>
          </a:custGeom>
          <a:solidFill>
            <a:srgbClr val="00655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6"/>
          <p:cNvSpPr/>
          <p:nvPr/>
        </p:nvSpPr>
        <p:spPr>
          <a:xfrm>
            <a:off x="734975" y="6618257"/>
            <a:ext cx="209700" cy="209700"/>
          </a:xfrm>
          <a:prstGeom prst="rect">
            <a:avLst/>
          </a:prstGeom>
          <a:solidFill>
            <a:srgbClr val="DD8DC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TextBox 465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  <p:graphicFrame>
        <p:nvGraphicFramePr>
          <p:cNvPr id="467" name="Table 466"/>
          <p:cNvGraphicFramePr>
            <a:graphicFrameLocks noGrp="1"/>
          </p:cNvGraphicFramePr>
          <p:nvPr/>
        </p:nvGraphicFramePr>
        <p:xfrm>
          <a:off x="2311200" y="1670400"/>
          <a:ext cx="5032800" cy="66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333000">
                <a:tc gridSpan="2"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Montserrat"/>
                        </a:rPr>
                        <a:t>GUARDERÍAS</a:t>
                      </a:r>
                    </a:p>
                  </a:txBody>
                  <a:tcPr marT="0" marB="0" marL="0" marR="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33000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latin typeface="Montserrat"/>
                        </a:rPr>
                        <a:t>90 </a:t>
                      </a:r>
                      <a:r>
                        <a:rPr b="1" sz="1000">
                          <a:latin typeface="Montserrat"/>
                        </a:rPr>
                        <a:t>unidades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5 directas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85 indirectas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latin typeface="Montserrat"/>
                        </a:rPr>
                        <a:t>14,446 </a:t>
                      </a:r>
                      <a:r>
                        <a:rPr b="1" sz="1000">
                          <a:latin typeface="Montserrat"/>
                        </a:rPr>
                        <a:t>inscritos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2,846 en espera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8" name="Table 467"/>
          <p:cNvGraphicFramePr>
            <a:graphicFrameLocks noGrp="1"/>
          </p:cNvGraphicFramePr>
          <p:nvPr/>
        </p:nvGraphicFramePr>
        <p:xfrm>
          <a:off x="2311200" y="2570400"/>
          <a:ext cx="5032800" cy="20915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348599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BIENESTAR SOCIAL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48599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Laboratorio de STyA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CMN Occidente, Guadalajara, Jal.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  <a:tr h="348599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CRESTCAP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Guadalajara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</a:tr>
              <a:tr h="348599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CEBIS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Zapopan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  <a:tr h="348599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4 Centros de Seguridad Social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Guadalajara, Ocotlán, Lagos de Moreno, Ciudad Guzmán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</a:tr>
              <a:tr h="348604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Teatro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"Ignacio López Tarzo", Guadalajara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9" name="Table 468"/>
          <p:cNvGraphicFramePr>
            <a:graphicFrameLocks noGrp="1"/>
          </p:cNvGraphicFramePr>
          <p:nvPr/>
        </p:nvGraphicFramePr>
        <p:xfrm>
          <a:off x="2311200" y="4910400"/>
          <a:ext cx="5032800" cy="81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27240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CENTROS VACACIONALES, VELATORIOS Y TIENDAS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72400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3 Tiendas IMSS-SNTSS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No. 25 Ciudad Guzmán, No.75  Guadalajara - Campesino y No. 23 Guadalajara - Centro Médico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  <a:tr h="272400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Velatorio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Guadalajara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pic>
        <p:nvPicPr>
          <p:cNvPr id="470" name="Picture 469" descr="map_tipo2_14_j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22400" y="5929200"/>
            <a:ext cx="2656800" cy="2599003"/>
          </a:xfrm>
          <a:prstGeom prst="rect">
            <a:avLst/>
          </a:prstGeom>
        </p:spPr>
      </p:pic>
      <p:sp>
        <p:nvSpPr>
          <p:cNvPr id="471" name="TextBox 470"/>
          <p:cNvSpPr txBox="1"/>
          <p:nvPr/>
        </p:nvSpPr>
        <p:spPr>
          <a:xfrm>
            <a:off x="928800" y="6598799"/>
            <a:ext cx="1364400" cy="24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0" sz="1000">
                <a:solidFill>
                  <a:srgbClr val="000000"/>
                </a:solidFill>
                <a:latin typeface="Montserrat"/>
              </a:defRPr>
            </a:pPr>
            <a:r>
              <a:t>Guarderías    90</a:t>
            </a:r>
          </a:p>
        </p:txBody>
      </p:sp>
      <p:sp>
        <p:nvSpPr>
          <p:cNvPr id="472" name="TextBox 471"/>
          <p:cNvSpPr txBox="1"/>
          <p:nvPr/>
        </p:nvSpPr>
        <p:spPr>
          <a:xfrm>
            <a:off x="0" y="9273600"/>
            <a:ext cx="4258800" cy="230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Fuente: Dirección de Prestaciones Económicas y Sociales, abril de 2026.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3" name="Google Shape;473;g370e87ffe7a_2_298"/>
          <p:cNvGraphicFramePr/>
          <p:nvPr/>
        </p:nvGraphicFramePr>
        <p:xfrm>
          <a:off x="209550" y="624625"/>
          <a:ext cx="749330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93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Actividad económica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5" name="Google Shape;475;g370e87ffe7a_2_298"/>
          <p:cNvGraphicFramePr/>
          <p:nvPr>
            <p:extLst>
              <p:ext uri="{D42A27DB-BD31-4B8C-83A1-F6EECF244321}">
                <p14:modId xmlns:p14="http://schemas.microsoft.com/office/powerpoint/2010/main" val="1516890549"/>
              </p:ext>
            </p:extLst>
          </p:nvPr>
        </p:nvGraphicFramePr>
        <p:xfrm>
          <a:off x="282450" y="341803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trabajo, </a:t>
                      </a: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4"/>
                            </a:ext>
                          </a:extLst>
                        </a:rPr>
                        <a:t>por </a:t>
                      </a: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5"/>
                            </a:ext>
                          </a:extLst>
                        </a:rPr>
                        <a:t>tipo de sector</a:t>
                      </a:r>
                      <a:endParaRPr sz="1500" u="none" strike="noStrike" cap="none" dirty="0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7" name="Google Shape;477;g370e87ffe7a_2_298"/>
          <p:cNvGraphicFramePr/>
          <p:nvPr/>
        </p:nvGraphicFramePr>
        <p:xfrm>
          <a:off x="231775" y="737650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 de trabajo, por tipo de contratación</a:t>
                      </a:r>
                      <a:endParaRPr sz="1500" u="none" strike="noStrike" cap="none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78" name="TextBox 47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  <p:graphicFrame>
        <p:nvGraphicFramePr>
          <p:cNvPr id="479" name="Table 478"/>
          <p:cNvGraphicFramePr>
            <a:graphicFrameLocks noGrp="1"/>
          </p:cNvGraphicFramePr>
          <p:nvPr/>
        </p:nvGraphicFramePr>
        <p:xfrm>
          <a:off x="284400" y="1087200"/>
          <a:ext cx="6984000" cy="1880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720000"/>
                <a:gridCol w="720000"/>
                <a:gridCol w="792000"/>
                <a:gridCol w="1260000"/>
                <a:gridCol w="720000"/>
                <a:gridCol w="720000"/>
                <a:gridCol w="792000"/>
              </a:tblGrid>
              <a:tr h="251999">
                <a:tc gridSpan="8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EMPLEADORES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público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Privado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Gobierno del Estado de Jalisco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56,014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56,048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Flextronics Manufacturing Mex S.A. de C.V.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15,217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15,325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9032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Instituto Mexicano del Seguro Social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38,986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38,952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-0.1%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Nueva Wal Mart de México S. de R.L. de C.V.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14,217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14,147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-0.5%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49032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Universidad de Guadalajara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26,255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26,138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Laboratorios Pisa S.A. de C.V.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12,932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13,019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80" name="Chart 479"/>
          <p:cNvGraphicFramePr>
            <a:graphicFrameLocks noGrp="1"/>
          </p:cNvGraphicFramePr>
          <p:nvPr/>
        </p:nvGraphicFramePr>
        <p:xfrm>
          <a:off x="72000" y="3650400"/>
          <a:ext cx="7016399" cy="3726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481" name="Rounded Rectangle 480"/>
          <p:cNvSpPr/>
          <p:nvPr/>
        </p:nvSpPr>
        <p:spPr>
          <a:xfrm>
            <a:off x="7020000" y="3780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-3.40%</a:t>
            </a:r>
          </a:p>
        </p:txBody>
      </p:sp>
      <p:sp>
        <p:nvSpPr>
          <p:cNvPr id="482" name="Rounded Rectangle 481"/>
          <p:cNvSpPr/>
          <p:nvPr/>
        </p:nvSpPr>
        <p:spPr>
          <a:xfrm>
            <a:off x="7020000" y="4176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-2.43%</a:t>
            </a:r>
          </a:p>
        </p:txBody>
      </p:sp>
      <p:sp>
        <p:nvSpPr>
          <p:cNvPr id="483" name="Rounded Rectangle 482"/>
          <p:cNvSpPr/>
          <p:nvPr/>
        </p:nvSpPr>
        <p:spPr>
          <a:xfrm>
            <a:off x="7020000" y="4572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-0.16%</a:t>
            </a:r>
          </a:p>
        </p:txBody>
      </p:sp>
      <p:sp>
        <p:nvSpPr>
          <p:cNvPr id="484" name="Rounded Rectangle 483"/>
          <p:cNvSpPr/>
          <p:nvPr/>
        </p:nvSpPr>
        <p:spPr>
          <a:xfrm>
            <a:off x="7020000" y="4968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+0.39%</a:t>
            </a:r>
          </a:p>
        </p:txBody>
      </p:sp>
      <p:sp>
        <p:nvSpPr>
          <p:cNvPr id="485" name="Rounded Rectangle 484"/>
          <p:cNvSpPr/>
          <p:nvPr/>
        </p:nvSpPr>
        <p:spPr>
          <a:xfrm>
            <a:off x="7020000" y="5364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+0.94%</a:t>
            </a:r>
          </a:p>
        </p:txBody>
      </p:sp>
      <p:sp>
        <p:nvSpPr>
          <p:cNvPr id="486" name="Rounded Rectangle 485"/>
          <p:cNvSpPr/>
          <p:nvPr/>
        </p:nvSpPr>
        <p:spPr>
          <a:xfrm>
            <a:off x="7020000" y="5760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+1.06%</a:t>
            </a:r>
          </a:p>
        </p:txBody>
      </p:sp>
      <p:sp>
        <p:nvSpPr>
          <p:cNvPr id="487" name="Rounded Rectangle 486"/>
          <p:cNvSpPr/>
          <p:nvPr/>
        </p:nvSpPr>
        <p:spPr>
          <a:xfrm>
            <a:off x="7020000" y="6156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+1.93%</a:t>
            </a:r>
          </a:p>
        </p:txBody>
      </p:sp>
      <p:sp>
        <p:nvSpPr>
          <p:cNvPr id="488" name="Rounded Rectangle 487"/>
          <p:cNvSpPr/>
          <p:nvPr/>
        </p:nvSpPr>
        <p:spPr>
          <a:xfrm>
            <a:off x="7020000" y="6552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+2.08%</a:t>
            </a:r>
          </a:p>
        </p:txBody>
      </p:sp>
      <p:sp>
        <p:nvSpPr>
          <p:cNvPr id="489" name="Rounded Rectangle 488"/>
          <p:cNvSpPr/>
          <p:nvPr/>
        </p:nvSpPr>
        <p:spPr>
          <a:xfrm>
            <a:off x="7020000" y="6948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+2.35%</a:t>
            </a:r>
          </a:p>
        </p:txBody>
      </p:sp>
      <p:sp>
        <p:nvSpPr>
          <p:cNvPr id="490" name="Rounded Rectangle 489"/>
          <p:cNvSpPr/>
          <p:nvPr/>
        </p:nvSpPr>
        <p:spPr>
          <a:xfrm>
            <a:off x="4525200" y="3491999"/>
            <a:ext cx="763200" cy="2412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Abr 2025</a:t>
            </a:r>
          </a:p>
        </p:txBody>
      </p:sp>
      <p:sp>
        <p:nvSpPr>
          <p:cNvPr id="491" name="Rounded Rectangle 490"/>
          <p:cNvSpPr/>
          <p:nvPr/>
        </p:nvSpPr>
        <p:spPr>
          <a:xfrm>
            <a:off x="5425200" y="3491999"/>
            <a:ext cx="763200" cy="2412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Abr 2026</a:t>
            </a:r>
          </a:p>
        </p:txBody>
      </p:sp>
      <p:graphicFrame>
        <p:nvGraphicFramePr>
          <p:cNvPr id="492" name="Table 491"/>
          <p:cNvGraphicFramePr>
            <a:graphicFrameLocks noGrp="1"/>
          </p:cNvGraphicFramePr>
          <p:nvPr/>
        </p:nvGraphicFramePr>
        <p:xfrm>
          <a:off x="853200" y="7826399"/>
          <a:ext cx="5875200" cy="138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838800"/>
                <a:gridCol w="838800"/>
                <a:gridCol w="838800"/>
                <a:gridCol w="838800"/>
                <a:gridCol w="1260000"/>
              </a:tblGrid>
              <a:tr h="286560"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Permanente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Eventual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86560">
                <a:tc v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1,734,814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61,043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220,988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34,098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2,050,943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 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1,759,019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60,930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217,404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35,443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2,072,796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+1.4%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-1.6%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+3.9%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+1.1%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93" name="TextBox 492"/>
          <p:cNvSpPr txBox="1"/>
          <p:nvPr/>
        </p:nvSpPr>
        <p:spPr>
          <a:xfrm>
            <a:off x="208800" y="93132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Dirección de Incorporación y Recaudación.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2" name="Google Shape;492;g370e87ffe7a_2_319"/>
          <p:cNvGraphicFramePr/>
          <p:nvPr/>
        </p:nvGraphicFramePr>
        <p:xfrm>
          <a:off x="253000" y="656341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 y salario base de </a:t>
                      </a: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6"/>
                            </a:ext>
                          </a:extLst>
                        </a:rPr>
                        <a:t>cotización</a:t>
                      </a:r>
                      <a:endParaRPr sz="25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93" name="Google Shape;493;g370e87ffe7a_2_3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43437" y="2513375"/>
            <a:ext cx="1017725" cy="965325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g370e87ffe7a_2_319"/>
          <p:cNvSpPr txBox="1"/>
          <p:nvPr/>
        </p:nvSpPr>
        <p:spPr>
          <a:xfrm>
            <a:off x="291337" y="2602800"/>
            <a:ext cx="6452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" sz="9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" sz="14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Puestos de trabajo comparación interanual de cada año</a:t>
            </a:r>
            <a:endParaRPr sz="2000" b="1" i="0" u="none" strike="noStrike" cap="none" dirty="0">
              <a:solidFill>
                <a:srgbClr val="5B0F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Google Shape;496;g370e87ffe7a_2_319">
            <a:extLst>
              <a:ext uri="{FF2B5EF4-FFF2-40B4-BE49-F238E27FC236}">
                <a16:creationId xmlns:a16="http://schemas.microsoft.com/office/drawing/2014/main" id="{07C2BE47-A0E6-098F-27E6-583F78F76A0C}"/>
              </a:ext>
            </a:extLst>
          </p:cNvPr>
          <p:cNvSpPr/>
          <p:nvPr/>
        </p:nvSpPr>
        <p:spPr>
          <a:xfrm>
            <a:off x="839061" y="1101600"/>
            <a:ext cx="497077" cy="381001"/>
          </a:xfrm>
          <a:custGeom>
            <a:avLst/>
            <a:gdLst/>
            <a:ahLst/>
            <a:cxnLst/>
            <a:rect l="l" t="t" r="r" b="b"/>
            <a:pathLst>
              <a:path w="8255" h="8287" extrusionOk="0">
                <a:moveTo>
                  <a:pt x="4128" y="1229"/>
                </a:moveTo>
                <a:cubicBezTo>
                  <a:pt x="4348" y="1229"/>
                  <a:pt x="4506" y="1418"/>
                  <a:pt x="4506" y="1670"/>
                </a:cubicBezTo>
                <a:lnTo>
                  <a:pt x="4506" y="1922"/>
                </a:lnTo>
                <a:cubicBezTo>
                  <a:pt x="4978" y="2080"/>
                  <a:pt x="5356" y="2552"/>
                  <a:pt x="5356" y="3119"/>
                </a:cubicBezTo>
                <a:cubicBezTo>
                  <a:pt x="5356" y="3340"/>
                  <a:pt x="5136" y="3498"/>
                  <a:pt x="4947" y="3498"/>
                </a:cubicBezTo>
                <a:cubicBezTo>
                  <a:pt x="4726" y="3498"/>
                  <a:pt x="4506" y="3308"/>
                  <a:pt x="4506" y="3119"/>
                </a:cubicBezTo>
                <a:cubicBezTo>
                  <a:pt x="4506" y="2867"/>
                  <a:pt x="4317" y="2710"/>
                  <a:pt x="4128" y="2710"/>
                </a:cubicBezTo>
                <a:cubicBezTo>
                  <a:pt x="3939" y="2710"/>
                  <a:pt x="3687" y="2930"/>
                  <a:pt x="3687" y="3119"/>
                </a:cubicBezTo>
                <a:cubicBezTo>
                  <a:pt x="3718" y="3340"/>
                  <a:pt x="4033" y="3592"/>
                  <a:pt x="4411" y="3813"/>
                </a:cubicBezTo>
                <a:cubicBezTo>
                  <a:pt x="4821" y="4128"/>
                  <a:pt x="5388" y="4537"/>
                  <a:pt x="5388" y="5199"/>
                </a:cubicBezTo>
                <a:cubicBezTo>
                  <a:pt x="5388" y="5766"/>
                  <a:pt x="5041" y="6175"/>
                  <a:pt x="4569" y="6396"/>
                </a:cubicBezTo>
                <a:lnTo>
                  <a:pt x="4569" y="6648"/>
                </a:lnTo>
                <a:cubicBezTo>
                  <a:pt x="4569" y="6900"/>
                  <a:pt x="4348" y="7089"/>
                  <a:pt x="4159" y="7089"/>
                </a:cubicBezTo>
                <a:cubicBezTo>
                  <a:pt x="3970" y="7089"/>
                  <a:pt x="3718" y="6900"/>
                  <a:pt x="3718" y="6648"/>
                </a:cubicBezTo>
                <a:lnTo>
                  <a:pt x="3718" y="6396"/>
                </a:lnTo>
                <a:cubicBezTo>
                  <a:pt x="3245" y="6238"/>
                  <a:pt x="2899" y="5766"/>
                  <a:pt x="2899" y="5199"/>
                </a:cubicBezTo>
                <a:cubicBezTo>
                  <a:pt x="2899" y="4978"/>
                  <a:pt x="3088" y="4821"/>
                  <a:pt x="3308" y="4821"/>
                </a:cubicBezTo>
                <a:cubicBezTo>
                  <a:pt x="3498" y="4821"/>
                  <a:pt x="3687" y="5010"/>
                  <a:pt x="3687" y="5199"/>
                </a:cubicBezTo>
                <a:cubicBezTo>
                  <a:pt x="3687" y="5451"/>
                  <a:pt x="3876" y="5608"/>
                  <a:pt x="4128" y="5608"/>
                </a:cubicBezTo>
                <a:cubicBezTo>
                  <a:pt x="4348" y="5608"/>
                  <a:pt x="4506" y="5388"/>
                  <a:pt x="4506" y="5199"/>
                </a:cubicBezTo>
                <a:cubicBezTo>
                  <a:pt x="4506" y="4978"/>
                  <a:pt x="4191" y="4726"/>
                  <a:pt x="3844" y="4506"/>
                </a:cubicBezTo>
                <a:cubicBezTo>
                  <a:pt x="3403" y="4191"/>
                  <a:pt x="2867" y="3781"/>
                  <a:pt x="2867" y="3119"/>
                </a:cubicBezTo>
                <a:cubicBezTo>
                  <a:pt x="2867" y="2552"/>
                  <a:pt x="3214" y="2143"/>
                  <a:pt x="3687" y="1922"/>
                </a:cubicBezTo>
                <a:lnTo>
                  <a:pt x="3687" y="1670"/>
                </a:lnTo>
                <a:cubicBezTo>
                  <a:pt x="3687" y="1418"/>
                  <a:pt x="3876" y="1229"/>
                  <a:pt x="4128" y="1229"/>
                </a:cubicBezTo>
                <a:close/>
                <a:moveTo>
                  <a:pt x="4128" y="0"/>
                </a:moveTo>
                <a:cubicBezTo>
                  <a:pt x="1828" y="0"/>
                  <a:pt x="0" y="1859"/>
                  <a:pt x="0" y="4128"/>
                </a:cubicBezTo>
                <a:cubicBezTo>
                  <a:pt x="0" y="6427"/>
                  <a:pt x="1828" y="8286"/>
                  <a:pt x="4128" y="8286"/>
                </a:cubicBezTo>
                <a:cubicBezTo>
                  <a:pt x="6396" y="8286"/>
                  <a:pt x="8255" y="6427"/>
                  <a:pt x="8255" y="4128"/>
                </a:cubicBezTo>
                <a:cubicBezTo>
                  <a:pt x="8255" y="1859"/>
                  <a:pt x="6396" y="0"/>
                  <a:pt x="4128" y="0"/>
                </a:cubicBezTo>
                <a:close/>
              </a:path>
            </a:pathLst>
          </a:custGeom>
          <a:solidFill>
            <a:srgbClr val="A421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TextBox 50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  <p:sp>
        <p:nvSpPr>
          <p:cNvPr id="502" name="TextBox 501"/>
          <p:cNvSpPr txBox="1"/>
          <p:nvPr/>
        </p:nvSpPr>
        <p:spPr>
          <a:xfrm>
            <a:off x="6717600" y="2721600"/>
            <a:ext cx="961200" cy="6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$649.44</a:t>
            </a:r>
          </a:p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SBC</a:t>
            </a:r>
          </a:p>
          <a:p>
            <a:pPr algn="ctr">
              <a:defRPr sz="800" b="0">
                <a:solidFill>
                  <a:srgbClr val="FFFFFF"/>
                </a:solidFill>
                <a:latin typeface="Montserrat"/>
              </a:defRPr>
            </a:pPr>
            <a:r>
              <a:t>Abril</a:t>
            </a:r>
          </a:p>
        </p:txBody>
      </p:sp>
      <p:graphicFrame>
        <p:nvGraphicFramePr>
          <p:cNvPr id="503" name="Table 502"/>
          <p:cNvGraphicFramePr>
            <a:graphicFrameLocks noGrp="1"/>
          </p:cNvGraphicFramePr>
          <p:nvPr/>
        </p:nvGraphicFramePr>
        <p:xfrm>
          <a:off x="478800" y="1130400"/>
          <a:ext cx="6638400" cy="57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6400"/>
                <a:gridCol w="1106400"/>
                <a:gridCol w="1106400"/>
                <a:gridCol w="1106400"/>
                <a:gridCol w="1106400"/>
                <a:gridCol w="1106400"/>
              </a:tblGrid>
              <a:tr h="288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 diciembre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 Abril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Nacional 2026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Mensual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Base de Cotización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$347.36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$649.44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32.1%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$664.55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9F2241"/>
                          </a:solidFill>
                          <a:latin typeface="Montserrat"/>
                        </a:defRPr>
                      </a:pPr>
                      <a:r>
                        <a:t>$19,483.2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04" name="Chart 503"/>
          <p:cNvGraphicFramePr>
            <a:graphicFrameLocks noGrp="1"/>
          </p:cNvGraphicFramePr>
          <p:nvPr/>
        </p:nvGraphicFramePr>
        <p:xfrm>
          <a:off x="745200" y="2851200"/>
          <a:ext cx="6163200" cy="3600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505" name="TextBox 504"/>
          <p:cNvSpPr txBox="1"/>
          <p:nvPr/>
        </p:nvSpPr>
        <p:spPr>
          <a:xfrm>
            <a:off x="745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2018</a:t>
            </a:r>
          </a:p>
        </p:txBody>
      </p:sp>
      <p:sp>
        <p:nvSpPr>
          <p:cNvPr id="506" name="TextBox 505"/>
          <p:cNvSpPr txBox="1"/>
          <p:nvPr/>
        </p:nvSpPr>
        <p:spPr>
          <a:xfrm>
            <a:off x="1430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2019</a:t>
            </a:r>
          </a:p>
        </p:txBody>
      </p:sp>
      <p:sp>
        <p:nvSpPr>
          <p:cNvPr id="507" name="TextBox 506"/>
          <p:cNvSpPr txBox="1"/>
          <p:nvPr/>
        </p:nvSpPr>
        <p:spPr>
          <a:xfrm>
            <a:off x="2114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2020</a:t>
            </a:r>
          </a:p>
        </p:txBody>
      </p:sp>
      <p:sp>
        <p:nvSpPr>
          <p:cNvPr id="508" name="TextBox 507"/>
          <p:cNvSpPr txBox="1"/>
          <p:nvPr/>
        </p:nvSpPr>
        <p:spPr>
          <a:xfrm>
            <a:off x="2799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2021</a:t>
            </a:r>
          </a:p>
        </p:txBody>
      </p:sp>
      <p:sp>
        <p:nvSpPr>
          <p:cNvPr id="509" name="TextBox 508"/>
          <p:cNvSpPr txBox="1"/>
          <p:nvPr/>
        </p:nvSpPr>
        <p:spPr>
          <a:xfrm>
            <a:off x="34844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2022</a:t>
            </a:r>
          </a:p>
        </p:txBody>
      </p:sp>
      <p:sp>
        <p:nvSpPr>
          <p:cNvPr id="510" name="TextBox 509"/>
          <p:cNvSpPr txBox="1"/>
          <p:nvPr/>
        </p:nvSpPr>
        <p:spPr>
          <a:xfrm>
            <a:off x="4169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2023</a:t>
            </a:r>
          </a:p>
        </p:txBody>
      </p:sp>
      <p:sp>
        <p:nvSpPr>
          <p:cNvPr id="511" name="TextBox 510"/>
          <p:cNvSpPr txBox="1"/>
          <p:nvPr/>
        </p:nvSpPr>
        <p:spPr>
          <a:xfrm>
            <a:off x="4854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2024</a:t>
            </a:r>
          </a:p>
        </p:txBody>
      </p:sp>
      <p:sp>
        <p:nvSpPr>
          <p:cNvPr id="512" name="TextBox 511"/>
          <p:cNvSpPr txBox="1"/>
          <p:nvPr/>
        </p:nvSpPr>
        <p:spPr>
          <a:xfrm>
            <a:off x="5538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2025</a:t>
            </a:r>
          </a:p>
        </p:txBody>
      </p:sp>
      <p:sp>
        <p:nvSpPr>
          <p:cNvPr id="513" name="TextBox 512"/>
          <p:cNvSpPr txBox="1"/>
          <p:nvPr/>
        </p:nvSpPr>
        <p:spPr>
          <a:xfrm>
            <a:off x="6223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2026</a:t>
            </a:r>
          </a:p>
        </p:txBody>
      </p:sp>
      <p:graphicFrame>
        <p:nvGraphicFramePr>
          <p:cNvPr id="514" name="Table 513"/>
          <p:cNvGraphicFramePr>
            <a:graphicFrameLocks noGrp="1"/>
          </p:cNvGraphicFramePr>
          <p:nvPr/>
        </p:nvGraphicFramePr>
        <p:xfrm>
          <a:off x="320400" y="6649200"/>
          <a:ext cx="7038000" cy="2339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000"/>
                <a:gridCol w="3240000"/>
                <a:gridCol w="1278000"/>
              </a:tblGrid>
              <a:tr h="251999">
                <a:tc gridSpan="3"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de deuda (mdp)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 deudor público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Municipio de Tecolotlán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$12.59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Municipio de Ixtlahuacan del Río Jalisco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$9.52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Instituto Jalisciense de Asistencia Social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$1.92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 deudor privado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Roberto Ochoa Ruiz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$117.95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Jessica Fabiola Barajas Espino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$64.45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María Azucena Ramirez Rivera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$35.01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sp>
        <p:nvSpPr>
          <p:cNvPr id="515" name="TextBox 514"/>
          <p:cNvSpPr txBox="1"/>
          <p:nvPr/>
        </p:nvSpPr>
        <p:spPr>
          <a:xfrm>
            <a:off x="251999" y="23508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Salario Base de Cotización: tado: Se utilizó como deflactor del salario el cociente del INPC entre diciembre 2018 (103.02) y abril 2026 (145.831) de 0.706434.</a:t>
            </a:r>
          </a:p>
        </p:txBody>
      </p:sp>
      <p:sp>
        <p:nvSpPr>
          <p:cNvPr id="516" name="TextBox 515"/>
          <p:cNvSpPr txBox="1"/>
          <p:nvPr/>
        </p:nvSpPr>
        <p:spPr>
          <a:xfrm>
            <a:off x="251999" y="95616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Fuente: Dirección de Incorporación y Recaudación. Corte de información abril 2026.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" y="640080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Capacidad médica instalada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46304" y="1024128"/>
            <a:ext cx="7470648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5600" y="1234800"/>
          <a:ext cx="7650000" cy="230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/>
                <a:gridCol w="1339200"/>
                <a:gridCol w="684000"/>
                <a:gridCol w="781200"/>
                <a:gridCol w="810000"/>
                <a:gridCol w="957600"/>
                <a:gridCol w="1098000"/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operaciones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Salas Quirúrgicas¹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 42 Pto. Vallarta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Febrero de 1976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CCSM 1 Oblatos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Febrero de 1998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HGR 46 Guadalajara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Abril de 1998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455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 89 Guadalajara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Enero de 1999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250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99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29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HGR 110 Oblatos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Junio de 1999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374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133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HGZ-UMAA 7 Lagos de Moreno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Mayo de 2006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HGR 180 Tlajomulco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Agosto de 2011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HGS 185 Arandas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Diciembre de 2022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2,641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1,108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92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73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393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5600" y="3898800"/>
          <a:ext cx="7650000" cy="1382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/>
                <a:gridCol w="1339200"/>
                <a:gridCol w="684000"/>
                <a:gridCol w="781200"/>
                <a:gridCol w="810000"/>
                <a:gridCol w="957600"/>
                <a:gridCol w="1098000"/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UMAE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operaciones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Salas Quirúrgicas¹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HP CMN Occidente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Marzo de 1962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HGO CMN Occidente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Agosto de 1967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233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HES CMN Occidente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Enero de 1979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451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169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889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402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132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31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123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3,530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1,510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224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104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516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0800" y="9507600"/>
            <a:ext cx="7387200" cy="28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¹Incluye salas de quirófano, salas híbridas y salas mixtas, no considera salas de tococirugía y expulsión.</a:t>
            </a:r>
            <a:br/>
            <a:r>
              <a:t>Fuente: Cédula de actualización de variables seleccionados del IFU enviados por el OOAD.</a:t>
            </a:r>
            <a:br/>
            <a:r>
              <a:t>Corte de Información: marzo de 2026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7600" y="630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Equipo relevante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47600" y="10116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3600" y="1692000"/>
          <a:ext cx="7534799" cy="129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2400"/>
                <a:gridCol w="943200"/>
                <a:gridCol w="925200"/>
                <a:gridCol w="896400"/>
                <a:gridCol w="525600"/>
                <a:gridCol w="1000799"/>
                <a:gridCol w="1051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UMAE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Aparatos de Tomografía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Equipos de Resonancia Magnética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Mastógrafo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Arcos en C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Máquinas de Hemodiálisis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 de Hemodinamia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HES CMN Occidente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HP CMN Occidente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HGO CMN Occidente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  <a:tr h="216004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149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270000" y="9072000"/>
            <a:ext cx="183600" cy="183600"/>
          </a:xfrm>
          <a:prstGeom prst="rect">
            <a:avLst/>
          </a:prstGeom>
          <a:solidFill>
            <a:srgbClr val="E6D1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06799" y="9010800"/>
            <a:ext cx="7149600" cy="30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000000"/>
                </a:solidFill>
                <a:latin typeface="Montserrat"/>
              </a:defRPr>
            </a:pPr>
            <a:r>
              <a:t>Proyectos de implementación/sustitución 2019-2025. Compra 2025-2026. No incluye equipo relevante no instalado.</a:t>
            </a:r>
            <a:br/>
            <a:r>
              <a:t>Fuente: Cédula de actualización de variables seleccionadas del IFU, enviadas por el OOAD.</a:t>
            </a:r>
            <a:br/>
            <a:r>
              <a:t>Corte de información: marzo de 2026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107 Unidades de Medicina Familiar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t>86 UMF de lunes a viernes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5999" y="13356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medicina familiar 2025-2026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18800" y="12600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51200" y="1692000"/>
          <a:ext cx="7473599" cy="589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200"/>
                <a:gridCol w="1206000"/>
                <a:gridCol w="1216800"/>
                <a:gridCol w="1256400"/>
                <a:gridCol w="827999"/>
                <a:gridCol w="1285200"/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66 Ayotlán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9,948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4,143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73 Martín Hidalgo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10,705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-583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5,067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76 Teocuitatlán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4,204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-1,034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1,633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77 Zacoalco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13,151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-149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5,448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86 S. Miguel Alto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26,929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6,768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11,476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68 Bolaños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6,182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2,587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60 Colotlán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11,687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3,968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4,846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61 Masamitla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7,960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1,000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3,239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64 Tapalapa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7,168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3,413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81 Grullo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22,559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-559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9,816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71 Ayutla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6,765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-561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2,353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82 Unión de Tula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9,125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3,551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75 Tecolotlán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13,576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2,605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4,734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85 Jalostitlán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13,085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4,724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63 San Gabriel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15,263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5,497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6,085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12 El Arenal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10,933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-595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4,593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74 Talpa Allende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7,595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820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3,085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69 Etzatlán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14,781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1,931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5,228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94 Yahualica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6,463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2,542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95 Poncitlán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33,553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13,938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37,584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67 Tototlán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9,148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-1,067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4,504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72 Cocula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19,853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9,511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100 Jamay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11,660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658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4,804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167 H. Provincia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87,424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2,610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34,285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87,696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54 Tlaquepaque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165,873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8,565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65,398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175,392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169 Ocotlán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59,893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-608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24,814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62,640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91 El Fresno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69,630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4,920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28,619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75,168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96 Mascota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7,340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765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3,521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79 Guadalajara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59,271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3,065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26,388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75,168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56 Acatlán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23,103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2,420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9,630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98 Teuchitlán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9,337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817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3,377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47 Zapotlanejo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40,629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5,851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16,586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62,640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128 Acatic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13,725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6,219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137 Antonio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8,172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3,205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114 Gómez Farías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11,857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507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4,918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159 Jesús María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8,989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710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3,244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155 Tizapan Alto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7,260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-277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3,016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130 Ojuelos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8,024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1,579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2,087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107 Unidades de Medicina Familiar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t>86 UMF de lunes a viernes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5999" y="13356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medicina familiar 2025-2026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18800" y="12600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51200" y="1692000"/>
          <a:ext cx="7473599" cy="18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200"/>
                <a:gridCol w="1206000"/>
                <a:gridCol w="1216800"/>
                <a:gridCol w="1256400"/>
                <a:gridCol w="827999"/>
                <a:gridCol w="1285200"/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133 Unión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7,996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1,429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3,366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132 San Julián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8,351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2,596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3,033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162 Melaque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24,085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6,430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11,165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160 Capilla Gpe.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19,483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753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7,790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84 Encarnación de Díaz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28,051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1,307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10,488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178 Guadalupe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119,557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-1,972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48,904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125,280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165 Degollado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4,226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1,195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1,682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38 Buena Vista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6,384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1,275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2,778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65 Techaluta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5,957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1,328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2,798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183 San Ignacio Cerro Gordo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9,109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3,454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2,483,179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174,068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1,016,054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2,735,704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37.1%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780800" y="4226400"/>
          <a:ext cx="1800000" cy="180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780800" y="49464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37.1%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80800" y="58464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0799" y="42264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2,735,704 </a:t>
            </a:r>
            <a:br/>
            <a:r>
              <a:t>Meta 2026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00" y="601200"/>
            <a:ext cx="74700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9F2241"/>
                </a:solidFill>
                <a:latin typeface="Montserrat"/>
              </a:rPr>
              <a:t>Consultas de especialidad 2026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1200" y="986400"/>
            <a:ext cx="7470000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25999" y="11088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especialidad 2025-2026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No incluye la productividad de especialidad generada en UMF ni en HR</a:t>
            </a:r>
            <a:br/>
            <a:r>
              <a:t>En el año 2025 no incluye información de HR y UMU.</a:t>
            </a:r>
            <a:br/>
            <a:r>
              <a:t>El año de proceso inicia del 26 de diciembre del año anterior al 25 de diciembre del año en curso:</a:t>
            </a:r>
            <a:br/>
            <a:r>
              <a:t>2025 (del 26 de Dic de 2024 al 25 de Dic de 2025)</a:t>
            </a:r>
            <a:br/>
            <a:r>
              <a:t>Corte de información: Semana: 22, 24 mayo 2026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44000" y="1494000"/>
          <a:ext cx="7340399" cy="170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/>
                <a:gridCol w="874800"/>
                <a:gridCol w="1116000"/>
                <a:gridCol w="1116000"/>
                <a:gridCol w="986400"/>
                <a:gridCol w="1245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HGO CMN Occidente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111,570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15,157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51,162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118,260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43.3%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HP CMN Occidente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152,868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22,172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65,904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157,680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41.8%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HES CMN Occidente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332,964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61,235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152,784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381,060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40.1%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597,402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98,564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269,850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657,000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41.1%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2,491,449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448,746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1,060,293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2,548,795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41.6%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780800" y="3582000"/>
          <a:ext cx="1800000" cy="180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780800" y="43020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41.6%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80800" y="52020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0799" y="35820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2,548,795 </a:t>
            </a:r>
            <a:br/>
            <a:r>
              <a:t>Meta 2026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00" y="601200"/>
            <a:ext cx="74700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9F2241"/>
                </a:solidFill>
                <a:latin typeface="Montserrat"/>
              </a:rPr>
              <a:t>Cirugías 2026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1200" y="986400"/>
            <a:ext cx="7470000" cy="0"/>
          </a:xfrm>
          <a:prstGeom prst="line">
            <a:avLst/>
          </a:prstGeom>
          <a:ln w="9525">
            <a:solidFill>
              <a:srgbClr val="BC95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No incluye las cirugías realizadas en HR.</a:t>
            </a:r>
            <a:br/>
            <a:r>
              <a:t>Sólo se consideran cirugías principales.</a:t>
            </a:r>
            <a:br/>
            <a:r>
              <a:t>Corte de información: Semana: 22, 24 mayo 2026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44000" y="1137600"/>
          <a:ext cx="7340399" cy="170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/>
                <a:gridCol w="874800"/>
                <a:gridCol w="1116000"/>
                <a:gridCol w="1116000"/>
                <a:gridCol w="986400"/>
                <a:gridCol w="1245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HP CMN Occidente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10,683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4,564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5,085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11,826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43.0%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HGO CMN Occidente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10,018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2,811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4,430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12,075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36.7%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HES CMN Occidente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20,007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8,221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10,681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29,325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36.4%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40,708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15,596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20,196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53,226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37.9%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150,205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37,559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67,140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176,435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38.0%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780800" y="3225600"/>
          <a:ext cx="1800000" cy="180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780800" y="39456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38.0%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80800" y="48456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0799" y="32256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176,435 </a:t>
            </a:r>
            <a:br/>
            <a:r>
              <a:t>Meta 2026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700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101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99 en Hospitales (Cont.)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569600"/>
          <a:ext cx="3456000" cy="129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89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Plástica y Reconstructiva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Dermatología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4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569600"/>
          <a:ext cx="3456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4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C/MF 20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3225599"/>
          <a:ext cx="3456000" cy="151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6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C/MF 26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y Cirugía de Cabeza y Cuello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960000" y="3225599"/>
          <a:ext cx="3456000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7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C/MF 42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y Cirugía de Cabeza y Cuello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0000" y="5385598"/>
          <a:ext cx="3456000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7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C/MF 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960000" y="5385598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C/MF 9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60000" y="7545597"/>
          <a:ext cx="3456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4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C/UMAA 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Endoscopia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en Estado Crítico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960000" y="7545597"/>
          <a:ext cx="3456000" cy="2591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11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de Especialidades 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Anatomía Patológica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Hemodinamia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Neurocirugía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Terapia Endovascular Neurológica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1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700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101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99 en Hospitales (Cont.)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569600"/>
          <a:ext cx="3456000" cy="2591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11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de Pediatría 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 Pediátrica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Cardiotorácica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Plástica y Reconstructiva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Pediátrico en Estado Crítico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Pediátrica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y Cirugía de Cabeza y Cuello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Urgencias Pediátrica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1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0000" y="4917599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15 Sede delegacional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60000" y="5313599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0000" y="5385599"/>
          <a:ext cx="3456000" cy="237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10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Sede Delegación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Gastroenterología y Nutrición Pediátrica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Rehabilitación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en Estado Crítico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700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1101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55 en Unidades de Medicina Familiar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0000" y="1569600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Banco de Sangre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Hematología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960000" y="1569600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Puesto de Enfermería 130 Hgs/mf 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0000" y="2469599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Puesto de Enfermería 132 UMF 86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960000" y="2469599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Puesto de Enfermería 133 Hgs/mf 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0000" y="3369598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960000" y="3369598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159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60000" y="4269597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167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960000" y="4269597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169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60000" y="5169596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170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960000" y="5169596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171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60000" y="6069595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177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3960000" y="6069595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182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60000" y="6969594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184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960000" y="6969594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360000" y="7869593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3960000" y="7869593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34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700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101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55 en Unidades de Medicina Familiar (Cont.)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569600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41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569600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44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2469599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48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960000" y="2469599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51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0000" y="3621598"/>
          <a:ext cx="3456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4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53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960000" y="3621598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54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60000" y="5025598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59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960000" y="5025598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71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60000" y="5925597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78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960000" y="5925597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79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360000" y="7077596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82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960000" y="7077596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83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60000" y="8229595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84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3960000" y="8229595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86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700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101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55 en Unidades de Medicina Familiar (Cont.)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569600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92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569600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93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2469599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95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960000" y="2469599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C/hosp 22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0000" y="3621598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C/hosp 23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60000" y="4701597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531 especialistas (sustitutos)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60000" y="5097597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60000" y="5169597"/>
          <a:ext cx="3456000" cy="345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1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Sustitución 8 (Parte 1)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Anatomía Patológica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 Pediátrica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Angiología y Cirugía Vascular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Biología de la Reproducción Humana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 Pediátrica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Oncológica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Pediátrica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Coloproctología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Dermatología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Gastroenterología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Gastroenterología y Nutrición Pediátrica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960000" y="5169597"/>
          <a:ext cx="3456000" cy="345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1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Sustitución 8 (Parte 2)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Genética Médica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Geriatría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Oncológica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Hematología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Hematología Pediátrica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Hemodinamia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Infectología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Infectología Pediátrica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Materno Fetal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Rehabilitación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700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101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531 especialistas (sustitutos) (Cont.)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569600"/>
          <a:ext cx="3456000" cy="345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1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Sustitución 8 (Parte 3)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Pediátrico en Estado Crítico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en Estado Crítico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Nefrología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Nefrología Pediátrica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Neonatología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Neumología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Neumología Pediátrica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Neurocirugía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Neurología Pediátrica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Oncología Médica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y Cirugía de Cabeza y Cuello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Patología Clínica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569600"/>
          <a:ext cx="3456000" cy="21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9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Sustitución 8 (Parte 4)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Psiquiatría Infantil y de la Adolescencia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Radioncología Directa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Reumatología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Terapia Endovascular Neurológica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 Ginecológica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531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70000" y="6645599"/>
            <a:ext cx="72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000000"/>
                </a:solidFill>
                <a:latin typeface="Montserrat"/>
              </a:defRPr>
            </a:pPr>
            <a:r>
              <a:t>Sustitutos se integran a los Listados de Bolsa de Trabajo, para cubrir las futuras vacantes por jubilación, renuncia, fallecimiento, etc., así como ausentismo programado y no programado.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3200" y="723599"/>
            <a:ext cx="7473600" cy="64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Contrataciones por especialidad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3200" y="1364399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07999" y="1655999"/>
          <a:ext cx="5756399" cy="420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2400"/>
                <a:gridCol w="1638000"/>
                <a:gridCol w="1475999"/>
              </a:tblGrid>
              <a:tr h="161584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Número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 Pediátrica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90.1%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Anatomía Patológica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90.7%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Terapia Endovascular Neurológica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91.2%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Pediátrico en Estado Crítico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91.7%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Nefrología Pediátrica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92.1%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Materno Fetal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92.5%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Radioncología Directa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92.9%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Reumatología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93.4%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Angiología y Cirugía Vascular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93.8%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94.2%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Oncológica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94.7%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Gastroenterología y Nutrición Pediátrica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95.1%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Dermatología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95.5%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Hematología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95.8%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Genética Médica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96.1%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Coloproctología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96.4%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Oncológica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96.7%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Hematología Pediátrica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97.0%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Psiquiatría Infantil y de la Adolescencia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97.2%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Infectología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97.5%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 Ginecológica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97.8%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Infectología Pediátrica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98.1%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Gastroenterología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98.4%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Biología de la Reproducción Humana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98.5%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6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Cardiotorácica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98.7%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3200" y="723599"/>
            <a:ext cx="7473600" cy="64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Contrataciones por especialidad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3200" y="1364399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07999" y="1655999"/>
          <a:ext cx="5756399" cy="420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2400"/>
                <a:gridCol w="1638000"/>
                <a:gridCol w="1475999"/>
              </a:tblGrid>
              <a:tr h="381927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Número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</a:tr>
              <a:tr h="381927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Pediátrica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98.8%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381927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Endoscopia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99.0%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381927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Neumología Pediátrica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99.1%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381927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Psiquiatría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99.2%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381927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Pediátrica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99.4%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381927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Neurología Pediátrica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99.5%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381927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Patología Clínica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99.7%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381927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Oncología Médica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99.8%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381927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Urgencias Pediátrica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38193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45720" marR="45720" marT="45720" marB="45720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700</a:t>
                      </a:r>
                    </a:p>
                  </a:txBody>
                  <a:tcPr anchor="ctr" marL="45720" marR="45720" marT="45720" marB="45720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 marL="45720" marR="45720" marT="45720" marB="45720">
                    <a:solidFill>
                      <a:srgbClr val="CBE6E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b08e6078-b6a6-4e37-b77a-f467d32c54e5}" enabled="0" method="" siteId="{b08e6078-b6a6-4e37-b77a-f467d32c54e5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389</TotalTime>
  <Words>422</Words>
  <Application>Microsoft Office PowerPoint</Application>
  <PresentationFormat>Personalizado</PresentationFormat>
  <Paragraphs>94</Paragraphs>
  <Slides>24</Slides>
  <Notes>21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24</vt:i4>
      </vt:variant>
    </vt:vector>
  </HeadingPairs>
  <TitlesOfParts>
    <vt:vector size="25" baseType="lpstr"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Guillermo Martinez Flores</dc:creator>
  <cp:lastModifiedBy>Carlos Esponda Rosales</cp:lastModifiedBy>
  <cp:revision>95</cp:revision>
  <dcterms:modified xsi:type="dcterms:W3CDTF">2026-05-12T22:48:45Z</dcterms:modified>
</cp:coreProperties>
</file>