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6.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7.xml" ContentType="application/vnd.openxmlformats-officedocument.drawingml.chart+xml"/>
  <Override PartName="/ppt/notesSlides/notesSlide21.xml" ContentType="application/vnd.openxmlformats-officedocument.presentationml.notesSlide+xml"/>
  <Override PartName="/ppt/charts/chart8.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3" r:id="rId2"/>
  </p:sldMasterIdLst>
  <p:notesMasterIdLst>
    <p:notesMasterId r:id="rId26"/>
  </p:notesMasterIdLst>
  <p:sldIdLst>
    <p:sldId id="256" r:id="rId3"/>
    <p:sldId id="302" r:id="rId4"/>
    <p:sldId id="258" r:id="rId5"/>
    <p:sldId id="259" r:id="rId6"/>
    <p:sldId id="260" r:id="rId7"/>
    <p:sldId id="261" r:id="rId8"/>
    <p:sldId id="287" r:id="rId9"/>
    <p:sldId id="262" r:id="rId10"/>
    <p:sldId id="263" r:id="rId11"/>
    <p:sldId id="280" r:id="rId12"/>
    <p:sldId id="267" r:id="rId13"/>
    <p:sldId id="298" r:id="rId14"/>
    <p:sldId id="281" r:id="rId15"/>
    <p:sldId id="288" r:id="rId16"/>
    <p:sldId id="270" r:id="rId17"/>
    <p:sldId id="271" r:id="rId18"/>
    <p:sldId id="272" r:id="rId19"/>
    <p:sldId id="300" r:id="rId20"/>
    <p:sldId id="297" r:id="rId21"/>
    <p:sldId id="299" r:id="rId22"/>
    <p:sldId id="277" r:id="rId23"/>
    <p:sldId id="278" r:id="rId24"/>
    <p:sldId id="279" r:id="rId25"/>
  </p:sldIdLst>
  <p:sldSz cx="7772400" cy="10058400"/>
  <p:notesSz cx="6858000" cy="9144000"/>
  <p:embeddedFontLst>
    <p:embeddedFont>
      <p:font typeface="Montserrat" panose="020B0604020202020204" charset="0"/>
      <p:regular r:id="rId27"/>
      <p:bold r:id="rId28"/>
      <p:italic r:id="rId29"/>
      <p:boldItalic r:id="rId30"/>
    </p:embeddedFont>
    <p:embeddedFont>
      <p:font typeface="Noto Sans" panose="020B0604020202020204" charset="0"/>
      <p:regular r:id="rId31"/>
      <p:bold r:id="rId32"/>
      <p:italic r:id="rId33"/>
      <p:boldItalic r:id="rId34"/>
    </p:embeddedFont>
    <p:embeddedFont>
      <p:font typeface="Noto Sans Black" panose="020B0604020202020204" charset="0"/>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52" roundtripDataSignature="AMtx7mgJIVYfpSqv7bc7uOu75F5IJOjBz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ABF5AE-A4E1-98C3-963B-203B0BE4E0E5}" name="Adriana Miriam Ylizaliturri Gomez" initials="AY" userId="S::adriana.ylizaliturri@imss.gob.mx::c054c78c-207c-4278-ae44-884dbebca7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6D1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DFD7C0-FA3A-4E0D-9FD1-08DA9C5CF947}" v="3" dt="2026-07-02T18:36:05.363"/>
    <p1510:client id="{944C4FA8-C661-42ED-AC45-1A57A9D25F97}" v="447" dt="2026-07-02T17:46:43.697"/>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168"/>
        <p:guide pos="2448"/>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font" Target="fonts/font8.fntdata"/><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37" Type="http://schemas.openxmlformats.org/officeDocument/2006/relationships/font" Target="fonts/font11.fntdata"/><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font" Target="fonts/font10.fntdata"/><Relationship Id="rId57"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52"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56"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7.fntdata"/><Relationship Id="rId59" Type="http://schemas.microsoft.com/office/2018/10/relationships/authors" Target="authors.xml"/><Relationship Id="rId20" Type="http://schemas.openxmlformats.org/officeDocument/2006/relationships/slide" Target="slides/slide18.xml"/><Relationship Id="rId5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Patricia Galvan Chavez" userId="S::laura.galvan@imss.gob.mx::6b13af50-ce8b-483e-8fc4-f994efaf3289" providerId="AD" clId="Web-{BEAFF6E9-2637-457C-C563-6E476F767C99}"/>
    <pc:docChg chg="modSld">
      <pc:chgData name="Laura Patricia Galvan Chavez" userId="S::laura.galvan@imss.gob.mx::6b13af50-ce8b-483e-8fc4-f994efaf3289" providerId="AD" clId="Web-{BEAFF6E9-2637-457C-C563-6E476F767C99}" dt="2026-06-23T19:45:04.864" v="11"/>
      <pc:docMkLst>
        <pc:docMk/>
      </pc:docMkLst>
      <pc:sldChg chg="modSp">
        <pc:chgData name="Laura Patricia Galvan Chavez" userId="S::laura.galvan@imss.gob.mx::6b13af50-ce8b-483e-8fc4-f994efaf3289" providerId="AD" clId="Web-{BEAFF6E9-2637-457C-C563-6E476F767C99}" dt="2026-06-23T19:45:04.864" v="11"/>
        <pc:sldMkLst>
          <pc:docMk/>
          <pc:sldMk cId="0" sldId="260"/>
        </pc:sldMkLst>
        <pc:graphicFrameChg chg="mod modGraphic">
          <ac:chgData name="Laura Patricia Galvan Chavez" userId="S::laura.galvan@imss.gob.mx::6b13af50-ce8b-483e-8fc4-f994efaf3289" providerId="AD" clId="Web-{BEAFF6E9-2637-457C-C563-6E476F767C99}" dt="2026-06-23T19:45:04.864" v="11"/>
          <ac:graphicFrameMkLst>
            <pc:docMk/>
            <pc:sldMk cId="0" sldId="260"/>
            <ac:graphicFrameMk id="6" creationId="{3BD8D301-0388-703D-7B68-6C973772D3E0}"/>
          </ac:graphicFrameMkLst>
        </pc:graphicFrameChg>
      </pc:sldChg>
    </pc:docChg>
  </pc:docChgLst>
  <pc:docChgLst>
    <pc:chgData name="Rohan Myron Oprisko" userId="a7c52ab4-f8b1-4d15-aaf6-6388cc510347" providerId="ADAL" clId="{97C26823-81C0-4343-94EC-E87AB1317939}"/>
    <pc:docChg chg="custSel modSld">
      <pc:chgData name="Rohan Myron Oprisko" userId="a7c52ab4-f8b1-4d15-aaf6-6388cc510347" providerId="ADAL" clId="{97C26823-81C0-4343-94EC-E87AB1317939}" dt="2026-06-24T15:54:35.037" v="2" actId="22"/>
      <pc:docMkLst>
        <pc:docMk/>
      </pc:docMkLst>
      <pc:sldChg chg="addSp delSp mod">
        <pc:chgData name="Rohan Myron Oprisko" userId="a7c52ab4-f8b1-4d15-aaf6-6388cc510347" providerId="ADAL" clId="{97C26823-81C0-4343-94EC-E87AB1317939}" dt="2026-06-24T15:54:35.037" v="2" actId="22"/>
        <pc:sldMkLst>
          <pc:docMk/>
          <pc:sldMk cId="748044913" sldId="287"/>
        </pc:sldMkLst>
        <pc:spChg chg="add">
          <ac:chgData name="Rohan Myron Oprisko" userId="a7c52ab4-f8b1-4d15-aaf6-6388cc510347" providerId="ADAL" clId="{97C26823-81C0-4343-94EC-E87AB1317939}" dt="2026-06-24T15:54:35.037" v="2" actId="22"/>
          <ac:spMkLst>
            <pc:docMk/>
            <pc:sldMk cId="748044913" sldId="287"/>
            <ac:spMk id="10" creationId="{DD834DE9-C3FB-20D8-AC98-47B4FE91A06D}"/>
          </ac:spMkLst>
        </pc:spChg>
        <pc:spChg chg="add">
          <ac:chgData name="Rohan Myron Oprisko" userId="a7c52ab4-f8b1-4d15-aaf6-6388cc510347" providerId="ADAL" clId="{97C26823-81C0-4343-94EC-E87AB1317939}" dt="2026-06-24T15:54:35.037" v="2" actId="22"/>
          <ac:spMkLst>
            <pc:docMk/>
            <pc:sldMk cId="748044913" sldId="287"/>
            <ac:spMk id="12" creationId="{B24BF895-B0C0-71F2-D9E6-4259185F95D0}"/>
          </ac:spMkLst>
        </pc:spChg>
      </pc:sldChg>
    </pc:docChg>
  </pc:docChgLst>
  <pc:docChgLst>
    <pc:chgData name="Adriana Miriam Ylizaliturri Gomez" userId="c054c78c-207c-4278-ae44-884dbebca744" providerId="ADAL" clId="{9B871E66-1A30-42FF-AF18-83FDFD9111C9}"/>
    <pc:docChg chg="undo custSel addSld delSld modSld">
      <pc:chgData name="Adriana Miriam Ylizaliturri Gomez" userId="c054c78c-207c-4278-ae44-884dbebca744" providerId="ADAL" clId="{9B871E66-1A30-42FF-AF18-83FDFD9111C9}" dt="2026-07-02T17:52:59.927" v="3277" actId="20577"/>
      <pc:docMkLst>
        <pc:docMk/>
      </pc:docMkLst>
      <pc:sldChg chg="addSp modSp mod">
        <pc:chgData name="Adriana Miriam Ylizaliturri Gomez" userId="c054c78c-207c-4278-ae44-884dbebca744" providerId="ADAL" clId="{9B871E66-1A30-42FF-AF18-83FDFD9111C9}" dt="2026-06-29T17:46:31.157" v="3030" actId="1035"/>
        <pc:sldMkLst>
          <pc:docMk/>
          <pc:sldMk cId="0" sldId="258"/>
        </pc:sldMkLst>
        <pc:spChg chg="mod">
          <ac:chgData name="Adriana Miriam Ylizaliturri Gomez" userId="c054c78c-207c-4278-ae44-884dbebca744" providerId="ADAL" clId="{9B871E66-1A30-42FF-AF18-83FDFD9111C9}" dt="2026-06-25T23:35:14.493" v="83" actId="1035"/>
          <ac:spMkLst>
            <pc:docMk/>
            <pc:sldMk cId="0" sldId="258"/>
            <ac:spMk id="113" creationId="{00000000-0000-0000-0000-000000000000}"/>
          </ac:spMkLst>
        </pc:spChg>
        <pc:spChg chg="mod">
          <ac:chgData name="Adriana Miriam Ylizaliturri Gomez" userId="c054c78c-207c-4278-ae44-884dbebca744" providerId="ADAL" clId="{9B871E66-1A30-42FF-AF18-83FDFD9111C9}" dt="2026-06-29T17:46:31.157" v="3030" actId="1035"/>
          <ac:spMkLst>
            <pc:docMk/>
            <pc:sldMk cId="0" sldId="258"/>
            <ac:spMk id="116" creationId="{00000000-0000-0000-0000-000000000000}"/>
          </ac:spMkLst>
        </pc:spChg>
        <pc:spChg chg="mod">
          <ac:chgData name="Adriana Miriam Ylizaliturri Gomez" userId="c054c78c-207c-4278-ae44-884dbebca744" providerId="ADAL" clId="{9B871E66-1A30-42FF-AF18-83FDFD9111C9}" dt="2026-06-26T19:48:01.961" v="2620" actId="1076"/>
          <ac:spMkLst>
            <pc:docMk/>
            <pc:sldMk cId="0" sldId="258"/>
            <ac:spMk id="118" creationId="{00000000-0000-0000-0000-000000000000}"/>
          </ac:spMkLst>
        </pc:spChg>
        <pc:spChg chg="mod">
          <ac:chgData name="Adriana Miriam Ylizaliturri Gomez" userId="c054c78c-207c-4278-ae44-884dbebca744" providerId="ADAL" clId="{9B871E66-1A30-42FF-AF18-83FDFD9111C9}" dt="2026-06-26T19:48:01.961" v="2620" actId="1076"/>
          <ac:spMkLst>
            <pc:docMk/>
            <pc:sldMk cId="0" sldId="258"/>
            <ac:spMk id="120" creationId="{00000000-0000-0000-0000-000000000000}"/>
          </ac:spMkLst>
        </pc:spChg>
        <pc:spChg chg="mod">
          <ac:chgData name="Adriana Miriam Ylizaliturri Gomez" userId="c054c78c-207c-4278-ae44-884dbebca744" providerId="ADAL" clId="{9B871E66-1A30-42FF-AF18-83FDFD9111C9}" dt="2026-06-26T19:48:32.541" v="2640" actId="1038"/>
          <ac:spMkLst>
            <pc:docMk/>
            <pc:sldMk cId="0" sldId="258"/>
            <ac:spMk id="121" creationId="{00000000-0000-0000-0000-000000000000}"/>
          </ac:spMkLst>
        </pc:spChg>
        <pc:spChg chg="mod">
          <ac:chgData name="Adriana Miriam Ylizaliturri Gomez" userId="c054c78c-207c-4278-ae44-884dbebca744" providerId="ADAL" clId="{9B871E66-1A30-42FF-AF18-83FDFD9111C9}" dt="2026-06-26T19:48:32.541" v="2640" actId="1038"/>
          <ac:spMkLst>
            <pc:docMk/>
            <pc:sldMk cId="0" sldId="258"/>
            <ac:spMk id="123" creationId="{00000000-0000-0000-0000-000000000000}"/>
          </ac:spMkLst>
        </pc:spChg>
        <pc:spChg chg="mod">
          <ac:chgData name="Adriana Miriam Ylizaliturri Gomez" userId="c054c78c-207c-4278-ae44-884dbebca744" providerId="ADAL" clId="{9B871E66-1A30-42FF-AF18-83FDFD9111C9}" dt="2026-06-26T19:48:32.541" v="2640" actId="1038"/>
          <ac:spMkLst>
            <pc:docMk/>
            <pc:sldMk cId="0" sldId="258"/>
            <ac:spMk id="124" creationId="{00000000-0000-0000-0000-000000000000}"/>
          </ac:spMkLst>
        </pc:spChg>
        <pc:spChg chg="mod">
          <ac:chgData name="Adriana Miriam Ylizaliturri Gomez" userId="c054c78c-207c-4278-ae44-884dbebca744" providerId="ADAL" clId="{9B871E66-1A30-42FF-AF18-83FDFD9111C9}" dt="2026-06-26T19:48:32.541" v="2640" actId="1038"/>
          <ac:spMkLst>
            <pc:docMk/>
            <pc:sldMk cId="0" sldId="258"/>
            <ac:spMk id="126" creationId="{00000000-0000-0000-0000-000000000000}"/>
          </ac:spMkLst>
        </pc:spChg>
        <pc:spChg chg="mod">
          <ac:chgData name="Adriana Miriam Ylizaliturri Gomez" userId="c054c78c-207c-4278-ae44-884dbebca744" providerId="ADAL" clId="{9B871E66-1A30-42FF-AF18-83FDFD9111C9}" dt="2026-06-26T19:49:07.109" v="2643" actId="14100"/>
          <ac:spMkLst>
            <pc:docMk/>
            <pc:sldMk cId="0" sldId="258"/>
            <ac:spMk id="127" creationId="{00000000-0000-0000-0000-000000000000}"/>
          </ac:spMkLst>
        </pc:spChg>
        <pc:spChg chg="mod">
          <ac:chgData name="Adriana Miriam Ylizaliturri Gomez" userId="c054c78c-207c-4278-ae44-884dbebca744" providerId="ADAL" clId="{9B871E66-1A30-42FF-AF18-83FDFD9111C9}" dt="2026-06-26T19:48:32.541" v="2640" actId="1038"/>
          <ac:spMkLst>
            <pc:docMk/>
            <pc:sldMk cId="0" sldId="258"/>
            <ac:spMk id="129" creationId="{00000000-0000-0000-0000-000000000000}"/>
          </ac:spMkLst>
        </pc:spChg>
        <pc:spChg chg="mod">
          <ac:chgData name="Adriana Miriam Ylizaliturri Gomez" userId="c054c78c-207c-4278-ae44-884dbebca744" providerId="ADAL" clId="{9B871E66-1A30-42FF-AF18-83FDFD9111C9}" dt="2026-06-26T19:48:32.541" v="2640" actId="1038"/>
          <ac:spMkLst>
            <pc:docMk/>
            <pc:sldMk cId="0" sldId="258"/>
            <ac:spMk id="130" creationId="{00000000-0000-0000-0000-000000000000}"/>
          </ac:spMkLst>
        </pc:spChg>
        <pc:spChg chg="mod">
          <ac:chgData name="Adriana Miriam Ylizaliturri Gomez" userId="c054c78c-207c-4278-ae44-884dbebca744" providerId="ADAL" clId="{9B871E66-1A30-42FF-AF18-83FDFD9111C9}" dt="2026-06-29T17:45:39.953" v="2975" actId="207"/>
          <ac:spMkLst>
            <pc:docMk/>
            <pc:sldMk cId="0" sldId="258"/>
            <ac:spMk id="131" creationId="{00000000-0000-0000-0000-000000000000}"/>
          </ac:spMkLst>
        </pc:spChg>
        <pc:spChg chg="mod">
          <ac:chgData name="Adriana Miriam Ylizaliturri Gomez" userId="c054c78c-207c-4278-ae44-884dbebca744" providerId="ADAL" clId="{9B871E66-1A30-42FF-AF18-83FDFD9111C9}" dt="2026-06-29T17:45:32.296" v="2944" actId="1036"/>
          <ac:spMkLst>
            <pc:docMk/>
            <pc:sldMk cId="0" sldId="258"/>
            <ac:spMk id="132" creationId="{00000000-0000-0000-0000-000000000000}"/>
          </ac:spMkLst>
        </pc:spChg>
        <pc:spChg chg="mod">
          <ac:chgData name="Adriana Miriam Ylizaliturri Gomez" userId="c054c78c-207c-4278-ae44-884dbebca744" providerId="ADAL" clId="{9B871E66-1A30-42FF-AF18-83FDFD9111C9}" dt="2026-06-29T17:45:17.991" v="2923" actId="1036"/>
          <ac:spMkLst>
            <pc:docMk/>
            <pc:sldMk cId="0" sldId="258"/>
            <ac:spMk id="133" creationId="{00000000-0000-0000-0000-000000000000}"/>
          </ac:spMkLst>
        </pc:spChg>
        <pc:spChg chg="mod">
          <ac:chgData name="Adriana Miriam Ylizaliturri Gomez" userId="c054c78c-207c-4278-ae44-884dbebca744" providerId="ADAL" clId="{9B871E66-1A30-42FF-AF18-83FDFD9111C9}" dt="2026-06-29T17:46:02.810" v="2984" actId="1035"/>
          <ac:spMkLst>
            <pc:docMk/>
            <pc:sldMk cId="0" sldId="258"/>
            <ac:spMk id="138" creationId="{00000000-0000-0000-0000-000000000000}"/>
          </ac:spMkLst>
        </pc:spChg>
        <pc:grpChg chg="mod">
          <ac:chgData name="Adriana Miriam Ylizaliturri Gomez" userId="c054c78c-207c-4278-ae44-884dbebca744" providerId="ADAL" clId="{9B871E66-1A30-42FF-AF18-83FDFD9111C9}" dt="2026-06-25T23:35:14.493" v="83" actId="1035"/>
          <ac:grpSpMkLst>
            <pc:docMk/>
            <pc:sldMk cId="0" sldId="258"/>
            <ac:grpSpMk id="102" creationId="{00000000-0000-0000-0000-000000000000}"/>
          </ac:grpSpMkLst>
        </pc:grpChg>
        <pc:graphicFrameChg chg="mod">
          <ac:chgData name="Adriana Miriam Ylizaliturri Gomez" userId="c054c78c-207c-4278-ae44-884dbebca744" providerId="ADAL" clId="{9B871E66-1A30-42FF-AF18-83FDFD9111C9}" dt="2026-06-26T19:47:49.008" v="2618" actId="1036"/>
          <ac:graphicFrameMkLst>
            <pc:docMk/>
            <pc:sldMk cId="0" sldId="258"/>
            <ac:graphicFrameMk id="117" creationId="{00000000-0000-0000-0000-000000000000}"/>
          </ac:graphicFrameMkLst>
        </pc:graphicFrameChg>
        <pc:graphicFrameChg chg="mod">
          <ac:chgData name="Adriana Miriam Ylizaliturri Gomez" userId="c054c78c-207c-4278-ae44-884dbebca744" providerId="ADAL" clId="{9B871E66-1A30-42FF-AF18-83FDFD9111C9}" dt="2026-06-29T17:46:17.239" v="2985" actId="14861"/>
          <ac:graphicFrameMkLst>
            <pc:docMk/>
            <pc:sldMk cId="0" sldId="258"/>
            <ac:graphicFrameMk id="134" creationId="{00000000-0000-0000-0000-000000000000}"/>
          </ac:graphicFrameMkLst>
        </pc:graphicFrameChg>
        <pc:graphicFrameChg chg="mod">
          <ac:chgData name="Adriana Miriam Ylizaliturri Gomez" userId="c054c78c-207c-4278-ae44-884dbebca744" providerId="ADAL" clId="{9B871E66-1A30-42FF-AF18-83FDFD9111C9}" dt="2026-06-25T23:35:14.493" v="83" actId="1035"/>
          <ac:graphicFrameMkLst>
            <pc:docMk/>
            <pc:sldMk cId="0" sldId="258"/>
            <ac:graphicFrameMk id="135" creationId="{00000000-0000-0000-0000-000000000000}"/>
          </ac:graphicFrameMkLst>
        </pc:graphicFrameChg>
        <pc:graphicFrameChg chg="mod">
          <ac:chgData name="Adriana Miriam Ylizaliturri Gomez" userId="c054c78c-207c-4278-ae44-884dbebca744" providerId="ADAL" clId="{9B871E66-1A30-42FF-AF18-83FDFD9111C9}" dt="2026-06-25T23:35:14.493" v="83" actId="1035"/>
          <ac:graphicFrameMkLst>
            <pc:docMk/>
            <pc:sldMk cId="0" sldId="258"/>
            <ac:graphicFrameMk id="136" creationId="{00000000-0000-0000-0000-000000000000}"/>
          </ac:graphicFrameMkLst>
        </pc:graphicFrameChg>
        <pc:graphicFrameChg chg="mod modGraphic">
          <ac:chgData name="Adriana Miriam Ylizaliturri Gomez" userId="c054c78c-207c-4278-ae44-884dbebca744" providerId="ADAL" clId="{9B871E66-1A30-42FF-AF18-83FDFD9111C9}" dt="2026-06-29T17:45:59.676" v="2976" actId="14100"/>
          <ac:graphicFrameMkLst>
            <pc:docMk/>
            <pc:sldMk cId="0" sldId="258"/>
            <ac:graphicFrameMk id="137" creationId="{00000000-0000-0000-0000-000000000000}"/>
          </ac:graphicFrameMkLst>
        </pc:graphicFrameChg>
        <pc:picChg chg="mod">
          <ac:chgData name="Adriana Miriam Ylizaliturri Gomez" userId="c054c78c-207c-4278-ae44-884dbebca744" providerId="ADAL" clId="{9B871E66-1A30-42FF-AF18-83FDFD9111C9}" dt="2026-06-25T23:35:14.493" v="83" actId="1035"/>
          <ac:picMkLst>
            <pc:docMk/>
            <pc:sldMk cId="0" sldId="258"/>
            <ac:picMk id="110" creationId="{00000000-0000-0000-0000-000000000000}"/>
          </ac:picMkLst>
        </pc:picChg>
        <pc:picChg chg="mod">
          <ac:chgData name="Adriana Miriam Ylizaliturri Gomez" userId="c054c78c-207c-4278-ae44-884dbebca744" providerId="ADAL" clId="{9B871E66-1A30-42FF-AF18-83FDFD9111C9}" dt="2026-06-26T19:48:01.961" v="2620" actId="1076"/>
          <ac:picMkLst>
            <pc:docMk/>
            <pc:sldMk cId="0" sldId="258"/>
            <ac:picMk id="119" creationId="{00000000-0000-0000-0000-000000000000}"/>
          </ac:picMkLst>
        </pc:picChg>
        <pc:picChg chg="mod">
          <ac:chgData name="Adriana Miriam Ylizaliturri Gomez" userId="c054c78c-207c-4278-ae44-884dbebca744" providerId="ADAL" clId="{9B871E66-1A30-42FF-AF18-83FDFD9111C9}" dt="2026-06-26T19:48:32.541" v="2640" actId="1038"/>
          <ac:picMkLst>
            <pc:docMk/>
            <pc:sldMk cId="0" sldId="258"/>
            <ac:picMk id="122" creationId="{00000000-0000-0000-0000-000000000000}"/>
          </ac:picMkLst>
        </pc:picChg>
        <pc:picChg chg="mod">
          <ac:chgData name="Adriana Miriam Ylizaliturri Gomez" userId="c054c78c-207c-4278-ae44-884dbebca744" providerId="ADAL" clId="{9B871E66-1A30-42FF-AF18-83FDFD9111C9}" dt="2026-06-26T19:48:32.541" v="2640" actId="1038"/>
          <ac:picMkLst>
            <pc:docMk/>
            <pc:sldMk cId="0" sldId="258"/>
            <ac:picMk id="125" creationId="{00000000-0000-0000-0000-000000000000}"/>
          </ac:picMkLst>
        </pc:picChg>
        <pc:picChg chg="mod">
          <ac:chgData name="Adriana Miriam Ylizaliturri Gomez" userId="c054c78c-207c-4278-ae44-884dbebca744" providerId="ADAL" clId="{9B871E66-1A30-42FF-AF18-83FDFD9111C9}" dt="2026-06-26T19:48:32.541" v="2640" actId="1038"/>
          <ac:picMkLst>
            <pc:docMk/>
            <pc:sldMk cId="0" sldId="258"/>
            <ac:picMk id="128" creationId="{00000000-0000-0000-0000-000000000000}"/>
          </ac:picMkLst>
        </pc:picChg>
        <pc:picChg chg="mod">
          <ac:chgData name="Adriana Miriam Ylizaliturri Gomez" userId="c054c78c-207c-4278-ae44-884dbebca744" providerId="ADAL" clId="{9B871E66-1A30-42FF-AF18-83FDFD9111C9}" dt="2026-06-25T23:35:14.493" v="83" actId="1035"/>
          <ac:picMkLst>
            <pc:docMk/>
            <pc:sldMk cId="0" sldId="258"/>
            <ac:picMk id="139" creationId="{00000000-0000-0000-0000-000000000000}"/>
          </ac:picMkLst>
        </pc:picChg>
        <pc:cxnChg chg="add mod">
          <ac:chgData name="Adriana Miriam Ylizaliturri Gomez" userId="c054c78c-207c-4278-ae44-884dbebca744" providerId="ADAL" clId="{9B871E66-1A30-42FF-AF18-83FDFD9111C9}" dt="2026-06-26T19:48:48.882" v="2642" actId="14100"/>
          <ac:cxnSpMkLst>
            <pc:docMk/>
            <pc:sldMk cId="0" sldId="258"/>
            <ac:cxnSpMk id="2" creationId="{2ADE5301-8CA4-3EB2-E018-0D5E89CE55A3}"/>
          </ac:cxnSpMkLst>
        </pc:cxnChg>
      </pc:sldChg>
      <pc:sldChg chg="addSp delSp modSp mod">
        <pc:chgData name="Adriana Miriam Ylizaliturri Gomez" userId="c054c78c-207c-4278-ae44-884dbebca744" providerId="ADAL" clId="{9B871E66-1A30-42FF-AF18-83FDFD9111C9}" dt="2026-06-29T19:11:41.069" v="3252" actId="1076"/>
        <pc:sldMkLst>
          <pc:docMk/>
          <pc:sldMk cId="0" sldId="259"/>
        </pc:sldMkLst>
        <pc:spChg chg="add mod">
          <ac:chgData name="Adriana Miriam Ylizaliturri Gomez" userId="c054c78c-207c-4278-ae44-884dbebca744" providerId="ADAL" clId="{9B871E66-1A30-42FF-AF18-83FDFD9111C9}" dt="2026-06-29T19:11:31.208" v="3250" actId="14100"/>
          <ac:spMkLst>
            <pc:docMk/>
            <pc:sldMk cId="0" sldId="259"/>
            <ac:spMk id="3" creationId="{7481047C-1D6D-B847-CE48-BA646C67DB47}"/>
          </ac:spMkLst>
        </pc:spChg>
        <pc:spChg chg="add del mod">
          <ac:chgData name="Adriana Miriam Ylizaliturri Gomez" userId="c054c78c-207c-4278-ae44-884dbebca744" providerId="ADAL" clId="{9B871E66-1A30-42FF-AF18-83FDFD9111C9}" dt="2026-06-29T19:11:41.069" v="3252" actId="1076"/>
          <ac:spMkLst>
            <pc:docMk/>
            <pc:sldMk cId="0" sldId="259"/>
            <ac:spMk id="5" creationId="{03FCA70E-8BF7-DFB1-8A36-98AF04F7251B}"/>
          </ac:spMkLst>
        </pc:spChg>
        <pc:spChg chg="mod">
          <ac:chgData name="Adriana Miriam Ylizaliturri Gomez" userId="c054c78c-207c-4278-ae44-884dbebca744" providerId="ADAL" clId="{9B871E66-1A30-42FF-AF18-83FDFD9111C9}" dt="2026-06-29T16:54:16.353" v="2647" actId="20577"/>
          <ac:spMkLst>
            <pc:docMk/>
            <pc:sldMk cId="0" sldId="259"/>
            <ac:spMk id="138" creationId="{00000000-0000-0000-0000-000000000000}"/>
          </ac:spMkLst>
        </pc:spChg>
        <pc:graphicFrameChg chg="modGraphic">
          <ac:chgData name="Adriana Miriam Ylizaliturri Gomez" userId="c054c78c-207c-4278-ae44-884dbebca744" providerId="ADAL" clId="{9B871E66-1A30-42FF-AF18-83FDFD9111C9}" dt="2026-06-29T18:34:46.747" v="3211" actId="6549"/>
          <ac:graphicFrameMkLst>
            <pc:docMk/>
            <pc:sldMk cId="0" sldId="259"/>
            <ac:graphicFrameMk id="135" creationId="{00000000-0000-0000-0000-000000000000}"/>
          </ac:graphicFrameMkLst>
        </pc:graphicFrameChg>
        <pc:graphicFrameChg chg="mod">
          <ac:chgData name="Adriana Miriam Ylizaliturri Gomez" userId="c054c78c-207c-4278-ae44-884dbebca744" providerId="ADAL" clId="{9B871E66-1A30-42FF-AF18-83FDFD9111C9}" dt="2026-06-29T19:11:16.769" v="3248" actId="1076"/>
          <ac:graphicFrameMkLst>
            <pc:docMk/>
            <pc:sldMk cId="0" sldId="259"/>
            <ac:graphicFrameMk id="136" creationId="{00000000-0000-0000-0000-000000000000}"/>
          </ac:graphicFrameMkLst>
        </pc:graphicFrameChg>
        <pc:picChg chg="mod">
          <ac:chgData name="Adriana Miriam Ylizaliturri Gomez" userId="c054c78c-207c-4278-ae44-884dbebca744" providerId="ADAL" clId="{9B871E66-1A30-42FF-AF18-83FDFD9111C9}" dt="2026-06-29T19:11:09.023" v="3247" actId="1076"/>
          <ac:picMkLst>
            <pc:docMk/>
            <pc:sldMk cId="0" sldId="259"/>
            <ac:picMk id="134" creationId="{00000000-0000-0000-0000-000000000000}"/>
          </ac:picMkLst>
        </pc:picChg>
      </pc:sldChg>
      <pc:sldChg chg="modSp mod">
        <pc:chgData name="Adriana Miriam Ylizaliturri Gomez" userId="c054c78c-207c-4278-ae44-884dbebca744" providerId="ADAL" clId="{9B871E66-1A30-42FF-AF18-83FDFD9111C9}" dt="2026-06-29T18:34:18.282" v="3205" actId="14734"/>
        <pc:sldMkLst>
          <pc:docMk/>
          <pc:sldMk cId="0" sldId="260"/>
        </pc:sldMkLst>
        <pc:spChg chg="mod">
          <ac:chgData name="Adriana Miriam Ylizaliturri Gomez" userId="c054c78c-207c-4278-ae44-884dbebca744" providerId="ADAL" clId="{9B871E66-1A30-42FF-AF18-83FDFD9111C9}" dt="2026-06-29T16:54:22.830" v="2650" actId="20577"/>
          <ac:spMkLst>
            <pc:docMk/>
            <pc:sldMk cId="0" sldId="260"/>
            <ac:spMk id="14" creationId="{00000000-0000-0000-0000-000000000000}"/>
          </ac:spMkLst>
        </pc:spChg>
        <pc:graphicFrameChg chg="modGraphic">
          <ac:chgData name="Adriana Miriam Ylizaliturri Gomez" userId="c054c78c-207c-4278-ae44-884dbebca744" providerId="ADAL" clId="{9B871E66-1A30-42FF-AF18-83FDFD9111C9}" dt="2026-06-29T18:34:18.282" v="3205" actId="14734"/>
          <ac:graphicFrameMkLst>
            <pc:docMk/>
            <pc:sldMk cId="0" sldId="260"/>
            <ac:graphicFrameMk id="13" creationId="{00000000-0000-0000-0000-000000000000}"/>
          </ac:graphicFrameMkLst>
        </pc:graphicFrameChg>
        <pc:picChg chg="mod">
          <ac:chgData name="Adriana Miriam Ylizaliturri Gomez" userId="c054c78c-207c-4278-ae44-884dbebca744" providerId="ADAL" clId="{9B871E66-1A30-42FF-AF18-83FDFD9111C9}" dt="2026-06-25T23:43:59.389" v="135" actId="1076"/>
          <ac:picMkLst>
            <pc:docMk/>
            <pc:sldMk cId="0" sldId="260"/>
            <ac:picMk id="2" creationId="{45B469C6-C898-F0EB-1A6B-6AA0AFD617E7}"/>
          </ac:picMkLst>
        </pc:picChg>
      </pc:sldChg>
      <pc:sldChg chg="modSp mod">
        <pc:chgData name="Adriana Miriam Ylizaliturri Gomez" userId="c054c78c-207c-4278-ae44-884dbebca744" providerId="ADAL" clId="{9B871E66-1A30-42FF-AF18-83FDFD9111C9}" dt="2026-07-02T17:52:59.927" v="3277" actId="20577"/>
        <pc:sldMkLst>
          <pc:docMk/>
          <pc:sldMk cId="0" sldId="261"/>
        </pc:sldMkLst>
        <pc:spChg chg="mod">
          <ac:chgData name="Adriana Miriam Ylizaliturri Gomez" userId="c054c78c-207c-4278-ae44-884dbebca744" providerId="ADAL" clId="{9B871E66-1A30-42FF-AF18-83FDFD9111C9}" dt="2026-06-29T17:37:58.605" v="2749" actId="14100"/>
          <ac:spMkLst>
            <pc:docMk/>
            <pc:sldMk cId="0" sldId="261"/>
            <ac:spMk id="16" creationId="{44CD27F1-74E6-9768-907A-9CFEA6D00028}"/>
          </ac:spMkLst>
        </pc:spChg>
        <pc:spChg chg="mod">
          <ac:chgData name="Adriana Miriam Ylizaliturri Gomez" userId="c054c78c-207c-4278-ae44-884dbebca744" providerId="ADAL" clId="{9B871E66-1A30-42FF-AF18-83FDFD9111C9}" dt="2026-06-29T17:37:39.069" v="2713" actId="14100"/>
          <ac:spMkLst>
            <pc:docMk/>
            <pc:sldMk cId="0" sldId="261"/>
            <ac:spMk id="18" creationId="{7A5E59A3-3BC3-035F-8DE3-F518CFAFBD98}"/>
          </ac:spMkLst>
        </pc:spChg>
        <pc:spChg chg="mod">
          <ac:chgData name="Adriana Miriam Ylizaliturri Gomez" userId="c054c78c-207c-4278-ae44-884dbebca744" providerId="ADAL" clId="{9B871E66-1A30-42FF-AF18-83FDFD9111C9}" dt="2026-06-29T17:37:36.413" v="2712" actId="1038"/>
          <ac:spMkLst>
            <pc:docMk/>
            <pc:sldMk cId="0" sldId="261"/>
            <ac:spMk id="19" creationId="{A2EA029D-47AF-0BF5-A631-3ABF33B2ECA5}"/>
          </ac:spMkLst>
        </pc:spChg>
        <pc:spChg chg="mod">
          <ac:chgData name="Adriana Miriam Ylizaliturri Gomez" userId="c054c78c-207c-4278-ae44-884dbebca744" providerId="ADAL" clId="{9B871E66-1A30-42FF-AF18-83FDFD9111C9}" dt="2026-06-29T17:38:02.837" v="2751" actId="14100"/>
          <ac:spMkLst>
            <pc:docMk/>
            <pc:sldMk cId="0" sldId="261"/>
            <ac:spMk id="20" creationId="{CCCC2E56-76DB-A143-6318-826E4BDC534E}"/>
          </ac:spMkLst>
        </pc:spChg>
        <pc:spChg chg="mod">
          <ac:chgData name="Adriana Miriam Ylizaliturri Gomez" userId="c054c78c-207c-4278-ae44-884dbebca744" providerId="ADAL" clId="{9B871E66-1A30-42FF-AF18-83FDFD9111C9}" dt="2026-06-29T16:54:28.142" v="2653" actId="20577"/>
          <ac:spMkLst>
            <pc:docMk/>
            <pc:sldMk cId="0" sldId="261"/>
            <ac:spMk id="156" creationId="{00000000-0000-0000-0000-000000000000}"/>
          </ac:spMkLst>
        </pc:spChg>
        <pc:grpChg chg="mod">
          <ac:chgData name="Adriana Miriam Ylizaliturri Gomez" userId="c054c78c-207c-4278-ae44-884dbebca744" providerId="ADAL" clId="{9B871E66-1A30-42FF-AF18-83FDFD9111C9}" dt="2026-06-25T23:45:57.579" v="174" actId="1035"/>
          <ac:grpSpMkLst>
            <pc:docMk/>
            <pc:sldMk cId="0" sldId="261"/>
            <ac:grpSpMk id="2" creationId="{4FF5E04E-7E13-CB58-3F78-706F19DC0558}"/>
          </ac:grpSpMkLst>
        </pc:grpChg>
        <pc:graphicFrameChg chg="mod modGraphic">
          <ac:chgData name="Adriana Miriam Ylizaliturri Gomez" userId="c054c78c-207c-4278-ae44-884dbebca744" providerId="ADAL" clId="{9B871E66-1A30-42FF-AF18-83FDFD9111C9}" dt="2026-07-02T17:52:59.927" v="3277" actId="20577"/>
          <ac:graphicFrameMkLst>
            <pc:docMk/>
            <pc:sldMk cId="0" sldId="261"/>
            <ac:graphicFrameMk id="154" creationId="{00000000-0000-0000-0000-000000000000}"/>
          </ac:graphicFrameMkLst>
        </pc:graphicFrameChg>
        <pc:picChg chg="mod">
          <ac:chgData name="Adriana Miriam Ylizaliturri Gomez" userId="c054c78c-207c-4278-ae44-884dbebca744" providerId="ADAL" clId="{9B871E66-1A30-42FF-AF18-83FDFD9111C9}" dt="2026-06-25T23:47:01.817" v="180" actId="14861"/>
          <ac:picMkLst>
            <pc:docMk/>
            <pc:sldMk cId="0" sldId="261"/>
            <ac:picMk id="17" creationId="{3FB08B45-E8F4-76BD-5B95-0CC6E53FD15A}"/>
          </ac:picMkLst>
        </pc:picChg>
        <pc:picChg chg="mod">
          <ac:chgData name="Adriana Miriam Ylizaliturri Gomez" userId="c054c78c-207c-4278-ae44-884dbebca744" providerId="ADAL" clId="{9B871E66-1A30-42FF-AF18-83FDFD9111C9}" dt="2026-06-29T17:37:19.357" v="2663" actId="14100"/>
          <ac:picMkLst>
            <pc:docMk/>
            <pc:sldMk cId="0" sldId="261"/>
            <ac:picMk id="21" creationId="{D36BAAE2-80F6-9DCF-B323-2E0C3808B57F}"/>
          </ac:picMkLst>
        </pc:picChg>
      </pc:sldChg>
      <pc:sldChg chg="modSp mod">
        <pc:chgData name="Adriana Miriam Ylizaliturri Gomez" userId="c054c78c-207c-4278-ae44-884dbebca744" providerId="ADAL" clId="{9B871E66-1A30-42FF-AF18-83FDFD9111C9}" dt="2026-06-25T23:57:47.688" v="306" actId="14100"/>
        <pc:sldMkLst>
          <pc:docMk/>
          <pc:sldMk cId="0" sldId="262"/>
        </pc:sldMkLst>
        <pc:spChg chg="mod">
          <ac:chgData name="Adriana Miriam Ylizaliturri Gomez" userId="c054c78c-207c-4278-ae44-884dbebca744" providerId="ADAL" clId="{9B871E66-1A30-42FF-AF18-83FDFD9111C9}" dt="2026-06-25T23:52:00.063" v="232" actId="1036"/>
          <ac:spMkLst>
            <pc:docMk/>
            <pc:sldMk cId="0" sldId="262"/>
            <ac:spMk id="6" creationId="{00000000-0000-0000-0000-000000000000}"/>
          </ac:spMkLst>
        </pc:spChg>
        <pc:spChg chg="mod">
          <ac:chgData name="Adriana Miriam Ylizaliturri Gomez" userId="c054c78c-207c-4278-ae44-884dbebca744" providerId="ADAL" clId="{9B871E66-1A30-42FF-AF18-83FDFD9111C9}" dt="2026-06-25T23:57:44.763" v="305" actId="1036"/>
          <ac:spMkLst>
            <pc:docMk/>
            <pc:sldMk cId="0" sldId="262"/>
            <ac:spMk id="10" creationId="{00000000-0000-0000-0000-000000000000}"/>
          </ac:spMkLst>
        </pc:spChg>
        <pc:spChg chg="mod">
          <ac:chgData name="Adriana Miriam Ylizaliturri Gomez" userId="c054c78c-207c-4278-ae44-884dbebca744" providerId="ADAL" clId="{9B871E66-1A30-42FF-AF18-83FDFD9111C9}" dt="2026-06-25T23:57:44.763" v="305" actId="1036"/>
          <ac:spMkLst>
            <pc:docMk/>
            <pc:sldMk cId="0" sldId="262"/>
            <ac:spMk id="11" creationId="{00000000-0000-0000-0000-000000000000}"/>
          </ac:spMkLst>
        </pc:spChg>
        <pc:spChg chg="mod">
          <ac:chgData name="Adriana Miriam Ylizaliturri Gomez" userId="c054c78c-207c-4278-ae44-884dbebca744" providerId="ADAL" clId="{9B871E66-1A30-42FF-AF18-83FDFD9111C9}" dt="2026-06-25T23:57:44.763" v="305" actId="1036"/>
          <ac:spMkLst>
            <pc:docMk/>
            <pc:sldMk cId="0" sldId="262"/>
            <ac:spMk id="12" creationId="{00000000-0000-0000-0000-000000000000}"/>
          </ac:spMkLst>
        </pc:spChg>
        <pc:graphicFrameChg chg="mod modGraphic">
          <ac:chgData name="Adriana Miriam Ylizaliturri Gomez" userId="c054c78c-207c-4278-ae44-884dbebca744" providerId="ADAL" clId="{9B871E66-1A30-42FF-AF18-83FDFD9111C9}" dt="2026-06-25T23:57:47.688" v="306" actId="14100"/>
          <ac:graphicFrameMkLst>
            <pc:docMk/>
            <pc:sldMk cId="0" sldId="262"/>
            <ac:graphicFrameMk id="8" creationId="{00000000-0000-0000-0000-000000000000}"/>
          </ac:graphicFrameMkLst>
        </pc:graphicFrameChg>
        <pc:graphicFrameChg chg="mod">
          <ac:chgData name="Adriana Miriam Ylizaliturri Gomez" userId="c054c78c-207c-4278-ae44-884dbebca744" providerId="ADAL" clId="{9B871E66-1A30-42FF-AF18-83FDFD9111C9}" dt="2026-06-25T23:57:44.763" v="305" actId="1036"/>
          <ac:graphicFrameMkLst>
            <pc:docMk/>
            <pc:sldMk cId="0" sldId="262"/>
            <ac:graphicFrameMk id="9" creationId="{00000000-0000-0000-0000-000000000000}"/>
          </ac:graphicFrameMkLst>
        </pc:graphicFrameChg>
      </pc:sldChg>
      <pc:sldChg chg="modSp mod">
        <pc:chgData name="Adriana Miriam Ylizaliturri Gomez" userId="c054c78c-207c-4278-ae44-884dbebca744" providerId="ADAL" clId="{9B871E66-1A30-42FF-AF18-83FDFD9111C9}" dt="2026-06-29T18:28:36.857" v="3103" actId="122"/>
        <pc:sldMkLst>
          <pc:docMk/>
          <pc:sldMk cId="0" sldId="263"/>
        </pc:sldMkLst>
        <pc:spChg chg="mod">
          <ac:chgData name="Adriana Miriam Ylizaliturri Gomez" userId="c054c78c-207c-4278-ae44-884dbebca744" providerId="ADAL" clId="{9B871E66-1A30-42FF-AF18-83FDFD9111C9}" dt="2026-06-25T23:53:01.844" v="255" actId="1035"/>
          <ac:spMkLst>
            <pc:docMk/>
            <pc:sldMk cId="0" sldId="263"/>
            <ac:spMk id="139" creationId="{0B015124-4138-1C94-CE7D-ABBE57D79C8B}"/>
          </ac:spMkLst>
        </pc:spChg>
        <pc:spChg chg="mod">
          <ac:chgData name="Adriana Miriam Ylizaliturri Gomez" userId="c054c78c-207c-4278-ae44-884dbebca744" providerId="ADAL" clId="{9B871E66-1A30-42FF-AF18-83FDFD9111C9}" dt="2026-06-26T00:00:23.521" v="403" actId="1036"/>
          <ac:spMkLst>
            <pc:docMk/>
            <pc:sldMk cId="0" sldId="263"/>
            <ac:spMk id="143" creationId="{00000000-0000-0000-0000-000000000000}"/>
          </ac:spMkLst>
        </pc:spChg>
        <pc:spChg chg="mod">
          <ac:chgData name="Adriana Miriam Ylizaliturri Gomez" userId="c054c78c-207c-4278-ae44-884dbebca744" providerId="ADAL" clId="{9B871E66-1A30-42FF-AF18-83FDFD9111C9}" dt="2026-06-26T00:00:20.353" v="397" actId="1035"/>
          <ac:spMkLst>
            <pc:docMk/>
            <pc:sldMk cId="0" sldId="263"/>
            <ac:spMk id="144" creationId="{00000000-0000-0000-0000-000000000000}"/>
          </ac:spMkLst>
        </pc:spChg>
        <pc:spChg chg="mod">
          <ac:chgData name="Adriana Miriam Ylizaliturri Gomez" userId="c054c78c-207c-4278-ae44-884dbebca744" providerId="ADAL" clId="{9B871E66-1A30-42FF-AF18-83FDFD9111C9}" dt="2026-06-25T23:53:01.844" v="255" actId="1035"/>
          <ac:spMkLst>
            <pc:docMk/>
            <pc:sldMk cId="0" sldId="263"/>
            <ac:spMk id="147" creationId="{00000000-0000-0000-0000-000000000000}"/>
          </ac:spMkLst>
        </pc:spChg>
        <pc:spChg chg="mod">
          <ac:chgData name="Adriana Miriam Ylizaliturri Gomez" userId="c054c78c-207c-4278-ae44-884dbebca744" providerId="ADAL" clId="{9B871E66-1A30-42FF-AF18-83FDFD9111C9}" dt="2026-06-25T23:55:08.656" v="268" actId="1037"/>
          <ac:spMkLst>
            <pc:docMk/>
            <pc:sldMk cId="0" sldId="263"/>
            <ac:spMk id="150" creationId="{00000000-0000-0000-0000-000000000000}"/>
          </ac:spMkLst>
        </pc:spChg>
        <pc:graphicFrameChg chg="mod modGraphic">
          <ac:chgData name="Adriana Miriam Ylizaliturri Gomez" userId="c054c78c-207c-4278-ae44-884dbebca744" providerId="ADAL" clId="{9B871E66-1A30-42FF-AF18-83FDFD9111C9}" dt="2026-06-25T23:53:12.815" v="257" actId="1076"/>
          <ac:graphicFrameMkLst>
            <pc:docMk/>
            <pc:sldMk cId="0" sldId="263"/>
            <ac:graphicFrameMk id="140" creationId="{0FD5AC23-2DF1-9A27-975F-A9634AC239AE}"/>
          </ac:graphicFrameMkLst>
        </pc:graphicFrameChg>
        <pc:graphicFrameChg chg="mod modGraphic">
          <ac:chgData name="Adriana Miriam Ylizaliturri Gomez" userId="c054c78c-207c-4278-ae44-884dbebca744" providerId="ADAL" clId="{9B871E66-1A30-42FF-AF18-83FDFD9111C9}" dt="2026-06-29T18:28:36.857" v="3103" actId="122"/>
          <ac:graphicFrameMkLst>
            <pc:docMk/>
            <pc:sldMk cId="0" sldId="263"/>
            <ac:graphicFrameMk id="148" creationId="{00000000-0000-0000-0000-000000000000}"/>
          </ac:graphicFrameMkLst>
        </pc:graphicFrameChg>
        <pc:graphicFrameChg chg="mod">
          <ac:chgData name="Adriana Miriam Ylizaliturri Gomez" userId="c054c78c-207c-4278-ae44-884dbebca744" providerId="ADAL" clId="{9B871E66-1A30-42FF-AF18-83FDFD9111C9}" dt="2026-06-25T23:53:28.009" v="258" actId="14100"/>
          <ac:graphicFrameMkLst>
            <pc:docMk/>
            <pc:sldMk cId="0" sldId="263"/>
            <ac:graphicFrameMk id="149" creationId="{00000000-0000-0000-0000-000000000000}"/>
          </ac:graphicFrameMkLst>
        </pc:graphicFrameChg>
        <pc:cxnChg chg="mod">
          <ac:chgData name="Adriana Miriam Ylizaliturri Gomez" userId="c054c78c-207c-4278-ae44-884dbebca744" providerId="ADAL" clId="{9B871E66-1A30-42FF-AF18-83FDFD9111C9}" dt="2026-06-26T00:00:20.353" v="397" actId="1035"/>
          <ac:cxnSpMkLst>
            <pc:docMk/>
            <pc:sldMk cId="0" sldId="263"/>
            <ac:cxnSpMk id="145" creationId="{00000000-0000-0000-0000-000000000000}"/>
          </ac:cxnSpMkLst>
        </pc:cxnChg>
      </pc:sldChg>
      <pc:sldChg chg="addSp modSp mod">
        <pc:chgData name="Adriana Miriam Ylizaliturri Gomez" userId="c054c78c-207c-4278-ae44-884dbebca744" providerId="ADAL" clId="{9B871E66-1A30-42FF-AF18-83FDFD9111C9}" dt="2026-06-29T18:28:29.217" v="3101" actId="122"/>
        <pc:sldMkLst>
          <pc:docMk/>
          <pc:sldMk cId="0" sldId="267"/>
        </pc:sldMkLst>
        <pc:spChg chg="add mod">
          <ac:chgData name="Adriana Miriam Ylizaliturri Gomez" userId="c054c78c-207c-4278-ae44-884dbebca744" providerId="ADAL" clId="{9B871E66-1A30-42FF-AF18-83FDFD9111C9}" dt="2026-06-25T23:58:56.433" v="353" actId="20577"/>
          <ac:spMkLst>
            <pc:docMk/>
            <pc:sldMk cId="0" sldId="267"/>
            <ac:spMk id="3" creationId="{EBC966C3-0D6F-E09E-5BC7-A16967061E1F}"/>
          </ac:spMkLst>
        </pc:spChg>
        <pc:spChg chg="mod">
          <ac:chgData name="Adriana Miriam Ylizaliturri Gomez" userId="c054c78c-207c-4278-ae44-884dbebca744" providerId="ADAL" clId="{9B871E66-1A30-42FF-AF18-83FDFD9111C9}" dt="2026-06-25T23:58:34.894" v="325" actId="1036"/>
          <ac:spMkLst>
            <pc:docMk/>
            <pc:sldMk cId="0" sldId="267"/>
            <ac:spMk id="235" creationId="{00000000-0000-0000-0000-000000000000}"/>
          </ac:spMkLst>
        </pc:spChg>
        <pc:spChg chg="mod">
          <ac:chgData name="Adriana Miriam Ylizaliturri Gomez" userId="c054c78c-207c-4278-ae44-884dbebca744" providerId="ADAL" clId="{9B871E66-1A30-42FF-AF18-83FDFD9111C9}" dt="2026-06-26T00:01:10.513" v="405" actId="1076"/>
          <ac:spMkLst>
            <pc:docMk/>
            <pc:sldMk cId="0" sldId="267"/>
            <ac:spMk id="236" creationId="{00000000-0000-0000-0000-000000000000}"/>
          </ac:spMkLst>
        </pc:spChg>
        <pc:spChg chg="mod">
          <ac:chgData name="Adriana Miriam Ylizaliturri Gomez" userId="c054c78c-207c-4278-ae44-884dbebca744" providerId="ADAL" clId="{9B871E66-1A30-42FF-AF18-83FDFD9111C9}" dt="2026-06-25T23:58:34.894" v="325" actId="1036"/>
          <ac:spMkLst>
            <pc:docMk/>
            <pc:sldMk cId="0" sldId="267"/>
            <ac:spMk id="237" creationId="{00000000-0000-0000-0000-000000000000}"/>
          </ac:spMkLst>
        </pc:spChg>
        <pc:graphicFrameChg chg="mod">
          <ac:chgData name="Adriana Miriam Ylizaliturri Gomez" userId="c054c78c-207c-4278-ae44-884dbebca744" providerId="ADAL" clId="{9B871E66-1A30-42FF-AF18-83FDFD9111C9}" dt="2026-06-26T00:01:43.890" v="408" actId="1036"/>
          <ac:graphicFrameMkLst>
            <pc:docMk/>
            <pc:sldMk cId="0" sldId="267"/>
            <ac:graphicFrameMk id="230" creationId="{00000000-0000-0000-0000-000000000000}"/>
          </ac:graphicFrameMkLst>
        </pc:graphicFrameChg>
        <pc:graphicFrameChg chg="mod modGraphic">
          <ac:chgData name="Adriana Miriam Ylizaliturri Gomez" userId="c054c78c-207c-4278-ae44-884dbebca744" providerId="ADAL" clId="{9B871E66-1A30-42FF-AF18-83FDFD9111C9}" dt="2026-06-29T18:28:29.217" v="3101" actId="122"/>
          <ac:graphicFrameMkLst>
            <pc:docMk/>
            <pc:sldMk cId="0" sldId="267"/>
            <ac:graphicFrameMk id="233" creationId="{00000000-0000-0000-0000-000000000000}"/>
          </ac:graphicFrameMkLst>
        </pc:graphicFrameChg>
        <pc:graphicFrameChg chg="mod">
          <ac:chgData name="Adriana Miriam Ylizaliturri Gomez" userId="c054c78c-207c-4278-ae44-884dbebca744" providerId="ADAL" clId="{9B871E66-1A30-42FF-AF18-83FDFD9111C9}" dt="2026-06-25T23:58:34.894" v="325" actId="1036"/>
          <ac:graphicFrameMkLst>
            <pc:docMk/>
            <pc:sldMk cId="0" sldId="267"/>
            <ac:graphicFrameMk id="234" creationId="{00000000-0000-0000-0000-000000000000}"/>
          </ac:graphicFrameMkLst>
        </pc:graphicFrameChg>
      </pc:sldChg>
      <pc:sldChg chg="modSp mod">
        <pc:chgData name="Adriana Miriam Ylizaliturri Gomez" userId="c054c78c-207c-4278-ae44-884dbebca744" providerId="ADAL" clId="{9B871E66-1A30-42FF-AF18-83FDFD9111C9}" dt="2026-06-29T18:29:50.010" v="3113" actId="1076"/>
        <pc:sldMkLst>
          <pc:docMk/>
          <pc:sldMk cId="0" sldId="270"/>
        </pc:sldMkLst>
        <pc:spChg chg="mod">
          <ac:chgData name="Adriana Miriam Ylizaliturri Gomez" userId="c054c78c-207c-4278-ae44-884dbebca744" providerId="ADAL" clId="{9B871E66-1A30-42FF-AF18-83FDFD9111C9}" dt="2026-06-26T00:14:19.679" v="851" actId="255"/>
          <ac:spMkLst>
            <pc:docMk/>
            <pc:sldMk cId="0" sldId="270"/>
            <ac:spMk id="321" creationId="{00000000-0000-0000-0000-000000000000}"/>
          </ac:spMkLst>
        </pc:spChg>
        <pc:spChg chg="mod">
          <ac:chgData name="Adriana Miriam Ylizaliturri Gomez" userId="c054c78c-207c-4278-ae44-884dbebca744" providerId="ADAL" clId="{9B871E66-1A30-42FF-AF18-83FDFD9111C9}" dt="2026-06-29T18:29:50.010" v="3113" actId="1076"/>
          <ac:spMkLst>
            <pc:docMk/>
            <pc:sldMk cId="0" sldId="270"/>
            <ac:spMk id="323" creationId="{00000000-0000-0000-0000-000000000000}"/>
          </ac:spMkLst>
        </pc:spChg>
        <pc:graphicFrameChg chg="mod">
          <ac:chgData name="Adriana Miriam Ylizaliturri Gomez" userId="c054c78c-207c-4278-ae44-884dbebca744" providerId="ADAL" clId="{9B871E66-1A30-42FF-AF18-83FDFD9111C9}" dt="2026-06-29T18:29:32.658" v="3111" actId="14861"/>
          <ac:graphicFrameMkLst>
            <pc:docMk/>
            <pc:sldMk cId="0" sldId="270"/>
            <ac:graphicFrameMk id="317" creationId="{00000000-0000-0000-0000-000000000000}"/>
          </ac:graphicFrameMkLst>
        </pc:graphicFrameChg>
        <pc:graphicFrameChg chg="mod">
          <ac:chgData name="Adriana Miriam Ylizaliturri Gomez" userId="c054c78c-207c-4278-ae44-884dbebca744" providerId="ADAL" clId="{9B871E66-1A30-42FF-AF18-83FDFD9111C9}" dt="2026-06-29T18:29:27.954" v="3109" actId="14861"/>
          <ac:graphicFrameMkLst>
            <pc:docMk/>
            <pc:sldMk cId="0" sldId="270"/>
            <ac:graphicFrameMk id="318" creationId="{00000000-0000-0000-0000-000000000000}"/>
          </ac:graphicFrameMkLst>
        </pc:graphicFrameChg>
      </pc:sldChg>
      <pc:sldChg chg="modSp mod">
        <pc:chgData name="Adriana Miriam Ylizaliturri Gomez" userId="c054c78c-207c-4278-ae44-884dbebca744" providerId="ADAL" clId="{9B871E66-1A30-42FF-AF18-83FDFD9111C9}" dt="2026-06-26T00:18:05.013" v="1000" actId="1037"/>
        <pc:sldMkLst>
          <pc:docMk/>
          <pc:sldMk cId="0" sldId="271"/>
        </pc:sldMkLst>
        <pc:spChg chg="mod">
          <ac:chgData name="Adriana Miriam Ylizaliturri Gomez" userId="c054c78c-207c-4278-ae44-884dbebca744" providerId="ADAL" clId="{9B871E66-1A30-42FF-AF18-83FDFD9111C9}" dt="2026-06-26T00:17:38.292" v="990" actId="1035"/>
          <ac:spMkLst>
            <pc:docMk/>
            <pc:sldMk cId="0" sldId="271"/>
            <ac:spMk id="310" creationId="{00000000-0000-0000-0000-000000000000}"/>
          </ac:spMkLst>
        </pc:spChg>
        <pc:spChg chg="mod">
          <ac:chgData name="Adriana Miriam Ylizaliturri Gomez" userId="c054c78c-207c-4278-ae44-884dbebca744" providerId="ADAL" clId="{9B871E66-1A30-42FF-AF18-83FDFD9111C9}" dt="2026-06-26T00:17:11.973" v="935" actId="1035"/>
          <ac:spMkLst>
            <pc:docMk/>
            <pc:sldMk cId="0" sldId="271"/>
            <ac:spMk id="312" creationId="{00000000-0000-0000-0000-000000000000}"/>
          </ac:spMkLst>
        </pc:spChg>
        <pc:spChg chg="mod">
          <ac:chgData name="Adriana Miriam Ylizaliturri Gomez" userId="c054c78c-207c-4278-ae44-884dbebca744" providerId="ADAL" clId="{9B871E66-1A30-42FF-AF18-83FDFD9111C9}" dt="2026-06-26T00:17:19.492" v="954" actId="1035"/>
          <ac:spMkLst>
            <pc:docMk/>
            <pc:sldMk cId="0" sldId="271"/>
            <ac:spMk id="314" creationId="{00000000-0000-0000-0000-000000000000}"/>
          </ac:spMkLst>
        </pc:spChg>
        <pc:spChg chg="mod">
          <ac:chgData name="Adriana Miriam Ylizaliturri Gomez" userId="c054c78c-207c-4278-ae44-884dbebca744" providerId="ADAL" clId="{9B871E66-1A30-42FF-AF18-83FDFD9111C9}" dt="2026-06-26T00:17:19.492" v="954" actId="1035"/>
          <ac:spMkLst>
            <pc:docMk/>
            <pc:sldMk cId="0" sldId="271"/>
            <ac:spMk id="316" creationId="{00000000-0000-0000-0000-000000000000}"/>
          </ac:spMkLst>
        </pc:spChg>
        <pc:spChg chg="mod">
          <ac:chgData name="Adriana Miriam Ylizaliturri Gomez" userId="c054c78c-207c-4278-ae44-884dbebca744" providerId="ADAL" clId="{9B871E66-1A30-42FF-AF18-83FDFD9111C9}" dt="2026-06-26T00:17:19.492" v="954" actId="1035"/>
          <ac:spMkLst>
            <pc:docMk/>
            <pc:sldMk cId="0" sldId="271"/>
            <ac:spMk id="319" creationId="{00000000-0000-0000-0000-000000000000}"/>
          </ac:spMkLst>
        </pc:spChg>
        <pc:spChg chg="mod">
          <ac:chgData name="Adriana Miriam Ylizaliturri Gomez" userId="c054c78c-207c-4278-ae44-884dbebca744" providerId="ADAL" clId="{9B871E66-1A30-42FF-AF18-83FDFD9111C9}" dt="2026-06-26T00:17:19.492" v="954" actId="1035"/>
          <ac:spMkLst>
            <pc:docMk/>
            <pc:sldMk cId="0" sldId="271"/>
            <ac:spMk id="322" creationId="{00000000-0000-0000-0000-000000000000}"/>
          </ac:spMkLst>
        </pc:spChg>
        <pc:spChg chg="mod">
          <ac:chgData name="Adriana Miriam Ylizaliturri Gomez" userId="c054c78c-207c-4278-ae44-884dbebca744" providerId="ADAL" clId="{9B871E66-1A30-42FF-AF18-83FDFD9111C9}" dt="2026-06-26T00:17:19.492" v="954" actId="1035"/>
          <ac:spMkLst>
            <pc:docMk/>
            <pc:sldMk cId="0" sldId="271"/>
            <ac:spMk id="325" creationId="{00000000-0000-0000-0000-000000000000}"/>
          </ac:spMkLst>
        </pc:spChg>
        <pc:spChg chg="mod">
          <ac:chgData name="Adriana Miriam Ylizaliturri Gomez" userId="c054c78c-207c-4278-ae44-884dbebca744" providerId="ADAL" clId="{9B871E66-1A30-42FF-AF18-83FDFD9111C9}" dt="2026-06-26T00:17:19.492" v="954" actId="1035"/>
          <ac:spMkLst>
            <pc:docMk/>
            <pc:sldMk cId="0" sldId="271"/>
            <ac:spMk id="336" creationId="{00000000-0000-0000-0000-000000000000}"/>
          </ac:spMkLst>
        </pc:spChg>
        <pc:spChg chg="mod">
          <ac:chgData name="Adriana Miriam Ylizaliturri Gomez" userId="c054c78c-207c-4278-ae44-884dbebca744" providerId="ADAL" clId="{9B871E66-1A30-42FF-AF18-83FDFD9111C9}" dt="2026-06-26T00:17:19.492" v="954" actId="1035"/>
          <ac:spMkLst>
            <pc:docMk/>
            <pc:sldMk cId="0" sldId="271"/>
            <ac:spMk id="337" creationId="{00000000-0000-0000-0000-000000000000}"/>
          </ac:spMkLst>
        </pc:spChg>
        <pc:spChg chg="mod">
          <ac:chgData name="Adriana Miriam Ylizaliturri Gomez" userId="c054c78c-207c-4278-ae44-884dbebca744" providerId="ADAL" clId="{9B871E66-1A30-42FF-AF18-83FDFD9111C9}" dt="2026-06-26T00:17:19.492" v="954" actId="1035"/>
          <ac:spMkLst>
            <pc:docMk/>
            <pc:sldMk cId="0" sldId="271"/>
            <ac:spMk id="338" creationId="{00000000-0000-0000-0000-000000000000}"/>
          </ac:spMkLst>
        </pc:spChg>
        <pc:spChg chg="mod">
          <ac:chgData name="Adriana Miriam Ylizaliturri Gomez" userId="c054c78c-207c-4278-ae44-884dbebca744" providerId="ADAL" clId="{9B871E66-1A30-42FF-AF18-83FDFD9111C9}" dt="2026-06-26T00:17:19.492" v="954" actId="1035"/>
          <ac:spMkLst>
            <pc:docMk/>
            <pc:sldMk cId="0" sldId="271"/>
            <ac:spMk id="339" creationId="{00000000-0000-0000-0000-000000000000}"/>
          </ac:spMkLst>
        </pc:spChg>
        <pc:spChg chg="mod">
          <ac:chgData name="Adriana Miriam Ylizaliturri Gomez" userId="c054c78c-207c-4278-ae44-884dbebca744" providerId="ADAL" clId="{9B871E66-1A30-42FF-AF18-83FDFD9111C9}" dt="2026-06-26T00:17:19.492" v="954" actId="1035"/>
          <ac:spMkLst>
            <pc:docMk/>
            <pc:sldMk cId="0" sldId="271"/>
            <ac:spMk id="340" creationId="{00000000-0000-0000-0000-000000000000}"/>
          </ac:spMkLst>
        </pc:spChg>
        <pc:spChg chg="mod">
          <ac:chgData name="Adriana Miriam Ylizaliturri Gomez" userId="c054c78c-207c-4278-ae44-884dbebca744" providerId="ADAL" clId="{9B871E66-1A30-42FF-AF18-83FDFD9111C9}" dt="2026-06-26T00:16:53.604" v="920" actId="1035"/>
          <ac:spMkLst>
            <pc:docMk/>
            <pc:sldMk cId="0" sldId="271"/>
            <ac:spMk id="341" creationId="{00000000-0000-0000-0000-000000000000}"/>
          </ac:spMkLst>
        </pc:spChg>
        <pc:spChg chg="mod">
          <ac:chgData name="Adriana Miriam Ylizaliturri Gomez" userId="c054c78c-207c-4278-ae44-884dbebca744" providerId="ADAL" clId="{9B871E66-1A30-42FF-AF18-83FDFD9111C9}" dt="2026-06-26T00:16:51.275" v="917" actId="1035"/>
          <ac:spMkLst>
            <pc:docMk/>
            <pc:sldMk cId="0" sldId="271"/>
            <ac:spMk id="342" creationId="{00000000-0000-0000-0000-000000000000}"/>
          </ac:spMkLst>
        </pc:spChg>
        <pc:spChg chg="mod">
          <ac:chgData name="Adriana Miriam Ylizaliturri Gomez" userId="c054c78c-207c-4278-ae44-884dbebca744" providerId="ADAL" clId="{9B871E66-1A30-42FF-AF18-83FDFD9111C9}" dt="2026-06-26T00:17:38.292" v="990" actId="1035"/>
          <ac:spMkLst>
            <pc:docMk/>
            <pc:sldMk cId="0" sldId="271"/>
            <ac:spMk id="343" creationId="{00000000-0000-0000-0000-000000000000}"/>
          </ac:spMkLst>
        </pc:spChg>
        <pc:spChg chg="mod">
          <ac:chgData name="Adriana Miriam Ylizaliturri Gomez" userId="c054c78c-207c-4278-ae44-884dbebca744" providerId="ADAL" clId="{9B871E66-1A30-42FF-AF18-83FDFD9111C9}" dt="2026-06-26T00:17:58.631" v="992" actId="403"/>
          <ac:spMkLst>
            <pc:docMk/>
            <pc:sldMk cId="0" sldId="271"/>
            <ac:spMk id="345" creationId="{00000000-0000-0000-0000-000000000000}"/>
          </ac:spMkLst>
        </pc:spChg>
        <pc:spChg chg="mod">
          <ac:chgData name="Adriana Miriam Ylizaliturri Gomez" userId="c054c78c-207c-4278-ae44-884dbebca744" providerId="ADAL" clId="{9B871E66-1A30-42FF-AF18-83FDFD9111C9}" dt="2026-06-26T00:17:50.054" v="991" actId="403"/>
          <ac:spMkLst>
            <pc:docMk/>
            <pc:sldMk cId="0" sldId="271"/>
            <ac:spMk id="346" creationId="{00000000-0000-0000-0000-000000000000}"/>
          </ac:spMkLst>
        </pc:spChg>
        <pc:graphicFrameChg chg="mod">
          <ac:chgData name="Adriana Miriam Ylizaliturri Gomez" userId="c054c78c-207c-4278-ae44-884dbebca744" providerId="ADAL" clId="{9B871E66-1A30-42FF-AF18-83FDFD9111C9}" dt="2026-06-26T00:17:11.973" v="935" actId="1035"/>
          <ac:graphicFrameMkLst>
            <pc:docMk/>
            <pc:sldMk cId="0" sldId="271"/>
            <ac:graphicFrameMk id="334" creationId="{00000000-0000-0000-0000-000000000000}"/>
          </ac:graphicFrameMkLst>
        </pc:graphicFrameChg>
        <pc:graphicFrameChg chg="mod">
          <ac:chgData name="Adriana Miriam Ylizaliturri Gomez" userId="c054c78c-207c-4278-ae44-884dbebca744" providerId="ADAL" clId="{9B871E66-1A30-42FF-AF18-83FDFD9111C9}" dt="2026-06-26T00:18:05.013" v="1000" actId="1037"/>
          <ac:graphicFrameMkLst>
            <pc:docMk/>
            <pc:sldMk cId="0" sldId="271"/>
            <ac:graphicFrameMk id="344" creationId="{00000000-0000-0000-0000-000000000000}"/>
          </ac:graphicFrameMkLst>
        </pc:graphicFrameChg>
      </pc:sldChg>
      <pc:sldChg chg="modSp mod">
        <pc:chgData name="Adriana Miriam Ylizaliturri Gomez" userId="c054c78c-207c-4278-ae44-884dbebca744" providerId="ADAL" clId="{9B871E66-1A30-42FF-AF18-83FDFD9111C9}" dt="2026-06-29T18:30:18.284" v="3135" actId="1036"/>
        <pc:sldMkLst>
          <pc:docMk/>
          <pc:sldMk cId="0" sldId="272"/>
        </pc:sldMkLst>
        <pc:spChg chg="mod">
          <ac:chgData name="Adriana Miriam Ylizaliturri Gomez" userId="c054c78c-207c-4278-ae44-884dbebca744" providerId="ADAL" clId="{9B871E66-1A30-42FF-AF18-83FDFD9111C9}" dt="2026-06-26T17:53:06.466" v="2180" actId="207"/>
          <ac:spMkLst>
            <pc:docMk/>
            <pc:sldMk cId="0" sldId="272"/>
            <ac:spMk id="7" creationId="{00000000-0000-0000-0000-000000000000}"/>
          </ac:spMkLst>
        </pc:spChg>
        <pc:spChg chg="mod">
          <ac:chgData name="Adriana Miriam Ylizaliturri Gomez" userId="c054c78c-207c-4278-ae44-884dbebca744" providerId="ADAL" clId="{9B871E66-1A30-42FF-AF18-83FDFD9111C9}" dt="2026-06-29T18:30:18.284" v="3135" actId="1036"/>
          <ac:spMkLst>
            <pc:docMk/>
            <pc:sldMk cId="0" sldId="272"/>
            <ac:spMk id="8" creationId="{00000000-0000-0000-0000-000000000000}"/>
          </ac:spMkLst>
        </pc:spChg>
        <pc:spChg chg="mod">
          <ac:chgData name="Adriana Miriam Ylizaliturri Gomez" userId="c054c78c-207c-4278-ae44-884dbebca744" providerId="ADAL" clId="{9B871E66-1A30-42FF-AF18-83FDFD9111C9}" dt="2026-06-29T18:30:18.284" v="3135" actId="1036"/>
          <ac:spMkLst>
            <pc:docMk/>
            <pc:sldMk cId="0" sldId="272"/>
            <ac:spMk id="11" creationId="{00000000-0000-0000-0000-000000000000}"/>
          </ac:spMkLst>
        </pc:spChg>
        <pc:graphicFrameChg chg="mod modGraphic">
          <ac:chgData name="Adriana Miriam Ylizaliturri Gomez" userId="c054c78c-207c-4278-ae44-884dbebca744" providerId="ADAL" clId="{9B871E66-1A30-42FF-AF18-83FDFD9111C9}" dt="2026-06-29T18:30:18.284" v="3135" actId="1036"/>
          <ac:graphicFrameMkLst>
            <pc:docMk/>
            <pc:sldMk cId="0" sldId="272"/>
            <ac:graphicFrameMk id="10" creationId="{00000000-0000-0000-0000-000000000000}"/>
          </ac:graphicFrameMkLst>
        </pc:graphicFrameChg>
        <pc:cxnChg chg="mod">
          <ac:chgData name="Adriana Miriam Ylizaliturri Gomez" userId="c054c78c-207c-4278-ae44-884dbebca744" providerId="ADAL" clId="{9B871E66-1A30-42FF-AF18-83FDFD9111C9}" dt="2026-06-29T18:30:18.284" v="3135" actId="1036"/>
          <ac:cxnSpMkLst>
            <pc:docMk/>
            <pc:sldMk cId="0" sldId="272"/>
            <ac:cxnSpMk id="9" creationId="{00000000-0000-0000-0000-000000000000}"/>
          </ac:cxnSpMkLst>
        </pc:cxnChg>
      </pc:sldChg>
      <pc:sldChg chg="modSp mod">
        <pc:chgData name="Adriana Miriam Ylizaliturri Gomez" userId="c054c78c-207c-4278-ae44-884dbebca744" providerId="ADAL" clId="{9B871E66-1A30-42FF-AF18-83FDFD9111C9}" dt="2026-06-29T18:32:40.817" v="3197" actId="1036"/>
        <pc:sldMkLst>
          <pc:docMk/>
          <pc:sldMk cId="0" sldId="277"/>
        </pc:sldMkLst>
        <pc:spChg chg="mod">
          <ac:chgData name="Adriana Miriam Ylizaliturri Gomez" userId="c054c78c-207c-4278-ae44-884dbebca744" providerId="ADAL" clId="{9B871E66-1A30-42FF-AF18-83FDFD9111C9}" dt="2026-06-29T17:38:51.506" v="2853" actId="1035"/>
          <ac:spMkLst>
            <pc:docMk/>
            <pc:sldMk cId="0" sldId="277"/>
            <ac:spMk id="460" creationId="{00000000-0000-0000-0000-000000000000}"/>
          </ac:spMkLst>
        </pc:spChg>
        <pc:spChg chg="mod">
          <ac:chgData name="Adriana Miriam Ylizaliturri Gomez" userId="c054c78c-207c-4278-ae44-884dbebca744" providerId="ADAL" clId="{9B871E66-1A30-42FF-AF18-83FDFD9111C9}" dt="2026-06-29T17:38:27.889" v="2778" actId="1035"/>
          <ac:spMkLst>
            <pc:docMk/>
            <pc:sldMk cId="0" sldId="277"/>
            <ac:spMk id="472" creationId="{00000000-0000-0000-0000-000000000000}"/>
          </ac:spMkLst>
        </pc:spChg>
        <pc:graphicFrameChg chg="mod">
          <ac:chgData name="Adriana Miriam Ylizaliturri Gomez" userId="c054c78c-207c-4278-ae44-884dbebca744" providerId="ADAL" clId="{9B871E66-1A30-42FF-AF18-83FDFD9111C9}" dt="2026-06-26T17:47:36.998" v="2107" actId="1035"/>
          <ac:graphicFrameMkLst>
            <pc:docMk/>
            <pc:sldMk cId="0" sldId="277"/>
            <ac:graphicFrameMk id="457" creationId="{00000000-0000-0000-0000-000000000000}"/>
          </ac:graphicFrameMkLst>
        </pc:graphicFrameChg>
        <pc:graphicFrameChg chg="mod">
          <ac:chgData name="Adriana Miriam Ylizaliturri Gomez" userId="c054c78c-207c-4278-ae44-884dbebca744" providerId="ADAL" clId="{9B871E66-1A30-42FF-AF18-83FDFD9111C9}" dt="2026-06-29T18:32:33.392" v="3170" actId="14861"/>
          <ac:graphicFrameMkLst>
            <pc:docMk/>
            <pc:sldMk cId="0" sldId="277"/>
            <ac:graphicFrameMk id="467" creationId="{00000000-0000-0000-0000-000000000000}"/>
          </ac:graphicFrameMkLst>
        </pc:graphicFrameChg>
        <pc:graphicFrameChg chg="mod modGraphic">
          <ac:chgData name="Adriana Miriam Ylizaliturri Gomez" userId="c054c78c-207c-4278-ae44-884dbebca744" providerId="ADAL" clId="{9B871E66-1A30-42FF-AF18-83FDFD9111C9}" dt="2026-06-29T18:32:28.208" v="3169" actId="14861"/>
          <ac:graphicFrameMkLst>
            <pc:docMk/>
            <pc:sldMk cId="0" sldId="277"/>
            <ac:graphicFrameMk id="468" creationId="{00000000-0000-0000-0000-000000000000}"/>
          </ac:graphicFrameMkLst>
        </pc:graphicFrameChg>
        <pc:graphicFrameChg chg="mod">
          <ac:chgData name="Adriana Miriam Ylizaliturri Gomez" userId="c054c78c-207c-4278-ae44-884dbebca744" providerId="ADAL" clId="{9B871E66-1A30-42FF-AF18-83FDFD9111C9}" dt="2026-06-29T18:32:24.506" v="3168" actId="14861"/>
          <ac:graphicFrameMkLst>
            <pc:docMk/>
            <pc:sldMk cId="0" sldId="277"/>
            <ac:graphicFrameMk id="469" creationId="{00000000-0000-0000-0000-000000000000}"/>
          </ac:graphicFrameMkLst>
        </pc:graphicFrameChg>
        <pc:picChg chg="mod">
          <ac:chgData name="Adriana Miriam Ylizaliturri Gomez" userId="c054c78c-207c-4278-ae44-884dbebca744" providerId="ADAL" clId="{9B871E66-1A30-42FF-AF18-83FDFD9111C9}" dt="2026-06-29T17:38:49.615" v="2847" actId="1035"/>
          <ac:picMkLst>
            <pc:docMk/>
            <pc:sldMk cId="0" sldId="277"/>
            <ac:picMk id="458" creationId="{00000000-0000-0000-0000-000000000000}"/>
          </ac:picMkLst>
        </pc:picChg>
        <pc:picChg chg="mod">
          <ac:chgData name="Adriana Miriam Ylizaliturri Gomez" userId="c054c78c-207c-4278-ae44-884dbebca744" providerId="ADAL" clId="{9B871E66-1A30-42FF-AF18-83FDFD9111C9}" dt="2026-06-29T17:38:47.948" v="2844" actId="1035"/>
          <ac:picMkLst>
            <pc:docMk/>
            <pc:sldMk cId="0" sldId="277"/>
            <ac:picMk id="459" creationId="{00000000-0000-0000-0000-000000000000}"/>
          </ac:picMkLst>
        </pc:picChg>
        <pc:picChg chg="mod">
          <ac:chgData name="Adriana Miriam Ylizaliturri Gomez" userId="c054c78c-207c-4278-ae44-884dbebca744" providerId="ADAL" clId="{9B871E66-1A30-42FF-AF18-83FDFD9111C9}" dt="2026-06-29T18:32:40.817" v="3197" actId="1036"/>
          <ac:picMkLst>
            <pc:docMk/>
            <pc:sldMk cId="0" sldId="277"/>
            <ac:picMk id="470" creationId="{00000000-0000-0000-0000-000000000000}"/>
          </ac:picMkLst>
        </pc:picChg>
      </pc:sldChg>
      <pc:sldChg chg="modSp mod">
        <pc:chgData name="Adriana Miriam Ylizaliturri Gomez" userId="c054c78c-207c-4278-ae44-884dbebca744" providerId="ADAL" clId="{9B871E66-1A30-42FF-AF18-83FDFD9111C9}" dt="2026-06-29T18:02:07.748" v="3092" actId="1036"/>
        <pc:sldMkLst>
          <pc:docMk/>
          <pc:sldMk cId="0" sldId="279"/>
        </pc:sldMkLst>
        <pc:spChg chg="mod">
          <ac:chgData name="Adriana Miriam Ylizaliturri Gomez" userId="c054c78c-207c-4278-ae44-884dbebca744" providerId="ADAL" clId="{9B871E66-1A30-42FF-AF18-83FDFD9111C9}" dt="2026-06-29T18:02:07.748" v="3092" actId="1036"/>
          <ac:spMkLst>
            <pc:docMk/>
            <pc:sldMk cId="0" sldId="279"/>
            <ac:spMk id="502" creationId="{00000000-0000-0000-0000-000000000000}"/>
          </ac:spMkLst>
        </pc:spChg>
        <pc:spChg chg="mod">
          <ac:chgData name="Adriana Miriam Ylizaliturri Gomez" userId="c054c78c-207c-4278-ae44-884dbebca744" providerId="ADAL" clId="{9B871E66-1A30-42FF-AF18-83FDFD9111C9}" dt="2026-06-29T18:01:55.141" v="3057" actId="1037"/>
          <ac:spMkLst>
            <pc:docMk/>
            <pc:sldMk cId="0" sldId="279"/>
            <ac:spMk id="505" creationId="{00000000-0000-0000-0000-000000000000}"/>
          </ac:spMkLst>
        </pc:spChg>
        <pc:spChg chg="mod">
          <ac:chgData name="Adriana Miriam Ylizaliturri Gomez" userId="c054c78c-207c-4278-ae44-884dbebca744" providerId="ADAL" clId="{9B871E66-1A30-42FF-AF18-83FDFD9111C9}" dt="2026-06-29T18:01:55.141" v="3057" actId="1037"/>
          <ac:spMkLst>
            <pc:docMk/>
            <pc:sldMk cId="0" sldId="279"/>
            <ac:spMk id="506" creationId="{00000000-0000-0000-0000-000000000000}"/>
          </ac:spMkLst>
        </pc:spChg>
        <pc:spChg chg="mod">
          <ac:chgData name="Adriana Miriam Ylizaliturri Gomez" userId="c054c78c-207c-4278-ae44-884dbebca744" providerId="ADAL" clId="{9B871E66-1A30-42FF-AF18-83FDFD9111C9}" dt="2026-06-29T18:01:55.141" v="3057" actId="1037"/>
          <ac:spMkLst>
            <pc:docMk/>
            <pc:sldMk cId="0" sldId="279"/>
            <ac:spMk id="507" creationId="{00000000-0000-0000-0000-000000000000}"/>
          </ac:spMkLst>
        </pc:spChg>
        <pc:spChg chg="mod">
          <ac:chgData name="Adriana Miriam Ylizaliturri Gomez" userId="c054c78c-207c-4278-ae44-884dbebca744" providerId="ADAL" clId="{9B871E66-1A30-42FF-AF18-83FDFD9111C9}" dt="2026-06-29T18:01:55.141" v="3057" actId="1037"/>
          <ac:spMkLst>
            <pc:docMk/>
            <pc:sldMk cId="0" sldId="279"/>
            <ac:spMk id="508" creationId="{00000000-0000-0000-0000-000000000000}"/>
          </ac:spMkLst>
        </pc:spChg>
        <pc:spChg chg="mod">
          <ac:chgData name="Adriana Miriam Ylizaliturri Gomez" userId="c054c78c-207c-4278-ae44-884dbebca744" providerId="ADAL" clId="{9B871E66-1A30-42FF-AF18-83FDFD9111C9}" dt="2026-06-29T18:01:55.141" v="3057" actId="1037"/>
          <ac:spMkLst>
            <pc:docMk/>
            <pc:sldMk cId="0" sldId="279"/>
            <ac:spMk id="509" creationId="{00000000-0000-0000-0000-000000000000}"/>
          </ac:spMkLst>
        </pc:spChg>
        <pc:spChg chg="mod">
          <ac:chgData name="Adriana Miriam Ylizaliturri Gomez" userId="c054c78c-207c-4278-ae44-884dbebca744" providerId="ADAL" clId="{9B871E66-1A30-42FF-AF18-83FDFD9111C9}" dt="2026-06-29T18:01:55.141" v="3057" actId="1037"/>
          <ac:spMkLst>
            <pc:docMk/>
            <pc:sldMk cId="0" sldId="279"/>
            <ac:spMk id="510" creationId="{00000000-0000-0000-0000-000000000000}"/>
          </ac:spMkLst>
        </pc:spChg>
        <pc:spChg chg="mod">
          <ac:chgData name="Adriana Miriam Ylizaliturri Gomez" userId="c054c78c-207c-4278-ae44-884dbebca744" providerId="ADAL" clId="{9B871E66-1A30-42FF-AF18-83FDFD9111C9}" dt="2026-06-29T18:01:55.141" v="3057" actId="1037"/>
          <ac:spMkLst>
            <pc:docMk/>
            <pc:sldMk cId="0" sldId="279"/>
            <ac:spMk id="511" creationId="{00000000-0000-0000-0000-000000000000}"/>
          </ac:spMkLst>
        </pc:spChg>
        <pc:spChg chg="mod">
          <ac:chgData name="Adriana Miriam Ylizaliturri Gomez" userId="c054c78c-207c-4278-ae44-884dbebca744" providerId="ADAL" clId="{9B871E66-1A30-42FF-AF18-83FDFD9111C9}" dt="2026-06-29T18:01:55.141" v="3057" actId="1037"/>
          <ac:spMkLst>
            <pc:docMk/>
            <pc:sldMk cId="0" sldId="279"/>
            <ac:spMk id="512" creationId="{00000000-0000-0000-0000-000000000000}"/>
          </ac:spMkLst>
        </pc:spChg>
        <pc:spChg chg="mod">
          <ac:chgData name="Adriana Miriam Ylizaliturri Gomez" userId="c054c78c-207c-4278-ae44-884dbebca744" providerId="ADAL" clId="{9B871E66-1A30-42FF-AF18-83FDFD9111C9}" dt="2026-06-29T18:01:55.141" v="3057" actId="1037"/>
          <ac:spMkLst>
            <pc:docMk/>
            <pc:sldMk cId="0" sldId="279"/>
            <ac:spMk id="513" creationId="{00000000-0000-0000-0000-000000000000}"/>
          </ac:spMkLst>
        </pc:spChg>
        <pc:spChg chg="mod">
          <ac:chgData name="Adriana Miriam Ylizaliturri Gomez" userId="c054c78c-207c-4278-ae44-884dbebca744" providerId="ADAL" clId="{9B871E66-1A30-42FF-AF18-83FDFD9111C9}" dt="2026-06-26T18:11:18.679" v="2388" actId="20577"/>
          <ac:spMkLst>
            <pc:docMk/>
            <pc:sldMk cId="0" sldId="279"/>
            <ac:spMk id="515" creationId="{00000000-0000-0000-0000-000000000000}"/>
          </ac:spMkLst>
        </pc:spChg>
        <pc:graphicFrameChg chg="mod">
          <ac:chgData name="Adriana Miriam Ylizaliturri Gomez" userId="c054c78c-207c-4278-ae44-884dbebca744" providerId="ADAL" clId="{9B871E66-1A30-42FF-AF18-83FDFD9111C9}" dt="2026-06-29T18:01:55.141" v="3057" actId="1037"/>
          <ac:graphicFrameMkLst>
            <pc:docMk/>
            <pc:sldMk cId="0" sldId="279"/>
            <ac:graphicFrameMk id="504" creationId="{00000000-0000-0000-0000-000000000000}"/>
          </ac:graphicFrameMkLst>
        </pc:graphicFrameChg>
        <pc:graphicFrameChg chg="mod modGraphic">
          <ac:chgData name="Adriana Miriam Ylizaliturri Gomez" userId="c054c78c-207c-4278-ae44-884dbebca744" providerId="ADAL" clId="{9B871E66-1A30-42FF-AF18-83FDFD9111C9}" dt="2026-06-29T17:59:19.792" v="3031" actId="14861"/>
          <ac:graphicFrameMkLst>
            <pc:docMk/>
            <pc:sldMk cId="0" sldId="279"/>
            <ac:graphicFrameMk id="514" creationId="{00000000-0000-0000-0000-000000000000}"/>
          </ac:graphicFrameMkLst>
        </pc:graphicFrameChg>
        <pc:picChg chg="mod">
          <ac:chgData name="Adriana Miriam Ylizaliturri Gomez" userId="c054c78c-207c-4278-ae44-884dbebca744" providerId="ADAL" clId="{9B871E66-1A30-42FF-AF18-83FDFD9111C9}" dt="2026-06-29T18:02:07.748" v="3092" actId="1036"/>
          <ac:picMkLst>
            <pc:docMk/>
            <pc:sldMk cId="0" sldId="279"/>
            <ac:picMk id="493" creationId="{00000000-0000-0000-0000-000000000000}"/>
          </ac:picMkLst>
        </pc:picChg>
      </pc:sldChg>
      <pc:sldChg chg="modSp mod">
        <pc:chgData name="Adriana Miriam Ylizaliturri Gomez" userId="c054c78c-207c-4278-ae44-884dbebca744" providerId="ADAL" clId="{9B871E66-1A30-42FF-AF18-83FDFD9111C9}" dt="2026-06-29T18:28:33.121" v="3102" actId="122"/>
        <pc:sldMkLst>
          <pc:docMk/>
          <pc:sldMk cId="540716406" sldId="280"/>
        </pc:sldMkLst>
        <pc:graphicFrameChg chg="modGraphic">
          <ac:chgData name="Adriana Miriam Ylizaliturri Gomez" userId="c054c78c-207c-4278-ae44-884dbebca744" providerId="ADAL" clId="{9B871E66-1A30-42FF-AF18-83FDFD9111C9}" dt="2026-06-29T18:28:33.121" v="3102" actId="122"/>
          <ac:graphicFrameMkLst>
            <pc:docMk/>
            <pc:sldMk cId="540716406" sldId="280"/>
            <ac:graphicFrameMk id="236" creationId="{00000000-0000-0000-0000-000000000000}"/>
          </ac:graphicFrameMkLst>
        </pc:graphicFrameChg>
      </pc:sldChg>
      <pc:sldChg chg="modSp mod">
        <pc:chgData name="Adriana Miriam Ylizaliturri Gomez" userId="c054c78c-207c-4278-ae44-884dbebca744" providerId="ADAL" clId="{9B871E66-1A30-42FF-AF18-83FDFD9111C9}" dt="2026-06-29T18:28:50.154" v="3104" actId="122"/>
        <pc:sldMkLst>
          <pc:docMk/>
          <pc:sldMk cId="3828482411" sldId="281"/>
        </pc:sldMkLst>
        <pc:graphicFrameChg chg="modGraphic">
          <ac:chgData name="Adriana Miriam Ylizaliturri Gomez" userId="c054c78c-207c-4278-ae44-884dbebca744" providerId="ADAL" clId="{9B871E66-1A30-42FF-AF18-83FDFD9111C9}" dt="2026-06-29T18:28:50.154" v="3104" actId="122"/>
          <ac:graphicFrameMkLst>
            <pc:docMk/>
            <pc:sldMk cId="3828482411" sldId="281"/>
            <ac:graphicFrameMk id="5" creationId="{00000000-0000-0000-0000-000000000000}"/>
          </ac:graphicFrameMkLst>
        </pc:graphicFrameChg>
      </pc:sldChg>
      <pc:sldChg chg="modSp mod">
        <pc:chgData name="Adriana Miriam Ylizaliturri Gomez" userId="c054c78c-207c-4278-ae44-884dbebca744" providerId="ADAL" clId="{9B871E66-1A30-42FF-AF18-83FDFD9111C9}" dt="2026-06-29T18:33:31.884" v="3199" actId="122"/>
        <pc:sldMkLst>
          <pc:docMk/>
          <pc:sldMk cId="748044913" sldId="287"/>
        </pc:sldMkLst>
        <pc:spChg chg="mod">
          <ac:chgData name="Adriana Miriam Ylizaliturri Gomez" userId="c054c78c-207c-4278-ae44-884dbebca744" providerId="ADAL" clId="{9B871E66-1A30-42FF-AF18-83FDFD9111C9}" dt="2026-06-25T23:48:42.222" v="186" actId="20577"/>
          <ac:spMkLst>
            <pc:docMk/>
            <pc:sldMk cId="748044913" sldId="287"/>
            <ac:spMk id="232" creationId="{00000000-0000-0000-0000-000000000000}"/>
          </ac:spMkLst>
        </pc:spChg>
        <pc:graphicFrameChg chg="mod modGraphic">
          <ac:chgData name="Adriana Miriam Ylizaliturri Gomez" userId="c054c78c-207c-4278-ae44-884dbebca744" providerId="ADAL" clId="{9B871E66-1A30-42FF-AF18-83FDFD9111C9}" dt="2026-06-29T18:33:31.884" v="3199" actId="122"/>
          <ac:graphicFrameMkLst>
            <pc:docMk/>
            <pc:sldMk cId="748044913" sldId="287"/>
            <ac:graphicFrameMk id="236" creationId="{00000000-0000-0000-0000-000000000000}"/>
          </ac:graphicFrameMkLst>
        </pc:graphicFrameChg>
      </pc:sldChg>
      <pc:sldChg chg="addSp modSp mod">
        <pc:chgData name="Adriana Miriam Ylizaliturri Gomez" userId="c054c78c-207c-4278-ae44-884dbebca744" providerId="ADAL" clId="{9B871E66-1A30-42FF-AF18-83FDFD9111C9}" dt="2026-06-29T18:29:01.351" v="3108" actId="122"/>
        <pc:sldMkLst>
          <pc:docMk/>
          <pc:sldMk cId="3805655920" sldId="288"/>
        </pc:sldMkLst>
        <pc:spChg chg="mod">
          <ac:chgData name="Adriana Miriam Ylizaliturri Gomez" userId="c054c78c-207c-4278-ae44-884dbebca744" providerId="ADAL" clId="{9B871E66-1A30-42FF-AF18-83FDFD9111C9}" dt="2026-06-26T00:08:52.886" v="697" actId="1076"/>
          <ac:spMkLst>
            <pc:docMk/>
            <pc:sldMk cId="3805655920" sldId="288"/>
            <ac:spMk id="4" creationId="{00000000-0000-0000-0000-000000000000}"/>
          </ac:spMkLst>
        </pc:spChg>
        <pc:spChg chg="add mod">
          <ac:chgData name="Adriana Miriam Ylizaliturri Gomez" userId="c054c78c-207c-4278-ae44-884dbebca744" providerId="ADAL" clId="{9B871E66-1A30-42FF-AF18-83FDFD9111C9}" dt="2026-06-29T17:09:43.777" v="2661" actId="20577"/>
          <ac:spMkLst>
            <pc:docMk/>
            <pc:sldMk cId="3805655920" sldId="288"/>
            <ac:spMk id="8" creationId="{6599FD30-3B89-C326-8784-B0043F7B5198}"/>
          </ac:spMkLst>
        </pc:spChg>
        <pc:spChg chg="add mod">
          <ac:chgData name="Adriana Miriam Ylizaliturri Gomez" userId="c054c78c-207c-4278-ae44-884dbebca744" providerId="ADAL" clId="{9B871E66-1A30-42FF-AF18-83FDFD9111C9}" dt="2026-06-26T00:12:34.099" v="843" actId="1035"/>
          <ac:spMkLst>
            <pc:docMk/>
            <pc:sldMk cId="3805655920" sldId="288"/>
            <ac:spMk id="16" creationId="{97590573-94B2-0D0E-8C3F-C87990C4E9C3}"/>
          </ac:spMkLst>
        </pc:spChg>
        <pc:spChg chg="add mod">
          <ac:chgData name="Adriana Miriam Ylizaliturri Gomez" userId="c054c78c-207c-4278-ae44-884dbebca744" providerId="ADAL" clId="{9B871E66-1A30-42FF-AF18-83FDFD9111C9}" dt="2026-06-26T00:12:34.099" v="843" actId="1035"/>
          <ac:spMkLst>
            <pc:docMk/>
            <pc:sldMk cId="3805655920" sldId="288"/>
            <ac:spMk id="18" creationId="{8DE9ACF5-405A-A6AF-EFFF-B343DF1C9077}"/>
          </ac:spMkLst>
        </pc:spChg>
        <pc:spChg chg="add mod">
          <ac:chgData name="Adriana Miriam Ylizaliturri Gomez" userId="c054c78c-207c-4278-ae44-884dbebca744" providerId="ADAL" clId="{9B871E66-1A30-42FF-AF18-83FDFD9111C9}" dt="2026-06-26T00:12:34.099" v="843" actId="1035"/>
          <ac:spMkLst>
            <pc:docMk/>
            <pc:sldMk cId="3805655920" sldId="288"/>
            <ac:spMk id="20" creationId="{7C98485A-5046-1277-070C-1C958FFDB7D4}"/>
          </ac:spMkLst>
        </pc:spChg>
        <pc:spChg chg="add mod">
          <ac:chgData name="Adriana Miriam Ylizaliturri Gomez" userId="c054c78c-207c-4278-ae44-884dbebca744" providerId="ADAL" clId="{9B871E66-1A30-42FF-AF18-83FDFD9111C9}" dt="2026-06-26T00:12:34.099" v="843" actId="1035"/>
          <ac:spMkLst>
            <pc:docMk/>
            <pc:sldMk cId="3805655920" sldId="288"/>
            <ac:spMk id="22" creationId="{4168D3DE-A719-66D0-E225-90744DC20212}"/>
          </ac:spMkLst>
        </pc:spChg>
        <pc:graphicFrameChg chg="mod">
          <ac:chgData name="Adriana Miriam Ylizaliturri Gomez" userId="c054c78c-207c-4278-ae44-884dbebca744" providerId="ADAL" clId="{9B871E66-1A30-42FF-AF18-83FDFD9111C9}" dt="2026-06-26T00:07:48.611" v="646" actId="1035"/>
          <ac:graphicFrameMkLst>
            <pc:docMk/>
            <pc:sldMk cId="3805655920" sldId="288"/>
            <ac:graphicFrameMk id="2" creationId="{564D4000-DD68-6F07-1EFC-E272982FC05C}"/>
          </ac:graphicFrameMkLst>
        </pc:graphicFrameChg>
        <pc:graphicFrameChg chg="mod modGraphic">
          <ac:chgData name="Adriana Miriam Ylizaliturri Gomez" userId="c054c78c-207c-4278-ae44-884dbebca744" providerId="ADAL" clId="{9B871E66-1A30-42FF-AF18-83FDFD9111C9}" dt="2026-06-29T18:28:59.120" v="3107" actId="122"/>
          <ac:graphicFrameMkLst>
            <pc:docMk/>
            <pc:sldMk cId="3805655920" sldId="288"/>
            <ac:graphicFrameMk id="5" creationId="{00000000-0000-0000-0000-000000000000}"/>
          </ac:graphicFrameMkLst>
        </pc:graphicFrameChg>
        <pc:graphicFrameChg chg="mod modGraphic">
          <ac:chgData name="Adriana Miriam Ylizaliturri Gomez" userId="c054c78c-207c-4278-ae44-884dbebca744" providerId="ADAL" clId="{9B871E66-1A30-42FF-AF18-83FDFD9111C9}" dt="2026-06-29T18:29:01.351" v="3108" actId="122"/>
          <ac:graphicFrameMkLst>
            <pc:docMk/>
            <pc:sldMk cId="3805655920" sldId="288"/>
            <ac:graphicFrameMk id="6" creationId="{00000000-0000-0000-0000-000000000000}"/>
          </ac:graphicFrameMkLst>
        </pc:graphicFrameChg>
        <pc:graphicFrameChg chg="add mod">
          <ac:chgData name="Adriana Miriam Ylizaliturri Gomez" userId="c054c78c-207c-4278-ae44-884dbebca744" providerId="ADAL" clId="{9B871E66-1A30-42FF-AF18-83FDFD9111C9}" dt="2026-06-26T00:12:34.099" v="843" actId="1035"/>
          <ac:graphicFrameMkLst>
            <pc:docMk/>
            <pc:sldMk cId="3805655920" sldId="288"/>
            <ac:graphicFrameMk id="10" creationId="{30D6B683-646C-B1F5-19BF-D5F2037683B5}"/>
          </ac:graphicFrameMkLst>
        </pc:graphicFrameChg>
        <pc:graphicFrameChg chg="add mod">
          <ac:chgData name="Adriana Miriam Ylizaliturri Gomez" userId="c054c78c-207c-4278-ae44-884dbebca744" providerId="ADAL" clId="{9B871E66-1A30-42FF-AF18-83FDFD9111C9}" dt="2026-06-26T00:12:34.099" v="843" actId="1035"/>
          <ac:graphicFrameMkLst>
            <pc:docMk/>
            <pc:sldMk cId="3805655920" sldId="288"/>
            <ac:graphicFrameMk id="12" creationId="{65FD01F2-683B-B820-AC3E-04BFD232B76E}"/>
          </ac:graphicFrameMkLst>
        </pc:graphicFrameChg>
        <pc:graphicFrameChg chg="mod">
          <ac:chgData name="Adriana Miriam Ylizaliturri Gomez" userId="c054c78c-207c-4278-ae44-884dbebca744" providerId="ADAL" clId="{9B871E66-1A30-42FF-AF18-83FDFD9111C9}" dt="2026-06-26T00:12:15.125" v="784" actId="1036"/>
          <ac:graphicFrameMkLst>
            <pc:docMk/>
            <pc:sldMk cId="3805655920" sldId="288"/>
            <ac:graphicFrameMk id="14" creationId="{3192347C-F6A3-ACDB-A089-37A14A8FD651}"/>
          </ac:graphicFrameMkLst>
        </pc:graphicFrameChg>
        <pc:picChg chg="add mod">
          <ac:chgData name="Adriana Miriam Ylizaliturri Gomez" userId="c054c78c-207c-4278-ae44-884dbebca744" providerId="ADAL" clId="{9B871E66-1A30-42FF-AF18-83FDFD9111C9}" dt="2026-06-26T00:12:34.099" v="843" actId="1035"/>
          <ac:picMkLst>
            <pc:docMk/>
            <pc:sldMk cId="3805655920" sldId="288"/>
            <ac:picMk id="24" creationId="{127D752D-6C95-C9E4-847F-D8626738C749}"/>
          </ac:picMkLst>
        </pc:picChg>
        <pc:picChg chg="add mod">
          <ac:chgData name="Adriana Miriam Ylizaliturri Gomez" userId="c054c78c-207c-4278-ae44-884dbebca744" providerId="ADAL" clId="{9B871E66-1A30-42FF-AF18-83FDFD9111C9}" dt="2026-06-26T00:12:34.099" v="843" actId="1035"/>
          <ac:picMkLst>
            <pc:docMk/>
            <pc:sldMk cId="3805655920" sldId="288"/>
            <ac:picMk id="26" creationId="{8A135008-EFD9-B08B-07E8-83352349E8E6}"/>
          </ac:picMkLst>
        </pc:picChg>
        <pc:picChg chg="add mod">
          <ac:chgData name="Adriana Miriam Ylizaliturri Gomez" userId="c054c78c-207c-4278-ae44-884dbebca744" providerId="ADAL" clId="{9B871E66-1A30-42FF-AF18-83FDFD9111C9}" dt="2026-06-26T00:12:34.099" v="843" actId="1035"/>
          <ac:picMkLst>
            <pc:docMk/>
            <pc:sldMk cId="3805655920" sldId="288"/>
            <ac:picMk id="28" creationId="{666FAE4F-9F78-CB9C-D6C6-9C4C1DFEC08C}"/>
          </ac:picMkLst>
        </pc:picChg>
      </pc:sldChg>
      <pc:sldChg chg="addSp delSp modSp del mod">
        <pc:chgData name="Adriana Miriam Ylizaliturri Gomez" userId="c054c78c-207c-4278-ae44-884dbebca744" providerId="ADAL" clId="{9B871E66-1A30-42FF-AF18-83FDFD9111C9}" dt="2026-07-02T17:45:55.693" v="3264" actId="47"/>
        <pc:sldMkLst>
          <pc:docMk/>
          <pc:sldMk cId="3763779569" sldId="289"/>
        </pc:sldMkLst>
        <pc:spChg chg="add del">
          <ac:chgData name="Adriana Miriam Ylizaliturri Gomez" userId="c054c78c-207c-4278-ae44-884dbebca744" providerId="ADAL" clId="{9B871E66-1A30-42FF-AF18-83FDFD9111C9}" dt="2026-07-02T17:45:28.697" v="3261" actId="478"/>
          <ac:spMkLst>
            <pc:docMk/>
            <pc:sldMk cId="3763779569" sldId="289"/>
            <ac:spMk id="3" creationId="{00000000-0000-0000-0000-000000000000}"/>
          </ac:spMkLst>
        </pc:spChg>
        <pc:spChg chg="add del">
          <ac:chgData name="Adriana Miriam Ylizaliturri Gomez" userId="c054c78c-207c-4278-ae44-884dbebca744" providerId="ADAL" clId="{9B871E66-1A30-42FF-AF18-83FDFD9111C9}" dt="2026-07-02T17:45:25.967" v="3260" actId="478"/>
          <ac:spMkLst>
            <pc:docMk/>
            <pc:sldMk cId="3763779569" sldId="289"/>
            <ac:spMk id="5" creationId="{3A50BED8-C3B0-97AD-6D26-8DE2C338996E}"/>
          </ac:spMkLst>
        </pc:spChg>
        <pc:spChg chg="add">
          <ac:chgData name="Adriana Miriam Ylizaliturri Gomez" userId="c054c78c-207c-4278-ae44-884dbebca744" providerId="ADAL" clId="{9B871E66-1A30-42FF-AF18-83FDFD9111C9}" dt="2026-07-02T17:40:31.582" v="3255"/>
          <ac:spMkLst>
            <pc:docMk/>
            <pc:sldMk cId="3763779569" sldId="289"/>
            <ac:spMk id="6" creationId="{C101475B-8F32-57AA-6E11-EB5B5FD3A072}"/>
          </ac:spMkLst>
        </pc:spChg>
        <pc:spChg chg="add del">
          <ac:chgData name="Adriana Miriam Ylizaliturri Gomez" userId="c054c78c-207c-4278-ae44-884dbebca744" providerId="ADAL" clId="{9B871E66-1A30-42FF-AF18-83FDFD9111C9}" dt="2026-07-02T17:45:25.967" v="3260" actId="478"/>
          <ac:spMkLst>
            <pc:docMk/>
            <pc:sldMk cId="3763779569" sldId="289"/>
            <ac:spMk id="9" creationId="{62CF530E-631F-B2B0-4009-62B20BC601FD}"/>
          </ac:spMkLst>
        </pc:spChg>
        <pc:spChg chg="add">
          <ac:chgData name="Adriana Miriam Ylizaliturri Gomez" userId="c054c78c-207c-4278-ae44-884dbebca744" providerId="ADAL" clId="{9B871E66-1A30-42FF-AF18-83FDFD9111C9}" dt="2026-07-02T17:45:30.054" v="3262" actId="22"/>
          <ac:spMkLst>
            <pc:docMk/>
            <pc:sldMk cId="3763779569" sldId="289"/>
            <ac:spMk id="10" creationId="{716522E0-7C60-FED6-19ED-91A525208168}"/>
          </ac:spMkLst>
        </pc:spChg>
        <pc:spChg chg="add">
          <ac:chgData name="Adriana Miriam Ylizaliturri Gomez" userId="c054c78c-207c-4278-ae44-884dbebca744" providerId="ADAL" clId="{9B871E66-1A30-42FF-AF18-83FDFD9111C9}" dt="2026-07-02T17:45:30.054" v="3262" actId="22"/>
          <ac:spMkLst>
            <pc:docMk/>
            <pc:sldMk cId="3763779569" sldId="289"/>
            <ac:spMk id="18" creationId="{A7F98A77-BB1B-1E1D-065A-373D31B5AC89}"/>
          </ac:spMkLst>
        </pc:spChg>
        <pc:graphicFrameChg chg="add del mod modGraphic">
          <ac:chgData name="Adriana Miriam Ylizaliturri Gomez" userId="c054c78c-207c-4278-ae44-884dbebca744" providerId="ADAL" clId="{9B871E66-1A30-42FF-AF18-83FDFD9111C9}" dt="2026-07-02T17:40:51.921" v="3259" actId="478"/>
          <ac:graphicFrameMkLst>
            <pc:docMk/>
            <pc:sldMk cId="3763779569" sldId="289"/>
            <ac:graphicFrameMk id="2" creationId="{56418D1F-2871-A644-2516-136649199C69}"/>
          </ac:graphicFrameMkLst>
        </pc:graphicFrameChg>
        <pc:graphicFrameChg chg="del">
          <ac:chgData name="Adriana Miriam Ylizaliturri Gomez" userId="c054c78c-207c-4278-ae44-884dbebca744" providerId="ADAL" clId="{9B871E66-1A30-42FF-AF18-83FDFD9111C9}" dt="2026-07-02T17:40:49.721" v="3257" actId="478"/>
          <ac:graphicFrameMkLst>
            <pc:docMk/>
            <pc:sldMk cId="3763779569" sldId="289"/>
            <ac:graphicFrameMk id="7" creationId="{AE124E82-49EE-8987-82A6-D641B52741E9}"/>
          </ac:graphicFrameMkLst>
        </pc:graphicFrameChg>
        <pc:picChg chg="add del mod">
          <ac:chgData name="Adriana Miriam Ylizaliturri Gomez" userId="c054c78c-207c-4278-ae44-884dbebca744" providerId="ADAL" clId="{9B871E66-1A30-42FF-AF18-83FDFD9111C9}" dt="2026-07-02T17:40:49.721" v="3257" actId="478"/>
          <ac:picMkLst>
            <pc:docMk/>
            <pc:sldMk cId="3763779569" sldId="289"/>
            <ac:picMk id="11" creationId="{0A3DE95F-F6C5-0096-5457-74ED74C081F5}"/>
          </ac:picMkLst>
        </pc:picChg>
        <pc:picChg chg="add del mod">
          <ac:chgData name="Adriana Miriam Ylizaliturri Gomez" userId="c054c78c-207c-4278-ae44-884dbebca744" providerId="ADAL" clId="{9B871E66-1A30-42FF-AF18-83FDFD9111C9}" dt="2026-07-02T17:40:49.721" v="3257" actId="478"/>
          <ac:picMkLst>
            <pc:docMk/>
            <pc:sldMk cId="3763779569" sldId="289"/>
            <ac:picMk id="13" creationId="{3434F607-E35E-ACEC-8A06-C1F1686E50FE}"/>
          </ac:picMkLst>
        </pc:picChg>
        <pc:picChg chg="del">
          <ac:chgData name="Adriana Miriam Ylizaliturri Gomez" userId="c054c78c-207c-4278-ae44-884dbebca744" providerId="ADAL" clId="{9B871E66-1A30-42FF-AF18-83FDFD9111C9}" dt="2026-07-02T17:40:49.721" v="3257" actId="478"/>
          <ac:picMkLst>
            <pc:docMk/>
            <pc:sldMk cId="3763779569" sldId="289"/>
            <ac:picMk id="15" creationId="{ED11DCAD-4A47-769E-41C4-B8AF1F6029E7}"/>
          </ac:picMkLst>
        </pc:picChg>
        <pc:picChg chg="add del mod">
          <ac:chgData name="Adriana Miriam Ylizaliturri Gomez" userId="c054c78c-207c-4278-ae44-884dbebca744" providerId="ADAL" clId="{9B871E66-1A30-42FF-AF18-83FDFD9111C9}" dt="2026-07-02T17:40:49.721" v="3257" actId="478"/>
          <ac:picMkLst>
            <pc:docMk/>
            <pc:sldMk cId="3763779569" sldId="289"/>
            <ac:picMk id="17" creationId="{97BF8728-F9C2-9F18-CA5A-843B52C08EA5}"/>
          </ac:picMkLst>
        </pc:picChg>
        <pc:picChg chg="add del mod">
          <ac:chgData name="Adriana Miriam Ylizaliturri Gomez" userId="c054c78c-207c-4278-ae44-884dbebca744" providerId="ADAL" clId="{9B871E66-1A30-42FF-AF18-83FDFD9111C9}" dt="2026-07-02T17:40:49.721" v="3257" actId="478"/>
          <ac:picMkLst>
            <pc:docMk/>
            <pc:sldMk cId="3763779569" sldId="289"/>
            <ac:picMk id="19" creationId="{DDFDDA92-D8E9-2E91-6800-D5E5B6C35CF5}"/>
          </ac:picMkLst>
        </pc:picChg>
        <pc:picChg chg="add del mod">
          <ac:chgData name="Adriana Miriam Ylizaliturri Gomez" userId="c054c78c-207c-4278-ae44-884dbebca744" providerId="ADAL" clId="{9B871E66-1A30-42FF-AF18-83FDFD9111C9}" dt="2026-07-02T17:40:49.721" v="3257" actId="478"/>
          <ac:picMkLst>
            <pc:docMk/>
            <pc:sldMk cId="3763779569" sldId="289"/>
            <ac:picMk id="21" creationId="{12D3F4D4-7E63-19EB-D00B-5D3DD686B50A}"/>
          </ac:picMkLst>
        </pc:picChg>
        <pc:picChg chg="add">
          <ac:chgData name="Adriana Miriam Ylizaliturri Gomez" userId="c054c78c-207c-4278-ae44-884dbebca744" providerId="ADAL" clId="{9B871E66-1A30-42FF-AF18-83FDFD9111C9}" dt="2026-07-02T17:45:30.054" v="3262" actId="22"/>
          <ac:picMkLst>
            <pc:docMk/>
            <pc:sldMk cId="3763779569" sldId="289"/>
            <ac:picMk id="22" creationId="{403EB2D4-61B8-1CD9-55A5-492FDC13030D}"/>
          </ac:picMkLst>
        </pc:picChg>
        <pc:picChg chg="del">
          <ac:chgData name="Adriana Miriam Ylizaliturri Gomez" userId="c054c78c-207c-4278-ae44-884dbebca744" providerId="ADAL" clId="{9B871E66-1A30-42FF-AF18-83FDFD9111C9}" dt="2026-07-02T17:40:49.721" v="3257" actId="478"/>
          <ac:picMkLst>
            <pc:docMk/>
            <pc:sldMk cId="3763779569" sldId="289"/>
            <ac:picMk id="23" creationId="{70A52B7F-5147-709E-BD68-2396DBB72502}"/>
          </ac:picMkLst>
        </pc:picChg>
        <pc:picChg chg="add del mod">
          <ac:chgData name="Adriana Miriam Ylizaliturri Gomez" userId="c054c78c-207c-4278-ae44-884dbebca744" providerId="ADAL" clId="{9B871E66-1A30-42FF-AF18-83FDFD9111C9}" dt="2026-07-02T17:40:49.721" v="3257" actId="478"/>
          <ac:picMkLst>
            <pc:docMk/>
            <pc:sldMk cId="3763779569" sldId="289"/>
            <ac:picMk id="25" creationId="{E5C38660-3A17-E0CD-F277-AC9C6A7958CD}"/>
          </ac:picMkLst>
        </pc:picChg>
        <pc:picChg chg="add">
          <ac:chgData name="Adriana Miriam Ylizaliturri Gomez" userId="c054c78c-207c-4278-ae44-884dbebca744" providerId="ADAL" clId="{9B871E66-1A30-42FF-AF18-83FDFD9111C9}" dt="2026-07-02T17:45:30.054" v="3262" actId="22"/>
          <ac:picMkLst>
            <pc:docMk/>
            <pc:sldMk cId="3763779569" sldId="289"/>
            <ac:picMk id="26" creationId="{1A15DE7C-B6C6-A53A-C23B-C9B2FAE77C4F}"/>
          </ac:picMkLst>
        </pc:picChg>
        <pc:picChg chg="add del">
          <ac:chgData name="Adriana Miriam Ylizaliturri Gomez" userId="c054c78c-207c-4278-ae44-884dbebca744" providerId="ADAL" clId="{9B871E66-1A30-42FF-AF18-83FDFD9111C9}" dt="2026-07-02T17:45:25.967" v="3260" actId="478"/>
          <ac:picMkLst>
            <pc:docMk/>
            <pc:sldMk cId="3763779569" sldId="289"/>
            <ac:picMk id="27" creationId="{3797739E-A9C6-94D5-4FCD-055B1E79B03F}"/>
          </ac:picMkLst>
        </pc:picChg>
        <pc:picChg chg="add">
          <ac:chgData name="Adriana Miriam Ylizaliturri Gomez" userId="c054c78c-207c-4278-ae44-884dbebca744" providerId="ADAL" clId="{9B871E66-1A30-42FF-AF18-83FDFD9111C9}" dt="2026-07-02T17:45:30.054" v="3262" actId="22"/>
          <ac:picMkLst>
            <pc:docMk/>
            <pc:sldMk cId="3763779569" sldId="289"/>
            <ac:picMk id="29" creationId="{8B1F3F73-B11F-0388-32EC-23FFAF546BE0}"/>
          </ac:picMkLst>
        </pc:picChg>
        <pc:picChg chg="add">
          <ac:chgData name="Adriana Miriam Ylizaliturri Gomez" userId="c054c78c-207c-4278-ae44-884dbebca744" providerId="ADAL" clId="{9B871E66-1A30-42FF-AF18-83FDFD9111C9}" dt="2026-07-02T17:45:30.054" v="3262" actId="22"/>
          <ac:picMkLst>
            <pc:docMk/>
            <pc:sldMk cId="3763779569" sldId="289"/>
            <ac:picMk id="31" creationId="{3761844A-4A5B-9FA7-02E1-C6BCEFD5230B}"/>
          </ac:picMkLst>
        </pc:picChg>
        <pc:picChg chg="add">
          <ac:chgData name="Adriana Miriam Ylizaliturri Gomez" userId="c054c78c-207c-4278-ae44-884dbebca744" providerId="ADAL" clId="{9B871E66-1A30-42FF-AF18-83FDFD9111C9}" dt="2026-07-02T17:45:30.054" v="3262" actId="22"/>
          <ac:picMkLst>
            <pc:docMk/>
            <pc:sldMk cId="3763779569" sldId="289"/>
            <ac:picMk id="35" creationId="{D3CE3B2C-B352-429A-53A8-0AD88BBBD9CF}"/>
          </ac:picMkLst>
        </pc:picChg>
        <pc:picChg chg="add">
          <ac:chgData name="Adriana Miriam Ylizaliturri Gomez" userId="c054c78c-207c-4278-ae44-884dbebca744" providerId="ADAL" clId="{9B871E66-1A30-42FF-AF18-83FDFD9111C9}" dt="2026-07-02T17:45:30.054" v="3262" actId="22"/>
          <ac:picMkLst>
            <pc:docMk/>
            <pc:sldMk cId="3763779569" sldId="289"/>
            <ac:picMk id="37" creationId="{2A7AAB60-F640-76C8-55CB-5264136CEE63}"/>
          </ac:picMkLst>
        </pc:picChg>
        <pc:picChg chg="add">
          <ac:chgData name="Adriana Miriam Ylizaliturri Gomez" userId="c054c78c-207c-4278-ae44-884dbebca744" providerId="ADAL" clId="{9B871E66-1A30-42FF-AF18-83FDFD9111C9}" dt="2026-07-02T17:45:30.054" v="3262" actId="22"/>
          <ac:picMkLst>
            <pc:docMk/>
            <pc:sldMk cId="3763779569" sldId="289"/>
            <ac:picMk id="39" creationId="{C0E56415-99BD-FECA-C5A2-8245FBF0E0D5}"/>
          </ac:picMkLst>
        </pc:picChg>
        <pc:picChg chg="add">
          <ac:chgData name="Adriana Miriam Ylizaliturri Gomez" userId="c054c78c-207c-4278-ae44-884dbebca744" providerId="ADAL" clId="{9B871E66-1A30-42FF-AF18-83FDFD9111C9}" dt="2026-07-02T17:45:30.054" v="3262" actId="22"/>
          <ac:picMkLst>
            <pc:docMk/>
            <pc:sldMk cId="3763779569" sldId="289"/>
            <ac:picMk id="41" creationId="{1C5558EF-517F-D6FB-EF7C-569D9EDCC226}"/>
          </ac:picMkLst>
        </pc:picChg>
      </pc:sldChg>
      <pc:sldChg chg="addSp modSp mod">
        <pc:chgData name="Adriana Miriam Ylizaliturri Gomez" userId="c054c78c-207c-4278-ae44-884dbebca744" providerId="ADAL" clId="{9B871E66-1A30-42FF-AF18-83FDFD9111C9}" dt="2026-06-29T18:31:17.127" v="3141" actId="14861"/>
        <pc:sldMkLst>
          <pc:docMk/>
          <pc:sldMk cId="3240565764" sldId="297"/>
        </pc:sldMkLst>
        <pc:spChg chg="mod">
          <ac:chgData name="Adriana Miriam Ylizaliturri Gomez" userId="c054c78c-207c-4278-ae44-884dbebca744" providerId="ADAL" clId="{9B871E66-1A30-42FF-AF18-83FDFD9111C9}" dt="2026-06-29T17:39:55.061" v="2866" actId="1035"/>
          <ac:spMkLst>
            <pc:docMk/>
            <pc:sldMk cId="3240565764" sldId="297"/>
            <ac:spMk id="3" creationId="{21AE8FA6-CA77-F761-93C9-BF2570CBBE30}"/>
          </ac:spMkLst>
        </pc:spChg>
        <pc:spChg chg="mod">
          <ac:chgData name="Adriana Miriam Ylizaliturri Gomez" userId="c054c78c-207c-4278-ae44-884dbebca744" providerId="ADAL" clId="{9B871E66-1A30-42FF-AF18-83FDFD9111C9}" dt="2026-06-29T17:39:55.061" v="2866" actId="1035"/>
          <ac:spMkLst>
            <pc:docMk/>
            <pc:sldMk cId="3240565764" sldId="297"/>
            <ac:spMk id="6" creationId="{3C879FA3-8153-8C4E-8B9C-4DF691C41AD2}"/>
          </ac:spMkLst>
        </pc:spChg>
        <pc:spChg chg="mod">
          <ac:chgData name="Adriana Miriam Ylizaliturri Gomez" userId="c054c78c-207c-4278-ae44-884dbebca744" providerId="ADAL" clId="{9B871E66-1A30-42FF-AF18-83FDFD9111C9}" dt="2026-06-29T17:39:55.061" v="2866" actId="1035"/>
          <ac:spMkLst>
            <pc:docMk/>
            <pc:sldMk cId="3240565764" sldId="297"/>
            <ac:spMk id="7" creationId="{FD4175D4-66CF-7FBC-B843-C149C5339DF1}"/>
          </ac:spMkLst>
        </pc:spChg>
        <pc:spChg chg="mod">
          <ac:chgData name="Adriana Miriam Ylizaliturri Gomez" userId="c054c78c-207c-4278-ae44-884dbebca744" providerId="ADAL" clId="{9B871E66-1A30-42FF-AF18-83FDFD9111C9}" dt="2026-06-29T17:39:55.061" v="2866" actId="1035"/>
          <ac:spMkLst>
            <pc:docMk/>
            <pc:sldMk cId="3240565764" sldId="297"/>
            <ac:spMk id="9" creationId="{50F1217E-09B0-81A3-6E99-CB1DE729ADDF}"/>
          </ac:spMkLst>
        </pc:spChg>
        <pc:spChg chg="mod">
          <ac:chgData name="Adriana Miriam Ylizaliturri Gomez" userId="c054c78c-207c-4278-ae44-884dbebca744" providerId="ADAL" clId="{9B871E66-1A30-42FF-AF18-83FDFD9111C9}" dt="2026-06-29T17:39:55.061" v="2866" actId="1035"/>
          <ac:spMkLst>
            <pc:docMk/>
            <pc:sldMk cId="3240565764" sldId="297"/>
            <ac:spMk id="10" creationId="{991C7EE4-1170-AC4C-597D-3383D8E8A8F9}"/>
          </ac:spMkLst>
        </pc:spChg>
        <pc:spChg chg="mod">
          <ac:chgData name="Adriana Miriam Ylizaliturri Gomez" userId="c054c78c-207c-4278-ae44-884dbebca744" providerId="ADAL" clId="{9B871E66-1A30-42FF-AF18-83FDFD9111C9}" dt="2026-06-29T17:39:55.061" v="2866" actId="1035"/>
          <ac:spMkLst>
            <pc:docMk/>
            <pc:sldMk cId="3240565764" sldId="297"/>
            <ac:spMk id="12" creationId="{CA535D92-E281-11D7-D7CB-F8BAB9F176B8}"/>
          </ac:spMkLst>
        </pc:spChg>
        <pc:spChg chg="mod">
          <ac:chgData name="Adriana Miriam Ylizaliturri Gomez" userId="c054c78c-207c-4278-ae44-884dbebca744" providerId="ADAL" clId="{9B871E66-1A30-42FF-AF18-83FDFD9111C9}" dt="2026-06-29T17:39:55.061" v="2866" actId="1035"/>
          <ac:spMkLst>
            <pc:docMk/>
            <pc:sldMk cId="3240565764" sldId="297"/>
            <ac:spMk id="13" creationId="{B9C2E918-974F-A566-8C8B-5DDE4ED4290B}"/>
          </ac:spMkLst>
        </pc:spChg>
        <pc:spChg chg="mod">
          <ac:chgData name="Adriana Miriam Ylizaliturri Gomez" userId="c054c78c-207c-4278-ae44-884dbebca744" providerId="ADAL" clId="{9B871E66-1A30-42FF-AF18-83FDFD9111C9}" dt="2026-06-29T17:39:55.061" v="2866" actId="1035"/>
          <ac:spMkLst>
            <pc:docMk/>
            <pc:sldMk cId="3240565764" sldId="297"/>
            <ac:spMk id="15" creationId="{A0083CC0-370A-999A-F425-0B0E05DEB5CF}"/>
          </ac:spMkLst>
        </pc:spChg>
        <pc:spChg chg="mod">
          <ac:chgData name="Adriana Miriam Ylizaliturri Gomez" userId="c054c78c-207c-4278-ae44-884dbebca744" providerId="ADAL" clId="{9B871E66-1A30-42FF-AF18-83FDFD9111C9}" dt="2026-06-26T17:27:26.071" v="1276" actId="20577"/>
          <ac:spMkLst>
            <pc:docMk/>
            <pc:sldMk cId="3240565764" sldId="297"/>
            <ac:spMk id="20" creationId="{00000000-0000-0000-0000-000000000000}"/>
          </ac:spMkLst>
        </pc:spChg>
        <pc:spChg chg="add mod">
          <ac:chgData name="Adriana Miriam Ylizaliturri Gomez" userId="c054c78c-207c-4278-ae44-884dbebca744" providerId="ADAL" clId="{9B871E66-1A30-42FF-AF18-83FDFD9111C9}" dt="2026-06-29T17:39:55.061" v="2866" actId="1035"/>
          <ac:spMkLst>
            <pc:docMk/>
            <pc:sldMk cId="3240565764" sldId="297"/>
            <ac:spMk id="24" creationId="{8544D68E-B1A4-A7B2-DB92-E42AA06757EA}"/>
          </ac:spMkLst>
        </pc:spChg>
        <pc:spChg chg="add mod">
          <ac:chgData name="Adriana Miriam Ylizaliturri Gomez" userId="c054c78c-207c-4278-ae44-884dbebca744" providerId="ADAL" clId="{9B871E66-1A30-42FF-AF18-83FDFD9111C9}" dt="2026-06-26T17:41:05.650" v="1972" actId="1036"/>
          <ac:spMkLst>
            <pc:docMk/>
            <pc:sldMk cId="3240565764" sldId="297"/>
            <ac:spMk id="28" creationId="{57E8B049-729B-8005-9EF1-849FB8B23F95}"/>
          </ac:spMkLst>
        </pc:spChg>
        <pc:spChg chg="add mod">
          <ac:chgData name="Adriana Miriam Ylizaliturri Gomez" userId="c054c78c-207c-4278-ae44-884dbebca744" providerId="ADAL" clId="{9B871E66-1A30-42FF-AF18-83FDFD9111C9}" dt="2026-06-26T17:41:05.650" v="1972" actId="1036"/>
          <ac:spMkLst>
            <pc:docMk/>
            <pc:sldMk cId="3240565764" sldId="297"/>
            <ac:spMk id="32" creationId="{C0C22F67-1DCF-826F-8E33-B53D997EC259}"/>
          </ac:spMkLst>
        </pc:spChg>
        <pc:spChg chg="add mod">
          <ac:chgData name="Adriana Miriam Ylizaliturri Gomez" userId="c054c78c-207c-4278-ae44-884dbebca744" providerId="ADAL" clId="{9B871E66-1A30-42FF-AF18-83FDFD9111C9}" dt="2026-06-26T17:41:05.650" v="1972" actId="1036"/>
          <ac:spMkLst>
            <pc:docMk/>
            <pc:sldMk cId="3240565764" sldId="297"/>
            <ac:spMk id="42" creationId="{015E2F69-E69E-5D7A-2611-FBB060373777}"/>
          </ac:spMkLst>
        </pc:spChg>
        <pc:spChg chg="add mod">
          <ac:chgData name="Adriana Miriam Ylizaliturri Gomez" userId="c054c78c-207c-4278-ae44-884dbebca744" providerId="ADAL" clId="{9B871E66-1A30-42FF-AF18-83FDFD9111C9}" dt="2026-06-29T17:39:55.061" v="2866" actId="1035"/>
          <ac:spMkLst>
            <pc:docMk/>
            <pc:sldMk cId="3240565764" sldId="297"/>
            <ac:spMk id="44" creationId="{1F6B6BB3-1071-C765-7E54-9CD306C7AB06}"/>
          </ac:spMkLst>
        </pc:spChg>
        <pc:graphicFrameChg chg="mod modGraphic">
          <ac:chgData name="Adriana Miriam Ylizaliturri Gomez" userId="c054c78c-207c-4278-ae44-884dbebca744" providerId="ADAL" clId="{9B871E66-1A30-42FF-AF18-83FDFD9111C9}" dt="2026-06-29T18:31:17.127" v="3141" actId="14861"/>
          <ac:graphicFrameMkLst>
            <pc:docMk/>
            <pc:sldMk cId="3240565764" sldId="297"/>
            <ac:graphicFrameMk id="17" creationId="{00000000-0000-0000-0000-000000000000}"/>
          </ac:graphicFrameMkLst>
        </pc:graphicFrameChg>
        <pc:graphicFrameChg chg="mod modGraphic">
          <ac:chgData name="Adriana Miriam Ylizaliturri Gomez" userId="c054c78c-207c-4278-ae44-884dbebca744" providerId="ADAL" clId="{9B871E66-1A30-42FF-AF18-83FDFD9111C9}" dt="2026-06-29T18:31:12.542" v="3140" actId="14861"/>
          <ac:graphicFrameMkLst>
            <pc:docMk/>
            <pc:sldMk cId="3240565764" sldId="297"/>
            <ac:graphicFrameMk id="18" creationId="{00000000-0000-0000-0000-000000000000}"/>
          </ac:graphicFrameMkLst>
        </pc:graphicFrameChg>
        <pc:graphicFrameChg chg="mod modGraphic">
          <ac:chgData name="Adriana Miriam Ylizaliturri Gomez" userId="c054c78c-207c-4278-ae44-884dbebca744" providerId="ADAL" clId="{9B871E66-1A30-42FF-AF18-83FDFD9111C9}" dt="2026-06-29T18:30:32.521" v="3136" actId="14861"/>
          <ac:graphicFrameMkLst>
            <pc:docMk/>
            <pc:sldMk cId="3240565764" sldId="297"/>
            <ac:graphicFrameMk id="19" creationId="{00000000-0000-0000-0000-000000000000}"/>
          </ac:graphicFrameMkLst>
        </pc:graphicFrameChg>
        <pc:graphicFrameChg chg="add mod">
          <ac:chgData name="Adriana Miriam Ylizaliturri Gomez" userId="c054c78c-207c-4278-ae44-884dbebca744" providerId="ADAL" clId="{9B871E66-1A30-42FF-AF18-83FDFD9111C9}" dt="2026-06-29T18:31:06.143" v="3139" actId="14861"/>
          <ac:graphicFrameMkLst>
            <pc:docMk/>
            <pc:sldMk cId="3240565764" sldId="297"/>
            <ac:graphicFrameMk id="36" creationId="{48668CBF-E259-13FA-5B0F-28BB8E472152}"/>
          </ac:graphicFrameMkLst>
        </pc:graphicFrameChg>
        <pc:graphicFrameChg chg="add mod">
          <ac:chgData name="Adriana Miriam Ylizaliturri Gomez" userId="c054c78c-207c-4278-ae44-884dbebca744" providerId="ADAL" clId="{9B871E66-1A30-42FF-AF18-83FDFD9111C9}" dt="2026-06-29T18:31:00.737" v="3138" actId="14861"/>
          <ac:graphicFrameMkLst>
            <pc:docMk/>
            <pc:sldMk cId="3240565764" sldId="297"/>
            <ac:graphicFrameMk id="38" creationId="{21663870-74C8-D606-6E27-C5401F0FAE89}"/>
          </ac:graphicFrameMkLst>
        </pc:graphicFrameChg>
        <pc:graphicFrameChg chg="mod">
          <ac:chgData name="Adriana Miriam Ylizaliturri Gomez" userId="c054c78c-207c-4278-ae44-884dbebca744" providerId="ADAL" clId="{9B871E66-1A30-42FF-AF18-83FDFD9111C9}" dt="2026-06-29T18:30:55.096" v="3137" actId="14861"/>
          <ac:graphicFrameMkLst>
            <pc:docMk/>
            <pc:sldMk cId="3240565764" sldId="297"/>
            <ac:graphicFrameMk id="40" creationId="{8E327579-09D3-4D0C-72B6-357AE578AD9E}"/>
          </ac:graphicFrameMkLst>
        </pc:graphicFrameChg>
        <pc:picChg chg="mod">
          <ac:chgData name="Adriana Miriam Ylizaliturri Gomez" userId="c054c78c-207c-4278-ae44-884dbebca744" providerId="ADAL" clId="{9B871E66-1A30-42FF-AF18-83FDFD9111C9}" dt="2026-06-26T17:30:12.755" v="1395" actId="1035"/>
          <ac:picMkLst>
            <pc:docMk/>
            <pc:sldMk cId="3240565764" sldId="297"/>
            <ac:picMk id="4" creationId="{AE9FD96F-084C-5DEE-6966-05F8D1633A42}"/>
          </ac:picMkLst>
        </pc:picChg>
        <pc:picChg chg="mod">
          <ac:chgData name="Adriana Miriam Ylizaliturri Gomez" userId="c054c78c-207c-4278-ae44-884dbebca744" providerId="ADAL" clId="{9B871E66-1A30-42FF-AF18-83FDFD9111C9}" dt="2026-06-26T17:30:30.046" v="1441" actId="1035"/>
          <ac:picMkLst>
            <pc:docMk/>
            <pc:sldMk cId="3240565764" sldId="297"/>
            <ac:picMk id="8" creationId="{170CBE01-E044-2F44-556A-69D0B561DC01}"/>
          </ac:picMkLst>
        </pc:picChg>
        <pc:picChg chg="mod">
          <ac:chgData name="Adriana Miriam Ylizaliturri Gomez" userId="c054c78c-207c-4278-ae44-884dbebca744" providerId="ADAL" clId="{9B871E66-1A30-42FF-AF18-83FDFD9111C9}" dt="2026-06-26T17:31:03.905" v="1537" actId="1038"/>
          <ac:picMkLst>
            <pc:docMk/>
            <pc:sldMk cId="3240565764" sldId="297"/>
            <ac:picMk id="11" creationId="{F7B31A16-FD1A-331A-6F76-259EB810FD76}"/>
          </ac:picMkLst>
        </pc:picChg>
        <pc:picChg chg="mod">
          <ac:chgData name="Adriana Miriam Ylizaliturri Gomez" userId="c054c78c-207c-4278-ae44-884dbebca744" providerId="ADAL" clId="{9B871E66-1A30-42FF-AF18-83FDFD9111C9}" dt="2026-06-26T17:29:12.343" v="1327" actId="1035"/>
          <ac:picMkLst>
            <pc:docMk/>
            <pc:sldMk cId="3240565764" sldId="297"/>
            <ac:picMk id="14" creationId="{C365C7D6-999E-5396-FE1A-9AF265B06DAC}"/>
          </ac:picMkLst>
        </pc:picChg>
        <pc:picChg chg="add mod">
          <ac:chgData name="Adriana Miriam Ylizaliturri Gomez" userId="c054c78c-207c-4278-ae44-884dbebca744" providerId="ADAL" clId="{9B871E66-1A30-42FF-AF18-83FDFD9111C9}" dt="2026-06-26T17:41:05.650" v="1972" actId="1036"/>
          <ac:picMkLst>
            <pc:docMk/>
            <pc:sldMk cId="3240565764" sldId="297"/>
            <ac:picMk id="26" creationId="{2D93BC3E-5191-A2B8-0CE5-3DBAD69F852B}"/>
          </ac:picMkLst>
        </pc:picChg>
        <pc:picChg chg="add mod">
          <ac:chgData name="Adriana Miriam Ylizaliturri Gomez" userId="c054c78c-207c-4278-ae44-884dbebca744" providerId="ADAL" clId="{9B871E66-1A30-42FF-AF18-83FDFD9111C9}" dt="2026-06-26T17:41:05.650" v="1972" actId="1036"/>
          <ac:picMkLst>
            <pc:docMk/>
            <pc:sldMk cId="3240565764" sldId="297"/>
            <ac:picMk id="30" creationId="{C1A34931-6AB9-F048-F106-D303160C3A19}"/>
          </ac:picMkLst>
        </pc:picChg>
        <pc:picChg chg="add mod">
          <ac:chgData name="Adriana Miriam Ylizaliturri Gomez" userId="c054c78c-207c-4278-ae44-884dbebca744" providerId="ADAL" clId="{9B871E66-1A30-42FF-AF18-83FDFD9111C9}" dt="2026-06-26T17:41:05.650" v="1972" actId="1036"/>
          <ac:picMkLst>
            <pc:docMk/>
            <pc:sldMk cId="3240565764" sldId="297"/>
            <ac:picMk id="34" creationId="{E38E4696-D305-2F12-CDFD-88FFBE380B9A}"/>
          </ac:picMkLst>
        </pc:picChg>
      </pc:sldChg>
      <pc:sldChg chg="addSp modSp mod">
        <pc:chgData name="Adriana Miriam Ylizaliturri Gomez" userId="c054c78c-207c-4278-ae44-884dbebca744" providerId="ADAL" clId="{9B871E66-1A30-42FF-AF18-83FDFD9111C9}" dt="2026-06-26T00:06:50.227" v="616" actId="1035"/>
        <pc:sldMkLst>
          <pc:docMk/>
          <pc:sldMk cId="2266907138" sldId="298"/>
        </pc:sldMkLst>
        <pc:spChg chg="mod">
          <ac:chgData name="Adriana Miriam Ylizaliturri Gomez" userId="c054c78c-207c-4278-ae44-884dbebca744" providerId="ADAL" clId="{9B871E66-1A30-42FF-AF18-83FDFD9111C9}" dt="2026-06-26T00:02:49.010" v="414" actId="1035"/>
          <ac:spMkLst>
            <pc:docMk/>
            <pc:sldMk cId="2266907138" sldId="298"/>
            <ac:spMk id="3" creationId="{00000000-0000-0000-0000-000000000000}"/>
          </ac:spMkLst>
        </pc:spChg>
        <pc:spChg chg="mod">
          <ac:chgData name="Adriana Miriam Ylizaliturri Gomez" userId="c054c78c-207c-4278-ae44-884dbebca744" providerId="ADAL" clId="{9B871E66-1A30-42FF-AF18-83FDFD9111C9}" dt="2026-06-26T00:02:51.746" v="418" actId="1035"/>
          <ac:spMkLst>
            <pc:docMk/>
            <pc:sldMk cId="2266907138" sldId="298"/>
            <ac:spMk id="4" creationId="{00000000-0000-0000-0000-000000000000}"/>
          </ac:spMkLst>
        </pc:spChg>
        <pc:spChg chg="mod">
          <ac:chgData name="Adriana Miriam Ylizaliturri Gomez" userId="c054c78c-207c-4278-ae44-884dbebca744" providerId="ADAL" clId="{9B871E66-1A30-42FF-AF18-83FDFD9111C9}" dt="2026-06-26T00:06:12.883" v="561" actId="1035"/>
          <ac:spMkLst>
            <pc:docMk/>
            <pc:sldMk cId="2266907138" sldId="298"/>
            <ac:spMk id="5" creationId="{00000000-0000-0000-0000-000000000000}"/>
          </ac:spMkLst>
        </pc:spChg>
        <pc:spChg chg="mod">
          <ac:chgData name="Adriana Miriam Ylizaliturri Gomez" userId="c054c78c-207c-4278-ae44-884dbebca744" providerId="ADAL" clId="{9B871E66-1A30-42FF-AF18-83FDFD9111C9}" dt="2026-06-26T00:06:18.324" v="567" actId="1035"/>
          <ac:spMkLst>
            <pc:docMk/>
            <pc:sldMk cId="2266907138" sldId="298"/>
            <ac:spMk id="10" creationId="{00000000-0000-0000-0000-000000000000}"/>
          </ac:spMkLst>
        </pc:spChg>
        <pc:spChg chg="add mod">
          <ac:chgData name="Adriana Miriam Ylizaliturri Gomez" userId="c054c78c-207c-4278-ae44-884dbebca744" providerId="ADAL" clId="{9B871E66-1A30-42FF-AF18-83FDFD9111C9}" dt="2026-06-26T00:06:22.019" v="572" actId="1035"/>
          <ac:spMkLst>
            <pc:docMk/>
            <pc:sldMk cId="2266907138" sldId="298"/>
            <ac:spMk id="14" creationId="{00000000-0000-0000-0000-000000000000}"/>
          </ac:spMkLst>
        </pc:spChg>
        <pc:spChg chg="add mod">
          <ac:chgData name="Adriana Miriam Ylizaliturri Gomez" userId="c054c78c-207c-4278-ae44-884dbebca744" providerId="ADAL" clId="{9B871E66-1A30-42FF-AF18-83FDFD9111C9}" dt="2026-06-26T00:06:50.227" v="616" actId="1035"/>
          <ac:spMkLst>
            <pc:docMk/>
            <pc:sldMk cId="2266907138" sldId="298"/>
            <ac:spMk id="18" creationId="{1BD42FC0-CC85-E005-F7BD-780BEE4ABF85}"/>
          </ac:spMkLst>
        </pc:spChg>
        <pc:graphicFrameChg chg="mod">
          <ac:chgData name="Adriana Miriam Ylizaliturri Gomez" userId="c054c78c-207c-4278-ae44-884dbebca744" providerId="ADAL" clId="{9B871E66-1A30-42FF-AF18-83FDFD9111C9}" dt="2026-06-26T00:06:12.883" v="561" actId="1035"/>
          <ac:graphicFrameMkLst>
            <pc:docMk/>
            <pc:sldMk cId="2266907138" sldId="298"/>
            <ac:graphicFrameMk id="7" creationId="{00000000-0000-0000-0000-000000000000}"/>
          </ac:graphicFrameMkLst>
        </pc:graphicFrameChg>
        <pc:graphicFrameChg chg="mod">
          <ac:chgData name="Adriana Miriam Ylizaliturri Gomez" userId="c054c78c-207c-4278-ae44-884dbebca744" providerId="ADAL" clId="{9B871E66-1A30-42FF-AF18-83FDFD9111C9}" dt="2026-06-26T00:06:12.883" v="561" actId="1035"/>
          <ac:graphicFrameMkLst>
            <pc:docMk/>
            <pc:sldMk cId="2266907138" sldId="298"/>
            <ac:graphicFrameMk id="8" creationId="{00000000-0000-0000-0000-000000000000}"/>
          </ac:graphicFrameMkLst>
        </pc:graphicFrameChg>
        <pc:graphicFrameChg chg="mod">
          <ac:chgData name="Adriana Miriam Ylizaliturri Gomez" userId="c054c78c-207c-4278-ae44-884dbebca744" providerId="ADAL" clId="{9B871E66-1A30-42FF-AF18-83FDFD9111C9}" dt="2026-06-26T00:06:12.883" v="561" actId="1035"/>
          <ac:graphicFrameMkLst>
            <pc:docMk/>
            <pc:sldMk cId="2266907138" sldId="298"/>
            <ac:graphicFrameMk id="9" creationId="{00000000-0000-0000-0000-000000000000}"/>
          </ac:graphicFrameMkLst>
        </pc:graphicFrameChg>
        <pc:graphicFrameChg chg="mod">
          <ac:chgData name="Adriana Miriam Ylizaliturri Gomez" userId="c054c78c-207c-4278-ae44-884dbebca744" providerId="ADAL" clId="{9B871E66-1A30-42FF-AF18-83FDFD9111C9}" dt="2026-06-26T00:06:18.324" v="567" actId="1035"/>
          <ac:graphicFrameMkLst>
            <pc:docMk/>
            <pc:sldMk cId="2266907138" sldId="298"/>
            <ac:graphicFrameMk id="12" creationId="{00000000-0000-0000-0000-000000000000}"/>
          </ac:graphicFrameMkLst>
        </pc:graphicFrameChg>
        <pc:graphicFrameChg chg="mod">
          <ac:chgData name="Adriana Miriam Ylizaliturri Gomez" userId="c054c78c-207c-4278-ae44-884dbebca744" providerId="ADAL" clId="{9B871E66-1A30-42FF-AF18-83FDFD9111C9}" dt="2026-06-26T00:06:18.324" v="567" actId="1035"/>
          <ac:graphicFrameMkLst>
            <pc:docMk/>
            <pc:sldMk cId="2266907138" sldId="298"/>
            <ac:graphicFrameMk id="13" creationId="{00000000-0000-0000-0000-000000000000}"/>
          </ac:graphicFrameMkLst>
        </pc:graphicFrameChg>
        <pc:graphicFrameChg chg="add mod">
          <ac:chgData name="Adriana Miriam Ylizaliturri Gomez" userId="c054c78c-207c-4278-ae44-884dbebca744" providerId="ADAL" clId="{9B871E66-1A30-42FF-AF18-83FDFD9111C9}" dt="2026-06-26T00:06:22.019" v="572" actId="1035"/>
          <ac:graphicFrameMkLst>
            <pc:docMk/>
            <pc:sldMk cId="2266907138" sldId="298"/>
            <ac:graphicFrameMk id="16" creationId="{00000000-0000-0000-0000-000000000000}"/>
          </ac:graphicFrameMkLst>
        </pc:graphicFrameChg>
        <pc:cxnChg chg="mod">
          <ac:chgData name="Adriana Miriam Ylizaliturri Gomez" userId="c054c78c-207c-4278-ae44-884dbebca744" providerId="ADAL" clId="{9B871E66-1A30-42FF-AF18-83FDFD9111C9}" dt="2026-06-26T00:06:12.883" v="561" actId="1035"/>
          <ac:cxnSpMkLst>
            <pc:docMk/>
            <pc:sldMk cId="2266907138" sldId="298"/>
            <ac:cxnSpMk id="6" creationId="{00000000-0000-0000-0000-000000000000}"/>
          </ac:cxnSpMkLst>
        </pc:cxnChg>
        <pc:cxnChg chg="mod">
          <ac:chgData name="Adriana Miriam Ylizaliturri Gomez" userId="c054c78c-207c-4278-ae44-884dbebca744" providerId="ADAL" clId="{9B871E66-1A30-42FF-AF18-83FDFD9111C9}" dt="2026-06-26T00:06:18.324" v="567" actId="1035"/>
          <ac:cxnSpMkLst>
            <pc:docMk/>
            <pc:sldMk cId="2266907138" sldId="298"/>
            <ac:cxnSpMk id="11" creationId="{00000000-0000-0000-0000-000000000000}"/>
          </ac:cxnSpMkLst>
        </pc:cxnChg>
        <pc:cxnChg chg="add mod">
          <ac:chgData name="Adriana Miriam Ylizaliturri Gomez" userId="c054c78c-207c-4278-ae44-884dbebca744" providerId="ADAL" clId="{9B871E66-1A30-42FF-AF18-83FDFD9111C9}" dt="2026-06-26T00:06:22.019" v="572" actId="1035"/>
          <ac:cxnSpMkLst>
            <pc:docMk/>
            <pc:sldMk cId="2266907138" sldId="298"/>
            <ac:cxnSpMk id="15" creationId="{00000000-0000-0000-0000-000000000000}"/>
          </ac:cxnSpMkLst>
        </pc:cxnChg>
      </pc:sldChg>
      <pc:sldChg chg="addSp modSp mod">
        <pc:chgData name="Adriana Miriam Ylizaliturri Gomez" userId="c054c78c-207c-4278-ae44-884dbebca744" providerId="ADAL" clId="{9B871E66-1A30-42FF-AF18-83FDFD9111C9}" dt="2026-06-29T18:31:51.102" v="3150" actId="1035"/>
        <pc:sldMkLst>
          <pc:docMk/>
          <pc:sldMk cId="30077326" sldId="299"/>
        </pc:sldMkLst>
        <pc:spChg chg="add mod">
          <ac:chgData name="Adriana Miriam Ylizaliturri Gomez" userId="c054c78c-207c-4278-ae44-884dbebca744" providerId="ADAL" clId="{9B871E66-1A30-42FF-AF18-83FDFD9111C9}" dt="2026-06-29T17:39:27.815" v="2855" actId="14100"/>
          <ac:spMkLst>
            <pc:docMk/>
            <pc:sldMk cId="30077326" sldId="299"/>
            <ac:spMk id="5" creationId="{1BEFB9FC-5F8E-BFC5-0416-7D507AFA7F9F}"/>
          </ac:spMkLst>
        </pc:spChg>
        <pc:spChg chg="mod">
          <ac:chgData name="Adriana Miriam Ylizaliturri Gomez" userId="c054c78c-207c-4278-ae44-884dbebca744" providerId="ADAL" clId="{9B871E66-1A30-42FF-AF18-83FDFD9111C9}" dt="2026-06-26T17:45:13.490" v="2034" actId="1035"/>
          <ac:spMkLst>
            <pc:docMk/>
            <pc:sldMk cId="30077326" sldId="299"/>
            <ac:spMk id="21" creationId="{00000000-0000-0000-0000-000000000000}"/>
          </ac:spMkLst>
        </pc:spChg>
        <pc:spChg chg="mod">
          <ac:chgData name="Adriana Miriam Ylizaliturri Gomez" userId="c054c78c-207c-4278-ae44-884dbebca744" providerId="ADAL" clId="{9B871E66-1A30-42FF-AF18-83FDFD9111C9}" dt="2026-06-26T17:45:03.426" v="2021" actId="1076"/>
          <ac:spMkLst>
            <pc:docMk/>
            <pc:sldMk cId="30077326" sldId="299"/>
            <ac:spMk id="25" creationId="{00000000-0000-0000-0000-000000000000}"/>
          </ac:spMkLst>
        </pc:spChg>
        <pc:graphicFrameChg chg="mod">
          <ac:chgData name="Adriana Miriam Ylizaliturri Gomez" userId="c054c78c-207c-4278-ae44-884dbebca744" providerId="ADAL" clId="{9B871E66-1A30-42FF-AF18-83FDFD9111C9}" dt="2026-06-26T17:45:13.490" v="2034" actId="1035"/>
          <ac:graphicFrameMkLst>
            <pc:docMk/>
            <pc:sldMk cId="30077326" sldId="299"/>
            <ac:graphicFrameMk id="2" creationId="{57BAAA0D-10FB-75CD-3071-B491398A053A}"/>
          </ac:graphicFrameMkLst>
        </pc:graphicFrameChg>
        <pc:graphicFrameChg chg="mod">
          <ac:chgData name="Adriana Miriam Ylizaliturri Gomez" userId="c054c78c-207c-4278-ae44-884dbebca744" providerId="ADAL" clId="{9B871E66-1A30-42FF-AF18-83FDFD9111C9}" dt="2026-06-29T18:31:51.102" v="3150" actId="1035"/>
          <ac:graphicFrameMkLst>
            <pc:docMk/>
            <pc:sldMk cId="30077326" sldId="299"/>
            <ac:graphicFrameMk id="4" creationId="{74EA239F-AD11-6BB6-2B07-15FDA93930A1}"/>
          </ac:graphicFrameMkLst>
        </pc:graphicFrameChg>
        <pc:graphicFrameChg chg="mod modGraphic">
          <ac:chgData name="Adriana Miriam Ylizaliturri Gomez" userId="c054c78c-207c-4278-ae44-884dbebca744" providerId="ADAL" clId="{9B871E66-1A30-42FF-AF18-83FDFD9111C9}" dt="2026-06-26T18:11:44.530" v="2389" actId="14734"/>
          <ac:graphicFrameMkLst>
            <pc:docMk/>
            <pc:sldMk cId="30077326" sldId="299"/>
            <ac:graphicFrameMk id="20" creationId="{00000000-0000-0000-0000-000000000000}"/>
          </ac:graphicFrameMkLst>
        </pc:graphicFrameChg>
        <pc:graphicFrameChg chg="modGraphic">
          <ac:chgData name="Adriana Miriam Ylizaliturri Gomez" userId="c054c78c-207c-4278-ae44-884dbebca744" providerId="ADAL" clId="{9B871E66-1A30-42FF-AF18-83FDFD9111C9}" dt="2026-06-26T17:41:55.012" v="1976" actId="20577"/>
          <ac:graphicFrameMkLst>
            <pc:docMk/>
            <pc:sldMk cId="30077326" sldId="299"/>
            <ac:graphicFrameMk id="22" creationId="{00000000-0000-0000-0000-000000000000}"/>
          </ac:graphicFrameMkLst>
        </pc:graphicFrameChg>
      </pc:sldChg>
      <pc:sldChg chg="addSp modSp mod modCm">
        <pc:chgData name="Adriana Miriam Ylizaliturri Gomez" userId="c054c78c-207c-4278-ae44-884dbebca744" providerId="ADAL" clId="{9B871E66-1A30-42FF-AF18-83FDFD9111C9}" dt="2026-06-29T18:28:10.668" v="3100" actId="1037"/>
        <pc:sldMkLst>
          <pc:docMk/>
          <pc:sldMk cId="3818652843" sldId="300"/>
        </pc:sldMkLst>
        <pc:spChg chg="mod">
          <ac:chgData name="Adriana Miriam Ylizaliturri Gomez" userId="c054c78c-207c-4278-ae44-884dbebca744" providerId="ADAL" clId="{9B871E66-1A30-42FF-AF18-83FDFD9111C9}" dt="2026-06-26T00:21:49.493" v="1251" actId="1036"/>
          <ac:spMkLst>
            <pc:docMk/>
            <pc:sldMk cId="3818652843" sldId="300"/>
            <ac:spMk id="3" creationId="{00000000-0000-0000-0000-000000000000}"/>
          </ac:spMkLst>
        </pc:spChg>
        <pc:spChg chg="mod">
          <ac:chgData name="Adriana Miriam Ylizaliturri Gomez" userId="c054c78c-207c-4278-ae44-884dbebca744" providerId="ADAL" clId="{9B871E66-1A30-42FF-AF18-83FDFD9111C9}" dt="2026-06-26T00:21:49.493" v="1251" actId="1036"/>
          <ac:spMkLst>
            <pc:docMk/>
            <pc:sldMk cId="3818652843" sldId="300"/>
            <ac:spMk id="4" creationId="{00000000-0000-0000-0000-000000000000}"/>
          </ac:spMkLst>
        </pc:spChg>
        <pc:spChg chg="mod">
          <ac:chgData name="Adriana Miriam Ylizaliturri Gomez" userId="c054c78c-207c-4278-ae44-884dbebca744" providerId="ADAL" clId="{9B871E66-1A30-42FF-AF18-83FDFD9111C9}" dt="2026-06-26T00:21:49.493" v="1251" actId="1036"/>
          <ac:spMkLst>
            <pc:docMk/>
            <pc:sldMk cId="3818652843" sldId="300"/>
            <ac:spMk id="7" creationId="{00000000-0000-0000-0000-000000000000}"/>
          </ac:spMkLst>
        </pc:spChg>
        <pc:spChg chg="mod">
          <ac:chgData name="Adriana Miriam Ylizaliturri Gomez" userId="c054c78c-207c-4278-ae44-884dbebca744" providerId="ADAL" clId="{9B871E66-1A30-42FF-AF18-83FDFD9111C9}" dt="2026-06-29T18:28:10.668" v="3100" actId="1037"/>
          <ac:spMkLst>
            <pc:docMk/>
            <pc:sldMk cId="3818652843" sldId="300"/>
            <ac:spMk id="10" creationId="{00000000-0000-0000-0000-000000000000}"/>
          </ac:spMkLst>
        </pc:spChg>
        <pc:spChg chg="add mod">
          <ac:chgData name="Adriana Miriam Ylizaliturri Gomez" userId="c054c78c-207c-4278-ae44-884dbebca744" providerId="ADAL" clId="{9B871E66-1A30-42FF-AF18-83FDFD9111C9}" dt="2026-06-26T00:21:49.493" v="1251" actId="1036"/>
          <ac:spMkLst>
            <pc:docMk/>
            <pc:sldMk cId="3818652843" sldId="300"/>
            <ac:spMk id="12" creationId="{13748F5D-E2D9-365A-F200-58226A48C006}"/>
          </ac:spMkLst>
        </pc:spChg>
        <pc:graphicFrameChg chg="mod modGraphic">
          <ac:chgData name="Adriana Miriam Ylizaliturri Gomez" userId="c054c78c-207c-4278-ae44-884dbebca744" providerId="ADAL" clId="{9B871E66-1A30-42FF-AF18-83FDFD9111C9}" dt="2026-06-29T17:40:07.663" v="2868" actId="14734"/>
          <ac:graphicFrameMkLst>
            <pc:docMk/>
            <pc:sldMk cId="3818652843" sldId="300"/>
            <ac:graphicFrameMk id="9" creationId="{00000000-0000-0000-0000-000000000000}"/>
          </ac:graphicFrameMkLst>
        </pc:graphicFrameChg>
        <pc:picChg chg="mod">
          <ac:chgData name="Adriana Miriam Ylizaliturri Gomez" userId="c054c78c-207c-4278-ae44-884dbebca744" providerId="ADAL" clId="{9B871E66-1A30-42FF-AF18-83FDFD9111C9}" dt="2026-06-26T00:21:49.493" v="1251" actId="1036"/>
          <ac:picMkLst>
            <pc:docMk/>
            <pc:sldMk cId="3818652843" sldId="300"/>
            <ac:picMk id="6" creationId="{00000000-0000-0000-0000-000000000000}"/>
          </ac:picMkLst>
        </pc:picChg>
        <pc:cxnChg chg="mod">
          <ac:chgData name="Adriana Miriam Ylizaliturri Gomez" userId="c054c78c-207c-4278-ae44-884dbebca744" providerId="ADAL" clId="{9B871E66-1A30-42FF-AF18-83FDFD9111C9}" dt="2026-06-26T00:21:49.493" v="1251" actId="1036"/>
          <ac:cxnSpMkLst>
            <pc:docMk/>
            <pc:sldMk cId="3818652843" sldId="300"/>
            <ac:cxnSpMk id="5" creationId="{00000000-0000-0000-0000-000000000000}"/>
          </ac:cxnSpMkLst>
        </pc:cxnChg>
        <pc:cxnChg chg="mod">
          <ac:chgData name="Adriana Miriam Ylizaliturri Gomez" userId="c054c78c-207c-4278-ae44-884dbebca744" providerId="ADAL" clId="{9B871E66-1A30-42FF-AF18-83FDFD9111C9}" dt="2026-06-26T00:21:49.493" v="1251" actId="1036"/>
          <ac:cxnSpMkLst>
            <pc:docMk/>
            <pc:sldMk cId="3818652843" sldId="300"/>
            <ac:cxnSpMk id="8" creationId="{00000000-0000-0000-0000-000000000000}"/>
          </ac:cxnSpMkLst>
        </pc:cxnChg>
        <pc:extLst>
          <p:ext xmlns:p="http://schemas.openxmlformats.org/presentationml/2006/main" uri="{D6D511B9-2390-475A-947B-AFAB55BFBCF1}">
            <pc226:cmChg xmlns:pc226="http://schemas.microsoft.com/office/powerpoint/2022/06/main/command" chg="mod">
              <pc226:chgData name="Adriana Miriam Ylizaliturri Gomez" userId="c054c78c-207c-4278-ae44-884dbebca744" providerId="ADAL" clId="{9B871E66-1A30-42FF-AF18-83FDFD9111C9}" dt="2026-06-26T18:41:35.743" v="2405" actId="20577"/>
              <pc2:cmMkLst xmlns:pc2="http://schemas.microsoft.com/office/powerpoint/2019/9/main/command">
                <pc:docMk/>
                <pc:sldMk cId="3818652843" sldId="300"/>
                <pc2:cmMk id="{24EE6309-EFE7-4825-AF50-41133AE8F0AD}"/>
              </pc2:cmMkLst>
            </pc226:cmChg>
            <pc226:cmChg xmlns:pc226="http://schemas.microsoft.com/office/powerpoint/2022/06/main/command" chg="mod">
              <pc226:chgData name="Adriana Miriam Ylizaliturri Gomez" userId="c054c78c-207c-4278-ae44-884dbebca744" providerId="ADAL" clId="{9B871E66-1A30-42FF-AF18-83FDFD9111C9}" dt="2026-06-26T18:41:27.029" v="2401" actId="20577"/>
              <pc2:cmMkLst xmlns:pc2="http://schemas.microsoft.com/office/powerpoint/2019/9/main/command">
                <pc:docMk/>
                <pc:sldMk cId="3818652843" sldId="300"/>
                <pc2:cmMk id="{219697A1-CE7B-446C-A8F5-0F4BA6DD69B6}"/>
              </pc2:cmMkLst>
            </pc226:cmChg>
          </p:ext>
        </pc:extLst>
      </pc:sldChg>
      <pc:sldChg chg="add del setBg">
        <pc:chgData name="Adriana Miriam Ylizaliturri Gomez" userId="c054c78c-207c-4278-ae44-884dbebca744" providerId="ADAL" clId="{9B871E66-1A30-42FF-AF18-83FDFD9111C9}" dt="2026-07-02T17:46:51.445" v="3266" actId="47"/>
        <pc:sldMkLst>
          <pc:docMk/>
          <pc:sldMk cId="0" sldId="301"/>
        </pc:sldMkLst>
      </pc:sldChg>
      <pc:sldChg chg="modSp add mod">
        <pc:chgData name="Adriana Miriam Ylizaliturri Gomez" userId="c054c78c-207c-4278-ae44-884dbebca744" providerId="ADAL" clId="{9B871E66-1A30-42FF-AF18-83FDFD9111C9}" dt="2026-07-02T17:50:35.781" v="3273" actId="20577"/>
        <pc:sldMkLst>
          <pc:docMk/>
          <pc:sldMk cId="0" sldId="302"/>
        </pc:sldMkLst>
        <pc:graphicFrameChg chg="modGraphic">
          <ac:chgData name="Adriana Miriam Ylizaliturri Gomez" userId="c054c78c-207c-4278-ae44-884dbebca744" providerId="ADAL" clId="{9B871E66-1A30-42FF-AF18-83FDFD9111C9}" dt="2026-07-02T17:50:35.781" v="3273" actId="20577"/>
          <ac:graphicFrameMkLst>
            <pc:docMk/>
            <pc:sldMk cId="0" sldId="302"/>
            <ac:graphicFrameMk id="67" creationId="{00000000-0000-0000-0000-000000000000}"/>
          </ac:graphicFrameMkLst>
        </pc:graphicFrameChg>
      </pc:sldChg>
    </pc:docChg>
  </pc:docChgLst>
  <pc:docChgLst>
    <pc:chgData name="Laura Patricia Galvan Chavez" userId="S::laura.galvan@imss.gob.mx::6b13af50-ce8b-483e-8fc4-f994efaf3289" providerId="AD" clId="Web-{B5D5245D-A297-B2B5-8252-7372549C60AB}"/>
    <pc:docChg chg="modSld">
      <pc:chgData name="Laura Patricia Galvan Chavez" userId="S::laura.galvan@imss.gob.mx::6b13af50-ce8b-483e-8fc4-f994efaf3289" providerId="AD" clId="Web-{B5D5245D-A297-B2B5-8252-7372549C60AB}" dt="2026-06-23T19:44:14.057" v="7" actId="1076"/>
      <pc:docMkLst>
        <pc:docMk/>
      </pc:docMkLst>
      <pc:sldChg chg="addSp delSp modSp">
        <pc:chgData name="Laura Patricia Galvan Chavez" userId="S::laura.galvan@imss.gob.mx::6b13af50-ce8b-483e-8fc4-f994efaf3289" providerId="AD" clId="Web-{B5D5245D-A297-B2B5-8252-7372549C60AB}" dt="2026-06-23T19:44:14.057" v="7" actId="1076"/>
        <pc:sldMkLst>
          <pc:docMk/>
          <pc:sldMk cId="0" sldId="260"/>
        </pc:sldMkLst>
        <pc:picChg chg="add mod">
          <ac:chgData name="Laura Patricia Galvan Chavez" userId="S::laura.galvan@imss.gob.mx::6b13af50-ce8b-483e-8fc4-f994efaf3289" providerId="AD" clId="Web-{B5D5245D-A297-B2B5-8252-7372549C60AB}" dt="2026-06-23T19:44:14.057" v="7" actId="1076"/>
          <ac:picMkLst>
            <pc:docMk/>
            <pc:sldMk cId="0" sldId="260"/>
            <ac:picMk id="2" creationId="{45B469C6-C898-F0EB-1A6B-6AA0AFD617E7}"/>
          </ac:picMkLst>
        </pc:picChg>
      </pc:sldChg>
    </pc:docChg>
  </pc:docChgLst>
  <pc:docChgLst>
    <pc:chgData name="Laura Patricia Galvan Chavez" userId="S::laura.galvan@imss.gob.mx::6b13af50-ce8b-483e-8fc4-f994efaf3289" providerId="AD" clId="Web-{75420393-3FFF-CEDD-F5B4-184E3F3B6C3E}"/>
    <pc:docChg chg="modSld">
      <pc:chgData name="Laura Patricia Galvan Chavez" userId="S::laura.galvan@imss.gob.mx::6b13af50-ce8b-483e-8fc4-f994efaf3289" providerId="AD" clId="Web-{75420393-3FFF-CEDD-F5B4-184E3F3B6C3E}" dt="2026-06-23T22:39:11.512" v="9" actId="1076"/>
      <pc:docMkLst>
        <pc:docMk/>
      </pc:docMkLst>
    </pc:docChg>
  </pc:docChgLst>
  <pc:docChgLst>
    <pc:chgData name="Laura Patricia Galvan Chavez" userId="6b13af50-ce8b-483e-8fc4-f994efaf3289" providerId="ADAL" clId="{655D084B-7DF1-4C24-9447-417D7DC498B8}"/>
    <pc:docChg chg="custSel modSld">
      <pc:chgData name="Laura Patricia Galvan Chavez" userId="6b13af50-ce8b-483e-8fc4-f994efaf3289" providerId="ADAL" clId="{655D084B-7DF1-4C24-9447-417D7DC498B8}" dt="2026-07-02T18:36:05.363" v="29" actId="207"/>
      <pc:docMkLst>
        <pc:docMk/>
      </pc:docMkLst>
      <pc:sldChg chg="modSp mod">
        <pc:chgData name="Laura Patricia Galvan Chavez" userId="6b13af50-ce8b-483e-8fc4-f994efaf3289" providerId="ADAL" clId="{655D084B-7DF1-4C24-9447-417D7DC498B8}" dt="2026-06-29T17:26:42.332" v="16" actId="1076"/>
        <pc:sldMkLst>
          <pc:docMk/>
          <pc:sldMk cId="0" sldId="260"/>
        </pc:sldMkLst>
        <pc:graphicFrameChg chg="mod">
          <ac:chgData name="Laura Patricia Galvan Chavez" userId="6b13af50-ce8b-483e-8fc4-f994efaf3289" providerId="ADAL" clId="{655D084B-7DF1-4C24-9447-417D7DC498B8}" dt="2026-06-29T17:26:38.701" v="15" actId="1076"/>
          <ac:graphicFrameMkLst>
            <pc:docMk/>
            <pc:sldMk cId="0" sldId="260"/>
            <ac:graphicFrameMk id="13" creationId="{00000000-0000-0000-0000-000000000000}"/>
          </ac:graphicFrameMkLst>
        </pc:graphicFrameChg>
        <pc:picChg chg="mod">
          <ac:chgData name="Laura Patricia Galvan Chavez" userId="6b13af50-ce8b-483e-8fc4-f994efaf3289" providerId="ADAL" clId="{655D084B-7DF1-4C24-9447-417D7DC498B8}" dt="2026-06-29T17:26:42.332" v="16" actId="1076"/>
          <ac:picMkLst>
            <pc:docMk/>
            <pc:sldMk cId="0" sldId="260"/>
            <ac:picMk id="12" creationId="{00000000-0000-0000-0000-000000000000}"/>
          </ac:picMkLst>
        </pc:picChg>
      </pc:sldChg>
      <pc:sldChg chg="modSp mod">
        <pc:chgData name="Laura Patricia Galvan Chavez" userId="6b13af50-ce8b-483e-8fc4-f994efaf3289" providerId="ADAL" clId="{655D084B-7DF1-4C24-9447-417D7DC498B8}" dt="2026-07-02T18:36:05.363" v="29" actId="207"/>
        <pc:sldMkLst>
          <pc:docMk/>
          <pc:sldMk cId="0" sldId="261"/>
        </pc:sldMkLst>
        <pc:spChg chg="mod">
          <ac:chgData name="Laura Patricia Galvan Chavez" userId="6b13af50-ce8b-483e-8fc4-f994efaf3289" providerId="ADAL" clId="{655D084B-7DF1-4C24-9447-417D7DC498B8}" dt="2026-07-02T18:35:58.147" v="28" actId="207"/>
          <ac:spMkLst>
            <pc:docMk/>
            <pc:sldMk cId="0" sldId="261"/>
            <ac:spMk id="155" creationId="{00000000-0000-0000-0000-000000000000}"/>
          </ac:spMkLst>
        </pc:spChg>
        <pc:graphicFrameChg chg="modGraphic">
          <ac:chgData name="Laura Patricia Galvan Chavez" userId="6b13af50-ce8b-483e-8fc4-f994efaf3289" providerId="ADAL" clId="{655D084B-7DF1-4C24-9447-417D7DC498B8}" dt="2026-07-02T18:36:05.363" v="29" actId="207"/>
          <ac:graphicFrameMkLst>
            <pc:docMk/>
            <pc:sldMk cId="0" sldId="261"/>
            <ac:graphicFrameMk id="154" creationId="{00000000-0000-0000-0000-000000000000}"/>
          </ac:graphicFrameMkLst>
        </pc:graphicFrameChg>
      </pc:sldChg>
      <pc:sldChg chg="modSp mod">
        <pc:chgData name="Laura Patricia Galvan Chavez" userId="6b13af50-ce8b-483e-8fc4-f994efaf3289" providerId="ADAL" clId="{655D084B-7DF1-4C24-9447-417D7DC498B8}" dt="2026-06-29T17:44:25.652" v="26" actId="20577"/>
        <pc:sldMkLst>
          <pc:docMk/>
          <pc:sldMk cId="0" sldId="279"/>
        </pc:sldMkLst>
        <pc:graphicFrameChg chg="modGraphic">
          <ac:chgData name="Laura Patricia Galvan Chavez" userId="6b13af50-ce8b-483e-8fc4-f994efaf3289" providerId="ADAL" clId="{655D084B-7DF1-4C24-9447-417D7DC498B8}" dt="2026-06-29T17:44:25.652" v="26" actId="20577"/>
          <ac:graphicFrameMkLst>
            <pc:docMk/>
            <pc:sldMk cId="0" sldId="279"/>
            <ac:graphicFrameMk id="514" creationId="{00000000-0000-0000-0000-000000000000}"/>
          </ac:graphicFrameMkLst>
        </pc:graphicFrameChg>
      </pc:sldChg>
    </pc:docChg>
  </pc:docChgLst>
  <pc:docChgLst>
    <pc:chgData name="Norma Edith Jimenez Hernandez" userId="71858b7e-10a9-4afa-b58c-7b4a6c30cd53" providerId="ADAL" clId="{91141CC3-E5EA-4DD9-AA7B-0F0F2578B8AD}"/>
    <pc:docChg chg="modSld">
      <pc:chgData name="Norma Edith Jimenez Hernandez" userId="71858b7e-10a9-4afa-b58c-7b4a6c30cd53" providerId="ADAL" clId="{91141CC3-E5EA-4DD9-AA7B-0F0F2578B8AD}" dt="2026-06-26T18:04:24.540" v="42" actId="20577"/>
      <pc:docMkLst>
        <pc:docMk/>
      </pc:docMkLst>
      <pc:sldChg chg="modSp mod">
        <pc:chgData name="Norma Edith Jimenez Hernandez" userId="71858b7e-10a9-4afa-b58c-7b4a6c30cd53" providerId="ADAL" clId="{91141CC3-E5EA-4DD9-AA7B-0F0F2578B8AD}" dt="2026-06-26T18:00:29.267" v="1" actId="20577"/>
        <pc:sldMkLst>
          <pc:docMk/>
          <pc:sldMk cId="0" sldId="256"/>
        </pc:sldMkLst>
        <pc:spChg chg="mod">
          <ac:chgData name="Norma Edith Jimenez Hernandez" userId="71858b7e-10a9-4afa-b58c-7b4a6c30cd53" providerId="ADAL" clId="{91141CC3-E5EA-4DD9-AA7B-0F0F2578B8AD}" dt="2026-06-26T18:00:29.267" v="1" actId="20577"/>
          <ac:spMkLst>
            <pc:docMk/>
            <pc:sldMk cId="0" sldId="256"/>
            <ac:spMk id="70" creationId="{00000000-0000-0000-0000-000000000000}"/>
          </ac:spMkLst>
        </pc:spChg>
      </pc:sldChg>
      <pc:sldChg chg="modSp mod modCm">
        <pc:chgData name="Norma Edith Jimenez Hernandez" userId="71858b7e-10a9-4afa-b58c-7b4a6c30cd53" providerId="ADAL" clId="{91141CC3-E5EA-4DD9-AA7B-0F0F2578B8AD}" dt="2026-06-26T18:03:21.301" v="3" actId="20577"/>
        <pc:sldMkLst>
          <pc:docMk/>
          <pc:sldMk cId="3240565764" sldId="297"/>
        </pc:sldMkLst>
        <pc:graphicFrameChg chg="modGraphic">
          <ac:chgData name="Norma Edith Jimenez Hernandez" userId="71858b7e-10a9-4afa-b58c-7b4a6c30cd53" providerId="ADAL" clId="{91141CC3-E5EA-4DD9-AA7B-0F0F2578B8AD}" dt="2026-06-26T18:03:21.301" v="3" actId="20577"/>
          <ac:graphicFrameMkLst>
            <pc:docMk/>
            <pc:sldMk cId="3240565764" sldId="297"/>
            <ac:graphicFrameMk id="17"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Norma Edith Jimenez Hernandez" userId="71858b7e-10a9-4afa-b58c-7b4a6c30cd53" providerId="ADAL" clId="{91141CC3-E5EA-4DD9-AA7B-0F0F2578B8AD}" dt="2026-06-26T18:03:21.301" v="3" actId="20577"/>
              <pc2:cmMkLst xmlns:pc2="http://schemas.microsoft.com/office/powerpoint/2019/9/main/command">
                <pc:docMk/>
                <pc:sldMk cId="3240565764" sldId="297"/>
                <pc2:cmMk id="{86D63BE0-2375-49CE-94CC-3A7D8411A8B9}"/>
              </pc2:cmMkLst>
            </pc226:cmChg>
          </p:ext>
        </pc:extLst>
      </pc:sldChg>
      <pc:sldChg chg="modSp mod">
        <pc:chgData name="Norma Edith Jimenez Hernandez" userId="71858b7e-10a9-4afa-b58c-7b4a6c30cd53" providerId="ADAL" clId="{91141CC3-E5EA-4DD9-AA7B-0F0F2578B8AD}" dt="2026-06-26T18:04:24.540" v="42" actId="20577"/>
        <pc:sldMkLst>
          <pc:docMk/>
          <pc:sldMk cId="30077326" sldId="299"/>
        </pc:sldMkLst>
        <pc:spChg chg="mod">
          <ac:chgData name="Norma Edith Jimenez Hernandez" userId="71858b7e-10a9-4afa-b58c-7b4a6c30cd53" providerId="ADAL" clId="{91141CC3-E5EA-4DD9-AA7B-0F0F2578B8AD}" dt="2026-06-26T18:04:24.540" v="42" actId="20577"/>
          <ac:spMkLst>
            <pc:docMk/>
            <pc:sldMk cId="30077326" sldId="299"/>
            <ac:spMk id="5" creationId="{1BEFB9FC-5F8E-BFC5-0416-7D507AFA7F9F}"/>
          </ac:spMkLst>
        </pc:spChg>
        <pc:graphicFrameChg chg="modGraphic">
          <ac:chgData name="Norma Edith Jimenez Hernandez" userId="71858b7e-10a9-4afa-b58c-7b4a6c30cd53" providerId="ADAL" clId="{91141CC3-E5EA-4DD9-AA7B-0F0F2578B8AD}" dt="2026-06-26T18:04:02.249" v="8" actId="14100"/>
          <ac:graphicFrameMkLst>
            <pc:docMk/>
            <pc:sldMk cId="30077326" sldId="299"/>
            <ac:graphicFrameMk id="20" creationId="{00000000-0000-0000-0000-000000000000}"/>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2_0.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_106_0.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_118_203AAD76.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_10B_0.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_10E_0.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_116_0.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_117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strCache>
            </c:strRef>
          </c:tx>
          <c:dPt>
            <c:idx val="0"/>
            <c:bubble3D val="0"/>
            <c:spPr>
              <a:solidFill>
                <a:srgbClr val="006455"/>
              </a:solidFill>
            </c:spPr>
            <c:extLst>
              <c:ext xmlns:c16="http://schemas.microsoft.com/office/drawing/2014/chart" uri="{C3380CC4-5D6E-409C-BE32-E72D297353CC}">
                <c16:uniqueId val="{00000001-929F-4EF5-B135-F3C6C8B31CAA}"/>
              </c:ext>
            </c:extLst>
          </c:dPt>
          <c:dPt>
            <c:idx val="1"/>
            <c:bubble3D val="0"/>
            <c:spPr>
              <a:solidFill>
                <a:srgbClr val="691C32"/>
              </a:solidFill>
            </c:spPr>
            <c:extLst>
              <c:ext xmlns:c16="http://schemas.microsoft.com/office/drawing/2014/chart" uri="{C3380CC4-5D6E-409C-BE32-E72D297353CC}">
                <c16:uniqueId val="{00000003-929F-4EF5-B135-F3C6C8B31CAA}"/>
              </c:ext>
            </c:extLst>
          </c:dPt>
          <c:dPt>
            <c:idx val="2"/>
            <c:bubble3D val="0"/>
            <c:spPr>
              <a:solidFill>
                <a:srgbClr val="BC955C"/>
              </a:solidFill>
            </c:spPr>
            <c:extLst>
              <c:ext xmlns:c16="http://schemas.microsoft.com/office/drawing/2014/chart" uri="{C3380CC4-5D6E-409C-BE32-E72D297353CC}">
                <c16:uniqueId val="{00000005-929F-4EF5-B135-F3C6C8B31CAA}"/>
              </c:ext>
            </c:extLst>
          </c:dPt>
          <c:dPt>
            <c:idx val="3"/>
            <c:bubble3D val="0"/>
            <c:spPr>
              <a:solidFill>
                <a:srgbClr val="9E9E9E"/>
              </a:solidFill>
            </c:spPr>
            <c:extLst>
              <c:ext xmlns:c16="http://schemas.microsoft.com/office/drawing/2014/chart" uri="{C3380CC4-5D6E-409C-BE32-E72D297353CC}">
                <c16:uniqueId val="{00000007-929F-4EF5-B135-F3C6C8B31CAA}"/>
              </c:ext>
            </c:extLst>
          </c:dPt>
          <c:cat>
            <c:strRef>
              <c:f>Sheet1!$A$2:$A$5</c:f>
              <c:strCache>
                <c:ptCount val="4"/>
                <c:pt idx="0">
                  <c:v>IMSS</c:v>
                </c:pt>
                <c:pt idx="1">
                  <c:v>ISSSTE</c:v>
                </c:pt>
                <c:pt idx="2">
                  <c:v>IMSS-BIENESTAR</c:v>
                </c:pt>
                <c:pt idx="3">
                  <c:v>Otros</c:v>
                </c:pt>
              </c:strCache>
            </c:strRef>
          </c:cat>
          <c:val>
            <c:numRef>
              <c:f>Sheet1!$B$2:$B$5</c:f>
              <c:numCache>
                <c:formatCode>General</c:formatCode>
                <c:ptCount val="4"/>
                <c:pt idx="0">
                  <c:v>491844</c:v>
                </c:pt>
                <c:pt idx="1">
                  <c:v>95724</c:v>
                </c:pt>
                <c:pt idx="2">
                  <c:v>174621</c:v>
                </c:pt>
                <c:pt idx="3">
                  <c:v>9349</c:v>
                </c:pt>
              </c:numCache>
            </c:numRef>
          </c:val>
          <c:extLst>
            <c:ext xmlns:c16="http://schemas.microsoft.com/office/drawing/2014/chart" uri="{C3380CC4-5D6E-409C-BE32-E72D297353CC}">
              <c16:uniqueId val="{00000008-929F-4EF5-B135-F3C6C8B31CAA}"/>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s-MX"/>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4298-4646-96C3-D9B0C34EECD9}"/>
              </c:ext>
            </c:extLst>
          </c:dPt>
          <c:dPt>
            <c:idx val="1"/>
            <c:bubble3D val="0"/>
            <c:spPr>
              <a:solidFill>
                <a:srgbClr val="EBE0D2"/>
              </a:solidFill>
              <a:ln>
                <a:noFill/>
              </a:ln>
            </c:spPr>
            <c:extLst>
              <c:ext xmlns:c16="http://schemas.microsoft.com/office/drawing/2014/chart" uri="{C3380CC4-5D6E-409C-BE32-E72D297353CC}">
                <c16:uniqueId val="{00000003-4298-4646-96C3-D9B0C34EECD9}"/>
              </c:ext>
            </c:extLst>
          </c:dPt>
          <c:cat>
            <c:strRef>
              <c:f>Sheet1!$A$2:$A$3</c:f>
              <c:strCache>
                <c:ptCount val="2"/>
                <c:pt idx="0">
                  <c:v>Avance</c:v>
                </c:pt>
                <c:pt idx="1">
                  <c:v>Restante</c:v>
                </c:pt>
              </c:strCache>
            </c:strRef>
          </c:cat>
          <c:val>
            <c:numRef>
              <c:f>Sheet1!$B$2:$B$3</c:f>
              <c:numCache>
                <c:formatCode>General</c:formatCode>
                <c:ptCount val="2"/>
                <c:pt idx="0">
                  <c:v>44.895977896894621</c:v>
                </c:pt>
                <c:pt idx="1">
                  <c:v>55.104022103105379</c:v>
                </c:pt>
              </c:numCache>
            </c:numRef>
          </c:val>
          <c:extLst>
            <c:ext xmlns:c16="http://schemas.microsoft.com/office/drawing/2014/chart" uri="{C3380CC4-5D6E-409C-BE32-E72D297353CC}">
              <c16:uniqueId val="{00000004-4298-4646-96C3-D9B0C34EECD9}"/>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overlay val="0"/>
    </c:title>
    <c:autoTitleDeleted val="0"/>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8A32-41B9-B924-CA442108A96A}"/>
              </c:ext>
            </c:extLst>
          </c:dPt>
          <c:dPt>
            <c:idx val="1"/>
            <c:bubble3D val="0"/>
            <c:spPr>
              <a:solidFill>
                <a:srgbClr val="EBE0D2"/>
              </a:solidFill>
              <a:ln>
                <a:noFill/>
              </a:ln>
            </c:spPr>
            <c:extLst>
              <c:ext xmlns:c16="http://schemas.microsoft.com/office/drawing/2014/chart" uri="{C3380CC4-5D6E-409C-BE32-E72D297353CC}">
                <c16:uniqueId val="{00000003-8A32-41B9-B924-CA442108A96A}"/>
              </c:ext>
            </c:extLst>
          </c:dPt>
          <c:cat>
            <c:strRef>
              <c:f>Sheet1!$A$2:$A$3</c:f>
              <c:strCache>
                <c:ptCount val="2"/>
                <c:pt idx="0">
                  <c:v>Avance</c:v>
                </c:pt>
                <c:pt idx="1">
                  <c:v>Restante</c:v>
                </c:pt>
              </c:strCache>
            </c:strRef>
          </c:cat>
          <c:val>
            <c:numRef>
              <c:f>Sheet1!$B$2:$B$3</c:f>
              <c:numCache>
                <c:formatCode>General</c:formatCode>
                <c:ptCount val="2"/>
                <c:pt idx="0">
                  <c:v>19.453627904599998</c:v>
                </c:pt>
                <c:pt idx="1">
                  <c:v>80.546372095400002</c:v>
                </c:pt>
              </c:numCache>
            </c:numRef>
          </c:val>
          <c:extLst>
            <c:ext xmlns:c16="http://schemas.microsoft.com/office/drawing/2014/chart" uri="{C3380CC4-5D6E-409C-BE32-E72D297353CC}">
              <c16:uniqueId val="{00000004-8A32-41B9-B924-CA442108A96A}"/>
            </c:ext>
          </c:extLst>
        </c:ser>
        <c:dLbls>
          <c:showLegendKey val="0"/>
          <c:showVal val="0"/>
          <c:showCatName val="0"/>
          <c:showSerName val="0"/>
          <c:showPercent val="0"/>
          <c:showBubbleSize val="0"/>
          <c:showLeaderLines val="1"/>
        </c:dLbls>
        <c:firstSliceAng val="0"/>
        <c:holeSize val="70"/>
      </c:doughnutChart>
    </c:plotArea>
    <c:plotVisOnly val="1"/>
    <c:dispBlanksAs val="zero"/>
    <c:showDLblsOverMax val="1"/>
  </c:char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9F73-4017-A223-4713E0473BFF}"/>
              </c:ext>
            </c:extLst>
          </c:dPt>
          <c:dPt>
            <c:idx val="1"/>
            <c:bubble3D val="0"/>
            <c:spPr>
              <a:solidFill>
                <a:srgbClr val="EBE0D2"/>
              </a:solidFill>
              <a:ln>
                <a:noFill/>
              </a:ln>
            </c:spPr>
            <c:extLst>
              <c:ext xmlns:c16="http://schemas.microsoft.com/office/drawing/2014/chart" uri="{C3380CC4-5D6E-409C-BE32-E72D297353CC}">
                <c16:uniqueId val="{00000003-9F73-4017-A223-4713E0473BFF}"/>
              </c:ext>
            </c:extLst>
          </c:dPt>
          <c:cat>
            <c:strRef>
              <c:f>Sheet1!$A$2:$A$3</c:f>
              <c:strCache>
                <c:ptCount val="2"/>
                <c:pt idx="0">
                  <c:v>Avance</c:v>
                </c:pt>
                <c:pt idx="1">
                  <c:v>Restante</c:v>
                </c:pt>
              </c:strCache>
            </c:strRef>
          </c:cat>
          <c:val>
            <c:numRef>
              <c:f>Sheet1!$B$2:$B$3</c:f>
              <c:numCache>
                <c:formatCode>General</c:formatCode>
                <c:ptCount val="2"/>
                <c:pt idx="0">
                  <c:v>42.094928521675676</c:v>
                </c:pt>
                <c:pt idx="1">
                  <c:v>57.905071478324324</c:v>
                </c:pt>
              </c:numCache>
            </c:numRef>
          </c:val>
          <c:extLst>
            <c:ext xmlns:c16="http://schemas.microsoft.com/office/drawing/2014/chart" uri="{C3380CC4-5D6E-409C-BE32-E72D297353CC}">
              <c16:uniqueId val="{00000004-9F73-4017-A223-4713E0473BFF}"/>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E4A6-4AF6-85B1-00246B755560}"/>
              </c:ext>
            </c:extLst>
          </c:dPt>
          <c:dPt>
            <c:idx val="1"/>
            <c:bubble3D val="0"/>
            <c:spPr>
              <a:solidFill>
                <a:srgbClr val="EBE0D2"/>
              </a:solidFill>
              <a:ln>
                <a:noFill/>
              </a:ln>
            </c:spPr>
            <c:extLst>
              <c:ext xmlns:c16="http://schemas.microsoft.com/office/drawing/2014/chart" uri="{C3380CC4-5D6E-409C-BE32-E72D297353CC}">
                <c16:uniqueId val="{00000003-E4A6-4AF6-85B1-00246B755560}"/>
              </c:ext>
            </c:extLst>
          </c:dPt>
          <c:cat>
            <c:strRef>
              <c:f>Sheet1!$A$2:$A$3</c:f>
              <c:strCache>
                <c:ptCount val="2"/>
                <c:pt idx="0">
                  <c:v>Avance</c:v>
                </c:pt>
                <c:pt idx="1">
                  <c:v>Restante</c:v>
                </c:pt>
              </c:strCache>
            </c:strRef>
          </c:cat>
          <c:val>
            <c:numRef>
              <c:f>Sheet1!$B$2:$B$3</c:f>
              <c:numCache>
                <c:formatCode>General</c:formatCode>
                <c:ptCount val="2"/>
                <c:pt idx="0">
                  <c:v>37.69896676905892</c:v>
                </c:pt>
                <c:pt idx="1">
                  <c:v>62.30103323094108</c:v>
                </c:pt>
              </c:numCache>
            </c:numRef>
          </c:val>
          <c:extLst>
            <c:ext xmlns:c16="http://schemas.microsoft.com/office/drawing/2014/chart" uri="{C3380CC4-5D6E-409C-BE32-E72D297353CC}">
              <c16:uniqueId val="{00000004-E4A6-4AF6-85B1-00246B755560}"/>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strCache>
            </c:strRef>
          </c:tx>
          <c:spPr>
            <a:solidFill>
              <a:srgbClr val="006455"/>
            </a:solidFill>
          </c:spPr>
          <c:invertIfNegative val="1"/>
          <c:dPt>
            <c:idx val="3"/>
            <c:invertIfNegative val="1"/>
            <c:bubble3D val="0"/>
            <c:spPr>
              <a:solidFill>
                <a:srgbClr val="691C32"/>
              </a:solidFill>
            </c:spPr>
            <c:extLst>
              <c:ext xmlns:c16="http://schemas.microsoft.com/office/drawing/2014/chart" uri="{C3380CC4-5D6E-409C-BE32-E72D297353CC}">
                <c16:uniqueId val="{00000001-92FC-4930-A71A-3F42E3510F1A}"/>
              </c:ext>
            </c:extLst>
          </c:dPt>
          <c:dLbls>
            <c:numFmt formatCode="#,##0" sourceLinked="0"/>
            <c:spPr>
              <a:noFill/>
              <a:ln>
                <a:noFill/>
              </a:ln>
              <a:effectLst/>
            </c:spPr>
            <c:txPr>
              <a:bodyPr/>
              <a:lstStyle/>
              <a:p>
                <a:pPr>
                  <a:defRPr sz="1000" b="1">
                    <a:solidFill>
                      <a:srgbClr val="FFFFFF"/>
                    </a:solidFill>
                    <a:latin typeface="Montserrat"/>
                  </a:defRPr>
                </a:pPr>
                <a:endParaRPr lang="es-MX"/>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2018</c:v>
                </c:pt>
                <c:pt idx="1">
                  <c:v>2024</c:v>
                </c:pt>
                <c:pt idx="2">
                  <c:v>2025</c:v>
                </c:pt>
                <c:pt idx="3">
                  <c:v>2026</c:v>
                </c:pt>
              </c:strCache>
            </c:strRef>
          </c:cat>
          <c:val>
            <c:numRef>
              <c:f>Sheet1!$B$2:$B$5</c:f>
              <c:numCache>
                <c:formatCode>General</c:formatCode>
                <c:ptCount val="4"/>
                <c:pt idx="0">
                  <c:v>19</c:v>
                </c:pt>
                <c:pt idx="1">
                  <c:v>61</c:v>
                </c:pt>
                <c:pt idx="2">
                  <c:v>49</c:v>
                </c:pt>
                <c:pt idx="3">
                  <c:v>38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92FC-4930-A71A-3F42E3510F1A}"/>
            </c:ext>
          </c:extLst>
        </c:ser>
        <c:dLbls>
          <c:dLblPos val="inEnd"/>
          <c:showLegendKey val="0"/>
          <c:showVal val="1"/>
          <c:showCatName val="0"/>
          <c:showSerName val="0"/>
          <c:showPercent val="0"/>
          <c:showBubbleSize val="0"/>
        </c:dLbls>
        <c:gapWidth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8C8"/>
            </a:solidFill>
          </a:ln>
        </c:spPr>
        <c:txPr>
          <a:bodyPr/>
          <a:lstStyle/>
          <a:p>
            <a:pPr>
              <a:defRPr sz="1000" b="0">
                <a:latin typeface="Montserrat"/>
              </a:defRPr>
            </a:pPr>
            <a:endParaRPr lang="es-MX"/>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bar"/>
        <c:grouping val="clustered"/>
        <c:varyColors val="1"/>
        <c:ser>
          <c:idx val="0"/>
          <c:order val="0"/>
          <c:tx>
            <c:strRef>
              <c:f>Sheet1!$B$1</c:f>
              <c:strCache>
                <c:ptCount val="1"/>
                <c:pt idx="0">
                  <c:v>Mes Anterior</c:v>
                </c:pt>
              </c:strCache>
            </c:strRef>
          </c:tx>
          <c:spPr>
            <a:solidFill>
              <a:srgbClr val="006455"/>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Comercio</c:v>
                </c:pt>
                <c:pt idx="1">
                  <c:v>Servicios para Empresas, Personas y el Hogar</c:v>
                </c:pt>
                <c:pt idx="2">
                  <c:v>Ind Eléctrica y Captación y Suministro de Agua Potable</c:v>
                </c:pt>
                <c:pt idx="3">
                  <c:v>Servicios Sociales y Comunales</c:v>
                </c:pt>
                <c:pt idx="4">
                  <c:v>Industria de la Construcción</c:v>
                </c:pt>
                <c:pt idx="5">
                  <c:v>Industrias Extractivas</c:v>
                </c:pt>
                <c:pt idx="6">
                  <c:v>Agricultura, Ganaderia, Silvicultura, Pesca y Caza</c:v>
                </c:pt>
                <c:pt idx="7">
                  <c:v>Transportes y Comunicaciones</c:v>
                </c:pt>
                <c:pt idx="8">
                  <c:v>Industrias de la Transformación</c:v>
                </c:pt>
              </c:strCache>
            </c:strRef>
          </c:cat>
          <c:val>
            <c:numRef>
              <c:f>Sheet1!$B$2:$B$10</c:f>
              <c:numCache>
                <c:formatCode>General</c:formatCode>
                <c:ptCount val="9"/>
                <c:pt idx="0">
                  <c:v>32072</c:v>
                </c:pt>
                <c:pt idx="1">
                  <c:v>24607</c:v>
                </c:pt>
                <c:pt idx="2">
                  <c:v>2413</c:v>
                </c:pt>
                <c:pt idx="3">
                  <c:v>30430</c:v>
                </c:pt>
                <c:pt idx="4">
                  <c:v>13265</c:v>
                </c:pt>
                <c:pt idx="5">
                  <c:v>2777</c:v>
                </c:pt>
                <c:pt idx="6">
                  <c:v>9258</c:v>
                </c:pt>
                <c:pt idx="7">
                  <c:v>26950</c:v>
                </c:pt>
                <c:pt idx="8">
                  <c:v>14638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039-4F76-8BAD-CE0EFBE5AD03}"/>
            </c:ext>
          </c:extLst>
        </c:ser>
        <c:ser>
          <c:idx val="1"/>
          <c:order val="1"/>
          <c:tx>
            <c:strRef>
              <c:f>Sheet1!$C$1</c:f>
              <c:strCache>
                <c:ptCount val="1"/>
                <c:pt idx="0">
                  <c:v>Mes Actual</c:v>
                </c:pt>
              </c:strCache>
            </c:strRef>
          </c:tx>
          <c:spPr>
            <a:solidFill>
              <a:srgbClr val="9F2241"/>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Comercio</c:v>
                </c:pt>
                <c:pt idx="1">
                  <c:v>Servicios para Empresas, Personas y el Hogar</c:v>
                </c:pt>
                <c:pt idx="2">
                  <c:v>Ind Eléctrica y Captación y Suministro de Agua Potable</c:v>
                </c:pt>
                <c:pt idx="3">
                  <c:v>Servicios Sociales y Comunales</c:v>
                </c:pt>
                <c:pt idx="4">
                  <c:v>Industria de la Construcción</c:v>
                </c:pt>
                <c:pt idx="5">
                  <c:v>Industrias Extractivas</c:v>
                </c:pt>
                <c:pt idx="6">
                  <c:v>Agricultura, Ganaderia, Silvicultura, Pesca y Caza</c:v>
                </c:pt>
                <c:pt idx="7">
                  <c:v>Transportes y Comunicaciones</c:v>
                </c:pt>
                <c:pt idx="8">
                  <c:v>Industrias de la Transformación</c:v>
                </c:pt>
              </c:strCache>
            </c:strRef>
          </c:cat>
          <c:val>
            <c:numRef>
              <c:f>Sheet1!$C$2:$C$10</c:f>
              <c:numCache>
                <c:formatCode>General</c:formatCode>
                <c:ptCount val="9"/>
                <c:pt idx="0">
                  <c:v>30592</c:v>
                </c:pt>
                <c:pt idx="1">
                  <c:v>24248</c:v>
                </c:pt>
                <c:pt idx="2">
                  <c:v>2391</c:v>
                </c:pt>
                <c:pt idx="3">
                  <c:v>30488</c:v>
                </c:pt>
                <c:pt idx="4">
                  <c:v>13413</c:v>
                </c:pt>
                <c:pt idx="5">
                  <c:v>2856</c:v>
                </c:pt>
                <c:pt idx="6">
                  <c:v>9525</c:v>
                </c:pt>
                <c:pt idx="7">
                  <c:v>28111</c:v>
                </c:pt>
                <c:pt idx="8">
                  <c:v>16112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039-4F76-8BAD-CE0EFBE5AD03}"/>
            </c:ext>
          </c:extLst>
        </c:ser>
        <c:dLbls>
          <c:showLegendKey val="0"/>
          <c:showVal val="0"/>
          <c:showCatName val="0"/>
          <c:showSerName val="0"/>
          <c:showPercent val="0"/>
          <c:showBubbleSize val="0"/>
        </c:dLbls>
        <c:gapWidth val="50"/>
        <c:axId val="-2068027336"/>
        <c:axId val="-2113994440"/>
      </c:barChart>
      <c:catAx>
        <c:axId val="-2068027336"/>
        <c:scaling>
          <c:orientation val="maxMin"/>
        </c:scaling>
        <c:delete val="0"/>
        <c:axPos val="l"/>
        <c:numFmt formatCode="General" sourceLinked="0"/>
        <c:majorTickMark val="out"/>
        <c:minorTickMark val="none"/>
        <c:tickLblPos val="nextTo"/>
        <c:txPr>
          <a:bodyPr/>
          <a:lstStyle/>
          <a:p>
            <a:pPr>
              <a:defRPr sz="700" b="1">
                <a:solidFill>
                  <a:srgbClr val="000000"/>
                </a:solidFill>
                <a:latin typeface="Montserrat"/>
              </a:defRPr>
            </a:pPr>
            <a:endParaRPr lang="es-MX"/>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Total</c:v>
                </c:pt>
              </c:strCache>
            </c:strRef>
          </c:tx>
          <c:spPr>
            <a:solidFill>
              <a:srgbClr val="006455"/>
            </a:solidFill>
          </c:spPr>
          <c:invertIfNegative val="1"/>
          <c:dLbls>
            <c:numFmt formatCode="#,##0" sourceLinked="0"/>
            <c:spPr>
              <a:noFill/>
              <a:ln>
                <a:noFill/>
              </a:ln>
              <a:effectLst/>
            </c:spPr>
            <c:txPr>
              <a:bodyPr/>
              <a:lstStyle/>
              <a:p>
                <a:pPr>
                  <a:defRPr sz="1000" b="1">
                    <a:solidFill>
                      <a:srgbClr val="006455"/>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131595</c:v>
                </c:pt>
                <c:pt idx="1">
                  <c:v>134229</c:v>
                </c:pt>
                <c:pt idx="2">
                  <c:v>134302</c:v>
                </c:pt>
                <c:pt idx="3">
                  <c:v>136838</c:v>
                </c:pt>
                <c:pt idx="4">
                  <c:v>140744</c:v>
                </c:pt>
                <c:pt idx="5">
                  <c:v>148990</c:v>
                </c:pt>
                <c:pt idx="6">
                  <c:v>152107</c:v>
                </c:pt>
                <c:pt idx="7">
                  <c:v>156410</c:v>
                </c:pt>
                <c:pt idx="8">
                  <c:v>157736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DC4-4E68-80CE-0641A24E7B67}"/>
            </c:ext>
          </c:extLst>
        </c:ser>
        <c:dLbls>
          <c:showLegendKey val="0"/>
          <c:showVal val="0"/>
          <c:showCatName val="0"/>
          <c:showSerName val="0"/>
          <c:showPercent val="0"/>
          <c:showBubbleSize val="0"/>
        </c:dLbls>
        <c:gapWidth val="50"/>
        <c:axId val="-2068027336"/>
        <c:axId val="-2113994440"/>
      </c:barChart>
      <c:catAx>
        <c:axId val="-2068027336"/>
        <c:scaling>
          <c:orientation val="minMax"/>
        </c:scaling>
        <c:delete val="1"/>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22591490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1015433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3" name="Google Shape;13;p3"/>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p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283888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4"/>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4"/>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4"/>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4"/>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31266883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5"/>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5"/>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5"/>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5"/>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1193636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16188590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7"/>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15216029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8"/>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8"/>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23360326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26736927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2"/>
        <p:cNvGrpSpPr/>
        <p:nvPr/>
      </p:nvGrpSpPr>
      <p:grpSpPr>
        <a:xfrm>
          <a:off x="0" y="0"/>
          <a:ext cx="0" cy="0"/>
          <a:chOff x="0" y="0"/>
          <a:chExt cx="0" cy="0"/>
        </a:xfrm>
      </p:grpSpPr>
      <p:sp>
        <p:nvSpPr>
          <p:cNvPr id="43" name="Google Shape;43;p10"/>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10"/>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1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2026116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1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11267032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9"/>
        <p:cNvGrpSpPr/>
        <p:nvPr/>
      </p:nvGrpSpPr>
      <p:grpSpPr>
        <a:xfrm>
          <a:off x="0" y="0"/>
          <a:ext cx="0" cy="0"/>
          <a:chOff x="0" y="0"/>
          <a:chExt cx="0" cy="0"/>
        </a:xfrm>
      </p:grpSpPr>
      <p:sp>
        <p:nvSpPr>
          <p:cNvPr id="50" name="Google Shape;50;p12"/>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12"/>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12"/>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12"/>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1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3758775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5"/>
        <p:cNvGrpSpPr/>
        <p:nvPr/>
      </p:nvGrpSpPr>
      <p:grpSpPr>
        <a:xfrm>
          <a:off x="0" y="0"/>
          <a:ext cx="0" cy="0"/>
          <a:chOff x="0" y="0"/>
          <a:chExt cx="0" cy="0"/>
        </a:xfrm>
      </p:grpSpPr>
      <p:sp>
        <p:nvSpPr>
          <p:cNvPr id="56" name="Google Shape;56;p13"/>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1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9622918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8"/>
        <p:cNvGrpSpPr/>
        <p:nvPr/>
      </p:nvGrpSpPr>
      <p:grpSpPr>
        <a:xfrm>
          <a:off x="0" y="0"/>
          <a:ext cx="0" cy="0"/>
          <a:chOff x="0" y="0"/>
          <a:chExt cx="0" cy="0"/>
        </a:xfrm>
      </p:grpSpPr>
      <p:sp>
        <p:nvSpPr>
          <p:cNvPr id="59" name="Google Shape;59;p14"/>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14"/>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1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1724454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3221044271"/>
      </p:ext>
    </p:extLst>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chart" Target="../charts/chart1.xml"/><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3.png"/><Relationship Id="rId7"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chart" Target="../charts/chart6.xml"/><Relationship Id="rId4" Type="http://schemas.openxmlformats.org/officeDocument/2006/relationships/image" Target="../media/image31.png"/><Relationship Id="rId9"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chart" Target="../charts/chart7.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Colima</a:t>
            </a:r>
          </a:p>
        </p:txBody>
      </p:sp>
      <p:sp>
        <p:nvSpPr>
          <p:cNvPr id="70" name="TextBox 69"/>
          <p:cNvSpPr txBox="1"/>
          <p:nvPr/>
        </p:nvSpPr>
        <p:spPr>
          <a:xfrm>
            <a:off x="3176711" y="5472000"/>
            <a:ext cx="1418978" cy="553998"/>
          </a:xfrm>
          <a:prstGeom prst="rect">
            <a:avLst/>
          </a:prstGeom>
          <a:noFill/>
        </p:spPr>
        <p:txBody>
          <a:bodyPr wrap="none">
            <a:spAutoFit/>
          </a:bodyPr>
          <a:lstStyle/>
          <a:p>
            <a:pPr algn="ctr">
              <a:defRPr sz="1500" b="0">
                <a:solidFill>
                  <a:srgbClr val="7F7F7F"/>
                </a:solidFill>
                <a:latin typeface="Montserrat"/>
              </a:defRPr>
            </a:pPr>
            <a:r>
              <a:rPr lang="es-MX" err="1"/>
              <a:t>Ficha</a:t>
            </a:r>
            <a:r>
              <a:t> Estatal</a:t>
            </a:r>
          </a:p>
          <a:p>
            <a:pPr algn="ctr">
              <a:defRPr sz="1500" b="1">
                <a:solidFill>
                  <a:srgbClr val="7F7F7F"/>
                </a:solidFill>
                <a:latin typeface="Montserrat"/>
              </a:defRPr>
            </a:pPr>
            <a:r>
              <a:rPr lang="es-MX"/>
              <a:t>Julio</a:t>
            </a:r>
            <a:r>
              <a: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
        <p:nvSpPr>
          <p:cNvPr id="66" name="Google Shape;66;p15"/>
          <p:cNvSpPr/>
          <p:nvPr/>
        </p:nvSpPr>
        <p:spPr>
          <a:xfrm>
            <a:off x="15615" y="571500"/>
            <a:ext cx="7772400" cy="17718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graphicFrame>
        <p:nvGraphicFramePr>
          <p:cNvPr id="67" name="Google Shape;67;p15"/>
          <p:cNvGraphicFramePr/>
          <p:nvPr>
            <p:extLst>
              <p:ext uri="{D42A27DB-BD31-4B8C-83A1-F6EECF244321}">
                <p14:modId xmlns:p14="http://schemas.microsoft.com/office/powerpoint/2010/main" val="1044758393"/>
              </p:ext>
            </p:extLst>
          </p:nvPr>
        </p:nvGraphicFramePr>
        <p:xfrm>
          <a:off x="1192816" y="2363394"/>
          <a:ext cx="5178175" cy="6133375"/>
        </p:xfrm>
        <a:graphic>
          <a:graphicData uri="http://schemas.openxmlformats.org/drawingml/2006/table">
            <a:tbl>
              <a:tblPr>
                <a:noFill/>
              </a:tblPr>
              <a:tblGrid>
                <a:gridCol w="1684750">
                  <a:extLst>
                    <a:ext uri="{9D8B030D-6E8A-4147-A177-3AD203B41FA5}">
                      <a16:colId xmlns:a16="http://schemas.microsoft.com/office/drawing/2014/main" val="20000"/>
                    </a:ext>
                  </a:extLst>
                </a:gridCol>
                <a:gridCol w="2810900">
                  <a:extLst>
                    <a:ext uri="{9D8B030D-6E8A-4147-A177-3AD203B41FA5}">
                      <a16:colId xmlns:a16="http://schemas.microsoft.com/office/drawing/2014/main" val="20001"/>
                    </a:ext>
                  </a:extLst>
                </a:gridCol>
                <a:gridCol w="682525">
                  <a:extLst>
                    <a:ext uri="{9D8B030D-6E8A-4147-A177-3AD203B41FA5}">
                      <a16:colId xmlns:a16="http://schemas.microsoft.com/office/drawing/2014/main" val="20002"/>
                    </a:ext>
                  </a:extLst>
                </a:gridCol>
              </a:tblGrid>
              <a:tr h="813150">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t>
                      </a:r>
                      <a:br>
                        <a:rPr lang="es" sz="1000" b="1" u="none" strike="noStrike" cap="none">
                          <a:solidFill>
                            <a:schemeClr val="lt1"/>
                          </a:solidFill>
                          <a:latin typeface="Montserrat"/>
                          <a:ea typeface="Montserrat"/>
                          <a:cs typeface="Montserrat"/>
                          <a:sym typeface="Montserrat"/>
                        </a:rPr>
                      </a:br>
                      <a:r>
                        <a:rPr lang="es" sz="1000" b="1" u="none" strike="noStrike" cap="none">
                          <a:solidFill>
                            <a:schemeClr val="lt1"/>
                          </a:solidFill>
                          <a:latin typeface="Montserrat"/>
                          <a:ea typeface="Montserrat"/>
                          <a:cs typeface="Montserrat"/>
                          <a:sym typeface="Montserrat"/>
                        </a:rPr>
                        <a:t>de Prestaciones Médicas</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s" sz="1000" b="1" u="none" strike="noStrike" cap="none">
                          <a:solidFill>
                            <a:schemeClr val="dk1"/>
                          </a:solidFill>
                          <a:latin typeface="Montserrat"/>
                          <a:ea typeface="Montserrat"/>
                          <a:cs typeface="Montserrat"/>
                          <a:sym typeface="Montserrat"/>
                        </a:rPr>
                        <a:t>Dra. Jessica Gil Lozada </a:t>
                      </a:r>
                      <a:endParaRPr sz="1000" b="1"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Médico  Cirujano, Especialidad en  Epidemiología y Maestría en Gestión de Calidad de los Servicios de Salud</a:t>
                      </a:r>
                      <a:endParaRPr sz="100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Inicio en el encargo: 01 de enero del 2025</a:t>
                      </a: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758575">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t>
                      </a:r>
                      <a:br>
                        <a:rPr lang="es" sz="1000" b="1" u="none" strike="noStrike" cap="none">
                          <a:solidFill>
                            <a:schemeClr val="lt1"/>
                          </a:solidFill>
                          <a:latin typeface="Montserrat"/>
                          <a:ea typeface="Montserrat"/>
                          <a:cs typeface="Montserrat"/>
                          <a:sym typeface="Montserrat"/>
                        </a:rPr>
                      </a:br>
                      <a:r>
                        <a:rPr lang="es" sz="1000" b="1" u="none" strike="noStrike" cap="none">
                          <a:solidFill>
                            <a:schemeClr val="lt1"/>
                          </a:solidFill>
                          <a:latin typeface="Montserrat"/>
                          <a:ea typeface="Montserrat"/>
                          <a:cs typeface="Montserrat"/>
                          <a:sym typeface="Montserrat"/>
                        </a:rPr>
                        <a:t>de Salud en el Trabajo, Prestaciones Económicas y Sociales</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000" b="1">
                          <a:solidFill>
                            <a:schemeClr val="dk1"/>
                          </a:solidFill>
                          <a:latin typeface="Montserrat"/>
                          <a:ea typeface="Montserrat"/>
                          <a:cs typeface="Montserrat"/>
                          <a:sym typeface="Montserrat"/>
                        </a:rPr>
                        <a:t>Lic</a:t>
                      </a:r>
                      <a:r>
                        <a:rPr lang="es" sz="1000" b="1" u="none" strike="noStrike" cap="none">
                          <a:solidFill>
                            <a:schemeClr val="dk1"/>
                          </a:solidFill>
                          <a:latin typeface="Montserrat"/>
                          <a:ea typeface="Montserrat"/>
                          <a:cs typeface="Montserrat"/>
                          <a:sym typeface="Montserrat"/>
                        </a:rPr>
                        <a:t>. Sandra Velázquez Alcaraz</a:t>
                      </a:r>
                      <a:endParaRPr sz="1000" b="1"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900" u="none" strike="noStrike" cap="none">
                          <a:solidFill>
                            <a:schemeClr val="dk1"/>
                          </a:solidFill>
                          <a:latin typeface="Montserrat"/>
                          <a:ea typeface="Montserrat"/>
                          <a:cs typeface="Montserrat"/>
                          <a:sym typeface="Montserrat"/>
                        </a:rPr>
                        <a:t>Licenciada en Psicología, Máster en Mujeres y Salud así como Maestría en Alta Dirección </a:t>
                      </a:r>
                      <a:endParaRPr sz="900"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Inicio en el cargo: 01  de diciembre de 2024</a:t>
                      </a:r>
                      <a:endParaRPr sz="1000"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777800">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t>
                      </a:r>
                      <a:br>
                        <a:rPr lang="es" sz="1000" b="1" u="none" strike="noStrike" cap="none">
                          <a:solidFill>
                            <a:schemeClr val="lt1"/>
                          </a:solidFill>
                          <a:latin typeface="Montserrat"/>
                          <a:ea typeface="Montserrat"/>
                          <a:cs typeface="Montserrat"/>
                          <a:sym typeface="Montserrat"/>
                        </a:rPr>
                      </a:br>
                      <a:r>
                        <a:rPr lang="es" sz="1000" b="1" u="none" strike="noStrike" cap="none">
                          <a:solidFill>
                            <a:schemeClr val="lt1"/>
                          </a:solidFill>
                          <a:latin typeface="Montserrat"/>
                          <a:ea typeface="Montserrat"/>
                          <a:cs typeface="Montserrat"/>
                          <a:sym typeface="Montserrat"/>
                        </a:rPr>
                        <a:t>de Afiliación y Cobranza</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8100" marR="38100" lvl="0" indent="0" algn="l" rtl="0">
                        <a:lnSpc>
                          <a:spcPct val="108000"/>
                        </a:lnSpc>
                        <a:spcBef>
                          <a:spcPts val="0"/>
                        </a:spcBef>
                        <a:spcAft>
                          <a:spcPts val="0"/>
                        </a:spcAft>
                        <a:buClr>
                          <a:schemeClr val="dk1"/>
                        </a:buClr>
                        <a:buSzPts val="1100"/>
                        <a:buFont typeface="Arial"/>
                        <a:buNone/>
                      </a:pPr>
                      <a:r>
                        <a:rPr lang="es" sz="1000" b="1">
                          <a:solidFill>
                            <a:schemeClr val="dk1"/>
                          </a:solidFill>
                          <a:latin typeface="Montserrat"/>
                          <a:ea typeface="Montserrat"/>
                          <a:cs typeface="Montserrat"/>
                          <a:sym typeface="Montserrat"/>
                        </a:rPr>
                        <a:t>C.P. Edson Ali Casilla Lepe</a:t>
                      </a:r>
                      <a:endParaRPr sz="1000" b="1">
                        <a:solidFill>
                          <a:schemeClr val="dk1"/>
                        </a:solidFill>
                        <a:latin typeface="Montserrat"/>
                        <a:ea typeface="Montserrat"/>
                        <a:cs typeface="Montserrat"/>
                        <a:sym typeface="Montserrat"/>
                      </a:endParaRPr>
                    </a:p>
                    <a:p>
                      <a:pPr marL="38100" marR="38100" lvl="0" indent="0" algn="l" rtl="0">
                        <a:lnSpc>
                          <a:spcPct val="108000"/>
                        </a:lnSpc>
                        <a:spcBef>
                          <a:spcPts val="0"/>
                        </a:spcBef>
                        <a:spcAft>
                          <a:spcPts val="0"/>
                        </a:spcAft>
                        <a:buClr>
                          <a:schemeClr val="dk1"/>
                        </a:buClr>
                        <a:buSzPts val="1100"/>
                        <a:buFont typeface="Arial"/>
                        <a:buNone/>
                      </a:pPr>
                      <a:r>
                        <a:rPr lang="es" sz="1000">
                          <a:solidFill>
                            <a:schemeClr val="dk1"/>
                          </a:solidFill>
                          <a:latin typeface="Montserrat"/>
                          <a:ea typeface="Montserrat"/>
                          <a:cs typeface="Montserrat"/>
                          <a:sym typeface="Montserrat"/>
                        </a:rPr>
                        <a:t>Contador Público y</a:t>
                      </a:r>
                      <a:endParaRPr sz="1000">
                        <a:solidFill>
                          <a:schemeClr val="dk1"/>
                        </a:solidFill>
                        <a:latin typeface="Montserrat"/>
                        <a:ea typeface="Montserrat"/>
                        <a:cs typeface="Montserrat"/>
                        <a:sym typeface="Montserrat"/>
                      </a:endParaRPr>
                    </a:p>
                    <a:p>
                      <a:pPr marL="38100" marR="38100" lvl="0" indent="0" algn="l" rtl="0">
                        <a:lnSpc>
                          <a:spcPct val="108000"/>
                        </a:lnSpc>
                        <a:spcBef>
                          <a:spcPts val="0"/>
                        </a:spcBef>
                        <a:spcAft>
                          <a:spcPts val="0"/>
                        </a:spcAft>
                        <a:buClr>
                          <a:schemeClr val="dk1"/>
                        </a:buClr>
                        <a:buSzPts val="1100"/>
                        <a:buFont typeface="Arial"/>
                        <a:buNone/>
                      </a:pPr>
                      <a:r>
                        <a:rPr lang="es" sz="1000">
                          <a:solidFill>
                            <a:schemeClr val="dk1"/>
                          </a:solidFill>
                          <a:latin typeface="Montserrat"/>
                          <a:ea typeface="Montserrat"/>
                          <a:cs typeface="Montserrat"/>
                          <a:sym typeface="Montserrat"/>
                        </a:rPr>
                        <a:t>Maestría de Seguridad Social</a:t>
                      </a:r>
                      <a:endParaRPr sz="1000">
                        <a:solidFill>
                          <a:schemeClr val="dk1"/>
                        </a:solidFill>
                        <a:latin typeface="Montserrat"/>
                        <a:ea typeface="Montserrat"/>
                        <a:cs typeface="Montserrat"/>
                        <a:sym typeface="Montserrat"/>
                      </a:endParaRPr>
                    </a:p>
                    <a:p>
                      <a:pPr marL="38100" marR="38100" lvl="0" indent="0" algn="l" rtl="0">
                        <a:lnSpc>
                          <a:spcPct val="108000"/>
                        </a:lnSpc>
                        <a:spcBef>
                          <a:spcPts val="0"/>
                        </a:spcBef>
                        <a:spcAft>
                          <a:spcPts val="0"/>
                        </a:spcAft>
                        <a:buClr>
                          <a:schemeClr val="dk1"/>
                        </a:buClr>
                        <a:buSzPts val="1100"/>
                        <a:buFont typeface="Arial"/>
                        <a:buNone/>
                      </a:pPr>
                      <a:r>
                        <a:rPr lang="es" sz="1000">
                          <a:solidFill>
                            <a:schemeClr val="dk1"/>
                          </a:solidFill>
                          <a:latin typeface="Montserrat"/>
                          <a:ea typeface="Montserrat"/>
                          <a:cs typeface="Montserrat"/>
                          <a:sym typeface="Montserrat"/>
                        </a:rPr>
                        <a:t>Inicio en el cargo: 30 de marzo de 2026</a:t>
                      </a:r>
                      <a:endParaRPr sz="1000" b="1">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85225">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t>
                      </a:r>
                      <a:br>
                        <a:rPr lang="es" sz="1000" b="1" u="none" strike="noStrike" cap="none">
                          <a:solidFill>
                            <a:schemeClr val="lt1"/>
                          </a:solidFill>
                          <a:latin typeface="Montserrat"/>
                          <a:ea typeface="Montserrat"/>
                          <a:cs typeface="Montserrat"/>
                          <a:sym typeface="Montserrat"/>
                        </a:rPr>
                      </a:br>
                      <a:r>
                        <a:rPr lang="es" sz="1000" b="1" u="none" strike="noStrike" cap="none">
                          <a:solidFill>
                            <a:schemeClr val="lt1"/>
                          </a:solidFill>
                          <a:latin typeface="Montserrat"/>
                          <a:ea typeface="Montserrat"/>
                          <a:cs typeface="Montserrat"/>
                          <a:sym typeface="Montserrat"/>
                        </a:rPr>
                        <a:t>de Desarrollo de Personal</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000" b="1" u="none" strike="noStrike" cap="none">
                          <a:solidFill>
                            <a:schemeClr val="dk1"/>
                          </a:solidFill>
                          <a:latin typeface="Montserrat"/>
                          <a:ea typeface="Montserrat"/>
                          <a:cs typeface="Montserrat"/>
                          <a:sym typeface="Montserrat"/>
                        </a:rPr>
                        <a:t>Lic. Bernardo Pérez Vázquez</a:t>
                      </a:r>
                      <a:endParaRPr sz="1000" b="1"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Licenciado en Derecho</a:t>
                      </a:r>
                      <a:endParaRPr sz="1000"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Inicio en el  cargo: 16 de octubre de 2022</a:t>
                      </a: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r h="811425">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t>
                      </a:r>
                      <a:br>
                        <a:rPr lang="es" sz="1000" b="1" u="none" strike="noStrike" cap="none">
                          <a:solidFill>
                            <a:schemeClr val="lt1"/>
                          </a:solidFill>
                          <a:latin typeface="Montserrat"/>
                          <a:ea typeface="Montserrat"/>
                          <a:cs typeface="Montserrat"/>
                          <a:sym typeface="Montserrat"/>
                        </a:rPr>
                      </a:br>
                      <a:r>
                        <a:rPr lang="es" sz="1000" b="1" u="none" strike="noStrike" cap="none">
                          <a:solidFill>
                            <a:schemeClr val="lt1"/>
                          </a:solidFill>
                          <a:latin typeface="Montserrat"/>
                          <a:ea typeface="Montserrat"/>
                          <a:cs typeface="Montserrat"/>
                          <a:sym typeface="Montserrat"/>
                        </a:rPr>
                        <a:t>de Finanzas</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000" b="1" u="none" strike="noStrike" cap="none">
                          <a:solidFill>
                            <a:schemeClr val="dk1"/>
                          </a:solidFill>
                          <a:latin typeface="Montserrat"/>
                          <a:ea typeface="Montserrat"/>
                          <a:cs typeface="Montserrat"/>
                          <a:sym typeface="Montserrat"/>
                        </a:rPr>
                        <a:t>Lic. Thalia Alejandra Ávila López</a:t>
                      </a:r>
                      <a:endParaRPr sz="1000" b="1"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Licenciada en  Administración </a:t>
                      </a:r>
                      <a:endParaRPr sz="1000"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Inicio en el cargo:  01 de diciembre  de 2024</a:t>
                      </a: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776050">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Administrativos </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000" b="1">
                          <a:solidFill>
                            <a:schemeClr val="dk1"/>
                          </a:solidFill>
                          <a:latin typeface="Montserrat"/>
                          <a:ea typeface="Montserrat"/>
                          <a:cs typeface="Montserrat"/>
                          <a:sym typeface="Montserrat"/>
                        </a:rPr>
                        <a:t>DDP</a:t>
                      </a:r>
                      <a:r>
                        <a:rPr lang="es" sz="1000" b="1" u="none" strike="noStrike" cap="none">
                          <a:solidFill>
                            <a:schemeClr val="dk1"/>
                          </a:solidFill>
                          <a:latin typeface="Montserrat"/>
                          <a:ea typeface="Montserrat"/>
                          <a:cs typeface="Montserrat"/>
                          <a:sym typeface="Montserrat"/>
                        </a:rPr>
                        <a:t>. Daniel Padilla Cruz </a:t>
                      </a:r>
                      <a:endParaRPr sz="1000" b="1"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Licenciado en  Derecho y Doctorado en Derecho Procesal </a:t>
                      </a:r>
                      <a:endParaRPr sz="1000"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Inicio en el cargo: 16 de octubre de 2020</a:t>
                      </a: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5"/>
                  </a:ext>
                </a:extLst>
              </a:tr>
              <a:tr h="755575">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Jurídicos</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35999" lvl="0" indent="0" algn="l" rtl="0">
                        <a:lnSpc>
                          <a:spcPct val="107916"/>
                        </a:lnSpc>
                        <a:spcBef>
                          <a:spcPts val="0"/>
                        </a:spcBef>
                        <a:spcAft>
                          <a:spcPts val="0"/>
                        </a:spcAft>
                        <a:buClr>
                          <a:schemeClr val="dk1"/>
                        </a:buClr>
                        <a:buSzPts val="1100"/>
                        <a:buFont typeface="Arial"/>
                        <a:buNone/>
                      </a:pPr>
                      <a:r>
                        <a:rPr lang="es" sz="1000" b="1">
                          <a:solidFill>
                            <a:schemeClr val="dk1"/>
                          </a:solidFill>
                          <a:latin typeface="Montserrat"/>
                          <a:ea typeface="Montserrat"/>
                          <a:cs typeface="Montserrat"/>
                          <a:sym typeface="Montserrat"/>
                        </a:rPr>
                        <a:t>Mtro.</a:t>
                      </a:r>
                      <a:r>
                        <a:rPr lang="es" sz="1000" b="1" u="none" strike="noStrike" cap="none">
                          <a:solidFill>
                            <a:schemeClr val="dk1"/>
                          </a:solidFill>
                          <a:latin typeface="Montserrat"/>
                          <a:ea typeface="Montserrat"/>
                          <a:cs typeface="Montserrat"/>
                          <a:sym typeface="Montserrat"/>
                        </a:rPr>
                        <a:t> Mario Villaseñor Castillejos</a:t>
                      </a:r>
                      <a:endParaRPr sz="1000" b="1"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Licenciado en Derecho </a:t>
                      </a:r>
                      <a:r>
                        <a:rPr lang="es" sz="1000">
                          <a:solidFill>
                            <a:schemeClr val="dk1"/>
                          </a:solidFill>
                          <a:latin typeface="Montserrat"/>
                          <a:ea typeface="Montserrat"/>
                          <a:cs typeface="Montserrat"/>
                          <a:sym typeface="Montserrat"/>
                        </a:rPr>
                        <a:t>y</a:t>
                      </a:r>
                      <a:r>
                        <a:rPr lang="es" sz="1000" u="none" strike="noStrike" cap="none">
                          <a:solidFill>
                            <a:schemeClr val="dk1"/>
                          </a:solidFill>
                          <a:latin typeface="Montserrat"/>
                          <a:ea typeface="Montserrat"/>
                          <a:cs typeface="Montserrat"/>
                          <a:sym typeface="Montserrat"/>
                        </a:rPr>
                        <a:t> Maestría en Derecho Público </a:t>
                      </a:r>
                      <a:endParaRPr sz="1000"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Inicio en el cargo: 16 de  enero de 2018</a:t>
                      </a: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755575">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Secretaria General </a:t>
                      </a:r>
                      <a:br>
                        <a:rPr lang="es" sz="1000" b="1" u="none" strike="noStrike" cap="none">
                          <a:solidFill>
                            <a:schemeClr val="lt1"/>
                          </a:solidFill>
                          <a:latin typeface="Montserrat"/>
                          <a:ea typeface="Montserrat"/>
                          <a:cs typeface="Montserrat"/>
                          <a:sym typeface="Montserrat"/>
                        </a:rPr>
                      </a:br>
                      <a:r>
                        <a:rPr lang="es" sz="1000" b="1" u="none" strike="noStrike" cap="none">
                          <a:solidFill>
                            <a:schemeClr val="lt1"/>
                          </a:solidFill>
                          <a:latin typeface="Montserrat"/>
                          <a:ea typeface="Montserrat"/>
                          <a:cs typeface="Montserrat"/>
                          <a:sym typeface="Montserrat"/>
                        </a:rPr>
                        <a:t>de la Sección XXV Colima </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6455"/>
                      </a:solidFill>
                      <a:prstDash val="solid"/>
                      <a:round/>
                      <a:headEnd type="none" w="sm" len="sm"/>
                      <a:tailEnd type="none" w="sm" len="sm"/>
                    </a:lnB>
                    <a:solidFill>
                      <a:srgbClr val="006858"/>
                    </a:solidFill>
                  </a:tcPr>
                </a:tc>
                <a:tc>
                  <a:txBody>
                    <a:bodyPr/>
                    <a:lstStyle/>
                    <a:p>
                      <a:pPr marL="0" marR="38100" lvl="0" indent="0" algn="l" rtl="0">
                        <a:lnSpc>
                          <a:spcPct val="108000"/>
                        </a:lnSpc>
                        <a:spcBef>
                          <a:spcPts val="0"/>
                        </a:spcBef>
                        <a:spcAft>
                          <a:spcPts val="0"/>
                        </a:spcAft>
                        <a:buClr>
                          <a:schemeClr val="dk1"/>
                        </a:buClr>
                        <a:buSzPts val="1100"/>
                        <a:buFont typeface="Arial"/>
                        <a:buNone/>
                      </a:pPr>
                      <a:r>
                        <a:rPr lang="es" sz="1100" b="1">
                          <a:solidFill>
                            <a:schemeClr val="dk1"/>
                          </a:solidFill>
                          <a:latin typeface="Montserrat"/>
                          <a:ea typeface="Montserrat"/>
                          <a:cs typeface="Montserrat"/>
                          <a:sym typeface="Montserrat"/>
                        </a:rPr>
                        <a:t>Mtro. Oscar Enrique Morentin Guedea</a:t>
                      </a:r>
                      <a:endParaRPr sz="1100" b="1">
                        <a:solidFill>
                          <a:schemeClr val="dk1"/>
                        </a:solidFill>
                        <a:latin typeface="Montserrat"/>
                        <a:ea typeface="Montserrat"/>
                        <a:cs typeface="Montserrat"/>
                        <a:sym typeface="Montserrat"/>
                      </a:endParaRPr>
                    </a:p>
                    <a:p>
                      <a:pPr marL="0" lvl="0" indent="0" algn="l" rtl="0">
                        <a:lnSpc>
                          <a:spcPct val="108000"/>
                        </a:lnSpc>
                        <a:spcBef>
                          <a:spcPts val="0"/>
                        </a:spcBef>
                        <a:spcAft>
                          <a:spcPts val="0"/>
                        </a:spcAft>
                        <a:buClr>
                          <a:schemeClr val="dk1"/>
                        </a:buClr>
                        <a:buSzPts val="1100"/>
                        <a:buFont typeface="Arial"/>
                        <a:buNone/>
                      </a:pPr>
                      <a:r>
                        <a:rPr lang="es" sz="1000">
                          <a:solidFill>
                            <a:schemeClr val="dk1"/>
                          </a:solidFill>
                          <a:latin typeface="Montserrat"/>
                          <a:ea typeface="Montserrat"/>
                          <a:cs typeface="Montserrat"/>
                          <a:sym typeface="Montserrat"/>
                        </a:rPr>
                        <a:t>Licenciado en Enfermería y Maestro en Educación</a:t>
                      </a:r>
                      <a:endParaRPr sz="1000">
                        <a:solidFill>
                          <a:schemeClr val="dk1"/>
                        </a:solidFill>
                        <a:latin typeface="Montserrat"/>
                        <a:ea typeface="Montserrat"/>
                        <a:cs typeface="Montserrat"/>
                        <a:sym typeface="Montserrat"/>
                      </a:endParaRPr>
                    </a:p>
                    <a:p>
                      <a:pPr marL="0" lvl="0" indent="0" algn="l" rtl="0">
                        <a:lnSpc>
                          <a:spcPct val="108000"/>
                        </a:lnSpc>
                        <a:spcBef>
                          <a:spcPts val="0"/>
                        </a:spcBef>
                        <a:spcAft>
                          <a:spcPts val="0"/>
                        </a:spcAft>
                        <a:buClr>
                          <a:schemeClr val="dk1"/>
                        </a:buClr>
                        <a:buSzPts val="1100"/>
                        <a:buFont typeface="Arial"/>
                        <a:buNone/>
                      </a:pPr>
                      <a:r>
                        <a:rPr lang="es" sz="1000">
                          <a:solidFill>
                            <a:schemeClr val="dk1"/>
                          </a:solidFill>
                          <a:latin typeface="Montserrat"/>
                          <a:ea typeface="Montserrat"/>
                          <a:cs typeface="Montserrat"/>
                          <a:sym typeface="Montserrat"/>
                        </a:rPr>
                        <a:t>Inicio en cargo: 16 de junio 2026</a:t>
                      </a:r>
                      <a:endParaRPr sz="1100" b="1">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6455"/>
                      </a:solidFill>
                      <a:prstDash val="solid"/>
                      <a:round/>
                      <a:headEnd type="none" w="sm" len="sm"/>
                      <a:tailEnd type="none" w="sm" len="sm"/>
                    </a:lnB>
                    <a:solidFill>
                      <a:schemeClr val="lt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6455"/>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bl>
          </a:graphicData>
        </a:graphic>
      </p:graphicFrame>
      <p:sp>
        <p:nvSpPr>
          <p:cNvPr id="68" name="Google Shape;68;p15"/>
          <p:cNvSpPr txBox="1"/>
          <p:nvPr/>
        </p:nvSpPr>
        <p:spPr>
          <a:xfrm>
            <a:off x="2798775" y="621925"/>
            <a:ext cx="4973700" cy="1497559"/>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7916"/>
              </a:lnSpc>
              <a:spcBef>
                <a:spcPts val="0"/>
              </a:spcBef>
              <a:spcAft>
                <a:spcPts val="0"/>
              </a:spcAft>
              <a:buClr>
                <a:srgbClr val="000000"/>
              </a:buClr>
              <a:buSzPts val="1100"/>
              <a:buFont typeface="Arial"/>
              <a:buNone/>
              <a:tabLst/>
              <a:defRPr/>
            </a:pPr>
            <a:endParaRPr kumimoji="0" sz="1000" b="0" i="0" u="none" strike="noStrike" kern="0" cap="none" spc="0" normalizeH="0" baseline="0" noProof="0">
              <a:ln>
                <a:noFill/>
              </a:ln>
              <a:solidFill>
                <a:srgbClr val="000000"/>
              </a:solidFill>
              <a:effectLst/>
              <a:uLnTx/>
              <a:uFillTx/>
              <a:latin typeface="Montserrat"/>
              <a:ea typeface="Montserrat"/>
              <a:cs typeface="Montserrat"/>
              <a:sym typeface="Montserrat"/>
            </a:endParaRPr>
          </a:p>
          <a:p>
            <a:pPr marL="0" marR="0" lvl="0" indent="0" algn="l" defTabSz="914400" rtl="0" eaLnBrk="1" fontAlgn="auto" latinLnBrk="0" hangingPunct="1">
              <a:lnSpc>
                <a:spcPct val="107916"/>
              </a:lnSpc>
              <a:spcBef>
                <a:spcPts val="0"/>
              </a:spcBef>
              <a:spcAft>
                <a:spcPts val="0"/>
              </a:spcAft>
              <a:buClr>
                <a:srgbClr val="000000"/>
              </a:buClr>
              <a:buSzPts val="1100"/>
              <a:buFont typeface="Arial"/>
              <a:buNone/>
              <a:tabLst/>
              <a:defRPr/>
            </a:pPr>
            <a:r>
              <a:rPr kumimoji="0" lang="es" sz="1300" b="1" i="0" u="none" strike="noStrike" kern="0" cap="none" spc="0" normalizeH="0" baseline="0" noProof="0">
                <a:ln>
                  <a:noFill/>
                </a:ln>
                <a:solidFill>
                  <a:srgbClr val="006455"/>
                </a:solidFill>
                <a:effectLst/>
                <a:uLnTx/>
                <a:uFillTx/>
                <a:latin typeface="Montserrat"/>
                <a:ea typeface="Montserrat"/>
                <a:cs typeface="Montserrat"/>
                <a:sym typeface="Montserrat"/>
              </a:rPr>
              <a:t>Dra. Fátima Borrego Pérez</a:t>
            </a:r>
            <a:endParaRPr kumimoji="0" sz="1200" b="0" i="0" u="none" strike="noStrike" kern="0" cap="none" spc="0" normalizeH="0" baseline="0" noProof="0">
              <a:ln>
                <a:noFill/>
              </a:ln>
              <a:solidFill>
                <a:srgbClr val="000000"/>
              </a:solidFill>
              <a:effectLst/>
              <a:uLnTx/>
              <a:uFillTx/>
              <a:latin typeface="Montserrat"/>
              <a:ea typeface="Montserrat"/>
              <a:cs typeface="Montserrat"/>
              <a:sym typeface="Montserrat"/>
            </a:endParaRPr>
          </a:p>
          <a:p>
            <a:pPr marL="269999" marR="0" lvl="0" indent="-166200" algn="l" defTabSz="914400" rtl="0" eaLnBrk="1" fontAlgn="auto" latinLnBrk="0" hangingPunct="1">
              <a:lnSpc>
                <a:spcPct val="107916"/>
              </a:lnSpc>
              <a:spcBef>
                <a:spcPts val="0"/>
              </a:spcBef>
              <a:spcAft>
                <a:spcPts val="0"/>
              </a:spcAft>
              <a:buClr>
                <a:srgbClr val="000000"/>
              </a:buClr>
              <a:buSzPts val="1200"/>
              <a:buFont typeface="Montserrat"/>
              <a:buChar char="●"/>
              <a:tabLst/>
              <a:defRPr/>
            </a:pPr>
            <a:r>
              <a:rPr kumimoji="0" lang="es" sz="1200" b="0" i="0" u="none" strike="noStrike" kern="0" cap="none" spc="0" normalizeH="0" baseline="0" noProof="0">
                <a:ln>
                  <a:noFill/>
                </a:ln>
                <a:solidFill>
                  <a:srgbClr val="000000"/>
                </a:solidFill>
                <a:effectLst/>
                <a:uLnTx/>
                <a:uFillTx/>
                <a:latin typeface="Montserrat"/>
                <a:ea typeface="Montserrat"/>
                <a:cs typeface="Montserrat"/>
                <a:sym typeface="Montserrat"/>
              </a:rPr>
              <a:t>Médico Cirujano </a:t>
            </a:r>
            <a:endParaRPr kumimoji="0" sz="1200" b="0" i="0" u="none" strike="noStrike" kern="0" cap="none" spc="0" normalizeH="0" baseline="0" noProof="0">
              <a:ln>
                <a:noFill/>
              </a:ln>
              <a:solidFill>
                <a:srgbClr val="000000"/>
              </a:solidFill>
              <a:effectLst/>
              <a:uLnTx/>
              <a:uFillTx/>
              <a:latin typeface="Montserrat"/>
              <a:ea typeface="Montserrat"/>
              <a:cs typeface="Montserrat"/>
              <a:sym typeface="Montserrat"/>
            </a:endParaRPr>
          </a:p>
          <a:p>
            <a:pPr marL="269999" marR="0" lvl="0" indent="-166200" algn="l" defTabSz="914400" rtl="0" eaLnBrk="1" fontAlgn="auto" latinLnBrk="0" hangingPunct="1">
              <a:lnSpc>
                <a:spcPct val="107916"/>
              </a:lnSpc>
              <a:spcBef>
                <a:spcPts val="0"/>
              </a:spcBef>
              <a:spcAft>
                <a:spcPts val="0"/>
              </a:spcAft>
              <a:buClr>
                <a:srgbClr val="000000"/>
              </a:buClr>
              <a:buSzPts val="1200"/>
              <a:buFont typeface="Montserrat"/>
              <a:buChar char="●"/>
              <a:tabLst/>
              <a:defRPr/>
            </a:pPr>
            <a:r>
              <a:rPr kumimoji="0" lang="es" sz="1200" b="0" i="0" u="none" strike="noStrike" kern="0" cap="none" spc="0" normalizeH="0" baseline="0" noProof="0">
                <a:ln>
                  <a:noFill/>
                </a:ln>
                <a:solidFill>
                  <a:srgbClr val="000000"/>
                </a:solidFill>
                <a:effectLst/>
                <a:uLnTx/>
                <a:uFillTx/>
                <a:latin typeface="Montserrat"/>
                <a:ea typeface="Montserrat"/>
                <a:cs typeface="Montserrat"/>
                <a:sym typeface="Montserrat"/>
              </a:rPr>
              <a:t>Maestría  en Salud Pública </a:t>
            </a:r>
            <a:endParaRPr kumimoji="0" sz="1200" b="0" i="0" u="none" strike="noStrike" kern="0" cap="none" spc="0" normalizeH="0" baseline="0" noProof="0">
              <a:ln>
                <a:noFill/>
              </a:ln>
              <a:solidFill>
                <a:srgbClr val="000000"/>
              </a:solidFill>
              <a:effectLst/>
              <a:uLnTx/>
              <a:uFillTx/>
              <a:latin typeface="Montserrat"/>
              <a:ea typeface="Montserrat"/>
              <a:cs typeface="Montserrat"/>
              <a:sym typeface="Montserrat"/>
            </a:endParaRPr>
          </a:p>
          <a:p>
            <a:pPr marL="0" marR="0" lvl="0" indent="0" algn="l" defTabSz="914400" rtl="0" eaLnBrk="1" fontAlgn="auto" latinLnBrk="0" hangingPunct="1">
              <a:lnSpc>
                <a:spcPct val="107916"/>
              </a:lnSpc>
              <a:spcBef>
                <a:spcPts val="0"/>
              </a:spcBef>
              <a:spcAft>
                <a:spcPts val="0"/>
              </a:spcAft>
              <a:buClr>
                <a:srgbClr val="000000"/>
              </a:buClr>
              <a:buSzPts val="1100"/>
              <a:buFont typeface="Arial"/>
              <a:buNone/>
              <a:tabLst/>
              <a:defRPr/>
            </a:pPr>
            <a:endParaRPr kumimoji="0" sz="800" b="0" i="0" u="none" strike="noStrike" kern="0" cap="none" spc="0" normalizeH="0" baseline="0" noProof="0">
              <a:ln>
                <a:noFill/>
              </a:ln>
              <a:solidFill>
                <a:srgbClr val="000000"/>
              </a:solidFill>
              <a:effectLst/>
              <a:uLnTx/>
              <a:uFillTx/>
              <a:latin typeface="Montserrat"/>
              <a:ea typeface="Montserrat"/>
              <a:cs typeface="Montserrat"/>
              <a:sym typeface="Montserrat"/>
            </a:endParaRPr>
          </a:p>
          <a:p>
            <a:pPr marL="0" marR="0" lvl="0" indent="0" algn="l" defTabSz="914400" rtl="0" eaLnBrk="1" fontAlgn="auto" latinLnBrk="0" hangingPunct="1">
              <a:lnSpc>
                <a:spcPct val="107916"/>
              </a:lnSpc>
              <a:spcBef>
                <a:spcPts val="0"/>
              </a:spcBef>
              <a:spcAft>
                <a:spcPts val="0"/>
              </a:spcAft>
              <a:buClr>
                <a:srgbClr val="000000"/>
              </a:buClr>
              <a:buSzPts val="1100"/>
              <a:buFont typeface="Arial"/>
              <a:buNone/>
              <a:tabLst/>
              <a:defRPr/>
            </a:pPr>
            <a:r>
              <a:rPr kumimoji="0" lang="es" sz="1200" b="1" i="0" u="none" strike="noStrike" kern="0" cap="none" spc="0" normalizeH="0" baseline="0" noProof="0">
                <a:ln>
                  <a:noFill/>
                </a:ln>
                <a:solidFill>
                  <a:srgbClr val="006858"/>
                </a:solidFill>
                <a:effectLst/>
                <a:uLnTx/>
                <a:uFillTx/>
                <a:latin typeface="Montserrat"/>
                <a:ea typeface="Montserrat"/>
                <a:cs typeface="Montserrat"/>
                <a:sym typeface="Montserrat"/>
              </a:rPr>
              <a:t>Inicio en el cargo: 16 de mayo de 2024</a:t>
            </a:r>
            <a:endParaRPr kumimoji="0" sz="1200" b="1" i="0" u="none" strike="noStrike" kern="0" cap="none" spc="0" normalizeH="0" baseline="0" noProof="0">
              <a:ln>
                <a:noFill/>
              </a:ln>
              <a:solidFill>
                <a:srgbClr val="006858"/>
              </a:solidFill>
              <a:effectLst/>
              <a:uLnTx/>
              <a:uFillTx/>
              <a:latin typeface="Montserrat"/>
              <a:ea typeface="Montserrat"/>
              <a:cs typeface="Montserrat"/>
              <a:sym typeface="Montserrat"/>
            </a:endParaRPr>
          </a:p>
          <a:p>
            <a:pPr marL="0" marR="0" lvl="0" indent="0" algn="l" defTabSz="914400" rtl="0" eaLnBrk="1" fontAlgn="auto" latinLnBrk="0" hangingPunct="1">
              <a:lnSpc>
                <a:spcPct val="107916"/>
              </a:lnSpc>
              <a:spcBef>
                <a:spcPts val="0"/>
              </a:spcBef>
              <a:spcAft>
                <a:spcPts val="0"/>
              </a:spcAft>
              <a:buClr>
                <a:srgbClr val="000000"/>
              </a:buClr>
              <a:buSzPts val="1100"/>
              <a:buFont typeface="Arial"/>
              <a:buNone/>
              <a:tabLst/>
              <a:defRPr/>
            </a:pPr>
            <a:endParaRPr kumimoji="0" sz="1200" b="0" i="0" u="none" strike="noStrike" kern="0" cap="none" spc="0" normalizeH="0" baseline="0" noProof="0">
              <a:ln>
                <a:noFill/>
              </a:ln>
              <a:solidFill>
                <a:srgbClr val="000000"/>
              </a:solidFill>
              <a:effectLst/>
              <a:uLnTx/>
              <a:uFillTx/>
              <a:latin typeface="Montserrat"/>
              <a:ea typeface="Montserrat"/>
              <a:cs typeface="Montserrat"/>
              <a:sym typeface="Montserrat"/>
            </a:endParaRPr>
          </a:p>
        </p:txBody>
      </p:sp>
      <p:sp>
        <p:nvSpPr>
          <p:cNvPr id="69" name="Google Shape;69;p15"/>
          <p:cNvSpPr txBox="1"/>
          <p:nvPr/>
        </p:nvSpPr>
        <p:spPr>
          <a:xfrm>
            <a:off x="27112" y="23525"/>
            <a:ext cx="7772400" cy="550500"/>
          </a:xfrm>
          <a:prstGeom prst="rect">
            <a:avLst/>
          </a:prstGeom>
          <a:noFill/>
          <a:ln>
            <a:noFill/>
          </a:ln>
        </p:spPr>
        <p:txBody>
          <a:bodyPr spcFirstLastPara="1" wrap="square" lIns="99700" tIns="49825" rIns="99700" bIns="49825" anchor="b" anchorCtr="0">
            <a:noAutofit/>
          </a:bodyPr>
          <a:lstStyle/>
          <a:p>
            <a:pPr marL="0" marR="0" lvl="0" indent="0" algn="ctr" defTabSz="914400" rtl="0" eaLnBrk="1" fontAlgn="auto" latinLnBrk="0" hangingPunct="1">
              <a:lnSpc>
                <a:spcPct val="100000"/>
              </a:lnSpc>
              <a:spcBef>
                <a:spcPts val="0"/>
              </a:spcBef>
              <a:spcAft>
                <a:spcPts val="0"/>
              </a:spcAft>
              <a:buClr>
                <a:srgbClr val="1E4236"/>
              </a:buClr>
              <a:buSzPts val="3100"/>
              <a:buFont typeface="Montserrat"/>
              <a:buNone/>
              <a:tabLst/>
              <a:defRPr/>
            </a:pPr>
            <a:r>
              <a:rPr kumimoji="0" lang="es" sz="2000" b="0" i="0" u="none" strike="noStrike" kern="0" cap="none" spc="0" normalizeH="0" baseline="0" noProof="0">
                <a:ln>
                  <a:noFill/>
                </a:ln>
                <a:solidFill>
                  <a:srgbClr val="FFFFFF"/>
                </a:solidFill>
                <a:effectLst/>
                <a:uLnTx/>
                <a:uFillTx/>
                <a:latin typeface="Montserrat"/>
                <a:ea typeface="Montserrat"/>
                <a:cs typeface="Montserrat"/>
                <a:sym typeface="Montserrat"/>
              </a:rPr>
              <a:t>COLIMA</a:t>
            </a:r>
            <a:endParaRPr kumimoji="0" sz="2000" b="0"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pic>
        <p:nvPicPr>
          <p:cNvPr id="70" name="Google Shape;70;p15"/>
          <p:cNvPicPr preferRelativeResize="0"/>
          <p:nvPr/>
        </p:nvPicPr>
        <p:blipFill>
          <a:blip r:embed="rId4">
            <a:alphaModFix/>
          </a:blip>
          <a:stretch>
            <a:fillRect/>
          </a:stretch>
        </p:blipFill>
        <p:spPr>
          <a:xfrm>
            <a:off x="5688474" y="2355951"/>
            <a:ext cx="744975" cy="814438"/>
          </a:xfrm>
          <a:prstGeom prst="rect">
            <a:avLst/>
          </a:prstGeom>
          <a:noFill/>
          <a:ln>
            <a:noFill/>
          </a:ln>
        </p:spPr>
      </p:pic>
      <p:pic>
        <p:nvPicPr>
          <p:cNvPr id="71" name="Google Shape;71;p15"/>
          <p:cNvPicPr preferRelativeResize="0"/>
          <p:nvPr/>
        </p:nvPicPr>
        <p:blipFill>
          <a:blip r:embed="rId5">
            <a:alphaModFix/>
          </a:blip>
          <a:stretch>
            <a:fillRect/>
          </a:stretch>
        </p:blipFill>
        <p:spPr>
          <a:xfrm>
            <a:off x="5696422" y="3149488"/>
            <a:ext cx="744975" cy="833916"/>
          </a:xfrm>
          <a:prstGeom prst="rect">
            <a:avLst/>
          </a:prstGeom>
          <a:noFill/>
          <a:ln>
            <a:noFill/>
          </a:ln>
        </p:spPr>
      </p:pic>
      <p:pic>
        <p:nvPicPr>
          <p:cNvPr id="72" name="Google Shape;72;p15"/>
          <p:cNvPicPr preferRelativeResize="0"/>
          <p:nvPr/>
        </p:nvPicPr>
        <p:blipFill>
          <a:blip r:embed="rId6">
            <a:alphaModFix/>
          </a:blip>
          <a:stretch>
            <a:fillRect/>
          </a:stretch>
        </p:blipFill>
        <p:spPr>
          <a:xfrm>
            <a:off x="5696424" y="4685876"/>
            <a:ext cx="744975" cy="823243"/>
          </a:xfrm>
          <a:prstGeom prst="rect">
            <a:avLst/>
          </a:prstGeom>
          <a:noFill/>
          <a:ln>
            <a:noFill/>
          </a:ln>
        </p:spPr>
      </p:pic>
      <p:pic>
        <p:nvPicPr>
          <p:cNvPr id="73" name="Google Shape;73;p15"/>
          <p:cNvPicPr preferRelativeResize="0"/>
          <p:nvPr/>
        </p:nvPicPr>
        <p:blipFill>
          <a:blip r:embed="rId7">
            <a:alphaModFix/>
          </a:blip>
          <a:stretch>
            <a:fillRect/>
          </a:stretch>
        </p:blipFill>
        <p:spPr>
          <a:xfrm>
            <a:off x="5696424" y="5405525"/>
            <a:ext cx="744975" cy="801589"/>
          </a:xfrm>
          <a:prstGeom prst="rect">
            <a:avLst/>
          </a:prstGeom>
          <a:noFill/>
          <a:ln>
            <a:noFill/>
          </a:ln>
        </p:spPr>
      </p:pic>
      <p:pic>
        <p:nvPicPr>
          <p:cNvPr id="74" name="Google Shape;74;p15"/>
          <p:cNvPicPr preferRelativeResize="0"/>
          <p:nvPr/>
        </p:nvPicPr>
        <p:blipFill>
          <a:blip r:embed="rId8">
            <a:alphaModFix/>
          </a:blip>
          <a:stretch>
            <a:fillRect/>
          </a:stretch>
        </p:blipFill>
        <p:spPr>
          <a:xfrm>
            <a:off x="5704059" y="6211601"/>
            <a:ext cx="744975" cy="776050"/>
          </a:xfrm>
          <a:prstGeom prst="rect">
            <a:avLst/>
          </a:prstGeom>
          <a:noFill/>
          <a:ln>
            <a:noFill/>
          </a:ln>
        </p:spPr>
      </p:pic>
      <p:pic>
        <p:nvPicPr>
          <p:cNvPr id="75" name="Google Shape;75;p15"/>
          <p:cNvPicPr preferRelativeResize="0"/>
          <p:nvPr/>
        </p:nvPicPr>
        <p:blipFill>
          <a:blip r:embed="rId9">
            <a:alphaModFix/>
          </a:blip>
          <a:stretch>
            <a:fillRect/>
          </a:stretch>
        </p:blipFill>
        <p:spPr>
          <a:xfrm>
            <a:off x="5701640" y="6972826"/>
            <a:ext cx="744975" cy="776075"/>
          </a:xfrm>
          <a:prstGeom prst="rect">
            <a:avLst/>
          </a:prstGeom>
          <a:noFill/>
          <a:ln>
            <a:noFill/>
          </a:ln>
        </p:spPr>
      </p:pic>
      <p:pic>
        <p:nvPicPr>
          <p:cNvPr id="76" name="Google Shape;76;p15"/>
          <p:cNvPicPr preferRelativeResize="0"/>
          <p:nvPr/>
        </p:nvPicPr>
        <p:blipFill>
          <a:blip r:embed="rId10">
            <a:alphaModFix/>
          </a:blip>
          <a:stretch>
            <a:fillRect/>
          </a:stretch>
        </p:blipFill>
        <p:spPr>
          <a:xfrm>
            <a:off x="1411571" y="654216"/>
            <a:ext cx="1305400" cy="1613025"/>
          </a:xfrm>
          <a:prstGeom prst="rect">
            <a:avLst/>
          </a:prstGeom>
          <a:solidFill>
            <a:srgbClr val="D9D9D9"/>
          </a:solidFill>
          <a:ln>
            <a:noFill/>
          </a:ln>
        </p:spPr>
      </p:pic>
      <p:pic>
        <p:nvPicPr>
          <p:cNvPr id="77" name="Google Shape;77;p15"/>
          <p:cNvPicPr preferRelativeResize="0"/>
          <p:nvPr/>
        </p:nvPicPr>
        <p:blipFill>
          <a:blip r:embed="rId11">
            <a:alphaModFix/>
          </a:blip>
          <a:stretch>
            <a:fillRect/>
          </a:stretch>
        </p:blipFill>
        <p:spPr>
          <a:xfrm>
            <a:off x="5696425" y="7748900"/>
            <a:ext cx="744975" cy="747875"/>
          </a:xfrm>
          <a:prstGeom prst="rect">
            <a:avLst/>
          </a:prstGeom>
          <a:noFill/>
          <a:ln>
            <a:noFill/>
          </a:ln>
        </p:spPr>
      </p:pic>
      <p:pic>
        <p:nvPicPr>
          <p:cNvPr id="78" name="Google Shape;78;p15"/>
          <p:cNvPicPr preferRelativeResize="0"/>
          <p:nvPr/>
        </p:nvPicPr>
        <p:blipFill rotWithShape="1">
          <a:blip r:embed="rId12">
            <a:alphaModFix/>
          </a:blip>
          <a:srcRect b="12204"/>
          <a:stretch/>
        </p:blipFill>
        <p:spPr>
          <a:xfrm>
            <a:off x="5696424" y="3890826"/>
            <a:ext cx="744975" cy="79427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5275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4860101"/>
            <a:ext cx="1153699" cy="684220"/>
          </a:xfrm>
          <a:prstGeom prst="rect">
            <a:avLst/>
          </a:prstGeom>
          <a:noFill/>
          <a:ln>
            <a:noFill/>
          </a:ln>
        </p:spPr>
      </p:pic>
      <p:sp>
        <p:nvSpPr>
          <p:cNvPr id="113" name="Google Shape;113;p2"/>
          <p:cNvSpPr txBox="1"/>
          <p:nvPr/>
        </p:nvSpPr>
        <p:spPr>
          <a:xfrm>
            <a:off x="6810875" y="65325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a:solidFill>
                  <a:srgbClr val="006455"/>
                </a:solidFill>
                <a:latin typeface="Noto Sans"/>
                <a:ea typeface="Noto Sans"/>
                <a:cs typeface="Noto Sans"/>
                <a:sym typeface="Noto Sans"/>
              </a:rPr>
              <a:t>Personas Trabajadoras Independientes</a:t>
            </a:r>
            <a:endParaRPr sz="700" b="1" i="0" u="none" strike="noStrike" cap="none">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64%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310765" y="4795459"/>
            <a:ext cx="5864400" cy="215444"/>
          </a:xfrm>
          <a:prstGeom prst="rect">
            <a:avLst/>
          </a:prstGeom>
          <a:noFill/>
        </p:spPr>
        <p:txBody>
          <a:bodyPr wrap="square">
            <a:spAutoFit/>
          </a:bodyPr>
          <a:lstStyle/>
          <a:p>
            <a:pPr algn="l">
              <a:defRPr sz="800">
                <a:solidFill>
                  <a:srgbClr val="000000"/>
                </a:solidFill>
                <a:latin typeface="Montserrat"/>
              </a:defRPr>
            </a:pPr>
            <a:r>
              <a:rPr>
                <a:latin typeface="Montserrat" panose="00000500000000000000" pitchFamily="2" charset="0"/>
              </a:rPr>
              <a:t>Fuente: CONAPO, </a:t>
            </a:r>
            <a:r>
              <a:rPr err="1">
                <a:latin typeface="Montserrat" panose="00000500000000000000" pitchFamily="2" charset="0"/>
              </a:rPr>
              <a:t>proyección</a:t>
            </a:r>
            <a:r>
              <a:rPr>
                <a:latin typeface="Montserrat" panose="00000500000000000000" pitchFamily="2" charset="0"/>
              </a:rPr>
              <a:t> a </a:t>
            </a:r>
            <a:r>
              <a:rPr err="1">
                <a:latin typeface="Montserrat" panose="00000500000000000000" pitchFamily="2" charset="0"/>
              </a:rPr>
              <a:t>enero</a:t>
            </a:r>
            <a:r>
              <a:rPr>
                <a:latin typeface="Montserrat" panose="00000500000000000000" pitchFamily="2" charset="0"/>
              </a:rPr>
              <a:t> de 2026.</a:t>
            </a:r>
          </a:p>
        </p:txBody>
      </p:sp>
      <p:graphicFrame>
        <p:nvGraphicFramePr>
          <p:cNvPr id="117" name="Chart 116"/>
          <p:cNvGraphicFramePr>
            <a:graphicFrameLocks noGrp="1"/>
          </p:cNvGraphicFramePr>
          <p:nvPr>
            <p:extLst>
              <p:ext uri="{D42A27DB-BD31-4B8C-83A1-F6EECF244321}">
                <p14:modId xmlns:p14="http://schemas.microsoft.com/office/powerpoint/2010/main" val="3853869665"/>
              </p:ext>
            </p:extLst>
          </p:nvPr>
        </p:nvGraphicFramePr>
        <p:xfrm>
          <a:off x="2496600" y="1839900"/>
          <a:ext cx="3240000" cy="3240000"/>
        </p:xfrm>
        <a:graphic>
          <a:graphicData uri="http://schemas.openxmlformats.org/drawingml/2006/chart">
            <c:chart xmlns:c="http://schemas.openxmlformats.org/drawingml/2006/chart" xmlns:r="http://schemas.openxmlformats.org/officeDocument/2006/relationships" r:id="rId5"/>
          </a:graphicData>
        </a:graphic>
      </p:graphicFrame>
      <p:sp>
        <p:nvSpPr>
          <p:cNvPr id="118" name="TextBox 117"/>
          <p:cNvSpPr txBox="1"/>
          <p:nvPr/>
        </p:nvSpPr>
        <p:spPr>
          <a:xfrm>
            <a:off x="6472644" y="3028388"/>
            <a:ext cx="1188000" cy="503999"/>
          </a:xfrm>
          <a:prstGeom prst="rect">
            <a:avLst/>
          </a:prstGeom>
          <a:noFill/>
        </p:spPr>
        <p:txBody>
          <a:bodyPr wrap="none"/>
          <a:lstStyle/>
          <a:p>
            <a:pPr algn="l">
              <a:defRPr sz="1400" b="1">
                <a:solidFill>
                  <a:srgbClr val="595959"/>
                </a:solidFill>
                <a:latin typeface="Montserrat"/>
              </a:defRPr>
            </a:pPr>
            <a:r>
              <a:t>491,844</a:t>
            </a:r>
            <a:br/>
            <a:r>
              <a:t>64%</a:t>
            </a:r>
          </a:p>
        </p:txBody>
      </p:sp>
      <p:pic>
        <p:nvPicPr>
          <p:cNvPr id="119" name="Picture 118" descr="imss.png"/>
          <p:cNvPicPr>
            <a:picLocks noChangeAspect="1"/>
          </p:cNvPicPr>
          <p:nvPr/>
        </p:nvPicPr>
        <p:blipFill>
          <a:blip r:embed="rId6"/>
          <a:stretch>
            <a:fillRect/>
          </a:stretch>
        </p:blipFill>
        <p:spPr>
          <a:xfrm>
            <a:off x="6134244" y="3024787"/>
            <a:ext cx="377265" cy="468000"/>
          </a:xfrm>
          <a:prstGeom prst="rect">
            <a:avLst/>
          </a:prstGeom>
        </p:spPr>
      </p:pic>
      <p:sp>
        <p:nvSpPr>
          <p:cNvPr id="120" name="Rectangle 119"/>
          <p:cNvSpPr/>
          <p:nvPr/>
        </p:nvSpPr>
        <p:spPr>
          <a:xfrm>
            <a:off x="5788644" y="3197588"/>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1902598" y="3758398"/>
            <a:ext cx="1188000" cy="503999"/>
          </a:xfrm>
          <a:prstGeom prst="rect">
            <a:avLst/>
          </a:prstGeom>
          <a:noFill/>
        </p:spPr>
        <p:txBody>
          <a:bodyPr wrap="none"/>
          <a:lstStyle/>
          <a:p>
            <a:pPr algn="l">
              <a:defRPr sz="1400" b="1">
                <a:solidFill>
                  <a:srgbClr val="595959"/>
                </a:solidFill>
                <a:latin typeface="Montserrat"/>
              </a:defRPr>
            </a:pPr>
            <a:r>
              <a:t>95,724</a:t>
            </a:r>
            <a:br/>
            <a:r>
              <a:t>12%</a:t>
            </a:r>
          </a:p>
        </p:txBody>
      </p:sp>
      <p:pic>
        <p:nvPicPr>
          <p:cNvPr id="122" name="Picture 121" descr="issste.png"/>
          <p:cNvPicPr>
            <a:picLocks noChangeAspect="1"/>
          </p:cNvPicPr>
          <p:nvPr/>
        </p:nvPicPr>
        <p:blipFill>
          <a:blip r:embed="rId7"/>
          <a:stretch>
            <a:fillRect/>
          </a:stretch>
        </p:blipFill>
        <p:spPr>
          <a:xfrm>
            <a:off x="502198" y="3801598"/>
            <a:ext cx="1437091" cy="468000"/>
          </a:xfrm>
          <a:prstGeom prst="rect">
            <a:avLst/>
          </a:prstGeom>
        </p:spPr>
      </p:pic>
      <p:sp>
        <p:nvSpPr>
          <p:cNvPr id="123" name="Rectangle 122"/>
          <p:cNvSpPr/>
          <p:nvPr/>
        </p:nvSpPr>
        <p:spPr>
          <a:xfrm>
            <a:off x="293398" y="3981598"/>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228600" y="2174468"/>
            <a:ext cx="1188000" cy="503999"/>
          </a:xfrm>
          <a:prstGeom prst="rect">
            <a:avLst/>
          </a:prstGeom>
          <a:noFill/>
        </p:spPr>
        <p:txBody>
          <a:bodyPr wrap="none"/>
          <a:lstStyle/>
          <a:p>
            <a:pPr algn="r">
              <a:defRPr sz="1400" b="1">
                <a:solidFill>
                  <a:srgbClr val="595959"/>
                </a:solidFill>
                <a:latin typeface="Montserrat"/>
              </a:defRPr>
            </a:pPr>
            <a:r>
              <a:t>174,621</a:t>
            </a:r>
            <a:br/>
            <a:r>
              <a:t>23%</a:t>
            </a:r>
          </a:p>
        </p:txBody>
      </p:sp>
      <p:pic>
        <p:nvPicPr>
          <p:cNvPr id="125" name="Picture 124" descr="06.png"/>
          <p:cNvPicPr>
            <a:picLocks noChangeAspect="1"/>
          </p:cNvPicPr>
          <p:nvPr/>
        </p:nvPicPr>
        <p:blipFill>
          <a:blip r:embed="rId8"/>
          <a:stretch>
            <a:fillRect/>
          </a:stretch>
        </p:blipFill>
        <p:spPr>
          <a:xfrm>
            <a:off x="1441800" y="2210469"/>
            <a:ext cx="1247031" cy="468000"/>
          </a:xfrm>
          <a:prstGeom prst="rect">
            <a:avLst/>
          </a:prstGeom>
        </p:spPr>
      </p:pic>
      <p:sp>
        <p:nvSpPr>
          <p:cNvPr id="126" name="Rectangle 125"/>
          <p:cNvSpPr/>
          <p:nvPr/>
        </p:nvSpPr>
        <p:spPr>
          <a:xfrm>
            <a:off x="297000" y="2383268"/>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3090598" y="1101601"/>
            <a:ext cx="1508202" cy="486000"/>
          </a:xfrm>
          <a:prstGeom prst="rect">
            <a:avLst/>
          </a:prstGeom>
          <a:noFill/>
        </p:spPr>
        <p:txBody>
          <a:bodyPr wrap="none"/>
          <a:lstStyle/>
          <a:p>
            <a:pPr algn="r">
              <a:defRPr sz="1400" b="1">
                <a:solidFill>
                  <a:srgbClr val="595959"/>
                </a:solidFill>
                <a:latin typeface="Montserrat"/>
              </a:defRPr>
            </a:pPr>
            <a:r>
              <a:rPr err="1"/>
              <a:t>Otros</a:t>
            </a:r>
            <a:br>
              <a:rPr/>
            </a:br>
            <a:r>
              <a:t>9,349</a:t>
            </a:r>
            <a:br>
              <a:rPr/>
            </a:br>
            <a:r>
              <a:t>1%</a:t>
            </a:r>
          </a:p>
        </p:txBody>
      </p:sp>
      <p:pic>
        <p:nvPicPr>
          <p:cNvPr id="128" name="Picture 127" descr="otros.png"/>
          <p:cNvPicPr>
            <a:picLocks noChangeAspect="1"/>
          </p:cNvPicPr>
          <p:nvPr/>
        </p:nvPicPr>
        <p:blipFill>
          <a:blip r:embed="rId9"/>
          <a:stretch>
            <a:fillRect/>
          </a:stretch>
        </p:blipFill>
        <p:spPr>
          <a:xfrm>
            <a:off x="4624000" y="1119600"/>
            <a:ext cx="468000" cy="468000"/>
          </a:xfrm>
          <a:prstGeom prst="rect">
            <a:avLst/>
          </a:prstGeom>
        </p:spPr>
      </p:pic>
      <p:sp>
        <p:nvSpPr>
          <p:cNvPr id="129" name="Rectangle 128"/>
          <p:cNvSpPr/>
          <p:nvPr/>
        </p:nvSpPr>
        <p:spPr>
          <a:xfrm>
            <a:off x="3479200" y="11880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3529740" y="3020700"/>
            <a:ext cx="1173718" cy="800219"/>
          </a:xfrm>
          <a:prstGeom prst="rect">
            <a:avLst/>
          </a:prstGeom>
          <a:noFill/>
        </p:spPr>
        <p:txBody>
          <a:bodyPr wrap="none">
            <a:spAutoFit/>
          </a:bodyPr>
          <a:lstStyle/>
          <a:p>
            <a:pPr algn="ctr">
              <a:defRPr sz="1400" b="1">
                <a:solidFill>
                  <a:srgbClr val="9F2241"/>
                </a:solidFill>
                <a:latin typeface="Montserrat"/>
              </a:defRPr>
            </a:pPr>
            <a:r>
              <a:t>Población </a:t>
            </a:r>
            <a:br>
              <a:rPr/>
            </a:br>
            <a:r>
              <a:rPr err="1"/>
              <a:t>estatal</a:t>
            </a:r>
            <a:br>
              <a:rPr/>
            </a:br>
            <a:r>
              <a:rPr sz="1800"/>
              <a:t>771,538</a:t>
            </a:r>
            <a:endParaRPr/>
          </a:p>
        </p:txBody>
      </p:sp>
      <p:sp>
        <p:nvSpPr>
          <p:cNvPr id="131" name="TextBox 130"/>
          <p:cNvSpPr txBox="1"/>
          <p:nvPr/>
        </p:nvSpPr>
        <p:spPr>
          <a:xfrm>
            <a:off x="131381" y="9488507"/>
            <a:ext cx="5864400" cy="215444"/>
          </a:xfrm>
          <a:prstGeom prst="rect">
            <a:avLst/>
          </a:prstGeom>
          <a:noFill/>
        </p:spPr>
        <p:txBody>
          <a:bodyPr wrap="square">
            <a:spAutoFit/>
          </a:bodyPr>
          <a:lstStyle/>
          <a:p>
            <a:pPr algn="l">
              <a:defRPr sz="800">
                <a:solidFill>
                  <a:srgbClr val="FFFFFF"/>
                </a:solidFill>
                <a:latin typeface="Montserrat"/>
              </a:defRPr>
            </a:pPr>
            <a:r>
              <a:rPr>
                <a:solidFill>
                  <a:schemeClr val="bg1"/>
                </a:solidFill>
              </a:rPr>
              <a:t>Fuente: </a:t>
            </a:r>
            <a:r>
              <a:rPr err="1">
                <a:solidFill>
                  <a:schemeClr val="bg1"/>
                </a:solidFill>
              </a:rPr>
              <a:t>Dirección</a:t>
            </a:r>
            <a:r>
              <a:rPr>
                <a:solidFill>
                  <a:schemeClr val="bg1"/>
                </a:solidFill>
              </a:rPr>
              <a:t> de </a:t>
            </a:r>
            <a:r>
              <a:rPr err="1">
                <a:solidFill>
                  <a:schemeClr val="bg1"/>
                </a:solidFill>
              </a:rPr>
              <a:t>Incorporación</a:t>
            </a:r>
            <a:r>
              <a:rPr>
                <a:solidFill>
                  <a:schemeClr val="bg1"/>
                </a:solidFill>
              </a:rPr>
              <a:t> y </a:t>
            </a:r>
            <a:r>
              <a:rPr err="1">
                <a:solidFill>
                  <a:schemeClr val="bg1"/>
                </a:solidFill>
              </a:rPr>
              <a:t>Recaudación</a:t>
            </a:r>
            <a:r>
              <a:rPr>
                <a:solidFill>
                  <a:schemeClr val="bg1"/>
                </a:solidFill>
              </a:rPr>
              <a:t>. Corte mayo de 2026.</a:t>
            </a:r>
          </a:p>
        </p:txBody>
      </p:sp>
      <p:sp>
        <p:nvSpPr>
          <p:cNvPr id="132" name="TextBox 131"/>
          <p:cNvSpPr txBox="1"/>
          <p:nvPr/>
        </p:nvSpPr>
        <p:spPr>
          <a:xfrm>
            <a:off x="124212" y="9649973"/>
            <a:ext cx="5864400" cy="215444"/>
          </a:xfrm>
          <a:prstGeom prst="rect">
            <a:avLst/>
          </a:prstGeom>
          <a:noFill/>
        </p:spPr>
        <p:txBody>
          <a:bodyPr wrap="square">
            <a:spAutoFit/>
          </a:bodyPr>
          <a:lstStyle/>
          <a:p>
            <a:pPr algn="l">
              <a:defRPr sz="800">
                <a:solidFill>
                  <a:srgbClr val="FFFFFF"/>
                </a:solidFill>
                <a:latin typeface="Montserrat"/>
              </a:defRPr>
            </a:pPr>
            <a:r>
              <a:rPr>
                <a:solidFill>
                  <a:schemeClr val="bg1"/>
                </a:solidFill>
              </a:rPr>
              <a:t>¹ Se </a:t>
            </a:r>
            <a:r>
              <a:rPr err="1">
                <a:solidFill>
                  <a:schemeClr val="bg1"/>
                </a:solidFill>
              </a:rPr>
              <a:t>refiere</a:t>
            </a:r>
            <a:r>
              <a:rPr>
                <a:solidFill>
                  <a:schemeClr val="bg1"/>
                </a:solidFill>
              </a:rPr>
              <a:t> a personas </a:t>
            </a:r>
            <a:r>
              <a:rPr err="1">
                <a:solidFill>
                  <a:schemeClr val="bg1"/>
                </a:solidFill>
              </a:rPr>
              <a:t>derechohabientes</a:t>
            </a:r>
            <a:r>
              <a:rPr>
                <a:solidFill>
                  <a:schemeClr val="bg1"/>
                </a:solidFill>
              </a:rPr>
              <a:t> (</a:t>
            </a:r>
            <a:r>
              <a:rPr err="1">
                <a:solidFill>
                  <a:schemeClr val="bg1"/>
                </a:solidFill>
              </a:rPr>
              <a:t>titulares</a:t>
            </a:r>
            <a:r>
              <a:rPr>
                <a:solidFill>
                  <a:schemeClr val="bg1"/>
                </a:solidFill>
              </a:rPr>
              <a:t> y </a:t>
            </a:r>
            <a:r>
              <a:rPr err="1">
                <a:solidFill>
                  <a:schemeClr val="bg1"/>
                </a:solidFill>
              </a:rPr>
              <a:t>familiares</a:t>
            </a:r>
            <a:r>
              <a:rPr>
                <a:solidFill>
                  <a:schemeClr val="bg1"/>
                </a:solidFill>
              </a:rPr>
              <a:t>) </a:t>
            </a:r>
            <a:r>
              <a:rPr err="1">
                <a:solidFill>
                  <a:schemeClr val="bg1"/>
                </a:solidFill>
              </a:rPr>
              <a:t>adscritas</a:t>
            </a:r>
            <a:r>
              <a:rPr>
                <a:solidFill>
                  <a:schemeClr val="bg1"/>
                </a:solidFill>
              </a:rPr>
              <a:t> a UMF.</a:t>
            </a:r>
          </a:p>
        </p:txBody>
      </p:sp>
      <p:sp>
        <p:nvSpPr>
          <p:cNvPr id="133" name="TextBox 132"/>
          <p:cNvSpPr txBox="1"/>
          <p:nvPr/>
        </p:nvSpPr>
        <p:spPr>
          <a:xfrm>
            <a:off x="131380" y="9806986"/>
            <a:ext cx="7342219" cy="215444"/>
          </a:xfrm>
          <a:prstGeom prst="rect">
            <a:avLst/>
          </a:prstGeom>
          <a:noFill/>
        </p:spPr>
        <p:txBody>
          <a:bodyPr wrap="square">
            <a:spAutoFit/>
          </a:bodyPr>
          <a:lstStyle/>
          <a:p>
            <a:pPr algn="l">
              <a:defRPr sz="800">
                <a:solidFill>
                  <a:srgbClr val="FFFFFF"/>
                </a:solidFill>
                <a:latin typeface="Montserrat"/>
              </a:defRPr>
            </a:pPr>
            <a:r>
              <a:rPr>
                <a:solidFill>
                  <a:schemeClr val="bg1"/>
                </a:solidFill>
              </a:rPr>
              <a:t>² La </a:t>
            </a:r>
            <a:r>
              <a:rPr err="1">
                <a:solidFill>
                  <a:schemeClr val="bg1"/>
                </a:solidFill>
              </a:rPr>
              <a:t>afiliación</a:t>
            </a:r>
            <a:r>
              <a:rPr>
                <a:solidFill>
                  <a:schemeClr val="bg1"/>
                </a:solidFill>
              </a:rPr>
              <a:t> al Seguro de Salud de Familia </a:t>
            </a:r>
            <a:r>
              <a:rPr err="1">
                <a:solidFill>
                  <a:schemeClr val="bg1"/>
                </a:solidFill>
              </a:rPr>
              <a:t>disminuye</a:t>
            </a:r>
            <a:r>
              <a:rPr>
                <a:solidFill>
                  <a:schemeClr val="bg1"/>
                </a:solidFill>
              </a:rPr>
              <a:t> </a:t>
            </a:r>
            <a:r>
              <a:rPr err="1">
                <a:solidFill>
                  <a:schemeClr val="bg1"/>
                </a:solidFill>
              </a:rPr>
              <a:t>en</a:t>
            </a:r>
            <a:r>
              <a:rPr>
                <a:solidFill>
                  <a:schemeClr val="bg1"/>
                </a:solidFill>
              </a:rPr>
              <a:t> </a:t>
            </a:r>
            <a:r>
              <a:rPr err="1">
                <a:solidFill>
                  <a:schemeClr val="bg1"/>
                </a:solidFill>
              </a:rPr>
              <a:t>virtud</a:t>
            </a:r>
            <a:r>
              <a:rPr>
                <a:solidFill>
                  <a:schemeClr val="bg1"/>
                </a:solidFill>
              </a:rPr>
              <a:t> del </a:t>
            </a:r>
            <a:r>
              <a:rPr err="1">
                <a:solidFill>
                  <a:schemeClr val="bg1"/>
                </a:solidFill>
              </a:rPr>
              <a:t>incremento</a:t>
            </a:r>
            <a:r>
              <a:rPr>
                <a:solidFill>
                  <a:schemeClr val="bg1"/>
                </a:solidFill>
              </a:rPr>
              <a:t> </a:t>
            </a:r>
            <a:r>
              <a:rPr err="1">
                <a:solidFill>
                  <a:schemeClr val="bg1"/>
                </a:solidFill>
              </a:rPr>
              <a:t>en</a:t>
            </a:r>
            <a:r>
              <a:rPr>
                <a:solidFill>
                  <a:schemeClr val="bg1"/>
                </a:solidFill>
              </a:rPr>
              <a:t> </a:t>
            </a:r>
            <a:r>
              <a:rPr err="1">
                <a:solidFill>
                  <a:schemeClr val="bg1"/>
                </a:solidFill>
              </a:rPr>
              <a:t>los</a:t>
            </a:r>
            <a:r>
              <a:rPr>
                <a:solidFill>
                  <a:schemeClr val="bg1"/>
                </a:solidFill>
              </a:rPr>
              <a:t> </a:t>
            </a:r>
            <a:r>
              <a:rPr err="1">
                <a:solidFill>
                  <a:schemeClr val="bg1"/>
                </a:solidFill>
              </a:rPr>
              <a:t>nuevos</a:t>
            </a:r>
            <a:r>
              <a:rPr>
                <a:solidFill>
                  <a:schemeClr val="bg1"/>
                </a:solidFill>
              </a:rPr>
              <a:t> </a:t>
            </a:r>
            <a:r>
              <a:rPr err="1">
                <a:solidFill>
                  <a:schemeClr val="bg1"/>
                </a:solidFill>
              </a:rPr>
              <a:t>esquemas</a:t>
            </a:r>
            <a:r>
              <a:rPr>
                <a:solidFill>
                  <a:schemeClr val="bg1"/>
                </a:solidFill>
              </a:rPr>
              <a:t> de </a:t>
            </a:r>
            <a:r>
              <a:rPr err="1">
                <a:solidFill>
                  <a:schemeClr val="bg1"/>
                </a:solidFill>
              </a:rPr>
              <a:t>aseguramiento</a:t>
            </a:r>
            <a:r>
              <a:rPr>
                <a:solidFill>
                  <a:schemeClr val="bg1"/>
                </a:solidFill>
              </a:rPr>
              <a:t>.</a:t>
            </a:r>
          </a:p>
        </p:txBody>
      </p:sp>
      <p:graphicFrame>
        <p:nvGraphicFramePr>
          <p:cNvPr id="134" name="Table 133"/>
          <p:cNvGraphicFramePr>
            <a:graphicFrameLocks noGrp="1"/>
          </p:cNvGraphicFramePr>
          <p:nvPr>
            <p:extLst>
              <p:ext uri="{D42A27DB-BD31-4B8C-83A1-F6EECF244321}">
                <p14:modId xmlns:p14="http://schemas.microsoft.com/office/powerpoint/2010/main" val="3049001568"/>
              </p:ext>
            </p:extLst>
          </p:nvPr>
        </p:nvGraphicFramePr>
        <p:xfrm>
          <a:off x="313200" y="5522658"/>
          <a:ext cx="5364000" cy="3527986"/>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928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06000">
                  <a:extLst>
                    <a:ext uri="{9D8B030D-6E8A-4147-A177-3AD203B41FA5}">
                      <a16:colId xmlns:a16="http://schemas.microsoft.com/office/drawing/2014/main" val="20002"/>
                    </a:ext>
                  </a:extLst>
                </a:gridCol>
                <a:gridCol w="1159200">
                  <a:extLst>
                    <a:ext uri="{9D8B030D-6E8A-4147-A177-3AD203B41FA5}">
                      <a16:colId xmlns:a16="http://schemas.microsoft.com/office/drawing/2014/main" val="20003"/>
                    </a:ext>
                  </a:extLst>
                </a:gridCol>
              </a:tblGrid>
              <a:tr h="251999">
                <a:tc>
                  <a:txBody>
                    <a:bodyPr/>
                    <a:lstStyle/>
                    <a:p>
                      <a:pPr algn="ctr">
                        <a:defRPr sz="900" b="1">
                          <a:solidFill>
                            <a:srgbClr val="FFFFFF"/>
                          </a:solidFill>
                          <a:latin typeface="Montserrat"/>
                        </a:defRPr>
                      </a:pPr>
                      <a:r>
                        <a:t>Categoría</a:t>
                      </a:r>
                    </a:p>
                  </a:txBody>
                  <a:tcPr>
                    <a:solidFill>
                      <a:srgbClr val="006455"/>
                    </a:solidFill>
                  </a:tcPr>
                </a:tc>
                <a:tc>
                  <a:txBody>
                    <a:bodyPr/>
                    <a:lstStyle/>
                    <a:p>
                      <a:pPr algn="ctr">
                        <a:defRPr sz="900" b="1">
                          <a:solidFill>
                            <a:srgbClr val="FFFFFF"/>
                          </a:solidFill>
                          <a:latin typeface="Montserrat"/>
                        </a:defRPr>
                      </a:pPr>
                      <a:r>
                        <a:t>2018</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a:txBody>
                    <a:bodyPr/>
                    <a:lstStyle/>
                    <a:p>
                      <a:pPr algn="ctr">
                        <a:defRPr sz="900" b="1">
                          <a:solidFill>
                            <a:srgbClr val="FFFFFF"/>
                          </a:solidFill>
                          <a:latin typeface="Montserrat"/>
                        </a:defRPr>
                      </a:pPr>
                      <a:r>
                        <a:t>Variación</a:t>
                      </a:r>
                    </a:p>
                  </a:txBody>
                  <a:tcPr>
                    <a:solidFill>
                      <a:srgbClr val="006455"/>
                    </a:solidFill>
                  </a:tcPr>
                </a:tc>
                <a:extLst>
                  <a:ext uri="{0D108BD9-81ED-4DB2-BD59-A6C34878D82A}">
                    <a16:rowId xmlns:a16="http://schemas.microsoft.com/office/drawing/2014/main" val="10000"/>
                  </a:ext>
                </a:extLst>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412,460</a:t>
                      </a:r>
                    </a:p>
                  </a:txBody>
                  <a:tcPr>
                    <a:solidFill>
                      <a:srgbClr val="EBD2D9"/>
                    </a:solidFill>
                  </a:tcPr>
                </a:tc>
                <a:tc>
                  <a:txBody>
                    <a:bodyPr/>
                    <a:lstStyle/>
                    <a:p>
                      <a:pPr algn="ctr">
                        <a:defRPr sz="900" b="1">
                          <a:solidFill>
                            <a:srgbClr val="000000"/>
                          </a:solidFill>
                          <a:latin typeface="Montserrat"/>
                        </a:defRPr>
                      </a:pPr>
                      <a:r>
                        <a:t>491,844</a:t>
                      </a:r>
                    </a:p>
                  </a:txBody>
                  <a:tcPr>
                    <a:solidFill>
                      <a:srgbClr val="EBD2D9"/>
                    </a:solidFill>
                  </a:tcPr>
                </a:tc>
                <a:tc>
                  <a:txBody>
                    <a:bodyPr/>
                    <a:lstStyle/>
                    <a:p>
                      <a:pPr algn="ctr">
                        <a:defRPr sz="900" b="1">
                          <a:solidFill>
                            <a:srgbClr val="000000"/>
                          </a:solidFill>
                          <a:latin typeface="Montserrat"/>
                        </a:defRPr>
                      </a:pPr>
                      <a:r>
                        <a:t>19%</a:t>
                      </a:r>
                    </a:p>
                  </a:txBody>
                  <a:tcPr>
                    <a:solidFill>
                      <a:srgbClr val="EBD2D9"/>
                    </a:solidFill>
                  </a:tcPr>
                </a:tc>
                <a:extLst>
                  <a:ext uri="{0D108BD9-81ED-4DB2-BD59-A6C34878D82A}">
                    <a16:rowId xmlns:a16="http://schemas.microsoft.com/office/drawing/2014/main" val="10001"/>
                  </a:ext>
                </a:extLst>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220,185</a:t>
                      </a:r>
                    </a:p>
                  </a:txBody>
                  <a:tcPr>
                    <a:solidFill>
                      <a:srgbClr val="EBD2D9"/>
                    </a:solidFill>
                  </a:tcPr>
                </a:tc>
                <a:tc>
                  <a:txBody>
                    <a:bodyPr/>
                    <a:lstStyle/>
                    <a:p>
                      <a:pPr algn="ctr">
                        <a:defRPr sz="900" b="1">
                          <a:solidFill>
                            <a:srgbClr val="000000"/>
                          </a:solidFill>
                          <a:latin typeface="Montserrat"/>
                        </a:defRPr>
                      </a:pPr>
                      <a:r>
                        <a:t>282,985</a:t>
                      </a:r>
                    </a:p>
                  </a:txBody>
                  <a:tcPr>
                    <a:solidFill>
                      <a:srgbClr val="EBD2D9"/>
                    </a:solidFill>
                  </a:tcPr>
                </a:tc>
                <a:tc>
                  <a:txBody>
                    <a:bodyPr/>
                    <a:lstStyle/>
                    <a:p>
                      <a:pPr algn="ctr">
                        <a:defRPr sz="900" b="1">
                          <a:solidFill>
                            <a:srgbClr val="000000"/>
                          </a:solidFill>
                          <a:latin typeface="Montserrat"/>
                        </a:defRPr>
                      </a:pPr>
                      <a:r>
                        <a:t>29%</a:t>
                      </a:r>
                    </a:p>
                  </a:txBody>
                  <a:tcPr>
                    <a:solidFill>
                      <a:srgbClr val="EBD2D9"/>
                    </a:solidFill>
                  </a:tcPr>
                </a:tc>
                <a:extLst>
                  <a:ext uri="{0D108BD9-81ED-4DB2-BD59-A6C34878D82A}">
                    <a16:rowId xmlns:a16="http://schemas.microsoft.com/office/drawing/2014/main" val="10002"/>
                  </a:ext>
                </a:extLst>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134,121</a:t>
                      </a:r>
                    </a:p>
                  </a:txBody>
                  <a:tcPr>
                    <a:solidFill>
                      <a:srgbClr val="F8F4EC"/>
                    </a:solidFill>
                  </a:tcPr>
                </a:tc>
                <a:tc>
                  <a:txBody>
                    <a:bodyPr/>
                    <a:lstStyle/>
                    <a:p>
                      <a:pPr algn="ctr">
                        <a:defRPr sz="900" b="1">
                          <a:solidFill>
                            <a:srgbClr val="000000"/>
                          </a:solidFill>
                          <a:latin typeface="Montserrat"/>
                        </a:defRPr>
                      </a:pPr>
                      <a:r>
                        <a:t>157,736</a:t>
                      </a:r>
                    </a:p>
                  </a:txBody>
                  <a:tcPr>
                    <a:solidFill>
                      <a:srgbClr val="F8F4EC"/>
                    </a:solidFill>
                  </a:tcPr>
                </a:tc>
                <a:tc>
                  <a:txBody>
                    <a:bodyPr/>
                    <a:lstStyle/>
                    <a:p>
                      <a:pPr algn="ctr">
                        <a:defRPr sz="900" b="1">
                          <a:solidFill>
                            <a:srgbClr val="000000"/>
                          </a:solidFill>
                          <a:latin typeface="Montserrat"/>
                        </a:defRPr>
                      </a:pPr>
                      <a:r>
                        <a:t>18%</a:t>
                      </a:r>
                    </a:p>
                  </a:txBody>
                  <a:tcPr>
                    <a:solidFill>
                      <a:srgbClr val="F8F4EC"/>
                    </a:solidFill>
                  </a:tcPr>
                </a:tc>
                <a:extLst>
                  <a:ext uri="{0D108BD9-81ED-4DB2-BD59-A6C34878D82A}">
                    <a16:rowId xmlns:a16="http://schemas.microsoft.com/office/drawing/2014/main" val="10003"/>
                  </a:ext>
                </a:extLst>
              </a:tr>
              <a:tr h="251999">
                <a:tc>
                  <a:txBody>
                    <a:bodyPr/>
                    <a:lstStyle/>
                    <a:p>
                      <a:pPr lvl="1" algn="l">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31,777</a:t>
                      </a:r>
                    </a:p>
                  </a:txBody>
                  <a:tcPr>
                    <a:solidFill>
                      <a:srgbClr val="FFFFFF"/>
                    </a:solidFill>
                  </a:tcPr>
                </a:tc>
                <a:tc>
                  <a:txBody>
                    <a:bodyPr/>
                    <a:lstStyle/>
                    <a:p>
                      <a:pPr algn="ctr">
                        <a:defRPr sz="900">
                          <a:solidFill>
                            <a:srgbClr val="000000"/>
                          </a:solidFill>
                          <a:latin typeface="Montserrat"/>
                        </a:defRPr>
                      </a:pPr>
                      <a:r>
                        <a:t>48,936</a:t>
                      </a:r>
                    </a:p>
                  </a:txBody>
                  <a:tcPr>
                    <a:solidFill>
                      <a:srgbClr val="FFFFFF"/>
                    </a:solidFill>
                  </a:tcPr>
                </a:tc>
                <a:tc>
                  <a:txBody>
                    <a:bodyPr/>
                    <a:lstStyle/>
                    <a:p>
                      <a:pPr algn="ctr">
                        <a:defRPr sz="900">
                          <a:solidFill>
                            <a:srgbClr val="000000"/>
                          </a:solidFill>
                          <a:latin typeface="Montserrat"/>
                        </a:defRPr>
                      </a:pPr>
                      <a:r>
                        <a:t>54%</a:t>
                      </a:r>
                    </a:p>
                  </a:txBody>
                  <a:tcPr>
                    <a:solidFill>
                      <a:srgbClr val="FFFFFF"/>
                    </a:solidFill>
                  </a:tcPr>
                </a:tc>
                <a:extLst>
                  <a:ext uri="{0D108BD9-81ED-4DB2-BD59-A6C34878D82A}">
                    <a16:rowId xmlns:a16="http://schemas.microsoft.com/office/drawing/2014/main" val="10004"/>
                  </a:ext>
                </a:extLst>
              </a:tr>
              <a:tr h="251999">
                <a:tc>
                  <a:txBody>
                    <a:bodyPr/>
                    <a:lstStyle/>
                    <a:p>
                      <a:pPr lvl="1" algn="l">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5,039</a:t>
                      </a:r>
                    </a:p>
                  </a:txBody>
                  <a:tcPr>
                    <a:solidFill>
                      <a:srgbClr val="FFFFFF"/>
                    </a:solidFill>
                  </a:tcPr>
                </a:tc>
                <a:tc>
                  <a:txBody>
                    <a:bodyPr/>
                    <a:lstStyle/>
                    <a:p>
                      <a:pPr algn="ctr">
                        <a:defRPr sz="900">
                          <a:solidFill>
                            <a:srgbClr val="000000"/>
                          </a:solidFill>
                          <a:latin typeface="Montserrat"/>
                        </a:defRPr>
                      </a:pPr>
                      <a:r>
                        <a:t>5,349</a:t>
                      </a:r>
                    </a:p>
                  </a:txBody>
                  <a:tcPr>
                    <a:solidFill>
                      <a:srgbClr val="FFFFFF"/>
                    </a:solidFill>
                  </a:tcPr>
                </a:tc>
                <a:tc>
                  <a:txBody>
                    <a:bodyPr/>
                    <a:lstStyle/>
                    <a:p>
                      <a:pPr algn="ctr">
                        <a:defRPr sz="900">
                          <a:solidFill>
                            <a:srgbClr val="000000"/>
                          </a:solidFill>
                          <a:latin typeface="Montserrat"/>
                        </a:defRPr>
                      </a:pPr>
                      <a:r>
                        <a:t>6%</a:t>
                      </a:r>
                    </a:p>
                  </a:txBody>
                  <a:tcPr>
                    <a:solidFill>
                      <a:srgbClr val="FFFFFF"/>
                    </a:solidFill>
                  </a:tcPr>
                </a:tc>
                <a:extLst>
                  <a:ext uri="{0D108BD9-81ED-4DB2-BD59-A6C34878D82A}">
                    <a16:rowId xmlns:a16="http://schemas.microsoft.com/office/drawing/2014/main" val="10005"/>
                  </a:ext>
                </a:extLst>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49,248</a:t>
                      </a:r>
                    </a:p>
                  </a:txBody>
                  <a:tcPr>
                    <a:solidFill>
                      <a:srgbClr val="CCE0DD"/>
                    </a:solidFill>
                  </a:tcPr>
                </a:tc>
                <a:tc>
                  <a:txBody>
                    <a:bodyPr/>
                    <a:lstStyle/>
                    <a:p>
                      <a:pPr algn="ctr">
                        <a:defRPr sz="900" b="1">
                          <a:solidFill>
                            <a:srgbClr val="000000"/>
                          </a:solidFill>
                          <a:latin typeface="Montserrat"/>
                        </a:defRPr>
                      </a:pPr>
                      <a:r>
                        <a:t>58,526</a:t>
                      </a:r>
                    </a:p>
                  </a:txBody>
                  <a:tcPr>
                    <a:solidFill>
                      <a:srgbClr val="CCE0DD"/>
                    </a:solidFill>
                  </a:tcPr>
                </a:tc>
                <a:tc>
                  <a:txBody>
                    <a:bodyPr/>
                    <a:lstStyle/>
                    <a:p>
                      <a:pPr algn="ctr">
                        <a:defRPr sz="900" b="1">
                          <a:solidFill>
                            <a:srgbClr val="000000"/>
                          </a:solidFill>
                          <a:latin typeface="Montserrat"/>
                        </a:defRPr>
                      </a:pPr>
                      <a:r>
                        <a:t>19%</a:t>
                      </a:r>
                    </a:p>
                  </a:txBody>
                  <a:tcPr>
                    <a:solidFill>
                      <a:srgbClr val="CCE0DD"/>
                    </a:solidFill>
                  </a:tcPr>
                </a:tc>
                <a:extLst>
                  <a:ext uri="{0D108BD9-81ED-4DB2-BD59-A6C34878D82A}">
                    <a16:rowId xmlns:a16="http://schemas.microsoft.com/office/drawing/2014/main" val="10006"/>
                  </a:ext>
                </a:extLst>
              </a:tr>
              <a:tr h="251999">
                <a:tc>
                  <a:txBody>
                    <a:bodyPr/>
                    <a:lstStyle/>
                    <a:p>
                      <a:pPr lvl="1" algn="l">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46,503</a:t>
                      </a:r>
                    </a:p>
                  </a:txBody>
                  <a:tcPr>
                    <a:solidFill>
                      <a:srgbClr val="FFFFFF"/>
                    </a:solidFill>
                  </a:tcPr>
                </a:tc>
                <a:tc>
                  <a:txBody>
                    <a:bodyPr/>
                    <a:lstStyle/>
                    <a:p>
                      <a:pPr algn="ctr">
                        <a:defRPr sz="900">
                          <a:solidFill>
                            <a:srgbClr val="000000"/>
                          </a:solidFill>
                          <a:latin typeface="Montserrat"/>
                        </a:defRPr>
                      </a:pPr>
                      <a:r>
                        <a:t>52,823</a:t>
                      </a:r>
                    </a:p>
                  </a:txBody>
                  <a:tcPr>
                    <a:solidFill>
                      <a:srgbClr val="FFFFFF"/>
                    </a:solidFill>
                  </a:tcPr>
                </a:tc>
                <a:tc>
                  <a:txBody>
                    <a:bodyPr/>
                    <a:lstStyle/>
                    <a:p>
                      <a:pPr algn="ctr">
                        <a:defRPr sz="900">
                          <a:solidFill>
                            <a:srgbClr val="000000"/>
                          </a:solidFill>
                          <a:latin typeface="Montserrat"/>
                        </a:defRPr>
                      </a:pPr>
                      <a:r>
                        <a:t>14%</a:t>
                      </a:r>
                    </a:p>
                  </a:txBody>
                  <a:tcPr>
                    <a:solidFill>
                      <a:srgbClr val="FFFFFF"/>
                    </a:solidFill>
                  </a:tcPr>
                </a:tc>
                <a:extLst>
                  <a:ext uri="{0D108BD9-81ED-4DB2-BD59-A6C34878D82A}">
                    <a16:rowId xmlns:a16="http://schemas.microsoft.com/office/drawing/2014/main" val="10007"/>
                  </a:ext>
                </a:extLst>
              </a:tr>
              <a:tr h="251999">
                <a:tc>
                  <a:txBody>
                    <a:bodyPr/>
                    <a:lstStyle/>
                    <a:p>
                      <a:pPr lvl="1" algn="l">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1,352</a:t>
                      </a:r>
                    </a:p>
                  </a:txBody>
                  <a:tcPr>
                    <a:solidFill>
                      <a:srgbClr val="FFFFFF"/>
                    </a:solidFill>
                  </a:tcPr>
                </a:tc>
                <a:tc>
                  <a:txBody>
                    <a:bodyPr/>
                    <a:lstStyle/>
                    <a:p>
                      <a:pPr algn="ctr">
                        <a:defRPr sz="900">
                          <a:solidFill>
                            <a:srgbClr val="000000"/>
                          </a:solidFill>
                          <a:latin typeface="Montserrat"/>
                        </a:defRPr>
                      </a:pPr>
                      <a:r>
                        <a:t>321</a:t>
                      </a:r>
                    </a:p>
                  </a:txBody>
                  <a:tcPr>
                    <a:solidFill>
                      <a:srgbClr val="FFFFFF"/>
                    </a:solidFill>
                  </a:tcPr>
                </a:tc>
                <a:tc>
                  <a:txBody>
                    <a:bodyPr/>
                    <a:lstStyle/>
                    <a:p>
                      <a:pPr algn="ctr">
                        <a:defRPr sz="900">
                          <a:solidFill>
                            <a:srgbClr val="000000"/>
                          </a:solidFill>
                          <a:latin typeface="Montserrat"/>
                        </a:defRPr>
                      </a:pPr>
                      <a:r>
                        <a:t>-76%</a:t>
                      </a:r>
                    </a:p>
                  </a:txBody>
                  <a:tcPr>
                    <a:solidFill>
                      <a:srgbClr val="FFFFFF"/>
                    </a:solidFill>
                  </a:tcPr>
                </a:tc>
                <a:extLst>
                  <a:ext uri="{0D108BD9-81ED-4DB2-BD59-A6C34878D82A}">
                    <a16:rowId xmlns:a16="http://schemas.microsoft.com/office/drawing/2014/main" val="10008"/>
                  </a:ext>
                </a:extLst>
              </a:tr>
              <a:tr h="251999">
                <a:tc>
                  <a:txBody>
                    <a:bodyPr/>
                    <a:lstStyle/>
                    <a:p>
                      <a:pPr lvl="1" algn="l">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1,393</a:t>
                      </a:r>
                    </a:p>
                  </a:txBody>
                  <a:tcPr>
                    <a:solidFill>
                      <a:srgbClr val="FFFFFF"/>
                    </a:solidFill>
                  </a:tcPr>
                </a:tc>
                <a:tc>
                  <a:txBody>
                    <a:bodyPr/>
                    <a:lstStyle/>
                    <a:p>
                      <a:pPr algn="ctr">
                        <a:defRPr sz="900">
                          <a:solidFill>
                            <a:srgbClr val="000000"/>
                          </a:solidFill>
                          <a:latin typeface="Montserrat"/>
                        </a:defRPr>
                      </a:pPr>
                      <a:r>
                        <a:t>5,382</a:t>
                      </a:r>
                    </a:p>
                  </a:txBody>
                  <a:tcPr>
                    <a:solidFill>
                      <a:srgbClr val="FFFFFF"/>
                    </a:solidFill>
                  </a:tcPr>
                </a:tc>
                <a:tc>
                  <a:txBody>
                    <a:bodyPr/>
                    <a:lstStyle/>
                    <a:p>
                      <a:pPr algn="ctr">
                        <a:defRPr sz="900">
                          <a:solidFill>
                            <a:srgbClr val="000000"/>
                          </a:solidFill>
                          <a:latin typeface="Montserrat"/>
                        </a:defRPr>
                      </a:pPr>
                      <a:r>
                        <a:t>286%</a:t>
                      </a:r>
                    </a:p>
                  </a:txBody>
                  <a:tcPr>
                    <a:solidFill>
                      <a:srgbClr val="FFFFFF"/>
                    </a:solidFill>
                  </a:tcPr>
                </a:tc>
                <a:extLst>
                  <a:ext uri="{0D108BD9-81ED-4DB2-BD59-A6C34878D82A}">
                    <a16:rowId xmlns:a16="http://schemas.microsoft.com/office/drawing/2014/main" val="10009"/>
                  </a:ext>
                </a:extLst>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192,275</a:t>
                      </a:r>
                    </a:p>
                  </a:txBody>
                  <a:tcPr>
                    <a:solidFill>
                      <a:srgbClr val="EBD2D9"/>
                    </a:solidFill>
                  </a:tcPr>
                </a:tc>
                <a:tc>
                  <a:txBody>
                    <a:bodyPr/>
                    <a:lstStyle/>
                    <a:p>
                      <a:pPr algn="ctr">
                        <a:defRPr sz="900" b="1">
                          <a:solidFill>
                            <a:srgbClr val="000000"/>
                          </a:solidFill>
                          <a:latin typeface="Montserrat"/>
                        </a:defRPr>
                      </a:pPr>
                      <a:r>
                        <a:t>208,859</a:t>
                      </a:r>
                    </a:p>
                  </a:txBody>
                  <a:tcPr>
                    <a:solidFill>
                      <a:srgbClr val="EBD2D9"/>
                    </a:solidFill>
                  </a:tcPr>
                </a:tc>
                <a:tc>
                  <a:txBody>
                    <a:bodyPr/>
                    <a:lstStyle/>
                    <a:p>
                      <a:pPr algn="ctr">
                        <a:defRPr sz="900" b="1">
                          <a:solidFill>
                            <a:srgbClr val="000000"/>
                          </a:solidFill>
                          <a:latin typeface="Montserrat"/>
                        </a:defRPr>
                      </a:pPr>
                      <a:r>
                        <a:t>9%</a:t>
                      </a:r>
                    </a:p>
                  </a:txBody>
                  <a:tcPr>
                    <a:solidFill>
                      <a:srgbClr val="EBD2D9"/>
                    </a:solidFill>
                  </a:tcPr>
                </a:tc>
                <a:extLst>
                  <a:ext uri="{0D108BD9-81ED-4DB2-BD59-A6C34878D82A}">
                    <a16:rowId xmlns:a16="http://schemas.microsoft.com/office/drawing/2014/main" val="10010"/>
                  </a:ext>
                </a:extLst>
              </a:tr>
              <a:tr h="251999">
                <a:tc>
                  <a:txBody>
                    <a:bodyPr/>
                    <a:lstStyle/>
                    <a:p>
                      <a:pPr lvl="1" algn="l">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65,541</a:t>
                      </a:r>
                    </a:p>
                  </a:txBody>
                  <a:tcPr>
                    <a:solidFill>
                      <a:srgbClr val="FFFFFF"/>
                    </a:solidFill>
                  </a:tcPr>
                </a:tc>
                <a:tc>
                  <a:txBody>
                    <a:bodyPr/>
                    <a:lstStyle/>
                    <a:p>
                      <a:pPr algn="ctr">
                        <a:defRPr sz="900">
                          <a:solidFill>
                            <a:srgbClr val="000000"/>
                          </a:solidFill>
                          <a:latin typeface="Montserrat"/>
                        </a:defRPr>
                      </a:pPr>
                      <a:r>
                        <a:t>75,634</a:t>
                      </a:r>
                    </a:p>
                  </a:txBody>
                  <a:tcPr>
                    <a:solidFill>
                      <a:srgbClr val="FFFFFF"/>
                    </a:solidFill>
                  </a:tcPr>
                </a:tc>
                <a:tc>
                  <a:txBody>
                    <a:bodyPr/>
                    <a:lstStyle/>
                    <a:p>
                      <a:pPr algn="ctr">
                        <a:defRPr sz="900">
                          <a:solidFill>
                            <a:srgbClr val="000000"/>
                          </a:solidFill>
                          <a:latin typeface="Montserrat"/>
                        </a:defRPr>
                      </a:pPr>
                      <a:r>
                        <a:t>15%</a:t>
                      </a:r>
                    </a:p>
                  </a:txBody>
                  <a:tcPr>
                    <a:solidFill>
                      <a:srgbClr val="FFFFFF"/>
                    </a:solidFill>
                  </a:tcPr>
                </a:tc>
                <a:extLst>
                  <a:ext uri="{0D108BD9-81ED-4DB2-BD59-A6C34878D82A}">
                    <a16:rowId xmlns:a16="http://schemas.microsoft.com/office/drawing/2014/main" val="10011"/>
                  </a:ext>
                </a:extLst>
              </a:tr>
              <a:tr h="251999">
                <a:tc>
                  <a:txBody>
                    <a:bodyPr/>
                    <a:lstStyle/>
                    <a:p>
                      <a:pPr lvl="1" algn="l">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96,995</a:t>
                      </a:r>
                    </a:p>
                  </a:txBody>
                  <a:tcPr>
                    <a:solidFill>
                      <a:srgbClr val="FFFFFF"/>
                    </a:solidFill>
                  </a:tcPr>
                </a:tc>
                <a:tc>
                  <a:txBody>
                    <a:bodyPr/>
                    <a:lstStyle/>
                    <a:p>
                      <a:pPr algn="ctr">
                        <a:defRPr sz="900">
                          <a:solidFill>
                            <a:srgbClr val="000000"/>
                          </a:solidFill>
                          <a:latin typeface="Montserrat"/>
                        </a:defRPr>
                      </a:pPr>
                      <a:r>
                        <a:t>87,417</a:t>
                      </a:r>
                    </a:p>
                  </a:txBody>
                  <a:tcPr>
                    <a:solidFill>
                      <a:srgbClr val="FFFFFF"/>
                    </a:solidFill>
                  </a:tcPr>
                </a:tc>
                <a:tc>
                  <a:txBody>
                    <a:bodyPr/>
                    <a:lstStyle/>
                    <a:p>
                      <a:pPr algn="ctr">
                        <a:defRPr sz="900">
                          <a:solidFill>
                            <a:srgbClr val="000000"/>
                          </a:solidFill>
                          <a:latin typeface="Montserrat"/>
                        </a:defRPr>
                      </a:pPr>
                      <a:r>
                        <a:t>-10%</a:t>
                      </a:r>
                    </a:p>
                  </a:txBody>
                  <a:tcPr>
                    <a:solidFill>
                      <a:srgbClr val="FFFFFF"/>
                    </a:solidFill>
                  </a:tcPr>
                </a:tc>
                <a:extLst>
                  <a:ext uri="{0D108BD9-81ED-4DB2-BD59-A6C34878D82A}">
                    <a16:rowId xmlns:a16="http://schemas.microsoft.com/office/drawing/2014/main" val="10012"/>
                  </a:ext>
                </a:extLst>
              </a:tr>
              <a:tr h="251999">
                <a:tc>
                  <a:txBody>
                    <a:bodyPr/>
                    <a:lstStyle/>
                    <a:p>
                      <a:pPr lvl="1" algn="l">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29,739</a:t>
                      </a:r>
                    </a:p>
                  </a:txBody>
                  <a:tcPr>
                    <a:solidFill>
                      <a:srgbClr val="FFFFFF"/>
                    </a:solidFill>
                  </a:tcPr>
                </a:tc>
                <a:tc>
                  <a:txBody>
                    <a:bodyPr/>
                    <a:lstStyle/>
                    <a:p>
                      <a:pPr algn="ctr">
                        <a:defRPr sz="900">
                          <a:solidFill>
                            <a:srgbClr val="000000"/>
                          </a:solidFill>
                          <a:latin typeface="Montserrat"/>
                        </a:defRPr>
                      </a:pPr>
                      <a:r>
                        <a:t>45,808</a:t>
                      </a:r>
                    </a:p>
                  </a:txBody>
                  <a:tcPr>
                    <a:solidFill>
                      <a:srgbClr val="FFFFFF"/>
                    </a:solidFill>
                  </a:tcPr>
                </a:tc>
                <a:tc>
                  <a:txBody>
                    <a:bodyPr/>
                    <a:lstStyle/>
                    <a:p>
                      <a:pPr algn="ctr">
                        <a:defRPr sz="900">
                          <a:solidFill>
                            <a:srgbClr val="000000"/>
                          </a:solidFill>
                          <a:latin typeface="Montserrat"/>
                        </a:defRPr>
                      </a:pPr>
                      <a:r>
                        <a:t>54%</a:t>
                      </a:r>
                    </a:p>
                  </a:txBody>
                  <a:tcPr>
                    <a:solidFill>
                      <a:srgbClr val="FFFFFF"/>
                    </a:solidFill>
                  </a:tcPr>
                </a:tc>
                <a:extLst>
                  <a:ext uri="{0D108BD9-81ED-4DB2-BD59-A6C34878D82A}">
                    <a16:rowId xmlns:a16="http://schemas.microsoft.com/office/drawing/2014/main" val="10013"/>
                  </a:ext>
                </a:extLst>
              </a:tr>
            </a:tbl>
          </a:graphicData>
        </a:graphic>
      </p:graphicFrame>
      <p:graphicFrame>
        <p:nvGraphicFramePr>
          <p:cNvPr id="135" name="Table 134"/>
          <p:cNvGraphicFramePr>
            <a:graphicFrameLocks noGrp="1"/>
          </p:cNvGraphicFramePr>
          <p:nvPr>
            <p:extLst>
              <p:ext uri="{D42A27DB-BD31-4B8C-83A1-F6EECF244321}">
                <p14:modId xmlns:p14="http://schemas.microsoft.com/office/powerpoint/2010/main" val="3354229541"/>
              </p:ext>
            </p:extLst>
          </p:nvPr>
        </p:nvGraphicFramePr>
        <p:xfrm>
          <a:off x="5792400" y="55229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t>mayo</a:t>
                      </a:r>
                    </a:p>
                  </a:txBody>
                  <a:tcP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t>Variación</a:t>
                      </a:r>
                    </a:p>
                  </a:txBody>
                  <a:tcPr marL="0" marR="0" marT="216000" marB="0" anchor="ctr">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531</a:t>
                      </a:r>
                    </a:p>
                  </a:txBody>
                  <a:tcPr>
                    <a:solidFill>
                      <a:srgbClr val="F8F4EC"/>
                    </a:solidFill>
                  </a:tcPr>
                </a:tc>
                <a:tc>
                  <a:txBody>
                    <a:bodyPr/>
                    <a:lstStyle/>
                    <a:p>
                      <a:pPr algn="ctr">
                        <a:defRPr sz="900" b="1">
                          <a:latin typeface="Montserrat"/>
                        </a:defRPr>
                      </a:pPr>
                      <a:r>
                        <a:t>556</a:t>
                      </a:r>
                    </a:p>
                  </a:txBody>
                  <a:tcPr>
                    <a:solidFill>
                      <a:srgbClr val="F8F4EC"/>
                    </a:solidFill>
                  </a:tcPr>
                </a:tc>
                <a:tc>
                  <a:txBody>
                    <a:bodyPr/>
                    <a:lstStyle/>
                    <a:p>
                      <a:pPr algn="ctr">
                        <a:defRPr sz="900" b="1">
                          <a:latin typeface="Montserrat"/>
                        </a:defRPr>
                      </a:pPr>
                      <a:r>
                        <a:t>4%</a:t>
                      </a:r>
                    </a:p>
                  </a:txBody>
                  <a:tcPr>
                    <a:solidFill>
                      <a:srgbClr val="F8F4EC"/>
                    </a:solidFill>
                  </a:tcPr>
                </a:tc>
                <a:extLst>
                  <a:ext uri="{0D108BD9-81ED-4DB2-BD59-A6C34878D82A}">
                    <a16:rowId xmlns:a16="http://schemas.microsoft.com/office/drawing/2014/main" val="10002"/>
                  </a:ext>
                </a:extLst>
              </a:tr>
            </a:tbl>
          </a:graphicData>
        </a:graphic>
      </p:graphicFrame>
      <p:graphicFrame>
        <p:nvGraphicFramePr>
          <p:cNvPr id="136" name="Table 135"/>
          <p:cNvGraphicFramePr>
            <a:graphicFrameLocks noGrp="1"/>
          </p:cNvGraphicFramePr>
          <p:nvPr>
            <p:extLst>
              <p:ext uri="{D42A27DB-BD31-4B8C-83A1-F6EECF244321}">
                <p14:modId xmlns:p14="http://schemas.microsoft.com/office/powerpoint/2010/main" val="4001184041"/>
              </p:ext>
            </p:extLst>
          </p:nvPr>
        </p:nvGraphicFramePr>
        <p:xfrm>
          <a:off x="5792400" y="71033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t>mayo</a:t>
                      </a:r>
                    </a:p>
                  </a:txBody>
                  <a:tcP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t>Variación</a:t>
                      </a:r>
                    </a:p>
                  </a:txBody>
                  <a:tcPr marL="0" marR="0" marT="216000" marB="0" anchor="ctr">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2,718</a:t>
                      </a:r>
                    </a:p>
                  </a:txBody>
                  <a:tcPr>
                    <a:solidFill>
                      <a:srgbClr val="F8F4EC"/>
                    </a:solidFill>
                  </a:tcPr>
                </a:tc>
                <a:tc>
                  <a:txBody>
                    <a:bodyPr/>
                    <a:lstStyle/>
                    <a:p>
                      <a:pPr algn="ctr">
                        <a:defRPr sz="900" b="1">
                          <a:latin typeface="Montserrat"/>
                        </a:defRPr>
                      </a:pPr>
                      <a:r>
                        <a:t>3,753</a:t>
                      </a:r>
                    </a:p>
                  </a:txBody>
                  <a:tcPr>
                    <a:solidFill>
                      <a:srgbClr val="F8F4EC"/>
                    </a:solidFill>
                  </a:tcPr>
                </a:tc>
                <a:tc>
                  <a:txBody>
                    <a:bodyPr/>
                    <a:lstStyle/>
                    <a:p>
                      <a:pPr algn="ctr">
                        <a:defRPr sz="900" b="1">
                          <a:latin typeface="Montserrat"/>
                        </a:defRPr>
                      </a:pPr>
                      <a:r>
                        <a:t>38%</a:t>
                      </a:r>
                    </a:p>
                  </a:txBody>
                  <a:tcPr>
                    <a:solidFill>
                      <a:srgbClr val="F8F4EC"/>
                    </a:solidFill>
                  </a:tcPr>
                </a:tc>
                <a:extLst>
                  <a:ext uri="{0D108BD9-81ED-4DB2-BD59-A6C34878D82A}">
                    <a16:rowId xmlns:a16="http://schemas.microsoft.com/office/drawing/2014/main" val="10002"/>
                  </a:ext>
                </a:extLst>
              </a:tr>
            </a:tbl>
          </a:graphicData>
        </a:graphic>
      </p:graphicFrame>
      <p:graphicFrame>
        <p:nvGraphicFramePr>
          <p:cNvPr id="137" name="Table 136"/>
          <p:cNvGraphicFramePr>
            <a:graphicFrameLocks noGrp="1"/>
          </p:cNvGraphicFramePr>
          <p:nvPr>
            <p:extLst>
              <p:ext uri="{D42A27DB-BD31-4B8C-83A1-F6EECF244321}">
                <p14:modId xmlns:p14="http://schemas.microsoft.com/office/powerpoint/2010/main" val="2146408030"/>
              </p:ext>
            </p:extLst>
          </p:nvPr>
        </p:nvGraphicFramePr>
        <p:xfrm>
          <a:off x="5947200" y="8568500"/>
          <a:ext cx="1738800" cy="522808"/>
        </p:xfrm>
        <a:graphic>
          <a:graphicData uri="http://schemas.openxmlformats.org/drawingml/2006/table">
            <a:tbl>
              <a:tblPr firstRow="1" bandRow="1">
                <a:tableStyleId>{5C22544A-7EE6-4342-B048-85BDC9FD1C3A}</a:tableStyleId>
              </a:tblPr>
              <a:tblGrid>
                <a:gridCol w="1738800">
                  <a:extLst>
                    <a:ext uri="{9D8B030D-6E8A-4147-A177-3AD203B41FA5}">
                      <a16:colId xmlns:a16="http://schemas.microsoft.com/office/drawing/2014/main" val="20000"/>
                    </a:ext>
                  </a:extLst>
                </a:gridCol>
              </a:tblGrid>
              <a:tr h="203176">
                <a:tc>
                  <a:txBody>
                    <a:bodyPr/>
                    <a:lstStyle/>
                    <a:p>
                      <a:pPr algn="ctr">
                        <a:defRPr sz="1000" b="1">
                          <a:solidFill>
                            <a:srgbClr val="FFFFFF"/>
                          </a:solidFill>
                          <a:latin typeface="Montserrat"/>
                        </a:defRPr>
                      </a:pPr>
                      <a:r>
                        <a:t>mayo 2026</a:t>
                      </a:r>
                      <a:r>
                        <a:rPr lang="es-MX"/>
                        <a:t> </a:t>
                      </a:r>
                      <a:r>
                        <a:rPr lang="es-MX" baseline="30000"/>
                        <a:t>3</a:t>
                      </a:r>
                      <a:endParaRPr baseline="30000"/>
                    </a:p>
                  </a:txBody>
                  <a:tcPr anchor="ctr">
                    <a:solidFill>
                      <a:srgbClr val="006455"/>
                    </a:solidFill>
                  </a:tcPr>
                </a:tc>
                <a:extLst>
                  <a:ext uri="{0D108BD9-81ED-4DB2-BD59-A6C34878D82A}">
                    <a16:rowId xmlns:a16="http://schemas.microsoft.com/office/drawing/2014/main" val="10000"/>
                  </a:ext>
                </a:extLst>
              </a:tr>
              <a:tr h="278968">
                <a:tc>
                  <a:txBody>
                    <a:bodyPr/>
                    <a:lstStyle/>
                    <a:p>
                      <a:pPr algn="ctr">
                        <a:defRPr sz="1200" b="1">
                          <a:solidFill>
                            <a:srgbClr val="000000"/>
                          </a:solidFill>
                          <a:latin typeface="Montserrat"/>
                        </a:defRPr>
                      </a:pPr>
                      <a:r>
                        <a:t>26</a:t>
                      </a:r>
                    </a:p>
                  </a:txBody>
                  <a:tcPr anchor="ctr">
                    <a:solidFill>
                      <a:srgbClr val="F8F4EC"/>
                    </a:solidFill>
                  </a:tcPr>
                </a:tc>
                <a:extLst>
                  <a:ext uri="{0D108BD9-81ED-4DB2-BD59-A6C34878D82A}">
                    <a16:rowId xmlns:a16="http://schemas.microsoft.com/office/drawing/2014/main" val="10001"/>
                  </a:ext>
                </a:extLst>
              </a:tr>
            </a:tbl>
          </a:graphicData>
        </a:graphic>
      </p:graphicFrame>
      <p:sp>
        <p:nvSpPr>
          <p:cNvPr id="138" name="TextBox 137"/>
          <p:cNvSpPr txBox="1"/>
          <p:nvPr/>
        </p:nvSpPr>
        <p:spPr>
          <a:xfrm>
            <a:off x="5868000" y="9104317"/>
            <a:ext cx="1922399" cy="338554"/>
          </a:xfrm>
          <a:prstGeom prst="rect">
            <a:avLst/>
          </a:prstGeom>
          <a:noFill/>
        </p:spPr>
        <p:txBody>
          <a:bodyPr wrap="square">
            <a:spAutoFit/>
          </a:bodyPr>
          <a:lstStyle/>
          <a:p>
            <a:pPr algn="l">
              <a:defRPr sz="700">
                <a:solidFill>
                  <a:srgbClr val="FFFFFF"/>
                </a:solidFill>
                <a:latin typeface="Montserrat"/>
              </a:defRPr>
            </a:pPr>
            <a:r>
              <a:rPr lang="es-MX" sz="800" baseline="30000">
                <a:solidFill>
                  <a:schemeClr val="tx1"/>
                </a:solidFill>
              </a:rPr>
              <a:t>3</a:t>
            </a:r>
            <a:r>
              <a:rPr sz="800" baseline="30000">
                <a:solidFill>
                  <a:schemeClr val="tx1"/>
                </a:solidFill>
              </a:rPr>
              <a:t> </a:t>
            </a:r>
            <a:r>
              <a:rPr sz="800">
                <a:solidFill>
                  <a:schemeClr val="tx1"/>
                </a:solidFill>
              </a:rPr>
              <a:t>PTPD </a:t>
            </a:r>
            <a:r>
              <a:rPr sz="800" err="1">
                <a:solidFill>
                  <a:schemeClr val="tx1"/>
                </a:solidFill>
              </a:rPr>
              <a:t>que</a:t>
            </a:r>
            <a:r>
              <a:rPr sz="800">
                <a:solidFill>
                  <a:schemeClr val="tx1"/>
                </a:solidFill>
              </a:rPr>
              <a:t> </a:t>
            </a:r>
            <a:r>
              <a:rPr sz="800" err="1">
                <a:solidFill>
                  <a:schemeClr val="tx1"/>
                </a:solidFill>
              </a:rPr>
              <a:t>superaron</a:t>
            </a:r>
            <a:r>
              <a:rPr sz="800">
                <a:solidFill>
                  <a:schemeClr val="tx1"/>
                </a:solidFill>
              </a:rPr>
              <a:t> el umbral de </a:t>
            </a:r>
            <a:r>
              <a:rPr sz="800" err="1">
                <a:solidFill>
                  <a:schemeClr val="tx1"/>
                </a:solidFill>
              </a:rPr>
              <a:t>ingreso</a:t>
            </a:r>
            <a:r>
              <a:rPr sz="800">
                <a:solidFill>
                  <a:schemeClr val="tx1"/>
                </a:solidFill>
              </a:rPr>
              <a:t> </a:t>
            </a:r>
            <a:r>
              <a:rPr sz="800" err="1">
                <a:solidFill>
                  <a:schemeClr val="tx1"/>
                </a:solidFill>
              </a:rPr>
              <a:t>mínimo</a:t>
            </a:r>
            <a:r>
              <a:rPr sz="800">
                <a:solidFill>
                  <a:schemeClr val="tx1"/>
                </a:solidFill>
              </a:rPr>
              <a:t> </a:t>
            </a:r>
            <a:r>
              <a:rPr sz="800" err="1">
                <a:solidFill>
                  <a:schemeClr val="tx1"/>
                </a:solidFill>
              </a:rPr>
              <a:t>neto</a:t>
            </a:r>
            <a:endParaRPr sz="800">
              <a:solidFill>
                <a:schemeClr val="tx1"/>
              </a:solidFill>
            </a:endParaRPr>
          </a:p>
        </p:txBody>
      </p:sp>
      <p:pic>
        <p:nvPicPr>
          <p:cNvPr id="139" name="Picture 138" descr="PTPD.png"/>
          <p:cNvPicPr>
            <a:picLocks noChangeAspect="1"/>
          </p:cNvPicPr>
          <p:nvPr/>
        </p:nvPicPr>
        <p:blipFill>
          <a:blip r:embed="rId10"/>
          <a:stretch>
            <a:fillRect/>
          </a:stretch>
        </p:blipFill>
        <p:spPr>
          <a:xfrm>
            <a:off x="6080400" y="7996100"/>
            <a:ext cx="1666800" cy="486000"/>
          </a:xfrm>
          <a:prstGeom prst="rect">
            <a:avLst/>
          </a:prstGeom>
        </p:spPr>
      </p:pic>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cxnSp>
        <p:nvCxnSpPr>
          <p:cNvPr id="2" name="Conector recto 1">
            <a:extLst>
              <a:ext uri="{FF2B5EF4-FFF2-40B4-BE49-F238E27FC236}">
                <a16:creationId xmlns:a16="http://schemas.microsoft.com/office/drawing/2014/main" id="{2ADE5301-8CA4-3EB2-E018-0D5E89CE55A3}"/>
              </a:ext>
            </a:extLst>
          </p:cNvPr>
          <p:cNvCxnSpPr>
            <a:cxnSpLocks/>
          </p:cNvCxnSpPr>
          <p:nvPr/>
        </p:nvCxnSpPr>
        <p:spPr>
          <a:xfrm flipH="1">
            <a:off x="4038600" y="1680966"/>
            <a:ext cx="178322" cy="310110"/>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3371850201"/>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06_col.png"/>
          <p:cNvPicPr>
            <a:picLocks noChangeAspect="1"/>
          </p:cNvPicPr>
          <p:nvPr/>
        </p:nvPicPr>
        <p:blipFill>
          <a:blip r:embed="rId4"/>
          <a:stretch>
            <a:fillRect/>
          </a:stretch>
        </p:blipFill>
        <p:spPr>
          <a:xfrm>
            <a:off x="1218025" y="547200"/>
            <a:ext cx="5461200" cy="5011200"/>
          </a:xfrm>
          <a:prstGeom prst="rect">
            <a:avLst/>
          </a:prstGeom>
        </p:spPr>
      </p:pic>
      <p:graphicFrame>
        <p:nvGraphicFramePr>
          <p:cNvPr id="135" name="Table 134"/>
          <p:cNvGraphicFramePr>
            <a:graphicFrameLocks noGrp="1"/>
          </p:cNvGraphicFramePr>
          <p:nvPr>
            <p:extLst>
              <p:ext uri="{D42A27DB-BD31-4B8C-83A1-F6EECF244321}">
                <p14:modId xmlns:p14="http://schemas.microsoft.com/office/powerpoint/2010/main" val="3988718506"/>
              </p:ext>
            </p:extLst>
          </p:nvPr>
        </p:nvGraphicFramePr>
        <p:xfrm>
          <a:off x="1706400" y="6854400"/>
          <a:ext cx="4359600" cy="1317448"/>
        </p:xfrm>
        <a:graphic>
          <a:graphicData uri="http://schemas.openxmlformats.org/drawingml/2006/table">
            <a:tbl>
              <a:tblPr firstRow="1" bandRow="1">
                <a:tableStyleId>{5C22544A-7EE6-4342-B048-85BDC9FD1C3A}</a:tableStyleId>
              </a:tblPr>
              <a:tblGrid>
                <a:gridCol w="871920">
                  <a:extLst>
                    <a:ext uri="{9D8B030D-6E8A-4147-A177-3AD203B41FA5}">
                      <a16:colId xmlns:a16="http://schemas.microsoft.com/office/drawing/2014/main" val="20000"/>
                    </a:ext>
                  </a:extLst>
                </a:gridCol>
                <a:gridCol w="871920">
                  <a:extLst>
                    <a:ext uri="{9D8B030D-6E8A-4147-A177-3AD203B41FA5}">
                      <a16:colId xmlns:a16="http://schemas.microsoft.com/office/drawing/2014/main" val="20001"/>
                    </a:ext>
                  </a:extLst>
                </a:gridCol>
                <a:gridCol w="871920">
                  <a:extLst>
                    <a:ext uri="{9D8B030D-6E8A-4147-A177-3AD203B41FA5}">
                      <a16:colId xmlns:a16="http://schemas.microsoft.com/office/drawing/2014/main" val="20002"/>
                    </a:ext>
                  </a:extLst>
                </a:gridCol>
                <a:gridCol w="871920">
                  <a:extLst>
                    <a:ext uri="{9D8B030D-6E8A-4147-A177-3AD203B41FA5}">
                      <a16:colId xmlns:a16="http://schemas.microsoft.com/office/drawing/2014/main" val="20003"/>
                    </a:ext>
                  </a:extLst>
                </a:gridCol>
                <a:gridCol w="871920">
                  <a:extLst>
                    <a:ext uri="{9D8B030D-6E8A-4147-A177-3AD203B41FA5}">
                      <a16:colId xmlns:a16="http://schemas.microsoft.com/office/drawing/2014/main" val="20004"/>
                    </a:ext>
                  </a:extLst>
                </a:gridCol>
              </a:tblGrid>
              <a:tr h="234000">
                <a:tc rowSpan="2">
                  <a:txBody>
                    <a:bodyPr/>
                    <a:lstStyle/>
                    <a:p>
                      <a:pPr algn="ctr">
                        <a:defRPr sz="1000" b="1">
                          <a:solidFill>
                            <a:srgbClr val="FFFFFF"/>
                          </a:solidFill>
                          <a:latin typeface="Montserrat"/>
                        </a:defRPr>
                      </a:pPr>
                      <a:r>
                        <a:t>Nivel</a:t>
                      </a:r>
                    </a:p>
                  </a:txBody>
                  <a:tcPr marL="10800" marR="10800" marT="10800" marB="10800" anchor="ctr">
                    <a:solidFill>
                      <a:srgbClr val="660000"/>
                    </a:solidFill>
                  </a:tcPr>
                </a:tc>
                <a:tc gridSpan="4">
                  <a:txBody>
                    <a:bodyPr/>
                    <a:lstStyle/>
                    <a:p>
                      <a:pPr algn="ctr">
                        <a:defRPr sz="1000" b="1">
                          <a:solidFill>
                            <a:srgbClr val="FFFFFF"/>
                          </a:solidFill>
                          <a:latin typeface="Montserrat"/>
                        </a:defRPr>
                      </a:pPr>
                      <a:r>
                        <a:t>IMSS Ordinario</a:t>
                      </a:r>
                    </a:p>
                  </a:txBody>
                  <a:tcPr marL="10800" marR="10800" marT="10800" marB="10800">
                    <a:solidFill>
                      <a:srgbClr val="006455"/>
                    </a:solidFill>
                  </a:tcPr>
                </a:tc>
                <a:tc hMerge="1">
                  <a:txBody>
                    <a:bodyPr/>
                    <a:lstStyle/>
                    <a:p>
                      <a:endParaRPr/>
                    </a:p>
                  </a:txBody>
                  <a:tcPr marL="10800" marR="10800" marT="10800" marB="10800"/>
                </a:tc>
                <a:tc hMerge="1">
                  <a:txBody>
                    <a:bodyPr/>
                    <a:lstStyle/>
                    <a:p>
                      <a:endParaRPr/>
                    </a:p>
                  </a:txBody>
                  <a:tcPr marL="10800" marR="10800" marT="10800" marB="10800"/>
                </a:tc>
                <a:tc hMerge="1">
                  <a:txBody>
                    <a:bodyPr/>
                    <a:lstStyle/>
                    <a:p>
                      <a:endParaRPr/>
                    </a:p>
                  </a:txBody>
                  <a:tcPr marL="10800" marR="10800" marT="10800" marB="10800"/>
                </a:tc>
                <a:extLst>
                  <a:ext uri="{0D108BD9-81ED-4DB2-BD59-A6C34878D82A}">
                    <a16:rowId xmlns:a16="http://schemas.microsoft.com/office/drawing/2014/main" val="10000"/>
                  </a:ext>
                </a:extLst>
              </a:tr>
              <a:tr h="234000">
                <a:tc vMerge="1">
                  <a:txBody>
                    <a:bodyPr/>
                    <a:lstStyle/>
                    <a:p>
                      <a:endParaRPr/>
                    </a:p>
                  </a:txBody>
                  <a:tcPr marL="10800" marR="10800" marT="10800" marB="10800" anchor="ctr">
                    <a:solidFill>
                      <a:srgbClr val="006455"/>
                    </a:solidFill>
                  </a:tcPr>
                </a:tc>
                <a:tc>
                  <a:txBody>
                    <a:bodyPr/>
                    <a:lstStyle/>
                    <a:p>
                      <a:pPr algn="ctr">
                        <a:defRPr sz="1000" b="1">
                          <a:solidFill>
                            <a:srgbClr val="FFFFFF"/>
                          </a:solidFill>
                          <a:latin typeface="Montserrat"/>
                        </a:defRPr>
                      </a:pPr>
                      <a:r>
                        <a:t>Unidades</a:t>
                      </a:r>
                    </a:p>
                  </a:txBody>
                  <a:tcPr marL="10800" marR="10800" marT="10800" marB="10800" anchor="ctr">
                    <a:solidFill>
                      <a:srgbClr val="006455"/>
                    </a:solidFill>
                  </a:tcPr>
                </a:tc>
                <a:tc>
                  <a:txBody>
                    <a:bodyPr/>
                    <a:lstStyle/>
                    <a:p>
                      <a:pPr algn="ctr">
                        <a:defRPr sz="1000" b="1">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sz="1000" b="1">
                          <a:solidFill>
                            <a:srgbClr val="FFFFFF"/>
                          </a:solidFill>
                          <a:latin typeface="Montserrat"/>
                        </a:defRPr>
                      </a:pPr>
                      <a:r>
                        <a:t>Camas</a:t>
                      </a:r>
                    </a:p>
                  </a:txBody>
                  <a:tcPr marL="10800" marR="10800" marT="10800" marB="10800" anchor="ctr">
                    <a:solidFill>
                      <a:srgbClr val="006455"/>
                    </a:solidFill>
                  </a:tcPr>
                </a:tc>
                <a:tc>
                  <a:txBody>
                    <a:bodyPr/>
                    <a:lstStyle/>
                    <a:p>
                      <a:pPr algn="ctr">
                        <a:defRPr sz="1000" b="1">
                          <a:solidFill>
                            <a:srgbClr val="FFFFFF"/>
                          </a:solidFill>
                          <a:latin typeface="Montserrat"/>
                        </a:defRPr>
                      </a:pPr>
                      <a:r>
                        <a:t>Camas no censables</a:t>
                      </a:r>
                    </a:p>
                  </a:txBody>
                  <a:tcPr marL="10800" marR="10800" marT="10800" marB="10800" anchor="ctr">
                    <a:solidFill>
                      <a:srgbClr val="006455"/>
                    </a:solidFill>
                  </a:tcPr>
                </a:tc>
                <a:extLst>
                  <a:ext uri="{0D108BD9-81ED-4DB2-BD59-A6C34878D82A}">
                    <a16:rowId xmlns:a16="http://schemas.microsoft.com/office/drawing/2014/main" val="10001"/>
                  </a:ext>
                </a:extLst>
              </a:tr>
              <a:tr h="234000">
                <a:tc>
                  <a:txBody>
                    <a:bodyPr/>
                    <a:lstStyle/>
                    <a:p>
                      <a:pPr algn="l">
                        <a:defRPr sz="1000">
                          <a:solidFill>
                            <a:srgbClr val="000000"/>
                          </a:solidFill>
                          <a:latin typeface="Montserrat"/>
                        </a:defRPr>
                      </a:pPr>
                      <a:r>
                        <a:rPr sz="1000">
                          <a:latin typeface="Montserrat"/>
                        </a:rPr>
                        <a:t>Primer</a:t>
                      </a:r>
                      <a:r>
                        <a:rPr lang="es-MX" sz="1000">
                          <a:latin typeface="Montserrat"/>
                        </a:rPr>
                        <a:t> </a:t>
                      </a:r>
                      <a:r>
                        <a:rPr lang="es-MX" sz="1000" baseline="30000">
                          <a:latin typeface="Montserrat"/>
                        </a:rPr>
                        <a:t>1</a:t>
                      </a:r>
                      <a:endParaRPr sz="1000" baseline="30000">
                        <a:latin typeface="Montserrat"/>
                      </a:endParaRP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a:t>
                      </a:r>
                      <a:endParaRPr sz="700" baseline="30000">
                        <a:latin typeface="Montserrat"/>
                      </a:endParaRP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50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25</a:t>
                      </a:r>
                    </a:p>
                  </a:txBody>
                  <a:tcPr marL="10800" marR="10800" marT="10800" marB="10800" anchor="ctr">
                    <a:solidFill>
                      <a:srgbClr val="FFFFFF"/>
                    </a:solidFill>
                  </a:tcPr>
                </a:tc>
                <a:extLst>
                  <a:ext uri="{0D108BD9-81ED-4DB2-BD59-A6C34878D82A}">
                    <a16:rowId xmlns:a16="http://schemas.microsoft.com/office/drawing/2014/main" val="10002"/>
                  </a:ext>
                </a:extLst>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309</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173</a:t>
                      </a:r>
                    </a:p>
                  </a:txBody>
                  <a:tcPr marL="10800" marR="10800" marT="10800" marB="10800" anchor="ctr">
                    <a:solidFill>
                      <a:srgbClr val="EFEFEF"/>
                    </a:solidFill>
                  </a:tcPr>
                </a:tc>
                <a:extLst>
                  <a:ext uri="{0D108BD9-81ED-4DB2-BD59-A6C34878D82A}">
                    <a16:rowId xmlns:a16="http://schemas.microsoft.com/office/drawing/2014/main" val="10003"/>
                  </a:ext>
                </a:extLst>
              </a:tr>
              <a:tr h="289048">
                <a:tc>
                  <a:txBody>
                    <a:bodyPr/>
                    <a:lstStyle/>
                    <a:p>
                      <a:pPr algn="ctr">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13</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57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309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198</a:t>
                      </a:r>
                    </a:p>
                  </a:txBody>
                  <a:tcPr marL="10800" marR="10800" marT="10800" marB="10800"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136" name="Table 135"/>
          <p:cNvGraphicFramePr>
            <a:graphicFrameLocks noGrp="1"/>
          </p:cNvGraphicFramePr>
          <p:nvPr>
            <p:extLst>
              <p:ext uri="{D42A27DB-BD31-4B8C-83A1-F6EECF244321}">
                <p14:modId xmlns:p14="http://schemas.microsoft.com/office/powerpoint/2010/main" val="1964345264"/>
              </p:ext>
            </p:extLst>
          </p:nvPr>
        </p:nvGraphicFramePr>
        <p:xfrm>
          <a:off x="693000" y="4618800"/>
          <a:ext cx="2026800" cy="1173600"/>
        </p:xfrm>
        <a:graphic>
          <a:graphicData uri="http://schemas.openxmlformats.org/drawingml/2006/table">
            <a:tbl>
              <a:tblPr firstRow="1" bandRow="1">
                <a:tableStyleId>{5C22544A-7EE6-4342-B048-85BDC9FD1C3A}</a:tableStyleId>
              </a:tblPr>
              <a:tblGrid>
                <a:gridCol w="1013400">
                  <a:extLst>
                    <a:ext uri="{9D8B030D-6E8A-4147-A177-3AD203B41FA5}">
                      <a16:colId xmlns:a16="http://schemas.microsoft.com/office/drawing/2014/main" val="20000"/>
                    </a:ext>
                  </a:extLst>
                </a:gridCol>
                <a:gridCol w="1013400">
                  <a:extLst>
                    <a:ext uri="{9D8B030D-6E8A-4147-A177-3AD203B41FA5}">
                      <a16:colId xmlns:a16="http://schemas.microsoft.com/office/drawing/2014/main" val="20001"/>
                    </a:ext>
                  </a:extLst>
                </a:gridCol>
              </a:tblGrid>
              <a:tr h="293400">
                <a:tc>
                  <a:txBody>
                    <a:bodyPr/>
                    <a:lstStyle/>
                    <a:p>
                      <a:pPr algn="ctr">
                        <a:defRPr sz="1000" b="1">
                          <a:solidFill>
                            <a:srgbClr val="FFFFFF"/>
                          </a:solidFill>
                          <a:latin typeface="Montserrat"/>
                        </a:defRPr>
                      </a:pPr>
                      <a:r>
                        <a:t>2o Nivel</a:t>
                      </a:r>
                    </a:p>
                  </a:txBody>
                  <a:tcPr>
                    <a:solidFill>
                      <a:srgbClr val="006455"/>
                    </a:solidFill>
                  </a:tcPr>
                </a:tc>
                <a:tc>
                  <a:txBody>
                    <a:bodyPr/>
                    <a:lstStyle/>
                    <a:p>
                      <a:pPr algn="ctr">
                        <a:defRPr sz="1000" b="1">
                          <a:solidFill>
                            <a:srgbClr val="FFFFFF"/>
                          </a:solidFill>
                          <a:latin typeface="Montserrat"/>
                        </a:defRPr>
                      </a:pPr>
                      <a:r>
                        <a:t>Unidades</a:t>
                      </a:r>
                    </a:p>
                  </a:txBody>
                  <a:tcPr>
                    <a:solidFill>
                      <a:srgbClr val="006455"/>
                    </a:solidFill>
                  </a:tcPr>
                </a:tc>
                <a:extLst>
                  <a:ext uri="{0D108BD9-81ED-4DB2-BD59-A6C34878D82A}">
                    <a16:rowId xmlns:a16="http://schemas.microsoft.com/office/drawing/2014/main" val="10000"/>
                  </a:ext>
                </a:extLst>
              </a:tr>
              <a:tr h="29340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2</a:t>
                      </a:r>
                    </a:p>
                  </a:txBody>
                  <a:tcPr>
                    <a:solidFill>
                      <a:srgbClr val="EFEFEF"/>
                    </a:solidFill>
                  </a:tcPr>
                </a:tc>
                <a:extLst>
                  <a:ext uri="{0D108BD9-81ED-4DB2-BD59-A6C34878D82A}">
                    <a16:rowId xmlns:a16="http://schemas.microsoft.com/office/drawing/2014/main" val="10001"/>
                  </a:ext>
                </a:extLst>
              </a:tr>
              <a:tr h="293400">
                <a:tc>
                  <a:txBody>
                    <a:bodyPr/>
                    <a:lstStyle/>
                    <a:p>
                      <a:pPr algn="ctr">
                        <a:defRPr sz="1000">
                          <a:solidFill>
                            <a:srgbClr val="000000"/>
                          </a:solidFill>
                          <a:latin typeface="Montserrat"/>
                        </a:defRPr>
                      </a:pPr>
                      <a:r>
                        <a:t>HGS</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2"/>
                  </a:ext>
                </a:extLst>
              </a:tr>
              <a:tr h="2934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extLst>
                  <a:ext uri="{0D108BD9-81ED-4DB2-BD59-A6C34878D82A}">
                    <a16:rowId xmlns:a16="http://schemas.microsoft.com/office/drawing/2014/main" val="10003"/>
                  </a:ext>
                </a:extLst>
              </a:tr>
            </a:tbl>
          </a:graphicData>
        </a:graphic>
      </p:graphicFrame>
      <p:sp>
        <p:nvSpPr>
          <p:cNvPr id="137" name="TextBox 136"/>
          <p:cNvSpPr txBox="1"/>
          <p:nvPr/>
        </p:nvSpPr>
        <p:spPr>
          <a:xfrm>
            <a:off x="212400" y="9540000"/>
            <a:ext cx="7200000" cy="360000"/>
          </a:xfrm>
          <a:prstGeom prst="rect">
            <a:avLst/>
          </a:prstGeom>
          <a:noFill/>
        </p:spPr>
        <p:txBody>
          <a:bodyPr wrap="square" lIns="0" tIns="0" rIns="0" bIns="0">
            <a:spAutoFit/>
          </a:bodyPr>
          <a:lstStyle/>
          <a:p>
            <a:pPr algn="l">
              <a:defRPr sz="700">
                <a:solidFill>
                  <a:srgbClr val="FFFFFF"/>
                </a:solidFill>
                <a:latin typeface="Montserrat"/>
              </a:defRPr>
            </a:pPr>
            <a:r>
              <a:t>¹ Incluye 10 UMF y no incluye 3 Unidades Auxiliares de Medicina Familiar.</a:t>
            </a:r>
          </a:p>
        </p:txBody>
      </p:sp>
      <p:sp>
        <p:nvSpPr>
          <p:cNvPr id="138" name="TextBox 137"/>
          <p:cNvSpPr txBox="1"/>
          <p:nvPr/>
        </p:nvSpPr>
        <p:spPr>
          <a:xfrm>
            <a:off x="212400" y="9774000"/>
            <a:ext cx="1713600" cy="107722"/>
          </a:xfrm>
          <a:prstGeom prst="rect">
            <a:avLst/>
          </a:prstGeom>
          <a:noFill/>
        </p:spPr>
        <p:txBody>
          <a:bodyPr wrap="square" lIns="0" tIns="0" rIns="0" bIns="0">
            <a:spAutoFit/>
          </a:bodyPr>
          <a:lstStyle/>
          <a:p>
            <a:pPr algn="l">
              <a:defRPr sz="700">
                <a:solidFill>
                  <a:srgbClr val="FFFFFF"/>
                </a:solidFill>
                <a:latin typeface="Montserrat"/>
              </a:defRPr>
            </a:pPr>
            <a:r>
              <a:t>Corte de </a:t>
            </a:r>
            <a:r>
              <a:rPr err="1"/>
              <a:t>información</a:t>
            </a:r>
            <a:r>
              <a:t>: ma</a:t>
            </a:r>
            <a:r>
              <a:rPr lang="es-MX"/>
              <a:t>y</a:t>
            </a:r>
            <a:r>
              <a:t>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sp>
        <p:nvSpPr>
          <p:cNvPr id="3" name="TextBox 137">
            <a:extLst>
              <a:ext uri="{FF2B5EF4-FFF2-40B4-BE49-F238E27FC236}">
                <a16:creationId xmlns:a16="http://schemas.microsoft.com/office/drawing/2014/main" id="{7481047C-1D6D-B847-CE48-BA646C67DB47}"/>
              </a:ext>
            </a:extLst>
          </p:cNvPr>
          <p:cNvSpPr txBox="1"/>
          <p:nvPr/>
        </p:nvSpPr>
        <p:spPr>
          <a:xfrm>
            <a:off x="3062161" y="5029200"/>
            <a:ext cx="3741595" cy="323165"/>
          </a:xfrm>
          <a:prstGeom prst="rect">
            <a:avLst/>
          </a:prstGeom>
          <a:noFill/>
        </p:spPr>
        <p:txBody>
          <a:bodyPr wrap="square" lIns="0" tIns="0" rIns="0" bIns="0">
            <a:spAutoFit/>
          </a:bodyPr>
          <a:lstStyle/>
          <a:p>
            <a:pPr algn="just">
              <a:defRPr sz="700">
                <a:solidFill>
                  <a:srgbClr val="000000"/>
                </a:solidFill>
                <a:latin typeface="Montserrat"/>
              </a:defRPr>
            </a:pPr>
            <a:r>
              <a:rPr lang="es-MX">
                <a:solidFill>
                  <a:schemeClr val="tx1"/>
                </a:solidFill>
              </a:rPr>
              <a:t>El HGZ de 72 camas de Manzanillo. Actualmente se encuentra en la  realización de los estudios de infraestructura de servicios, fecha probable de conclusión de la obra: 11 de febrero de 2028</a:t>
            </a:r>
            <a:endParaRPr>
              <a:solidFill>
                <a:schemeClr val="tx1"/>
              </a:solidFill>
            </a:endParaRPr>
          </a:p>
        </p:txBody>
      </p:sp>
      <p:sp>
        <p:nvSpPr>
          <p:cNvPr id="5" name="Rectangle 125">
            <a:extLst>
              <a:ext uri="{FF2B5EF4-FFF2-40B4-BE49-F238E27FC236}">
                <a16:creationId xmlns:a16="http://schemas.microsoft.com/office/drawing/2014/main" id="{03FCA70E-8BF7-DFB1-8A36-98AF04F7251B}"/>
              </a:ext>
            </a:extLst>
          </p:cNvPr>
          <p:cNvSpPr/>
          <p:nvPr/>
        </p:nvSpPr>
        <p:spPr>
          <a:xfrm>
            <a:off x="2870462" y="5118206"/>
            <a:ext cx="134336" cy="134693"/>
          </a:xfrm>
          <a:prstGeom prst="rect">
            <a:avLst/>
          </a:prstGeom>
          <a:solidFill>
            <a:srgbClr val="92D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6" name="Google Shape;101;g3d0b4d3c5c9_3_50">
            <a:extLst>
              <a:ext uri="{FF2B5EF4-FFF2-40B4-BE49-F238E27FC236}">
                <a16:creationId xmlns:a16="http://schemas.microsoft.com/office/drawing/2014/main" id="{3BD8D301-0388-703D-7B68-6C973772D3E0}"/>
              </a:ext>
            </a:extLst>
          </p:cNvPr>
          <p:cNvGraphicFramePr/>
          <p:nvPr>
            <p:extLst>
              <p:ext uri="{D42A27DB-BD31-4B8C-83A1-F6EECF244321}">
                <p14:modId xmlns:p14="http://schemas.microsoft.com/office/powerpoint/2010/main" val="1932020450"/>
              </p:ext>
            </p:extLst>
          </p:nvPr>
        </p:nvGraphicFramePr>
        <p:xfrm>
          <a:off x="288000" y="1191600"/>
          <a:ext cx="7396850" cy="822960"/>
        </p:xfrm>
        <a:graphic>
          <a:graphicData uri="http://schemas.openxmlformats.org/drawingml/2006/table">
            <a:tbl>
              <a:tblPr>
                <a:noFill/>
              </a:tblPr>
              <a:tblGrid>
                <a:gridCol w="73968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600"/>
                        <a:buFont typeface="Arial"/>
                        <a:buNone/>
                      </a:pPr>
                      <a:r>
                        <a:rPr lang="es" sz="1800" b="1">
                          <a:solidFill>
                            <a:srgbClr val="A42145"/>
                          </a:solidFill>
                          <a:latin typeface="Montserrat"/>
                          <a:ea typeface="Montserrat"/>
                          <a:cs typeface="Montserrat"/>
                          <a:sym typeface="Montserrat"/>
                        </a:rPr>
                        <a:t>Primer hospital en la entidad:</a:t>
                      </a:r>
                      <a:endParaRPr sz="1800" b="1">
                        <a:solidFill>
                          <a:srgbClr val="A4214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600"/>
                        <a:buFont typeface="Arial"/>
                        <a:buNone/>
                      </a:pPr>
                      <a:r>
                        <a:rPr lang="es" sz="1800" b="1" u="none" strike="noStrike" cap="none">
                          <a:solidFill>
                            <a:srgbClr val="BC955C"/>
                          </a:solidFill>
                          <a:latin typeface="Montserrat"/>
                          <a:ea typeface="Montserrat"/>
                          <a:cs typeface="Montserrat"/>
                          <a:sym typeface="Montserrat"/>
                        </a:rPr>
                        <a:t>Hospital General de </a:t>
                      </a:r>
                      <a:r>
                        <a:rPr lang="es" sz="1800" b="1">
                          <a:solidFill>
                            <a:srgbClr val="BC955C"/>
                          </a:solidFill>
                          <a:latin typeface="Montserrat"/>
                          <a:ea typeface="Montserrat"/>
                          <a:cs typeface="Montserrat"/>
                          <a:sym typeface="Montserrat"/>
                        </a:rPr>
                        <a:t>Subzona con Medicina Familiar</a:t>
                      </a:r>
                      <a:r>
                        <a:rPr lang="es" sz="1800" b="1" u="none" strike="noStrike" cap="none">
                          <a:solidFill>
                            <a:srgbClr val="BC955C"/>
                          </a:solidFill>
                          <a:latin typeface="Montserrat"/>
                          <a:ea typeface="Montserrat"/>
                          <a:cs typeface="Montserrat"/>
                          <a:sym typeface="Montserrat"/>
                        </a:rPr>
                        <a:t> No. </a:t>
                      </a:r>
                      <a:r>
                        <a:rPr lang="es" sz="1800" b="1">
                          <a:solidFill>
                            <a:srgbClr val="BC955C"/>
                          </a:solidFill>
                          <a:latin typeface="Montserrat"/>
                          <a:ea typeface="Montserrat"/>
                          <a:cs typeface="Montserrat"/>
                          <a:sym typeface="Montserrat"/>
                        </a:rPr>
                        <a:t>4 Tecomán</a:t>
                      </a:r>
                      <a:r>
                        <a:rPr lang="es" sz="1800" b="1">
                          <a:solidFill>
                            <a:srgbClr val="BC955C"/>
                          </a:solidFill>
                          <a:latin typeface="Montserrat"/>
                          <a:ea typeface="Montserrat"/>
                          <a:cs typeface="Montserrat"/>
                        </a:rPr>
                        <a:t>, Colima</a:t>
                      </a:r>
                      <a:endParaRPr sz="18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7" name="Google Shape;103;g3d0b4d3c5c9_3_50">
            <a:extLst>
              <a:ext uri="{FF2B5EF4-FFF2-40B4-BE49-F238E27FC236}">
                <a16:creationId xmlns:a16="http://schemas.microsoft.com/office/drawing/2014/main" id="{796C5CB4-0540-938C-639A-02BE00078D66}"/>
              </a:ext>
            </a:extLst>
          </p:cNvPr>
          <p:cNvPicPr preferRelativeResize="0"/>
          <p:nvPr/>
        </p:nvPicPr>
        <p:blipFill>
          <a:blip r:embed="rId4">
            <a:alphaModFix/>
          </a:blip>
          <a:stretch>
            <a:fillRect/>
          </a:stretch>
        </p:blipFill>
        <p:spPr>
          <a:xfrm>
            <a:off x="436685" y="2057951"/>
            <a:ext cx="3014438" cy="1819826"/>
          </a:xfrm>
          <a:prstGeom prst="rect">
            <a:avLst/>
          </a:prstGeom>
          <a:noFill/>
          <a:ln>
            <a:noFill/>
          </a:ln>
        </p:spPr>
      </p:pic>
      <p:pic>
        <p:nvPicPr>
          <p:cNvPr id="8" name="Google Shape;104;g3d0b4d3c5c9_3_50">
            <a:extLst>
              <a:ext uri="{FF2B5EF4-FFF2-40B4-BE49-F238E27FC236}">
                <a16:creationId xmlns:a16="http://schemas.microsoft.com/office/drawing/2014/main" id="{82AFC0D4-D072-7D42-ED5B-C2ABF7496C62}"/>
              </a:ext>
            </a:extLst>
          </p:cNvPr>
          <p:cNvPicPr preferRelativeResize="0"/>
          <p:nvPr/>
        </p:nvPicPr>
        <p:blipFill>
          <a:blip r:embed="rId5">
            <a:alphaModFix/>
          </a:blip>
          <a:stretch>
            <a:fillRect/>
          </a:stretch>
        </p:blipFill>
        <p:spPr>
          <a:xfrm>
            <a:off x="436686" y="4022602"/>
            <a:ext cx="3014438" cy="1819826"/>
          </a:xfrm>
          <a:prstGeom prst="rect">
            <a:avLst/>
          </a:prstGeom>
          <a:noFill/>
          <a:ln>
            <a:noFill/>
          </a:ln>
        </p:spPr>
      </p:pic>
      <p:pic>
        <p:nvPicPr>
          <p:cNvPr id="2" name="Imagen 1">
            <a:extLst>
              <a:ext uri="{FF2B5EF4-FFF2-40B4-BE49-F238E27FC236}">
                <a16:creationId xmlns:a16="http://schemas.microsoft.com/office/drawing/2014/main" id="{45B469C6-C898-F0EB-1A6B-6AA0AFD617E7}"/>
              </a:ext>
            </a:extLst>
          </p:cNvPr>
          <p:cNvPicPr>
            <a:picLocks noChangeAspect="1"/>
          </p:cNvPicPr>
          <p:nvPr/>
        </p:nvPicPr>
        <p:blipFill>
          <a:blip r:embed="rId6"/>
          <a:stretch>
            <a:fillRect/>
          </a:stretch>
        </p:blipFill>
        <p:spPr>
          <a:xfrm>
            <a:off x="3692498" y="2244861"/>
            <a:ext cx="3676525" cy="3191237"/>
          </a:xfrm>
          <a:prstGeom prst="rect">
            <a:avLst/>
          </a:prstGeom>
        </p:spPr>
      </p:pic>
      <p:sp>
        <p:nvSpPr>
          <p:cNvPr id="9" name="TextBox 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sp>
        <p:nvSpPr>
          <p:cNvPr id="10" name="TextBox 9"/>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1" name="Connector 10"/>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2" name="Picture 11" descr="col_06.png"/>
          <p:cNvPicPr>
            <a:picLocks noChangeAspect="1"/>
          </p:cNvPicPr>
          <p:nvPr/>
        </p:nvPicPr>
        <p:blipFill>
          <a:blip r:embed="rId7"/>
          <a:stretch>
            <a:fillRect/>
          </a:stretch>
        </p:blipFill>
        <p:spPr>
          <a:xfrm>
            <a:off x="100800" y="6053502"/>
            <a:ext cx="7488000" cy="727200"/>
          </a:xfrm>
          <a:prstGeom prst="rect">
            <a:avLst/>
          </a:prstGeom>
        </p:spPr>
      </p:pic>
      <p:graphicFrame>
        <p:nvGraphicFramePr>
          <p:cNvPr id="13" name="Table 12"/>
          <p:cNvGraphicFramePr>
            <a:graphicFrameLocks noGrp="1"/>
          </p:cNvGraphicFramePr>
          <p:nvPr>
            <p:extLst>
              <p:ext uri="{D42A27DB-BD31-4B8C-83A1-F6EECF244321}">
                <p14:modId xmlns:p14="http://schemas.microsoft.com/office/powerpoint/2010/main" val="17073083"/>
              </p:ext>
            </p:extLst>
          </p:nvPr>
        </p:nvGraphicFramePr>
        <p:xfrm>
          <a:off x="60538" y="6991777"/>
          <a:ext cx="7650000" cy="150733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13392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781200">
                  <a:extLst>
                    <a:ext uri="{9D8B030D-6E8A-4147-A177-3AD203B41FA5}">
                      <a16:colId xmlns:a16="http://schemas.microsoft.com/office/drawing/2014/main" val="20003"/>
                    </a:ext>
                  </a:extLst>
                </a:gridCol>
                <a:gridCol w="810000">
                  <a:extLst>
                    <a:ext uri="{9D8B030D-6E8A-4147-A177-3AD203B41FA5}">
                      <a16:colId xmlns:a16="http://schemas.microsoft.com/office/drawing/2014/main" val="20004"/>
                    </a:ext>
                  </a:extLst>
                </a:gridCol>
                <a:gridCol w="957600">
                  <a:extLst>
                    <a:ext uri="{9D8B030D-6E8A-4147-A177-3AD203B41FA5}">
                      <a16:colId xmlns:a16="http://schemas.microsoft.com/office/drawing/2014/main" val="20005"/>
                    </a:ext>
                  </a:extLst>
                </a:gridCol>
                <a:gridCol w="1098000">
                  <a:extLst>
                    <a:ext uri="{9D8B030D-6E8A-4147-A177-3AD203B41FA5}">
                      <a16:colId xmlns:a16="http://schemas.microsoft.com/office/drawing/2014/main" val="20006"/>
                    </a:ext>
                  </a:extLst>
                </a:gridCol>
              </a:tblGrid>
              <a:tr h="230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Inicio de operaciones</a:t>
                      </a:r>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t>Camas no censables</a:t>
                      </a:r>
                    </a:p>
                  </a:txBody>
                  <a:tcPr anchor="ctr">
                    <a:solidFill>
                      <a:srgbClr val="006455"/>
                    </a:solidFill>
                  </a:tcPr>
                </a:tc>
                <a:tc>
                  <a:txBody>
                    <a:bodyPr/>
                    <a:lstStyle/>
                    <a:p>
                      <a:pPr algn="ctr">
                        <a:defRPr sz="900" b="1">
                          <a:solidFill>
                            <a:srgbClr val="FFFFFF"/>
                          </a:solidFill>
                          <a:latin typeface="Montserrat"/>
                        </a:defRPr>
                      </a:pPr>
                      <a:r>
                        <a:t>Camas de cuidados intensivos</a:t>
                      </a:r>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t>Consultorios de especialidades</a:t>
                      </a:r>
                    </a:p>
                  </a:txBody>
                  <a:tcPr anchor="ctr">
                    <a:solidFill>
                      <a:srgbClr val="006455"/>
                    </a:solidFill>
                  </a:tcPr>
                </a:tc>
                <a:extLst>
                  <a:ext uri="{0D108BD9-81ED-4DB2-BD59-A6C34878D82A}">
                    <a16:rowId xmlns:a16="http://schemas.microsoft.com/office/drawing/2014/main" val="10000"/>
                  </a:ext>
                </a:extLst>
              </a:tr>
              <a:tr h="230400">
                <a:tc>
                  <a:txBody>
                    <a:bodyPr/>
                    <a:lstStyle/>
                    <a:p>
                      <a:pPr algn="l">
                        <a:defRPr sz="900">
                          <a:latin typeface="Montserrat"/>
                        </a:defRPr>
                      </a:pPr>
                      <a:r>
                        <a:t>HGSMF 4 Tecomán</a:t>
                      </a:r>
                    </a:p>
                  </a:txBody>
                  <a:tcPr anchor="ctr">
                    <a:solidFill>
                      <a:srgbClr val="FFFFFF"/>
                    </a:solidFill>
                  </a:tcPr>
                </a:tc>
                <a:tc>
                  <a:txBody>
                    <a:bodyPr/>
                    <a:lstStyle/>
                    <a:p>
                      <a:pPr algn="ctr">
                        <a:defRPr sz="900">
                          <a:latin typeface="Montserrat"/>
                        </a:defRPr>
                      </a:pPr>
                      <a:r>
                        <a:t>Julio de 1968</a:t>
                      </a:r>
                    </a:p>
                  </a:txBody>
                  <a:tcPr anchor="ctr">
                    <a:solidFill>
                      <a:srgbClr val="FFFFFF"/>
                    </a:solidFill>
                  </a:tcPr>
                </a:tc>
                <a:tc>
                  <a:txBody>
                    <a:bodyPr/>
                    <a:lstStyle/>
                    <a:p>
                      <a:pPr algn="ctr">
                        <a:defRPr sz="900">
                          <a:latin typeface="Montserrat"/>
                        </a:defRPr>
                      </a:pPr>
                      <a:r>
                        <a:t>31</a:t>
                      </a:r>
                    </a:p>
                  </a:txBody>
                  <a:tcPr anchor="ctr">
                    <a:solidFill>
                      <a:srgbClr val="FFFFFF"/>
                    </a:solidFill>
                  </a:tcPr>
                </a:tc>
                <a:tc>
                  <a:txBody>
                    <a:bodyPr/>
                    <a:lstStyle/>
                    <a:p>
                      <a:pPr algn="ctr">
                        <a:defRPr sz="900">
                          <a:latin typeface="Montserrat"/>
                        </a:defRPr>
                      </a:pPr>
                      <a:r>
                        <a:t>26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6</a:t>
                      </a:r>
                    </a:p>
                  </a:txBody>
                  <a:tcPr anchor="ctr">
                    <a:solidFill>
                      <a:srgbClr val="FFFFFF"/>
                    </a:solidFill>
                  </a:tcPr>
                </a:tc>
                <a:extLst>
                  <a:ext uri="{0D108BD9-81ED-4DB2-BD59-A6C34878D82A}">
                    <a16:rowId xmlns:a16="http://schemas.microsoft.com/office/drawing/2014/main" val="10001"/>
                  </a:ext>
                </a:extLst>
              </a:tr>
              <a:tr h="230400">
                <a:tc>
                  <a:txBody>
                    <a:bodyPr/>
                    <a:lstStyle/>
                    <a:p>
                      <a:pPr algn="l">
                        <a:defRPr sz="900">
                          <a:latin typeface="Montserrat"/>
                        </a:defRPr>
                      </a:pPr>
                      <a:r>
                        <a:t>HGZ 10 Manzanillo</a:t>
                      </a:r>
                    </a:p>
                  </a:txBody>
                  <a:tcPr anchor="ctr">
                    <a:solidFill>
                      <a:srgbClr val="EFEFEF"/>
                    </a:solidFill>
                  </a:tcPr>
                </a:tc>
                <a:tc>
                  <a:txBody>
                    <a:bodyPr/>
                    <a:lstStyle/>
                    <a:p>
                      <a:pPr algn="ctr">
                        <a:defRPr sz="900">
                          <a:latin typeface="Montserrat"/>
                        </a:defRPr>
                      </a:pPr>
                      <a:r>
                        <a:t>Noviembre de 2005</a:t>
                      </a:r>
                    </a:p>
                  </a:txBody>
                  <a:tcPr anchor="ctr">
                    <a:solidFill>
                      <a:srgbClr val="EFEFEF"/>
                    </a:solidFill>
                  </a:tcPr>
                </a:tc>
                <a:tc>
                  <a:txBody>
                    <a:bodyPr/>
                    <a:lstStyle/>
                    <a:p>
                      <a:pPr algn="ctr">
                        <a:defRPr sz="900">
                          <a:latin typeface="Montserrat"/>
                        </a:defRPr>
                      </a:pPr>
                      <a:r>
                        <a:t>93</a:t>
                      </a:r>
                    </a:p>
                  </a:txBody>
                  <a:tcPr anchor="ctr">
                    <a:solidFill>
                      <a:srgbClr val="EFEFEF"/>
                    </a:solidFill>
                  </a:tcPr>
                </a:tc>
                <a:tc>
                  <a:txBody>
                    <a:bodyPr/>
                    <a:lstStyle/>
                    <a:p>
                      <a:pPr algn="ctr">
                        <a:defRPr sz="900">
                          <a:latin typeface="Montserrat"/>
                        </a:defRPr>
                      </a:pPr>
                      <a:r>
                        <a:t>42</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15</a:t>
                      </a:r>
                    </a:p>
                  </a:txBody>
                  <a:tcPr anchor="ctr">
                    <a:solidFill>
                      <a:srgbClr val="EFEFEF"/>
                    </a:solidFill>
                  </a:tcPr>
                </a:tc>
                <a:extLst>
                  <a:ext uri="{0D108BD9-81ED-4DB2-BD59-A6C34878D82A}">
                    <a16:rowId xmlns:a16="http://schemas.microsoft.com/office/drawing/2014/main" val="10002"/>
                  </a:ext>
                </a:extLst>
              </a:tr>
              <a:tr h="230400">
                <a:tc>
                  <a:txBody>
                    <a:bodyPr/>
                    <a:lstStyle/>
                    <a:p>
                      <a:pPr algn="l">
                        <a:defRPr sz="900">
                          <a:latin typeface="Montserrat"/>
                        </a:defRPr>
                      </a:pPr>
                      <a:r>
                        <a:t>HGZ 1 Villa de Álvarez</a:t>
                      </a:r>
                    </a:p>
                  </a:txBody>
                  <a:tcPr anchor="ctr">
                    <a:solidFill>
                      <a:srgbClr val="FFFFFF"/>
                    </a:solidFill>
                  </a:tcPr>
                </a:tc>
                <a:tc>
                  <a:txBody>
                    <a:bodyPr/>
                    <a:lstStyle/>
                    <a:p>
                      <a:pPr algn="ctr">
                        <a:defRPr sz="900">
                          <a:latin typeface="Montserrat"/>
                        </a:defRPr>
                      </a:pPr>
                      <a:r>
                        <a:t>Octubre de 2016</a:t>
                      </a:r>
                    </a:p>
                  </a:txBody>
                  <a:tcPr anchor="ctr">
                    <a:solidFill>
                      <a:srgbClr val="FFFFFF"/>
                    </a:solidFill>
                  </a:tcPr>
                </a:tc>
                <a:tc>
                  <a:txBody>
                    <a:bodyPr/>
                    <a:lstStyle/>
                    <a:p>
                      <a:pPr algn="ctr">
                        <a:defRPr sz="900">
                          <a:latin typeface="Montserrat"/>
                        </a:defRPr>
                      </a:pPr>
                      <a:r>
                        <a:t>185</a:t>
                      </a:r>
                    </a:p>
                  </a:txBody>
                  <a:tcPr anchor="ctr">
                    <a:solidFill>
                      <a:srgbClr val="FFFFFF"/>
                    </a:solidFill>
                  </a:tcPr>
                </a:tc>
                <a:tc>
                  <a:txBody>
                    <a:bodyPr/>
                    <a:lstStyle/>
                    <a:p>
                      <a:pPr algn="ctr">
                        <a:defRPr sz="900">
                          <a:latin typeface="Montserrat"/>
                        </a:defRPr>
                      </a:pPr>
                      <a:r>
                        <a:t>105</a:t>
                      </a:r>
                    </a:p>
                  </a:txBody>
                  <a:tcPr anchor="ctr">
                    <a:solidFill>
                      <a:srgbClr val="FFFFFF"/>
                    </a:solidFill>
                  </a:tcPr>
                </a:tc>
                <a:tc>
                  <a:txBody>
                    <a:bodyPr/>
                    <a:lstStyle/>
                    <a:p>
                      <a:pPr algn="ctr">
                        <a:defRPr sz="900">
                          <a:latin typeface="Montserrat"/>
                        </a:defRPr>
                      </a:pPr>
                      <a:r>
                        <a:t>12</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42</a:t>
                      </a:r>
                    </a:p>
                  </a:txBody>
                  <a:tcPr anchor="ctr">
                    <a:solidFill>
                      <a:srgbClr val="FFFFFF"/>
                    </a:solidFill>
                  </a:tcPr>
                </a:tc>
                <a:extLst>
                  <a:ext uri="{0D108BD9-81ED-4DB2-BD59-A6C34878D82A}">
                    <a16:rowId xmlns:a16="http://schemas.microsoft.com/office/drawing/2014/main" val="10003"/>
                  </a:ext>
                </a:extLst>
              </a:tr>
              <a:tr h="31321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309</a:t>
                      </a:r>
                    </a:p>
                  </a:txBody>
                  <a:tcPr anchor="ctr">
                    <a:solidFill>
                      <a:srgbClr val="D3E9E7"/>
                    </a:solidFill>
                  </a:tcPr>
                </a:tc>
                <a:tc>
                  <a:txBody>
                    <a:bodyPr/>
                    <a:lstStyle/>
                    <a:p>
                      <a:pPr algn="ctr">
                        <a:defRPr sz="900" b="1">
                          <a:solidFill>
                            <a:srgbClr val="006556"/>
                          </a:solidFill>
                          <a:latin typeface="Montserrat"/>
                        </a:defRPr>
                      </a:pPr>
                      <a:r>
                        <a:t>173</a:t>
                      </a:r>
                    </a:p>
                  </a:txBody>
                  <a:tcPr anchor="ctr">
                    <a:solidFill>
                      <a:srgbClr val="D3E9E7"/>
                    </a:solidFill>
                  </a:tcPr>
                </a:tc>
                <a:tc>
                  <a:txBody>
                    <a:bodyPr/>
                    <a:lstStyle/>
                    <a:p>
                      <a:pPr algn="ctr">
                        <a:defRPr sz="900" b="1">
                          <a:solidFill>
                            <a:srgbClr val="006556"/>
                          </a:solidFill>
                          <a:latin typeface="Montserrat"/>
                        </a:defRPr>
                      </a:pPr>
                      <a:r>
                        <a:t>16</a:t>
                      </a:r>
                    </a:p>
                  </a:txBody>
                  <a:tcPr anchor="ctr">
                    <a:solidFill>
                      <a:srgbClr val="D3E9E7"/>
                    </a:solidFill>
                  </a:tcPr>
                </a:tc>
                <a:tc>
                  <a:txBody>
                    <a:bodyPr/>
                    <a:lstStyle/>
                    <a:p>
                      <a:pPr algn="ctr">
                        <a:defRPr sz="900" b="1">
                          <a:solidFill>
                            <a:srgbClr val="006556"/>
                          </a:solidFill>
                          <a:latin typeface="Montserrat"/>
                        </a:defRPr>
                      </a:pPr>
                      <a:r>
                        <a:t>9</a:t>
                      </a:r>
                    </a:p>
                  </a:txBody>
                  <a:tcPr anchor="ctr">
                    <a:solidFill>
                      <a:srgbClr val="D3E9E7"/>
                    </a:solidFill>
                  </a:tcPr>
                </a:tc>
                <a:tc>
                  <a:txBody>
                    <a:bodyPr/>
                    <a:lstStyle/>
                    <a:p>
                      <a:pPr algn="ctr">
                        <a:defRPr sz="900" b="1">
                          <a:solidFill>
                            <a:srgbClr val="006556"/>
                          </a:solidFill>
                          <a:latin typeface="Montserrat"/>
                        </a:defRPr>
                      </a:pPr>
                      <a:r>
                        <a:t>63</a:t>
                      </a:r>
                    </a:p>
                  </a:txBody>
                  <a:tcPr anchor="ctr">
                    <a:solidFill>
                      <a:srgbClr val="D3E9E7"/>
                    </a:solid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100800" y="9507600"/>
            <a:ext cx="7387200" cy="369332"/>
          </a:xfrm>
          <a:prstGeom prst="rect">
            <a:avLst/>
          </a:prstGeom>
          <a:noFill/>
        </p:spPr>
        <p:txBody>
          <a:bodyPr wrap="square" lIns="0" tIns="0" rIns="0" bIns="0">
            <a:spAutoFit/>
          </a:bodyPr>
          <a:lstStyle/>
          <a:p>
            <a:pPr algn="l">
              <a:defRPr sz="800">
                <a:solidFill>
                  <a:srgbClr val="FFFFFF"/>
                </a:solidFill>
                <a:latin typeface="Montserrat"/>
              </a:defRPr>
            </a:pPr>
            <a:r>
              <a:t>¹Incluye salas de </a:t>
            </a:r>
            <a:r>
              <a:rPr err="1"/>
              <a:t>quirófano</a:t>
            </a:r>
            <a:r>
              <a:t>, salas </a:t>
            </a:r>
            <a:r>
              <a:rPr err="1"/>
              <a:t>híbridas</a:t>
            </a:r>
            <a:r>
              <a:t> y salas </a:t>
            </a:r>
            <a:r>
              <a:rPr err="1"/>
              <a:t>mixtas</a:t>
            </a:r>
            <a:r>
              <a:t>, no </a:t>
            </a:r>
            <a:r>
              <a:rPr err="1"/>
              <a:t>considera</a:t>
            </a:r>
            <a:r>
              <a:t> salas de </a:t>
            </a:r>
            <a:r>
              <a:rPr err="1"/>
              <a:t>tococirugía</a:t>
            </a:r>
            <a:r>
              <a:t> y </a:t>
            </a:r>
            <a:r>
              <a:rPr err="1"/>
              <a:t>expulsión</a:t>
            </a:r>
            <a:r>
              <a:t>.</a:t>
            </a:r>
            <a:br>
              <a:rPr/>
            </a:br>
            <a:r>
              <a:t>Fuente: Cédula de </a:t>
            </a:r>
            <a:r>
              <a:rPr err="1"/>
              <a:t>actualización</a:t>
            </a:r>
            <a:r>
              <a:t> de variables </a:t>
            </a:r>
            <a:r>
              <a:rPr err="1"/>
              <a:t>seleccionados</a:t>
            </a:r>
            <a:r>
              <a:t> del IFU </a:t>
            </a:r>
            <a:r>
              <a:rPr err="1"/>
              <a:t>enviados</a:t>
            </a:r>
            <a:r>
              <a:t> </a:t>
            </a:r>
            <a:r>
              <a:rPr err="1"/>
              <a:t>por</a:t>
            </a:r>
            <a:r>
              <a:t> el OOAD.</a:t>
            </a:r>
            <a:br>
              <a:rPr/>
            </a:br>
            <a:r>
              <a:t>Corte de </a:t>
            </a:r>
            <a:r>
              <a:rPr err="1"/>
              <a:t>Información</a:t>
            </a:r>
            <a:r>
              <a:t>: ma</a:t>
            </a:r>
            <a:r>
              <a:rPr lang="es-MX"/>
              <a:t>y</a:t>
            </a:r>
            <a:r>
              <a:t>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4FF5E04E-7E13-CB58-3F78-706F19DC0558}"/>
              </a:ext>
            </a:extLst>
          </p:cNvPr>
          <p:cNvGrpSpPr/>
          <p:nvPr/>
        </p:nvGrpSpPr>
        <p:grpSpPr>
          <a:xfrm>
            <a:off x="-16425" y="3650961"/>
            <a:ext cx="7772400" cy="3190718"/>
            <a:chOff x="-16425" y="5505161"/>
            <a:chExt cx="7772400" cy="3190718"/>
          </a:xfrm>
        </p:grpSpPr>
        <p:sp>
          <p:nvSpPr>
            <p:cNvPr id="12" name="Google Shape;140;g3d62d805bc0_1_133">
              <a:extLst>
                <a:ext uri="{FF2B5EF4-FFF2-40B4-BE49-F238E27FC236}">
                  <a16:creationId xmlns:a16="http://schemas.microsoft.com/office/drawing/2014/main" id="{5758ADFC-F888-7442-F089-85034FDFFCD0}"/>
                </a:ext>
              </a:extLst>
            </p:cNvPr>
            <p:cNvSpPr txBox="1"/>
            <p:nvPr/>
          </p:nvSpPr>
          <p:spPr>
            <a:xfrm>
              <a:off x="-16425" y="5505161"/>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a:solidFill>
                    <a:srgbClr val="006858"/>
                  </a:solidFill>
                  <a:latin typeface="Montserrat"/>
                  <a:ea typeface="Montserrat"/>
                  <a:cs typeface="Montserrat"/>
                  <a:sym typeface="Montserrat"/>
                </a:rPr>
                <a:t>Fortalecimiento de equipo médico</a:t>
              </a:r>
              <a:endParaRPr sz="1600" b="1">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a:solidFill>
                    <a:srgbClr val="006858"/>
                  </a:solidFill>
                  <a:latin typeface="Montserrat"/>
                  <a:ea typeface="Montserrat"/>
                  <a:cs typeface="Montserrat"/>
                  <a:sym typeface="Montserrat"/>
                </a:rPr>
                <a:t>Compra 2025-2026 equipo mayor  (</a:t>
              </a:r>
              <a:r>
                <a:rPr lang="es" sz="1600" b="1">
                  <a:solidFill>
                    <a:srgbClr val="006858"/>
                  </a:solidFill>
                  <a:latin typeface="Montserrat"/>
                  <a:ea typeface="Montserrat"/>
                  <a:cs typeface="Montserrat"/>
                  <a:sym typeface="Montserrat"/>
                </a:rPr>
                <a:t>Instalación</a:t>
              </a:r>
              <a:r>
                <a:rPr lang="es" sz="1600" b="1" i="0" u="none" strike="noStrike" cap="none">
                  <a:solidFill>
                    <a:srgbClr val="006858"/>
                  </a:solidFill>
                  <a:latin typeface="Montserrat"/>
                  <a:ea typeface="Montserrat"/>
                  <a:cs typeface="Montserrat"/>
                  <a:sym typeface="Montserrat"/>
                </a:rPr>
                <a:t> abr</a:t>
              </a:r>
              <a:r>
                <a:rPr lang="es" sz="1600" b="1">
                  <a:solidFill>
                    <a:srgbClr val="006858"/>
                  </a:solidFill>
                  <a:latin typeface="Montserrat"/>
                  <a:ea typeface="Montserrat"/>
                  <a:cs typeface="Montserrat"/>
                  <a:sym typeface="Montserrat"/>
                </a:rPr>
                <a:t>il-</a:t>
              </a:r>
              <a:r>
                <a:rPr lang="es" sz="1600" b="1" i="0" u="none" strike="noStrike" cap="none">
                  <a:solidFill>
                    <a:srgbClr val="006858"/>
                  </a:solidFill>
                  <a:latin typeface="Montserrat"/>
                  <a:ea typeface="Montserrat"/>
                  <a:cs typeface="Montserrat"/>
                  <a:sym typeface="Montserrat"/>
                </a:rPr>
                <a:t>mayo)</a:t>
              </a:r>
              <a:endParaRPr sz="2300" b="1" i="0" u="none" strike="noStrike" cap="none">
                <a:solidFill>
                  <a:srgbClr val="006858"/>
                </a:solidFill>
                <a:latin typeface="Montserrat"/>
                <a:ea typeface="Montserrat"/>
                <a:cs typeface="Montserrat"/>
                <a:sym typeface="Montserrat"/>
              </a:endParaRPr>
            </a:p>
          </p:txBody>
        </p:sp>
        <p:grpSp>
          <p:nvGrpSpPr>
            <p:cNvPr id="13" name="Google Shape;153;g3d62d805bc0_1_133">
              <a:extLst>
                <a:ext uri="{FF2B5EF4-FFF2-40B4-BE49-F238E27FC236}">
                  <a16:creationId xmlns:a16="http://schemas.microsoft.com/office/drawing/2014/main" id="{71653F7F-6FB8-F6BF-2234-CFDAF7FC62B9}"/>
                </a:ext>
              </a:extLst>
            </p:cNvPr>
            <p:cNvGrpSpPr/>
            <p:nvPr/>
          </p:nvGrpSpPr>
          <p:grpSpPr>
            <a:xfrm>
              <a:off x="937397" y="7751411"/>
              <a:ext cx="2192703" cy="855040"/>
              <a:chOff x="5290922" y="7426607"/>
              <a:chExt cx="2192703" cy="855040"/>
            </a:xfrm>
          </p:grpSpPr>
          <p:sp>
            <p:nvSpPr>
              <p:cNvPr id="14" name="Google Shape;154;g3d62d805bc0_1_133">
                <a:extLst>
                  <a:ext uri="{FF2B5EF4-FFF2-40B4-BE49-F238E27FC236}">
                    <a16:creationId xmlns:a16="http://schemas.microsoft.com/office/drawing/2014/main" id="{BD6FF699-26B4-354E-6405-455EA131789F}"/>
                  </a:ext>
                </a:extLst>
              </p:cNvPr>
              <p:cNvSpPr/>
              <p:nvPr/>
            </p:nvSpPr>
            <p:spPr>
              <a:xfrm>
                <a:off x="5290923" y="7426607"/>
                <a:ext cx="454200" cy="3810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15" name="Google Shape;155;g3d62d805bc0_1_133">
                <a:extLst>
                  <a:ext uri="{FF2B5EF4-FFF2-40B4-BE49-F238E27FC236}">
                    <a16:creationId xmlns:a16="http://schemas.microsoft.com/office/drawing/2014/main" id="{6E276A12-D1F2-CC4C-FF25-9E09ABFA91C1}"/>
                  </a:ext>
                </a:extLst>
              </p:cNvPr>
              <p:cNvSpPr/>
              <p:nvPr/>
            </p:nvSpPr>
            <p:spPr>
              <a:xfrm>
                <a:off x="5745125" y="7426614"/>
                <a:ext cx="1738500" cy="3810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Mastógrafo</a:t>
                </a:r>
                <a:endParaRPr sz="1100" b="0" i="0" u="none" strike="noStrike" cap="none">
                  <a:solidFill>
                    <a:srgbClr val="FFFFFF"/>
                  </a:solidFill>
                  <a:latin typeface="Arial"/>
                  <a:ea typeface="Arial"/>
                  <a:cs typeface="Arial"/>
                  <a:sym typeface="Arial"/>
                </a:endParaRPr>
              </a:p>
            </p:txBody>
          </p:sp>
          <p:sp>
            <p:nvSpPr>
              <p:cNvPr id="16" name="Google Shape;156;g3d62d805bc0_1_133">
                <a:extLst>
                  <a:ext uri="{FF2B5EF4-FFF2-40B4-BE49-F238E27FC236}">
                    <a16:creationId xmlns:a16="http://schemas.microsoft.com/office/drawing/2014/main" id="{44CD27F1-74E6-9768-907A-9CFEA6D00028}"/>
                  </a:ext>
                </a:extLst>
              </p:cNvPr>
              <p:cNvSpPr txBox="1"/>
              <p:nvPr/>
            </p:nvSpPr>
            <p:spPr>
              <a:xfrm>
                <a:off x="5290922" y="7731147"/>
                <a:ext cx="2192703" cy="550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s" sz="1300">
                    <a:solidFill>
                      <a:srgbClr val="595959"/>
                    </a:solidFill>
                    <a:latin typeface="Montserrat"/>
                    <a:ea typeface="Montserrat"/>
                    <a:cs typeface="Montserrat"/>
                    <a:sym typeface="Montserrat"/>
                  </a:rPr>
                  <a:t>HGZ 1 Villa de Álvarez</a:t>
                </a:r>
              </a:p>
              <a:p>
                <a:pPr marL="0" marR="0" lvl="0" indent="0" algn="l" rtl="0">
                  <a:lnSpc>
                    <a:spcPct val="100000"/>
                  </a:lnSpc>
                  <a:spcBef>
                    <a:spcPts val="0"/>
                  </a:spcBef>
                  <a:spcAft>
                    <a:spcPts val="0"/>
                  </a:spcAft>
                  <a:buClr>
                    <a:srgbClr val="000000"/>
                  </a:buClr>
                  <a:buSzPts val="1300"/>
                  <a:buFont typeface="Arial"/>
                  <a:buNone/>
                </a:pPr>
                <a:r>
                  <a:rPr lang="es" sz="1300" b="1">
                    <a:solidFill>
                      <a:srgbClr val="595959"/>
                    </a:solidFill>
                    <a:latin typeface="Montserrat"/>
                    <a:ea typeface="Noto Sans"/>
                    <a:cs typeface="Noto Sans"/>
                    <a:sym typeface="Montserrat"/>
                  </a:rPr>
                  <a:t>$4.3 mdp</a:t>
                </a:r>
                <a:endParaRPr sz="1050" b="1">
                  <a:solidFill>
                    <a:srgbClr val="434343"/>
                  </a:solidFill>
                  <a:latin typeface="Noto Sans"/>
                  <a:ea typeface="Noto Sans"/>
                  <a:cs typeface="Noto Sans"/>
                  <a:sym typeface="Noto Sans"/>
                </a:endParaRPr>
              </a:p>
              <a:p>
                <a:pPr marL="0" marR="0" lvl="0" indent="0" algn="l" rtl="0">
                  <a:lnSpc>
                    <a:spcPct val="100000"/>
                  </a:lnSpc>
                  <a:spcBef>
                    <a:spcPts val="0"/>
                  </a:spcBef>
                  <a:spcAft>
                    <a:spcPts val="0"/>
                  </a:spcAft>
                  <a:buClr>
                    <a:srgbClr val="000000"/>
                  </a:buClr>
                  <a:buSzPts val="1300"/>
                  <a:buFont typeface="Arial"/>
                  <a:buNone/>
                </a:pPr>
                <a:endParaRPr sz="1300">
                  <a:solidFill>
                    <a:srgbClr val="595959"/>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a:solidFill>
                    <a:schemeClr val="dk2"/>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chemeClr val="dk2"/>
                  </a:solidFill>
                  <a:latin typeface="Montserrat"/>
                  <a:ea typeface="Montserrat"/>
                  <a:cs typeface="Montserrat"/>
                  <a:sym typeface="Montserrat"/>
                </a:endParaRPr>
              </a:p>
            </p:txBody>
          </p:sp>
        </p:grpSp>
        <p:pic>
          <p:nvPicPr>
            <p:cNvPr id="17" name="Google Shape;157;g3d62d805bc0_1_133">
              <a:extLst>
                <a:ext uri="{FF2B5EF4-FFF2-40B4-BE49-F238E27FC236}">
                  <a16:creationId xmlns:a16="http://schemas.microsoft.com/office/drawing/2014/main" id="{3FB08B45-E8F4-76BD-5B95-0CC6E53FD15A}"/>
                </a:ext>
              </a:extLst>
            </p:cNvPr>
            <p:cNvPicPr preferRelativeResize="0"/>
            <p:nvPr/>
          </p:nvPicPr>
          <p:blipFill rotWithShape="1">
            <a:blip r:embed="rId4">
              <a:alphaModFix/>
            </a:blip>
            <a:srcRect/>
            <a:stretch/>
          </p:blipFill>
          <p:spPr>
            <a:xfrm>
              <a:off x="808425" y="6352274"/>
              <a:ext cx="2382547" cy="1466403"/>
            </a:xfrm>
            <a:prstGeom prst="rect">
              <a:avLst/>
            </a:prstGeom>
            <a:noFill/>
            <a:ln>
              <a:noFill/>
            </a:ln>
            <a:effectLst/>
          </p:spPr>
        </p:pic>
        <p:sp>
          <p:nvSpPr>
            <p:cNvPr id="18" name="Google Shape;159;g3d62d805bc0_1_133">
              <a:extLst>
                <a:ext uri="{FF2B5EF4-FFF2-40B4-BE49-F238E27FC236}">
                  <a16:creationId xmlns:a16="http://schemas.microsoft.com/office/drawing/2014/main" id="{7A5E59A3-3BC3-035F-8DE3-F518CFAFBD98}"/>
                </a:ext>
              </a:extLst>
            </p:cNvPr>
            <p:cNvSpPr/>
            <p:nvPr/>
          </p:nvSpPr>
          <p:spPr>
            <a:xfrm>
              <a:off x="5013360" y="7753493"/>
              <a:ext cx="1727039"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endParaRPr sz="1100" b="0" i="0" u="none" strike="noStrike" cap="none">
                <a:solidFill>
                  <a:srgbClr val="FFFFFF"/>
                </a:solidFill>
                <a:latin typeface="Arial"/>
                <a:ea typeface="Arial"/>
                <a:cs typeface="Arial"/>
                <a:sym typeface="Arial"/>
              </a:endParaRPr>
            </a:p>
          </p:txBody>
        </p:sp>
        <p:sp>
          <p:nvSpPr>
            <p:cNvPr id="19" name="Google Shape;160;g3d62d805bc0_1_133">
              <a:extLst>
                <a:ext uri="{FF2B5EF4-FFF2-40B4-BE49-F238E27FC236}">
                  <a16:creationId xmlns:a16="http://schemas.microsoft.com/office/drawing/2014/main" id="{A2EA029D-47AF-0BF5-A631-3ABF33B2ECA5}"/>
                </a:ext>
              </a:extLst>
            </p:cNvPr>
            <p:cNvSpPr/>
            <p:nvPr/>
          </p:nvSpPr>
          <p:spPr>
            <a:xfrm>
              <a:off x="4506361" y="7753493"/>
              <a:ext cx="5070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20" name="Google Shape;161;g3d62d805bc0_1_133">
              <a:extLst>
                <a:ext uri="{FF2B5EF4-FFF2-40B4-BE49-F238E27FC236}">
                  <a16:creationId xmlns:a16="http://schemas.microsoft.com/office/drawing/2014/main" id="{CCCC2E56-76DB-A143-6318-826E4BDC534E}"/>
                </a:ext>
              </a:extLst>
            </p:cNvPr>
            <p:cNvSpPr txBox="1"/>
            <p:nvPr/>
          </p:nvSpPr>
          <p:spPr>
            <a:xfrm>
              <a:off x="4506361" y="8050027"/>
              <a:ext cx="2234038" cy="645852"/>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a:solidFill>
                    <a:srgbClr val="595959"/>
                  </a:solidFill>
                  <a:latin typeface="Montserrat"/>
                  <a:ea typeface="Montserrat"/>
                  <a:cs typeface="Montserrat"/>
                  <a:sym typeface="Montserrat"/>
                </a:rPr>
                <a:t>HGZ 10 Manzanillo</a:t>
              </a:r>
            </a:p>
            <a:p>
              <a:pPr marL="0" marR="50800" lvl="0" indent="0" algn="l" rtl="0">
                <a:lnSpc>
                  <a:spcPct val="111000"/>
                </a:lnSpc>
                <a:spcBef>
                  <a:spcPts val="0"/>
                </a:spcBef>
                <a:spcAft>
                  <a:spcPts val="0"/>
                </a:spcAft>
                <a:buNone/>
              </a:pPr>
              <a:r>
                <a:rPr lang="es" sz="1300" b="1">
                  <a:solidFill>
                    <a:srgbClr val="595959"/>
                  </a:solidFill>
                  <a:latin typeface="Montserrat"/>
                  <a:ea typeface="Montserrat"/>
                  <a:cs typeface="Montserrat"/>
                  <a:sym typeface="Montserrat"/>
                </a:rPr>
                <a:t>$29.6 mdp</a:t>
              </a:r>
              <a:r>
                <a:rPr lang="es" sz="1300">
                  <a:solidFill>
                    <a:srgbClr val="595959"/>
                  </a:solidFill>
                  <a:latin typeface="Montserrat"/>
                  <a:ea typeface="Montserrat"/>
                  <a:cs typeface="Montserrat"/>
                  <a:sym typeface="Montserrat"/>
                </a:rPr>
                <a:t>  </a:t>
              </a:r>
              <a:r>
                <a:rPr lang="es">
                  <a:solidFill>
                    <a:srgbClr val="434343"/>
                  </a:solidFill>
                  <a:latin typeface="Noto Sans"/>
                  <a:ea typeface="Noto Sans"/>
                  <a:cs typeface="Noto Sans"/>
                  <a:sym typeface="Noto Sans"/>
                </a:rPr>
                <a:t> </a:t>
              </a:r>
              <a:r>
                <a:rPr lang="es" sz="1300">
                  <a:solidFill>
                    <a:srgbClr val="595959"/>
                  </a:solidFill>
                  <a:latin typeface="Montserrat"/>
                  <a:ea typeface="Montserrat"/>
                  <a:cs typeface="Montserrat"/>
                  <a:sym typeface="Montserrat"/>
                </a:rPr>
                <a:t> </a:t>
              </a:r>
              <a:endParaRPr>
                <a:solidFill>
                  <a:srgbClr val="434343"/>
                </a:solidFill>
                <a:latin typeface="Noto Sans"/>
                <a:ea typeface="Noto Sans"/>
                <a:cs typeface="Noto Sans"/>
                <a:sym typeface="Noto Sans"/>
              </a:endParaRPr>
            </a:p>
          </p:txBody>
        </p:sp>
        <p:pic>
          <p:nvPicPr>
            <p:cNvPr id="21" name="Google Shape;162;g3d62d805bc0_1_133">
              <a:extLst>
                <a:ext uri="{FF2B5EF4-FFF2-40B4-BE49-F238E27FC236}">
                  <a16:creationId xmlns:a16="http://schemas.microsoft.com/office/drawing/2014/main" id="{D36BAAE2-80F6-9DCF-B323-2E0C3808B57F}"/>
                </a:ext>
              </a:extLst>
            </p:cNvPr>
            <p:cNvPicPr preferRelativeResize="0"/>
            <p:nvPr/>
          </p:nvPicPr>
          <p:blipFill>
            <a:blip r:embed="rId5">
              <a:alphaModFix/>
            </a:blip>
            <a:stretch>
              <a:fillRect/>
            </a:stretch>
          </p:blipFill>
          <p:spPr>
            <a:xfrm>
              <a:off x="4521200" y="6420439"/>
              <a:ext cx="2227650" cy="1330972"/>
            </a:xfrm>
            <a:prstGeom prst="rect">
              <a:avLst/>
            </a:prstGeom>
            <a:noFill/>
            <a:ln>
              <a:noFill/>
            </a:ln>
            <a:effectLst>
              <a:outerShdw blurRad="50800" dist="38100" dir="13500000" algn="br" rotWithShape="0">
                <a:prstClr val="black">
                  <a:alpha val="40000"/>
                </a:prstClr>
              </a:outerShdw>
            </a:effectLst>
          </p:spPr>
        </p:pic>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graphicFrame>
        <p:nvGraphicFramePr>
          <p:cNvPr id="154" name="Table 153"/>
          <p:cNvGraphicFramePr>
            <a:graphicFrameLocks noGrp="1"/>
          </p:cNvGraphicFramePr>
          <p:nvPr>
            <p:extLst>
              <p:ext uri="{D42A27DB-BD31-4B8C-83A1-F6EECF244321}">
                <p14:modId xmlns:p14="http://schemas.microsoft.com/office/powerpoint/2010/main" val="1571436880"/>
              </p:ext>
            </p:extLst>
          </p:nvPr>
        </p:nvGraphicFramePr>
        <p:xfrm>
          <a:off x="413398" y="1219304"/>
          <a:ext cx="6912754" cy="1706776"/>
        </p:xfrm>
        <a:graphic>
          <a:graphicData uri="http://schemas.openxmlformats.org/drawingml/2006/table">
            <a:tbl>
              <a:tblPr firstRow="1" bandRow="1">
                <a:tableStyleId>{5C22544A-7EE6-4342-B048-85BDC9FD1C3A}</a:tableStyleId>
              </a:tblPr>
              <a:tblGrid>
                <a:gridCol w="1570355">
                  <a:extLst>
                    <a:ext uri="{9D8B030D-6E8A-4147-A177-3AD203B41FA5}">
                      <a16:colId xmlns:a16="http://schemas.microsoft.com/office/drawing/2014/main" val="20000"/>
                    </a:ext>
                  </a:extLst>
                </a:gridCol>
                <a:gridCol w="945185">
                  <a:extLst>
                    <a:ext uri="{9D8B030D-6E8A-4147-A177-3AD203B41FA5}">
                      <a16:colId xmlns:a16="http://schemas.microsoft.com/office/drawing/2014/main" val="20001"/>
                    </a:ext>
                  </a:extLst>
                </a:gridCol>
                <a:gridCol w="923215">
                  <a:extLst>
                    <a:ext uri="{9D8B030D-6E8A-4147-A177-3AD203B41FA5}">
                      <a16:colId xmlns:a16="http://schemas.microsoft.com/office/drawing/2014/main" val="20002"/>
                    </a:ext>
                  </a:extLst>
                </a:gridCol>
                <a:gridCol w="896400">
                  <a:extLst>
                    <a:ext uri="{9D8B030D-6E8A-4147-A177-3AD203B41FA5}">
                      <a16:colId xmlns:a16="http://schemas.microsoft.com/office/drawing/2014/main" val="20003"/>
                    </a:ext>
                  </a:extLst>
                </a:gridCol>
                <a:gridCol w="525600">
                  <a:extLst>
                    <a:ext uri="{9D8B030D-6E8A-4147-A177-3AD203B41FA5}">
                      <a16:colId xmlns:a16="http://schemas.microsoft.com/office/drawing/2014/main" val="20004"/>
                    </a:ext>
                  </a:extLst>
                </a:gridCol>
                <a:gridCol w="1000799">
                  <a:extLst>
                    <a:ext uri="{9D8B030D-6E8A-4147-A177-3AD203B41FA5}">
                      <a16:colId xmlns:a16="http://schemas.microsoft.com/office/drawing/2014/main" val="20005"/>
                    </a:ext>
                  </a:extLst>
                </a:gridCol>
                <a:gridCol w="1051200">
                  <a:extLst>
                    <a:ext uri="{9D8B030D-6E8A-4147-A177-3AD203B41FA5}">
                      <a16:colId xmlns:a16="http://schemas.microsoft.com/office/drawing/2014/main" val="20006"/>
                    </a:ext>
                  </a:extLst>
                </a:gridCol>
              </a:tblGrid>
              <a:tr h="569071">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Aparatos de Tomografía</a:t>
                      </a:r>
                    </a:p>
                  </a:txBody>
                  <a:tcPr anchor="ctr">
                    <a:solidFill>
                      <a:srgbClr val="006455"/>
                    </a:solidFill>
                  </a:tcPr>
                </a:tc>
                <a:tc>
                  <a:txBody>
                    <a:bodyPr/>
                    <a:lstStyle/>
                    <a:p>
                      <a:pPr algn="ctr">
                        <a:defRPr sz="900" b="1">
                          <a:solidFill>
                            <a:srgbClr val="FFFFFF"/>
                          </a:solidFill>
                          <a:latin typeface="Montserrat"/>
                        </a:defRPr>
                      </a:pPr>
                      <a:r>
                        <a:t>Equipos de Resonancia Magnética</a:t>
                      </a:r>
                    </a:p>
                  </a:txBody>
                  <a:tcPr anchor="ctr">
                    <a:solidFill>
                      <a:srgbClr val="006455"/>
                    </a:solidFill>
                  </a:tcPr>
                </a:tc>
                <a:tc>
                  <a:txBody>
                    <a:bodyPr/>
                    <a:lstStyle/>
                    <a:p>
                      <a:pPr algn="ctr">
                        <a:defRPr sz="900" b="1">
                          <a:solidFill>
                            <a:srgbClr val="FFFFFF"/>
                          </a:solidFill>
                          <a:latin typeface="Montserrat"/>
                        </a:defRPr>
                      </a:pPr>
                      <a:r>
                        <a:t>Mastógrafo</a:t>
                      </a:r>
                    </a:p>
                  </a:txBody>
                  <a:tcPr anchor="ctr">
                    <a:solidFill>
                      <a:srgbClr val="006455"/>
                    </a:solidFill>
                  </a:tcPr>
                </a:tc>
                <a:tc>
                  <a:txBody>
                    <a:bodyPr/>
                    <a:lstStyle/>
                    <a:p>
                      <a:pPr algn="ctr">
                        <a:defRPr sz="900" b="1">
                          <a:solidFill>
                            <a:srgbClr val="FFFFFF"/>
                          </a:solidFill>
                          <a:latin typeface="Montserrat"/>
                        </a:defRPr>
                      </a:pPr>
                      <a:r>
                        <a:t>Arcos en C</a:t>
                      </a:r>
                    </a:p>
                  </a:txBody>
                  <a:tcPr anchor="ctr">
                    <a:solidFill>
                      <a:srgbClr val="006455"/>
                    </a:solidFill>
                  </a:tcPr>
                </a:tc>
                <a:tc>
                  <a:txBody>
                    <a:bodyPr/>
                    <a:lstStyle/>
                    <a:p>
                      <a:pPr algn="ctr">
                        <a:defRPr sz="900" b="1">
                          <a:solidFill>
                            <a:srgbClr val="FFFFFF"/>
                          </a:solidFill>
                          <a:latin typeface="Montserrat"/>
                        </a:defRPr>
                      </a:pPr>
                      <a:r>
                        <a:t>Máquinas de Hemodiálisis</a:t>
                      </a:r>
                    </a:p>
                  </a:txBody>
                  <a:tcPr anchor="ctr">
                    <a:solidFill>
                      <a:srgbClr val="006455"/>
                    </a:solidFill>
                  </a:tcPr>
                </a:tc>
                <a:tc>
                  <a:txBody>
                    <a:bodyPr/>
                    <a:lstStyle/>
                    <a:p>
                      <a:pPr algn="ctr">
                        <a:defRPr sz="900" b="1">
                          <a:solidFill>
                            <a:srgbClr val="FFFFFF"/>
                          </a:solidFill>
                          <a:latin typeface="Montserrat"/>
                        </a:defRPr>
                      </a:pPr>
                      <a:r>
                        <a:t>Sala de Hemodinamia</a:t>
                      </a:r>
                    </a:p>
                  </a:txBody>
                  <a:tcPr anchor="ctr">
                    <a:solidFill>
                      <a:srgbClr val="006455"/>
                    </a:solidFill>
                  </a:tcPr>
                </a:tc>
                <a:extLst>
                  <a:ext uri="{0D108BD9-81ED-4DB2-BD59-A6C34878D82A}">
                    <a16:rowId xmlns:a16="http://schemas.microsoft.com/office/drawing/2014/main" val="10000"/>
                  </a:ext>
                </a:extLst>
              </a:tr>
              <a:tr h="275913">
                <a:tc>
                  <a:txBody>
                    <a:bodyPr/>
                    <a:lstStyle/>
                    <a:p>
                      <a:pPr algn="l">
                        <a:defRPr sz="1000">
                          <a:latin typeface="Montserrat"/>
                        </a:defRPr>
                      </a:pPr>
                      <a:r>
                        <a:t>HGZ 1 Villa de Álvarez</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20</a:t>
                      </a:r>
                    </a:p>
                  </a:txBody>
                  <a:tcPr>
                    <a:solidFill>
                      <a:srgbClr val="FFFFFF"/>
                    </a:solidFill>
                  </a:tcPr>
                </a:tc>
                <a:tc>
                  <a:txBody>
                    <a:bodyPr/>
                    <a:lstStyle/>
                    <a:p>
                      <a:pPr algn="ctr">
                        <a:defRPr sz="1000">
                          <a:latin typeface="Montserrat"/>
                        </a:defRPr>
                      </a:pPr>
                      <a:r>
                        <a:t>1</a:t>
                      </a:r>
                    </a:p>
                  </a:txBody>
                  <a:tcPr>
                    <a:solidFill>
                      <a:srgbClr val="E6D194"/>
                    </a:solidFill>
                  </a:tcPr>
                </a:tc>
                <a:extLst>
                  <a:ext uri="{0D108BD9-81ED-4DB2-BD59-A6C34878D82A}">
                    <a16:rowId xmlns:a16="http://schemas.microsoft.com/office/drawing/2014/main" val="10001"/>
                  </a:ext>
                </a:extLst>
              </a:tr>
              <a:tr h="275913">
                <a:tc>
                  <a:txBody>
                    <a:bodyPr/>
                    <a:lstStyle/>
                    <a:p>
                      <a:pPr algn="l">
                        <a:defRPr sz="1000">
                          <a:latin typeface="Montserrat"/>
                        </a:defRPr>
                      </a:pPr>
                      <a:r>
                        <a:t>HGSMF 4 Tecomán</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2"/>
                  </a:ext>
                </a:extLst>
              </a:tr>
              <a:tr h="275913">
                <a:tc>
                  <a:txBody>
                    <a:bodyPr/>
                    <a:lstStyle/>
                    <a:p>
                      <a:pPr algn="l">
                        <a:defRPr sz="1000">
                          <a:latin typeface="Montserrat"/>
                        </a:defRPr>
                      </a:pPr>
                      <a:r>
                        <a:t>HGZ 10 Manzanillo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1</a:t>
                      </a:r>
                      <a:r>
                        <a:rPr lang="es-MX"/>
                        <a:t>5</a:t>
                      </a:r>
                      <a:endParaRP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3"/>
                  </a:ext>
                </a:extLst>
              </a:tr>
              <a:tr h="309966">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3</a:t>
                      </a:r>
                      <a:r>
                        <a:rPr lang="es-MX"/>
                        <a:t>5</a:t>
                      </a:r>
                      <a:endParaRP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extLst>
                  <a:ext uri="{0D108BD9-81ED-4DB2-BD59-A6C34878D82A}">
                    <a16:rowId xmlns:a16="http://schemas.microsoft.com/office/drawing/2014/main" val="10004"/>
                  </a:ext>
                </a:extLst>
              </a:tr>
            </a:tbl>
          </a:graphicData>
        </a:graphic>
      </p:graphicFrame>
      <p:sp>
        <p:nvSpPr>
          <p:cNvPr id="155" name="Rectangle 154"/>
          <p:cNvSpPr/>
          <p:nvPr/>
        </p:nvSpPr>
        <p:spPr>
          <a:xfrm>
            <a:off x="205199" y="96696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406799" y="9568800"/>
            <a:ext cx="7149600" cy="461665"/>
          </a:xfrm>
          <a:prstGeom prst="rect">
            <a:avLst/>
          </a:prstGeom>
          <a:noFill/>
        </p:spPr>
        <p:txBody>
          <a:bodyPr wrap="square">
            <a:spAutoFit/>
          </a:bodyPr>
          <a:lstStyle/>
          <a:p>
            <a:pPr>
              <a:defRPr sz="800">
                <a:solidFill>
                  <a:srgbClr val="FFFFFF"/>
                </a:solidFill>
                <a:latin typeface="Montserrat"/>
              </a:defRPr>
            </a:pPr>
            <a:r>
              <a:rPr err="1"/>
              <a:t>Proyectos</a:t>
            </a:r>
            <a:r>
              <a:t> de </a:t>
            </a:r>
            <a:r>
              <a:rPr err="1"/>
              <a:t>implementación</a:t>
            </a:r>
            <a:r>
              <a:t>/</a:t>
            </a:r>
            <a:r>
              <a:rPr err="1"/>
              <a:t>sustitución</a:t>
            </a:r>
            <a:r>
              <a:t> 2019-2025. </a:t>
            </a:r>
            <a:r>
              <a:rPr err="1"/>
              <a:t>Incluye</a:t>
            </a:r>
            <a:r>
              <a:t> </a:t>
            </a:r>
            <a:r>
              <a:rPr err="1"/>
              <a:t>equipo</a:t>
            </a:r>
            <a:r>
              <a:t> de la </a:t>
            </a:r>
            <a:r>
              <a:rPr err="1"/>
              <a:t>compra</a:t>
            </a:r>
            <a:r>
              <a:t> 2025-2026.</a:t>
            </a:r>
            <a:br>
              <a:rPr/>
            </a:br>
            <a:r>
              <a:t>Fuente: Cédula de </a:t>
            </a:r>
            <a:r>
              <a:rPr err="1"/>
              <a:t>actualización</a:t>
            </a:r>
            <a:r>
              <a:t> de variables </a:t>
            </a:r>
            <a:r>
              <a:rPr err="1"/>
              <a:t>seleccionadas</a:t>
            </a:r>
            <a:r>
              <a:t> del IFU, </a:t>
            </a:r>
            <a:r>
              <a:rPr err="1"/>
              <a:t>enviadas</a:t>
            </a:r>
            <a:r>
              <a:t> </a:t>
            </a:r>
            <a:r>
              <a:rPr err="1"/>
              <a:t>por</a:t>
            </a:r>
            <a:r>
              <a:t> el OOAD.</a:t>
            </a:r>
            <a:br>
              <a:rPr/>
            </a:br>
            <a:r>
              <a:t>Corte de </a:t>
            </a:r>
            <a:r>
              <a:rPr err="1"/>
              <a:t>información</a:t>
            </a:r>
            <a:r>
              <a:t>: ma</a:t>
            </a:r>
            <a:r>
              <a:rPr lang="es-MX"/>
              <a:t>y</a:t>
            </a:r>
            <a:r>
              <a:t>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1358585783"/>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Resumen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C93F2ACC-26D7-D705-C29A-C43BFF54ECB1}"/>
              </a:ext>
            </a:extLst>
          </p:cNvPr>
          <p:cNvGraphicFramePr/>
          <p:nvPr>
            <p:extLst>
              <p:ext uri="{D42A27DB-BD31-4B8C-83A1-F6EECF244321}">
                <p14:modId xmlns:p14="http://schemas.microsoft.com/office/powerpoint/2010/main" val="1272320527"/>
              </p:ext>
            </p:extLst>
          </p:nvPr>
        </p:nvGraphicFramePr>
        <p:xfrm>
          <a:off x="143502" y="4151846"/>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Resultados 2025</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1A8C040A-D8BC-D5C0-8DCB-E82D47F710E3}"/>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099493"/>
            <a:ext cx="2975495" cy="3699793"/>
          </a:xfrm>
          <a:prstGeom prst="rect">
            <a:avLst/>
          </a:prstGeom>
        </p:spPr>
      </p:pic>
      <p:cxnSp>
        <p:nvCxnSpPr>
          <p:cNvPr id="4" name="Conector recto 3">
            <a:extLst>
              <a:ext uri="{FF2B5EF4-FFF2-40B4-BE49-F238E27FC236}">
                <a16:creationId xmlns:a16="http://schemas.microsoft.com/office/drawing/2014/main" id="{E1F403CF-17C2-06D6-E5D4-09B60AD33740}"/>
              </a:ext>
            </a:extLst>
          </p:cNvPr>
          <p:cNvCxnSpPr>
            <a:cxnSpLocks/>
          </p:cNvCxnSpPr>
          <p:nvPr/>
        </p:nvCxnSpPr>
        <p:spPr>
          <a:xfrm>
            <a:off x="5210629" y="5572264"/>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26E58AFA-356A-A626-0E47-3BC6F8D9A504}"/>
              </a:ext>
            </a:extLst>
          </p:cNvPr>
          <p:cNvCxnSpPr>
            <a:cxnSpLocks/>
          </p:cNvCxnSpPr>
          <p:nvPr/>
        </p:nvCxnSpPr>
        <p:spPr>
          <a:xfrm>
            <a:off x="5210629" y="7234150"/>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7" name="CuadroTexto 6">
            <a:extLst>
              <a:ext uri="{FF2B5EF4-FFF2-40B4-BE49-F238E27FC236}">
                <a16:creationId xmlns:a16="http://schemas.microsoft.com/office/drawing/2014/main" id="{8B9FA401-054B-E1C8-BD1E-18771728D91A}"/>
              </a:ext>
            </a:extLst>
          </p:cNvPr>
          <p:cNvSpPr txBox="1"/>
          <p:nvPr/>
        </p:nvSpPr>
        <p:spPr>
          <a:xfrm>
            <a:off x="5064096" y="6495486"/>
            <a:ext cx="1930400" cy="738664"/>
          </a:xfrm>
          <a:prstGeom prst="rect">
            <a:avLst/>
          </a:prstGeom>
          <a:noFill/>
        </p:spPr>
        <p:txBody>
          <a:bodyPr wrap="square" rtlCol="0">
            <a:spAutoFit/>
          </a:bodyPr>
          <a:lstStyle/>
          <a:p>
            <a:pPr algn="ctr"/>
            <a:r>
              <a:rPr lang="es-ES" sz="2100" b="1">
                <a:solidFill>
                  <a:schemeClr val="tx1">
                    <a:lumMod val="75000"/>
                    <a:lumOff val="25000"/>
                  </a:schemeClr>
                </a:solidFill>
              </a:rPr>
              <a:t>Consultas Especialidad</a:t>
            </a:r>
            <a:endParaRPr lang="es-MX" sz="2100" b="1">
              <a:solidFill>
                <a:schemeClr val="tx1">
                  <a:lumMod val="75000"/>
                  <a:lumOff val="25000"/>
                </a:schemeClr>
              </a:solidFill>
            </a:endParaRPr>
          </a:p>
        </p:txBody>
      </p:sp>
      <p:sp>
        <p:nvSpPr>
          <p:cNvPr id="10" name="CuadroTexto 6">
            <a:extLst>
              <a:ext uri="{FF2B5EF4-FFF2-40B4-BE49-F238E27FC236}">
                <a16:creationId xmlns:a16="http://schemas.microsoft.com/office/drawing/2014/main" id="{DD834DE9-C3FB-20D8-AC98-47B4FE91A06D}"/>
              </a:ext>
            </a:extLst>
          </p:cNvPr>
          <p:cNvSpPr txBox="1"/>
          <p:nvPr/>
        </p:nvSpPr>
        <p:spPr>
          <a:xfrm>
            <a:off x="5064096" y="8117456"/>
            <a:ext cx="1930400" cy="415498"/>
          </a:xfrm>
          <a:prstGeom prst="rect">
            <a:avLst/>
          </a:prstGeom>
          <a:noFill/>
        </p:spPr>
        <p:txBody>
          <a:bodyPr wrap="square" rtlCol="0">
            <a:spAutoFit/>
          </a:bodyPr>
          <a:lstStyle/>
          <a:p>
            <a:pPr algn="ctr"/>
            <a:r>
              <a:rPr lang="es-ES" sz="2100" b="1">
                <a:solidFill>
                  <a:schemeClr val="tx1">
                    <a:lumMod val="75000"/>
                    <a:lumOff val="25000"/>
                  </a:schemeClr>
                </a:solidFill>
              </a:rPr>
              <a:t>Cirugías</a:t>
            </a:r>
            <a:endParaRPr lang="es-MX" sz="2100" b="1">
              <a:solidFill>
                <a:schemeClr val="tx1">
                  <a:lumMod val="75000"/>
                  <a:lumOff val="25000"/>
                </a:schemeClr>
              </a:solidFill>
            </a:endParaRPr>
          </a:p>
        </p:txBody>
      </p:sp>
      <p:sp>
        <p:nvSpPr>
          <p:cNvPr id="12" name="CuadroTexto 8">
            <a:extLst>
              <a:ext uri="{FF2B5EF4-FFF2-40B4-BE49-F238E27FC236}">
                <a16:creationId xmlns:a16="http://schemas.microsoft.com/office/drawing/2014/main" id="{B24BF895-B0C0-71F2-D9E6-4259185F95D0}"/>
              </a:ext>
            </a:extLst>
          </p:cNvPr>
          <p:cNvSpPr txBox="1"/>
          <p:nvPr/>
        </p:nvSpPr>
        <p:spPr>
          <a:xfrm>
            <a:off x="4701239" y="4744510"/>
            <a:ext cx="2656114" cy="738664"/>
          </a:xfrm>
          <a:prstGeom prst="rect">
            <a:avLst/>
          </a:prstGeom>
          <a:noFill/>
        </p:spPr>
        <p:txBody>
          <a:bodyPr wrap="square" rtlCol="0">
            <a:spAutoFit/>
          </a:bodyPr>
          <a:lstStyle/>
          <a:p>
            <a:pPr algn="ctr"/>
            <a:r>
              <a:rPr lang="es-ES" sz="2100" b="1">
                <a:solidFill>
                  <a:schemeClr val="tx1">
                    <a:lumMod val="75000"/>
                    <a:lumOff val="25000"/>
                  </a:schemeClr>
                </a:solidFill>
              </a:rPr>
              <a:t>Consultas Medicina Familiar</a:t>
            </a:r>
            <a:endParaRPr lang="es-MX" sz="2100" b="1">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sp>
        <p:nvSpPr>
          <p:cNvPr id="232" name="TextBox 231"/>
          <p:cNvSpPr txBox="1"/>
          <p:nvPr/>
        </p:nvSpPr>
        <p:spPr>
          <a:xfrm>
            <a:off x="176400" y="9565200"/>
            <a:ext cx="4680000" cy="246221"/>
          </a:xfrm>
          <a:prstGeom prst="rect">
            <a:avLst/>
          </a:prstGeom>
          <a:noFill/>
        </p:spPr>
        <p:txBody>
          <a:bodyPr wrap="square" lIns="0" tIns="0" rIns="0" bIns="0">
            <a:spAutoFit/>
          </a:bodyPr>
          <a:lstStyle/>
          <a:p>
            <a:pPr algn="l">
              <a:defRPr sz="800">
                <a:solidFill>
                  <a:srgbClr val="FFFFFF"/>
                </a:solidFill>
                <a:latin typeface="Montserrat"/>
              </a:defRPr>
            </a:pPr>
            <a:r>
              <a:t>Corte de </a:t>
            </a:r>
            <a:r>
              <a:rPr err="1"/>
              <a:t>información</a:t>
            </a:r>
            <a:r>
              <a:t>: </a:t>
            </a:r>
            <a:r>
              <a:rPr err="1"/>
              <a:t>semana</a:t>
            </a:r>
            <a:r>
              <a:t> 24, 7 </a:t>
            </a:r>
            <a:r>
              <a:rPr err="1"/>
              <a:t>junio</a:t>
            </a:r>
            <a:r>
              <a:t> 2026</a:t>
            </a:r>
            <a:br>
              <a:rPr/>
            </a:br>
            <a:r>
              <a:t>¹Las </a:t>
            </a:r>
            <a:r>
              <a:rPr err="1"/>
              <a:t>consultas</a:t>
            </a:r>
            <a:r>
              <a:t> de </a:t>
            </a:r>
            <a:r>
              <a:rPr err="1"/>
              <a:t>medicina</a:t>
            </a:r>
            <a:r>
              <a:t> familiar </a:t>
            </a:r>
            <a:r>
              <a:rPr err="1"/>
              <a:t>incluyen</a:t>
            </a:r>
            <a:r>
              <a:t> </a:t>
            </a:r>
            <a:r>
              <a:rPr err="1"/>
              <a:t>los</a:t>
            </a:r>
            <a:r>
              <a:t> </a:t>
            </a:r>
            <a:r>
              <a:rPr err="1"/>
              <a:t>hospitales</a:t>
            </a:r>
            <a:r>
              <a:t> con </a:t>
            </a:r>
            <a:r>
              <a:rPr lang="es-MX"/>
              <a:t>U</a:t>
            </a:r>
            <a:r>
              <a:t>MF.</a:t>
            </a:r>
          </a:p>
        </p:txBody>
      </p:sp>
      <p:sp>
        <p:nvSpPr>
          <p:cNvPr id="233" name="TextBox 232"/>
          <p:cNvSpPr txBox="1"/>
          <p:nvPr/>
        </p:nvSpPr>
        <p:spPr>
          <a:xfrm>
            <a:off x="5270400" y="7488000"/>
            <a:ext cx="1515600" cy="540000"/>
          </a:xfrm>
          <a:prstGeom prst="rect">
            <a:avLst/>
          </a:prstGeom>
          <a:noFill/>
        </p:spPr>
        <p:txBody>
          <a:bodyPr wrap="none">
            <a:spAutoFit/>
          </a:bodyPr>
          <a:lstStyle/>
          <a:p>
            <a:pPr algn="ctr">
              <a:defRPr sz="2500" b="1">
                <a:solidFill>
                  <a:srgbClr val="9F2241"/>
                </a:solidFill>
                <a:latin typeface="Montserrat"/>
              </a:defRPr>
            </a:pPr>
            <a:r>
              <a:t>+749</a:t>
            </a:r>
          </a:p>
        </p:txBody>
      </p:sp>
      <p:sp>
        <p:nvSpPr>
          <p:cNvPr id="234" name="TextBox 233"/>
          <p:cNvSpPr txBox="1"/>
          <p:nvPr/>
        </p:nvSpPr>
        <p:spPr>
          <a:xfrm>
            <a:off x="5270400" y="4233600"/>
            <a:ext cx="1515600" cy="540000"/>
          </a:xfrm>
          <a:prstGeom prst="rect">
            <a:avLst/>
          </a:prstGeom>
          <a:noFill/>
        </p:spPr>
        <p:txBody>
          <a:bodyPr wrap="none">
            <a:spAutoFit/>
          </a:bodyPr>
          <a:lstStyle/>
          <a:p>
            <a:pPr algn="ctr">
              <a:defRPr sz="2500" b="1">
                <a:solidFill>
                  <a:srgbClr val="9F2241"/>
                </a:solidFill>
                <a:latin typeface="Montserrat"/>
              </a:defRPr>
            </a:pPr>
            <a:r>
              <a:t>+47,057</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+50,322</a:t>
            </a:r>
          </a:p>
        </p:txBody>
      </p:sp>
      <p:graphicFrame>
        <p:nvGraphicFramePr>
          <p:cNvPr id="236" name="Table 235"/>
          <p:cNvGraphicFramePr>
            <a:graphicFrameLocks noGrp="1"/>
          </p:cNvGraphicFramePr>
          <p:nvPr>
            <p:extLst>
              <p:ext uri="{D42A27DB-BD31-4B8C-83A1-F6EECF244321}">
                <p14:modId xmlns:p14="http://schemas.microsoft.com/office/powerpoint/2010/main" val="1856880710"/>
              </p:ext>
            </p:extLst>
          </p:nvPr>
        </p:nvGraphicFramePr>
        <p:xfrm>
          <a:off x="144000" y="1620000"/>
          <a:ext cx="7469999" cy="18280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2134800">
                  <a:extLst>
                    <a:ext uri="{9D8B030D-6E8A-4147-A177-3AD203B41FA5}">
                      <a16:colId xmlns:a16="http://schemas.microsoft.com/office/drawing/2014/main" val="20000"/>
                    </a:ext>
                  </a:extLst>
                </a:gridCol>
                <a:gridCol w="1007999">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gridCol w="1098000">
                  <a:extLst>
                    <a:ext uri="{9D8B030D-6E8A-4147-A177-3AD203B41FA5}">
                      <a16:colId xmlns:a16="http://schemas.microsoft.com/office/drawing/2014/main" val="20003"/>
                    </a:ext>
                  </a:extLst>
                </a:gridCol>
                <a:gridCol w="1098000">
                  <a:extLst>
                    <a:ext uri="{9D8B030D-6E8A-4147-A177-3AD203B41FA5}">
                      <a16:colId xmlns:a16="http://schemas.microsoft.com/office/drawing/2014/main" val="20004"/>
                    </a:ext>
                  </a:extLst>
                </a:gridCol>
                <a:gridCol w="943200">
                  <a:extLst>
                    <a:ext uri="{9D8B030D-6E8A-4147-A177-3AD203B41FA5}">
                      <a16:colId xmlns:a16="http://schemas.microsoft.com/office/drawing/2014/main" val="20005"/>
                    </a:ext>
                  </a:extLst>
                </a:gridCol>
              </a:tblGrid>
              <a:tr h="396000">
                <a:tc>
                  <a:txBody>
                    <a:bodyPr/>
                    <a:lstStyle/>
                    <a:p>
                      <a:pPr algn="ctr">
                        <a:defRPr sz="1200" b="1">
                          <a:solidFill>
                            <a:srgbClr val="FFFFFF"/>
                          </a:solidFill>
                          <a:latin typeface="Montserrat"/>
                        </a:defRPr>
                      </a:pPr>
                      <a:r>
                        <a:rPr err="1"/>
                        <a:t>Indicador</a:t>
                      </a:r>
                      <a:endParaRPr/>
                    </a:p>
                  </a:txBody>
                  <a:tcPr anchor="ctr">
                    <a:solidFill>
                      <a:srgbClr val="006455"/>
                    </a:solidFill>
                  </a:tcPr>
                </a:tc>
                <a:tc>
                  <a:txBody>
                    <a:bodyPr/>
                    <a:lstStyle/>
                    <a:p>
                      <a:pPr algn="ctr">
                        <a:defRPr sz="1200" b="1">
                          <a:solidFill>
                            <a:srgbClr val="FFFFFF"/>
                          </a:solidFill>
                          <a:latin typeface="Montserrat"/>
                        </a:defRPr>
                      </a:pPr>
                      <a:r>
                        <a:t>2025</a:t>
                      </a:r>
                    </a:p>
                  </a:txBody>
                  <a:tcPr anchor="ctr">
                    <a:solidFill>
                      <a:srgbClr val="006455"/>
                    </a:solidFill>
                  </a:tcPr>
                </a:tc>
                <a:tc>
                  <a:txBody>
                    <a:bodyPr/>
                    <a:lstStyle/>
                    <a:p>
                      <a:pPr algn="ctr">
                        <a:defRPr sz="1200" b="1">
                          <a:solidFill>
                            <a:srgbClr val="FFFFFF"/>
                          </a:solidFill>
                          <a:latin typeface="Montserrat"/>
                        </a:defRPr>
                      </a:pPr>
                      <a:r>
                        <a:t>Incremento 2024 vs 2025</a:t>
                      </a:r>
                    </a:p>
                  </a:txBody>
                  <a:tcPr anchor="ctr">
                    <a:solidFill>
                      <a:srgbClr val="006455"/>
                    </a:solidFill>
                  </a:tcPr>
                </a:tc>
                <a:tc>
                  <a:txBody>
                    <a:bodyPr/>
                    <a:lstStyle/>
                    <a:p>
                      <a:pPr algn="ctr">
                        <a:defRPr sz="1200" b="1">
                          <a:solidFill>
                            <a:srgbClr val="FFFFFF"/>
                          </a:solidFill>
                          <a:latin typeface="Montserrat"/>
                        </a:defRPr>
                      </a:pPr>
                      <a:r>
                        <a:t>Avance 2026</a:t>
                      </a:r>
                    </a:p>
                  </a:txBody>
                  <a:tcPr anchor="ctr">
                    <a:solidFill>
                      <a:srgbClr val="980000"/>
                    </a:solidFill>
                  </a:tcPr>
                </a:tc>
                <a:tc>
                  <a:txBody>
                    <a:bodyPr/>
                    <a:lstStyle/>
                    <a:p>
                      <a:pPr algn="ctr">
                        <a:defRPr sz="1200" b="1">
                          <a:solidFill>
                            <a:srgbClr val="FFFFFF"/>
                          </a:solidFill>
                          <a:latin typeface="Montserrat"/>
                        </a:defRPr>
                      </a:pPr>
                      <a:r>
                        <a:t>Meta 2026</a:t>
                      </a:r>
                    </a:p>
                  </a:txBody>
                  <a:tcPr anchor="ctr">
                    <a:solidFill>
                      <a:srgbClr val="980000"/>
                    </a:solidFill>
                  </a:tcPr>
                </a:tc>
                <a:tc>
                  <a:txBody>
                    <a:bodyPr/>
                    <a:lstStyle/>
                    <a:p>
                      <a:pPr algn="ctr">
                        <a:defRPr sz="1200" b="1">
                          <a:solidFill>
                            <a:srgbClr val="FFFFFF"/>
                          </a:solidFill>
                          <a:latin typeface="Montserrat"/>
                        </a:defRPr>
                      </a:pPr>
                      <a:r>
                        <a:t>% avance anual</a:t>
                      </a:r>
                    </a:p>
                  </a:txBody>
                  <a:tcPr anchor="ctr">
                    <a:solidFill>
                      <a:srgbClr val="980000"/>
                    </a:solidFill>
                  </a:tcPr>
                </a:tc>
                <a:extLst>
                  <a:ext uri="{0D108BD9-81ED-4DB2-BD59-A6C34878D82A}">
                    <a16:rowId xmlns:a16="http://schemas.microsoft.com/office/drawing/2014/main" val="10000"/>
                  </a:ext>
                </a:extLst>
              </a:tr>
              <a:tr h="396000">
                <a:tc>
                  <a:txBody>
                    <a:bodyPr/>
                    <a:lstStyle/>
                    <a:p>
                      <a:pPr algn="ctr">
                        <a:defRPr sz="1000" b="1">
                          <a:solidFill>
                            <a:srgbClr val="FFFFFF"/>
                          </a:solidFill>
                          <a:latin typeface="Montserrat"/>
                        </a:defRPr>
                      </a:pPr>
                      <a:r>
                        <a:rPr err="1"/>
                        <a:t>Consultas</a:t>
                      </a:r>
                      <a:endParaRPr/>
                    </a:p>
                    <a:p>
                      <a:pPr algn="ctr">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809,171</a:t>
                      </a:r>
                    </a:p>
                  </a:txBody>
                  <a:tcPr marL="0" marR="0" marT="0" marB="0" anchor="ctr">
                    <a:solidFill>
                      <a:srgbClr val="FFFFFF"/>
                    </a:solidFill>
                  </a:tcPr>
                </a:tc>
                <a:tc>
                  <a:txBody>
                    <a:bodyPr/>
                    <a:lstStyle/>
                    <a:p>
                      <a:pPr algn="ctr">
                        <a:defRPr sz="1000">
                          <a:solidFill>
                            <a:srgbClr val="404040"/>
                          </a:solidFill>
                          <a:latin typeface="Montserrat"/>
                        </a:defRPr>
                      </a:pPr>
                      <a:r>
                        <a:t>47,057</a:t>
                      </a:r>
                    </a:p>
                  </a:txBody>
                  <a:tcPr marL="0" marR="0" marT="0" marB="0" anchor="ctr">
                    <a:solidFill>
                      <a:srgbClr val="FFFFFF"/>
                    </a:solidFill>
                  </a:tcPr>
                </a:tc>
                <a:tc>
                  <a:txBody>
                    <a:bodyPr/>
                    <a:lstStyle/>
                    <a:p>
                      <a:pPr algn="ctr">
                        <a:defRPr sz="1000" b="1">
                          <a:solidFill>
                            <a:srgbClr val="980000"/>
                          </a:solidFill>
                          <a:latin typeface="Montserrat"/>
                        </a:defRPr>
                      </a:pPr>
                      <a:r>
                        <a:t>371,379</a:t>
                      </a:r>
                    </a:p>
                  </a:txBody>
                  <a:tcPr marL="0" marR="0" marT="0" marB="0" anchor="ctr">
                    <a:solidFill>
                      <a:srgbClr val="ECD3D9"/>
                    </a:solidFill>
                  </a:tcPr>
                </a:tc>
                <a:tc>
                  <a:txBody>
                    <a:bodyPr/>
                    <a:lstStyle/>
                    <a:p>
                      <a:pPr algn="ctr">
                        <a:defRPr sz="1000" b="1">
                          <a:solidFill>
                            <a:srgbClr val="980000"/>
                          </a:solidFill>
                          <a:latin typeface="Montserrat"/>
                        </a:defRPr>
                      </a:pPr>
                      <a:r>
                        <a:t>815,924</a:t>
                      </a:r>
                    </a:p>
                  </a:txBody>
                  <a:tcPr marL="0" marR="0" marT="0" marB="0" anchor="ctr">
                    <a:solidFill>
                      <a:srgbClr val="ECD3D9"/>
                    </a:solidFill>
                  </a:tcPr>
                </a:tc>
                <a:tc>
                  <a:txBody>
                    <a:bodyPr/>
                    <a:lstStyle/>
                    <a:p>
                      <a:pPr algn="ctr">
                        <a:defRPr sz="1000" b="1">
                          <a:solidFill>
                            <a:srgbClr val="980000"/>
                          </a:solidFill>
                          <a:latin typeface="Montserrat"/>
                        </a:defRPr>
                      </a:pPr>
                      <a:r>
                        <a:t>45.5%</a:t>
                      </a:r>
                    </a:p>
                  </a:txBody>
                  <a:tcPr marL="0" marR="0" marT="0" marB="0" anchor="ctr">
                    <a:solidFill>
                      <a:srgbClr val="ECD3D9"/>
                    </a:solidFill>
                  </a:tcPr>
                </a:tc>
                <a:extLst>
                  <a:ext uri="{0D108BD9-81ED-4DB2-BD59-A6C34878D82A}">
                    <a16:rowId xmlns:a16="http://schemas.microsoft.com/office/drawing/2014/main" val="10001"/>
                  </a:ext>
                </a:extLst>
              </a:tr>
              <a:tr h="396000">
                <a:tc>
                  <a:txBody>
                    <a:bodyPr/>
                    <a:lstStyle/>
                    <a:p>
                      <a:pPr algn="ctr">
                        <a:defRPr sz="1000" b="1">
                          <a:solidFill>
                            <a:srgbClr val="FFFFFF"/>
                          </a:solidFill>
                          <a:latin typeface="Montserrat"/>
                        </a:defRPr>
                      </a:pPr>
                      <a:r>
                        <a:rPr err="1"/>
                        <a:t>Consultas</a:t>
                      </a:r>
                      <a:endParaRPr/>
                    </a:p>
                    <a:p>
                      <a:pPr algn="ctr">
                        <a:defRPr sz="1000" b="1">
                          <a:solidFill>
                            <a:srgbClr val="FFFFFF"/>
                          </a:solidFill>
                          <a:latin typeface="Montserrat"/>
                        </a:defRPr>
                      </a:pPr>
                      <a:r>
                        <a:t>de </a:t>
                      </a:r>
                      <a:r>
                        <a:rPr err="1"/>
                        <a:t>Especialidad</a:t>
                      </a:r>
                      <a:endParaRPr/>
                    </a:p>
                  </a:txBody>
                  <a:tcPr marL="0" marR="0" marT="0" marB="0" anchor="ctr">
                    <a:solidFill>
                      <a:srgbClr val="006455"/>
                    </a:solidFill>
                  </a:tcPr>
                </a:tc>
                <a:tc>
                  <a:txBody>
                    <a:bodyPr/>
                    <a:lstStyle/>
                    <a:p>
                      <a:pPr algn="ctr">
                        <a:defRPr sz="1000">
                          <a:solidFill>
                            <a:srgbClr val="404040"/>
                          </a:solidFill>
                          <a:latin typeface="Montserrat"/>
                        </a:defRPr>
                      </a:pPr>
                      <a:r>
                        <a:t>267,019</a:t>
                      </a:r>
                    </a:p>
                  </a:txBody>
                  <a:tcPr marL="0" marR="0" marT="0" marB="0" anchor="ctr">
                    <a:solidFill>
                      <a:srgbClr val="EFEFEF"/>
                    </a:solidFill>
                  </a:tcPr>
                </a:tc>
                <a:tc>
                  <a:txBody>
                    <a:bodyPr/>
                    <a:lstStyle/>
                    <a:p>
                      <a:pPr algn="ctr">
                        <a:defRPr sz="1000">
                          <a:solidFill>
                            <a:srgbClr val="404040"/>
                          </a:solidFill>
                          <a:latin typeface="Montserrat"/>
                        </a:defRPr>
                      </a:pPr>
                      <a:r>
                        <a:t>50,322</a:t>
                      </a:r>
                    </a:p>
                  </a:txBody>
                  <a:tcPr marL="0" marR="0" marT="0" marB="0" anchor="ctr">
                    <a:solidFill>
                      <a:srgbClr val="EFEFEF"/>
                    </a:solidFill>
                  </a:tcPr>
                </a:tc>
                <a:tc>
                  <a:txBody>
                    <a:bodyPr/>
                    <a:lstStyle/>
                    <a:p>
                      <a:pPr algn="ctr">
                        <a:defRPr sz="1000" b="1">
                          <a:solidFill>
                            <a:srgbClr val="980000"/>
                          </a:solidFill>
                          <a:latin typeface="Montserrat"/>
                        </a:defRPr>
                      </a:pPr>
                      <a:r>
                        <a:t>126,912</a:t>
                      </a:r>
                    </a:p>
                  </a:txBody>
                  <a:tcPr marL="0" marR="0" marT="0" marB="0" anchor="ctr">
                    <a:solidFill>
                      <a:srgbClr val="F4E3E7"/>
                    </a:solidFill>
                  </a:tcPr>
                </a:tc>
                <a:tc>
                  <a:txBody>
                    <a:bodyPr/>
                    <a:lstStyle/>
                    <a:p>
                      <a:pPr algn="ctr">
                        <a:defRPr sz="1000" b="1">
                          <a:solidFill>
                            <a:srgbClr val="980000"/>
                          </a:solidFill>
                          <a:latin typeface="Montserrat"/>
                        </a:defRPr>
                      </a:pPr>
                      <a:r>
                        <a:t>301,490</a:t>
                      </a:r>
                    </a:p>
                  </a:txBody>
                  <a:tcPr marL="0" marR="0" marT="0" marB="0" anchor="ctr">
                    <a:solidFill>
                      <a:srgbClr val="F4E3E7"/>
                    </a:solidFill>
                  </a:tcPr>
                </a:tc>
                <a:tc>
                  <a:txBody>
                    <a:bodyPr/>
                    <a:lstStyle/>
                    <a:p>
                      <a:pPr algn="ctr">
                        <a:defRPr sz="1000" b="1">
                          <a:solidFill>
                            <a:srgbClr val="980000"/>
                          </a:solidFill>
                          <a:latin typeface="Montserrat"/>
                        </a:defRPr>
                      </a:pPr>
                      <a:r>
                        <a:t>42.1%</a:t>
                      </a:r>
                    </a:p>
                  </a:txBody>
                  <a:tcPr marL="0" marR="0" marT="0" marB="0" anchor="ctr">
                    <a:solidFill>
                      <a:srgbClr val="F4E3E7"/>
                    </a:solidFill>
                  </a:tcPr>
                </a:tc>
                <a:extLst>
                  <a:ext uri="{0D108BD9-81ED-4DB2-BD59-A6C34878D82A}">
                    <a16:rowId xmlns:a16="http://schemas.microsoft.com/office/drawing/2014/main" val="10002"/>
                  </a:ext>
                </a:extLst>
              </a:tr>
              <a:tr h="396000">
                <a:tc>
                  <a:txBody>
                    <a:bodyPr/>
                    <a:lstStyle/>
                    <a:p>
                      <a:pPr algn="ctr">
                        <a:defRPr sz="1000" b="1">
                          <a:solidFill>
                            <a:srgbClr val="FFFFFF"/>
                          </a:solidFill>
                          <a:latin typeface="Montserrat"/>
                        </a:defRPr>
                      </a:pPr>
                      <a:r>
                        <a:rPr err="1"/>
                        <a:t>Cirugías</a:t>
                      </a:r>
                      <a:endParaRPr/>
                    </a:p>
                  </a:txBody>
                  <a:tcPr marL="0" marR="0" marT="0" marB="0" anchor="ctr">
                    <a:solidFill>
                      <a:srgbClr val="006455"/>
                    </a:solidFill>
                  </a:tcPr>
                </a:tc>
                <a:tc>
                  <a:txBody>
                    <a:bodyPr/>
                    <a:lstStyle/>
                    <a:p>
                      <a:pPr algn="ctr">
                        <a:defRPr sz="1000">
                          <a:solidFill>
                            <a:srgbClr val="404040"/>
                          </a:solidFill>
                          <a:latin typeface="Montserrat"/>
                        </a:defRPr>
                      </a:pPr>
                      <a:r>
                        <a:t>11,963</a:t>
                      </a:r>
                    </a:p>
                  </a:txBody>
                  <a:tcPr marL="0" marR="0" marT="0" marB="0" anchor="ctr">
                    <a:solidFill>
                      <a:srgbClr val="FFFFFF"/>
                    </a:solidFill>
                  </a:tcPr>
                </a:tc>
                <a:tc>
                  <a:txBody>
                    <a:bodyPr/>
                    <a:lstStyle/>
                    <a:p>
                      <a:pPr algn="ctr">
                        <a:defRPr sz="1000">
                          <a:solidFill>
                            <a:srgbClr val="404040"/>
                          </a:solidFill>
                          <a:latin typeface="Montserrat"/>
                        </a:defRPr>
                      </a:pPr>
                      <a:r>
                        <a:t>749</a:t>
                      </a:r>
                    </a:p>
                  </a:txBody>
                  <a:tcPr marL="0" marR="0" marT="0" marB="0" anchor="ctr">
                    <a:solidFill>
                      <a:srgbClr val="FFFFFF"/>
                    </a:solidFill>
                  </a:tcPr>
                </a:tc>
                <a:tc>
                  <a:txBody>
                    <a:bodyPr/>
                    <a:lstStyle/>
                    <a:p>
                      <a:pPr algn="ctr">
                        <a:defRPr sz="1000" b="1">
                          <a:solidFill>
                            <a:srgbClr val="980000"/>
                          </a:solidFill>
                          <a:latin typeface="Montserrat"/>
                        </a:defRPr>
                      </a:pPr>
                      <a:r>
                        <a:t>5,400</a:t>
                      </a:r>
                    </a:p>
                  </a:txBody>
                  <a:tcPr marL="0" marR="0" marT="0" marB="0" anchor="ctr">
                    <a:solidFill>
                      <a:srgbClr val="ECD3D9"/>
                    </a:solidFill>
                  </a:tcPr>
                </a:tc>
                <a:tc>
                  <a:txBody>
                    <a:bodyPr/>
                    <a:lstStyle/>
                    <a:p>
                      <a:pPr algn="ctr">
                        <a:defRPr sz="1000" b="1">
                          <a:solidFill>
                            <a:srgbClr val="980000"/>
                          </a:solidFill>
                          <a:latin typeface="Montserrat"/>
                        </a:defRPr>
                      </a:pPr>
                      <a:r>
                        <a:t>14,324</a:t>
                      </a:r>
                    </a:p>
                  </a:txBody>
                  <a:tcPr marL="0" marR="0" marT="0" marB="0" anchor="ctr">
                    <a:solidFill>
                      <a:srgbClr val="ECD3D9"/>
                    </a:solidFill>
                  </a:tcPr>
                </a:tc>
                <a:tc>
                  <a:txBody>
                    <a:bodyPr/>
                    <a:lstStyle/>
                    <a:p>
                      <a:pPr algn="ctr">
                        <a:defRPr sz="1000" b="1">
                          <a:solidFill>
                            <a:srgbClr val="980000"/>
                          </a:solidFill>
                          <a:latin typeface="Montserrat"/>
                        </a:defRPr>
                      </a:pPr>
                      <a:r>
                        <a:t>37.7%</a:t>
                      </a:r>
                    </a:p>
                  </a:txBody>
                  <a:tcPr marL="0" marR="0" marT="0" marB="0" anchor="ctr">
                    <a:solidFill>
                      <a:srgbClr val="ECD3D9"/>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7 UMF de lunes a </a:t>
            </a:r>
            <a:r>
              <a:rPr err="1"/>
              <a:t>viernes</a:t>
            </a:r>
            <a:endParaRP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9523500"/>
            <a:ext cx="7473600" cy="399600"/>
          </a:xfrm>
          <a:prstGeom prst="rect">
            <a:avLst/>
          </a:prstGeom>
          <a:noFill/>
        </p:spPr>
        <p:txBody>
          <a:bodyPr wrap="square" lIns="0" tIns="0" rIns="0" bIns="0">
            <a:spAutoFit/>
          </a:bodyPr>
          <a:lstStyle/>
          <a:p>
            <a:pPr algn="l">
              <a:defRPr sz="800">
                <a:solidFill>
                  <a:srgbClr val="FFFFFF"/>
                </a:solidFill>
                <a:latin typeface="Montserrat"/>
              </a:defRPr>
            </a:pPr>
            <a:r>
              <a:t>En </a:t>
            </a:r>
            <a:r>
              <a:rPr err="1"/>
              <a:t>el</a:t>
            </a:r>
            <a:r>
              <a:t> </a:t>
            </a:r>
            <a:r>
              <a:rPr err="1"/>
              <a:t>año</a:t>
            </a:r>
            <a:r>
              <a:t> 2025 no </a:t>
            </a:r>
            <a:r>
              <a:rPr err="1"/>
              <a:t>incluye</a:t>
            </a:r>
            <a:r>
              <a:t> </a:t>
            </a:r>
            <a:r>
              <a:rPr err="1"/>
              <a:t>información</a:t>
            </a:r>
            <a:r>
              <a:t> de HR y UMR</a:t>
            </a:r>
            <a:br>
              <a:rPr/>
            </a:br>
            <a:r>
              <a:t>No </a:t>
            </a:r>
            <a:r>
              <a:rPr err="1"/>
              <a:t>incluye</a:t>
            </a:r>
            <a:r>
              <a:t> </a:t>
            </a:r>
            <a:r>
              <a:rPr err="1"/>
              <a:t>Unidades</a:t>
            </a:r>
            <a:r>
              <a:t> </a:t>
            </a:r>
            <a:r>
              <a:rPr err="1"/>
              <a:t>Auxiliares</a:t>
            </a:r>
            <a:r>
              <a:t> de Medicina Familiar, </a:t>
            </a:r>
            <a:r>
              <a:rPr err="1"/>
              <a:t>ni</a:t>
            </a:r>
            <a:r>
              <a:t> </a:t>
            </a:r>
            <a:r>
              <a:rPr err="1"/>
              <a:t>hospitales</a:t>
            </a:r>
            <a:r>
              <a:t> con </a:t>
            </a:r>
            <a:r>
              <a:rPr err="1"/>
              <a:t>servicio</a:t>
            </a:r>
            <a:r>
              <a:t> de </a:t>
            </a:r>
            <a:r>
              <a:rPr err="1"/>
              <a:t>medicina</a:t>
            </a:r>
            <a:r>
              <a:t> familiar.</a:t>
            </a:r>
            <a:br>
              <a:rPr/>
            </a:br>
            <a:r>
              <a:t>El </a:t>
            </a:r>
            <a:r>
              <a:rPr err="1"/>
              <a:t>año</a:t>
            </a:r>
            <a:r>
              <a:t> de </a:t>
            </a:r>
            <a:r>
              <a:rPr err="1"/>
              <a:t>proceso</a:t>
            </a:r>
            <a:r>
              <a:t> </a:t>
            </a:r>
            <a:r>
              <a:rPr err="1"/>
              <a:t>inicia</a:t>
            </a:r>
            <a:r>
              <a:t> del 26 de </a:t>
            </a:r>
            <a:r>
              <a:rPr err="1"/>
              <a:t>diciembre</a:t>
            </a:r>
            <a:r>
              <a:t> del </a:t>
            </a:r>
            <a:r>
              <a:rPr err="1"/>
              <a:t>año</a:t>
            </a:r>
            <a:r>
              <a:t> anterior al 25 de </a:t>
            </a:r>
            <a:r>
              <a:rPr err="1"/>
              <a:t>diciembre</a:t>
            </a:r>
            <a:r>
              <a:t> del </a:t>
            </a:r>
            <a:r>
              <a:rPr err="1"/>
              <a:t>año</a:t>
            </a:r>
            <a:r>
              <a:t> </a:t>
            </a:r>
            <a:r>
              <a:rPr err="1"/>
              <a:t>en</a:t>
            </a:r>
            <a:r>
              <a:t> curso:2025 (del 26 de </a:t>
            </a:r>
            <a:r>
              <a:rPr err="1"/>
              <a:t>dic</a:t>
            </a:r>
            <a:r>
              <a:t> de 2024 al 25 de </a:t>
            </a:r>
            <a:r>
              <a:rPr err="1"/>
              <a:t>dic</a:t>
            </a:r>
            <a:r>
              <a:t> de 2025).</a:t>
            </a:r>
            <a:br>
              <a:rPr/>
            </a:br>
            <a:r>
              <a:t>Corte de </a:t>
            </a:r>
            <a:r>
              <a:rPr err="1"/>
              <a:t>información</a:t>
            </a:r>
            <a:r>
              <a:t>: Semana 24, 7 </a:t>
            </a:r>
            <a:r>
              <a:rPr err="1"/>
              <a:t>junio</a:t>
            </a:r>
            <a:r>
              <a:t>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extLst>
              <p:ext uri="{D42A27DB-BD31-4B8C-83A1-F6EECF244321}">
                <p14:modId xmlns:p14="http://schemas.microsoft.com/office/powerpoint/2010/main" val="369768489"/>
              </p:ext>
            </p:extLst>
          </p:nvPr>
        </p:nvGraphicFramePr>
        <p:xfrm>
          <a:off x="147601" y="1749600"/>
          <a:ext cx="7473599" cy="2806462"/>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671134">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Consultas 2025</a:t>
                      </a:r>
                    </a:p>
                  </a:txBody>
                  <a:tcPr anchor="ctr">
                    <a:solidFill>
                      <a:srgbClr val="006455"/>
                    </a:solidFill>
                  </a:tcPr>
                </a:tc>
                <a:tc>
                  <a:txBody>
                    <a:bodyPr/>
                    <a:lstStyle/>
                    <a:p>
                      <a:pPr algn="ctr">
                        <a:defRPr sz="1000" b="1">
                          <a:solidFill>
                            <a:srgbClr val="FFFFFF"/>
                          </a:solidFill>
                          <a:latin typeface="Montserrat"/>
                        </a:defRPr>
                      </a:pPr>
                      <a:r>
                        <a:t>Incremento 2025 vs 2024</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258128">
                <a:tc>
                  <a:txBody>
                    <a:bodyPr/>
                    <a:lstStyle/>
                    <a:p>
                      <a:pPr algn="l">
                        <a:defRPr sz="1000">
                          <a:latin typeface="Montserrat"/>
                        </a:defRPr>
                      </a:pPr>
                      <a:r>
                        <a:t>UMF 2 Manzanillo</a:t>
                      </a:r>
                    </a:p>
                  </a:txBody>
                  <a:tcPr marL="0" marR="0" marT="0" marB="0" anchor="ctr">
                    <a:solidFill>
                      <a:srgbClr val="FFFFFF"/>
                    </a:solidFill>
                  </a:tcPr>
                </a:tc>
                <a:tc>
                  <a:txBody>
                    <a:bodyPr/>
                    <a:lstStyle/>
                    <a:p>
                      <a:pPr algn="ctr">
                        <a:defRPr sz="1000">
                          <a:latin typeface="Montserrat"/>
                        </a:defRPr>
                      </a:pPr>
                      <a:r>
                        <a:t>99,483</a:t>
                      </a:r>
                    </a:p>
                  </a:txBody>
                  <a:tcPr marL="0" marR="0" marT="0" marB="0" anchor="ctr">
                    <a:solidFill>
                      <a:srgbClr val="FFFFFF"/>
                    </a:solidFill>
                  </a:tcPr>
                </a:tc>
                <a:tc>
                  <a:txBody>
                    <a:bodyPr/>
                    <a:lstStyle/>
                    <a:p>
                      <a:pPr algn="ctr">
                        <a:defRPr sz="1000">
                          <a:latin typeface="Montserrat"/>
                        </a:defRPr>
                      </a:pPr>
                      <a:r>
                        <a:t>3,116</a:t>
                      </a:r>
                    </a:p>
                  </a:txBody>
                  <a:tcPr marL="0" marR="0" marT="0" marB="0" anchor="ctr">
                    <a:solidFill>
                      <a:srgbClr val="FFFFFF"/>
                    </a:solidFill>
                  </a:tcPr>
                </a:tc>
                <a:tc>
                  <a:txBody>
                    <a:bodyPr/>
                    <a:lstStyle/>
                    <a:p>
                      <a:pPr algn="ctr">
                        <a:defRPr sz="1000">
                          <a:latin typeface="Montserrat"/>
                        </a:defRPr>
                      </a:pPr>
                      <a:r>
                        <a:t>44,575</a:t>
                      </a:r>
                    </a:p>
                  </a:txBody>
                  <a:tcPr marL="0" marR="0" marT="0" marB="0" anchor="ctr">
                    <a:solidFill>
                      <a:srgbClr val="ECD3D9"/>
                    </a:solidFill>
                  </a:tcPr>
                </a:tc>
                <a:tc>
                  <a:txBody>
                    <a:bodyPr/>
                    <a:lstStyle/>
                    <a:p>
                      <a:pPr algn="ctr">
                        <a:defRPr sz="1000">
                          <a:latin typeface="Montserrat"/>
                        </a:defRPr>
                      </a:pPr>
                      <a:r>
                        <a:t>100,224</a:t>
                      </a:r>
                    </a:p>
                  </a:txBody>
                  <a:tcPr marL="0" marR="0" marT="0" marB="0" anchor="ctr">
                    <a:solidFill>
                      <a:srgbClr val="ECD3D9"/>
                    </a:solidFill>
                  </a:tcPr>
                </a:tc>
                <a:tc>
                  <a:txBody>
                    <a:bodyPr/>
                    <a:lstStyle/>
                    <a:p>
                      <a:pPr algn="ctr">
                        <a:defRPr sz="1000">
                          <a:latin typeface="Montserrat"/>
                        </a:defRPr>
                      </a:pPr>
                      <a:r>
                        <a:t>44.5%</a:t>
                      </a:r>
                    </a:p>
                  </a:txBody>
                  <a:tcPr marL="0" marR="0" marT="0" marB="0" anchor="ctr">
                    <a:solidFill>
                      <a:srgbClr val="ECD3D9"/>
                    </a:solidFill>
                  </a:tcPr>
                </a:tc>
                <a:extLst>
                  <a:ext uri="{0D108BD9-81ED-4DB2-BD59-A6C34878D82A}">
                    <a16:rowId xmlns:a16="http://schemas.microsoft.com/office/drawing/2014/main" val="10001"/>
                  </a:ext>
                </a:extLst>
              </a:tr>
              <a:tr h="258128">
                <a:tc>
                  <a:txBody>
                    <a:bodyPr/>
                    <a:lstStyle/>
                    <a:p>
                      <a:pPr algn="l">
                        <a:defRPr sz="1000">
                          <a:latin typeface="Montserrat"/>
                        </a:defRPr>
                      </a:pPr>
                      <a:r>
                        <a:t>UMF 3 Armería</a:t>
                      </a:r>
                    </a:p>
                  </a:txBody>
                  <a:tcPr marL="0" marR="0" marT="0" marB="0" anchor="ctr">
                    <a:solidFill>
                      <a:srgbClr val="EFEFEF"/>
                    </a:solidFill>
                  </a:tcPr>
                </a:tc>
                <a:tc>
                  <a:txBody>
                    <a:bodyPr/>
                    <a:lstStyle/>
                    <a:p>
                      <a:pPr algn="ctr">
                        <a:defRPr sz="1000">
                          <a:latin typeface="Montserrat"/>
                        </a:defRPr>
                      </a:pPr>
                      <a:r>
                        <a:t>25,622</a:t>
                      </a:r>
                    </a:p>
                  </a:txBody>
                  <a:tcPr marL="0" marR="0" marT="0" marB="0" anchor="ctr">
                    <a:solidFill>
                      <a:srgbClr val="EFEFEF"/>
                    </a:solidFill>
                  </a:tcPr>
                </a:tc>
                <a:tc>
                  <a:txBody>
                    <a:bodyPr/>
                    <a:lstStyle/>
                    <a:p>
                      <a:pPr algn="ctr">
                        <a:defRPr sz="1000">
                          <a:latin typeface="Montserrat"/>
                        </a:defRPr>
                      </a:pPr>
                      <a:r>
                        <a:t>830</a:t>
                      </a:r>
                    </a:p>
                  </a:txBody>
                  <a:tcPr marL="0" marR="0" marT="0" marB="0" anchor="ctr">
                    <a:solidFill>
                      <a:srgbClr val="EFEFEF"/>
                    </a:solidFill>
                  </a:tcPr>
                </a:tc>
                <a:tc>
                  <a:txBody>
                    <a:bodyPr/>
                    <a:lstStyle/>
                    <a:p>
                      <a:pPr algn="ctr">
                        <a:defRPr sz="1000">
                          <a:latin typeface="Montserrat"/>
                        </a:defRPr>
                      </a:pPr>
                      <a:r>
                        <a:t>12,185</a:t>
                      </a:r>
                    </a:p>
                  </a:txBody>
                  <a:tcPr marL="0" marR="0" marT="0" marB="0" anchor="ctr">
                    <a:solidFill>
                      <a:srgbClr val="ECD3D9"/>
                    </a:solidFill>
                  </a:tcPr>
                </a:tc>
                <a:tc>
                  <a:txBody>
                    <a:bodyPr/>
                    <a:lstStyle/>
                    <a:p>
                      <a:pPr algn="ctr">
                        <a:defRPr sz="1000">
                          <a:latin typeface="Montserrat"/>
                        </a:defRPr>
                      </a:pPr>
                      <a:r>
                        <a:t>28,188</a:t>
                      </a:r>
                    </a:p>
                  </a:txBody>
                  <a:tcPr marL="0" marR="0" marT="0" marB="0" anchor="ctr">
                    <a:solidFill>
                      <a:srgbClr val="ECD3D9"/>
                    </a:solidFill>
                  </a:tcPr>
                </a:tc>
                <a:tc>
                  <a:txBody>
                    <a:bodyPr/>
                    <a:lstStyle/>
                    <a:p>
                      <a:pPr algn="ctr">
                        <a:defRPr sz="1000">
                          <a:latin typeface="Montserrat"/>
                        </a:defRPr>
                      </a:pPr>
                      <a:r>
                        <a:t>43.2%</a:t>
                      </a:r>
                    </a:p>
                  </a:txBody>
                  <a:tcPr marL="0" marR="0" marT="0" marB="0" anchor="ctr">
                    <a:solidFill>
                      <a:srgbClr val="ECD3D9"/>
                    </a:solidFill>
                  </a:tcPr>
                </a:tc>
                <a:extLst>
                  <a:ext uri="{0D108BD9-81ED-4DB2-BD59-A6C34878D82A}">
                    <a16:rowId xmlns:a16="http://schemas.microsoft.com/office/drawing/2014/main" val="10002"/>
                  </a:ext>
                </a:extLst>
              </a:tr>
              <a:tr h="258128">
                <a:tc>
                  <a:txBody>
                    <a:bodyPr/>
                    <a:lstStyle/>
                    <a:p>
                      <a:pPr algn="l">
                        <a:defRPr sz="1000">
                          <a:latin typeface="Montserrat"/>
                        </a:defRPr>
                      </a:pPr>
                      <a:r>
                        <a:t>UMF 9 Minatitlán</a:t>
                      </a:r>
                    </a:p>
                  </a:txBody>
                  <a:tcPr marL="0" marR="0" marT="0" marB="0" anchor="ctr">
                    <a:solidFill>
                      <a:srgbClr val="FFFFFF"/>
                    </a:solidFill>
                  </a:tcPr>
                </a:tc>
                <a:tc>
                  <a:txBody>
                    <a:bodyPr/>
                    <a:lstStyle/>
                    <a:p>
                      <a:pPr algn="ctr">
                        <a:defRPr sz="1000">
                          <a:latin typeface="Montserrat"/>
                        </a:defRPr>
                      </a:pPr>
                      <a:r>
                        <a:t>11,558</a:t>
                      </a:r>
                    </a:p>
                  </a:txBody>
                  <a:tcPr marL="0" marR="0" marT="0" marB="0" anchor="ctr">
                    <a:solidFill>
                      <a:srgbClr val="FFFFFF"/>
                    </a:solidFill>
                  </a:tcPr>
                </a:tc>
                <a:tc>
                  <a:txBody>
                    <a:bodyPr/>
                    <a:lstStyle/>
                    <a:p>
                      <a:pPr algn="ctr">
                        <a:defRPr sz="1000">
                          <a:latin typeface="Montserrat"/>
                        </a:defRPr>
                      </a:pPr>
                      <a:r>
                        <a:t>188</a:t>
                      </a:r>
                    </a:p>
                  </a:txBody>
                  <a:tcPr marL="0" marR="0" marT="0" marB="0" anchor="ctr">
                    <a:solidFill>
                      <a:srgbClr val="FFFFFF"/>
                    </a:solidFill>
                  </a:tcPr>
                </a:tc>
                <a:tc>
                  <a:txBody>
                    <a:bodyPr/>
                    <a:lstStyle/>
                    <a:p>
                      <a:pPr algn="ctr">
                        <a:defRPr sz="1000">
                          <a:latin typeface="Montserrat"/>
                        </a:defRPr>
                      </a:pPr>
                      <a:r>
                        <a:t>5,458</a:t>
                      </a:r>
                    </a:p>
                  </a:txBody>
                  <a:tcPr marL="0" marR="0" marT="0" marB="0" anchor="ctr">
                    <a:solidFill>
                      <a:srgbClr val="ECD3D9"/>
                    </a:solidFill>
                  </a:tcPr>
                </a:tc>
                <a:tc>
                  <a:txBody>
                    <a:bodyPr/>
                    <a:lstStyle/>
                    <a:p>
                      <a:pPr algn="ctr">
                        <a:defRPr sz="1000">
                          <a:latin typeface="Montserrat"/>
                        </a:defRPr>
                      </a:pPr>
                      <a:r>
                        <a:t>13,000</a:t>
                      </a:r>
                    </a:p>
                  </a:txBody>
                  <a:tcPr marL="0" marR="0" marT="0" marB="0" anchor="ctr">
                    <a:solidFill>
                      <a:srgbClr val="ECD3D9"/>
                    </a:solidFill>
                  </a:tcPr>
                </a:tc>
                <a:tc>
                  <a:txBody>
                    <a:bodyPr/>
                    <a:lstStyle/>
                    <a:p>
                      <a:pPr algn="ctr">
                        <a:defRPr sz="1000">
                          <a:latin typeface="Montserrat"/>
                        </a:defRPr>
                      </a:pPr>
                      <a:r>
                        <a:t>42.0%</a:t>
                      </a:r>
                    </a:p>
                  </a:txBody>
                  <a:tcPr marL="0" marR="0" marT="0" marB="0" anchor="ctr">
                    <a:solidFill>
                      <a:srgbClr val="ECD3D9"/>
                    </a:solidFill>
                  </a:tcPr>
                </a:tc>
                <a:extLst>
                  <a:ext uri="{0D108BD9-81ED-4DB2-BD59-A6C34878D82A}">
                    <a16:rowId xmlns:a16="http://schemas.microsoft.com/office/drawing/2014/main" val="10003"/>
                  </a:ext>
                </a:extLst>
              </a:tr>
              <a:tr h="258128">
                <a:tc>
                  <a:txBody>
                    <a:bodyPr/>
                    <a:lstStyle/>
                    <a:p>
                      <a:pPr algn="l">
                        <a:defRPr sz="1000">
                          <a:latin typeface="Montserrat"/>
                        </a:defRPr>
                      </a:pPr>
                      <a:r>
                        <a:t>UMF 5 Cuauhtémoc</a:t>
                      </a:r>
                    </a:p>
                  </a:txBody>
                  <a:tcPr marL="0" marR="0" marT="0" marB="0" anchor="ctr">
                    <a:solidFill>
                      <a:srgbClr val="EFEFEF"/>
                    </a:solidFill>
                  </a:tcPr>
                </a:tc>
                <a:tc>
                  <a:txBody>
                    <a:bodyPr/>
                    <a:lstStyle/>
                    <a:p>
                      <a:pPr algn="ctr">
                        <a:defRPr sz="1000">
                          <a:latin typeface="Montserrat"/>
                        </a:defRPr>
                      </a:pPr>
                      <a:r>
                        <a:t>20,395</a:t>
                      </a:r>
                    </a:p>
                  </a:txBody>
                  <a:tcPr marL="0" marR="0" marT="0" marB="0" anchor="ctr">
                    <a:solidFill>
                      <a:srgbClr val="EFEFEF"/>
                    </a:solidFill>
                  </a:tcPr>
                </a:tc>
                <a:tc>
                  <a:txBody>
                    <a:bodyPr/>
                    <a:lstStyle/>
                    <a:p>
                      <a:pPr algn="ctr">
                        <a:defRPr sz="1000">
                          <a:latin typeface="Montserrat"/>
                        </a:defRPr>
                      </a:pPr>
                      <a:r>
                        <a:t>2,045</a:t>
                      </a:r>
                    </a:p>
                  </a:txBody>
                  <a:tcPr marL="0" marR="0" marT="0" marB="0" anchor="ctr">
                    <a:solidFill>
                      <a:srgbClr val="EFEFEF"/>
                    </a:solidFill>
                  </a:tcPr>
                </a:tc>
                <a:tc>
                  <a:txBody>
                    <a:bodyPr/>
                    <a:lstStyle/>
                    <a:p>
                      <a:pPr algn="ctr">
                        <a:defRPr sz="1000">
                          <a:latin typeface="Montserrat"/>
                        </a:defRPr>
                      </a:pPr>
                      <a:r>
                        <a:t>10,662</a:t>
                      </a:r>
                    </a:p>
                  </a:txBody>
                  <a:tcPr marL="0" marR="0" marT="0" marB="0" anchor="ctr">
                    <a:solidFill>
                      <a:srgbClr val="ECD3D9"/>
                    </a:solidFill>
                  </a:tcPr>
                </a:tc>
                <a:tc>
                  <a:txBody>
                    <a:bodyPr/>
                    <a:lstStyle/>
                    <a:p>
                      <a:pPr algn="ctr">
                        <a:defRPr sz="1000">
                          <a:latin typeface="Montserrat"/>
                        </a:defRPr>
                      </a:pPr>
                      <a:r>
                        <a:t>25,056</a:t>
                      </a:r>
                    </a:p>
                  </a:txBody>
                  <a:tcPr marL="0" marR="0" marT="0" marB="0" anchor="ctr">
                    <a:solidFill>
                      <a:srgbClr val="ECD3D9"/>
                    </a:solidFill>
                  </a:tcPr>
                </a:tc>
                <a:tc>
                  <a:txBody>
                    <a:bodyPr/>
                    <a:lstStyle/>
                    <a:p>
                      <a:pPr algn="ctr">
                        <a:defRPr sz="1000">
                          <a:latin typeface="Montserrat"/>
                        </a:defRPr>
                      </a:pPr>
                      <a:r>
                        <a:t>42.6%</a:t>
                      </a:r>
                    </a:p>
                  </a:txBody>
                  <a:tcPr marL="0" marR="0" marT="0" marB="0" anchor="ctr">
                    <a:solidFill>
                      <a:srgbClr val="ECD3D9"/>
                    </a:solidFill>
                  </a:tcPr>
                </a:tc>
                <a:extLst>
                  <a:ext uri="{0D108BD9-81ED-4DB2-BD59-A6C34878D82A}">
                    <a16:rowId xmlns:a16="http://schemas.microsoft.com/office/drawing/2014/main" val="10004"/>
                  </a:ext>
                </a:extLst>
              </a:tr>
              <a:tr h="258128">
                <a:tc>
                  <a:txBody>
                    <a:bodyPr/>
                    <a:lstStyle/>
                    <a:p>
                      <a:pPr algn="l">
                        <a:defRPr sz="1000">
                          <a:latin typeface="Montserrat"/>
                        </a:defRPr>
                      </a:pPr>
                      <a:r>
                        <a:t>UMF 6 Quesería</a:t>
                      </a:r>
                    </a:p>
                  </a:txBody>
                  <a:tcPr marL="0" marR="0" marT="0" marB="0" anchor="ctr">
                    <a:solidFill>
                      <a:srgbClr val="FFFFFF"/>
                    </a:solidFill>
                  </a:tcPr>
                </a:tc>
                <a:tc>
                  <a:txBody>
                    <a:bodyPr/>
                    <a:lstStyle/>
                    <a:p>
                      <a:pPr algn="ctr">
                        <a:defRPr sz="1000">
                          <a:latin typeface="Montserrat"/>
                        </a:defRPr>
                      </a:pPr>
                      <a:r>
                        <a:t>19,882</a:t>
                      </a:r>
                    </a:p>
                  </a:txBody>
                  <a:tcPr marL="0" marR="0" marT="0" marB="0" anchor="ctr">
                    <a:solidFill>
                      <a:srgbClr val="FFFFFF"/>
                    </a:solidFill>
                  </a:tcPr>
                </a:tc>
                <a:tc>
                  <a:txBody>
                    <a:bodyPr/>
                    <a:lstStyle/>
                    <a:p>
                      <a:pPr algn="ctr">
                        <a:defRPr sz="1000">
                          <a:latin typeface="Montserrat"/>
                        </a:defRPr>
                      </a:pPr>
                      <a:r>
                        <a:t>2,964</a:t>
                      </a:r>
                    </a:p>
                  </a:txBody>
                  <a:tcPr marL="0" marR="0" marT="0" marB="0" anchor="ctr">
                    <a:solidFill>
                      <a:srgbClr val="FFFFFF"/>
                    </a:solidFill>
                  </a:tcPr>
                </a:tc>
                <a:tc>
                  <a:txBody>
                    <a:bodyPr/>
                    <a:lstStyle/>
                    <a:p>
                      <a:pPr algn="ctr">
                        <a:defRPr sz="1000">
                          <a:latin typeface="Montserrat"/>
                        </a:defRPr>
                      </a:pPr>
                      <a:r>
                        <a:t>10,358</a:t>
                      </a:r>
                    </a:p>
                  </a:txBody>
                  <a:tcPr marL="0" marR="0" marT="0" marB="0" anchor="ctr">
                    <a:solidFill>
                      <a:srgbClr val="ECD3D9"/>
                    </a:solidFill>
                  </a:tcPr>
                </a:tc>
                <a:tc>
                  <a:txBody>
                    <a:bodyPr/>
                    <a:lstStyle/>
                    <a:p>
                      <a:pPr algn="ctr">
                        <a:defRPr sz="1000">
                          <a:latin typeface="Montserrat"/>
                        </a:defRPr>
                      </a:pPr>
                      <a:r>
                        <a:t>25,056</a:t>
                      </a:r>
                    </a:p>
                  </a:txBody>
                  <a:tcPr marL="0" marR="0" marT="0" marB="0" anchor="ctr">
                    <a:solidFill>
                      <a:srgbClr val="ECD3D9"/>
                    </a:solidFill>
                  </a:tcPr>
                </a:tc>
                <a:tc>
                  <a:txBody>
                    <a:bodyPr/>
                    <a:lstStyle/>
                    <a:p>
                      <a:pPr algn="ctr">
                        <a:defRPr sz="1000">
                          <a:latin typeface="Montserrat"/>
                        </a:defRPr>
                      </a:pPr>
                      <a:r>
                        <a:t>41.3%</a:t>
                      </a:r>
                    </a:p>
                  </a:txBody>
                  <a:tcPr marL="0" marR="0" marT="0" marB="0" anchor="ctr">
                    <a:solidFill>
                      <a:srgbClr val="ECD3D9"/>
                    </a:solidFill>
                  </a:tcPr>
                </a:tc>
                <a:extLst>
                  <a:ext uri="{0D108BD9-81ED-4DB2-BD59-A6C34878D82A}">
                    <a16:rowId xmlns:a16="http://schemas.microsoft.com/office/drawing/2014/main" val="10005"/>
                  </a:ext>
                </a:extLst>
              </a:tr>
              <a:tr h="258128">
                <a:tc>
                  <a:txBody>
                    <a:bodyPr/>
                    <a:lstStyle/>
                    <a:p>
                      <a:pPr algn="l">
                        <a:defRPr sz="1000">
                          <a:latin typeface="Montserrat"/>
                        </a:defRPr>
                      </a:pPr>
                      <a:r>
                        <a:t>UMF 16 Colima</a:t>
                      </a:r>
                    </a:p>
                  </a:txBody>
                  <a:tcPr marL="0" marR="0" marT="0" marB="0" anchor="ctr">
                    <a:solidFill>
                      <a:srgbClr val="EFEFEF"/>
                    </a:solidFill>
                  </a:tcPr>
                </a:tc>
                <a:tc>
                  <a:txBody>
                    <a:bodyPr/>
                    <a:lstStyle/>
                    <a:p>
                      <a:pPr algn="ctr">
                        <a:defRPr sz="1000">
                          <a:latin typeface="Montserrat"/>
                        </a:defRPr>
                      </a:pPr>
                      <a:r>
                        <a:t>61,707</a:t>
                      </a:r>
                    </a:p>
                  </a:txBody>
                  <a:tcPr marL="0" marR="0" marT="0" marB="0" anchor="ctr">
                    <a:solidFill>
                      <a:srgbClr val="EFEFEF"/>
                    </a:solidFill>
                  </a:tcPr>
                </a:tc>
                <a:tc>
                  <a:txBody>
                    <a:bodyPr/>
                    <a:lstStyle/>
                    <a:p>
                      <a:pPr algn="ctr">
                        <a:defRPr sz="1000">
                          <a:latin typeface="Montserrat"/>
                        </a:defRPr>
                      </a:pPr>
                      <a:r>
                        <a:t>1,831</a:t>
                      </a:r>
                    </a:p>
                  </a:txBody>
                  <a:tcPr marL="0" marR="0" marT="0" marB="0" anchor="ctr">
                    <a:solidFill>
                      <a:srgbClr val="EFEFEF"/>
                    </a:solidFill>
                  </a:tcPr>
                </a:tc>
                <a:tc>
                  <a:txBody>
                    <a:bodyPr/>
                    <a:lstStyle/>
                    <a:p>
                      <a:pPr algn="ctr">
                        <a:defRPr sz="1000">
                          <a:latin typeface="Montserrat"/>
                        </a:defRPr>
                      </a:pPr>
                      <a:r>
                        <a:t>27,819</a:t>
                      </a:r>
                    </a:p>
                  </a:txBody>
                  <a:tcPr marL="0" marR="0" marT="0" marB="0" anchor="ctr">
                    <a:solidFill>
                      <a:srgbClr val="ECD3D9"/>
                    </a:solidFill>
                  </a:tcPr>
                </a:tc>
                <a:tc>
                  <a:txBody>
                    <a:bodyPr/>
                    <a:lstStyle/>
                    <a:p>
                      <a:pPr algn="ctr">
                        <a:defRPr sz="1000">
                          <a:latin typeface="Montserrat"/>
                        </a:defRPr>
                      </a:pPr>
                      <a:r>
                        <a:t>60,000</a:t>
                      </a:r>
                    </a:p>
                  </a:txBody>
                  <a:tcPr marL="0" marR="0" marT="0" marB="0" anchor="ctr">
                    <a:solidFill>
                      <a:srgbClr val="ECD3D9"/>
                    </a:solidFill>
                  </a:tcPr>
                </a:tc>
                <a:tc>
                  <a:txBody>
                    <a:bodyPr/>
                    <a:lstStyle/>
                    <a:p>
                      <a:pPr algn="ctr">
                        <a:defRPr sz="1000">
                          <a:latin typeface="Montserrat"/>
                        </a:defRPr>
                      </a:pPr>
                      <a:r>
                        <a:t>46.4%</a:t>
                      </a:r>
                    </a:p>
                  </a:txBody>
                  <a:tcPr marL="0" marR="0" marT="0" marB="0" anchor="ctr">
                    <a:solidFill>
                      <a:srgbClr val="ECD3D9"/>
                    </a:solidFill>
                  </a:tcPr>
                </a:tc>
                <a:extLst>
                  <a:ext uri="{0D108BD9-81ED-4DB2-BD59-A6C34878D82A}">
                    <a16:rowId xmlns:a16="http://schemas.microsoft.com/office/drawing/2014/main" val="10006"/>
                  </a:ext>
                </a:extLst>
              </a:tr>
              <a:tr h="258128">
                <a:tc>
                  <a:txBody>
                    <a:bodyPr/>
                    <a:lstStyle/>
                    <a:p>
                      <a:pPr algn="l">
                        <a:defRPr sz="1000">
                          <a:latin typeface="Montserrat"/>
                        </a:defRPr>
                      </a:pPr>
                      <a:r>
                        <a:t>UMF 11 Colima</a:t>
                      </a:r>
                    </a:p>
                  </a:txBody>
                  <a:tcPr marL="0" marR="0" marT="0" marB="0" anchor="ctr">
                    <a:solidFill>
                      <a:srgbClr val="FFFFFF"/>
                    </a:solidFill>
                  </a:tcPr>
                </a:tc>
                <a:tc>
                  <a:txBody>
                    <a:bodyPr/>
                    <a:lstStyle/>
                    <a:p>
                      <a:pPr algn="ctr">
                        <a:defRPr sz="1000">
                          <a:latin typeface="Montserrat"/>
                        </a:defRPr>
                      </a:pPr>
                      <a:r>
                        <a:t>64,209</a:t>
                      </a:r>
                    </a:p>
                  </a:txBody>
                  <a:tcPr marL="0" marR="0" marT="0" marB="0" anchor="ctr">
                    <a:solidFill>
                      <a:srgbClr val="FFFFFF"/>
                    </a:solidFill>
                  </a:tcPr>
                </a:tc>
                <a:tc>
                  <a:txBody>
                    <a:bodyPr/>
                    <a:lstStyle/>
                    <a:p>
                      <a:pPr algn="ctr">
                        <a:defRPr sz="1000">
                          <a:latin typeface="Montserrat"/>
                        </a:defRPr>
                      </a:pPr>
                      <a:r>
                        <a:t>-805</a:t>
                      </a:r>
                    </a:p>
                  </a:txBody>
                  <a:tcPr marL="0" marR="0" marT="0" marB="0" anchor="ctr">
                    <a:solidFill>
                      <a:srgbClr val="FFFFFF"/>
                    </a:solidFill>
                  </a:tcPr>
                </a:tc>
                <a:tc>
                  <a:txBody>
                    <a:bodyPr/>
                    <a:lstStyle/>
                    <a:p>
                      <a:pPr algn="ctr">
                        <a:defRPr sz="1000">
                          <a:latin typeface="Montserrat"/>
                        </a:defRPr>
                      </a:pPr>
                      <a:r>
                        <a:t>29,990</a:t>
                      </a:r>
                    </a:p>
                  </a:txBody>
                  <a:tcPr marL="0" marR="0" marT="0" marB="0" anchor="ctr">
                    <a:solidFill>
                      <a:srgbClr val="ECD3D9"/>
                    </a:solidFill>
                  </a:tcPr>
                </a:tc>
                <a:tc>
                  <a:txBody>
                    <a:bodyPr/>
                    <a:lstStyle/>
                    <a:p>
                      <a:pPr algn="ctr">
                        <a:defRPr sz="1000">
                          <a:latin typeface="Montserrat"/>
                        </a:defRPr>
                      </a:pPr>
                      <a:r>
                        <a:t>62,640</a:t>
                      </a:r>
                    </a:p>
                  </a:txBody>
                  <a:tcPr marL="0" marR="0" marT="0" marB="0" anchor="ctr">
                    <a:solidFill>
                      <a:srgbClr val="ECD3D9"/>
                    </a:solidFill>
                  </a:tcPr>
                </a:tc>
                <a:tc>
                  <a:txBody>
                    <a:bodyPr/>
                    <a:lstStyle/>
                    <a:p>
                      <a:pPr algn="ctr">
                        <a:defRPr sz="1000">
                          <a:latin typeface="Montserrat"/>
                        </a:defRPr>
                      </a:pPr>
                      <a:r>
                        <a:t>47.9%</a:t>
                      </a:r>
                    </a:p>
                  </a:txBody>
                  <a:tcPr marL="0" marR="0" marT="0" marB="0" anchor="ctr">
                    <a:solidFill>
                      <a:srgbClr val="ECD3D9"/>
                    </a:solidFill>
                  </a:tcPr>
                </a:tc>
                <a:extLst>
                  <a:ext uri="{0D108BD9-81ED-4DB2-BD59-A6C34878D82A}">
                    <a16:rowId xmlns:a16="http://schemas.microsoft.com/office/drawing/2014/main" val="10007"/>
                  </a:ext>
                </a:extLst>
              </a:tr>
              <a:tr h="328432">
                <a:tc>
                  <a:txBody>
                    <a:bodyPr/>
                    <a:lstStyle/>
                    <a:p>
                      <a:pPr algn="ctr">
                        <a:defRPr sz="1000" b="1">
                          <a:solidFill>
                            <a:srgbClr val="006556"/>
                          </a:solidFill>
                          <a:latin typeface="Montserrat"/>
                        </a:defRPr>
                      </a:pPr>
                      <a:r>
                        <a:t>Total</a:t>
                      </a:r>
                    </a:p>
                  </a:txBody>
                  <a:tcPr marL="0" marR="0" marT="0" marB="0" anchor="ctr">
                    <a:solidFill>
                      <a:srgbClr val="D3E9E7"/>
                    </a:solidFill>
                  </a:tcPr>
                </a:tc>
                <a:tc>
                  <a:txBody>
                    <a:bodyPr/>
                    <a:lstStyle/>
                    <a:p>
                      <a:pPr algn="ctr">
                        <a:defRPr sz="1000" b="1">
                          <a:solidFill>
                            <a:srgbClr val="006556"/>
                          </a:solidFill>
                          <a:latin typeface="Montserrat"/>
                        </a:defRPr>
                      </a:pPr>
                      <a:r>
                        <a:t>302,856</a:t>
                      </a:r>
                    </a:p>
                  </a:txBody>
                  <a:tcPr marL="0" marR="0" marT="0" marB="0" anchor="ctr">
                    <a:solidFill>
                      <a:srgbClr val="D3E9E7"/>
                    </a:solidFill>
                  </a:tcPr>
                </a:tc>
                <a:tc>
                  <a:txBody>
                    <a:bodyPr/>
                    <a:lstStyle/>
                    <a:p>
                      <a:pPr algn="ctr">
                        <a:defRPr sz="1000" b="1">
                          <a:solidFill>
                            <a:srgbClr val="006556"/>
                          </a:solidFill>
                          <a:latin typeface="Montserrat"/>
                        </a:defRPr>
                      </a:pPr>
                      <a:r>
                        <a:t>10,169</a:t>
                      </a:r>
                    </a:p>
                  </a:txBody>
                  <a:tcPr marL="0" marR="0" marT="0" marB="0" anchor="ctr">
                    <a:solidFill>
                      <a:srgbClr val="D3E9E7"/>
                    </a:solidFill>
                  </a:tcPr>
                </a:tc>
                <a:tc>
                  <a:txBody>
                    <a:bodyPr/>
                    <a:lstStyle/>
                    <a:p>
                      <a:pPr algn="ctr">
                        <a:defRPr sz="1000" b="1">
                          <a:solidFill>
                            <a:srgbClr val="FFFFFF"/>
                          </a:solidFill>
                          <a:latin typeface="Montserrat"/>
                        </a:defRPr>
                      </a:pPr>
                      <a:r>
                        <a:t>141,047</a:t>
                      </a:r>
                    </a:p>
                  </a:txBody>
                  <a:tcPr marL="0" marR="0" marT="0" marB="0" anchor="ctr">
                    <a:solidFill>
                      <a:srgbClr val="9F2241"/>
                    </a:solidFill>
                  </a:tcPr>
                </a:tc>
                <a:tc>
                  <a:txBody>
                    <a:bodyPr/>
                    <a:lstStyle/>
                    <a:p>
                      <a:pPr algn="ctr">
                        <a:defRPr sz="1000" b="1">
                          <a:solidFill>
                            <a:srgbClr val="FFFFFF"/>
                          </a:solidFill>
                          <a:latin typeface="Montserrat"/>
                        </a:defRPr>
                      </a:pPr>
                      <a:r>
                        <a:t>314,164</a:t>
                      </a:r>
                    </a:p>
                  </a:txBody>
                  <a:tcPr marL="0" marR="0" marT="0" marB="0" anchor="ctr">
                    <a:solidFill>
                      <a:srgbClr val="9F2241"/>
                    </a:solidFill>
                  </a:tcPr>
                </a:tc>
                <a:tc>
                  <a:txBody>
                    <a:bodyPr/>
                    <a:lstStyle/>
                    <a:p>
                      <a:pPr algn="ctr">
                        <a:defRPr sz="1000" b="1">
                          <a:solidFill>
                            <a:srgbClr val="FFFFFF"/>
                          </a:solidFill>
                          <a:latin typeface="Montserrat"/>
                        </a:defRPr>
                      </a:pPr>
                      <a:r>
                        <a:t>44.9%</a:t>
                      </a:r>
                    </a:p>
                  </a:txBody>
                  <a:tcPr marL="0" marR="0" marT="0" marB="0" anchor="ctr">
                    <a:solidFill>
                      <a:srgbClr val="9F2241"/>
                    </a:solidFill>
                  </a:tcPr>
                </a:tc>
                <a:extLst>
                  <a:ext uri="{0D108BD9-81ED-4DB2-BD59-A6C34878D82A}">
                    <a16:rowId xmlns:a16="http://schemas.microsoft.com/office/drawing/2014/main" val="10008"/>
                  </a:ext>
                </a:extLst>
              </a:tr>
            </a:tbl>
          </a:graphicData>
        </a:graphic>
      </p:graphicFrame>
      <p:graphicFrame>
        <p:nvGraphicFramePr>
          <p:cNvPr id="9" name="Chart 8"/>
          <p:cNvGraphicFramePr>
            <a:graphicFrameLocks noGrp="1"/>
          </p:cNvGraphicFramePr>
          <p:nvPr>
            <p:extLst>
              <p:ext uri="{D42A27DB-BD31-4B8C-83A1-F6EECF244321}">
                <p14:modId xmlns:p14="http://schemas.microsoft.com/office/powerpoint/2010/main" val="136399938"/>
              </p:ext>
            </p:extLst>
          </p:nvPr>
        </p:nvGraphicFramePr>
        <p:xfrm>
          <a:off x="4780800" y="4919661"/>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5083445" y="5630985"/>
            <a:ext cx="1193370" cy="461665"/>
          </a:xfrm>
          <a:prstGeom prst="rect">
            <a:avLst/>
          </a:prstGeom>
          <a:noFill/>
        </p:spPr>
        <p:txBody>
          <a:bodyPr wrap="square">
            <a:spAutoFit/>
          </a:bodyPr>
          <a:lstStyle/>
          <a:p>
            <a:pPr algn="ctr"/>
            <a:r>
              <a:rPr sz="2400" b="1">
                <a:solidFill>
                  <a:srgbClr val="9F2241"/>
                </a:solidFill>
                <a:latin typeface="Montserrat"/>
              </a:rPr>
              <a:t>44.9%</a:t>
            </a:r>
          </a:p>
        </p:txBody>
      </p:sp>
      <p:sp>
        <p:nvSpPr>
          <p:cNvPr id="11" name="TextBox 10"/>
          <p:cNvSpPr txBox="1"/>
          <p:nvPr/>
        </p:nvSpPr>
        <p:spPr>
          <a:xfrm>
            <a:off x="4931452" y="6629659"/>
            <a:ext cx="1497355" cy="307777"/>
          </a:xfrm>
          <a:prstGeom prst="rect">
            <a:avLst/>
          </a:prstGeom>
          <a:noFill/>
        </p:spPr>
        <p:txBody>
          <a:bodyPr wrap="square">
            <a:spAutoFit/>
          </a:bodyPr>
          <a:lstStyle/>
          <a:p>
            <a:pPr algn="ctr"/>
            <a:r>
              <a:rPr sz="1400" b="1">
                <a:solidFill>
                  <a:srgbClr val="9F2241"/>
                </a:solidFill>
                <a:latin typeface="Montserrat"/>
              </a:rPr>
              <a:t>Avance</a:t>
            </a:r>
          </a:p>
        </p:txBody>
      </p:sp>
      <p:sp>
        <p:nvSpPr>
          <p:cNvPr id="12" name="TextBox 11"/>
          <p:cNvSpPr txBox="1"/>
          <p:nvPr/>
        </p:nvSpPr>
        <p:spPr>
          <a:xfrm>
            <a:off x="1007999" y="5347566"/>
            <a:ext cx="2854800" cy="1198800"/>
          </a:xfrm>
          <a:prstGeom prst="rect">
            <a:avLst/>
          </a:prstGeom>
          <a:noFill/>
        </p:spPr>
        <p:txBody>
          <a:bodyPr wrap="square">
            <a:spAutoFit/>
          </a:bodyPr>
          <a:lstStyle/>
          <a:p>
            <a:pPr algn="ctr">
              <a:defRPr sz="3600" b="1">
                <a:solidFill>
                  <a:srgbClr val="9F2241"/>
                </a:solidFill>
                <a:latin typeface="Montserrat"/>
              </a:defRPr>
            </a:pPr>
            <a:r>
              <a:t>314,164 </a:t>
            </a:r>
            <a:br>
              <a:rP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39" name="CuadroTexto 138">
            <a:extLst>
              <a:ext uri="{FF2B5EF4-FFF2-40B4-BE49-F238E27FC236}">
                <a16:creationId xmlns:a16="http://schemas.microsoft.com/office/drawing/2014/main" id="{0B015124-4138-1C94-CE7D-ABBE57D79C8B}"/>
              </a:ext>
            </a:extLst>
          </p:cNvPr>
          <p:cNvSpPr txBox="1"/>
          <p:nvPr/>
        </p:nvSpPr>
        <p:spPr>
          <a:xfrm>
            <a:off x="4100000" y="4849566"/>
            <a:ext cx="3006672" cy="1015663"/>
          </a:xfrm>
          <a:prstGeom prst="rect">
            <a:avLst/>
          </a:prstGeom>
          <a:noFill/>
        </p:spPr>
        <p:txBody>
          <a:bodyPr wrap="square">
            <a:spAutoFit/>
          </a:bodyPr>
          <a:lstStyle/>
          <a:p>
            <a:pPr algn="ctr">
              <a:defRPr sz="2000" b="1">
                <a:solidFill>
                  <a:srgbClr val="5B0F00"/>
                </a:solidFill>
                <a:latin typeface="Montserrat"/>
              </a:defRPr>
            </a:pPr>
            <a:r>
              <a:rPr lang="es-MX"/>
              <a:t>Proyectos 2026</a:t>
            </a:r>
          </a:p>
          <a:p>
            <a:pPr algn="ctr">
              <a:defRPr sz="2000" b="1">
                <a:solidFill>
                  <a:srgbClr val="5B0F00"/>
                </a:solidFill>
                <a:latin typeface="Montserrat"/>
              </a:defRPr>
            </a:pPr>
            <a:r>
              <a:rPr lang="es-MX"/>
              <a:t>1 Nueva UMTC con   2 consultorios</a:t>
            </a:r>
          </a:p>
        </p:txBody>
      </p:sp>
      <p:graphicFrame>
        <p:nvGraphicFramePr>
          <p:cNvPr id="140" name="Tabla 139">
            <a:extLst>
              <a:ext uri="{FF2B5EF4-FFF2-40B4-BE49-F238E27FC236}">
                <a16:creationId xmlns:a16="http://schemas.microsoft.com/office/drawing/2014/main" id="{0FD5AC23-2DF1-9A27-975F-A9634AC239AE}"/>
              </a:ext>
            </a:extLst>
          </p:cNvPr>
          <p:cNvGraphicFramePr>
            <a:graphicFrameLocks noGrp="1"/>
          </p:cNvGraphicFramePr>
          <p:nvPr>
            <p:extLst>
              <p:ext uri="{D42A27DB-BD31-4B8C-83A1-F6EECF244321}">
                <p14:modId xmlns:p14="http://schemas.microsoft.com/office/powerpoint/2010/main" val="534913796"/>
              </p:ext>
            </p:extLst>
          </p:nvPr>
        </p:nvGraphicFramePr>
        <p:xfrm>
          <a:off x="4801088" y="6003551"/>
          <a:ext cx="2061824" cy="668655"/>
        </p:xfrm>
        <a:graphic>
          <a:graphicData uri="http://schemas.openxmlformats.org/drawingml/2006/table">
            <a:tbl>
              <a:tblPr>
                <a:tableStyleId>{4F9E4E24-231D-441B-AD27-9C975659944D}</a:tableStyleId>
              </a:tblPr>
              <a:tblGrid>
                <a:gridCol w="2061824">
                  <a:extLst>
                    <a:ext uri="{9D8B030D-6E8A-4147-A177-3AD203B41FA5}">
                      <a16:colId xmlns:a16="http://schemas.microsoft.com/office/drawing/2014/main" val="3003209570"/>
                    </a:ext>
                  </a:extLst>
                </a:gridCol>
              </a:tblGrid>
              <a:tr h="213360">
                <a:tc>
                  <a:txBody>
                    <a:bodyPr/>
                    <a:lstStyle/>
                    <a:p>
                      <a:pPr marL="228600" indent="-228600" algn="l" fontAlgn="b">
                        <a:buFont typeface="+mj-lt"/>
                        <a:buAutoNum type="arabicParenR"/>
                      </a:pPr>
                      <a:r>
                        <a:rPr lang="es-MX" sz="1400" b="0" u="none" strike="noStrike">
                          <a:effectLst/>
                          <a:latin typeface="Montserrat" panose="00000500000000000000" pitchFamily="2" charset="0"/>
                        </a:rPr>
                        <a:t>UMF  16 Colima</a:t>
                      </a:r>
                      <a:endParaRPr lang="es-MX" sz="1400" b="0" i="0" u="none" strike="noStrike">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293740564"/>
                  </a:ext>
                </a:extLst>
              </a:tr>
              <a:tr h="213360">
                <a:tc>
                  <a:txBody>
                    <a:bodyPr/>
                    <a:lstStyle/>
                    <a:p>
                      <a:pPr marL="0" indent="0" algn="l" fontAlgn="b">
                        <a:buFont typeface="+mj-lt"/>
                        <a:buNone/>
                      </a:pPr>
                      <a:endParaRPr lang="es-MX" sz="1400" b="0" i="0" u="none" strike="noStrike">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21794832"/>
                  </a:ext>
                </a:extLst>
              </a:tr>
              <a:tr h="213360">
                <a:tc>
                  <a:txBody>
                    <a:bodyPr/>
                    <a:lstStyle/>
                    <a:p>
                      <a:pPr marL="0" indent="0" algn="l" fontAlgn="b">
                        <a:buFont typeface="+mj-lt"/>
                        <a:buNone/>
                      </a:pPr>
                      <a:endParaRPr lang="es-MX" sz="1400" b="0" i="0" u="none" strike="noStrike">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93022568"/>
                  </a:ext>
                </a:extLst>
              </a:tr>
            </a:tbl>
          </a:graphicData>
        </a:graphic>
      </p:graphicFrame>
      <p:sp>
        <p:nvSpPr>
          <p:cNvPr id="141" name="TextBox 14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sp>
        <p:nvSpPr>
          <p:cNvPr id="142" name="TextBox 141"/>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 Unidades de Medicina Familiar</a:t>
            </a:r>
          </a:p>
        </p:txBody>
      </p:sp>
      <p:sp>
        <p:nvSpPr>
          <p:cNvPr id="143" name="TextBox 142"/>
          <p:cNvSpPr txBox="1"/>
          <p:nvPr/>
        </p:nvSpPr>
        <p:spPr>
          <a:xfrm>
            <a:off x="147600" y="1010987"/>
            <a:ext cx="7138493" cy="369332"/>
          </a:xfrm>
          <a:prstGeom prst="rect">
            <a:avLst/>
          </a:prstGeom>
          <a:noFill/>
        </p:spPr>
        <p:txBody>
          <a:bodyPr wrap="none">
            <a:spAutoFit/>
          </a:bodyPr>
          <a:lstStyle/>
          <a:p>
            <a:pPr algn="l">
              <a:defRPr sz="1600" b="1">
                <a:solidFill>
                  <a:srgbClr val="5B0F00"/>
                </a:solidFill>
                <a:latin typeface="Montserrat"/>
              </a:defRPr>
            </a:pPr>
            <a:r>
              <a:rPr sz="1800"/>
              <a:t>3 </a:t>
            </a:r>
            <a:r>
              <a:rPr sz="1800" err="1"/>
              <a:t>Unidades</a:t>
            </a:r>
            <a:r>
              <a:rPr sz="1800"/>
              <a:t> </a:t>
            </a:r>
            <a:r>
              <a:rPr sz="1800" err="1"/>
              <a:t>Médicas</a:t>
            </a:r>
            <a:r>
              <a:rPr sz="1800"/>
              <a:t> de </a:t>
            </a:r>
            <a:r>
              <a:rPr sz="1800" err="1"/>
              <a:t>tiempo</a:t>
            </a:r>
            <a:r>
              <a:rPr sz="1800"/>
              <a:t> </a:t>
            </a:r>
            <a:r>
              <a:rPr sz="1800" err="1"/>
              <a:t>completo</a:t>
            </a:r>
            <a:r>
              <a:rPr sz="1800"/>
              <a:t> (16 </a:t>
            </a:r>
            <a:r>
              <a:rPr sz="1800" err="1"/>
              <a:t>consultorios</a:t>
            </a:r>
            <a:r>
              <a:rPr sz="1800"/>
              <a:t>)</a:t>
            </a:r>
          </a:p>
        </p:txBody>
      </p:sp>
      <p:sp>
        <p:nvSpPr>
          <p:cNvPr id="144" name="TextBox 143"/>
          <p:cNvSpPr txBox="1"/>
          <p:nvPr/>
        </p:nvSpPr>
        <p:spPr>
          <a:xfrm>
            <a:off x="125999" y="1521576"/>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45" name="Connector 144"/>
          <p:cNvCxnSpPr/>
          <p:nvPr/>
        </p:nvCxnSpPr>
        <p:spPr>
          <a:xfrm>
            <a:off x="118800" y="1445976"/>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147600" y="95328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t>
            </a:r>
            <a:r>
              <a:rPr err="1"/>
              <a:t>año</a:t>
            </a:r>
            <a:r>
              <a:t> 2025 no </a:t>
            </a:r>
            <a:r>
              <a:rPr err="1"/>
              <a:t>incluye</a:t>
            </a:r>
            <a:r>
              <a:t> </a:t>
            </a:r>
            <a:r>
              <a:rPr err="1"/>
              <a:t>información</a:t>
            </a:r>
            <a:r>
              <a:t> de HR y UMR.</a:t>
            </a:r>
            <a:br>
              <a:rPr/>
            </a:br>
            <a:r>
              <a:t>No </a:t>
            </a:r>
            <a:r>
              <a:rPr err="1"/>
              <a:t>incluye</a:t>
            </a:r>
            <a:r>
              <a:t> </a:t>
            </a:r>
            <a:r>
              <a:rPr err="1"/>
              <a:t>Unidades</a:t>
            </a:r>
            <a:r>
              <a:t> </a:t>
            </a:r>
            <a:r>
              <a:rPr err="1"/>
              <a:t>Auxiliares</a:t>
            </a:r>
            <a:r>
              <a:t> de Medicina Familiar, </a:t>
            </a:r>
            <a:r>
              <a:rPr err="1"/>
              <a:t>ni</a:t>
            </a:r>
            <a:r>
              <a:t> </a:t>
            </a:r>
            <a:r>
              <a:rPr err="1"/>
              <a:t>hospitales</a:t>
            </a:r>
            <a:r>
              <a:t> con </a:t>
            </a:r>
            <a:r>
              <a:rPr err="1"/>
              <a:t>servicio</a:t>
            </a:r>
            <a:r>
              <a:t> de </a:t>
            </a:r>
            <a:r>
              <a:rPr err="1"/>
              <a:t>medicina</a:t>
            </a:r>
            <a:r>
              <a:t> familiar.</a:t>
            </a:r>
            <a:br>
              <a:rPr/>
            </a:br>
            <a:r>
              <a:t>El </a:t>
            </a:r>
            <a:r>
              <a:rPr err="1"/>
              <a:t>año</a:t>
            </a:r>
            <a:r>
              <a:t> de </a:t>
            </a:r>
            <a:r>
              <a:rPr err="1"/>
              <a:t>proceso</a:t>
            </a:r>
            <a:r>
              <a:t> </a:t>
            </a:r>
            <a:r>
              <a:rPr err="1"/>
              <a:t>inicia</a:t>
            </a:r>
            <a:r>
              <a:t> del 26 de </a:t>
            </a:r>
            <a:r>
              <a:rPr err="1"/>
              <a:t>diciembre</a:t>
            </a:r>
            <a:r>
              <a:t> del </a:t>
            </a:r>
            <a:r>
              <a:rPr err="1"/>
              <a:t>año</a:t>
            </a:r>
            <a:r>
              <a:t> anterior al 25 de </a:t>
            </a:r>
            <a:r>
              <a:rPr err="1"/>
              <a:t>diciembre</a:t>
            </a:r>
            <a:r>
              <a:t> del </a:t>
            </a:r>
            <a:r>
              <a:rPr err="1"/>
              <a:t>año</a:t>
            </a:r>
            <a:r>
              <a:t> </a:t>
            </a:r>
            <a:r>
              <a:rPr err="1"/>
              <a:t>en</a:t>
            </a:r>
            <a:r>
              <a:t> </a:t>
            </a:r>
            <a:r>
              <a:rPr err="1"/>
              <a:t>curso</a:t>
            </a:r>
            <a:r>
              <a:t>: 2025 (del 26 de Dic de 2024 al 25 de Dic de 2025).</a:t>
            </a:r>
            <a:br>
              <a:rPr/>
            </a:br>
            <a:r>
              <a:t>Corte de </a:t>
            </a:r>
            <a:r>
              <a:rPr err="1"/>
              <a:t>información</a:t>
            </a:r>
            <a:r>
              <a:t>: Semana 24, 7 </a:t>
            </a:r>
            <a:r>
              <a:rPr err="1"/>
              <a:t>junio</a:t>
            </a:r>
            <a:r>
              <a:t> 2026</a:t>
            </a:r>
          </a:p>
        </p:txBody>
      </p:sp>
      <p:sp>
        <p:nvSpPr>
          <p:cNvPr id="147" name="TextBox 146"/>
          <p:cNvSpPr txBox="1"/>
          <p:nvPr/>
        </p:nvSpPr>
        <p:spPr>
          <a:xfrm>
            <a:off x="1940400" y="4683100"/>
            <a:ext cx="1810800" cy="1569600"/>
          </a:xfrm>
          <a:prstGeom prst="rect">
            <a:avLst/>
          </a:prstGeom>
          <a:noFill/>
        </p:spPr>
        <p:txBody>
          <a:bodyPr wrap="square">
            <a:spAutoFit/>
          </a:bodyPr>
          <a:lstStyle/>
          <a:p>
            <a:pPr algn="l">
              <a:defRPr sz="1600" b="1">
                <a:solidFill>
                  <a:srgbClr val="000000"/>
                </a:solidFill>
                <a:latin typeface="Montserrat"/>
              </a:defRPr>
            </a:pPr>
            <a:r>
              <a:t>de las </a:t>
            </a:r>
            <a:r>
              <a:rPr err="1"/>
              <a:t>consultas</a:t>
            </a:r>
            <a:r>
              <a:t> </a:t>
            </a:r>
            <a:r>
              <a:rPr err="1"/>
              <a:t>en</a:t>
            </a:r>
            <a:r>
              <a:t> 2025 </a:t>
            </a:r>
            <a:r>
              <a:rPr err="1"/>
              <a:t>fueron</a:t>
            </a:r>
            <a:r>
              <a:t> </a:t>
            </a:r>
            <a:r>
              <a:rPr err="1"/>
              <a:t>en</a:t>
            </a:r>
            <a:r>
              <a:t> fin de </a:t>
            </a:r>
            <a:r>
              <a:rPr err="1"/>
              <a:t>semana</a:t>
            </a:r>
            <a:r>
              <a:t> (90,088 </a:t>
            </a:r>
            <a:r>
              <a:rPr err="1"/>
              <a:t>consultas</a:t>
            </a:r>
            <a:r>
              <a:t>)</a:t>
            </a:r>
          </a:p>
        </p:txBody>
      </p:sp>
      <p:graphicFrame>
        <p:nvGraphicFramePr>
          <p:cNvPr id="148" name="Table 147"/>
          <p:cNvGraphicFramePr>
            <a:graphicFrameLocks noGrp="1"/>
          </p:cNvGraphicFramePr>
          <p:nvPr>
            <p:extLst>
              <p:ext uri="{D42A27DB-BD31-4B8C-83A1-F6EECF244321}">
                <p14:modId xmlns:p14="http://schemas.microsoft.com/office/powerpoint/2010/main" val="3209864376"/>
              </p:ext>
            </p:extLst>
          </p:nvPr>
        </p:nvGraphicFramePr>
        <p:xfrm>
          <a:off x="149400" y="1885175"/>
          <a:ext cx="7443001" cy="1708595"/>
        </p:xfrm>
        <a:graphic>
          <a:graphicData uri="http://schemas.openxmlformats.org/drawingml/2006/table">
            <a:tbl>
              <a:tblPr firstRow="1" bandRow="1">
                <a:tableStyleId>{5C22544A-7EE6-4342-B048-85BDC9FD1C3A}</a:tableStyleId>
              </a:tblPr>
              <a:tblGrid>
                <a:gridCol w="1288640">
                  <a:extLst>
                    <a:ext uri="{9D8B030D-6E8A-4147-A177-3AD203B41FA5}">
                      <a16:colId xmlns:a16="http://schemas.microsoft.com/office/drawing/2014/main" val="20000"/>
                    </a:ext>
                  </a:extLst>
                </a:gridCol>
                <a:gridCol w="1281362">
                  <a:extLst>
                    <a:ext uri="{9D8B030D-6E8A-4147-A177-3AD203B41FA5}">
                      <a16:colId xmlns:a16="http://schemas.microsoft.com/office/drawing/2014/main" val="20001"/>
                    </a:ext>
                  </a:extLst>
                </a:gridCol>
                <a:gridCol w="1292837">
                  <a:extLst>
                    <a:ext uri="{9D8B030D-6E8A-4147-A177-3AD203B41FA5}">
                      <a16:colId xmlns:a16="http://schemas.microsoft.com/office/drawing/2014/main" val="20002"/>
                    </a:ext>
                  </a:extLst>
                </a:gridCol>
                <a:gridCol w="1334911">
                  <a:extLst>
                    <a:ext uri="{9D8B030D-6E8A-4147-A177-3AD203B41FA5}">
                      <a16:colId xmlns:a16="http://schemas.microsoft.com/office/drawing/2014/main" val="20003"/>
                    </a:ext>
                  </a:extLst>
                </a:gridCol>
                <a:gridCol w="879740">
                  <a:extLst>
                    <a:ext uri="{9D8B030D-6E8A-4147-A177-3AD203B41FA5}">
                      <a16:colId xmlns:a16="http://schemas.microsoft.com/office/drawing/2014/main" val="20004"/>
                    </a:ext>
                  </a:extLst>
                </a:gridCol>
                <a:gridCol w="1365511">
                  <a:extLst>
                    <a:ext uri="{9D8B030D-6E8A-4147-A177-3AD203B41FA5}">
                      <a16:colId xmlns:a16="http://schemas.microsoft.com/office/drawing/2014/main" val="20005"/>
                    </a:ext>
                  </a:extLst>
                </a:gridCol>
              </a:tblGrid>
              <a:tr h="673083">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2025</a:t>
                      </a:r>
                    </a:p>
                  </a:txBody>
                  <a:tcPr anchor="ctr">
                    <a:solidFill>
                      <a:srgbClr val="006455"/>
                    </a:solidFill>
                  </a:tcPr>
                </a:tc>
                <a:tc>
                  <a:txBody>
                    <a:bodyPr/>
                    <a:lstStyle/>
                    <a:p>
                      <a:pPr algn="ctr">
                        <a:defRPr sz="1000" b="1">
                          <a:solidFill>
                            <a:srgbClr val="FFFFFF"/>
                          </a:solidFill>
                          <a:latin typeface="Montserrat"/>
                        </a:defRPr>
                      </a:pPr>
                      <a:r>
                        <a:t>Incremento 2024 vs 2025</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258878">
                <a:tc>
                  <a:txBody>
                    <a:bodyPr/>
                    <a:lstStyle/>
                    <a:p>
                      <a:pPr algn="l">
                        <a:defRPr sz="1000">
                          <a:solidFill>
                            <a:srgbClr val="000000"/>
                          </a:solidFill>
                          <a:latin typeface="Montserrat"/>
                        </a:defRPr>
                      </a:pPr>
                      <a:r>
                        <a:t>UMF 17 Manzanillo</a:t>
                      </a:r>
                    </a:p>
                  </a:txBody>
                  <a:tcPr marL="0" marR="0" marT="0" marB="0" anchor="ctr">
                    <a:solidFill>
                      <a:srgbClr val="FFFFFF"/>
                    </a:solidFill>
                  </a:tcPr>
                </a:tc>
                <a:tc>
                  <a:txBody>
                    <a:bodyPr/>
                    <a:lstStyle/>
                    <a:p>
                      <a:pPr algn="ctr">
                        <a:defRPr sz="1000">
                          <a:solidFill>
                            <a:srgbClr val="000000"/>
                          </a:solidFill>
                          <a:latin typeface="Montserrat"/>
                        </a:defRPr>
                      </a:pPr>
                      <a:r>
                        <a:t>132,497</a:t>
                      </a:r>
                    </a:p>
                  </a:txBody>
                  <a:tcPr marL="0" marR="0" marT="0" marB="0" anchor="ctr">
                    <a:solidFill>
                      <a:srgbClr val="FFFFFF"/>
                    </a:solidFill>
                  </a:tcPr>
                </a:tc>
                <a:tc>
                  <a:txBody>
                    <a:bodyPr/>
                    <a:lstStyle/>
                    <a:p>
                      <a:pPr algn="ctr">
                        <a:defRPr sz="1000">
                          <a:solidFill>
                            <a:srgbClr val="000000"/>
                          </a:solidFill>
                          <a:latin typeface="Montserrat"/>
                        </a:defRPr>
                      </a:pPr>
                      <a:r>
                        <a:t>5,724</a:t>
                      </a:r>
                    </a:p>
                  </a:txBody>
                  <a:tcPr marL="0" marR="0" marT="0" marB="0" anchor="ctr">
                    <a:solidFill>
                      <a:srgbClr val="FFFFFF"/>
                    </a:solidFill>
                  </a:tcPr>
                </a:tc>
                <a:tc>
                  <a:txBody>
                    <a:bodyPr/>
                    <a:lstStyle/>
                    <a:p>
                      <a:pPr algn="ctr">
                        <a:defRPr sz="1000">
                          <a:solidFill>
                            <a:srgbClr val="000000"/>
                          </a:solidFill>
                          <a:latin typeface="Montserrat"/>
                        </a:defRPr>
                      </a:pPr>
                      <a:r>
                        <a:t>62,336</a:t>
                      </a:r>
                    </a:p>
                  </a:txBody>
                  <a:tcPr marL="0" marR="0" marT="0" marB="0" anchor="ctr">
                    <a:solidFill>
                      <a:srgbClr val="ECD3D9"/>
                    </a:solidFill>
                  </a:tcPr>
                </a:tc>
                <a:tc>
                  <a:txBody>
                    <a:bodyPr/>
                    <a:lstStyle/>
                    <a:p>
                      <a:pPr algn="ctr">
                        <a:defRPr sz="1000">
                          <a:solidFill>
                            <a:srgbClr val="000000"/>
                          </a:solidFill>
                          <a:latin typeface="Montserrat"/>
                        </a:defRPr>
                      </a:pPr>
                      <a:r>
                        <a:t>137,760</a:t>
                      </a:r>
                    </a:p>
                  </a:txBody>
                  <a:tcPr marL="0" marR="0" marT="0" marB="0" anchor="ctr">
                    <a:solidFill>
                      <a:srgbClr val="ECD3D9"/>
                    </a:solidFill>
                  </a:tcPr>
                </a:tc>
                <a:tc>
                  <a:txBody>
                    <a:bodyPr/>
                    <a:lstStyle/>
                    <a:p>
                      <a:pPr algn="ctr">
                        <a:defRPr sz="1000">
                          <a:solidFill>
                            <a:srgbClr val="000000"/>
                          </a:solidFill>
                          <a:latin typeface="Montserrat"/>
                        </a:defRPr>
                      </a:pPr>
                      <a:r>
                        <a:t>45.2%</a:t>
                      </a:r>
                    </a:p>
                  </a:txBody>
                  <a:tcPr marL="0" marR="0" marT="0" marB="0" anchor="ctr">
                    <a:solidFill>
                      <a:srgbClr val="ECD3D9"/>
                    </a:solidFill>
                  </a:tcPr>
                </a:tc>
                <a:extLst>
                  <a:ext uri="{0D108BD9-81ED-4DB2-BD59-A6C34878D82A}">
                    <a16:rowId xmlns:a16="http://schemas.microsoft.com/office/drawing/2014/main" val="10001"/>
                  </a:ext>
                </a:extLst>
              </a:tr>
              <a:tr h="258878">
                <a:tc>
                  <a:txBody>
                    <a:bodyPr/>
                    <a:lstStyle/>
                    <a:p>
                      <a:pPr algn="l">
                        <a:defRPr sz="1000">
                          <a:solidFill>
                            <a:srgbClr val="000000"/>
                          </a:solidFill>
                          <a:latin typeface="Montserrat"/>
                        </a:defRPr>
                      </a:pPr>
                      <a:r>
                        <a:t>UMF 18 Colima</a:t>
                      </a:r>
                    </a:p>
                  </a:txBody>
                  <a:tcPr marL="0" marR="0" marT="0" marB="0" anchor="ctr">
                    <a:solidFill>
                      <a:srgbClr val="EFEFEF"/>
                    </a:solidFill>
                  </a:tcPr>
                </a:tc>
                <a:tc>
                  <a:txBody>
                    <a:bodyPr/>
                    <a:lstStyle/>
                    <a:p>
                      <a:pPr algn="ctr">
                        <a:defRPr sz="1000">
                          <a:solidFill>
                            <a:srgbClr val="000000"/>
                          </a:solidFill>
                          <a:latin typeface="Montserrat"/>
                        </a:defRPr>
                      </a:pPr>
                      <a:r>
                        <a:t>108,706</a:t>
                      </a:r>
                    </a:p>
                  </a:txBody>
                  <a:tcPr marL="0" marR="0" marT="0" marB="0" anchor="ctr">
                    <a:solidFill>
                      <a:srgbClr val="EFEFEF"/>
                    </a:solidFill>
                  </a:tcPr>
                </a:tc>
                <a:tc>
                  <a:txBody>
                    <a:bodyPr/>
                    <a:lstStyle/>
                    <a:p>
                      <a:pPr algn="ctr">
                        <a:defRPr sz="1000">
                          <a:solidFill>
                            <a:srgbClr val="000000"/>
                          </a:solidFill>
                          <a:latin typeface="Montserrat"/>
                        </a:defRPr>
                      </a:pPr>
                      <a:r>
                        <a:t>14,625</a:t>
                      </a:r>
                    </a:p>
                  </a:txBody>
                  <a:tcPr marL="0" marR="0" marT="0" marB="0" anchor="ctr">
                    <a:solidFill>
                      <a:srgbClr val="EFEFEF"/>
                    </a:solidFill>
                  </a:tcPr>
                </a:tc>
                <a:tc>
                  <a:txBody>
                    <a:bodyPr/>
                    <a:lstStyle/>
                    <a:p>
                      <a:pPr algn="ctr">
                        <a:defRPr sz="1000">
                          <a:solidFill>
                            <a:srgbClr val="000000"/>
                          </a:solidFill>
                          <a:latin typeface="Montserrat"/>
                        </a:defRPr>
                      </a:pPr>
                      <a:r>
                        <a:t>50,935</a:t>
                      </a:r>
                    </a:p>
                  </a:txBody>
                  <a:tcPr marL="0" marR="0" marT="0" marB="0" anchor="ctr">
                    <a:solidFill>
                      <a:srgbClr val="ECD3D9"/>
                    </a:solidFill>
                  </a:tcPr>
                </a:tc>
                <a:tc>
                  <a:txBody>
                    <a:bodyPr/>
                    <a:lstStyle/>
                    <a:p>
                      <a:pPr algn="ctr">
                        <a:defRPr sz="1000">
                          <a:solidFill>
                            <a:srgbClr val="000000"/>
                          </a:solidFill>
                          <a:latin typeface="Montserrat"/>
                        </a:defRPr>
                      </a:pPr>
                      <a:r>
                        <a:t>106,000</a:t>
                      </a:r>
                    </a:p>
                  </a:txBody>
                  <a:tcPr marL="0" marR="0" marT="0" marB="0" anchor="ctr">
                    <a:solidFill>
                      <a:srgbClr val="ECD3D9"/>
                    </a:solidFill>
                  </a:tcPr>
                </a:tc>
                <a:tc>
                  <a:txBody>
                    <a:bodyPr/>
                    <a:lstStyle/>
                    <a:p>
                      <a:pPr algn="ctr">
                        <a:defRPr sz="1000">
                          <a:solidFill>
                            <a:srgbClr val="000000"/>
                          </a:solidFill>
                          <a:latin typeface="Montserrat"/>
                        </a:defRPr>
                      </a:pPr>
                      <a:r>
                        <a:t>48.1%</a:t>
                      </a:r>
                    </a:p>
                  </a:txBody>
                  <a:tcPr marL="0" marR="0" marT="0" marB="0" anchor="ctr">
                    <a:solidFill>
                      <a:srgbClr val="ECD3D9"/>
                    </a:solidFill>
                  </a:tcPr>
                </a:tc>
                <a:extLst>
                  <a:ext uri="{0D108BD9-81ED-4DB2-BD59-A6C34878D82A}">
                    <a16:rowId xmlns:a16="http://schemas.microsoft.com/office/drawing/2014/main" val="10002"/>
                  </a:ext>
                </a:extLst>
              </a:tr>
              <a:tr h="258878">
                <a:tc>
                  <a:txBody>
                    <a:bodyPr/>
                    <a:lstStyle/>
                    <a:p>
                      <a:pPr algn="l">
                        <a:defRPr sz="1000">
                          <a:solidFill>
                            <a:srgbClr val="000000"/>
                          </a:solidFill>
                          <a:latin typeface="Montserrat"/>
                        </a:defRPr>
                      </a:pPr>
                      <a:r>
                        <a:t>UMF 19 Colima</a:t>
                      </a:r>
                    </a:p>
                  </a:txBody>
                  <a:tcPr marL="0" marR="0" marT="0" marB="0" anchor="ctr">
                    <a:solidFill>
                      <a:srgbClr val="FFFFFF"/>
                    </a:solidFill>
                  </a:tcPr>
                </a:tc>
                <a:tc>
                  <a:txBody>
                    <a:bodyPr/>
                    <a:lstStyle/>
                    <a:p>
                      <a:pPr algn="ctr">
                        <a:defRPr sz="1000">
                          <a:solidFill>
                            <a:srgbClr val="000000"/>
                          </a:solidFill>
                          <a:latin typeface="Montserrat"/>
                        </a:defRPr>
                      </a:pPr>
                      <a:r>
                        <a:t>160,181</a:t>
                      </a:r>
                    </a:p>
                  </a:txBody>
                  <a:tcPr marL="0" marR="0" marT="0" marB="0" anchor="ctr">
                    <a:solidFill>
                      <a:srgbClr val="FFFFFF"/>
                    </a:solidFill>
                  </a:tcPr>
                </a:tc>
                <a:tc>
                  <a:txBody>
                    <a:bodyPr/>
                    <a:lstStyle/>
                    <a:p>
                      <a:pPr algn="ctr">
                        <a:defRPr sz="1000">
                          <a:solidFill>
                            <a:srgbClr val="000000"/>
                          </a:solidFill>
                          <a:latin typeface="Montserrat"/>
                        </a:defRPr>
                      </a:pPr>
                      <a:r>
                        <a:t>14,554</a:t>
                      </a:r>
                    </a:p>
                  </a:txBody>
                  <a:tcPr marL="0" marR="0" marT="0" marB="0" anchor="ctr">
                    <a:solidFill>
                      <a:srgbClr val="FFFFFF"/>
                    </a:solidFill>
                  </a:tcPr>
                </a:tc>
                <a:tc>
                  <a:txBody>
                    <a:bodyPr/>
                    <a:lstStyle/>
                    <a:p>
                      <a:pPr algn="ctr">
                        <a:defRPr sz="1000">
                          <a:solidFill>
                            <a:srgbClr val="000000"/>
                          </a:solidFill>
                          <a:latin typeface="Montserrat"/>
                        </a:defRPr>
                      </a:pPr>
                      <a:r>
                        <a:t>71,573</a:t>
                      </a:r>
                    </a:p>
                  </a:txBody>
                  <a:tcPr marL="0" marR="0" marT="0" marB="0" anchor="ctr">
                    <a:solidFill>
                      <a:srgbClr val="ECD3D9"/>
                    </a:solidFill>
                  </a:tcPr>
                </a:tc>
                <a:tc>
                  <a:txBody>
                    <a:bodyPr/>
                    <a:lstStyle/>
                    <a:p>
                      <a:pPr algn="ctr">
                        <a:defRPr sz="1000">
                          <a:solidFill>
                            <a:srgbClr val="000000"/>
                          </a:solidFill>
                          <a:latin typeface="Montserrat"/>
                        </a:defRPr>
                      </a:pPr>
                      <a:r>
                        <a:t>156,000</a:t>
                      </a:r>
                    </a:p>
                  </a:txBody>
                  <a:tcPr marL="0" marR="0" marT="0" marB="0" anchor="ctr">
                    <a:solidFill>
                      <a:srgbClr val="ECD3D9"/>
                    </a:solidFill>
                  </a:tcPr>
                </a:tc>
                <a:tc>
                  <a:txBody>
                    <a:bodyPr/>
                    <a:lstStyle/>
                    <a:p>
                      <a:pPr algn="ctr">
                        <a:defRPr sz="1000">
                          <a:solidFill>
                            <a:srgbClr val="000000"/>
                          </a:solidFill>
                          <a:latin typeface="Montserrat"/>
                        </a:defRPr>
                      </a:pPr>
                      <a:r>
                        <a:t>45.9%</a:t>
                      </a:r>
                    </a:p>
                  </a:txBody>
                  <a:tcPr marL="0" marR="0" marT="0" marB="0" anchor="ctr">
                    <a:solidFill>
                      <a:srgbClr val="ECD3D9"/>
                    </a:solidFill>
                  </a:tcPr>
                </a:tc>
                <a:extLst>
                  <a:ext uri="{0D108BD9-81ED-4DB2-BD59-A6C34878D82A}">
                    <a16:rowId xmlns:a16="http://schemas.microsoft.com/office/drawing/2014/main" val="10003"/>
                  </a:ext>
                </a:extLst>
              </a:tr>
              <a:tr h="258878">
                <a:tc>
                  <a:txBody>
                    <a:bodyPr/>
                    <a:lstStyle/>
                    <a:p>
                      <a:pPr algn="ctr">
                        <a:defRPr sz="1000" b="1">
                          <a:solidFill>
                            <a:srgbClr val="006556"/>
                          </a:solidFill>
                          <a:latin typeface="Montserrat"/>
                        </a:defRPr>
                      </a:pPr>
                      <a:r>
                        <a:t>Total</a:t>
                      </a:r>
                    </a:p>
                  </a:txBody>
                  <a:tcPr marL="0" marR="0" marT="0" marB="0" anchor="ctr">
                    <a:solidFill>
                      <a:srgbClr val="D3E9E7"/>
                    </a:solidFill>
                  </a:tcPr>
                </a:tc>
                <a:tc>
                  <a:txBody>
                    <a:bodyPr/>
                    <a:lstStyle/>
                    <a:p>
                      <a:pPr algn="ctr">
                        <a:defRPr sz="1000" b="1">
                          <a:solidFill>
                            <a:srgbClr val="006556"/>
                          </a:solidFill>
                          <a:latin typeface="Montserrat"/>
                        </a:defRPr>
                      </a:pPr>
                      <a:r>
                        <a:t>401,384</a:t>
                      </a:r>
                    </a:p>
                  </a:txBody>
                  <a:tcPr marL="0" marR="0" marT="0" marB="0" anchor="ctr">
                    <a:solidFill>
                      <a:srgbClr val="D3E9E7"/>
                    </a:solidFill>
                  </a:tcPr>
                </a:tc>
                <a:tc>
                  <a:txBody>
                    <a:bodyPr/>
                    <a:lstStyle/>
                    <a:p>
                      <a:pPr algn="ctr">
                        <a:defRPr sz="1000" b="1">
                          <a:solidFill>
                            <a:srgbClr val="006556"/>
                          </a:solidFill>
                          <a:latin typeface="Montserrat"/>
                        </a:defRPr>
                      </a:pPr>
                      <a:r>
                        <a:t>34,903</a:t>
                      </a:r>
                    </a:p>
                  </a:txBody>
                  <a:tcPr marL="0" marR="0" marT="0" marB="0" anchor="ctr">
                    <a:solidFill>
                      <a:srgbClr val="D3E9E7"/>
                    </a:solidFill>
                  </a:tcPr>
                </a:tc>
                <a:tc>
                  <a:txBody>
                    <a:bodyPr/>
                    <a:lstStyle/>
                    <a:p>
                      <a:pPr algn="ctr">
                        <a:defRPr sz="1000" b="1">
                          <a:solidFill>
                            <a:srgbClr val="FFFFFF"/>
                          </a:solidFill>
                          <a:latin typeface="Montserrat"/>
                        </a:defRPr>
                      </a:pPr>
                      <a:r>
                        <a:t>184,844</a:t>
                      </a:r>
                    </a:p>
                  </a:txBody>
                  <a:tcPr marL="0" marR="0" marT="0" marB="0" anchor="ctr">
                    <a:solidFill>
                      <a:srgbClr val="9F2241"/>
                    </a:solidFill>
                  </a:tcPr>
                </a:tc>
                <a:tc>
                  <a:txBody>
                    <a:bodyPr/>
                    <a:lstStyle/>
                    <a:p>
                      <a:pPr algn="ctr">
                        <a:defRPr sz="1000" b="1">
                          <a:solidFill>
                            <a:srgbClr val="FFFFFF"/>
                          </a:solidFill>
                          <a:latin typeface="Montserrat"/>
                        </a:defRPr>
                      </a:pPr>
                      <a:r>
                        <a:t>399,760</a:t>
                      </a:r>
                    </a:p>
                  </a:txBody>
                  <a:tcPr marL="0" marR="0" marT="0" marB="0" anchor="ctr">
                    <a:solidFill>
                      <a:srgbClr val="9F2241"/>
                    </a:solidFill>
                  </a:tcPr>
                </a:tc>
                <a:tc>
                  <a:txBody>
                    <a:bodyPr/>
                    <a:lstStyle/>
                    <a:p>
                      <a:pPr algn="ctr">
                        <a:defRPr sz="1000" b="1">
                          <a:solidFill>
                            <a:srgbClr val="FFFFFF"/>
                          </a:solidFill>
                          <a:latin typeface="Montserrat"/>
                        </a:defRPr>
                      </a:pPr>
                      <a:r>
                        <a:t>46.2%</a:t>
                      </a:r>
                    </a:p>
                  </a:txBody>
                  <a:tcPr marL="0" marR="0" marT="0" marB="0" anchor="ctr">
                    <a:solidFill>
                      <a:srgbClr val="9F2241"/>
                    </a:solidFill>
                  </a:tcPr>
                </a:tc>
                <a:extLst>
                  <a:ext uri="{0D108BD9-81ED-4DB2-BD59-A6C34878D82A}">
                    <a16:rowId xmlns:a16="http://schemas.microsoft.com/office/drawing/2014/main" val="10004"/>
                  </a:ext>
                </a:extLst>
              </a:tr>
            </a:tbl>
          </a:graphicData>
        </a:graphic>
      </p:graphicFrame>
      <p:graphicFrame>
        <p:nvGraphicFramePr>
          <p:cNvPr id="149" name="Chart 148"/>
          <p:cNvGraphicFramePr>
            <a:graphicFrameLocks noGrp="1"/>
          </p:cNvGraphicFramePr>
          <p:nvPr>
            <p:extLst>
              <p:ext uri="{D42A27DB-BD31-4B8C-83A1-F6EECF244321}">
                <p14:modId xmlns:p14="http://schemas.microsoft.com/office/powerpoint/2010/main" val="3499083305"/>
              </p:ext>
            </p:extLst>
          </p:nvPr>
        </p:nvGraphicFramePr>
        <p:xfrm>
          <a:off x="147600" y="4650699"/>
          <a:ext cx="1792800" cy="1999907"/>
        </p:xfrm>
        <a:graphic>
          <a:graphicData uri="http://schemas.openxmlformats.org/drawingml/2006/chart">
            <c:chart xmlns:c="http://schemas.openxmlformats.org/drawingml/2006/chart" xmlns:r="http://schemas.openxmlformats.org/officeDocument/2006/relationships" r:id="rId4"/>
          </a:graphicData>
        </a:graphic>
      </p:graphicFrame>
      <p:sp>
        <p:nvSpPr>
          <p:cNvPr id="150" name="TextBox 149"/>
          <p:cNvSpPr txBox="1"/>
          <p:nvPr/>
        </p:nvSpPr>
        <p:spPr>
          <a:xfrm>
            <a:off x="505202" y="5536225"/>
            <a:ext cx="1070900" cy="461665"/>
          </a:xfrm>
          <a:prstGeom prst="rect">
            <a:avLst/>
          </a:prstGeom>
          <a:noFill/>
        </p:spPr>
        <p:txBody>
          <a:bodyPr wrap="square">
            <a:spAutoFit/>
          </a:bodyPr>
          <a:lstStyle/>
          <a:p>
            <a:pPr algn="ctr"/>
            <a:r>
              <a:rPr sz="2400" b="1">
                <a:solidFill>
                  <a:srgbClr val="9F2241"/>
                </a:solidFill>
                <a:latin typeface="Montserrat"/>
              </a:rPr>
              <a:t>19%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698348030"/>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Consultas de especialidad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rPr err="1"/>
              <a:t>Productividad</a:t>
            </a:r>
            <a:r>
              <a:t> de </a:t>
            </a:r>
            <a:r>
              <a:rPr err="1"/>
              <a:t>consultas</a:t>
            </a:r>
            <a:r>
              <a:t> de </a:t>
            </a:r>
            <a:r>
              <a:rPr err="1"/>
              <a:t>especialidad</a:t>
            </a:r>
            <a:r>
              <a:t> 2025-2026</a:t>
            </a:r>
          </a:p>
        </p:txBody>
      </p:sp>
      <p:sp>
        <p:nvSpPr>
          <p:cNvPr id="235" name="TextBox 234"/>
          <p:cNvSpPr txBox="1"/>
          <p:nvPr/>
        </p:nvSpPr>
        <p:spPr>
          <a:xfrm>
            <a:off x="147600" y="9572400"/>
            <a:ext cx="7473600" cy="399600"/>
          </a:xfrm>
          <a:prstGeom prst="rect">
            <a:avLst/>
          </a:prstGeom>
          <a:noFill/>
        </p:spPr>
        <p:txBody>
          <a:bodyPr wrap="square" lIns="0" tIns="0" rIns="0" bIns="0">
            <a:spAutoFit/>
          </a:bodyPr>
          <a:lstStyle/>
          <a:p>
            <a:pPr algn="l">
              <a:defRPr sz="800">
                <a:solidFill>
                  <a:srgbClr val="FFFFFF"/>
                </a:solidFill>
                <a:latin typeface="Montserrat"/>
              </a:defRPr>
            </a:pPr>
            <a:r>
              <a:t>No incluye la productividad de especialidad generada en UMF ni en HR. En el año 2025 no incluye información de HR y UMR.</a:t>
            </a:r>
            <a:br/>
            <a:r>
              <a:t>El año de proceso inicia del 26 de diciembre del año anterior al 25 de diciembre del año en curso:2025 (del 26 de dic de 2024 al 25 de dic de 2025). Corte de información: Semana: 24, 7 junio 2026</a:t>
            </a:r>
          </a:p>
        </p:txBody>
      </p:sp>
      <p:graphicFrame>
        <p:nvGraphicFramePr>
          <p:cNvPr id="236" name="Table 235"/>
          <p:cNvGraphicFramePr>
            <a:graphicFrameLocks noGrp="1"/>
          </p:cNvGraphicFramePr>
          <p:nvPr>
            <p:extLst>
              <p:ext uri="{D42A27DB-BD31-4B8C-83A1-F6EECF244321}">
                <p14:modId xmlns:p14="http://schemas.microsoft.com/office/powerpoint/2010/main" val="3592564623"/>
              </p:ext>
            </p:extLst>
          </p:nvPr>
        </p:nvGraphicFramePr>
        <p:xfrm>
          <a:off x="144000" y="1494000"/>
          <a:ext cx="7340399" cy="1503360"/>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284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284400">
                <a:tc>
                  <a:txBody>
                    <a:bodyPr/>
                    <a:lstStyle/>
                    <a:p>
                      <a:pPr algn="l">
                        <a:defRPr sz="1000">
                          <a:latin typeface="Montserrat"/>
                        </a:defRPr>
                      </a:pPr>
                      <a:r>
                        <a:t>HGZ 1 Villa de Álvarez</a:t>
                      </a:r>
                    </a:p>
                  </a:txBody>
                  <a:tcPr>
                    <a:solidFill>
                      <a:srgbClr val="FFFFFF"/>
                    </a:solidFill>
                  </a:tcPr>
                </a:tc>
                <a:tc>
                  <a:txBody>
                    <a:bodyPr/>
                    <a:lstStyle/>
                    <a:p>
                      <a:pPr algn="ctr">
                        <a:defRPr sz="1000">
                          <a:latin typeface="Montserrat"/>
                        </a:defRPr>
                      </a:pPr>
                      <a:r>
                        <a:t>198,174</a:t>
                      </a:r>
                    </a:p>
                  </a:txBody>
                  <a:tcPr>
                    <a:solidFill>
                      <a:srgbClr val="FFFFFF"/>
                    </a:solidFill>
                  </a:tcPr>
                </a:tc>
                <a:tc>
                  <a:txBody>
                    <a:bodyPr/>
                    <a:lstStyle/>
                    <a:p>
                      <a:pPr algn="ctr">
                        <a:defRPr sz="1000">
                          <a:latin typeface="Montserrat"/>
                        </a:defRPr>
                      </a:pPr>
                      <a:r>
                        <a:t>31,878</a:t>
                      </a:r>
                    </a:p>
                  </a:txBody>
                  <a:tcPr>
                    <a:solidFill>
                      <a:srgbClr val="FFFFFF"/>
                    </a:solidFill>
                  </a:tcPr>
                </a:tc>
                <a:tc>
                  <a:txBody>
                    <a:bodyPr/>
                    <a:lstStyle/>
                    <a:p>
                      <a:pPr algn="ctr">
                        <a:defRPr sz="1000">
                          <a:latin typeface="Montserrat"/>
                        </a:defRPr>
                      </a:pPr>
                      <a:r>
                        <a:t>90,101</a:t>
                      </a:r>
                    </a:p>
                  </a:txBody>
                  <a:tcPr>
                    <a:solidFill>
                      <a:srgbClr val="ECD3D9"/>
                    </a:solidFill>
                  </a:tcPr>
                </a:tc>
                <a:tc>
                  <a:txBody>
                    <a:bodyPr/>
                    <a:lstStyle/>
                    <a:p>
                      <a:pPr algn="ctr">
                        <a:defRPr sz="1000">
                          <a:latin typeface="Montserrat"/>
                        </a:defRPr>
                      </a:pPr>
                      <a:r>
                        <a:t>203,670</a:t>
                      </a:r>
                    </a:p>
                  </a:txBody>
                  <a:tcPr>
                    <a:solidFill>
                      <a:srgbClr val="ECD3D9"/>
                    </a:solidFill>
                  </a:tcPr>
                </a:tc>
                <a:tc>
                  <a:txBody>
                    <a:bodyPr/>
                    <a:lstStyle/>
                    <a:p>
                      <a:pPr algn="ctr">
                        <a:defRPr sz="1000">
                          <a:latin typeface="Montserrat"/>
                        </a:defRPr>
                      </a:pPr>
                      <a:r>
                        <a:t>44.2%</a:t>
                      </a:r>
                    </a:p>
                  </a:txBody>
                  <a:tcPr>
                    <a:solidFill>
                      <a:srgbClr val="ECD3D9"/>
                    </a:solidFill>
                  </a:tcPr>
                </a:tc>
                <a:extLst>
                  <a:ext uri="{0D108BD9-81ED-4DB2-BD59-A6C34878D82A}">
                    <a16:rowId xmlns:a16="http://schemas.microsoft.com/office/drawing/2014/main" val="10001"/>
                  </a:ext>
                </a:extLst>
              </a:tr>
              <a:tr h="284400">
                <a:tc>
                  <a:txBody>
                    <a:bodyPr/>
                    <a:lstStyle/>
                    <a:p>
                      <a:pPr algn="l">
                        <a:defRPr sz="1000">
                          <a:latin typeface="Montserrat"/>
                        </a:defRPr>
                      </a:pPr>
                      <a:r>
                        <a:t>HGZ 10 Manzanillo</a:t>
                      </a:r>
                    </a:p>
                  </a:txBody>
                  <a:tcPr>
                    <a:solidFill>
                      <a:srgbClr val="EFEFEF"/>
                    </a:solidFill>
                  </a:tcPr>
                </a:tc>
                <a:tc>
                  <a:txBody>
                    <a:bodyPr/>
                    <a:lstStyle/>
                    <a:p>
                      <a:pPr algn="ctr">
                        <a:defRPr sz="1000">
                          <a:latin typeface="Montserrat"/>
                        </a:defRPr>
                      </a:pPr>
                      <a:r>
                        <a:t>56,147</a:t>
                      </a:r>
                    </a:p>
                  </a:txBody>
                  <a:tcPr>
                    <a:solidFill>
                      <a:srgbClr val="EFEFEF"/>
                    </a:solidFill>
                  </a:tcPr>
                </a:tc>
                <a:tc>
                  <a:txBody>
                    <a:bodyPr/>
                    <a:lstStyle/>
                    <a:p>
                      <a:pPr algn="ctr">
                        <a:defRPr sz="1000">
                          <a:latin typeface="Montserrat"/>
                        </a:defRPr>
                      </a:pPr>
                      <a:r>
                        <a:t>15,143</a:t>
                      </a:r>
                    </a:p>
                  </a:txBody>
                  <a:tcPr>
                    <a:solidFill>
                      <a:srgbClr val="EFEFEF"/>
                    </a:solidFill>
                  </a:tcPr>
                </a:tc>
                <a:tc>
                  <a:txBody>
                    <a:bodyPr/>
                    <a:lstStyle/>
                    <a:p>
                      <a:pPr algn="ctr">
                        <a:defRPr sz="1000">
                          <a:latin typeface="Montserrat"/>
                        </a:defRPr>
                      </a:pPr>
                      <a:r>
                        <a:t>30,415</a:t>
                      </a:r>
                    </a:p>
                  </a:txBody>
                  <a:tcPr>
                    <a:solidFill>
                      <a:srgbClr val="ECD3D9"/>
                    </a:solidFill>
                  </a:tcPr>
                </a:tc>
                <a:tc>
                  <a:txBody>
                    <a:bodyPr/>
                    <a:lstStyle/>
                    <a:p>
                      <a:pPr algn="ctr">
                        <a:defRPr sz="1000">
                          <a:latin typeface="Montserrat"/>
                        </a:defRPr>
                      </a:pPr>
                      <a:r>
                        <a:t>74,460</a:t>
                      </a:r>
                    </a:p>
                  </a:txBody>
                  <a:tcPr>
                    <a:solidFill>
                      <a:srgbClr val="ECD3D9"/>
                    </a:solidFill>
                  </a:tcPr>
                </a:tc>
                <a:tc>
                  <a:txBody>
                    <a:bodyPr/>
                    <a:lstStyle/>
                    <a:p>
                      <a:pPr algn="ctr">
                        <a:defRPr sz="1000">
                          <a:latin typeface="Montserrat"/>
                        </a:defRPr>
                      </a:pPr>
                      <a:r>
                        <a:t>40.9%</a:t>
                      </a:r>
                    </a:p>
                  </a:txBody>
                  <a:tcPr>
                    <a:solidFill>
                      <a:srgbClr val="ECD3D9"/>
                    </a:solidFill>
                  </a:tcPr>
                </a:tc>
                <a:extLst>
                  <a:ext uri="{0D108BD9-81ED-4DB2-BD59-A6C34878D82A}">
                    <a16:rowId xmlns:a16="http://schemas.microsoft.com/office/drawing/2014/main" val="10002"/>
                  </a:ext>
                </a:extLst>
              </a:tr>
              <a:tr h="284400">
                <a:tc>
                  <a:txBody>
                    <a:bodyPr/>
                    <a:lstStyle/>
                    <a:p>
                      <a:pPr algn="l">
                        <a:defRPr sz="1000">
                          <a:latin typeface="Montserrat"/>
                        </a:defRPr>
                      </a:pPr>
                      <a:r>
                        <a:t>HGSMF 4 Tecomán</a:t>
                      </a:r>
                    </a:p>
                  </a:txBody>
                  <a:tcPr>
                    <a:solidFill>
                      <a:srgbClr val="FFFFFF"/>
                    </a:solidFill>
                  </a:tcPr>
                </a:tc>
                <a:tc>
                  <a:txBody>
                    <a:bodyPr/>
                    <a:lstStyle/>
                    <a:p>
                      <a:pPr algn="ctr">
                        <a:defRPr sz="1000">
                          <a:latin typeface="Montserrat"/>
                        </a:defRPr>
                      </a:pPr>
                      <a:r>
                        <a:t>12,698</a:t>
                      </a:r>
                    </a:p>
                  </a:txBody>
                  <a:tcPr>
                    <a:solidFill>
                      <a:srgbClr val="FFFFFF"/>
                    </a:solidFill>
                  </a:tcPr>
                </a:tc>
                <a:tc>
                  <a:txBody>
                    <a:bodyPr/>
                    <a:lstStyle/>
                    <a:p>
                      <a:pPr algn="ctr">
                        <a:defRPr sz="1000">
                          <a:latin typeface="Montserrat"/>
                        </a:defRPr>
                      </a:pPr>
                      <a:r>
                        <a:t>3,301</a:t>
                      </a:r>
                    </a:p>
                  </a:txBody>
                  <a:tcPr>
                    <a:solidFill>
                      <a:srgbClr val="FFFFFF"/>
                    </a:solidFill>
                  </a:tcPr>
                </a:tc>
                <a:tc>
                  <a:txBody>
                    <a:bodyPr/>
                    <a:lstStyle/>
                    <a:p>
                      <a:pPr algn="ctr">
                        <a:defRPr sz="1000">
                          <a:latin typeface="Montserrat"/>
                        </a:defRPr>
                      </a:pPr>
                      <a:r>
                        <a:t>6,396</a:t>
                      </a:r>
                    </a:p>
                  </a:txBody>
                  <a:tcPr>
                    <a:solidFill>
                      <a:srgbClr val="ECD3D9"/>
                    </a:solidFill>
                  </a:tcPr>
                </a:tc>
                <a:tc>
                  <a:txBody>
                    <a:bodyPr/>
                    <a:lstStyle/>
                    <a:p>
                      <a:pPr algn="ctr">
                        <a:defRPr sz="1000">
                          <a:latin typeface="Montserrat"/>
                        </a:defRPr>
                      </a:pPr>
                      <a:r>
                        <a:t>23,360</a:t>
                      </a:r>
                    </a:p>
                  </a:txBody>
                  <a:tcPr>
                    <a:solidFill>
                      <a:srgbClr val="ECD3D9"/>
                    </a:solidFill>
                  </a:tcPr>
                </a:tc>
                <a:tc>
                  <a:txBody>
                    <a:bodyPr/>
                    <a:lstStyle/>
                    <a:p>
                      <a:pPr algn="ctr">
                        <a:defRPr sz="1000">
                          <a:latin typeface="Montserrat"/>
                        </a:defRPr>
                      </a:pPr>
                      <a:r>
                        <a:t>27.4%</a:t>
                      </a:r>
                    </a:p>
                  </a:txBody>
                  <a:tcPr>
                    <a:solidFill>
                      <a:srgbClr val="ECD3D9"/>
                    </a:solidFill>
                  </a:tcPr>
                </a:tc>
                <a:extLst>
                  <a:ext uri="{0D108BD9-81ED-4DB2-BD59-A6C34878D82A}">
                    <a16:rowId xmlns:a16="http://schemas.microsoft.com/office/drawing/2014/main" val="10003"/>
                  </a:ext>
                </a:extLst>
              </a:tr>
              <a:tr h="2844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267,019</a:t>
                      </a:r>
                    </a:p>
                  </a:txBody>
                  <a:tcPr>
                    <a:solidFill>
                      <a:srgbClr val="D3E9E7"/>
                    </a:solidFill>
                  </a:tcPr>
                </a:tc>
                <a:tc>
                  <a:txBody>
                    <a:bodyPr/>
                    <a:lstStyle/>
                    <a:p>
                      <a:pPr algn="ctr">
                        <a:defRPr sz="1000" b="1">
                          <a:solidFill>
                            <a:srgbClr val="006556"/>
                          </a:solidFill>
                          <a:latin typeface="Montserrat"/>
                        </a:defRPr>
                      </a:pPr>
                      <a:r>
                        <a:t>50,322</a:t>
                      </a:r>
                    </a:p>
                  </a:txBody>
                  <a:tcPr>
                    <a:solidFill>
                      <a:srgbClr val="D3E9E7"/>
                    </a:solidFill>
                  </a:tcPr>
                </a:tc>
                <a:tc>
                  <a:txBody>
                    <a:bodyPr/>
                    <a:lstStyle/>
                    <a:p>
                      <a:pPr algn="ctr">
                        <a:defRPr sz="1000" b="1">
                          <a:solidFill>
                            <a:srgbClr val="FFFFFF"/>
                          </a:solidFill>
                          <a:latin typeface="Montserrat"/>
                        </a:defRPr>
                      </a:pPr>
                      <a:r>
                        <a:t>126,912</a:t>
                      </a:r>
                    </a:p>
                  </a:txBody>
                  <a:tcPr>
                    <a:solidFill>
                      <a:srgbClr val="9F2241"/>
                    </a:solidFill>
                  </a:tcPr>
                </a:tc>
                <a:tc>
                  <a:txBody>
                    <a:bodyPr/>
                    <a:lstStyle/>
                    <a:p>
                      <a:pPr algn="ctr">
                        <a:defRPr sz="1000" b="1">
                          <a:solidFill>
                            <a:srgbClr val="FFFFFF"/>
                          </a:solidFill>
                          <a:latin typeface="Montserrat"/>
                        </a:defRPr>
                      </a:pPr>
                      <a:r>
                        <a:t>301,490</a:t>
                      </a:r>
                    </a:p>
                  </a:txBody>
                  <a:tcPr>
                    <a:solidFill>
                      <a:srgbClr val="9F2241"/>
                    </a:solidFill>
                  </a:tcPr>
                </a:tc>
                <a:tc>
                  <a:txBody>
                    <a:bodyPr/>
                    <a:lstStyle/>
                    <a:p>
                      <a:pPr algn="ctr">
                        <a:defRPr sz="1000" b="1">
                          <a:solidFill>
                            <a:srgbClr val="FFFFFF"/>
                          </a:solidFill>
                          <a:latin typeface="Montserrat"/>
                        </a:defRPr>
                      </a:pPr>
                      <a:r>
                        <a:t>42.1%</a:t>
                      </a:r>
                    </a:p>
                  </a:txBody>
                  <a:tcPr>
                    <a:solidFill>
                      <a:srgbClr val="9F2241"/>
                    </a:solidFill>
                  </a:tcPr>
                </a:tc>
                <a:extLst>
                  <a:ext uri="{0D108BD9-81ED-4DB2-BD59-A6C34878D82A}">
                    <a16:rowId xmlns:a16="http://schemas.microsoft.com/office/drawing/2014/main" val="10004"/>
                  </a:ext>
                </a:extLst>
              </a:tr>
            </a:tbl>
          </a:graphicData>
        </a:graphic>
      </p:graphicFrame>
      <p:graphicFrame>
        <p:nvGraphicFramePr>
          <p:cNvPr id="237" name="Chart 236"/>
          <p:cNvGraphicFramePr>
            <a:graphicFrameLocks noGrp="1"/>
          </p:cNvGraphicFramePr>
          <p:nvPr/>
        </p:nvGraphicFramePr>
        <p:xfrm>
          <a:off x="4780800" y="3654000"/>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238" name="TextBox 237"/>
          <p:cNvSpPr txBox="1"/>
          <p:nvPr/>
        </p:nvSpPr>
        <p:spPr>
          <a:xfrm>
            <a:off x="4780800" y="4374000"/>
            <a:ext cx="1800000" cy="360000"/>
          </a:xfrm>
          <a:prstGeom prst="rect">
            <a:avLst/>
          </a:prstGeom>
          <a:noFill/>
        </p:spPr>
        <p:txBody>
          <a:bodyPr wrap="none">
            <a:spAutoFit/>
          </a:bodyPr>
          <a:lstStyle/>
          <a:p>
            <a:pPr algn="ctr"/>
            <a:r>
              <a:rPr sz="2400" b="1">
                <a:solidFill>
                  <a:srgbClr val="9F2241"/>
                </a:solidFill>
                <a:latin typeface="Montserrat"/>
              </a:rPr>
              <a:t>42.1%</a:t>
            </a:r>
          </a:p>
        </p:txBody>
      </p:sp>
      <p:sp>
        <p:nvSpPr>
          <p:cNvPr id="239" name="TextBox 238"/>
          <p:cNvSpPr txBox="1"/>
          <p:nvPr/>
        </p:nvSpPr>
        <p:spPr>
          <a:xfrm>
            <a:off x="4780800" y="5274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3654000"/>
            <a:ext cx="2854800" cy="1198800"/>
          </a:xfrm>
          <a:prstGeom prst="rect">
            <a:avLst/>
          </a:prstGeom>
          <a:noFill/>
        </p:spPr>
        <p:txBody>
          <a:bodyPr wrap="square">
            <a:spAutoFit/>
          </a:bodyPr>
          <a:lstStyle/>
          <a:p>
            <a:pPr algn="ctr">
              <a:defRPr sz="3600" b="1">
                <a:solidFill>
                  <a:srgbClr val="9F2241"/>
                </a:solidFill>
                <a:latin typeface="Montserrat"/>
              </a:defRPr>
            </a:pPr>
            <a:r>
              <a:t>301,490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2365983938"/>
              </p:ext>
            </p:extLst>
          </p:nvPr>
        </p:nvGraphicFramePr>
        <p:xfrm>
          <a:off x="143502" y="653383"/>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Cirugías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sp>
        <p:nvSpPr>
          <p:cNvPr id="232" name="TextBox 231"/>
          <p:cNvSpPr txBox="1"/>
          <p:nvPr/>
        </p:nvSpPr>
        <p:spPr>
          <a:xfrm>
            <a:off x="147600" y="9561600"/>
            <a:ext cx="7473600" cy="399600"/>
          </a:xfrm>
          <a:prstGeom prst="rect">
            <a:avLst/>
          </a:prstGeom>
          <a:noFill/>
        </p:spPr>
        <p:txBody>
          <a:bodyPr wrap="square" lIns="0" tIns="0" rIns="0" bIns="0">
            <a:spAutoFit/>
          </a:bodyPr>
          <a:lstStyle/>
          <a:p>
            <a:pPr algn="l">
              <a:defRPr sz="800">
                <a:solidFill>
                  <a:srgbClr val="FFFFFF"/>
                </a:solidFill>
                <a:latin typeface="Montserrat"/>
              </a:defRPr>
            </a:pPr>
            <a:r>
              <a:t>No incluye las cirugías realizadas en HR.</a:t>
            </a:r>
            <a:br/>
            <a:r>
              <a:t>Sólo se consideran cirugías principales.</a:t>
            </a:r>
            <a:br/>
            <a:r>
              <a:t>Corte de información: Semana: 24, 7 junio 2026</a:t>
            </a:r>
          </a:p>
        </p:txBody>
      </p:sp>
      <p:graphicFrame>
        <p:nvGraphicFramePr>
          <p:cNvPr id="233" name="Table 232"/>
          <p:cNvGraphicFramePr>
            <a:graphicFrameLocks noGrp="1"/>
          </p:cNvGraphicFramePr>
          <p:nvPr>
            <p:extLst>
              <p:ext uri="{D42A27DB-BD31-4B8C-83A1-F6EECF244321}">
                <p14:modId xmlns:p14="http://schemas.microsoft.com/office/powerpoint/2010/main" val="3074892575"/>
              </p:ext>
            </p:extLst>
          </p:nvPr>
        </p:nvGraphicFramePr>
        <p:xfrm>
          <a:off x="236988" y="1478567"/>
          <a:ext cx="7340399" cy="1879993"/>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457393">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355650">
                <a:tc>
                  <a:txBody>
                    <a:bodyPr/>
                    <a:lstStyle/>
                    <a:p>
                      <a:pPr algn="l">
                        <a:defRPr sz="1000">
                          <a:latin typeface="Montserrat"/>
                        </a:defRPr>
                      </a:pPr>
                      <a:r>
                        <a:t>HGSMF 4 Tecomán</a:t>
                      </a:r>
                    </a:p>
                  </a:txBody>
                  <a:tcPr anchor="ctr">
                    <a:solidFill>
                      <a:srgbClr val="FFFFFF"/>
                    </a:solidFill>
                  </a:tcPr>
                </a:tc>
                <a:tc>
                  <a:txBody>
                    <a:bodyPr/>
                    <a:lstStyle/>
                    <a:p>
                      <a:pPr algn="ctr">
                        <a:defRPr sz="1000">
                          <a:latin typeface="Montserrat"/>
                        </a:defRPr>
                      </a:pPr>
                      <a:r>
                        <a:t>573</a:t>
                      </a:r>
                    </a:p>
                  </a:txBody>
                  <a:tcPr anchor="ctr">
                    <a:solidFill>
                      <a:srgbClr val="FFFFFF"/>
                    </a:solidFill>
                  </a:tcPr>
                </a:tc>
                <a:tc>
                  <a:txBody>
                    <a:bodyPr/>
                    <a:lstStyle/>
                    <a:p>
                      <a:pPr algn="ctr">
                        <a:defRPr sz="1000">
                          <a:latin typeface="Montserrat"/>
                        </a:defRPr>
                      </a:pPr>
                      <a:r>
                        <a:t>573</a:t>
                      </a:r>
                    </a:p>
                  </a:txBody>
                  <a:tcPr anchor="ctr">
                    <a:solidFill>
                      <a:srgbClr val="FFFFFF"/>
                    </a:solidFill>
                  </a:tcPr>
                </a:tc>
                <a:tc>
                  <a:txBody>
                    <a:bodyPr/>
                    <a:lstStyle/>
                    <a:p>
                      <a:pPr algn="ctr">
                        <a:defRPr sz="1000">
                          <a:latin typeface="Montserrat"/>
                        </a:defRPr>
                      </a:pPr>
                      <a:r>
                        <a:t>334</a:t>
                      </a:r>
                    </a:p>
                  </a:txBody>
                  <a:tcPr anchor="ctr">
                    <a:solidFill>
                      <a:srgbClr val="ECD3D9"/>
                    </a:solidFill>
                  </a:tcPr>
                </a:tc>
                <a:tc>
                  <a:txBody>
                    <a:bodyPr/>
                    <a:lstStyle/>
                    <a:p>
                      <a:pPr algn="ctr">
                        <a:defRPr sz="1000">
                          <a:latin typeface="Montserrat"/>
                        </a:defRPr>
                      </a:pPr>
                      <a:r>
                        <a:t>783</a:t>
                      </a:r>
                    </a:p>
                  </a:txBody>
                  <a:tcPr anchor="ctr">
                    <a:solidFill>
                      <a:srgbClr val="ECD3D9"/>
                    </a:solidFill>
                  </a:tcPr>
                </a:tc>
                <a:tc>
                  <a:txBody>
                    <a:bodyPr/>
                    <a:lstStyle/>
                    <a:p>
                      <a:pPr algn="ctr">
                        <a:defRPr sz="1000">
                          <a:latin typeface="Montserrat"/>
                        </a:defRPr>
                      </a:pPr>
                      <a:r>
                        <a:t>42.7%</a:t>
                      </a:r>
                    </a:p>
                  </a:txBody>
                  <a:tcPr anchor="ctr">
                    <a:solidFill>
                      <a:srgbClr val="ECD3D9"/>
                    </a:solidFill>
                  </a:tcPr>
                </a:tc>
                <a:extLst>
                  <a:ext uri="{0D108BD9-81ED-4DB2-BD59-A6C34878D82A}">
                    <a16:rowId xmlns:a16="http://schemas.microsoft.com/office/drawing/2014/main" val="10001"/>
                  </a:ext>
                </a:extLst>
              </a:tr>
              <a:tr h="355650">
                <a:tc>
                  <a:txBody>
                    <a:bodyPr/>
                    <a:lstStyle/>
                    <a:p>
                      <a:pPr algn="l">
                        <a:defRPr sz="1000">
                          <a:latin typeface="Montserrat"/>
                        </a:defRPr>
                      </a:pPr>
                      <a:r>
                        <a:t>HGZ 1 Villa de Álvarez</a:t>
                      </a:r>
                    </a:p>
                  </a:txBody>
                  <a:tcPr anchor="ctr">
                    <a:solidFill>
                      <a:srgbClr val="EFEFEF"/>
                    </a:solidFill>
                  </a:tcPr>
                </a:tc>
                <a:tc>
                  <a:txBody>
                    <a:bodyPr/>
                    <a:lstStyle/>
                    <a:p>
                      <a:pPr algn="ctr">
                        <a:defRPr sz="1000">
                          <a:latin typeface="Montserrat"/>
                        </a:defRPr>
                      </a:pPr>
                      <a:r>
                        <a:t>7,996</a:t>
                      </a:r>
                    </a:p>
                  </a:txBody>
                  <a:tcPr anchor="ctr">
                    <a:solidFill>
                      <a:srgbClr val="EFEFEF"/>
                    </a:solidFill>
                  </a:tcPr>
                </a:tc>
                <a:tc>
                  <a:txBody>
                    <a:bodyPr/>
                    <a:lstStyle/>
                    <a:p>
                      <a:pPr algn="ctr">
                        <a:defRPr sz="1000">
                          <a:latin typeface="Montserrat"/>
                        </a:defRPr>
                      </a:pPr>
                      <a:r>
                        <a:t>-127</a:t>
                      </a:r>
                    </a:p>
                  </a:txBody>
                  <a:tcPr anchor="ctr">
                    <a:solidFill>
                      <a:srgbClr val="EFEFEF"/>
                    </a:solidFill>
                  </a:tcPr>
                </a:tc>
                <a:tc>
                  <a:txBody>
                    <a:bodyPr/>
                    <a:lstStyle/>
                    <a:p>
                      <a:pPr algn="ctr">
                        <a:defRPr sz="1000">
                          <a:latin typeface="Montserrat"/>
                        </a:defRPr>
                      </a:pPr>
                      <a:r>
                        <a:t>3,518</a:t>
                      </a:r>
                    </a:p>
                  </a:txBody>
                  <a:tcPr anchor="ctr">
                    <a:solidFill>
                      <a:srgbClr val="ECD3D9"/>
                    </a:solidFill>
                  </a:tcPr>
                </a:tc>
                <a:tc>
                  <a:txBody>
                    <a:bodyPr/>
                    <a:lstStyle/>
                    <a:p>
                      <a:pPr algn="ctr">
                        <a:defRPr sz="1000">
                          <a:latin typeface="Montserrat"/>
                        </a:defRPr>
                      </a:pPr>
                      <a:r>
                        <a:t>9,149</a:t>
                      </a:r>
                    </a:p>
                  </a:txBody>
                  <a:tcPr anchor="ctr">
                    <a:solidFill>
                      <a:srgbClr val="ECD3D9"/>
                    </a:solidFill>
                  </a:tcPr>
                </a:tc>
                <a:tc>
                  <a:txBody>
                    <a:bodyPr/>
                    <a:lstStyle/>
                    <a:p>
                      <a:pPr algn="ctr">
                        <a:defRPr sz="1000">
                          <a:latin typeface="Montserrat"/>
                        </a:defRPr>
                      </a:pPr>
                      <a:r>
                        <a:t>38.5%</a:t>
                      </a:r>
                    </a:p>
                  </a:txBody>
                  <a:tcPr anchor="ctr">
                    <a:solidFill>
                      <a:srgbClr val="ECD3D9"/>
                    </a:solidFill>
                  </a:tcPr>
                </a:tc>
                <a:extLst>
                  <a:ext uri="{0D108BD9-81ED-4DB2-BD59-A6C34878D82A}">
                    <a16:rowId xmlns:a16="http://schemas.microsoft.com/office/drawing/2014/main" val="10002"/>
                  </a:ext>
                </a:extLst>
              </a:tr>
              <a:tr h="355650">
                <a:tc>
                  <a:txBody>
                    <a:bodyPr/>
                    <a:lstStyle/>
                    <a:p>
                      <a:pPr algn="l">
                        <a:defRPr sz="1000">
                          <a:latin typeface="Montserrat"/>
                        </a:defRPr>
                      </a:pPr>
                      <a:r>
                        <a:t>HGZ 10 Manzanillo</a:t>
                      </a:r>
                    </a:p>
                  </a:txBody>
                  <a:tcPr anchor="ctr">
                    <a:solidFill>
                      <a:srgbClr val="FFFFFF"/>
                    </a:solidFill>
                  </a:tcPr>
                </a:tc>
                <a:tc>
                  <a:txBody>
                    <a:bodyPr/>
                    <a:lstStyle/>
                    <a:p>
                      <a:pPr algn="ctr">
                        <a:defRPr sz="1000">
                          <a:latin typeface="Montserrat"/>
                        </a:defRPr>
                      </a:pPr>
                      <a:r>
                        <a:t>3,394</a:t>
                      </a:r>
                    </a:p>
                  </a:txBody>
                  <a:tcPr anchor="ctr">
                    <a:solidFill>
                      <a:srgbClr val="FFFFFF"/>
                    </a:solidFill>
                  </a:tcPr>
                </a:tc>
                <a:tc>
                  <a:txBody>
                    <a:bodyPr/>
                    <a:lstStyle/>
                    <a:p>
                      <a:pPr algn="ctr">
                        <a:defRPr sz="1000">
                          <a:latin typeface="Montserrat"/>
                        </a:defRPr>
                      </a:pPr>
                      <a:r>
                        <a:t>303</a:t>
                      </a:r>
                    </a:p>
                  </a:txBody>
                  <a:tcPr anchor="ctr">
                    <a:solidFill>
                      <a:srgbClr val="FFFFFF"/>
                    </a:solidFill>
                  </a:tcPr>
                </a:tc>
                <a:tc>
                  <a:txBody>
                    <a:bodyPr/>
                    <a:lstStyle/>
                    <a:p>
                      <a:pPr algn="ctr">
                        <a:defRPr sz="1000">
                          <a:latin typeface="Montserrat"/>
                        </a:defRPr>
                      </a:pPr>
                      <a:r>
                        <a:t>1,548</a:t>
                      </a:r>
                    </a:p>
                  </a:txBody>
                  <a:tcPr anchor="ctr">
                    <a:solidFill>
                      <a:srgbClr val="ECD3D9"/>
                    </a:solidFill>
                  </a:tcPr>
                </a:tc>
                <a:tc>
                  <a:txBody>
                    <a:bodyPr/>
                    <a:lstStyle/>
                    <a:p>
                      <a:pPr algn="ctr">
                        <a:defRPr sz="1000">
                          <a:latin typeface="Montserrat"/>
                        </a:defRPr>
                      </a:pPr>
                      <a:r>
                        <a:t>4,392</a:t>
                      </a:r>
                    </a:p>
                  </a:txBody>
                  <a:tcPr anchor="ctr">
                    <a:solidFill>
                      <a:srgbClr val="ECD3D9"/>
                    </a:solidFill>
                  </a:tcPr>
                </a:tc>
                <a:tc>
                  <a:txBody>
                    <a:bodyPr/>
                    <a:lstStyle/>
                    <a:p>
                      <a:pPr algn="ctr">
                        <a:defRPr sz="1000">
                          <a:latin typeface="Montserrat"/>
                        </a:defRPr>
                      </a:pPr>
                      <a:r>
                        <a:t>35.2%</a:t>
                      </a:r>
                    </a:p>
                  </a:txBody>
                  <a:tcPr anchor="ctr">
                    <a:solidFill>
                      <a:srgbClr val="ECD3D9"/>
                    </a:solidFill>
                  </a:tcPr>
                </a:tc>
                <a:extLst>
                  <a:ext uri="{0D108BD9-81ED-4DB2-BD59-A6C34878D82A}">
                    <a16:rowId xmlns:a16="http://schemas.microsoft.com/office/drawing/2014/main" val="10003"/>
                  </a:ext>
                </a:extLst>
              </a:tr>
              <a:tr h="355650">
                <a:tc>
                  <a:txBody>
                    <a:bodyPr/>
                    <a:lstStyle/>
                    <a:p>
                      <a:pPr algn="ctr">
                        <a:defRPr sz="1000" b="1">
                          <a:solidFill>
                            <a:srgbClr val="006556"/>
                          </a:solidFill>
                          <a:latin typeface="Montserrat"/>
                        </a:defRPr>
                      </a:pPr>
                      <a:r>
                        <a:t>Total</a:t>
                      </a:r>
                    </a:p>
                  </a:txBody>
                  <a:tcPr anchor="ctr">
                    <a:solidFill>
                      <a:srgbClr val="D3E9E7"/>
                    </a:solidFill>
                  </a:tcPr>
                </a:tc>
                <a:tc>
                  <a:txBody>
                    <a:bodyPr/>
                    <a:lstStyle/>
                    <a:p>
                      <a:pPr algn="ctr">
                        <a:defRPr sz="1000" b="1">
                          <a:solidFill>
                            <a:srgbClr val="006556"/>
                          </a:solidFill>
                          <a:latin typeface="Montserrat"/>
                        </a:defRPr>
                      </a:pPr>
                      <a:r>
                        <a:t>11,963</a:t>
                      </a:r>
                    </a:p>
                  </a:txBody>
                  <a:tcPr anchor="ctr">
                    <a:solidFill>
                      <a:srgbClr val="D3E9E7"/>
                    </a:solidFill>
                  </a:tcPr>
                </a:tc>
                <a:tc>
                  <a:txBody>
                    <a:bodyPr/>
                    <a:lstStyle/>
                    <a:p>
                      <a:pPr algn="ctr">
                        <a:defRPr sz="1000" b="1">
                          <a:solidFill>
                            <a:srgbClr val="006556"/>
                          </a:solidFill>
                          <a:latin typeface="Montserrat"/>
                        </a:defRPr>
                      </a:pPr>
                      <a:r>
                        <a:t>749</a:t>
                      </a:r>
                    </a:p>
                  </a:txBody>
                  <a:tcPr anchor="ctr">
                    <a:solidFill>
                      <a:srgbClr val="D3E9E7"/>
                    </a:solidFill>
                  </a:tcPr>
                </a:tc>
                <a:tc>
                  <a:txBody>
                    <a:bodyPr/>
                    <a:lstStyle/>
                    <a:p>
                      <a:pPr algn="ctr">
                        <a:defRPr sz="1000" b="1">
                          <a:solidFill>
                            <a:srgbClr val="FFFFFF"/>
                          </a:solidFill>
                          <a:latin typeface="Montserrat"/>
                        </a:defRPr>
                      </a:pPr>
                      <a:r>
                        <a:t>5,400</a:t>
                      </a:r>
                    </a:p>
                  </a:txBody>
                  <a:tcPr anchor="ctr">
                    <a:solidFill>
                      <a:srgbClr val="9F2241"/>
                    </a:solidFill>
                  </a:tcPr>
                </a:tc>
                <a:tc>
                  <a:txBody>
                    <a:bodyPr/>
                    <a:lstStyle/>
                    <a:p>
                      <a:pPr algn="ctr">
                        <a:defRPr sz="1000" b="1">
                          <a:solidFill>
                            <a:srgbClr val="FFFFFF"/>
                          </a:solidFill>
                          <a:latin typeface="Montserrat"/>
                        </a:defRPr>
                      </a:pPr>
                      <a:r>
                        <a:t>14,324</a:t>
                      </a:r>
                    </a:p>
                  </a:txBody>
                  <a:tcPr anchor="ctr">
                    <a:solidFill>
                      <a:srgbClr val="9F2241"/>
                    </a:solidFill>
                  </a:tcPr>
                </a:tc>
                <a:tc>
                  <a:txBody>
                    <a:bodyPr/>
                    <a:lstStyle/>
                    <a:p>
                      <a:pPr algn="ctr">
                        <a:defRPr sz="1000" b="1">
                          <a:solidFill>
                            <a:srgbClr val="FFFFFF"/>
                          </a:solidFill>
                          <a:latin typeface="Montserrat"/>
                        </a:defRPr>
                      </a:pPr>
                      <a:r>
                        <a:t>37.7%</a:t>
                      </a:r>
                    </a:p>
                  </a:txBody>
                  <a:tcPr anchor="ctr">
                    <a:solidFill>
                      <a:srgbClr val="9F2241"/>
                    </a:solidFill>
                  </a:tcPr>
                </a:tc>
                <a:extLst>
                  <a:ext uri="{0D108BD9-81ED-4DB2-BD59-A6C34878D82A}">
                    <a16:rowId xmlns:a16="http://schemas.microsoft.com/office/drawing/2014/main" val="10004"/>
                  </a:ext>
                </a:extLst>
              </a:tr>
            </a:tbl>
          </a:graphicData>
        </a:graphic>
      </p:graphicFrame>
      <p:graphicFrame>
        <p:nvGraphicFramePr>
          <p:cNvPr id="234" name="Chart 233"/>
          <p:cNvGraphicFramePr>
            <a:graphicFrameLocks noGrp="1"/>
          </p:cNvGraphicFramePr>
          <p:nvPr>
            <p:extLst>
              <p:ext uri="{D42A27DB-BD31-4B8C-83A1-F6EECF244321}">
                <p14:modId xmlns:p14="http://schemas.microsoft.com/office/powerpoint/2010/main" val="2189544977"/>
              </p:ext>
            </p:extLst>
          </p:nvPr>
        </p:nvGraphicFramePr>
        <p:xfrm>
          <a:off x="4780800" y="4289493"/>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235" name="TextBox 234"/>
          <p:cNvSpPr txBox="1"/>
          <p:nvPr/>
        </p:nvSpPr>
        <p:spPr>
          <a:xfrm>
            <a:off x="4780800" y="5009493"/>
            <a:ext cx="1800000" cy="360000"/>
          </a:xfrm>
          <a:prstGeom prst="rect">
            <a:avLst/>
          </a:prstGeom>
          <a:noFill/>
        </p:spPr>
        <p:txBody>
          <a:bodyPr wrap="none">
            <a:spAutoFit/>
          </a:bodyPr>
          <a:lstStyle/>
          <a:p>
            <a:pPr algn="ctr"/>
            <a:r>
              <a:rPr sz="2400" b="1">
                <a:solidFill>
                  <a:srgbClr val="9F2241"/>
                </a:solidFill>
                <a:latin typeface="Montserrat"/>
              </a:rPr>
              <a:t>37.7%</a:t>
            </a:r>
          </a:p>
        </p:txBody>
      </p:sp>
      <p:sp>
        <p:nvSpPr>
          <p:cNvPr id="236" name="TextBox 235"/>
          <p:cNvSpPr txBox="1"/>
          <p:nvPr/>
        </p:nvSpPr>
        <p:spPr>
          <a:xfrm>
            <a:off x="5025112" y="5987827"/>
            <a:ext cx="1311376" cy="307777"/>
          </a:xfrm>
          <a:prstGeom prst="rect">
            <a:avLst/>
          </a:prstGeom>
          <a:noFill/>
        </p:spPr>
        <p:txBody>
          <a:bodyPr wrap="square">
            <a:spAutoFit/>
          </a:bodyPr>
          <a:lstStyle/>
          <a:p>
            <a:pPr algn="ctr"/>
            <a:r>
              <a:rPr sz="1400" b="1">
                <a:solidFill>
                  <a:srgbClr val="9F2241"/>
                </a:solidFill>
                <a:latin typeface="Montserrat"/>
              </a:rPr>
              <a:t>Avance</a:t>
            </a:r>
          </a:p>
        </p:txBody>
      </p:sp>
      <p:sp>
        <p:nvSpPr>
          <p:cNvPr id="237" name="TextBox 236"/>
          <p:cNvSpPr txBox="1"/>
          <p:nvPr/>
        </p:nvSpPr>
        <p:spPr>
          <a:xfrm>
            <a:off x="730799" y="4289493"/>
            <a:ext cx="2854800" cy="1198800"/>
          </a:xfrm>
          <a:prstGeom prst="rect">
            <a:avLst/>
          </a:prstGeom>
          <a:noFill/>
        </p:spPr>
        <p:txBody>
          <a:bodyPr wrap="square">
            <a:spAutoFit/>
          </a:bodyPr>
          <a:lstStyle/>
          <a:p>
            <a:pPr algn="ctr">
              <a:defRPr sz="3600" b="1">
                <a:solidFill>
                  <a:srgbClr val="9F2241"/>
                </a:solidFill>
                <a:latin typeface="Montserrat"/>
              </a:defRPr>
            </a:pPr>
            <a:r>
              <a:t>14,324 </a:t>
            </a:r>
            <a:br/>
            <a:r>
              <a:t>Meta 2026</a:t>
            </a:r>
          </a:p>
        </p:txBody>
      </p:sp>
      <p:sp>
        <p:nvSpPr>
          <p:cNvPr id="3" name="TextBox 233">
            <a:extLst>
              <a:ext uri="{FF2B5EF4-FFF2-40B4-BE49-F238E27FC236}">
                <a16:creationId xmlns:a16="http://schemas.microsoft.com/office/drawing/2014/main" id="{EBC966C3-0D6F-E09E-5BC7-A16967061E1F}"/>
              </a:ext>
            </a:extLst>
          </p:cNvPr>
          <p:cNvSpPr txBox="1"/>
          <p:nvPr/>
        </p:nvSpPr>
        <p:spPr>
          <a:xfrm>
            <a:off x="125999" y="1108800"/>
            <a:ext cx="4594528" cy="369332"/>
          </a:xfrm>
          <a:prstGeom prst="rect">
            <a:avLst/>
          </a:prstGeom>
          <a:noFill/>
        </p:spPr>
        <p:txBody>
          <a:bodyPr wrap="none">
            <a:spAutoFit/>
          </a:bodyPr>
          <a:lstStyle/>
          <a:p>
            <a:pPr algn="l">
              <a:defRPr sz="1800" b="1">
                <a:solidFill>
                  <a:srgbClr val="009193"/>
                </a:solidFill>
                <a:latin typeface="Montserrat"/>
              </a:defRPr>
            </a:pPr>
            <a:r>
              <a:rPr err="1"/>
              <a:t>Productividad</a:t>
            </a:r>
            <a:r>
              <a:t> de </a:t>
            </a:r>
            <a:r>
              <a:rPr lang="es-MX"/>
              <a:t>cirugías </a:t>
            </a:r>
            <a:r>
              <a:t>2025-2026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sp>
        <p:nvSpPr>
          <p:cNvPr id="3" name="TextBox 2"/>
          <p:cNvSpPr txBox="1"/>
          <p:nvPr/>
        </p:nvSpPr>
        <p:spPr>
          <a:xfrm>
            <a:off x="0" y="622008"/>
            <a:ext cx="7772400" cy="309600"/>
          </a:xfrm>
          <a:prstGeom prst="rect">
            <a:avLst/>
          </a:prstGeom>
          <a:noFill/>
        </p:spPr>
        <p:txBody>
          <a:bodyPr wrap="none">
            <a:spAutoFit/>
          </a:bodyPr>
          <a:lstStyle/>
          <a:p>
            <a:pPr algn="ctr">
              <a:defRPr sz="2000" b="1">
                <a:solidFill>
                  <a:srgbClr val="9F2241"/>
                </a:solidFill>
                <a:latin typeface="Montserrat"/>
              </a:defRPr>
            </a:pPr>
            <a:r>
              <a:t>51 total </a:t>
            </a:r>
            <a:r>
              <a:rPr err="1"/>
              <a:t>especialistas</a:t>
            </a:r>
            <a:r>
              <a:t> </a:t>
            </a:r>
            <a:r>
              <a:rPr err="1"/>
              <a:t>contratados</a:t>
            </a:r>
            <a:r>
              <a:t> </a:t>
            </a:r>
            <a:r>
              <a:rPr err="1"/>
              <a:t>en</a:t>
            </a:r>
            <a:r>
              <a:t> </a:t>
            </a:r>
            <a:r>
              <a:rPr err="1"/>
              <a:t>el</a:t>
            </a:r>
            <a:r>
              <a:t> draft 2026</a:t>
            </a:r>
          </a:p>
        </p:txBody>
      </p:sp>
      <p:sp>
        <p:nvSpPr>
          <p:cNvPr id="4" name="TextBox 3"/>
          <p:cNvSpPr txBox="1"/>
          <p:nvPr/>
        </p:nvSpPr>
        <p:spPr>
          <a:xfrm>
            <a:off x="1907132" y="946007"/>
            <a:ext cx="3958135" cy="307777"/>
          </a:xfrm>
          <a:prstGeom prst="rect">
            <a:avLst/>
          </a:prstGeom>
          <a:noFill/>
        </p:spPr>
        <p:txBody>
          <a:bodyPr wrap="none">
            <a:spAutoFit/>
          </a:bodyPr>
          <a:lstStyle/>
          <a:p>
            <a:pPr algn="ctr">
              <a:defRPr sz="1400" b="0">
                <a:solidFill>
                  <a:srgbClr val="BC955C"/>
                </a:solidFill>
                <a:latin typeface="Montserrat"/>
              </a:defRPr>
            </a:pPr>
            <a:r>
              <a:t>22 </a:t>
            </a:r>
            <a:r>
              <a:rPr err="1"/>
              <a:t>en</a:t>
            </a:r>
            <a:r>
              <a:t> </a:t>
            </a:r>
            <a:r>
              <a:rPr err="1"/>
              <a:t>Hospitales</a:t>
            </a:r>
            <a:r>
              <a:t>, 2 </a:t>
            </a:r>
            <a:r>
              <a:rPr err="1"/>
              <a:t>en</a:t>
            </a:r>
            <a:r>
              <a:t> UMF y 27 </a:t>
            </a:r>
            <a:r>
              <a:rPr err="1"/>
              <a:t>sustitutos</a:t>
            </a:r>
            <a:endParaRPr/>
          </a:p>
        </p:txBody>
      </p:sp>
      <p:sp>
        <p:nvSpPr>
          <p:cNvPr id="5" name="TextBox 4"/>
          <p:cNvSpPr txBox="1"/>
          <p:nvPr/>
        </p:nvSpPr>
        <p:spPr>
          <a:xfrm>
            <a:off x="360000" y="1223023"/>
            <a:ext cx="6840000" cy="360000"/>
          </a:xfrm>
          <a:prstGeom prst="rect">
            <a:avLst/>
          </a:prstGeom>
          <a:noFill/>
        </p:spPr>
        <p:txBody>
          <a:bodyPr wrap="none" anchor="ctr">
            <a:spAutoFit/>
          </a:bodyPr>
          <a:lstStyle/>
          <a:p>
            <a:pPr algn="l">
              <a:defRPr sz="2000" b="1">
                <a:solidFill>
                  <a:srgbClr val="BC955C"/>
                </a:solidFill>
                <a:latin typeface="Montserrat"/>
              </a:defRPr>
            </a:pPr>
            <a:r>
              <a:t>22 en Hospitales</a:t>
            </a:r>
          </a:p>
        </p:txBody>
      </p:sp>
      <p:cxnSp>
        <p:nvCxnSpPr>
          <p:cNvPr id="6" name="Connector 5"/>
          <p:cNvCxnSpPr/>
          <p:nvPr/>
        </p:nvCxnSpPr>
        <p:spPr>
          <a:xfrm>
            <a:off x="360000" y="1619023"/>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extLst>
              <p:ext uri="{D42A27DB-BD31-4B8C-83A1-F6EECF244321}">
                <p14:modId xmlns:p14="http://schemas.microsoft.com/office/powerpoint/2010/main" val="3428638739"/>
              </p:ext>
            </p:extLst>
          </p:nvPr>
        </p:nvGraphicFramePr>
        <p:xfrm>
          <a:off x="360000" y="1691023"/>
          <a:ext cx="3456000" cy="1631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6">
                  <a:txBody>
                    <a:bodyPr/>
                    <a:lstStyle/>
                    <a:p>
                      <a:pPr algn="ctr">
                        <a:defRPr sz="800" b="1">
                          <a:solidFill>
                            <a:srgbClr val="000000"/>
                          </a:solidFill>
                          <a:latin typeface="Montserrat"/>
                        </a:defRPr>
                      </a:pPr>
                      <a:r>
                        <a:t>Hospital General de Subzona C/MF 4</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extLst>
                  <a:ext uri="{0D108BD9-81ED-4DB2-BD59-A6C34878D82A}">
                    <a16:rowId xmlns:a16="http://schemas.microsoft.com/office/drawing/2014/main" val="10006"/>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751372706"/>
              </p:ext>
            </p:extLst>
          </p:nvPr>
        </p:nvGraphicFramePr>
        <p:xfrm>
          <a:off x="3960000" y="1691023"/>
          <a:ext cx="3456000" cy="2160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9">
                  <a:txBody>
                    <a:bodyPr/>
                    <a:lstStyle/>
                    <a:p>
                      <a:pPr algn="ctr">
                        <a:defRPr sz="800" b="1">
                          <a:solidFill>
                            <a:srgbClr val="000000"/>
                          </a:solidFill>
                          <a:latin typeface="Montserrat"/>
                        </a:defRPr>
                      </a:pPr>
                      <a:r>
                        <a:t>Hospital General de Zona 1</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Oncología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extLst>
                  <a:ext uri="{0D108BD9-81ED-4DB2-BD59-A6C34878D82A}">
                    <a16:rowId xmlns:a16="http://schemas.microsoft.com/office/drawing/2014/main" val="10009"/>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470629165"/>
              </p:ext>
            </p:extLst>
          </p:nvPr>
        </p:nvGraphicFramePr>
        <p:xfrm>
          <a:off x="360000" y="3409634"/>
          <a:ext cx="3456000" cy="1415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5">
                  <a:txBody>
                    <a:bodyPr/>
                    <a:lstStyle/>
                    <a:p>
                      <a:pPr algn="ctr">
                        <a:defRPr sz="800" b="1">
                          <a:solidFill>
                            <a:srgbClr val="000000"/>
                          </a:solidFill>
                          <a:latin typeface="Montserrat"/>
                        </a:defRPr>
                      </a:pPr>
                      <a:r>
                        <a:t>Hospital General de Zona 10</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4"/>
                  </a:ext>
                </a:extLst>
              </a:tr>
              <a:tr h="216004">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360000" y="4889168"/>
            <a:ext cx="6840000" cy="360000"/>
          </a:xfrm>
          <a:prstGeom prst="rect">
            <a:avLst/>
          </a:prstGeom>
          <a:noFill/>
        </p:spPr>
        <p:txBody>
          <a:bodyPr wrap="none" anchor="ctr">
            <a:spAutoFit/>
          </a:bodyPr>
          <a:lstStyle/>
          <a:p>
            <a:pPr algn="l">
              <a:defRPr sz="2000" b="1">
                <a:solidFill>
                  <a:srgbClr val="BC955C"/>
                </a:solidFill>
                <a:latin typeface="Montserrat"/>
              </a:defRPr>
            </a:pPr>
            <a:r>
              <a:t>2 en Unidades de Medicina Familiar</a:t>
            </a:r>
          </a:p>
        </p:txBody>
      </p:sp>
      <p:cxnSp>
        <p:nvCxnSpPr>
          <p:cNvPr id="11" name="Connector 10"/>
          <p:cNvCxnSpPr/>
          <p:nvPr/>
        </p:nvCxnSpPr>
        <p:spPr>
          <a:xfrm>
            <a:off x="360000" y="528516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2" name="Table 11"/>
          <p:cNvGraphicFramePr>
            <a:graphicFrameLocks noGrp="1"/>
          </p:cNvGraphicFramePr>
          <p:nvPr>
            <p:extLst>
              <p:ext uri="{D42A27DB-BD31-4B8C-83A1-F6EECF244321}">
                <p14:modId xmlns:p14="http://schemas.microsoft.com/office/powerpoint/2010/main" val="1768695152"/>
              </p:ext>
            </p:extLst>
          </p:nvPr>
        </p:nvGraphicFramePr>
        <p:xfrm>
          <a:off x="360000" y="5357168"/>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150443641"/>
              </p:ext>
            </p:extLst>
          </p:nvPr>
        </p:nvGraphicFramePr>
        <p:xfrm>
          <a:off x="3960000" y="5357168"/>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sp>
        <p:nvSpPr>
          <p:cNvPr id="14" name="TextBox 3"/>
          <p:cNvSpPr txBox="1"/>
          <p:nvPr/>
        </p:nvSpPr>
        <p:spPr>
          <a:xfrm>
            <a:off x="360000" y="6107556"/>
            <a:ext cx="6840000" cy="360000"/>
          </a:xfrm>
          <a:prstGeom prst="rect">
            <a:avLst/>
          </a:prstGeom>
          <a:noFill/>
        </p:spPr>
        <p:txBody>
          <a:bodyPr wrap="none" anchor="ctr">
            <a:spAutoFit/>
          </a:bodyPr>
          <a:lstStyle/>
          <a:p>
            <a:pPr algn="l">
              <a:defRPr sz="2000" b="1">
                <a:solidFill>
                  <a:srgbClr val="BC955C"/>
                </a:solidFill>
                <a:latin typeface="Montserrat"/>
              </a:defRPr>
            </a:pPr>
            <a:r>
              <a:t>27 especialistas (sustitutos)</a:t>
            </a:r>
          </a:p>
        </p:txBody>
      </p:sp>
      <p:cxnSp>
        <p:nvCxnSpPr>
          <p:cNvPr id="15" name="Connector 4"/>
          <p:cNvCxnSpPr/>
          <p:nvPr/>
        </p:nvCxnSpPr>
        <p:spPr>
          <a:xfrm>
            <a:off x="360000" y="6503556"/>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6" name="Table 5"/>
          <p:cNvGraphicFramePr>
            <a:graphicFrameLocks noGrp="1"/>
          </p:cNvGraphicFramePr>
          <p:nvPr>
            <p:extLst>
              <p:ext uri="{D42A27DB-BD31-4B8C-83A1-F6EECF244321}">
                <p14:modId xmlns:p14="http://schemas.microsoft.com/office/powerpoint/2010/main" val="3740057832"/>
              </p:ext>
            </p:extLst>
          </p:nvPr>
        </p:nvGraphicFramePr>
        <p:xfrm>
          <a:off x="360000" y="6575556"/>
          <a:ext cx="3456000" cy="2808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2">
                  <a:txBody>
                    <a:bodyPr/>
                    <a:lstStyle/>
                    <a:p>
                      <a:pPr algn="ctr">
                        <a:defRPr sz="800" b="1">
                          <a:solidFill>
                            <a:srgbClr val="000000"/>
                          </a:solidFill>
                          <a:latin typeface="Montserrat"/>
                        </a:defRPr>
                      </a:pPr>
                      <a:r>
                        <a:t>Sustitución 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Dermatología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Reumatología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27</a:t>
                      </a:r>
                    </a:p>
                  </a:txBody>
                  <a:tcPr>
                    <a:solidFill>
                      <a:srgbClr val="D3E9E7"/>
                    </a:solidFill>
                  </a:tcPr>
                </a:tc>
                <a:extLst>
                  <a:ext uri="{0D108BD9-81ED-4DB2-BD59-A6C34878D82A}">
                    <a16:rowId xmlns:a16="http://schemas.microsoft.com/office/drawing/2014/main" val="10012"/>
                  </a:ext>
                </a:extLst>
              </a:tr>
            </a:tbl>
          </a:graphicData>
        </a:graphic>
      </p:graphicFrame>
      <p:sp>
        <p:nvSpPr>
          <p:cNvPr id="18" name="TextBox 6">
            <a:extLst>
              <a:ext uri="{FF2B5EF4-FFF2-40B4-BE49-F238E27FC236}">
                <a16:creationId xmlns:a16="http://schemas.microsoft.com/office/drawing/2014/main" id="{1BD42FC0-CC85-E005-F7BD-780BEE4ABF85}"/>
              </a:ext>
            </a:extLst>
          </p:cNvPr>
          <p:cNvSpPr txBox="1"/>
          <p:nvPr/>
        </p:nvSpPr>
        <p:spPr>
          <a:xfrm>
            <a:off x="270000" y="9500706"/>
            <a:ext cx="7200000" cy="400110"/>
          </a:xfrm>
          <a:prstGeom prst="rect">
            <a:avLst/>
          </a:prstGeom>
          <a:noFill/>
        </p:spPr>
        <p:txBody>
          <a:bodyPr wrap="square">
            <a:spAutoFit/>
          </a:bodyPr>
          <a:lstStyle/>
          <a:p>
            <a:pPr algn="l">
              <a:defRPr sz="1000">
                <a:solidFill>
                  <a:srgbClr val="000000"/>
                </a:solidFill>
                <a:latin typeface="Montserrat"/>
              </a:defRPr>
            </a:pPr>
            <a:r>
              <a:rPr err="1">
                <a:solidFill>
                  <a:schemeClr val="bg1"/>
                </a:solidFill>
              </a:rPr>
              <a:t>Sustitutos</a:t>
            </a:r>
            <a:r>
              <a:rPr>
                <a:solidFill>
                  <a:schemeClr val="bg1"/>
                </a:solidFill>
              </a:rPr>
              <a:t> se </a:t>
            </a:r>
            <a:r>
              <a:rPr err="1">
                <a:solidFill>
                  <a:schemeClr val="bg1"/>
                </a:solidFill>
              </a:rPr>
              <a:t>integran</a:t>
            </a:r>
            <a:r>
              <a:rPr>
                <a:solidFill>
                  <a:schemeClr val="bg1"/>
                </a:solidFill>
              </a:rPr>
              <a:t> a </a:t>
            </a:r>
            <a:r>
              <a:rPr err="1">
                <a:solidFill>
                  <a:schemeClr val="bg1"/>
                </a:solidFill>
              </a:rPr>
              <a:t>los</a:t>
            </a:r>
            <a:r>
              <a:rPr>
                <a:solidFill>
                  <a:schemeClr val="bg1"/>
                </a:solidFill>
              </a:rPr>
              <a:t> </a:t>
            </a:r>
            <a:r>
              <a:rPr err="1">
                <a:solidFill>
                  <a:schemeClr val="bg1"/>
                </a:solidFill>
              </a:rPr>
              <a:t>Listados</a:t>
            </a:r>
            <a:r>
              <a:rPr>
                <a:solidFill>
                  <a:schemeClr val="bg1"/>
                </a:solidFill>
              </a:rPr>
              <a:t> de Bolsa de </a:t>
            </a:r>
            <a:r>
              <a:rPr err="1">
                <a:solidFill>
                  <a:schemeClr val="bg1"/>
                </a:solidFill>
              </a:rPr>
              <a:t>Trabajo</a:t>
            </a:r>
            <a:r>
              <a:rPr>
                <a:solidFill>
                  <a:schemeClr val="bg1"/>
                </a:solidFill>
              </a:rPr>
              <a:t>, para </a:t>
            </a:r>
            <a:r>
              <a:rPr err="1">
                <a:solidFill>
                  <a:schemeClr val="bg1"/>
                </a:solidFill>
              </a:rPr>
              <a:t>cubrir</a:t>
            </a:r>
            <a:r>
              <a:rPr>
                <a:solidFill>
                  <a:schemeClr val="bg1"/>
                </a:solidFill>
              </a:rPr>
              <a:t> las </a:t>
            </a:r>
            <a:r>
              <a:rPr err="1">
                <a:solidFill>
                  <a:schemeClr val="bg1"/>
                </a:solidFill>
              </a:rPr>
              <a:t>futuras</a:t>
            </a:r>
            <a:r>
              <a:rPr>
                <a:solidFill>
                  <a:schemeClr val="bg1"/>
                </a:solidFill>
              </a:rPr>
              <a:t> </a:t>
            </a:r>
            <a:r>
              <a:rPr err="1">
                <a:solidFill>
                  <a:schemeClr val="bg1"/>
                </a:solidFill>
              </a:rPr>
              <a:t>vacantes</a:t>
            </a:r>
            <a:r>
              <a:rPr>
                <a:solidFill>
                  <a:schemeClr val="bg1"/>
                </a:solidFill>
              </a:rPr>
              <a:t> </a:t>
            </a:r>
            <a:r>
              <a:rPr err="1">
                <a:solidFill>
                  <a:schemeClr val="bg1"/>
                </a:solidFill>
              </a:rPr>
              <a:t>por</a:t>
            </a:r>
            <a:r>
              <a:rPr>
                <a:solidFill>
                  <a:schemeClr val="bg1"/>
                </a:solidFill>
              </a:rPr>
              <a:t> </a:t>
            </a:r>
            <a:r>
              <a:rPr err="1">
                <a:solidFill>
                  <a:schemeClr val="bg1"/>
                </a:solidFill>
              </a:rPr>
              <a:t>jubilación</a:t>
            </a:r>
            <a:r>
              <a:rPr>
                <a:solidFill>
                  <a:schemeClr val="bg1"/>
                </a:solidFill>
              </a:rPr>
              <a:t>, </a:t>
            </a:r>
            <a:r>
              <a:rPr err="1">
                <a:solidFill>
                  <a:schemeClr val="bg1"/>
                </a:solidFill>
              </a:rPr>
              <a:t>renuncia</a:t>
            </a:r>
            <a:r>
              <a:rPr>
                <a:solidFill>
                  <a:schemeClr val="bg1"/>
                </a:solidFill>
              </a:rPr>
              <a:t>, </a:t>
            </a:r>
            <a:r>
              <a:rPr err="1">
                <a:solidFill>
                  <a:schemeClr val="bg1"/>
                </a:solidFill>
              </a:rPr>
              <a:t>fallecimiento</a:t>
            </a:r>
            <a:r>
              <a:rPr>
                <a:solidFill>
                  <a:schemeClr val="bg1"/>
                </a:solidFill>
              </a:rPr>
              <a:t>, etc., </a:t>
            </a:r>
            <a:r>
              <a:rPr err="1">
                <a:solidFill>
                  <a:schemeClr val="bg1"/>
                </a:solidFill>
              </a:rPr>
              <a:t>así</a:t>
            </a:r>
            <a:r>
              <a:rPr>
                <a:solidFill>
                  <a:schemeClr val="bg1"/>
                </a:solidFill>
              </a:rPr>
              <a:t> </a:t>
            </a:r>
            <a:r>
              <a:rPr err="1">
                <a:solidFill>
                  <a:schemeClr val="bg1"/>
                </a:solidFill>
              </a:rPr>
              <a:t>como</a:t>
            </a:r>
            <a:r>
              <a:rPr>
                <a:solidFill>
                  <a:schemeClr val="bg1"/>
                </a:solidFill>
              </a:rPr>
              <a:t> </a:t>
            </a:r>
            <a:r>
              <a:rPr err="1">
                <a:solidFill>
                  <a:schemeClr val="bg1"/>
                </a:solidFill>
              </a:rPr>
              <a:t>ausentismo</a:t>
            </a:r>
            <a:r>
              <a:rPr>
                <a:solidFill>
                  <a:schemeClr val="bg1"/>
                </a:solidFill>
              </a:rPr>
              <a:t> </a:t>
            </a:r>
            <a:r>
              <a:rPr err="1">
                <a:solidFill>
                  <a:schemeClr val="bg1"/>
                </a:solidFill>
              </a:rPr>
              <a:t>programado</a:t>
            </a:r>
            <a:r>
              <a:rPr>
                <a:solidFill>
                  <a:schemeClr val="bg1"/>
                </a:solidFill>
              </a:rPr>
              <a:t> y no </a:t>
            </a:r>
            <a:r>
              <a:rPr err="1">
                <a:solidFill>
                  <a:schemeClr val="bg1"/>
                </a:solidFill>
              </a:rPr>
              <a:t>programado</a:t>
            </a:r>
            <a:r>
              <a:rPr>
                <a:solidFill>
                  <a:schemeClr val="bg1"/>
                </a:solidFill>
              </a:rPr>
              <a:t>.</a:t>
            </a:r>
          </a:p>
        </p:txBody>
      </p:sp>
    </p:spTree>
    <p:extLst>
      <p:ext uri="{BB962C8B-B14F-4D97-AF65-F5344CB8AC3E}">
        <p14:creationId xmlns:p14="http://schemas.microsoft.com/office/powerpoint/2010/main" val="2266907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3891354070"/>
              </p:ext>
            </p:extLst>
          </p:nvPr>
        </p:nvGraphicFramePr>
        <p:xfrm>
          <a:off x="1007999" y="1655999"/>
          <a:ext cx="5756399" cy="5549297"/>
        </p:xfrm>
        <a:graphic>
          <a:graphicData uri="http://schemas.openxmlformats.org/drawingml/2006/table">
            <a:tbl>
              <a:tblPr firstRow="1" bandRow="1">
                <a:tableStyleId>{5C22544A-7EE6-4342-B048-85BDC9FD1C3A}</a:tableStyleId>
              </a:tblPr>
              <a:tblGrid>
                <a:gridCol w="2642400">
                  <a:extLst>
                    <a:ext uri="{9D8B030D-6E8A-4147-A177-3AD203B41FA5}">
                      <a16:colId xmlns:a16="http://schemas.microsoft.com/office/drawing/2014/main" val="20000"/>
                    </a:ext>
                  </a:extLst>
                </a:gridCol>
                <a:gridCol w="1638000">
                  <a:extLst>
                    <a:ext uri="{9D8B030D-6E8A-4147-A177-3AD203B41FA5}">
                      <a16:colId xmlns:a16="http://schemas.microsoft.com/office/drawing/2014/main" val="20001"/>
                    </a:ext>
                  </a:extLst>
                </a:gridCol>
                <a:gridCol w="1475999">
                  <a:extLst>
                    <a:ext uri="{9D8B030D-6E8A-4147-A177-3AD203B41FA5}">
                      <a16:colId xmlns:a16="http://schemas.microsoft.com/office/drawing/2014/main" val="20002"/>
                    </a:ext>
                  </a:extLst>
                </a:gridCol>
              </a:tblGrid>
              <a:tr h="200057">
                <a:tc>
                  <a:txBody>
                    <a:bodyPr/>
                    <a:lstStyle/>
                    <a:p>
                      <a:pPr algn="ctr">
                        <a:defRPr sz="1100" b="1">
                          <a:solidFill>
                            <a:srgbClr val="FFFFFF"/>
                          </a:solidFill>
                          <a:latin typeface="Montserrat"/>
                        </a:defRPr>
                      </a:pPr>
                      <a:r>
                        <a:t>Especialidad</a:t>
                      </a:r>
                    </a:p>
                  </a:txBody>
                  <a:tcPr marL="14400" marR="14400" marT="14400" marB="14400">
                    <a:solidFill>
                      <a:srgbClr val="006455"/>
                    </a:solidFill>
                  </a:tcPr>
                </a:tc>
                <a:tc>
                  <a:txBody>
                    <a:bodyPr/>
                    <a:lstStyle/>
                    <a:p>
                      <a:pPr algn="ctr">
                        <a:defRPr sz="1100" b="1">
                          <a:solidFill>
                            <a:srgbClr val="FFFFFF"/>
                          </a:solidFill>
                          <a:latin typeface="Montserrat"/>
                        </a:defRPr>
                      </a:pPr>
                      <a:r>
                        <a:t>Número</a:t>
                      </a:r>
                    </a:p>
                  </a:txBody>
                  <a:tcPr marL="14400" marR="14400" marT="14400" marB="14400">
                    <a:solidFill>
                      <a:srgbClr val="006455"/>
                    </a:solidFill>
                  </a:tcPr>
                </a:tc>
                <a:tc>
                  <a:txBody>
                    <a:bodyPr/>
                    <a:lstStyle/>
                    <a:p>
                      <a:pPr algn="ctr">
                        <a:defRPr sz="1100" b="1">
                          <a:solidFill>
                            <a:srgbClr val="FFFFFF"/>
                          </a:solidFill>
                          <a:latin typeface="Montserrat"/>
                        </a:defRPr>
                      </a:pPr>
                      <a:r>
                        <a:t>% Acumulado</a:t>
                      </a:r>
                    </a:p>
                  </a:txBody>
                  <a:tcPr marL="14400" marR="14400" marT="14400" marB="14400">
                    <a:solidFill>
                      <a:srgbClr val="006455"/>
                    </a:solidFill>
                  </a:tcPr>
                </a:tc>
                <a:extLst>
                  <a:ext uri="{0D108BD9-81ED-4DB2-BD59-A6C34878D82A}">
                    <a16:rowId xmlns:a16="http://schemas.microsoft.com/office/drawing/2014/main" val="10000"/>
                  </a:ext>
                </a:extLst>
              </a:tr>
              <a:tr h="200057">
                <a:tc>
                  <a:txBody>
                    <a:bodyPr/>
                    <a:lstStyle/>
                    <a:p>
                      <a:pPr algn="l">
                        <a:defRPr sz="1100" b="0">
                          <a:solidFill>
                            <a:srgbClr val="000000"/>
                          </a:solidFill>
                          <a:latin typeface="Montserrat"/>
                        </a:defRPr>
                      </a:pPr>
                      <a:r>
                        <a:t>Traumatología y Ortopedia</a:t>
                      </a:r>
                    </a:p>
                  </a:txBody>
                  <a:tcPr marL="45720" marR="45720" anchor="ctr">
                    <a:solidFill>
                      <a:srgbClr val="FFFFFF"/>
                    </a:solidFill>
                  </a:tcPr>
                </a:tc>
                <a:tc>
                  <a:txBody>
                    <a:bodyPr/>
                    <a:lstStyle/>
                    <a:p>
                      <a:pPr algn="ctr">
                        <a:defRPr sz="1100" b="0">
                          <a:solidFill>
                            <a:srgbClr val="000000"/>
                          </a:solidFill>
                          <a:latin typeface="Montserrat"/>
                        </a:defRPr>
                      </a:pPr>
                      <a:r>
                        <a:t>8</a:t>
                      </a:r>
                    </a:p>
                  </a:txBody>
                  <a:tcPr marL="45720" marR="45720" anchor="ctr">
                    <a:solidFill>
                      <a:srgbClr val="FFFFFF"/>
                    </a:solidFill>
                  </a:tcPr>
                </a:tc>
                <a:tc>
                  <a:txBody>
                    <a:bodyPr/>
                    <a:lstStyle/>
                    <a:p>
                      <a:pPr algn="ctr">
                        <a:defRPr sz="1100" b="1">
                          <a:solidFill>
                            <a:srgbClr val="000000"/>
                          </a:solidFill>
                          <a:latin typeface="Montserrat"/>
                        </a:defRPr>
                      </a:pPr>
                      <a:r>
                        <a:t>15.6%</a:t>
                      </a:r>
                    </a:p>
                  </a:txBody>
                  <a:tcPr marL="45720" marR="45720" anchor="ctr">
                    <a:solidFill>
                      <a:srgbClr val="FFFFFF"/>
                    </a:solidFill>
                  </a:tcPr>
                </a:tc>
                <a:extLst>
                  <a:ext uri="{0D108BD9-81ED-4DB2-BD59-A6C34878D82A}">
                    <a16:rowId xmlns:a16="http://schemas.microsoft.com/office/drawing/2014/main" val="10001"/>
                  </a:ext>
                </a:extLst>
              </a:tr>
              <a:tr h="200057">
                <a:tc>
                  <a:txBody>
                    <a:bodyPr/>
                    <a:lstStyle/>
                    <a:p>
                      <a:pPr algn="l">
                        <a:defRPr sz="1100" b="0">
                          <a:solidFill>
                            <a:srgbClr val="000000"/>
                          </a:solidFill>
                          <a:latin typeface="Montserrat"/>
                        </a:defRPr>
                      </a:pPr>
                      <a:r>
                        <a:t>Medicina de Urgencias</a:t>
                      </a:r>
                    </a:p>
                  </a:txBody>
                  <a:tcPr marL="45720" marR="45720" anchor="ctr">
                    <a:solidFill>
                      <a:srgbClr val="D9D9D9"/>
                    </a:solidFill>
                  </a:tcPr>
                </a:tc>
                <a:tc>
                  <a:txBody>
                    <a:bodyPr/>
                    <a:lstStyle/>
                    <a:p>
                      <a:pPr algn="ctr">
                        <a:defRPr sz="1100" b="0">
                          <a:solidFill>
                            <a:srgbClr val="000000"/>
                          </a:solidFill>
                          <a:latin typeface="Montserrat"/>
                        </a:defRPr>
                      </a:pPr>
                      <a:r>
                        <a:t>7</a:t>
                      </a:r>
                    </a:p>
                  </a:txBody>
                  <a:tcPr marL="45720" marR="45720" anchor="ctr">
                    <a:solidFill>
                      <a:srgbClr val="D9D9D9"/>
                    </a:solidFill>
                  </a:tcPr>
                </a:tc>
                <a:tc>
                  <a:txBody>
                    <a:bodyPr/>
                    <a:lstStyle/>
                    <a:p>
                      <a:pPr algn="ctr">
                        <a:defRPr sz="1100" b="1">
                          <a:solidFill>
                            <a:srgbClr val="000000"/>
                          </a:solidFill>
                          <a:latin typeface="Montserrat"/>
                        </a:defRPr>
                      </a:pPr>
                      <a:r>
                        <a:t>29.4%</a:t>
                      </a:r>
                    </a:p>
                  </a:txBody>
                  <a:tcPr marL="45720" marR="45720" anchor="ctr">
                    <a:solidFill>
                      <a:srgbClr val="D9D9D9"/>
                    </a:solidFill>
                  </a:tcPr>
                </a:tc>
                <a:extLst>
                  <a:ext uri="{0D108BD9-81ED-4DB2-BD59-A6C34878D82A}">
                    <a16:rowId xmlns:a16="http://schemas.microsoft.com/office/drawing/2014/main" val="10002"/>
                  </a:ext>
                </a:extLst>
              </a:tr>
              <a:tr h="200057">
                <a:tc>
                  <a:txBody>
                    <a:bodyPr/>
                    <a:lstStyle/>
                    <a:p>
                      <a:pPr algn="l">
                        <a:defRPr sz="1100" b="0">
                          <a:solidFill>
                            <a:srgbClr val="000000"/>
                          </a:solidFill>
                          <a:latin typeface="Montserrat"/>
                        </a:defRPr>
                      </a:pPr>
                      <a:r>
                        <a:t>Anestesiología</a:t>
                      </a:r>
                    </a:p>
                  </a:txBody>
                  <a:tcPr marL="45720" marR="45720" anchor="ctr">
                    <a:solidFill>
                      <a:srgbClr val="FFFFFF"/>
                    </a:solidFill>
                  </a:tcPr>
                </a:tc>
                <a:tc>
                  <a:txBody>
                    <a:bodyPr/>
                    <a:lstStyle/>
                    <a:p>
                      <a:pPr algn="ctr">
                        <a:defRPr sz="1100" b="0">
                          <a:solidFill>
                            <a:srgbClr val="000000"/>
                          </a:solidFill>
                          <a:latin typeface="Montserrat"/>
                        </a:defRPr>
                      </a:pPr>
                      <a:r>
                        <a:t>4</a:t>
                      </a:r>
                    </a:p>
                  </a:txBody>
                  <a:tcPr marL="45720" marR="45720" anchor="ctr">
                    <a:solidFill>
                      <a:srgbClr val="FFFFFF"/>
                    </a:solidFill>
                  </a:tcPr>
                </a:tc>
                <a:tc>
                  <a:txBody>
                    <a:bodyPr/>
                    <a:lstStyle/>
                    <a:p>
                      <a:pPr algn="ctr">
                        <a:defRPr sz="1100" b="1">
                          <a:solidFill>
                            <a:srgbClr val="000000"/>
                          </a:solidFill>
                          <a:latin typeface="Montserrat"/>
                        </a:defRPr>
                      </a:pPr>
                      <a:r>
                        <a:t>37.2%</a:t>
                      </a:r>
                    </a:p>
                  </a:txBody>
                  <a:tcPr marL="45720" marR="45720" anchor="ctr">
                    <a:solidFill>
                      <a:srgbClr val="FFFFFF"/>
                    </a:solidFill>
                  </a:tcPr>
                </a:tc>
                <a:extLst>
                  <a:ext uri="{0D108BD9-81ED-4DB2-BD59-A6C34878D82A}">
                    <a16:rowId xmlns:a16="http://schemas.microsoft.com/office/drawing/2014/main" val="10003"/>
                  </a:ext>
                </a:extLst>
              </a:tr>
              <a:tr h="200057">
                <a:tc>
                  <a:txBody>
                    <a:bodyPr/>
                    <a:lstStyle/>
                    <a:p>
                      <a:pPr algn="l">
                        <a:defRPr sz="1100" b="0">
                          <a:solidFill>
                            <a:srgbClr val="000000"/>
                          </a:solidFill>
                          <a:latin typeface="Montserrat"/>
                        </a:defRPr>
                      </a:pPr>
                      <a:r>
                        <a:t>Medicina Familiar</a:t>
                      </a:r>
                    </a:p>
                  </a:txBody>
                  <a:tcPr marL="45720" marR="45720" anchor="ctr">
                    <a:solidFill>
                      <a:srgbClr val="D9D9D9"/>
                    </a:solidFill>
                  </a:tcPr>
                </a:tc>
                <a:tc>
                  <a:txBody>
                    <a:bodyPr/>
                    <a:lstStyle/>
                    <a:p>
                      <a:pPr algn="ctr">
                        <a:defRPr sz="1100" b="0">
                          <a:solidFill>
                            <a:srgbClr val="000000"/>
                          </a:solidFill>
                          <a:latin typeface="Montserrat"/>
                        </a:defRPr>
                      </a:pPr>
                      <a:r>
                        <a:t>4</a:t>
                      </a:r>
                    </a:p>
                  </a:txBody>
                  <a:tcPr marL="45720" marR="45720" anchor="ctr">
                    <a:solidFill>
                      <a:srgbClr val="D9D9D9"/>
                    </a:solidFill>
                  </a:tcPr>
                </a:tc>
                <a:tc>
                  <a:txBody>
                    <a:bodyPr/>
                    <a:lstStyle/>
                    <a:p>
                      <a:pPr algn="ctr">
                        <a:defRPr sz="1100" b="1">
                          <a:solidFill>
                            <a:srgbClr val="000000"/>
                          </a:solidFill>
                          <a:latin typeface="Montserrat"/>
                        </a:defRPr>
                      </a:pPr>
                      <a:r>
                        <a:t>45.0%</a:t>
                      </a:r>
                    </a:p>
                  </a:txBody>
                  <a:tcPr marL="45720" marR="45720" anchor="ctr">
                    <a:solidFill>
                      <a:srgbClr val="D9D9D9"/>
                    </a:solidFill>
                  </a:tcPr>
                </a:tc>
                <a:extLst>
                  <a:ext uri="{0D108BD9-81ED-4DB2-BD59-A6C34878D82A}">
                    <a16:rowId xmlns:a16="http://schemas.microsoft.com/office/drawing/2014/main" val="10004"/>
                  </a:ext>
                </a:extLst>
              </a:tr>
              <a:tr h="200057">
                <a:tc>
                  <a:txBody>
                    <a:bodyPr/>
                    <a:lstStyle/>
                    <a:p>
                      <a:pPr algn="l">
                        <a:defRPr sz="1100" b="0">
                          <a:solidFill>
                            <a:srgbClr val="000000"/>
                          </a:solidFill>
                          <a:latin typeface="Montserrat"/>
                        </a:defRPr>
                      </a:pPr>
                      <a:r>
                        <a:t>Cirugía General</a:t>
                      </a:r>
                    </a:p>
                  </a:txBody>
                  <a:tcPr marL="45720" marR="45720" anchor="ctr">
                    <a:solidFill>
                      <a:srgbClr val="FFFFFF"/>
                    </a:solidFill>
                  </a:tcPr>
                </a:tc>
                <a:tc>
                  <a:txBody>
                    <a:bodyPr/>
                    <a:lstStyle/>
                    <a:p>
                      <a:pPr algn="ctr">
                        <a:defRPr sz="1100" b="0">
                          <a:solidFill>
                            <a:srgbClr val="000000"/>
                          </a:solidFill>
                          <a:latin typeface="Montserrat"/>
                        </a:defRPr>
                      </a:pPr>
                      <a:r>
                        <a:t>4</a:t>
                      </a:r>
                    </a:p>
                  </a:txBody>
                  <a:tcPr marL="45720" marR="45720" anchor="ctr">
                    <a:solidFill>
                      <a:srgbClr val="FFFFFF"/>
                    </a:solidFill>
                  </a:tcPr>
                </a:tc>
                <a:tc>
                  <a:txBody>
                    <a:bodyPr/>
                    <a:lstStyle/>
                    <a:p>
                      <a:pPr algn="ctr">
                        <a:defRPr sz="1100" b="1">
                          <a:solidFill>
                            <a:srgbClr val="000000"/>
                          </a:solidFill>
                          <a:latin typeface="Montserrat"/>
                        </a:defRPr>
                      </a:pPr>
                      <a:r>
                        <a:t>52.9%</a:t>
                      </a:r>
                    </a:p>
                  </a:txBody>
                  <a:tcPr marL="45720" marR="45720" anchor="ctr">
                    <a:solidFill>
                      <a:srgbClr val="FFFFFF"/>
                    </a:solidFill>
                  </a:tcPr>
                </a:tc>
                <a:extLst>
                  <a:ext uri="{0D108BD9-81ED-4DB2-BD59-A6C34878D82A}">
                    <a16:rowId xmlns:a16="http://schemas.microsoft.com/office/drawing/2014/main" val="10005"/>
                  </a:ext>
                </a:extLst>
              </a:tr>
              <a:tr h="200057">
                <a:tc>
                  <a:txBody>
                    <a:bodyPr/>
                    <a:lstStyle/>
                    <a:p>
                      <a:pPr algn="l">
                        <a:defRPr sz="1100" b="0">
                          <a:solidFill>
                            <a:srgbClr val="000000"/>
                          </a:solidFill>
                          <a:latin typeface="Montserrat"/>
                        </a:defRPr>
                      </a:pPr>
                      <a:r>
                        <a:t>Epidemiología</a:t>
                      </a:r>
                    </a:p>
                  </a:txBody>
                  <a:tcPr marL="45720" marR="45720" anchor="ctr">
                    <a:solidFill>
                      <a:srgbClr val="D9D9D9"/>
                    </a:solidFill>
                  </a:tcPr>
                </a:tc>
                <a:tc>
                  <a:txBody>
                    <a:bodyPr/>
                    <a:lstStyle/>
                    <a:p>
                      <a:pPr algn="ctr">
                        <a:defRPr sz="1100" b="0">
                          <a:solidFill>
                            <a:srgbClr val="000000"/>
                          </a:solidFill>
                          <a:latin typeface="Montserrat"/>
                        </a:defRPr>
                      </a:pPr>
                      <a:r>
                        <a:t>4</a:t>
                      </a:r>
                    </a:p>
                  </a:txBody>
                  <a:tcPr marL="45720" marR="45720" anchor="ctr">
                    <a:solidFill>
                      <a:srgbClr val="D9D9D9"/>
                    </a:solidFill>
                  </a:tcPr>
                </a:tc>
                <a:tc>
                  <a:txBody>
                    <a:bodyPr/>
                    <a:lstStyle/>
                    <a:p>
                      <a:pPr algn="ctr">
                        <a:defRPr sz="1100" b="1">
                          <a:solidFill>
                            <a:srgbClr val="000000"/>
                          </a:solidFill>
                          <a:latin typeface="Montserrat"/>
                        </a:defRPr>
                      </a:pPr>
                      <a:r>
                        <a:t>60.7%</a:t>
                      </a:r>
                    </a:p>
                  </a:txBody>
                  <a:tcPr marL="45720" marR="45720" anchor="ctr">
                    <a:solidFill>
                      <a:srgbClr val="D9D9D9"/>
                    </a:solidFill>
                  </a:tcPr>
                </a:tc>
                <a:extLst>
                  <a:ext uri="{0D108BD9-81ED-4DB2-BD59-A6C34878D82A}">
                    <a16:rowId xmlns:a16="http://schemas.microsoft.com/office/drawing/2014/main" val="10006"/>
                  </a:ext>
                </a:extLst>
              </a:tr>
              <a:tr h="200057">
                <a:tc>
                  <a:txBody>
                    <a:bodyPr/>
                    <a:lstStyle/>
                    <a:p>
                      <a:pPr algn="l">
                        <a:defRPr sz="1100" b="0">
                          <a:solidFill>
                            <a:srgbClr val="000000"/>
                          </a:solidFill>
                          <a:latin typeface="Montserrat"/>
                        </a:defRPr>
                      </a:pPr>
                      <a:r>
                        <a:t>Medicina Interna</a:t>
                      </a:r>
                    </a:p>
                  </a:txBody>
                  <a:tcPr marL="45720" marR="45720" anchor="ctr">
                    <a:solidFill>
                      <a:srgbClr val="FFFFFF"/>
                    </a:solidFill>
                  </a:tcPr>
                </a:tc>
                <a:tc>
                  <a:txBody>
                    <a:bodyPr/>
                    <a:lstStyle/>
                    <a:p>
                      <a:pPr algn="ctr">
                        <a:defRPr sz="1100" b="0">
                          <a:solidFill>
                            <a:srgbClr val="000000"/>
                          </a:solidFill>
                          <a:latin typeface="Montserrat"/>
                        </a:defRPr>
                      </a:pPr>
                      <a:r>
                        <a:t>3</a:t>
                      </a:r>
                    </a:p>
                  </a:txBody>
                  <a:tcPr marL="45720" marR="45720" anchor="ctr">
                    <a:solidFill>
                      <a:srgbClr val="FFFFFF"/>
                    </a:solidFill>
                  </a:tcPr>
                </a:tc>
                <a:tc>
                  <a:txBody>
                    <a:bodyPr/>
                    <a:lstStyle/>
                    <a:p>
                      <a:pPr algn="ctr">
                        <a:defRPr sz="1100" b="1">
                          <a:solidFill>
                            <a:srgbClr val="000000"/>
                          </a:solidFill>
                          <a:latin typeface="Montserrat"/>
                        </a:defRPr>
                      </a:pPr>
                      <a:r>
                        <a:t>66.6%</a:t>
                      </a:r>
                    </a:p>
                  </a:txBody>
                  <a:tcPr marL="45720" marR="45720" anchor="ctr">
                    <a:solidFill>
                      <a:srgbClr val="FFFFFF"/>
                    </a:solidFill>
                  </a:tcPr>
                </a:tc>
                <a:extLst>
                  <a:ext uri="{0D108BD9-81ED-4DB2-BD59-A6C34878D82A}">
                    <a16:rowId xmlns:a16="http://schemas.microsoft.com/office/drawing/2014/main" val="10007"/>
                  </a:ext>
                </a:extLst>
              </a:tr>
              <a:tr h="200057">
                <a:tc>
                  <a:txBody>
                    <a:bodyPr/>
                    <a:lstStyle/>
                    <a:p>
                      <a:pPr algn="l">
                        <a:defRPr sz="1100" b="0">
                          <a:solidFill>
                            <a:srgbClr val="000000"/>
                          </a:solidFill>
                          <a:latin typeface="Montserrat"/>
                        </a:defRPr>
                      </a:pPr>
                      <a:r>
                        <a:t>Reumatología</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70.5%</a:t>
                      </a:r>
                    </a:p>
                  </a:txBody>
                  <a:tcPr marL="45720" marR="45720" anchor="ctr">
                    <a:solidFill>
                      <a:srgbClr val="D9D9D9"/>
                    </a:solidFill>
                  </a:tcPr>
                </a:tc>
                <a:extLst>
                  <a:ext uri="{0D108BD9-81ED-4DB2-BD59-A6C34878D82A}">
                    <a16:rowId xmlns:a16="http://schemas.microsoft.com/office/drawing/2014/main" val="10008"/>
                  </a:ext>
                </a:extLst>
              </a:tr>
              <a:tr h="200057">
                <a:tc>
                  <a:txBody>
                    <a:bodyPr/>
                    <a:lstStyle/>
                    <a:p>
                      <a:pPr algn="l">
                        <a:defRPr sz="1100" b="0">
                          <a:solidFill>
                            <a:srgbClr val="000000"/>
                          </a:solidFill>
                          <a:latin typeface="Montserrat"/>
                        </a:defRPr>
                      </a:pPr>
                      <a:r>
                        <a:t>Imagenología Diagnóstico y Terapéutica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74.5%</a:t>
                      </a:r>
                    </a:p>
                  </a:txBody>
                  <a:tcPr marL="45720" marR="45720" anchor="ctr">
                    <a:solidFill>
                      <a:srgbClr val="FFFFFF"/>
                    </a:solidFill>
                  </a:tcPr>
                </a:tc>
                <a:extLst>
                  <a:ext uri="{0D108BD9-81ED-4DB2-BD59-A6C34878D82A}">
                    <a16:rowId xmlns:a16="http://schemas.microsoft.com/office/drawing/2014/main" val="10009"/>
                  </a:ext>
                </a:extLst>
              </a:tr>
              <a:tr h="200057">
                <a:tc>
                  <a:txBody>
                    <a:bodyPr/>
                    <a:lstStyle/>
                    <a:p>
                      <a:pPr algn="l">
                        <a:defRPr sz="1100" b="0">
                          <a:solidFill>
                            <a:srgbClr val="000000"/>
                          </a:solidFill>
                          <a:latin typeface="Montserrat"/>
                        </a:defRPr>
                      </a:pPr>
                      <a:r>
                        <a:t>Oftalmología</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78.4%</a:t>
                      </a:r>
                    </a:p>
                  </a:txBody>
                  <a:tcPr marL="45720" marR="45720" anchor="ctr">
                    <a:solidFill>
                      <a:srgbClr val="D9D9D9"/>
                    </a:solidFill>
                  </a:tcPr>
                </a:tc>
                <a:extLst>
                  <a:ext uri="{0D108BD9-81ED-4DB2-BD59-A6C34878D82A}">
                    <a16:rowId xmlns:a16="http://schemas.microsoft.com/office/drawing/2014/main" val="10010"/>
                  </a:ext>
                </a:extLst>
              </a:tr>
              <a:tr h="200057">
                <a:tc>
                  <a:txBody>
                    <a:bodyPr/>
                    <a:lstStyle/>
                    <a:p>
                      <a:pPr algn="l">
                        <a:defRPr sz="1100" b="0">
                          <a:solidFill>
                            <a:srgbClr val="000000"/>
                          </a:solidFill>
                          <a:latin typeface="Montserrat"/>
                        </a:defRPr>
                      </a:pPr>
                      <a:r>
                        <a:t>Ginecología y Obstetricia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82.3%</a:t>
                      </a:r>
                    </a:p>
                  </a:txBody>
                  <a:tcPr marL="45720" marR="45720" anchor="ctr">
                    <a:solidFill>
                      <a:srgbClr val="FFFFFF"/>
                    </a:solidFill>
                  </a:tcPr>
                </a:tc>
                <a:extLst>
                  <a:ext uri="{0D108BD9-81ED-4DB2-BD59-A6C34878D82A}">
                    <a16:rowId xmlns:a16="http://schemas.microsoft.com/office/drawing/2014/main" val="10011"/>
                  </a:ext>
                </a:extLst>
              </a:tr>
              <a:tr h="200057">
                <a:tc>
                  <a:txBody>
                    <a:bodyPr/>
                    <a:lstStyle/>
                    <a:p>
                      <a:pPr algn="l">
                        <a:defRPr sz="1100" b="0">
                          <a:solidFill>
                            <a:srgbClr val="000000"/>
                          </a:solidFill>
                          <a:latin typeface="Montserrat"/>
                        </a:defRPr>
                      </a:pPr>
                      <a:r>
                        <a:t>Pediatría</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86.2%</a:t>
                      </a:r>
                    </a:p>
                  </a:txBody>
                  <a:tcPr marL="45720" marR="45720" anchor="ctr">
                    <a:solidFill>
                      <a:srgbClr val="D9D9D9"/>
                    </a:solidFill>
                  </a:tcPr>
                </a:tc>
                <a:extLst>
                  <a:ext uri="{0D108BD9-81ED-4DB2-BD59-A6C34878D82A}">
                    <a16:rowId xmlns:a16="http://schemas.microsoft.com/office/drawing/2014/main" val="10012"/>
                  </a:ext>
                </a:extLst>
              </a:tr>
              <a:tr h="200057">
                <a:tc>
                  <a:txBody>
                    <a:bodyPr/>
                    <a:lstStyle/>
                    <a:p>
                      <a:pPr algn="l">
                        <a:defRPr sz="1100" b="0">
                          <a:solidFill>
                            <a:srgbClr val="000000"/>
                          </a:solidFill>
                          <a:latin typeface="Montserrat"/>
                        </a:defRPr>
                      </a:pPr>
                      <a:r>
                        <a:t>Dermatología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88.2%</a:t>
                      </a:r>
                    </a:p>
                  </a:txBody>
                  <a:tcPr marL="45720" marR="45720" anchor="ctr">
                    <a:solidFill>
                      <a:srgbClr val="FFFFFF"/>
                    </a:solidFill>
                  </a:tcPr>
                </a:tc>
                <a:extLst>
                  <a:ext uri="{0D108BD9-81ED-4DB2-BD59-A6C34878D82A}">
                    <a16:rowId xmlns:a16="http://schemas.microsoft.com/office/drawing/2014/main" val="10013"/>
                  </a:ext>
                </a:extLst>
              </a:tr>
              <a:tr h="200057">
                <a:tc>
                  <a:txBody>
                    <a:bodyPr/>
                    <a:lstStyle/>
                    <a:p>
                      <a:pPr algn="l">
                        <a:defRPr sz="1100" b="0">
                          <a:solidFill>
                            <a:srgbClr val="000000"/>
                          </a:solidFill>
                          <a:latin typeface="Montserrat"/>
                        </a:defRPr>
                      </a:pPr>
                      <a:r>
                        <a:t>Neonatología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90.1%</a:t>
                      </a:r>
                    </a:p>
                  </a:txBody>
                  <a:tcPr marL="45720" marR="45720" anchor="ctr">
                    <a:solidFill>
                      <a:srgbClr val="D9D9D9"/>
                    </a:solidFill>
                  </a:tcPr>
                </a:tc>
                <a:extLst>
                  <a:ext uri="{0D108BD9-81ED-4DB2-BD59-A6C34878D82A}">
                    <a16:rowId xmlns:a16="http://schemas.microsoft.com/office/drawing/2014/main" val="10014"/>
                  </a:ext>
                </a:extLst>
              </a:tr>
              <a:tr h="200057">
                <a:tc>
                  <a:txBody>
                    <a:bodyPr/>
                    <a:lstStyle/>
                    <a:p>
                      <a:pPr algn="l">
                        <a:defRPr sz="1100" b="0">
                          <a:solidFill>
                            <a:srgbClr val="000000"/>
                          </a:solidFill>
                          <a:latin typeface="Montserrat"/>
                        </a:defRPr>
                      </a:pPr>
                      <a:r>
                        <a:t>Nefrología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92.1%</a:t>
                      </a:r>
                    </a:p>
                  </a:txBody>
                  <a:tcPr marL="45720" marR="45720" anchor="ctr">
                    <a:solidFill>
                      <a:srgbClr val="FFFFFF"/>
                    </a:solidFill>
                  </a:tcPr>
                </a:tc>
                <a:extLst>
                  <a:ext uri="{0D108BD9-81ED-4DB2-BD59-A6C34878D82A}">
                    <a16:rowId xmlns:a16="http://schemas.microsoft.com/office/drawing/2014/main" val="10015"/>
                  </a:ext>
                </a:extLst>
              </a:tr>
              <a:tr h="200057">
                <a:tc>
                  <a:txBody>
                    <a:bodyPr/>
                    <a:lstStyle/>
                    <a:p>
                      <a:pPr algn="l">
                        <a:defRPr sz="1100" b="0">
                          <a:solidFill>
                            <a:srgbClr val="000000"/>
                          </a:solidFill>
                          <a:latin typeface="Montserrat"/>
                        </a:defRPr>
                      </a:pPr>
                      <a:r>
                        <a:t>Oncología Pediátrica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94.1%</a:t>
                      </a:r>
                    </a:p>
                  </a:txBody>
                  <a:tcPr marL="45720" marR="45720" anchor="ctr">
                    <a:solidFill>
                      <a:srgbClr val="D9D9D9"/>
                    </a:solidFill>
                  </a:tcPr>
                </a:tc>
                <a:extLst>
                  <a:ext uri="{0D108BD9-81ED-4DB2-BD59-A6C34878D82A}">
                    <a16:rowId xmlns:a16="http://schemas.microsoft.com/office/drawing/2014/main" val="10016"/>
                  </a:ext>
                </a:extLst>
              </a:tr>
              <a:tr h="200057">
                <a:tc>
                  <a:txBody>
                    <a:bodyPr/>
                    <a:lstStyle/>
                    <a:p>
                      <a:pPr algn="l">
                        <a:defRPr sz="1100" b="0">
                          <a:solidFill>
                            <a:srgbClr val="000000"/>
                          </a:solidFill>
                          <a:latin typeface="Montserrat"/>
                        </a:defRPr>
                      </a:pPr>
                      <a:r>
                        <a:t>Neurología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96.0%</a:t>
                      </a:r>
                    </a:p>
                  </a:txBody>
                  <a:tcPr marL="45720" marR="45720" anchor="ctr">
                    <a:solidFill>
                      <a:srgbClr val="FFFFFF"/>
                    </a:solidFill>
                  </a:tcPr>
                </a:tc>
                <a:extLst>
                  <a:ext uri="{0D108BD9-81ED-4DB2-BD59-A6C34878D82A}">
                    <a16:rowId xmlns:a16="http://schemas.microsoft.com/office/drawing/2014/main" val="10017"/>
                  </a:ext>
                </a:extLst>
              </a:tr>
              <a:tr h="200057">
                <a:tc>
                  <a:txBody>
                    <a:bodyPr/>
                    <a:lstStyle/>
                    <a:p>
                      <a:pPr algn="l">
                        <a:defRPr sz="1100" b="0">
                          <a:solidFill>
                            <a:srgbClr val="000000"/>
                          </a:solidFill>
                          <a:latin typeface="Montserrat"/>
                        </a:defRPr>
                      </a:pPr>
                      <a:r>
                        <a:t>Psiquiatría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98.0%</a:t>
                      </a:r>
                    </a:p>
                  </a:txBody>
                  <a:tcPr marL="45720" marR="45720" anchor="ctr">
                    <a:solidFill>
                      <a:srgbClr val="D9D9D9"/>
                    </a:solidFill>
                  </a:tcPr>
                </a:tc>
                <a:extLst>
                  <a:ext uri="{0D108BD9-81ED-4DB2-BD59-A6C34878D82A}">
                    <a16:rowId xmlns:a16="http://schemas.microsoft.com/office/drawing/2014/main" val="10018"/>
                  </a:ext>
                </a:extLst>
              </a:tr>
              <a:tr h="200057">
                <a:tc>
                  <a:txBody>
                    <a:bodyPr/>
                    <a:lstStyle/>
                    <a:p>
                      <a:pPr algn="l">
                        <a:defRPr sz="1100" b="0">
                          <a:solidFill>
                            <a:srgbClr val="000000"/>
                          </a:solidFill>
                          <a:latin typeface="Montserrat"/>
                        </a:defRPr>
                      </a:pPr>
                      <a:r>
                        <a:t>Urología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100.0%</a:t>
                      </a:r>
                    </a:p>
                  </a:txBody>
                  <a:tcPr marL="45720" marR="45720" anchor="ctr">
                    <a:solidFill>
                      <a:srgbClr val="FFFFFF"/>
                    </a:solidFill>
                  </a:tcPr>
                </a:tc>
                <a:extLst>
                  <a:ext uri="{0D108BD9-81ED-4DB2-BD59-A6C34878D82A}">
                    <a16:rowId xmlns:a16="http://schemas.microsoft.com/office/drawing/2014/main" val="10019"/>
                  </a:ext>
                </a:extLst>
              </a:tr>
              <a:tr h="200060">
                <a:tc>
                  <a:txBody>
                    <a:bodyPr/>
                    <a:lstStyle/>
                    <a:p>
                      <a:pPr algn="ctr">
                        <a:defRPr sz="1100" b="1">
                          <a:solidFill>
                            <a:srgbClr val="006455"/>
                          </a:solidFill>
                          <a:latin typeface="Montserrat"/>
                        </a:defRPr>
                      </a:pPr>
                      <a:r>
                        <a:t>Total</a:t>
                      </a:r>
                    </a:p>
                  </a:txBody>
                  <a:tcPr marL="45720" marR="45720" anchor="ctr">
                    <a:solidFill>
                      <a:srgbClr val="CBE6E1"/>
                    </a:solidFill>
                  </a:tcPr>
                </a:tc>
                <a:tc>
                  <a:txBody>
                    <a:bodyPr/>
                    <a:lstStyle/>
                    <a:p>
                      <a:pPr algn="ctr">
                        <a:defRPr sz="1100" b="1">
                          <a:solidFill>
                            <a:srgbClr val="006455"/>
                          </a:solidFill>
                          <a:latin typeface="Montserrat"/>
                        </a:defRPr>
                      </a:pPr>
                      <a:r>
                        <a:t>51</a:t>
                      </a:r>
                    </a:p>
                  </a:txBody>
                  <a:tcPr marL="45720" marR="45720" anchor="ctr">
                    <a:solidFill>
                      <a:srgbClr val="CBE6E1"/>
                    </a:solidFill>
                  </a:tcPr>
                </a:tc>
                <a:tc>
                  <a:txBody>
                    <a:bodyPr/>
                    <a:lstStyle/>
                    <a:p>
                      <a:pPr algn="ctr">
                        <a:defRPr sz="1100" b="1">
                          <a:solidFill>
                            <a:srgbClr val="006455"/>
                          </a:solidFill>
                          <a:latin typeface="Montserrat"/>
                        </a:defRPr>
                      </a:pPr>
                      <a:r>
                        <a:t>100.0%</a:t>
                      </a:r>
                    </a:p>
                  </a:txBody>
                  <a:tcPr marL="45720" marR="45720" anchor="ctr">
                    <a:solidFill>
                      <a:srgbClr val="CBE6E1"/>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564D4000-DD68-6F07-1EFC-E272982FC05C}"/>
              </a:ext>
            </a:extLst>
          </p:cNvPr>
          <p:cNvGraphicFramePr/>
          <p:nvPr>
            <p:extLst>
              <p:ext uri="{D42A27DB-BD31-4B8C-83A1-F6EECF244321}">
                <p14:modId xmlns:p14="http://schemas.microsoft.com/office/powerpoint/2010/main" val="1291029436"/>
              </p:ext>
            </p:extLst>
          </p:nvPr>
        </p:nvGraphicFramePr>
        <p:xfrm>
          <a:off x="163066" y="648223"/>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Lista de espera por especialidad y por cirugía prioritaria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COLIMA</a:t>
            </a:r>
          </a:p>
        </p:txBody>
      </p:sp>
      <p:sp>
        <p:nvSpPr>
          <p:cNvPr id="4" name="TextBox 3"/>
          <p:cNvSpPr txBox="1"/>
          <p:nvPr/>
        </p:nvSpPr>
        <p:spPr>
          <a:xfrm>
            <a:off x="226800" y="4906089"/>
            <a:ext cx="5324400" cy="123111"/>
          </a:xfrm>
          <a:prstGeom prst="rect">
            <a:avLst/>
          </a:prstGeom>
          <a:noFill/>
        </p:spPr>
        <p:txBody>
          <a:bodyPr wrap="square" lIns="0" tIns="0" rIns="0" bIns="0">
            <a:spAutoFit/>
          </a:bodyPr>
          <a:lstStyle/>
          <a:p>
            <a:pPr algn="l">
              <a:defRPr sz="800">
                <a:solidFill>
                  <a:srgbClr val="FFFFFF"/>
                </a:solidFill>
                <a:latin typeface="Montserrat"/>
              </a:defRPr>
            </a:pPr>
            <a:r>
              <a:rPr>
                <a:solidFill>
                  <a:schemeClr val="tx1"/>
                </a:solidFill>
              </a:rPr>
              <a:t>Corte de </a:t>
            </a:r>
            <a:r>
              <a:rPr err="1">
                <a:solidFill>
                  <a:schemeClr val="tx1"/>
                </a:solidFill>
              </a:rPr>
              <a:t>información</a:t>
            </a:r>
            <a:r>
              <a:rPr>
                <a:solidFill>
                  <a:schemeClr val="tx1"/>
                </a:solidFill>
              </a:rPr>
              <a:t>: </a:t>
            </a:r>
            <a:r>
              <a:rPr err="1">
                <a:solidFill>
                  <a:schemeClr val="tx1"/>
                </a:solidFill>
              </a:rPr>
              <a:t>semana</a:t>
            </a:r>
            <a:r>
              <a:rPr>
                <a:solidFill>
                  <a:schemeClr val="tx1"/>
                </a:solidFill>
              </a:rPr>
              <a:t> 24, 7 </a:t>
            </a:r>
            <a:r>
              <a:rPr err="1">
                <a:solidFill>
                  <a:schemeClr val="tx1"/>
                </a:solidFill>
              </a:rPr>
              <a:t>junio</a:t>
            </a:r>
            <a:r>
              <a:rPr>
                <a:solidFill>
                  <a:schemeClr val="tx1"/>
                </a:solidFill>
              </a:rPr>
              <a:t> 2026</a:t>
            </a:r>
          </a:p>
        </p:txBody>
      </p:sp>
      <p:graphicFrame>
        <p:nvGraphicFramePr>
          <p:cNvPr id="5" name="Table 4"/>
          <p:cNvGraphicFramePr>
            <a:graphicFrameLocks noGrp="1"/>
          </p:cNvGraphicFramePr>
          <p:nvPr>
            <p:extLst>
              <p:ext uri="{D42A27DB-BD31-4B8C-83A1-F6EECF244321}">
                <p14:modId xmlns:p14="http://schemas.microsoft.com/office/powerpoint/2010/main" val="1260960904"/>
              </p:ext>
            </p:extLst>
          </p:nvPr>
        </p:nvGraphicFramePr>
        <p:xfrm>
          <a:off x="218376" y="1366230"/>
          <a:ext cx="3639599" cy="3429000"/>
        </p:xfrm>
        <a:graphic>
          <a:graphicData uri="http://schemas.openxmlformats.org/drawingml/2006/table">
            <a:tbl>
              <a:tblPr firstRow="1" bandRow="1">
                <a:tableStyleId>{5C22544A-7EE6-4342-B048-85BDC9FD1C3A}</a:tableStyleId>
              </a:tblPr>
              <a:tblGrid>
                <a:gridCol w="1731599">
                  <a:extLst>
                    <a:ext uri="{9D8B030D-6E8A-4147-A177-3AD203B41FA5}">
                      <a16:colId xmlns:a16="http://schemas.microsoft.com/office/drawing/2014/main" val="20000"/>
                    </a:ext>
                  </a:extLst>
                </a:gridCol>
                <a:gridCol w="950400">
                  <a:extLst>
                    <a:ext uri="{9D8B030D-6E8A-4147-A177-3AD203B41FA5}">
                      <a16:colId xmlns:a16="http://schemas.microsoft.com/office/drawing/2014/main" val="20001"/>
                    </a:ext>
                  </a:extLst>
                </a:gridCol>
                <a:gridCol w="957600">
                  <a:extLst>
                    <a:ext uri="{9D8B030D-6E8A-4147-A177-3AD203B41FA5}">
                      <a16:colId xmlns:a16="http://schemas.microsoft.com/office/drawing/2014/main" val="20002"/>
                    </a:ext>
                  </a:extLst>
                </a:gridCol>
              </a:tblGrid>
              <a:tr h="216000">
                <a:tc>
                  <a:txBody>
                    <a:bodyPr/>
                    <a:lstStyle/>
                    <a:p>
                      <a:pPr algn="ctr">
                        <a:defRPr sz="1100" b="1">
                          <a:solidFill>
                            <a:srgbClr val="FFFFFF"/>
                          </a:solidFill>
                          <a:latin typeface="Montserrat"/>
                        </a:defRPr>
                      </a:pPr>
                      <a:r>
                        <a:t>Especialidad</a:t>
                      </a:r>
                    </a:p>
                  </a:txBody>
                  <a:tcPr marL="14400" marR="14400" anchor="ctr">
                    <a:solidFill>
                      <a:srgbClr val="006455"/>
                    </a:solidFill>
                  </a:tcPr>
                </a:tc>
                <a:tc>
                  <a:txBody>
                    <a:bodyPr/>
                    <a:lstStyle/>
                    <a:p>
                      <a:pPr algn="ctr">
                        <a:defRPr sz="1100" b="1">
                          <a:solidFill>
                            <a:srgbClr val="FFFFFF"/>
                          </a:solidFill>
                          <a:latin typeface="Montserrat"/>
                        </a:defRPr>
                      </a:pPr>
                      <a:r>
                        <a:t>Total</a:t>
                      </a:r>
                    </a:p>
                  </a:txBody>
                  <a:tcPr marL="14400" marR="14400" anchor="ctr">
                    <a:solidFill>
                      <a:srgbClr val="006455"/>
                    </a:solidFill>
                  </a:tcPr>
                </a:tc>
                <a:tc>
                  <a:txBody>
                    <a:bodyPr/>
                    <a:lstStyle/>
                    <a:p>
                      <a:pPr algn="ctr">
                        <a:defRPr sz="1100" b="1">
                          <a:solidFill>
                            <a:srgbClr val="FFFFFF"/>
                          </a:solidFill>
                          <a:latin typeface="Montserrat"/>
                        </a:defRPr>
                      </a:pPr>
                      <a:r>
                        <a:t>% acumulado total</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2,808</a:t>
                      </a:r>
                    </a:p>
                  </a:txBody>
                  <a:tcPr anchor="ctr">
                    <a:solidFill>
                      <a:srgbClr val="FFFFFF"/>
                    </a:solidFill>
                  </a:tcPr>
                </a:tc>
                <a:tc>
                  <a:txBody>
                    <a:bodyPr/>
                    <a:lstStyle/>
                    <a:p>
                      <a:pPr algn="ctr">
                        <a:defRPr sz="1000">
                          <a:latin typeface="Montserrat"/>
                        </a:defRPr>
                      </a:pPr>
                      <a:r>
                        <a:t>34.0%</a:t>
                      </a:r>
                    </a:p>
                  </a:txBody>
                  <a:tcPr anchor="ct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2,193</a:t>
                      </a:r>
                    </a:p>
                  </a:txBody>
                  <a:tcPr anchor="ctr">
                    <a:solidFill>
                      <a:srgbClr val="D9D9D9"/>
                    </a:solidFill>
                  </a:tcPr>
                </a:tc>
                <a:tc>
                  <a:txBody>
                    <a:bodyPr/>
                    <a:lstStyle/>
                    <a:p>
                      <a:pPr algn="ctr">
                        <a:defRPr sz="1000">
                          <a:latin typeface="Montserrat"/>
                        </a:defRPr>
                      </a:pPr>
                      <a:r>
                        <a:t>60.5%</a:t>
                      </a:r>
                    </a:p>
                  </a:txBody>
                  <a:tcPr anchor="ctr">
                    <a:solidFill>
                      <a:srgbClr val="D9D9D9"/>
                    </a:solidFill>
                  </a:tcPr>
                </a:tc>
                <a:extLst>
                  <a:ext uri="{0D108BD9-81ED-4DB2-BD59-A6C34878D82A}">
                    <a16:rowId xmlns:a16="http://schemas.microsoft.com/office/drawing/2014/main" val="10002"/>
                  </a:ext>
                </a:extLst>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885</a:t>
                      </a:r>
                    </a:p>
                  </a:txBody>
                  <a:tcPr anchor="ctr">
                    <a:solidFill>
                      <a:srgbClr val="FFFFFF"/>
                    </a:solidFill>
                  </a:tcPr>
                </a:tc>
                <a:tc>
                  <a:txBody>
                    <a:bodyPr/>
                    <a:lstStyle/>
                    <a:p>
                      <a:pPr algn="ctr">
                        <a:defRPr sz="1000">
                          <a:latin typeface="Montserrat"/>
                        </a:defRPr>
                      </a:pPr>
                      <a:r>
                        <a:t>71.2%</a:t>
                      </a:r>
                    </a:p>
                  </a:txBody>
                  <a:tcPr anchor="ct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807</a:t>
                      </a:r>
                    </a:p>
                  </a:txBody>
                  <a:tcPr anchor="ctr">
                    <a:solidFill>
                      <a:srgbClr val="D9D9D9"/>
                    </a:solidFill>
                  </a:tcPr>
                </a:tc>
                <a:tc>
                  <a:txBody>
                    <a:bodyPr/>
                    <a:lstStyle/>
                    <a:p>
                      <a:pPr algn="ctr">
                        <a:defRPr sz="1000">
                          <a:latin typeface="Montserrat"/>
                        </a:defRPr>
                      </a:pPr>
                      <a:r>
                        <a:t>81.0%</a:t>
                      </a:r>
                    </a:p>
                  </a:txBody>
                  <a:tcPr anchor="ctr">
                    <a:solidFill>
                      <a:srgbClr val="D9D9D9"/>
                    </a:solidFill>
                  </a:tcPr>
                </a:tc>
                <a:extLst>
                  <a:ext uri="{0D108BD9-81ED-4DB2-BD59-A6C34878D82A}">
                    <a16:rowId xmlns:a16="http://schemas.microsoft.com/office/drawing/2014/main" val="10004"/>
                  </a:ext>
                </a:extLst>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591</a:t>
                      </a:r>
                    </a:p>
                  </a:txBody>
                  <a:tcPr anchor="ctr">
                    <a:solidFill>
                      <a:srgbClr val="FFFFFF"/>
                    </a:solidFill>
                  </a:tcPr>
                </a:tc>
                <a:tc>
                  <a:txBody>
                    <a:bodyPr/>
                    <a:lstStyle/>
                    <a:p>
                      <a:pPr algn="ctr">
                        <a:defRPr sz="1000">
                          <a:latin typeface="Montserrat"/>
                        </a:defRPr>
                      </a:pPr>
                      <a:r>
                        <a:t>88.1%</a:t>
                      </a:r>
                    </a:p>
                  </a:txBody>
                  <a:tcPr anchor="ct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306</a:t>
                      </a:r>
                    </a:p>
                  </a:txBody>
                  <a:tcPr anchor="ctr">
                    <a:solidFill>
                      <a:srgbClr val="D9D9D9"/>
                    </a:solidFill>
                  </a:tcPr>
                </a:tc>
                <a:tc>
                  <a:txBody>
                    <a:bodyPr/>
                    <a:lstStyle/>
                    <a:p>
                      <a:pPr algn="ctr">
                        <a:defRPr sz="1000">
                          <a:latin typeface="Montserrat"/>
                        </a:defRPr>
                      </a:pPr>
                      <a:r>
                        <a:t>91.8%</a:t>
                      </a:r>
                    </a:p>
                  </a:txBody>
                  <a:tcPr anchor="ctr">
                    <a:solidFill>
                      <a:srgbClr val="D9D9D9"/>
                    </a:solidFill>
                  </a:tcPr>
                </a:tc>
                <a:extLst>
                  <a:ext uri="{0D108BD9-81ED-4DB2-BD59-A6C34878D82A}">
                    <a16:rowId xmlns:a16="http://schemas.microsoft.com/office/drawing/2014/main" val="10006"/>
                  </a:ext>
                </a:extLst>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276</a:t>
                      </a:r>
                    </a:p>
                  </a:txBody>
                  <a:tcPr anchor="ctr">
                    <a:solidFill>
                      <a:srgbClr val="FFFFFF"/>
                    </a:solidFill>
                  </a:tcPr>
                </a:tc>
                <a:tc>
                  <a:txBody>
                    <a:bodyPr/>
                    <a:lstStyle/>
                    <a:p>
                      <a:pPr algn="ctr">
                        <a:defRPr sz="1000">
                          <a:latin typeface="Montserrat"/>
                        </a:defRPr>
                      </a:pPr>
                      <a:r>
                        <a:t>95.1%</a:t>
                      </a:r>
                    </a:p>
                  </a:txBody>
                  <a:tcPr anchor="ctr">
                    <a:solidFill>
                      <a:srgbClr val="FFFFFF"/>
                    </a:solidFill>
                  </a:tcPr>
                </a:tc>
                <a:extLst>
                  <a:ext uri="{0D108BD9-81ED-4DB2-BD59-A6C34878D82A}">
                    <a16:rowId xmlns:a16="http://schemas.microsoft.com/office/drawing/2014/main" val="10007"/>
                  </a:ext>
                </a:extLst>
              </a:tr>
              <a:tr h="216000">
                <a:tc>
                  <a:txBody>
                    <a:bodyPr/>
                    <a:lstStyle/>
                    <a:p>
                      <a:pPr algn="l">
                        <a:defRPr sz="1000">
                          <a:latin typeface="Montserrat"/>
                        </a:defRPr>
                      </a:pPr>
                      <a:r>
                        <a:t>Otorrinolaringología</a:t>
                      </a:r>
                    </a:p>
                  </a:txBody>
                  <a:tcPr anchor="ctr">
                    <a:solidFill>
                      <a:srgbClr val="D9D9D9"/>
                    </a:solidFill>
                  </a:tcPr>
                </a:tc>
                <a:tc>
                  <a:txBody>
                    <a:bodyPr/>
                    <a:lstStyle/>
                    <a:p>
                      <a:pPr algn="ctr">
                        <a:defRPr sz="1000">
                          <a:latin typeface="Montserrat"/>
                        </a:defRPr>
                      </a:pPr>
                      <a:r>
                        <a:t>209</a:t>
                      </a:r>
                    </a:p>
                  </a:txBody>
                  <a:tcPr anchor="ctr">
                    <a:solidFill>
                      <a:srgbClr val="D9D9D9"/>
                    </a:solidFill>
                  </a:tcPr>
                </a:tc>
                <a:tc>
                  <a:txBody>
                    <a:bodyPr/>
                    <a:lstStyle/>
                    <a:p>
                      <a:pPr algn="ctr">
                        <a:defRPr sz="1000">
                          <a:latin typeface="Montserrat"/>
                        </a:defRPr>
                      </a:pPr>
                      <a:r>
                        <a:t>97.7%</a:t>
                      </a:r>
                    </a:p>
                  </a:txBody>
                  <a:tcPr anchor="ctr">
                    <a:solidFill>
                      <a:srgbClr val="D9D9D9"/>
                    </a:solidFill>
                  </a:tcPr>
                </a:tc>
                <a:extLst>
                  <a:ext uri="{0D108BD9-81ED-4DB2-BD59-A6C34878D82A}">
                    <a16:rowId xmlns:a16="http://schemas.microsoft.com/office/drawing/2014/main" val="10008"/>
                  </a:ext>
                </a:extLst>
              </a:tr>
              <a:tr h="216000">
                <a:tc>
                  <a:txBody>
                    <a:bodyPr/>
                    <a:lstStyle/>
                    <a:p>
                      <a:pPr algn="l">
                        <a:defRPr sz="1000">
                          <a:latin typeface="Montserrat"/>
                        </a:defRPr>
                      </a:pPr>
                      <a:r>
                        <a:t>Cirugía Pediátrica  </a:t>
                      </a:r>
                    </a:p>
                  </a:txBody>
                  <a:tcPr anchor="ctr">
                    <a:solidFill>
                      <a:srgbClr val="FFFFFF"/>
                    </a:solidFill>
                  </a:tcPr>
                </a:tc>
                <a:tc>
                  <a:txBody>
                    <a:bodyPr/>
                    <a:lstStyle/>
                    <a:p>
                      <a:pPr algn="ctr">
                        <a:defRPr sz="1000">
                          <a:latin typeface="Montserrat"/>
                        </a:defRPr>
                      </a:pPr>
                      <a:r>
                        <a:t>103</a:t>
                      </a:r>
                    </a:p>
                  </a:txBody>
                  <a:tcPr anchor="ctr">
                    <a:solidFill>
                      <a:srgbClr val="FFFFFF"/>
                    </a:solidFill>
                  </a:tcPr>
                </a:tc>
                <a:tc>
                  <a:txBody>
                    <a:bodyPr/>
                    <a:lstStyle/>
                    <a:p>
                      <a:pPr algn="ctr">
                        <a:defRPr sz="1000">
                          <a:latin typeface="Montserrat"/>
                        </a:defRPr>
                      </a:pPr>
                      <a:r>
                        <a:t>98.9%</a:t>
                      </a:r>
                    </a:p>
                  </a:txBody>
                  <a:tcPr anchor="ctr">
                    <a:solidFill>
                      <a:srgbClr val="FFFFFF"/>
                    </a:solidFill>
                  </a:tcPr>
                </a:tc>
                <a:extLst>
                  <a:ext uri="{0D108BD9-81ED-4DB2-BD59-A6C34878D82A}">
                    <a16:rowId xmlns:a16="http://schemas.microsoft.com/office/drawing/2014/main" val="10009"/>
                  </a:ext>
                </a:extLst>
              </a:tr>
              <a:tr h="216000">
                <a:tc>
                  <a:txBody>
                    <a:bodyPr/>
                    <a:lstStyle/>
                    <a:p>
                      <a:pPr algn="l">
                        <a:defRPr sz="1000">
                          <a:latin typeface="Montserrat"/>
                        </a:defRPr>
                      </a:pPr>
                      <a:r>
                        <a:t>Anestesiología</a:t>
                      </a:r>
                    </a:p>
                  </a:txBody>
                  <a:tcPr anchor="ctr">
                    <a:solidFill>
                      <a:srgbClr val="D9D9D9"/>
                    </a:solidFill>
                  </a:tcPr>
                </a:tc>
                <a:tc>
                  <a:txBody>
                    <a:bodyPr/>
                    <a:lstStyle/>
                    <a:p>
                      <a:pPr algn="ctr">
                        <a:defRPr sz="1000">
                          <a:latin typeface="Montserrat"/>
                        </a:defRPr>
                      </a:pPr>
                      <a:r>
                        <a:t>90</a:t>
                      </a:r>
                    </a:p>
                  </a:txBody>
                  <a:tcPr anchor="ctr">
                    <a:solidFill>
                      <a:srgbClr val="D9D9D9"/>
                    </a:solidFill>
                  </a:tcPr>
                </a:tc>
                <a:tc>
                  <a:txBody>
                    <a:bodyPr/>
                    <a:lstStyle/>
                    <a:p>
                      <a:pPr algn="ctr">
                        <a:defRPr sz="1000">
                          <a:latin typeface="Montserrat"/>
                        </a:defRPr>
                      </a:pPr>
                      <a:r>
                        <a:t>100.0%</a:t>
                      </a:r>
                    </a:p>
                  </a:txBody>
                  <a:tcPr anchor="ctr">
                    <a:solidFill>
                      <a:srgbClr val="D9D9D9"/>
                    </a:solidFill>
                  </a:tcPr>
                </a:tc>
                <a:extLst>
                  <a:ext uri="{0D108BD9-81ED-4DB2-BD59-A6C34878D82A}">
                    <a16:rowId xmlns:a16="http://schemas.microsoft.com/office/drawing/2014/main" val="10010"/>
                  </a:ext>
                </a:extLst>
              </a:tr>
              <a:tr h="216000">
                <a:tc>
                  <a:txBody>
                    <a:bodyPr/>
                    <a:lstStyle/>
                    <a:p>
                      <a:pPr algn="ctr">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8,268</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extLst>
                  <a:ext uri="{0D108BD9-81ED-4DB2-BD59-A6C34878D82A}">
                    <a16:rowId xmlns:a16="http://schemas.microsoft.com/office/drawing/2014/main" val="10011"/>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743135631"/>
              </p:ext>
            </p:extLst>
          </p:nvPr>
        </p:nvGraphicFramePr>
        <p:xfrm>
          <a:off x="3930408" y="1366230"/>
          <a:ext cx="3639599" cy="3429002"/>
        </p:xfrm>
        <a:graphic>
          <a:graphicData uri="http://schemas.openxmlformats.org/drawingml/2006/table">
            <a:tbl>
              <a:tblPr firstRow="1" bandRow="1">
                <a:tableStyleId>{5C22544A-7EE6-4342-B048-85BDC9FD1C3A}</a:tableStyleId>
              </a:tblPr>
              <a:tblGrid>
                <a:gridCol w="1738800">
                  <a:extLst>
                    <a:ext uri="{9D8B030D-6E8A-4147-A177-3AD203B41FA5}">
                      <a16:colId xmlns:a16="http://schemas.microsoft.com/office/drawing/2014/main" val="20000"/>
                    </a:ext>
                  </a:extLst>
                </a:gridCol>
                <a:gridCol w="1000799">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tblGrid>
              <a:tr h="622160">
                <a:tc>
                  <a:txBody>
                    <a:bodyPr/>
                    <a:lstStyle/>
                    <a:p>
                      <a:pPr algn="ctr">
                        <a:defRPr sz="1100" b="1">
                          <a:solidFill>
                            <a:srgbClr val="FFFFFF"/>
                          </a:solidFill>
                          <a:latin typeface="Montserrat"/>
                        </a:defRPr>
                      </a:pPr>
                      <a:r>
                        <a:t>Cirugía prioritaria</a:t>
                      </a:r>
                    </a:p>
                  </a:txBody>
                  <a:tcPr marL="14400" marR="14400" anchor="ctr">
                    <a:solidFill>
                      <a:srgbClr val="006455"/>
                    </a:solidFill>
                  </a:tcPr>
                </a:tc>
                <a:tc>
                  <a:txBody>
                    <a:bodyPr/>
                    <a:lstStyle/>
                    <a:p>
                      <a:pPr algn="ctr">
                        <a:defRPr sz="1100" b="1">
                          <a:solidFill>
                            <a:srgbClr val="FFFFFF"/>
                          </a:solidFill>
                          <a:latin typeface="Montserrat"/>
                        </a:defRPr>
                      </a:pPr>
                      <a:r>
                        <a:t>Total</a:t>
                      </a:r>
                    </a:p>
                  </a:txBody>
                  <a:tcPr marL="14400" marR="14400" anchor="ctr">
                    <a:solidFill>
                      <a:srgbClr val="006455"/>
                    </a:solidFill>
                  </a:tcPr>
                </a:tc>
                <a:tc>
                  <a:txBody>
                    <a:bodyPr/>
                    <a:lstStyle/>
                    <a:p>
                      <a:pPr algn="ctr">
                        <a:defRPr sz="1100" b="1">
                          <a:solidFill>
                            <a:srgbClr val="FFFFFF"/>
                          </a:solidFill>
                          <a:latin typeface="Montserrat"/>
                        </a:defRPr>
                      </a:pPr>
                      <a:r>
                        <a:t>% del total</a:t>
                      </a:r>
                    </a:p>
                  </a:txBody>
                  <a:tcPr marL="14400" marR="14400" anchor="ctr">
                    <a:solidFill>
                      <a:srgbClr val="006455"/>
                    </a:solidFill>
                  </a:tcPr>
                </a:tc>
                <a:extLst>
                  <a:ext uri="{0D108BD9-81ED-4DB2-BD59-A6C34878D82A}">
                    <a16:rowId xmlns:a16="http://schemas.microsoft.com/office/drawing/2014/main" val="10000"/>
                  </a:ext>
                </a:extLst>
              </a:tr>
              <a:tr h="325431">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675</a:t>
                      </a:r>
                    </a:p>
                  </a:txBody>
                  <a:tcPr anchor="ctr">
                    <a:solidFill>
                      <a:srgbClr val="FFFFFF"/>
                    </a:solidFill>
                  </a:tcPr>
                </a:tc>
                <a:tc>
                  <a:txBody>
                    <a:bodyPr/>
                    <a:lstStyle/>
                    <a:p>
                      <a:pPr algn="ctr">
                        <a:defRPr sz="1000">
                          <a:latin typeface="Montserrat"/>
                        </a:defRPr>
                      </a:pPr>
                      <a:r>
                        <a:t>28.6%</a:t>
                      </a:r>
                    </a:p>
                  </a:txBody>
                  <a:tcPr anchor="ctr">
                    <a:solidFill>
                      <a:srgbClr val="FFFFFF"/>
                    </a:solidFill>
                  </a:tcPr>
                </a:tc>
                <a:extLst>
                  <a:ext uri="{0D108BD9-81ED-4DB2-BD59-A6C34878D82A}">
                    <a16:rowId xmlns:a16="http://schemas.microsoft.com/office/drawing/2014/main" val="10001"/>
                  </a:ext>
                </a:extLst>
              </a:tr>
              <a:tr h="325431">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587</a:t>
                      </a:r>
                    </a:p>
                  </a:txBody>
                  <a:tcPr anchor="ctr">
                    <a:solidFill>
                      <a:srgbClr val="D9D9D9"/>
                    </a:solidFill>
                  </a:tcPr>
                </a:tc>
                <a:tc>
                  <a:txBody>
                    <a:bodyPr/>
                    <a:lstStyle/>
                    <a:p>
                      <a:pPr algn="ctr">
                        <a:defRPr sz="1000">
                          <a:latin typeface="Montserrat"/>
                        </a:defRPr>
                      </a:pPr>
                      <a:r>
                        <a:t>53.5%</a:t>
                      </a:r>
                    </a:p>
                  </a:txBody>
                  <a:tcPr anchor="ctr">
                    <a:solidFill>
                      <a:srgbClr val="D9D9D9"/>
                    </a:solidFill>
                  </a:tcPr>
                </a:tc>
                <a:extLst>
                  <a:ext uri="{0D108BD9-81ED-4DB2-BD59-A6C34878D82A}">
                    <a16:rowId xmlns:a16="http://schemas.microsoft.com/office/drawing/2014/main" val="10002"/>
                  </a:ext>
                </a:extLst>
              </a:tr>
              <a:tr h="528825">
                <a:tc>
                  <a:txBody>
                    <a:bodyPr/>
                    <a:lstStyle/>
                    <a:p>
                      <a:pPr algn="l">
                        <a:defRPr sz="1000">
                          <a:latin typeface="Montserrat"/>
                        </a:defRPr>
                      </a:pPr>
                      <a:r>
                        <a:t>Hernioplastías abdominales</a:t>
                      </a:r>
                    </a:p>
                  </a:txBody>
                  <a:tcPr anchor="ctr">
                    <a:solidFill>
                      <a:srgbClr val="FFFFFF"/>
                    </a:solidFill>
                  </a:tcPr>
                </a:tc>
                <a:tc>
                  <a:txBody>
                    <a:bodyPr/>
                    <a:lstStyle/>
                    <a:p>
                      <a:pPr algn="ctr">
                        <a:defRPr sz="1000">
                          <a:latin typeface="Montserrat"/>
                        </a:defRPr>
                      </a:pPr>
                      <a:r>
                        <a:t>410</a:t>
                      </a:r>
                    </a:p>
                  </a:txBody>
                  <a:tcPr anchor="ctr">
                    <a:solidFill>
                      <a:srgbClr val="FFFFFF"/>
                    </a:solidFill>
                  </a:tcPr>
                </a:tc>
                <a:tc>
                  <a:txBody>
                    <a:bodyPr/>
                    <a:lstStyle/>
                    <a:p>
                      <a:pPr algn="ctr">
                        <a:defRPr sz="1000">
                          <a:latin typeface="Montserrat"/>
                        </a:defRPr>
                      </a:pPr>
                      <a:r>
                        <a:t>70.8%</a:t>
                      </a:r>
                    </a:p>
                  </a:txBody>
                  <a:tcPr anchor="ctr">
                    <a:solidFill>
                      <a:srgbClr val="FFFFFF"/>
                    </a:solidFill>
                  </a:tcPr>
                </a:tc>
                <a:extLst>
                  <a:ext uri="{0D108BD9-81ED-4DB2-BD59-A6C34878D82A}">
                    <a16:rowId xmlns:a16="http://schemas.microsoft.com/office/drawing/2014/main" val="10003"/>
                  </a:ext>
                </a:extLst>
              </a:tr>
              <a:tr h="325431">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361</a:t>
                      </a:r>
                    </a:p>
                  </a:txBody>
                  <a:tcPr anchor="ctr">
                    <a:solidFill>
                      <a:srgbClr val="D9D9D9"/>
                    </a:solidFill>
                  </a:tcPr>
                </a:tc>
                <a:tc>
                  <a:txBody>
                    <a:bodyPr/>
                    <a:lstStyle/>
                    <a:p>
                      <a:pPr algn="ctr">
                        <a:defRPr sz="1000">
                          <a:latin typeface="Montserrat"/>
                        </a:defRPr>
                      </a:pPr>
                      <a:r>
                        <a:t>86.1%</a:t>
                      </a:r>
                    </a:p>
                  </a:txBody>
                  <a:tcPr anchor="ctr">
                    <a:solidFill>
                      <a:srgbClr val="D9D9D9"/>
                    </a:solidFill>
                  </a:tcPr>
                </a:tc>
                <a:extLst>
                  <a:ext uri="{0D108BD9-81ED-4DB2-BD59-A6C34878D82A}">
                    <a16:rowId xmlns:a16="http://schemas.microsoft.com/office/drawing/2014/main" val="10004"/>
                  </a:ext>
                </a:extLst>
              </a:tr>
              <a:tr h="325431">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180</a:t>
                      </a:r>
                    </a:p>
                  </a:txBody>
                  <a:tcPr anchor="ctr">
                    <a:solidFill>
                      <a:srgbClr val="FFFFFF"/>
                    </a:solidFill>
                  </a:tcPr>
                </a:tc>
                <a:tc>
                  <a:txBody>
                    <a:bodyPr/>
                    <a:lstStyle/>
                    <a:p>
                      <a:pPr algn="ctr">
                        <a:defRPr sz="1000">
                          <a:latin typeface="Montserrat"/>
                        </a:defRPr>
                      </a:pPr>
                      <a:r>
                        <a:t>93.7%</a:t>
                      </a:r>
                    </a:p>
                  </a:txBody>
                  <a:tcPr anchor="ctr">
                    <a:solidFill>
                      <a:srgbClr val="FFFFFF"/>
                    </a:solidFill>
                  </a:tcPr>
                </a:tc>
                <a:extLst>
                  <a:ext uri="{0D108BD9-81ED-4DB2-BD59-A6C34878D82A}">
                    <a16:rowId xmlns:a16="http://schemas.microsoft.com/office/drawing/2014/main" val="10005"/>
                  </a:ext>
                </a:extLst>
              </a:tr>
              <a:tr h="325431">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85</a:t>
                      </a:r>
                    </a:p>
                  </a:txBody>
                  <a:tcPr anchor="ctr">
                    <a:solidFill>
                      <a:srgbClr val="D9D9D9"/>
                    </a:solidFill>
                  </a:tcPr>
                </a:tc>
                <a:tc>
                  <a:txBody>
                    <a:bodyPr/>
                    <a:lstStyle/>
                    <a:p>
                      <a:pPr algn="ctr">
                        <a:defRPr sz="1000">
                          <a:latin typeface="Montserrat"/>
                        </a:defRPr>
                      </a:pPr>
                      <a:r>
                        <a:t>97.3%</a:t>
                      </a:r>
                    </a:p>
                  </a:txBody>
                  <a:tcPr anchor="ctr">
                    <a:solidFill>
                      <a:srgbClr val="D9D9D9"/>
                    </a:solidFill>
                  </a:tcPr>
                </a:tc>
                <a:extLst>
                  <a:ext uri="{0D108BD9-81ED-4DB2-BD59-A6C34878D82A}">
                    <a16:rowId xmlns:a16="http://schemas.microsoft.com/office/drawing/2014/main" val="10006"/>
                  </a:ext>
                </a:extLst>
              </a:tr>
              <a:tr h="325431">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63</a:t>
                      </a:r>
                    </a:p>
                  </a:txBody>
                  <a:tcPr anchor="ctr">
                    <a:solidFill>
                      <a:srgbClr val="FFFFFF"/>
                    </a:solidFill>
                  </a:tcPr>
                </a:tc>
                <a:tc>
                  <a:txBody>
                    <a:bodyPr/>
                    <a:lstStyle/>
                    <a:p>
                      <a:pPr algn="ctr">
                        <a:defRPr sz="1000">
                          <a:latin typeface="Montserrat"/>
                        </a:defRPr>
                      </a:pPr>
                      <a:r>
                        <a:t>100.0%</a:t>
                      </a:r>
                    </a:p>
                  </a:txBody>
                  <a:tcPr anchor="ctr">
                    <a:solidFill>
                      <a:srgbClr val="FFFFFF"/>
                    </a:solidFill>
                  </a:tcPr>
                </a:tc>
                <a:extLst>
                  <a:ext uri="{0D108BD9-81ED-4DB2-BD59-A6C34878D82A}">
                    <a16:rowId xmlns:a16="http://schemas.microsoft.com/office/drawing/2014/main" val="10007"/>
                  </a:ext>
                </a:extLst>
              </a:tr>
              <a:tr h="325431">
                <a:tc>
                  <a:txBody>
                    <a:bodyPr/>
                    <a:lstStyle/>
                    <a:p>
                      <a:pPr algn="ctr">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2,361</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extLst>
                  <a:ext uri="{0D108BD9-81ED-4DB2-BD59-A6C34878D82A}">
                    <a16:rowId xmlns:a16="http://schemas.microsoft.com/office/drawing/2014/main" val="10008"/>
                  </a:ext>
                </a:extLst>
              </a:tr>
            </a:tbl>
          </a:graphicData>
        </a:graphic>
      </p:graphicFrame>
      <p:sp>
        <p:nvSpPr>
          <p:cNvPr id="8" name="TextBox 231">
            <a:extLst>
              <a:ext uri="{FF2B5EF4-FFF2-40B4-BE49-F238E27FC236}">
                <a16:creationId xmlns:a16="http://schemas.microsoft.com/office/drawing/2014/main" id="{6599FD30-3B89-C326-8784-B0043F7B5198}"/>
              </a:ext>
            </a:extLst>
          </p:cNvPr>
          <p:cNvSpPr txBox="1"/>
          <p:nvPr/>
        </p:nvSpPr>
        <p:spPr>
          <a:xfrm>
            <a:off x="663835" y="6481220"/>
            <a:ext cx="5324400" cy="123111"/>
          </a:xfrm>
          <a:prstGeom prst="rect">
            <a:avLst/>
          </a:prstGeom>
          <a:noFill/>
        </p:spPr>
        <p:txBody>
          <a:bodyPr wrap="square" lIns="0" tIns="0" rIns="0" bIns="0" anchor="t">
            <a:spAutoFit/>
          </a:bodyPr>
          <a:lstStyle/>
          <a:p>
            <a:pPr>
              <a:defRPr sz="800">
                <a:solidFill>
                  <a:srgbClr val="000000"/>
                </a:solidFill>
                <a:latin typeface="Montserrat"/>
              </a:defRPr>
            </a:pPr>
            <a:r>
              <a:t>Corte de </a:t>
            </a:r>
            <a:r>
              <a:rPr lang="en-US" err="1"/>
              <a:t>información</a:t>
            </a:r>
            <a:r>
              <a:t>: </a:t>
            </a:r>
            <a:r>
              <a:rPr lang="es-MX"/>
              <a:t>18 de junio de</a:t>
            </a:r>
            <a:r>
              <a:t> 2026</a:t>
            </a:r>
          </a:p>
        </p:txBody>
      </p:sp>
      <p:graphicFrame>
        <p:nvGraphicFramePr>
          <p:cNvPr id="10" name="Google Shape;230;g370e87ffe7a_2_137">
            <a:extLst>
              <a:ext uri="{FF2B5EF4-FFF2-40B4-BE49-F238E27FC236}">
                <a16:creationId xmlns:a16="http://schemas.microsoft.com/office/drawing/2014/main" id="{30D6B683-646C-B1F5-19BF-D5F2037683B5}"/>
              </a:ext>
            </a:extLst>
          </p:cNvPr>
          <p:cNvGraphicFramePr/>
          <p:nvPr>
            <p:extLst>
              <p:ext uri="{D42A27DB-BD31-4B8C-83A1-F6EECF244321}">
                <p14:modId xmlns:p14="http://schemas.microsoft.com/office/powerpoint/2010/main" val="2901904160"/>
              </p:ext>
            </p:extLst>
          </p:nvPr>
        </p:nvGraphicFramePr>
        <p:xfrm>
          <a:off x="200058" y="5316847"/>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Vive saludable, Vive feliz</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2" name="Table 232">
            <a:extLst>
              <a:ext uri="{FF2B5EF4-FFF2-40B4-BE49-F238E27FC236}">
                <a16:creationId xmlns:a16="http://schemas.microsoft.com/office/drawing/2014/main" id="{65FD01F2-683B-B820-AC3E-04BFD232B76E}"/>
              </a:ext>
            </a:extLst>
          </p:cNvPr>
          <p:cNvGraphicFramePr>
            <a:graphicFrameLocks noGrp="1"/>
          </p:cNvGraphicFramePr>
          <p:nvPr>
            <p:extLst>
              <p:ext uri="{D42A27DB-BD31-4B8C-83A1-F6EECF244321}">
                <p14:modId xmlns:p14="http://schemas.microsoft.com/office/powerpoint/2010/main" val="1020269776"/>
              </p:ext>
            </p:extLst>
          </p:nvPr>
        </p:nvGraphicFramePr>
        <p:xfrm>
          <a:off x="659906" y="5774410"/>
          <a:ext cx="6352206" cy="670560"/>
        </p:xfrm>
        <a:graphic>
          <a:graphicData uri="http://schemas.openxmlformats.org/drawingml/2006/table">
            <a:tbl>
              <a:tblPr firstRow="1" bandRow="1">
                <a:tableStyleId>{5C22544A-7EE6-4342-B048-85BDC9FD1C3A}</a:tableStyleId>
              </a:tblPr>
              <a:tblGrid>
                <a:gridCol w="2392647">
                  <a:extLst>
                    <a:ext uri="{9D8B030D-6E8A-4147-A177-3AD203B41FA5}">
                      <a16:colId xmlns:a16="http://schemas.microsoft.com/office/drawing/2014/main" val="20000"/>
                    </a:ext>
                  </a:extLst>
                </a:gridCol>
                <a:gridCol w="1313221">
                  <a:extLst>
                    <a:ext uri="{9D8B030D-6E8A-4147-A177-3AD203B41FA5}">
                      <a16:colId xmlns:a16="http://schemas.microsoft.com/office/drawing/2014/main" val="20001"/>
                    </a:ext>
                  </a:extLst>
                </a:gridCol>
                <a:gridCol w="1323169">
                  <a:extLst>
                    <a:ext uri="{9D8B030D-6E8A-4147-A177-3AD203B41FA5}">
                      <a16:colId xmlns:a16="http://schemas.microsoft.com/office/drawing/2014/main" val="20002"/>
                    </a:ext>
                  </a:extLst>
                </a:gridCol>
                <a:gridCol w="1323169">
                  <a:extLst>
                    <a:ext uri="{9D8B030D-6E8A-4147-A177-3AD203B41FA5}">
                      <a16:colId xmlns:a16="http://schemas.microsoft.com/office/drawing/2014/main" val="1781743087"/>
                    </a:ext>
                  </a:extLst>
                </a:gridCol>
              </a:tblGrid>
              <a:tr h="216000">
                <a:tc>
                  <a:txBody>
                    <a:bodyPr/>
                    <a:lstStyle/>
                    <a:p>
                      <a:pPr algn="ctr">
                        <a:defRPr sz="1100" b="1">
                          <a:solidFill>
                            <a:srgbClr val="FFFFFF"/>
                          </a:solidFill>
                          <a:latin typeface="Montserrat"/>
                        </a:defRPr>
                      </a:pPr>
                      <a:r>
                        <a:rPr lang="es-MX"/>
                        <a:t>Total de Escuelas</a:t>
                      </a:r>
                      <a:endParaRPr/>
                    </a:p>
                  </a:txBody>
                  <a:tcPr marL="14400" marR="14400" anchor="ctr">
                    <a:solidFill>
                      <a:srgbClr val="006455"/>
                    </a:solidFill>
                  </a:tcPr>
                </a:tc>
                <a:tc>
                  <a:txBody>
                    <a:bodyPr/>
                    <a:lstStyle/>
                    <a:p>
                      <a:pPr algn="ctr">
                        <a:defRPr sz="1100" b="1">
                          <a:solidFill>
                            <a:srgbClr val="FFFFFF"/>
                          </a:solidFill>
                          <a:latin typeface="Montserrat"/>
                        </a:defRPr>
                      </a:pPr>
                      <a:r>
                        <a:rPr lang="es-MX"/>
                        <a:t>Escuelas visitadas</a:t>
                      </a:r>
                      <a:endParaRPr/>
                    </a:p>
                  </a:txBody>
                  <a:tcPr marL="14400" marR="14400" anchor="ctr">
                    <a:solidFill>
                      <a:srgbClr val="006455"/>
                    </a:solidFill>
                  </a:tcPr>
                </a:tc>
                <a:tc>
                  <a:txBody>
                    <a:bodyPr/>
                    <a:lstStyle/>
                    <a:p>
                      <a:pPr algn="ctr">
                        <a:defRPr sz="1100" b="1">
                          <a:solidFill>
                            <a:srgbClr val="FFFFFF"/>
                          </a:solidFill>
                          <a:latin typeface="Montserrat"/>
                        </a:defRPr>
                      </a:pPr>
                      <a:r>
                        <a:rPr lang="es-MX"/>
                        <a:t>Población </a:t>
                      </a:r>
                      <a:endParaRPr/>
                    </a:p>
                  </a:txBody>
                  <a:tcPr marL="14400" marR="14400" anchor="ctr">
                    <a:solidFill>
                      <a:srgbClr val="006455"/>
                    </a:solidFill>
                  </a:tcPr>
                </a:tc>
                <a:tc>
                  <a:txBody>
                    <a:bodyPr/>
                    <a:lstStyle/>
                    <a:p>
                      <a:pPr algn="ctr">
                        <a:defRPr sz="1100" b="1">
                          <a:solidFill>
                            <a:srgbClr val="FFFFFF"/>
                          </a:solidFill>
                          <a:latin typeface="Montserrat"/>
                        </a:defRPr>
                      </a:pPr>
                      <a:r>
                        <a:rPr lang="es-MX"/>
                        <a:t>Menores tamizados</a:t>
                      </a:r>
                      <a:endParaRP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ctr">
                        <a:defRPr sz="1000" b="1">
                          <a:solidFill>
                            <a:srgbClr val="006455"/>
                          </a:solidFill>
                          <a:latin typeface="Montserrat"/>
                        </a:defRPr>
                      </a:pPr>
                      <a:r>
                        <a:rPr lang="es-MX"/>
                        <a:t>1,257</a:t>
                      </a:r>
                    </a:p>
                  </a:txBody>
                  <a:tcPr anchor="ctr">
                    <a:solidFill>
                      <a:srgbClr val="D3E9E7"/>
                    </a:solidFill>
                  </a:tcPr>
                </a:tc>
                <a:tc>
                  <a:txBody>
                    <a:bodyPr/>
                    <a:lstStyle/>
                    <a:p>
                      <a:pPr algn="ctr">
                        <a:defRPr sz="1000" b="1">
                          <a:solidFill>
                            <a:srgbClr val="006455"/>
                          </a:solidFill>
                          <a:latin typeface="Montserrat"/>
                        </a:defRPr>
                      </a:pPr>
                      <a:r>
                        <a:rPr lang="es-MX"/>
                        <a:t>1,198</a:t>
                      </a:r>
                    </a:p>
                  </a:txBody>
                  <a:tcPr anchor="ctr">
                    <a:solidFill>
                      <a:srgbClr val="D3E9E7"/>
                    </a:solidFill>
                  </a:tcPr>
                </a:tc>
                <a:tc>
                  <a:txBody>
                    <a:bodyPr/>
                    <a:lstStyle/>
                    <a:p>
                      <a:pPr algn="ctr">
                        <a:defRPr sz="1000" b="1">
                          <a:solidFill>
                            <a:srgbClr val="006455"/>
                          </a:solidFill>
                          <a:latin typeface="Montserrat"/>
                        </a:defRPr>
                      </a:pPr>
                      <a:r>
                        <a:rPr lang="es-MX"/>
                        <a:t>232,993</a:t>
                      </a:r>
                    </a:p>
                  </a:txBody>
                  <a:tcPr anchor="ctr">
                    <a:solidFill>
                      <a:srgbClr val="D3E9E7"/>
                    </a:solidFill>
                  </a:tcPr>
                </a:tc>
                <a:tc>
                  <a:txBody>
                    <a:bodyPr/>
                    <a:lstStyle/>
                    <a:p>
                      <a:pPr algn="ctr">
                        <a:defRPr sz="1000" b="1">
                          <a:solidFill>
                            <a:srgbClr val="006455"/>
                          </a:solidFill>
                          <a:latin typeface="Montserrat"/>
                        </a:defRPr>
                      </a:pPr>
                      <a:r>
                        <a:rPr lang="es-MX"/>
                        <a:t>150,701</a:t>
                      </a:r>
                    </a:p>
                  </a:txBody>
                  <a:tcPr anchor="ctr">
                    <a:solidFill>
                      <a:srgbClr val="D3E9E7"/>
                    </a:solidFill>
                  </a:tcPr>
                </a:tc>
                <a:extLst>
                  <a:ext uri="{0D108BD9-81ED-4DB2-BD59-A6C34878D82A}">
                    <a16:rowId xmlns:a16="http://schemas.microsoft.com/office/drawing/2014/main" val="10011"/>
                  </a:ext>
                </a:extLst>
              </a:tr>
            </a:tbl>
          </a:graphicData>
        </a:graphic>
      </p:graphicFrame>
      <p:graphicFrame>
        <p:nvGraphicFramePr>
          <p:cNvPr id="14" name="Table 232">
            <a:extLst>
              <a:ext uri="{FF2B5EF4-FFF2-40B4-BE49-F238E27FC236}">
                <a16:creationId xmlns:a16="http://schemas.microsoft.com/office/drawing/2014/main" id="{3192347C-F6A3-ACDB-A089-37A14A8FD651}"/>
              </a:ext>
            </a:extLst>
          </p:cNvPr>
          <p:cNvGraphicFramePr>
            <a:graphicFrameLocks noGrp="1"/>
          </p:cNvGraphicFramePr>
          <p:nvPr>
            <p:extLst>
              <p:ext uri="{D42A27DB-BD31-4B8C-83A1-F6EECF244321}">
                <p14:modId xmlns:p14="http://schemas.microsoft.com/office/powerpoint/2010/main" val="2160875623"/>
              </p:ext>
            </p:extLst>
          </p:nvPr>
        </p:nvGraphicFramePr>
        <p:xfrm>
          <a:off x="1735038" y="6747839"/>
          <a:ext cx="3705868" cy="670560"/>
        </p:xfrm>
        <a:graphic>
          <a:graphicData uri="http://schemas.openxmlformats.org/drawingml/2006/table">
            <a:tbl>
              <a:tblPr firstRow="1" bandRow="1">
                <a:tableStyleId>{5C22544A-7EE6-4342-B048-85BDC9FD1C3A}</a:tableStyleId>
              </a:tblPr>
              <a:tblGrid>
                <a:gridCol w="2392647">
                  <a:extLst>
                    <a:ext uri="{9D8B030D-6E8A-4147-A177-3AD203B41FA5}">
                      <a16:colId xmlns:a16="http://schemas.microsoft.com/office/drawing/2014/main" val="20000"/>
                    </a:ext>
                  </a:extLst>
                </a:gridCol>
                <a:gridCol w="1313221">
                  <a:extLst>
                    <a:ext uri="{9D8B030D-6E8A-4147-A177-3AD203B41FA5}">
                      <a16:colId xmlns:a16="http://schemas.microsoft.com/office/drawing/2014/main" val="20001"/>
                    </a:ext>
                  </a:extLst>
                </a:gridCol>
              </a:tblGrid>
              <a:tr h="216000">
                <a:tc>
                  <a:txBody>
                    <a:bodyPr/>
                    <a:lstStyle/>
                    <a:p>
                      <a:pPr algn="ctr">
                        <a:defRPr sz="1100" b="1">
                          <a:solidFill>
                            <a:srgbClr val="FFFFFF"/>
                          </a:solidFill>
                          <a:latin typeface="Montserrat"/>
                        </a:defRPr>
                      </a:pPr>
                      <a:r>
                        <a:rPr lang="es-MX"/>
                        <a:t>Brigadas</a:t>
                      </a:r>
                      <a:endParaRPr/>
                    </a:p>
                  </a:txBody>
                  <a:tcPr marL="14400" marR="14400" anchor="ctr">
                    <a:solidFill>
                      <a:srgbClr val="006455"/>
                    </a:solidFill>
                  </a:tcPr>
                </a:tc>
                <a:tc>
                  <a:txBody>
                    <a:bodyPr/>
                    <a:lstStyle/>
                    <a:p>
                      <a:pPr algn="ctr">
                        <a:defRPr sz="1100" b="1">
                          <a:solidFill>
                            <a:srgbClr val="FFFFFF"/>
                          </a:solidFill>
                          <a:latin typeface="Montserrat"/>
                        </a:defRPr>
                      </a:pPr>
                      <a:r>
                        <a:rPr lang="es-MX"/>
                        <a:t>Personal de enfermería IMSS</a:t>
                      </a:r>
                      <a:endParaRP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ctr">
                        <a:defRPr sz="1000" b="1">
                          <a:solidFill>
                            <a:srgbClr val="006455"/>
                          </a:solidFill>
                          <a:latin typeface="Montserrat"/>
                        </a:defRPr>
                      </a:pPr>
                      <a:r>
                        <a:rPr lang="es-MX"/>
                        <a:t>12</a:t>
                      </a:r>
                    </a:p>
                  </a:txBody>
                  <a:tcPr anchor="ctr">
                    <a:solidFill>
                      <a:srgbClr val="D3E9E7"/>
                    </a:solidFill>
                  </a:tcPr>
                </a:tc>
                <a:tc>
                  <a:txBody>
                    <a:bodyPr/>
                    <a:lstStyle/>
                    <a:p>
                      <a:pPr algn="ctr">
                        <a:defRPr sz="1000" b="1">
                          <a:solidFill>
                            <a:srgbClr val="006455"/>
                          </a:solidFill>
                          <a:latin typeface="Montserrat"/>
                        </a:defRPr>
                      </a:pPr>
                      <a:r>
                        <a:rPr lang="es-MX"/>
                        <a:t>60</a:t>
                      </a:r>
                    </a:p>
                  </a:txBody>
                  <a:tcPr anchor="ctr">
                    <a:solidFill>
                      <a:srgbClr val="D3E9E7"/>
                    </a:solidFill>
                  </a:tcPr>
                </a:tc>
                <a:extLst>
                  <a:ext uri="{0D108BD9-81ED-4DB2-BD59-A6C34878D82A}">
                    <a16:rowId xmlns:a16="http://schemas.microsoft.com/office/drawing/2014/main" val="10011"/>
                  </a:ext>
                </a:extLst>
              </a:tr>
            </a:tbl>
          </a:graphicData>
        </a:graphic>
      </p:graphicFrame>
      <p:sp>
        <p:nvSpPr>
          <p:cNvPr id="16" name="TextBox 231">
            <a:extLst>
              <a:ext uri="{FF2B5EF4-FFF2-40B4-BE49-F238E27FC236}">
                <a16:creationId xmlns:a16="http://schemas.microsoft.com/office/drawing/2014/main" id="{97590573-94B2-0D0E-8C3F-C87990C4E9C3}"/>
              </a:ext>
            </a:extLst>
          </p:cNvPr>
          <p:cNvSpPr txBox="1"/>
          <p:nvPr/>
        </p:nvSpPr>
        <p:spPr>
          <a:xfrm>
            <a:off x="1735038" y="7471667"/>
            <a:ext cx="5324400" cy="123111"/>
          </a:xfrm>
          <a:prstGeom prst="rect">
            <a:avLst/>
          </a:prstGeom>
          <a:noFill/>
        </p:spPr>
        <p:txBody>
          <a:bodyPr wrap="square" lIns="0" tIns="0" rIns="0" bIns="0">
            <a:spAutoFit/>
          </a:bodyPr>
          <a:lstStyle/>
          <a:p>
            <a:pPr algn="l">
              <a:defRPr sz="800">
                <a:solidFill>
                  <a:srgbClr val="000000"/>
                </a:solidFill>
                <a:latin typeface="Montserrat"/>
              </a:defRPr>
            </a:pPr>
            <a:r>
              <a:rPr lang="es-MX"/>
              <a:t>En cada brigada participan 5 personas del IMSS.</a:t>
            </a:r>
            <a:endParaRPr/>
          </a:p>
        </p:txBody>
      </p:sp>
      <p:sp>
        <p:nvSpPr>
          <p:cNvPr id="18" name="CuadroTexto 17">
            <a:extLst>
              <a:ext uri="{FF2B5EF4-FFF2-40B4-BE49-F238E27FC236}">
                <a16:creationId xmlns:a16="http://schemas.microsoft.com/office/drawing/2014/main" id="{8DE9ACF5-405A-A6AF-EFFF-B343DF1C9077}"/>
              </a:ext>
            </a:extLst>
          </p:cNvPr>
          <p:cNvSpPr txBox="1"/>
          <p:nvPr/>
        </p:nvSpPr>
        <p:spPr>
          <a:xfrm>
            <a:off x="197428" y="8397022"/>
            <a:ext cx="1841269"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rgbClr val="006556"/>
                </a:solidFill>
                <a:latin typeface="Montserrat"/>
                <a:ea typeface="Montserrat"/>
                <a:cs typeface="Montserrat"/>
              </a:rPr>
              <a:t>9,354</a:t>
            </a:r>
            <a:endParaRPr lang="en-US" sz="2800" b="1" i="0" u="none" strike="noStrike">
              <a:solidFill>
                <a:srgbClr val="006556"/>
              </a:solidFill>
              <a:latin typeface="Montserrat"/>
              <a:ea typeface="Montserrat"/>
              <a:cs typeface="Montserrat"/>
            </a:endParaRPr>
          </a:p>
          <a:p>
            <a:pPr algn="ctr"/>
            <a:r>
              <a:rPr lang="en-US" sz="1200" b="1" i="0" u="none" strike="noStrike" err="1">
                <a:solidFill>
                  <a:srgbClr val="434343"/>
                </a:solidFill>
                <a:latin typeface="Montserrat"/>
                <a:ea typeface="Montserrat"/>
                <a:cs typeface="Montserrat"/>
              </a:rPr>
              <a:t>Valoraciones</a:t>
            </a:r>
            <a:r>
              <a:rPr lang="en-US" sz="1200" b="1" i="0" u="none" strike="noStrike">
                <a:solidFill>
                  <a:srgbClr val="434343"/>
                </a:solidFill>
                <a:latin typeface="Montserrat"/>
                <a:ea typeface="Montserrat"/>
                <a:cs typeface="Montserrat"/>
              </a:rPr>
              <a:t> </a:t>
            </a:r>
            <a:br>
              <a:rPr lang="en-US" sz="1200" b="1">
                <a:latin typeface="Montserrat"/>
                <a:ea typeface="Montserrat"/>
                <a:cs typeface="Montserrat"/>
              </a:rPr>
            </a:br>
            <a:r>
              <a:rPr lang="en-US" sz="1200" b="1" i="0" u="none" strike="noStrike" err="1">
                <a:solidFill>
                  <a:srgbClr val="434343"/>
                </a:solidFill>
                <a:latin typeface="Montserrat"/>
                <a:ea typeface="Montserrat"/>
                <a:cs typeface="Montserrat"/>
              </a:rPr>
              <a:t>nutricionales</a:t>
            </a:r>
            <a:endParaRPr lang="en-US" sz="1200" b="1" i="0" u="none" strike="noStrike">
              <a:solidFill>
                <a:srgbClr val="434343"/>
              </a:solidFill>
              <a:latin typeface="Montserrat"/>
              <a:ea typeface="Montserrat"/>
              <a:cs typeface="Montserrat"/>
            </a:endParaRPr>
          </a:p>
        </p:txBody>
      </p:sp>
      <p:sp>
        <p:nvSpPr>
          <p:cNvPr id="20" name="CuadroTexto 19">
            <a:extLst>
              <a:ext uri="{FF2B5EF4-FFF2-40B4-BE49-F238E27FC236}">
                <a16:creationId xmlns:a16="http://schemas.microsoft.com/office/drawing/2014/main" id="{7C98485A-5046-1277-070C-1C958FFDB7D4}"/>
              </a:ext>
            </a:extLst>
          </p:cNvPr>
          <p:cNvSpPr txBox="1"/>
          <p:nvPr/>
        </p:nvSpPr>
        <p:spPr>
          <a:xfrm>
            <a:off x="2924003" y="8354447"/>
            <a:ext cx="1832957"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rgbClr val="006556"/>
                </a:solidFill>
                <a:latin typeface="Montserrat"/>
                <a:ea typeface="Montserrat"/>
                <a:cs typeface="Montserrat"/>
              </a:rPr>
              <a:t>11,827</a:t>
            </a:r>
            <a:endParaRPr lang="en-US" sz="2800" b="1" i="0" u="none" strike="noStrike">
              <a:solidFill>
                <a:srgbClr val="006556"/>
              </a:solidFill>
              <a:latin typeface="Montserrat"/>
              <a:ea typeface="Montserrat"/>
              <a:cs typeface="Montserrat"/>
            </a:endParaRPr>
          </a:p>
          <a:p>
            <a:pPr algn="ctr"/>
            <a:r>
              <a:rPr lang="en-US" sz="1200" b="1" i="0" u="none" strike="noStrike" err="1">
                <a:solidFill>
                  <a:srgbClr val="434343"/>
                </a:solidFill>
                <a:latin typeface="Montserrat"/>
                <a:ea typeface="Montserrat"/>
                <a:cs typeface="Montserrat"/>
              </a:rPr>
              <a:t>Valoraciones</a:t>
            </a:r>
            <a:r>
              <a:rPr lang="en-US" sz="1200" b="1" i="0" u="none" strike="noStrike">
                <a:solidFill>
                  <a:srgbClr val="434343"/>
                </a:solidFill>
                <a:latin typeface="Montserrat"/>
                <a:ea typeface="Montserrat"/>
                <a:cs typeface="Montserrat"/>
              </a:rPr>
              <a:t> </a:t>
            </a:r>
            <a:br>
              <a:rPr lang="en-US" sz="1200" b="1">
                <a:latin typeface="Montserrat"/>
                <a:ea typeface="Montserrat"/>
                <a:cs typeface="Montserrat"/>
              </a:rPr>
            </a:br>
            <a:r>
              <a:rPr lang="en-US" sz="1200" b="1" err="1">
                <a:solidFill>
                  <a:srgbClr val="434343"/>
                </a:solidFill>
                <a:latin typeface="Montserrat"/>
                <a:ea typeface="Montserrat"/>
                <a:cs typeface="Montserrat"/>
              </a:rPr>
              <a:t>bucales</a:t>
            </a:r>
            <a:endParaRPr lang="en-US" sz="1200" b="1" i="0" u="none" strike="noStrike">
              <a:solidFill>
                <a:srgbClr val="434343"/>
              </a:solidFill>
              <a:latin typeface="Montserrat"/>
              <a:ea typeface="Montserrat"/>
              <a:cs typeface="Montserrat"/>
            </a:endParaRPr>
          </a:p>
        </p:txBody>
      </p:sp>
      <p:sp>
        <p:nvSpPr>
          <p:cNvPr id="22" name="CuadroTexto 21">
            <a:extLst>
              <a:ext uri="{FF2B5EF4-FFF2-40B4-BE49-F238E27FC236}">
                <a16:creationId xmlns:a16="http://schemas.microsoft.com/office/drawing/2014/main" id="{4168D3DE-A719-66D0-E225-90744DC20212}"/>
              </a:ext>
            </a:extLst>
          </p:cNvPr>
          <p:cNvSpPr txBox="1"/>
          <p:nvPr/>
        </p:nvSpPr>
        <p:spPr>
          <a:xfrm>
            <a:off x="5218315" y="8333159"/>
            <a:ext cx="184126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rgbClr val="006556"/>
                </a:solidFill>
                <a:latin typeface="Montserrat"/>
                <a:ea typeface="Montserrat"/>
                <a:cs typeface="Montserrat"/>
              </a:rPr>
              <a:t>3,830</a:t>
            </a:r>
            <a:endParaRPr lang="en-US" sz="2800" b="1" i="0" u="none" strike="noStrike">
              <a:solidFill>
                <a:srgbClr val="006556"/>
              </a:solidFill>
              <a:latin typeface="Montserrat"/>
              <a:ea typeface="Montserrat"/>
              <a:cs typeface="Montserrat"/>
            </a:endParaRPr>
          </a:p>
          <a:p>
            <a:pPr algn="ctr"/>
            <a:r>
              <a:rPr lang="en-US" sz="1200" b="1">
                <a:solidFill>
                  <a:srgbClr val="434343"/>
                </a:solidFill>
                <a:latin typeface="Montserrat"/>
                <a:ea typeface="Montserrat"/>
                <a:cs typeface="Montserrat"/>
              </a:rPr>
              <a:t>Salud visual</a:t>
            </a:r>
            <a:endParaRPr lang="en-US" sz="1200" b="1" i="0" u="none" strike="noStrike">
              <a:solidFill>
                <a:srgbClr val="434343"/>
              </a:solidFill>
              <a:latin typeface="Montserrat"/>
              <a:ea typeface="Montserrat"/>
              <a:cs typeface="Montserrat"/>
            </a:endParaRPr>
          </a:p>
        </p:txBody>
      </p:sp>
      <p:pic>
        <p:nvPicPr>
          <p:cNvPr id="24" name="Imagen 23" descr="Icono&#10;&#10;El contenido generado por IA puede ser incorrecto.">
            <a:extLst>
              <a:ext uri="{FF2B5EF4-FFF2-40B4-BE49-F238E27FC236}">
                <a16:creationId xmlns:a16="http://schemas.microsoft.com/office/drawing/2014/main" id="{127D752D-6C95-C9E4-847F-D8626738C749}"/>
              </a:ext>
            </a:extLst>
          </p:cNvPr>
          <p:cNvPicPr>
            <a:picLocks noChangeAspect="1"/>
          </p:cNvPicPr>
          <p:nvPr/>
        </p:nvPicPr>
        <p:blipFill>
          <a:blip r:embed="rId4"/>
          <a:stretch>
            <a:fillRect/>
          </a:stretch>
        </p:blipFill>
        <p:spPr>
          <a:xfrm>
            <a:off x="3462944" y="7720096"/>
            <a:ext cx="730135" cy="669175"/>
          </a:xfrm>
          <a:prstGeom prst="rect">
            <a:avLst/>
          </a:prstGeom>
        </p:spPr>
      </p:pic>
      <p:pic>
        <p:nvPicPr>
          <p:cNvPr id="26" name="Imagen 25" descr="Icono&#10;&#10;El contenido generado por IA puede ser incorrecto.">
            <a:extLst>
              <a:ext uri="{FF2B5EF4-FFF2-40B4-BE49-F238E27FC236}">
                <a16:creationId xmlns:a16="http://schemas.microsoft.com/office/drawing/2014/main" id="{8A135008-EFD9-B08B-07E8-83352349E8E6}"/>
              </a:ext>
            </a:extLst>
          </p:cNvPr>
          <p:cNvPicPr>
            <a:picLocks noChangeAspect="1"/>
          </p:cNvPicPr>
          <p:nvPr/>
        </p:nvPicPr>
        <p:blipFill>
          <a:blip r:embed="rId5"/>
          <a:stretch>
            <a:fillRect/>
          </a:stretch>
        </p:blipFill>
        <p:spPr>
          <a:xfrm>
            <a:off x="5655945" y="7845840"/>
            <a:ext cx="924445" cy="491944"/>
          </a:xfrm>
          <a:prstGeom prst="rect">
            <a:avLst/>
          </a:prstGeom>
        </p:spPr>
      </p:pic>
      <p:pic>
        <p:nvPicPr>
          <p:cNvPr id="28" name="Imagen 27" descr="Icono&#10;&#10;El contenido generado por IA puede ser incorrecto.">
            <a:extLst>
              <a:ext uri="{FF2B5EF4-FFF2-40B4-BE49-F238E27FC236}">
                <a16:creationId xmlns:a16="http://schemas.microsoft.com/office/drawing/2014/main" id="{666FAE4F-9F78-CB9C-D6C6-9C4C1DFEC08C}"/>
              </a:ext>
            </a:extLst>
          </p:cNvPr>
          <p:cNvPicPr>
            <a:picLocks noChangeAspect="1"/>
          </p:cNvPicPr>
          <p:nvPr/>
        </p:nvPicPr>
        <p:blipFill>
          <a:blip r:embed="rId6"/>
          <a:stretch>
            <a:fillRect/>
          </a:stretch>
        </p:blipFill>
        <p:spPr>
          <a:xfrm>
            <a:off x="816379" y="7702085"/>
            <a:ext cx="603366" cy="713510"/>
          </a:xfrm>
          <a:prstGeom prst="rect">
            <a:avLst/>
          </a:prstGeom>
        </p:spPr>
      </p:pic>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COLIMA</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5,102	 Personal de Salud: 3,187</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+88.0%</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25</a:t>
                      </a:r>
                    </a:p>
                  </a:txBody>
                  <a:tcPr marL="0" marR="0" marT="0" marB="0">
                    <a:noFill/>
                  </a:tcPr>
                </a:tc>
                <a:tc>
                  <a:txBody>
                    <a:bodyPr/>
                    <a:lstStyle/>
                    <a:p>
                      <a:pPr algn="ctr">
                        <a:defRPr sz="1500" b="1">
                          <a:solidFill>
                            <a:srgbClr val="B4975A"/>
                          </a:solidFill>
                          <a:latin typeface="Montserrat"/>
                        </a:defRPr>
                      </a:pPr>
                      <a:r>
                        <a:t>47</a:t>
                      </a:r>
                    </a:p>
                  </a:txBody>
                  <a:tcPr marL="0" marR="0" marT="0" marB="0">
                    <a:noFill/>
                  </a:tcPr>
                </a:tc>
                <a:extLst>
                  <a:ext uri="{0D108BD9-81ED-4DB2-BD59-A6C34878D82A}">
                    <a16:rowId xmlns:a16="http://schemas.microsoft.com/office/drawing/2014/main" val="10001"/>
                  </a:ext>
                </a:extLst>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+35.8%</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8317">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8318">
                <a:tc>
                  <a:txBody>
                    <a:bodyPr/>
                    <a:lstStyle/>
                    <a:p>
                      <a:pPr algn="ctr">
                        <a:defRPr sz="1500" b="1">
                          <a:solidFill>
                            <a:srgbClr val="004B41"/>
                          </a:solidFill>
                          <a:latin typeface="Montserrat"/>
                        </a:defRPr>
                      </a:pPr>
                      <a:r>
                        <a:t>551</a:t>
                      </a:r>
                    </a:p>
                  </a:txBody>
                  <a:tcPr marL="0" marR="0" marT="0" marB="0">
                    <a:noFill/>
                  </a:tcPr>
                </a:tc>
                <a:tc>
                  <a:txBody>
                    <a:bodyPr/>
                    <a:lstStyle/>
                    <a:p>
                      <a:pPr algn="ctr">
                        <a:defRPr sz="1500" b="1">
                          <a:solidFill>
                            <a:srgbClr val="B4975A"/>
                          </a:solidFill>
                          <a:latin typeface="Montserrat"/>
                        </a:defRPr>
                      </a:pPr>
                      <a:r>
                        <a:t>748</a:t>
                      </a:r>
                    </a:p>
                  </a:txBody>
                  <a:tcPr marL="0" marR="0" marT="0" marB="0">
                    <a:noFill/>
                  </a:tcPr>
                </a:tc>
                <a:extLst>
                  <a:ext uri="{0D108BD9-81ED-4DB2-BD59-A6C34878D82A}">
                    <a16:rowId xmlns:a16="http://schemas.microsoft.com/office/drawing/2014/main" val="10001"/>
                  </a:ext>
                </a:extLst>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+11.3%</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1,039</a:t>
                      </a:r>
                    </a:p>
                  </a:txBody>
                  <a:tcPr marL="0" marR="0" marT="0" marB="0">
                    <a:noFill/>
                  </a:tcPr>
                </a:tc>
                <a:tc>
                  <a:txBody>
                    <a:bodyPr/>
                    <a:lstStyle/>
                    <a:p>
                      <a:pPr algn="ctr">
                        <a:defRPr sz="1500" b="1">
                          <a:solidFill>
                            <a:srgbClr val="B4975A"/>
                          </a:solidFill>
                          <a:latin typeface="Montserrat"/>
                        </a:defRPr>
                      </a:pPr>
                      <a:r>
                        <a:t>1,156</a:t>
                      </a:r>
                    </a:p>
                  </a:txBody>
                  <a:tcPr marL="0" marR="0" marT="0" marB="0">
                    <a:noFill/>
                  </a:tcPr>
                </a:tc>
                <a:extLst>
                  <a:ext uri="{0D108BD9-81ED-4DB2-BD59-A6C34878D82A}">
                    <a16:rowId xmlns:a16="http://schemas.microsoft.com/office/drawing/2014/main" val="10001"/>
                  </a:ext>
                </a:extLst>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+24.2%</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623</a:t>
                      </a:r>
                    </a:p>
                  </a:txBody>
                  <a:tcPr marL="0" marR="0" marT="0" marB="0">
                    <a:noFill/>
                  </a:tcPr>
                </a:tc>
                <a:tc>
                  <a:txBody>
                    <a:bodyPr/>
                    <a:lstStyle/>
                    <a:p>
                      <a:pPr algn="ctr">
                        <a:defRPr sz="1500" b="1">
                          <a:solidFill>
                            <a:srgbClr val="B4975A"/>
                          </a:solidFill>
                          <a:latin typeface="Montserrat"/>
                        </a:defRPr>
                      </a:pPr>
                      <a:r>
                        <a:t>774</a:t>
                      </a:r>
                    </a:p>
                  </a:txBody>
                  <a:tcPr marL="0" marR="0" marT="0" marB="0">
                    <a:noFill/>
                  </a:tcPr>
                </a:tc>
                <a:extLst>
                  <a:ext uri="{0D108BD9-81ED-4DB2-BD59-A6C34878D82A}">
                    <a16:rowId xmlns:a16="http://schemas.microsoft.com/office/drawing/2014/main" val="10001"/>
                  </a:ext>
                </a:extLst>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+124.0%</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121</a:t>
                      </a:r>
                    </a:p>
                  </a:txBody>
                  <a:tcPr marL="0" marR="0" marT="0" marB="0">
                    <a:noFill/>
                  </a:tcPr>
                </a:tc>
                <a:tc>
                  <a:txBody>
                    <a:bodyPr/>
                    <a:lstStyle/>
                    <a:p>
                      <a:pPr algn="ctr">
                        <a:defRPr sz="1500" b="1">
                          <a:solidFill>
                            <a:srgbClr val="B4975A"/>
                          </a:solidFill>
                          <a:latin typeface="Montserrat"/>
                        </a:defRPr>
                      </a:pPr>
                      <a:r>
                        <a:t>271</a:t>
                      </a:r>
                    </a:p>
                  </a:txBody>
                  <a:tcPr marL="0" marR="0" marT="0" marB="0">
                    <a:noFill/>
                  </a:tcPr>
                </a:tc>
                <a:extLst>
                  <a:ext uri="{0D108BD9-81ED-4DB2-BD59-A6C34878D82A}">
                    <a16:rowId xmlns:a16="http://schemas.microsoft.com/office/drawing/2014/main" val="10001"/>
                  </a:ext>
                </a:extLst>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-5.4%</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202</a:t>
                      </a:r>
                    </a:p>
                  </a:txBody>
                  <a:tcPr marL="0" marR="0" marT="0" marB="0">
                    <a:noFill/>
                  </a:tcPr>
                </a:tc>
                <a:tc>
                  <a:txBody>
                    <a:bodyPr/>
                    <a:lstStyle/>
                    <a:p>
                      <a:pPr algn="ctr">
                        <a:defRPr sz="1500" b="1">
                          <a:solidFill>
                            <a:srgbClr val="B4975A"/>
                          </a:solidFill>
                          <a:latin typeface="Montserrat"/>
                        </a:defRPr>
                      </a:pPr>
                      <a:r>
                        <a:t>191</a:t>
                      </a:r>
                    </a:p>
                  </a:txBody>
                  <a:tcPr marL="0" marR="0" marT="0" marB="0">
                    <a:noFill/>
                  </a:tcPr>
                </a:tc>
                <a:extLst>
                  <a:ext uri="{0D108BD9-81ED-4DB2-BD59-A6C34878D82A}">
                    <a16:rowId xmlns:a16="http://schemas.microsoft.com/office/drawing/2014/main" val="10001"/>
                  </a:ext>
                </a:extLst>
              </a:tr>
            </a:tbl>
          </a:graphicData>
        </a:graphic>
      </p:graphicFrame>
      <p:graphicFrame>
        <p:nvGraphicFramePr>
          <p:cNvPr id="317" name="Table 316"/>
          <p:cNvGraphicFramePr>
            <a:graphicFrameLocks noGrp="1"/>
          </p:cNvGraphicFramePr>
          <p:nvPr>
            <p:extLst>
              <p:ext uri="{D42A27DB-BD31-4B8C-83A1-F6EECF244321}">
                <p14:modId xmlns:p14="http://schemas.microsoft.com/office/powerpoint/2010/main" val="2748131531"/>
              </p:ext>
            </p:extLst>
          </p:nvPr>
        </p:nvGraphicFramePr>
        <p:xfrm>
          <a:off x="4507200" y="5515200"/>
          <a:ext cx="2843784" cy="1277112"/>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2025</a:t>
                      </a:r>
                    </a:p>
                  </a:txBody>
                  <a:tcPr marL="36576" marR="36576" marT="36576" marB="36576">
                    <a:solidFill>
                      <a:srgbClr val="006455"/>
                    </a:solidFill>
                  </a:tcPr>
                </a:tc>
                <a:tc>
                  <a:txBody>
                    <a:bodyPr/>
                    <a:lstStyle/>
                    <a:p>
                      <a:pPr algn="ctr">
                        <a:defRPr sz="900" b="1">
                          <a:solidFill>
                            <a:srgbClr val="FFFFFF"/>
                          </a:solidFill>
                          <a:latin typeface="Montserrat"/>
                        </a:defRPr>
                      </a:pPr>
                      <a:r>
                        <a:t>Cantidad</a:t>
                      </a:r>
                    </a:p>
                  </a:txBody>
                  <a:tcPr marL="36576" marR="36576" marT="36576" marB="36576">
                    <a:solidFill>
                      <a:srgbClr val="006455"/>
                    </a:solidFill>
                  </a:tcPr>
                </a:tc>
                <a:extLst>
                  <a:ext uri="{0D108BD9-81ED-4DB2-BD59-A6C34878D82A}">
                    <a16:rowId xmlns:a16="http://schemas.microsoft.com/office/drawing/2014/main" val="10000"/>
                  </a:ext>
                </a:extLst>
              </a:tr>
              <a:tr h="0">
                <a:tc>
                  <a:txBody>
                    <a:bodyPr/>
                    <a:lstStyle/>
                    <a:p>
                      <a:pPr algn="l">
                        <a:defRPr sz="800">
                          <a:latin typeface="Montserrat"/>
                        </a:defRPr>
                      </a:pPr>
                      <a:r>
                        <a:t>Medicina Familiar</a:t>
                      </a:r>
                    </a:p>
                  </a:txBody>
                  <a:tcPr marL="45720" marR="45720">
                    <a:solidFill>
                      <a:srgbClr val="FFFFFF"/>
                    </a:solidFill>
                  </a:tcPr>
                </a:tc>
                <a:tc>
                  <a:txBody>
                    <a:bodyPr/>
                    <a:lstStyle/>
                    <a:p>
                      <a:pPr algn="ctr">
                        <a:defRPr sz="800">
                          <a:latin typeface="Montserrat"/>
                        </a:defRPr>
                      </a:pPr>
                      <a:r>
                        <a:t>16</a:t>
                      </a:r>
                    </a:p>
                  </a:txBody>
                  <a:tcPr marL="45720" marR="45720">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t>Medicina de Urgencias</a:t>
                      </a:r>
                    </a:p>
                  </a:txBody>
                  <a:tcPr marL="45720" marR="45720">
                    <a:solidFill>
                      <a:srgbClr val="EFEFEF"/>
                    </a:solidFill>
                  </a:tcPr>
                </a:tc>
                <a:tc>
                  <a:txBody>
                    <a:bodyPr/>
                    <a:lstStyle/>
                    <a:p>
                      <a:pPr algn="ctr">
                        <a:defRPr sz="800">
                          <a:latin typeface="Montserrat"/>
                        </a:defRPr>
                      </a:pPr>
                      <a:r>
                        <a:t>9</a:t>
                      </a:r>
                    </a:p>
                  </a:txBody>
                  <a:tcPr marL="45720" marR="45720">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rPr err="1"/>
                        <a:t>Geriatría</a:t>
                      </a:r>
                      <a:r>
                        <a:t> Directa</a:t>
                      </a:r>
                    </a:p>
                  </a:txBody>
                  <a:tcPr marL="45720" marR="45720">
                    <a:solidFill>
                      <a:srgbClr val="FFFFFF"/>
                    </a:solidFill>
                  </a:tcPr>
                </a:tc>
                <a:tc>
                  <a:txBody>
                    <a:bodyPr/>
                    <a:lstStyle/>
                    <a:p>
                      <a:pPr algn="ctr">
                        <a:defRPr sz="800">
                          <a:latin typeface="Montserrat"/>
                        </a:defRPr>
                      </a:pPr>
                      <a:r>
                        <a:t>7</a:t>
                      </a:r>
                    </a:p>
                  </a:txBody>
                  <a:tcPr marL="45720" marR="45720">
                    <a:solidFill>
                      <a:srgbClr val="FFFFFF"/>
                    </a:solidFill>
                  </a:tcPr>
                </a:tc>
                <a:extLst>
                  <a:ext uri="{0D108BD9-81ED-4DB2-BD59-A6C34878D82A}">
                    <a16:rowId xmlns:a16="http://schemas.microsoft.com/office/drawing/2014/main" val="10003"/>
                  </a:ext>
                </a:extLst>
              </a:tr>
              <a:tr h="0">
                <a:tc>
                  <a:txBody>
                    <a:bodyPr/>
                    <a:lstStyle/>
                    <a:p>
                      <a:pPr algn="l">
                        <a:defRPr sz="800">
                          <a:latin typeface="Montserrat"/>
                        </a:defRPr>
                      </a:pPr>
                      <a:r>
                        <a:t>Medicina Interna</a:t>
                      </a:r>
                    </a:p>
                  </a:txBody>
                  <a:tcPr marL="45720" marR="45720">
                    <a:solidFill>
                      <a:srgbClr val="EFEFEF"/>
                    </a:solidFill>
                  </a:tcPr>
                </a:tc>
                <a:tc>
                  <a:txBody>
                    <a:bodyPr/>
                    <a:lstStyle/>
                    <a:p>
                      <a:pPr algn="ctr">
                        <a:defRPr sz="800">
                          <a:latin typeface="Montserrat"/>
                        </a:defRPr>
                      </a:pPr>
                      <a:r>
                        <a:t>7</a:t>
                      </a:r>
                    </a:p>
                  </a:txBody>
                  <a:tcPr marL="45720" marR="45720">
                    <a:solidFill>
                      <a:srgbClr val="EFEFEF"/>
                    </a:solidFill>
                  </a:tcPr>
                </a:tc>
                <a:extLst>
                  <a:ext uri="{0D108BD9-81ED-4DB2-BD59-A6C34878D82A}">
                    <a16:rowId xmlns:a16="http://schemas.microsoft.com/office/drawing/2014/main" val="10004"/>
                  </a:ext>
                </a:extLst>
              </a:tr>
              <a:tr h="0">
                <a:tc>
                  <a:txBody>
                    <a:bodyPr/>
                    <a:lstStyle/>
                    <a:p>
                      <a:pPr algn="l">
                        <a:defRPr sz="800">
                          <a:latin typeface="Montserrat"/>
                        </a:defRPr>
                      </a:pPr>
                      <a:r>
                        <a:t>Traumatología y Ortopedia</a:t>
                      </a:r>
                    </a:p>
                  </a:txBody>
                  <a:tcPr marL="45720" marR="45720">
                    <a:solidFill>
                      <a:srgbClr val="FFFFFF"/>
                    </a:solidFill>
                  </a:tcPr>
                </a:tc>
                <a:tc>
                  <a:txBody>
                    <a:bodyPr/>
                    <a:lstStyle/>
                    <a:p>
                      <a:pPr algn="ctr">
                        <a:defRPr sz="800">
                          <a:latin typeface="Montserrat"/>
                        </a:defRPr>
                      </a:pPr>
                      <a:r>
                        <a:t>5</a:t>
                      </a:r>
                    </a:p>
                  </a:txBody>
                  <a:tcPr marL="45720" marR="45720">
                    <a:solidFill>
                      <a:srgbClr val="FFFFFF"/>
                    </a:solidFill>
                  </a:tcPr>
                </a:tc>
                <a:extLst>
                  <a:ext uri="{0D108BD9-81ED-4DB2-BD59-A6C34878D82A}">
                    <a16:rowId xmlns:a16="http://schemas.microsoft.com/office/drawing/2014/main" val="10005"/>
                  </a:ext>
                </a:extLst>
              </a:tr>
            </a:tbl>
          </a:graphicData>
        </a:graphic>
      </p:graphicFrame>
      <p:graphicFrame>
        <p:nvGraphicFramePr>
          <p:cNvPr id="318" name="Table 317"/>
          <p:cNvGraphicFramePr>
            <a:graphicFrameLocks noGrp="1"/>
          </p:cNvGraphicFramePr>
          <p:nvPr>
            <p:extLst>
              <p:ext uri="{D42A27DB-BD31-4B8C-83A1-F6EECF244321}">
                <p14:modId xmlns:p14="http://schemas.microsoft.com/office/powerpoint/2010/main" val="806270881"/>
              </p:ext>
            </p:extLst>
          </p:nvPr>
        </p:nvGraphicFramePr>
        <p:xfrm>
          <a:off x="4507200" y="6850800"/>
          <a:ext cx="2843784" cy="1277112"/>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2026</a:t>
                      </a:r>
                    </a:p>
                  </a:txBody>
                  <a:tcPr marL="36576" marR="36576" marT="36576" marB="36576">
                    <a:solidFill>
                      <a:srgbClr val="691C32"/>
                    </a:solidFill>
                  </a:tcPr>
                </a:tc>
                <a:tc>
                  <a:txBody>
                    <a:bodyPr/>
                    <a:lstStyle/>
                    <a:p>
                      <a:pPr algn="ctr">
                        <a:defRPr sz="900" b="1">
                          <a:solidFill>
                            <a:srgbClr val="FFFFFF"/>
                          </a:solidFill>
                          <a:latin typeface="Montserrat"/>
                        </a:defRPr>
                      </a:pPr>
                      <a:r>
                        <a:t>Cantidad</a:t>
                      </a:r>
                    </a:p>
                  </a:txBody>
                  <a:tcPr marL="36576" marR="36576" marT="36576" marB="36576">
                    <a:solidFill>
                      <a:srgbClr val="691C32"/>
                    </a:solidFill>
                  </a:tcPr>
                </a:tc>
                <a:extLst>
                  <a:ext uri="{0D108BD9-81ED-4DB2-BD59-A6C34878D82A}">
                    <a16:rowId xmlns:a16="http://schemas.microsoft.com/office/drawing/2014/main" val="10000"/>
                  </a:ext>
                </a:extLst>
              </a:tr>
              <a:tr h="0">
                <a:tc>
                  <a:txBody>
                    <a:bodyPr/>
                    <a:lstStyle/>
                    <a:p>
                      <a:pPr algn="l">
                        <a:defRPr sz="800">
                          <a:latin typeface="Montserrat"/>
                        </a:defRPr>
                      </a:pPr>
                      <a:r>
                        <a:t>Medicina Familiar</a:t>
                      </a:r>
                    </a:p>
                  </a:txBody>
                  <a:tcPr marL="45720" marR="45720">
                    <a:solidFill>
                      <a:srgbClr val="FFFFFF"/>
                    </a:solidFill>
                  </a:tcPr>
                </a:tc>
                <a:tc>
                  <a:txBody>
                    <a:bodyPr/>
                    <a:lstStyle/>
                    <a:p>
                      <a:pPr algn="ctr">
                        <a:defRPr sz="800">
                          <a:latin typeface="Montserrat"/>
                        </a:defRPr>
                      </a:pPr>
                      <a:r>
                        <a:t>10</a:t>
                      </a:r>
                    </a:p>
                  </a:txBody>
                  <a:tcPr marL="45720" marR="45720">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t>Geriatría Directa</a:t>
                      </a:r>
                    </a:p>
                  </a:txBody>
                  <a:tcPr marL="45720" marR="45720">
                    <a:solidFill>
                      <a:srgbClr val="EFEFEF"/>
                    </a:solidFill>
                  </a:tcPr>
                </a:tc>
                <a:tc>
                  <a:txBody>
                    <a:bodyPr/>
                    <a:lstStyle/>
                    <a:p>
                      <a:pPr algn="ctr">
                        <a:defRPr sz="800">
                          <a:latin typeface="Montserrat"/>
                        </a:defRPr>
                      </a:pPr>
                      <a:r>
                        <a:t>6</a:t>
                      </a:r>
                    </a:p>
                  </a:txBody>
                  <a:tcPr marL="45720" marR="45720">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t>Traumatología y Ortopedia</a:t>
                      </a:r>
                    </a:p>
                  </a:txBody>
                  <a:tcPr marL="45720" marR="45720">
                    <a:solidFill>
                      <a:srgbClr val="FFFFFF"/>
                    </a:solidFill>
                  </a:tcPr>
                </a:tc>
                <a:tc>
                  <a:txBody>
                    <a:bodyPr/>
                    <a:lstStyle/>
                    <a:p>
                      <a:pPr algn="ctr">
                        <a:defRPr sz="800">
                          <a:latin typeface="Montserrat"/>
                        </a:defRPr>
                      </a:pPr>
                      <a:r>
                        <a:t>5</a:t>
                      </a:r>
                    </a:p>
                  </a:txBody>
                  <a:tcPr marL="45720" marR="45720">
                    <a:solidFill>
                      <a:srgbClr val="FFFFFF"/>
                    </a:solidFill>
                  </a:tcPr>
                </a:tc>
                <a:extLst>
                  <a:ext uri="{0D108BD9-81ED-4DB2-BD59-A6C34878D82A}">
                    <a16:rowId xmlns:a16="http://schemas.microsoft.com/office/drawing/2014/main" val="10003"/>
                  </a:ext>
                </a:extLst>
              </a:tr>
              <a:tr h="0">
                <a:tc>
                  <a:txBody>
                    <a:bodyPr/>
                    <a:lstStyle/>
                    <a:p>
                      <a:pPr algn="l">
                        <a:defRPr sz="800">
                          <a:latin typeface="Montserrat"/>
                        </a:defRPr>
                      </a:pPr>
                      <a:r>
                        <a:t>Medicina de Urgencias</a:t>
                      </a:r>
                    </a:p>
                  </a:txBody>
                  <a:tcPr marL="45720" marR="45720">
                    <a:solidFill>
                      <a:srgbClr val="EFEFEF"/>
                    </a:solidFill>
                  </a:tcPr>
                </a:tc>
                <a:tc>
                  <a:txBody>
                    <a:bodyPr/>
                    <a:lstStyle/>
                    <a:p>
                      <a:pPr algn="ctr">
                        <a:defRPr sz="800">
                          <a:latin typeface="Montserrat"/>
                        </a:defRPr>
                      </a:pPr>
                      <a:r>
                        <a:t>4</a:t>
                      </a:r>
                    </a:p>
                  </a:txBody>
                  <a:tcPr marL="45720" marR="45720">
                    <a:solidFill>
                      <a:srgbClr val="EFEFEF"/>
                    </a:solidFill>
                  </a:tcPr>
                </a:tc>
                <a:extLst>
                  <a:ext uri="{0D108BD9-81ED-4DB2-BD59-A6C34878D82A}">
                    <a16:rowId xmlns:a16="http://schemas.microsoft.com/office/drawing/2014/main" val="10004"/>
                  </a:ext>
                </a:extLst>
              </a:tr>
              <a:tr h="0">
                <a:tc>
                  <a:txBody>
                    <a:bodyPr/>
                    <a:lstStyle/>
                    <a:p>
                      <a:pPr algn="l">
                        <a:defRPr sz="800">
                          <a:latin typeface="Montserrat"/>
                        </a:defRPr>
                      </a:pPr>
                      <a:r>
                        <a:t>Epidemiología</a:t>
                      </a:r>
                    </a:p>
                  </a:txBody>
                  <a:tcPr marL="45720" marR="45720">
                    <a:solidFill>
                      <a:srgbClr val="FFFFFF"/>
                    </a:solidFill>
                  </a:tcPr>
                </a:tc>
                <a:tc>
                  <a:txBody>
                    <a:bodyPr/>
                    <a:lstStyle/>
                    <a:p>
                      <a:pPr algn="ctr">
                        <a:defRPr sz="800">
                          <a:latin typeface="Montserrat"/>
                        </a:defRPr>
                      </a:pPr>
                      <a:r>
                        <a:t>4</a:t>
                      </a:r>
                    </a:p>
                  </a:txBody>
                  <a:tcPr marL="45720" marR="45720">
                    <a:solidFill>
                      <a:srgbClr val="FFFFFF"/>
                    </a:solidFill>
                  </a:tcPr>
                </a:tc>
                <a:extLst>
                  <a:ext uri="{0D108BD9-81ED-4DB2-BD59-A6C34878D82A}">
                    <a16:rowId xmlns:a16="http://schemas.microsoft.com/office/drawing/2014/main" val="10005"/>
                  </a:ext>
                </a:extLst>
              </a:tr>
            </a:tbl>
          </a:graphicData>
        </a:graphic>
      </p:graphicFrame>
      <p:graphicFrame>
        <p:nvGraphicFramePr>
          <p:cNvPr id="319" name="Table 318"/>
          <p:cNvGraphicFramePr>
            <a:graphicFrameLocks noGrp="1"/>
          </p:cNvGraphicFramePr>
          <p:nvPr/>
        </p:nvGraphicFramePr>
        <p:xfrm>
          <a:off x="384048" y="8313724"/>
          <a:ext cx="5266944" cy="1127760"/>
        </p:xfrm>
        <a:graphic>
          <a:graphicData uri="http://schemas.openxmlformats.org/drawingml/2006/table">
            <a:tbl>
              <a:tblPr bandRow="1">
                <a:tableStyleId>{5C22544A-7EE6-4342-B048-85BDC9FD1C3A}</a:tableStyleId>
              </a:tblPr>
              <a:tblGrid>
                <a:gridCol w="3218688">
                  <a:extLst>
                    <a:ext uri="{9D8B030D-6E8A-4147-A177-3AD203B41FA5}">
                      <a16:colId xmlns:a16="http://schemas.microsoft.com/office/drawing/2014/main" val="20000"/>
                    </a:ext>
                  </a:extLst>
                </a:gridCol>
                <a:gridCol w="2048256">
                  <a:extLst>
                    <a:ext uri="{9D8B030D-6E8A-4147-A177-3AD203B41FA5}">
                      <a16:colId xmlns:a16="http://schemas.microsoft.com/office/drawing/2014/main" val="20001"/>
                    </a:ext>
                  </a:extLst>
                </a:gridCol>
              </a:tblGrid>
              <a:tr h="0">
                <a:tc>
                  <a:txBody>
                    <a:bodyPr/>
                    <a:lstStyle/>
                    <a:p>
                      <a:pPr algn="l">
                        <a:defRPr sz="1000" b="1">
                          <a:solidFill>
                            <a:srgbClr val="FFFFFF"/>
                          </a:solidFill>
                          <a:latin typeface="Montserrat"/>
                        </a:defRPr>
                      </a:pPr>
                      <a:r>
                        <a:t>Personal médico</a:t>
                      </a:r>
                    </a:p>
                  </a:txBody>
                  <a:tcPr marL="36576" marR="36576" marT="36576" marB="36576" anchor="ctr">
                    <a:solidFill>
                      <a:srgbClr val="006455"/>
                    </a:solidFill>
                  </a:tcPr>
                </a:tc>
                <a:tc>
                  <a:txBody>
                    <a:bodyPr/>
                    <a:lstStyle/>
                    <a:p>
                      <a:pPr algn="ctr">
                        <a:defRPr sz="1000" b="0">
                          <a:solidFill>
                            <a:srgbClr val="000000"/>
                          </a:solidFill>
                          <a:latin typeface="Montserrat"/>
                        </a:defRPr>
                      </a:pPr>
                      <a:r>
                        <a:t>28</a:t>
                      </a:r>
                    </a:p>
                  </a:txBody>
                  <a:tcPr marL="36576" marR="36576" marT="36576" marB="36576" anchor="ctr">
                    <a:solidFill>
                      <a:srgbClr val="EFEFEF"/>
                    </a:solidFill>
                  </a:tcPr>
                </a:tc>
                <a:extLst>
                  <a:ext uri="{0D108BD9-81ED-4DB2-BD59-A6C34878D82A}">
                    <a16:rowId xmlns:a16="http://schemas.microsoft.com/office/drawing/2014/main" val="10000"/>
                  </a:ext>
                </a:extLst>
              </a:tr>
              <a:tr h="0">
                <a:tc>
                  <a:txBody>
                    <a:bodyPr/>
                    <a:lstStyle/>
                    <a:p>
                      <a:pPr algn="l">
                        <a:defRPr sz="1000" b="1">
                          <a:solidFill>
                            <a:srgbClr val="FFFFFF"/>
                          </a:solidFill>
                          <a:latin typeface="Montserrat"/>
                        </a:defRPr>
                      </a:pPr>
                      <a:r>
                        <a:t>Personal de Enfermería</a:t>
                      </a:r>
                    </a:p>
                  </a:txBody>
                  <a:tcPr marL="36576" marR="36576" marT="36576" marB="36576" anchor="ctr">
                    <a:solidFill>
                      <a:srgbClr val="006455"/>
                    </a:solidFill>
                  </a:tcPr>
                </a:tc>
                <a:tc>
                  <a:txBody>
                    <a:bodyPr/>
                    <a:lstStyle/>
                    <a:p>
                      <a:pPr algn="ctr">
                        <a:defRPr sz="1000" b="0">
                          <a:solidFill>
                            <a:srgbClr val="000000"/>
                          </a:solidFill>
                          <a:latin typeface="Montserrat"/>
                        </a:defRPr>
                      </a:pPr>
                      <a:r>
                        <a:t>8</a:t>
                      </a:r>
                    </a:p>
                  </a:txBody>
                  <a:tcPr marL="36576" marR="36576" marT="36576" marB="36576" anchor="ctr">
                    <a:solidFill>
                      <a:srgbClr val="FFFFFF"/>
                    </a:solidFill>
                  </a:tcPr>
                </a:tc>
                <a:extLst>
                  <a:ext uri="{0D108BD9-81ED-4DB2-BD59-A6C34878D82A}">
                    <a16:rowId xmlns:a16="http://schemas.microsoft.com/office/drawing/2014/main" val="10001"/>
                  </a:ext>
                </a:extLst>
              </a:tr>
              <a:tr h="0">
                <a:tc>
                  <a:txBody>
                    <a:bodyPr/>
                    <a:lstStyle/>
                    <a:p>
                      <a:pPr algn="l">
                        <a:defRPr sz="1000" b="1">
                          <a:solidFill>
                            <a:srgbClr val="FFFFFF"/>
                          </a:solidFill>
                          <a:latin typeface="Montserrat"/>
                        </a:defRPr>
                      </a:pPr>
                      <a:r>
                        <a:t>Personal administrativos y básico</a:t>
                      </a:r>
                    </a:p>
                  </a:txBody>
                  <a:tcPr marL="36576" marR="36576" marT="36576" marB="36576" anchor="ctr">
                    <a:solidFill>
                      <a:srgbClr val="006455"/>
                    </a:solidFill>
                  </a:tcPr>
                </a:tc>
                <a:tc>
                  <a:txBody>
                    <a:bodyPr/>
                    <a:lstStyle/>
                    <a:p>
                      <a:pPr algn="ctr">
                        <a:defRPr sz="1000" b="0">
                          <a:solidFill>
                            <a:srgbClr val="000000"/>
                          </a:solidFill>
                          <a:latin typeface="Montserrat"/>
                        </a:defRPr>
                      </a:pPr>
                      <a:r>
                        <a:t>11</a:t>
                      </a:r>
                    </a:p>
                  </a:txBody>
                  <a:tcPr marL="36576" marR="36576" marT="36576" marB="36576" anchor="ctr">
                    <a:solidFill>
                      <a:srgbClr val="EFEFEF"/>
                    </a:solidFill>
                  </a:tcPr>
                </a:tc>
                <a:extLst>
                  <a:ext uri="{0D108BD9-81ED-4DB2-BD59-A6C34878D82A}">
                    <a16:rowId xmlns:a16="http://schemas.microsoft.com/office/drawing/2014/main" val="10002"/>
                  </a:ext>
                </a:extLst>
              </a:tr>
              <a:tr h="0">
                <a:tc>
                  <a:txBody>
                    <a:bodyPr/>
                    <a:lstStyle/>
                    <a:p>
                      <a:pPr algn="l">
                        <a:defRPr sz="1000" b="1">
                          <a:solidFill>
                            <a:srgbClr val="FFFFFF"/>
                          </a:solidFill>
                          <a:latin typeface="Montserrat"/>
                        </a:defRPr>
                      </a:pPr>
                      <a:r>
                        <a:t>Personal paramédico y técnico</a:t>
                      </a:r>
                    </a:p>
                  </a:txBody>
                  <a:tcPr marL="36576" marR="36576" marT="36576" marB="36576" anchor="ctr">
                    <a:solidFill>
                      <a:srgbClr val="006455"/>
                    </a:solidFill>
                  </a:tcPr>
                </a:tc>
                <a:tc>
                  <a:txBody>
                    <a:bodyPr/>
                    <a:lstStyle/>
                    <a:p>
                      <a:pPr algn="ctr">
                        <a:defRPr sz="1000" b="0">
                          <a:solidFill>
                            <a:srgbClr val="000000"/>
                          </a:solidFill>
                          <a:latin typeface="Montserrat"/>
                        </a:defRPr>
                      </a:pPr>
                      <a:r>
                        <a:t>24</a:t>
                      </a:r>
                    </a:p>
                  </a:txBody>
                  <a:tcPr marL="36576" marR="36576" marT="36576" marB="36576" anchor="ctr">
                    <a:solidFill>
                      <a:srgbClr val="FFFFFF"/>
                    </a:solidFill>
                  </a:tcPr>
                </a:tc>
                <a:extLst>
                  <a:ext uri="{0D108BD9-81ED-4DB2-BD59-A6C34878D82A}">
                    <a16:rowId xmlns:a16="http://schemas.microsoft.com/office/drawing/2014/main" val="10003"/>
                  </a:ext>
                </a:extLst>
              </a:tr>
              <a:tr h="0">
                <a:tc>
                  <a:txBody>
                    <a:bodyPr/>
                    <a:lstStyle/>
                    <a:p>
                      <a:pPr algn="l">
                        <a:defRPr sz="1000" b="1">
                          <a:solidFill>
                            <a:srgbClr val="00515E"/>
                          </a:solidFill>
                          <a:latin typeface="Montserrat"/>
                        </a:defRPr>
                      </a:pPr>
                      <a:r>
                        <a:t>Total</a:t>
                      </a:r>
                    </a:p>
                  </a:txBody>
                  <a:tcPr marL="36576" marR="36576" marT="36576" marB="36576" anchor="ctr">
                    <a:solidFill>
                      <a:srgbClr val="D3E9E7"/>
                    </a:solidFill>
                  </a:tcPr>
                </a:tc>
                <a:tc>
                  <a:txBody>
                    <a:bodyPr/>
                    <a:lstStyle/>
                    <a:p>
                      <a:pPr algn="ctr">
                        <a:defRPr sz="1000" b="1">
                          <a:solidFill>
                            <a:srgbClr val="00515E"/>
                          </a:solidFill>
                          <a:latin typeface="Montserrat"/>
                        </a:defRPr>
                      </a:pPr>
                      <a:r>
                        <a:t>71</a:t>
                      </a:r>
                    </a:p>
                  </a:txBody>
                  <a:tcPr marL="36576" marR="36576" marT="36576" marB="36576"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xmlns:r="http://schemas.openxmlformats.org/officeDocument/2006/relationships" r:id="rId10"/>
          </a:graphicData>
        </a:graphic>
      </p:graphicFrame>
      <p:sp>
        <p:nvSpPr>
          <p:cNvPr id="321" name="TextBox 320"/>
          <p:cNvSpPr txBox="1"/>
          <p:nvPr/>
        </p:nvSpPr>
        <p:spPr>
          <a:xfrm>
            <a:off x="324000" y="4888800"/>
            <a:ext cx="7286399" cy="123111"/>
          </a:xfrm>
          <a:prstGeom prst="rect">
            <a:avLst/>
          </a:prstGeom>
          <a:noFill/>
        </p:spPr>
        <p:txBody>
          <a:bodyPr wrap="square" lIns="0" tIns="0" rIns="0" bIns="0">
            <a:spAutoFit/>
          </a:bodyPr>
          <a:lstStyle/>
          <a:p>
            <a:pPr algn="l">
              <a:defRPr sz="900">
                <a:solidFill>
                  <a:srgbClr val="000000"/>
                </a:solidFill>
                <a:latin typeface="Montserrat"/>
              </a:defRPr>
            </a:pPr>
            <a:r>
              <a:rPr sz="800"/>
              <a:t>Fuente: </a:t>
            </a:r>
            <a:r>
              <a:rPr sz="800" err="1"/>
              <a:t>Dirección</a:t>
            </a:r>
            <a:r>
              <a:rPr sz="800"/>
              <a:t> de Administración. Base SIAP </a:t>
            </a:r>
            <a:r>
              <a:rPr sz="800" err="1"/>
              <a:t>comparativa</a:t>
            </a:r>
            <a:r>
              <a:rPr sz="800"/>
              <a:t> de </a:t>
            </a:r>
            <a:r>
              <a:rPr sz="800" err="1"/>
              <a:t>diciembre</a:t>
            </a:r>
            <a:r>
              <a:rPr lang="es-MX" sz="800"/>
              <a:t> de</a:t>
            </a:r>
            <a:r>
              <a:rPr sz="800"/>
              <a:t> 2018 con </a:t>
            </a:r>
            <a:r>
              <a:rPr sz="800" err="1"/>
              <a:t>el</a:t>
            </a:r>
            <a:r>
              <a:rPr sz="800"/>
              <a:t> 15 de </a:t>
            </a:r>
            <a:r>
              <a:rPr sz="800" err="1"/>
              <a:t>junio</a:t>
            </a:r>
            <a:r>
              <a:rPr sz="800"/>
              <a:t> </a:t>
            </a:r>
            <a:r>
              <a:rPr lang="es-MX" sz="800"/>
              <a:t>de </a:t>
            </a:r>
            <a:r>
              <a:rPr sz="800"/>
              <a:t>2026.</a:t>
            </a:r>
          </a:p>
        </p:txBody>
      </p:sp>
      <p:sp>
        <p:nvSpPr>
          <p:cNvPr id="322" name="TextBox 321"/>
          <p:cNvSpPr txBox="1"/>
          <p:nvPr/>
        </p:nvSpPr>
        <p:spPr>
          <a:xfrm>
            <a:off x="162000" y="7405200"/>
            <a:ext cx="3888000" cy="370800"/>
          </a:xfrm>
          <a:prstGeom prst="rect">
            <a:avLst/>
          </a:prstGeom>
          <a:noFill/>
        </p:spPr>
        <p:txBody>
          <a:bodyPr wrap="square" lIns="0" tIns="0" rIns="0" b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93802" y="8668512"/>
            <a:ext cx="1891008" cy="369332"/>
          </a:xfrm>
          <a:prstGeom prst="rect">
            <a:avLst/>
          </a:prstGeom>
          <a:noFill/>
        </p:spPr>
        <p:txBody>
          <a:bodyPr wrap="square" lIns="0" tIns="0" rIns="0" bIns="0">
            <a:spAutoFit/>
          </a:bodyPr>
          <a:lstStyle/>
          <a:p>
            <a:pPr algn="l">
              <a:defRPr sz="800">
                <a:solidFill>
                  <a:srgbClr val="000000"/>
                </a:solidFill>
                <a:latin typeface="Montserrat"/>
              </a:defRPr>
            </a:pPr>
            <a:r>
              <a:t>Fuente: Sistema de </a:t>
            </a:r>
            <a:r>
              <a:rPr err="1"/>
              <a:t>Información</a:t>
            </a:r>
            <a:r>
              <a:t> </a:t>
            </a:r>
            <a:r>
              <a:rPr err="1"/>
              <a:t>Operativa</a:t>
            </a:r>
            <a:r>
              <a:t>. Personal de base. Corte de </a:t>
            </a:r>
            <a:r>
              <a:rPr err="1"/>
              <a:t>información</a:t>
            </a:r>
            <a:r>
              <a:t>: mayo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04831" y="8178216"/>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a:solidFill>
                  <a:srgbClr val="980000"/>
                </a:solidFill>
                <a:latin typeface="Montserrat"/>
                <a:ea typeface="Montserrat"/>
                <a:cs typeface="Montserrat"/>
                <a:sym typeface="Montserrat"/>
              </a:rPr>
              <a:t>consultas diarias</a:t>
            </a:r>
            <a:endParaRPr sz="2000" b="0" i="0" u="none" strike="noStrike" cap="none">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242119583"/>
              </p:ext>
            </p:extLst>
          </p:nvPr>
        </p:nvGraphicFramePr>
        <p:xfrm>
          <a:off x="218088" y="575419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Día típico</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590149"/>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252456"/>
            <a:ext cx="911525" cy="799891"/>
          </a:xfrm>
          <a:prstGeom prst="rect">
            <a:avLst/>
          </a:prstGeom>
          <a:noFill/>
          <a:ln>
            <a:noFill/>
          </a:ln>
        </p:spPr>
      </p:pic>
      <p:sp>
        <p:nvSpPr>
          <p:cNvPr id="314" name="Google Shape;314;p9"/>
          <p:cNvSpPr txBox="1"/>
          <p:nvPr/>
        </p:nvSpPr>
        <p:spPr>
          <a:xfrm>
            <a:off x="4850850" y="6558202"/>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567449"/>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321463"/>
            <a:ext cx="911524" cy="758100"/>
          </a:xfrm>
          <a:prstGeom prst="rect">
            <a:avLst/>
          </a:prstGeom>
          <a:noFill/>
          <a:ln>
            <a:noFill/>
          </a:ln>
        </p:spPr>
      </p:pic>
      <p:sp>
        <p:nvSpPr>
          <p:cNvPr id="319" name="Google Shape;319;p9"/>
          <p:cNvSpPr txBox="1"/>
          <p:nvPr/>
        </p:nvSpPr>
        <p:spPr>
          <a:xfrm>
            <a:off x="6651731" y="6550552"/>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252456"/>
            <a:ext cx="911525" cy="799891"/>
          </a:xfrm>
          <a:prstGeom prst="rect">
            <a:avLst/>
          </a:prstGeom>
          <a:noFill/>
          <a:ln>
            <a:noFill/>
          </a:ln>
        </p:spPr>
      </p:pic>
      <p:sp>
        <p:nvSpPr>
          <p:cNvPr id="322" name="Google Shape;322;p9"/>
          <p:cNvSpPr txBox="1"/>
          <p:nvPr/>
        </p:nvSpPr>
        <p:spPr>
          <a:xfrm>
            <a:off x="1096893" y="6385402"/>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252456"/>
            <a:ext cx="911525" cy="799891"/>
          </a:xfrm>
          <a:prstGeom prst="rect">
            <a:avLst/>
          </a:prstGeom>
          <a:noFill/>
          <a:ln>
            <a:noFill/>
          </a:ln>
        </p:spPr>
      </p:pic>
      <p:sp>
        <p:nvSpPr>
          <p:cNvPr id="325" name="Google Shape;325;p9"/>
          <p:cNvSpPr txBox="1"/>
          <p:nvPr/>
        </p:nvSpPr>
        <p:spPr>
          <a:xfrm>
            <a:off x="5737325" y="7636256"/>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321463"/>
            <a:ext cx="911524" cy="758100"/>
          </a:xfrm>
          <a:prstGeom prst="rect">
            <a:avLst/>
          </a:prstGeom>
          <a:noFill/>
          <a:ln>
            <a:noFill/>
          </a:ln>
        </p:spPr>
      </p:pic>
      <p:sp>
        <p:nvSpPr>
          <p:cNvPr id="328" name="Google Shape;328;p9"/>
          <p:cNvSpPr txBox="1"/>
          <p:nvPr/>
        </p:nvSpPr>
        <p:spPr>
          <a:xfrm>
            <a:off x="2011304" y="7508309"/>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321463"/>
            <a:ext cx="911524" cy="758100"/>
          </a:xfrm>
          <a:prstGeom prst="rect">
            <a:avLst/>
          </a:prstGeom>
          <a:noFill/>
          <a:ln>
            <a:noFill/>
          </a:ln>
        </p:spPr>
      </p:pic>
      <p:sp>
        <p:nvSpPr>
          <p:cNvPr id="331" name="Google Shape;331;p9"/>
          <p:cNvSpPr txBox="1"/>
          <p:nvPr/>
        </p:nvSpPr>
        <p:spPr>
          <a:xfrm>
            <a:off x="2955330" y="6550552"/>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252456"/>
            <a:ext cx="911525" cy="799891"/>
          </a:xfrm>
          <a:prstGeom prst="rect">
            <a:avLst/>
          </a:prstGeom>
          <a:noFill/>
          <a:ln>
            <a:noFill/>
          </a:ln>
        </p:spPr>
      </p:pic>
      <p:graphicFrame>
        <p:nvGraphicFramePr>
          <p:cNvPr id="334" name="Google Shape;334;p9"/>
          <p:cNvGraphicFramePr/>
          <p:nvPr>
            <p:extLst>
              <p:ext uri="{D42A27DB-BD31-4B8C-83A1-F6EECF244321}">
                <p14:modId xmlns:p14="http://schemas.microsoft.com/office/powerpoint/2010/main" val="2241682366"/>
              </p:ext>
            </p:extLst>
          </p:nvPr>
        </p:nvGraphicFramePr>
        <p:xfrm>
          <a:off x="145197" y="630055"/>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sp>
        <p:nvSpPr>
          <p:cNvPr id="336" name="TextBox 335"/>
          <p:cNvSpPr txBox="1"/>
          <p:nvPr/>
        </p:nvSpPr>
        <p:spPr>
          <a:xfrm>
            <a:off x="324000" y="6492638"/>
            <a:ext cx="763200" cy="241200"/>
          </a:xfrm>
          <a:prstGeom prst="rect">
            <a:avLst/>
          </a:prstGeom>
          <a:noFill/>
        </p:spPr>
        <p:txBody>
          <a:bodyPr wrap="none">
            <a:spAutoFit/>
          </a:bodyPr>
          <a:lstStyle/>
          <a:p>
            <a:pPr algn="ctr">
              <a:defRPr sz="1300">
                <a:solidFill>
                  <a:srgbClr val="006455"/>
                </a:solidFill>
                <a:latin typeface="Montserrat ExtraBold"/>
              </a:defRPr>
            </a:pPr>
            <a:r>
              <a:t>3,412</a:t>
            </a:r>
          </a:p>
        </p:txBody>
      </p:sp>
      <p:sp>
        <p:nvSpPr>
          <p:cNvPr id="337" name="TextBox 336"/>
          <p:cNvSpPr txBox="1"/>
          <p:nvPr/>
        </p:nvSpPr>
        <p:spPr>
          <a:xfrm>
            <a:off x="2224800" y="6492638"/>
            <a:ext cx="676800" cy="241200"/>
          </a:xfrm>
          <a:prstGeom prst="rect">
            <a:avLst/>
          </a:prstGeom>
          <a:noFill/>
        </p:spPr>
        <p:txBody>
          <a:bodyPr wrap="none">
            <a:spAutoFit/>
          </a:bodyPr>
          <a:lstStyle/>
          <a:p>
            <a:pPr algn="ctr">
              <a:defRPr sz="1300">
                <a:solidFill>
                  <a:srgbClr val="006455"/>
                </a:solidFill>
                <a:latin typeface="Montserrat ExtraBold"/>
              </a:defRPr>
            </a:pPr>
            <a:r>
              <a:t>240</a:t>
            </a:r>
          </a:p>
        </p:txBody>
      </p:sp>
      <p:sp>
        <p:nvSpPr>
          <p:cNvPr id="338" name="TextBox 337"/>
          <p:cNvSpPr txBox="1"/>
          <p:nvPr/>
        </p:nvSpPr>
        <p:spPr>
          <a:xfrm>
            <a:off x="4064399" y="6492638"/>
            <a:ext cx="676800" cy="241200"/>
          </a:xfrm>
          <a:prstGeom prst="rect">
            <a:avLst/>
          </a:prstGeom>
          <a:noFill/>
        </p:spPr>
        <p:txBody>
          <a:bodyPr wrap="none">
            <a:spAutoFit/>
          </a:bodyPr>
          <a:lstStyle/>
          <a:p>
            <a:pPr algn="ctr">
              <a:defRPr sz="1300">
                <a:solidFill>
                  <a:srgbClr val="006455"/>
                </a:solidFill>
                <a:latin typeface="Montserrat ExtraBold"/>
              </a:defRPr>
            </a:pPr>
            <a:r>
              <a:t>32</a:t>
            </a:r>
          </a:p>
        </p:txBody>
      </p:sp>
      <p:sp>
        <p:nvSpPr>
          <p:cNvPr id="339" name="TextBox 338"/>
          <p:cNvSpPr txBox="1"/>
          <p:nvPr/>
        </p:nvSpPr>
        <p:spPr>
          <a:xfrm>
            <a:off x="5929200" y="6492638"/>
            <a:ext cx="676800" cy="241200"/>
          </a:xfrm>
          <a:prstGeom prst="rect">
            <a:avLst/>
          </a:prstGeom>
          <a:noFill/>
        </p:spPr>
        <p:txBody>
          <a:bodyPr wrap="none">
            <a:spAutoFit/>
          </a:bodyPr>
          <a:lstStyle/>
          <a:p>
            <a:pPr algn="ctr">
              <a:defRPr sz="1300">
                <a:solidFill>
                  <a:srgbClr val="006455"/>
                </a:solidFill>
                <a:latin typeface="Montserrat ExtraBold"/>
              </a:defRPr>
            </a:pPr>
            <a:r>
              <a:t>55</a:t>
            </a:r>
          </a:p>
        </p:txBody>
      </p:sp>
      <p:sp>
        <p:nvSpPr>
          <p:cNvPr id="340" name="TextBox 339"/>
          <p:cNvSpPr txBox="1"/>
          <p:nvPr/>
        </p:nvSpPr>
        <p:spPr>
          <a:xfrm>
            <a:off x="1242000" y="7557063"/>
            <a:ext cx="763200" cy="226800"/>
          </a:xfrm>
          <a:prstGeom prst="rect">
            <a:avLst/>
          </a:prstGeom>
          <a:noFill/>
        </p:spPr>
        <p:txBody>
          <a:bodyPr wrap="none">
            <a:spAutoFit/>
          </a:bodyPr>
          <a:lstStyle/>
          <a:p>
            <a:pPr algn="ctr">
              <a:defRPr sz="1300">
                <a:solidFill>
                  <a:srgbClr val="006455"/>
                </a:solidFill>
                <a:latin typeface="Montserrat ExtraBold"/>
              </a:defRPr>
            </a:pPr>
            <a:r>
              <a:t>1,174</a:t>
            </a:r>
          </a:p>
        </p:txBody>
      </p:sp>
      <p:sp>
        <p:nvSpPr>
          <p:cNvPr id="341" name="TextBox 340"/>
          <p:cNvSpPr txBox="1"/>
          <p:nvPr/>
        </p:nvSpPr>
        <p:spPr>
          <a:xfrm>
            <a:off x="3114000" y="7557063"/>
            <a:ext cx="752400" cy="241200"/>
          </a:xfrm>
          <a:prstGeom prst="rect">
            <a:avLst/>
          </a:prstGeom>
          <a:noFill/>
        </p:spPr>
        <p:txBody>
          <a:bodyPr wrap="none">
            <a:spAutoFit/>
          </a:bodyPr>
          <a:lstStyle/>
          <a:p>
            <a:pPr algn="ctr">
              <a:defRPr sz="1300">
                <a:solidFill>
                  <a:srgbClr val="006455"/>
                </a:solidFill>
                <a:latin typeface="Montserrat ExtraBold"/>
              </a:defRPr>
            </a:pPr>
            <a:r>
              <a:t>517</a:t>
            </a:r>
          </a:p>
        </p:txBody>
      </p:sp>
      <p:sp>
        <p:nvSpPr>
          <p:cNvPr id="342" name="TextBox 341"/>
          <p:cNvSpPr txBox="1"/>
          <p:nvPr/>
        </p:nvSpPr>
        <p:spPr>
          <a:xfrm>
            <a:off x="5014800" y="7557063"/>
            <a:ext cx="676800" cy="226800"/>
          </a:xfrm>
          <a:prstGeom prst="rect">
            <a:avLst/>
          </a:prstGeom>
          <a:noFill/>
        </p:spPr>
        <p:txBody>
          <a:bodyPr wrap="none">
            <a:spAutoFit/>
          </a:bodyPr>
          <a:lstStyle/>
          <a:p>
            <a:pPr algn="ctr">
              <a:defRPr sz="1300">
                <a:solidFill>
                  <a:srgbClr val="006455"/>
                </a:solidFill>
                <a:latin typeface="Montserrat ExtraBold"/>
              </a:defRPr>
            </a:pPr>
            <a:r>
              <a:t>7</a:t>
            </a:r>
          </a:p>
        </p:txBody>
      </p:sp>
      <p:sp>
        <p:nvSpPr>
          <p:cNvPr id="343" name="TextBox 342"/>
          <p:cNvSpPr txBox="1"/>
          <p:nvPr/>
        </p:nvSpPr>
        <p:spPr>
          <a:xfrm>
            <a:off x="2106306" y="8178966"/>
            <a:ext cx="3427200" cy="385200"/>
          </a:xfrm>
          <a:prstGeom prst="rect">
            <a:avLst/>
          </a:prstGeom>
          <a:noFill/>
        </p:spPr>
        <p:txBody>
          <a:bodyPr wrap="none">
            <a:spAutoFit/>
          </a:bodyPr>
          <a:lstStyle/>
          <a:p>
            <a:pPr algn="ctr">
              <a:defRPr sz="3200" b="1">
                <a:solidFill>
                  <a:srgbClr val="980000"/>
                </a:solidFill>
                <a:latin typeface="Montserrat"/>
              </a:defRPr>
            </a:pPr>
            <a:r>
              <a:t>5,343</a:t>
            </a:r>
          </a:p>
        </p:txBody>
      </p:sp>
      <p:graphicFrame>
        <p:nvGraphicFramePr>
          <p:cNvPr id="344" name="Table 343"/>
          <p:cNvGraphicFramePr>
            <a:graphicFrameLocks noGrp="1"/>
          </p:cNvGraphicFramePr>
          <p:nvPr>
            <p:extLst>
              <p:ext uri="{D42A27DB-BD31-4B8C-83A1-F6EECF244321}">
                <p14:modId xmlns:p14="http://schemas.microsoft.com/office/powerpoint/2010/main" val="1159854621"/>
              </p:ext>
            </p:extLst>
          </p:nvPr>
        </p:nvGraphicFramePr>
        <p:xfrm>
          <a:off x="95616" y="1362024"/>
          <a:ext cx="7567200" cy="355284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72400">
                  <a:extLst>
                    <a:ext uri="{9D8B030D-6E8A-4147-A177-3AD203B41FA5}">
                      <a16:colId xmlns:a16="http://schemas.microsoft.com/office/drawing/2014/main" val="20000"/>
                    </a:ext>
                  </a:extLst>
                </a:gridCol>
                <a:gridCol w="1468800">
                  <a:extLst>
                    <a:ext uri="{9D8B030D-6E8A-4147-A177-3AD203B41FA5}">
                      <a16:colId xmlns:a16="http://schemas.microsoft.com/office/drawing/2014/main" val="20001"/>
                    </a:ext>
                  </a:extLst>
                </a:gridCol>
                <a:gridCol w="1479600">
                  <a:extLst>
                    <a:ext uri="{9D8B030D-6E8A-4147-A177-3AD203B41FA5}">
                      <a16:colId xmlns:a16="http://schemas.microsoft.com/office/drawing/2014/main" val="20002"/>
                    </a:ext>
                  </a:extLst>
                </a:gridCol>
                <a:gridCol w="1602000">
                  <a:extLst>
                    <a:ext uri="{9D8B030D-6E8A-4147-A177-3AD203B41FA5}">
                      <a16:colId xmlns:a16="http://schemas.microsoft.com/office/drawing/2014/main" val="20003"/>
                    </a:ext>
                  </a:extLst>
                </a:gridCol>
                <a:gridCol w="1544400">
                  <a:extLst>
                    <a:ext uri="{9D8B030D-6E8A-4147-A177-3AD203B41FA5}">
                      <a16:colId xmlns:a16="http://schemas.microsoft.com/office/drawing/2014/main" val="20004"/>
                    </a:ext>
                  </a:extLst>
                </a:gridCol>
              </a:tblGrid>
              <a:tr h="489600">
                <a:tc>
                  <a:txBody>
                    <a:bodyPr/>
                    <a:lstStyle/>
                    <a:p>
                      <a:pPr algn="ctr">
                        <a:defRPr sz="1000" b="1">
                          <a:solidFill>
                            <a:srgbClr val="FFFFFF"/>
                          </a:solidFill>
                          <a:latin typeface="Montserrat"/>
                        </a:defRPr>
                      </a:pPr>
                      <a:r>
                        <a:t>Medicina Familiar</a:t>
                      </a:r>
                    </a:p>
                  </a:txBody>
                  <a:tcPr anchor="ctr">
                    <a:solidFill>
                      <a:srgbClr val="006455"/>
                    </a:solidFill>
                  </a:tcPr>
                </a:tc>
                <a:tc>
                  <a:txBody>
                    <a:bodyPr/>
                    <a:lstStyle/>
                    <a:p>
                      <a:pPr algn="ctr">
                        <a:defRPr sz="1000" b="1">
                          <a:solidFill>
                            <a:srgbClr val="FFFFFF"/>
                          </a:solidFill>
                          <a:latin typeface="Montserrat"/>
                        </a:defRPr>
                      </a:pPr>
                      <a:r>
                        <a:t>Especialidades</a:t>
                      </a:r>
                    </a:p>
                  </a:txBody>
                  <a:tcPr anchor="ctr">
                    <a:solidFill>
                      <a:srgbClr val="006455"/>
                    </a:solidFill>
                  </a:tcPr>
                </a:tc>
                <a:tc>
                  <a:txBody>
                    <a:bodyPr/>
                    <a:lstStyle/>
                    <a:p>
                      <a:pPr algn="ctr">
                        <a:defRPr sz="1000" b="1">
                          <a:solidFill>
                            <a:srgbClr val="FFFFFF"/>
                          </a:solidFill>
                          <a:latin typeface="Montserrat"/>
                        </a:defRPr>
                      </a:pPr>
                      <a:r>
                        <a:t>Cirugías</a:t>
                      </a:r>
                    </a:p>
                  </a:txBody>
                  <a:tcPr anchor="ctr">
                    <a:solidFill>
                      <a:srgbClr val="006455"/>
                    </a:solidFill>
                  </a:tcPr>
                </a:tc>
                <a:tc>
                  <a:txBody>
                    <a:bodyPr/>
                    <a:lstStyle/>
                    <a:p>
                      <a:pPr algn="ctr">
                        <a:defRPr sz="1000" b="1">
                          <a:solidFill>
                            <a:srgbClr val="FFFFFF"/>
                          </a:solidFill>
                          <a:latin typeface="Montserrat"/>
                        </a:defRPr>
                      </a:pPr>
                      <a:r>
                        <a:t>Egresos</a:t>
                      </a:r>
                    </a:p>
                  </a:txBody>
                  <a:tcPr anchor="ctr">
                    <a:solidFill>
                      <a:srgbClr val="006455"/>
                    </a:solidFill>
                  </a:tcPr>
                </a:tc>
                <a:tc>
                  <a:txBody>
                    <a:bodyPr/>
                    <a:lstStyle/>
                    <a:p>
                      <a:pPr algn="ctr">
                        <a:defRPr sz="1000" b="1">
                          <a:solidFill>
                            <a:srgbClr val="FFFFFF"/>
                          </a:solidFill>
                          <a:latin typeface="Montserrat"/>
                        </a:defRPr>
                      </a:pPr>
                      <a:r>
                        <a:t>Defunciones</a:t>
                      </a:r>
                    </a:p>
                  </a:txBody>
                  <a:tcPr anchor="ctr">
                    <a:solidFill>
                      <a:srgbClr val="006455"/>
                    </a:solidFill>
                  </a:tcPr>
                </a:tc>
                <a:extLst>
                  <a:ext uri="{0D108BD9-81ED-4DB2-BD59-A6C34878D82A}">
                    <a16:rowId xmlns:a16="http://schemas.microsoft.com/office/drawing/2014/main" val="10000"/>
                  </a:ext>
                </a:extLst>
              </a:tr>
              <a:tr h="489600">
                <a:tc>
                  <a:txBody>
                    <a:bodyPr/>
                    <a:lstStyle/>
                    <a:p>
                      <a:pPr algn="ctr"/>
                      <a:r>
                        <a:rPr sz="900" b="0">
                          <a:latin typeface="Montserrat"/>
                        </a:rPr>
                        <a:t>Diabetes mellitus
(44,014)</a:t>
                      </a:r>
                    </a:p>
                  </a:txBody>
                  <a:tcPr>
                    <a:solidFill>
                      <a:srgbClr val="FFFFFF"/>
                    </a:solidFill>
                  </a:tcPr>
                </a:tc>
                <a:tc>
                  <a:txBody>
                    <a:bodyPr/>
                    <a:lstStyle/>
                    <a:p>
                      <a:pPr algn="ctr"/>
                      <a:r>
                        <a:rPr sz="900" b="0">
                          <a:latin typeface="Montserrat"/>
                        </a:rPr>
                        <a:t>Traumatismos e intoxicaciones
(5,611)</a:t>
                      </a:r>
                    </a:p>
                  </a:txBody>
                  <a:tcPr>
                    <a:solidFill>
                      <a:srgbClr val="FFFFFF"/>
                    </a:solidFill>
                  </a:tcPr>
                </a:tc>
                <a:tc>
                  <a:txBody>
                    <a:bodyPr/>
                    <a:lstStyle/>
                    <a:p>
                      <a:pPr algn="ctr"/>
                      <a:r>
                        <a:rPr sz="900" b="0">
                          <a:latin typeface="Montserrat"/>
                        </a:rPr>
                        <a:t>Cesárea
(599)</a:t>
                      </a:r>
                    </a:p>
                  </a:txBody>
                  <a:tcPr>
                    <a:solidFill>
                      <a:srgbClr val="FFFFFF"/>
                    </a:solidFill>
                  </a:tcPr>
                </a:tc>
                <a:tc>
                  <a:txBody>
                    <a:bodyPr/>
                    <a:lstStyle/>
                    <a:p>
                      <a:pPr algn="ctr"/>
                      <a:r>
                        <a:rPr sz="900" b="0">
                          <a:latin typeface="Montserrat"/>
                        </a:rPr>
                        <a:t>Embarazo, parto y puerperio
(1,112)</a:t>
                      </a:r>
                    </a:p>
                  </a:txBody>
                  <a:tcPr>
                    <a:solidFill>
                      <a:srgbClr val="FFFFFF"/>
                    </a:solidFill>
                  </a:tcPr>
                </a:tc>
                <a:tc>
                  <a:txBody>
                    <a:bodyPr/>
                    <a:lstStyle/>
                    <a:p>
                      <a:pPr algn="ctr"/>
                      <a:r>
                        <a:rPr sz="900" b="0">
                          <a:latin typeface="Montserrat"/>
                        </a:rPr>
                        <a:t>Neumonía e influenza
(80)</a:t>
                      </a:r>
                    </a:p>
                  </a:txBody>
                  <a:tcPr>
                    <a:solidFill>
                      <a:srgbClr val="FFFFFF"/>
                    </a:solidFill>
                  </a:tcPr>
                </a:tc>
                <a:extLst>
                  <a:ext uri="{0D108BD9-81ED-4DB2-BD59-A6C34878D82A}">
                    <a16:rowId xmlns:a16="http://schemas.microsoft.com/office/drawing/2014/main" val="10001"/>
                  </a:ext>
                </a:extLst>
              </a:tr>
              <a:tr h="489600">
                <a:tc>
                  <a:txBody>
                    <a:bodyPr/>
                    <a:lstStyle/>
                    <a:p>
                      <a:pPr algn="ctr"/>
                      <a:r>
                        <a:rPr sz="900" b="0">
                          <a:latin typeface="Montserrat"/>
                        </a:rPr>
                        <a:t>Enfermedades del corazón
(35,867)</a:t>
                      </a:r>
                    </a:p>
                  </a:txBody>
                  <a:tcPr>
                    <a:solidFill>
                      <a:srgbClr val="EFEFEF"/>
                    </a:solidFill>
                  </a:tcPr>
                </a:tc>
                <a:tc>
                  <a:txBody>
                    <a:bodyPr/>
                    <a:lstStyle/>
                    <a:p>
                      <a:pPr algn="ctr"/>
                      <a:r>
                        <a:rPr sz="900" b="0">
                          <a:latin typeface="Montserrat"/>
                        </a:rPr>
                        <a:t>Enfermedades y trastornos de las articulaciones
(4,672)</a:t>
                      </a:r>
                    </a:p>
                  </a:txBody>
                  <a:tcPr>
                    <a:solidFill>
                      <a:srgbClr val="EFEFEF"/>
                    </a:solidFill>
                  </a:tcPr>
                </a:tc>
                <a:tc>
                  <a:txBody>
                    <a:bodyPr/>
                    <a:lstStyle/>
                    <a:p>
                      <a:pPr algn="ctr"/>
                      <a:r>
                        <a:rPr sz="900" b="0">
                          <a:latin typeface="Montserrat"/>
                        </a:rPr>
                        <a:t>Traumatismos y envenenamientos
(557)</a:t>
                      </a:r>
                    </a:p>
                  </a:txBody>
                  <a:tcPr>
                    <a:solidFill>
                      <a:srgbClr val="EFEFEF"/>
                    </a:solidFill>
                  </a:tcPr>
                </a:tc>
                <a:tc>
                  <a:txBody>
                    <a:bodyPr/>
                    <a:lstStyle/>
                    <a:p>
                      <a:pPr algn="ctr"/>
                      <a:r>
                        <a:rPr sz="900" b="0">
                          <a:latin typeface="Montserrat"/>
                        </a:rPr>
                        <a:t>Traumatismos e intoxicaciones
(803)</a:t>
                      </a:r>
                    </a:p>
                  </a:txBody>
                  <a:tcPr>
                    <a:solidFill>
                      <a:srgbClr val="EFEFEF"/>
                    </a:solidFill>
                  </a:tcPr>
                </a:tc>
                <a:tc>
                  <a:txBody>
                    <a:bodyPr/>
                    <a:lstStyle/>
                    <a:p>
                      <a:pPr algn="ctr"/>
                      <a:r>
                        <a:rPr sz="900" b="0">
                          <a:latin typeface="Montserrat"/>
                        </a:rPr>
                        <a:t>Enfermedades del corazón
(59)</a:t>
                      </a:r>
                    </a:p>
                  </a:txBody>
                  <a:tcPr>
                    <a:solidFill>
                      <a:srgbClr val="EFEFEF"/>
                    </a:solidFill>
                  </a:tcPr>
                </a:tc>
                <a:extLst>
                  <a:ext uri="{0D108BD9-81ED-4DB2-BD59-A6C34878D82A}">
                    <a16:rowId xmlns:a16="http://schemas.microsoft.com/office/drawing/2014/main" val="10002"/>
                  </a:ext>
                </a:extLst>
              </a:tr>
              <a:tr h="489600">
                <a:tc>
                  <a:txBody>
                    <a:bodyPr/>
                    <a:lstStyle/>
                    <a:p>
                      <a:pPr algn="ctr"/>
                      <a:r>
                        <a:rPr sz="900" b="0">
                          <a:latin typeface="Montserrat"/>
                        </a:rPr>
                        <a:t>traumatismos e intoxicaciones
(11,380)</a:t>
                      </a:r>
                    </a:p>
                  </a:txBody>
                  <a:tcPr>
                    <a:solidFill>
                      <a:srgbClr val="FFFFFF"/>
                    </a:solidFill>
                  </a:tcPr>
                </a:tc>
                <a:tc>
                  <a:txBody>
                    <a:bodyPr/>
                    <a:lstStyle/>
                    <a:p>
                      <a:pPr algn="ctr"/>
                      <a:r>
                        <a:rPr sz="900" b="0">
                          <a:latin typeface="Montserrat"/>
                        </a:rPr>
                        <a:t>Tumores malignos
(4,178)</a:t>
                      </a:r>
                    </a:p>
                  </a:txBody>
                  <a:tcPr>
                    <a:solidFill>
                      <a:srgbClr val="FFFFFF"/>
                    </a:solidFill>
                  </a:tcPr>
                </a:tc>
                <a:tc>
                  <a:txBody>
                    <a:bodyPr/>
                    <a:lstStyle/>
                    <a:p>
                      <a:pPr algn="ctr"/>
                      <a:r>
                        <a:rPr sz="900" b="0">
                          <a:latin typeface="Montserrat"/>
                        </a:rPr>
                        <a:t>Cirugía de cataratas (Facoemulsificación con implante de lente intraocular)
(300)</a:t>
                      </a:r>
                    </a:p>
                  </a:txBody>
                  <a:tcPr>
                    <a:solidFill>
                      <a:srgbClr val="FFFFFF"/>
                    </a:solidFill>
                  </a:tcPr>
                </a:tc>
                <a:tc>
                  <a:txBody>
                    <a:bodyPr/>
                    <a:lstStyle/>
                    <a:p>
                      <a:pPr algn="ctr"/>
                      <a:r>
                        <a:rPr sz="900" b="0">
                          <a:latin typeface="Montserrat"/>
                        </a:rPr>
                        <a:t>Insuficiencia renal
(476)</a:t>
                      </a:r>
                    </a:p>
                  </a:txBody>
                  <a:tcPr>
                    <a:solidFill>
                      <a:srgbClr val="FFFFFF"/>
                    </a:solidFill>
                  </a:tcPr>
                </a:tc>
                <a:tc>
                  <a:txBody>
                    <a:bodyPr/>
                    <a:lstStyle/>
                    <a:p>
                      <a:pPr algn="ctr"/>
                      <a:r>
                        <a:rPr sz="900" b="0">
                          <a:latin typeface="Montserrat"/>
                        </a:rPr>
                        <a:t>Tumores malignos
(28)</a:t>
                      </a:r>
                    </a:p>
                  </a:txBody>
                  <a:tcPr>
                    <a:solidFill>
                      <a:srgbClr val="FFFFFF"/>
                    </a:solidFill>
                  </a:tcPr>
                </a:tc>
                <a:extLst>
                  <a:ext uri="{0D108BD9-81ED-4DB2-BD59-A6C34878D82A}">
                    <a16:rowId xmlns:a16="http://schemas.microsoft.com/office/drawing/2014/main" val="10003"/>
                  </a:ext>
                </a:extLst>
              </a:tr>
              <a:tr h="489600">
                <a:tc>
                  <a:txBody>
                    <a:bodyPr/>
                    <a:lstStyle/>
                    <a:p>
                      <a:pPr algn="ctr"/>
                      <a:r>
                        <a:rPr sz="900" b="0">
                          <a:latin typeface="Montserrat"/>
                        </a:rPr>
                        <a:t>Infecciones respiratorias agudas
(8,964)</a:t>
                      </a:r>
                    </a:p>
                  </a:txBody>
                  <a:tcPr>
                    <a:solidFill>
                      <a:srgbClr val="EFEFEF"/>
                    </a:solidFill>
                  </a:tcPr>
                </a:tc>
                <a:tc>
                  <a:txBody>
                    <a:bodyPr/>
                    <a:lstStyle/>
                    <a:p>
                      <a:pPr algn="ctr"/>
                      <a:r>
                        <a:rPr sz="900" b="0">
                          <a:latin typeface="Montserrat"/>
                        </a:rPr>
                        <a:t>Insuficiencia renal
(4,049)</a:t>
                      </a:r>
                    </a:p>
                  </a:txBody>
                  <a:tcPr>
                    <a:solidFill>
                      <a:srgbClr val="EFEFEF"/>
                    </a:solidFill>
                  </a:tcPr>
                </a:tc>
                <a:tc>
                  <a:txBody>
                    <a:bodyPr/>
                    <a:lstStyle/>
                    <a:p>
                      <a:pPr algn="ctr"/>
                      <a:r>
                        <a:rPr sz="900" b="0">
                          <a:latin typeface="Montserrat"/>
                        </a:rPr>
                        <a:t>Cirugía de Hernias (Hernioplastía)
(188)</a:t>
                      </a:r>
                    </a:p>
                  </a:txBody>
                  <a:tcPr>
                    <a:solidFill>
                      <a:srgbClr val="EFEFEF"/>
                    </a:solidFill>
                  </a:tcPr>
                </a:tc>
                <a:tc>
                  <a:txBody>
                    <a:bodyPr/>
                    <a:lstStyle/>
                    <a:p>
                      <a:pPr algn="ctr"/>
                      <a:r>
                        <a:rPr sz="900" b="0">
                          <a:latin typeface="Montserrat"/>
                        </a:rPr>
                        <a:t>Tumores malignos
(319)</a:t>
                      </a:r>
                    </a:p>
                  </a:txBody>
                  <a:tcPr>
                    <a:solidFill>
                      <a:srgbClr val="EFEFEF"/>
                    </a:solidFill>
                  </a:tcPr>
                </a:tc>
                <a:tc>
                  <a:txBody>
                    <a:bodyPr/>
                    <a:lstStyle/>
                    <a:p>
                      <a:pPr algn="ctr"/>
                      <a:r>
                        <a:rPr sz="900" b="0">
                          <a:latin typeface="Montserrat"/>
                        </a:rPr>
                        <a:t>Insuficiencia renal
(25)</a:t>
                      </a:r>
                    </a:p>
                  </a:txBody>
                  <a:tcPr>
                    <a:solidFill>
                      <a:srgbClr val="EFEFEF"/>
                    </a:solidFill>
                  </a:tcPr>
                </a:tc>
                <a:extLst>
                  <a:ext uri="{0D108BD9-81ED-4DB2-BD59-A6C34878D82A}">
                    <a16:rowId xmlns:a16="http://schemas.microsoft.com/office/drawing/2014/main" val="10004"/>
                  </a:ext>
                </a:extLst>
              </a:tr>
              <a:tr h="489600">
                <a:tc>
                  <a:txBody>
                    <a:bodyPr/>
                    <a:lstStyle/>
                    <a:p>
                      <a:pPr algn="ctr"/>
                      <a:r>
                        <a:rPr sz="900" b="0">
                          <a:latin typeface="Montserrat"/>
                        </a:rPr>
                        <a:t>Enfermedades mentales
(7,333)</a:t>
                      </a:r>
                    </a:p>
                  </a:txBody>
                  <a:tcPr>
                    <a:solidFill>
                      <a:srgbClr val="FFFFFF"/>
                    </a:solidFill>
                  </a:tcPr>
                </a:tc>
                <a:tc>
                  <a:txBody>
                    <a:bodyPr/>
                    <a:lstStyle/>
                    <a:p>
                      <a:pPr algn="ctr"/>
                      <a:r>
                        <a:rPr sz="900" b="0" err="1">
                          <a:latin typeface="Montserrat"/>
                        </a:rPr>
                        <a:t>Problemas</a:t>
                      </a:r>
                      <a:r>
                        <a:rPr sz="900" b="0">
                          <a:latin typeface="Montserrat"/>
                        </a:rPr>
                        <a:t> y </a:t>
                      </a:r>
                      <a:r>
                        <a:rPr sz="900" b="0" err="1">
                          <a:latin typeface="Montserrat"/>
                        </a:rPr>
                        <a:t>enfermedades</a:t>
                      </a:r>
                      <a:r>
                        <a:rPr sz="900" b="0">
                          <a:latin typeface="Montserrat"/>
                        </a:rPr>
                        <a:t> de la columna vertebral
(2,680)</a:t>
                      </a:r>
                    </a:p>
                  </a:txBody>
                  <a:tcPr>
                    <a:solidFill>
                      <a:srgbClr val="FFFFFF"/>
                    </a:solidFill>
                  </a:tcPr>
                </a:tc>
                <a:tc>
                  <a:txBody>
                    <a:bodyPr/>
                    <a:lstStyle/>
                    <a:p>
                      <a:pPr algn="ctr"/>
                      <a:r>
                        <a:rPr sz="900" b="0">
                          <a:latin typeface="Montserrat"/>
                        </a:rPr>
                        <a:t>Cirugía de vesicula biliar (Colecistectomía)
(187)</a:t>
                      </a:r>
                    </a:p>
                  </a:txBody>
                  <a:tcPr>
                    <a:solidFill>
                      <a:srgbClr val="FFFFFF"/>
                    </a:solidFill>
                  </a:tcPr>
                </a:tc>
                <a:tc>
                  <a:txBody>
                    <a:bodyPr/>
                    <a:lstStyle/>
                    <a:p>
                      <a:pPr algn="ctr"/>
                      <a:r>
                        <a:rPr sz="900" b="0">
                          <a:latin typeface="Montserrat"/>
                        </a:rPr>
                        <a:t>Enfermedades de la vesicula biliar
(275)</a:t>
                      </a:r>
                    </a:p>
                  </a:txBody>
                  <a:tcPr>
                    <a:solidFill>
                      <a:srgbClr val="FFFFFF"/>
                    </a:solidFill>
                  </a:tcPr>
                </a:tc>
                <a:tc>
                  <a:txBody>
                    <a:bodyPr/>
                    <a:lstStyle/>
                    <a:p>
                      <a:pPr algn="ctr"/>
                      <a:r>
                        <a:rPr sz="900" b="0">
                          <a:latin typeface="Montserrat"/>
                        </a:rPr>
                        <a:t>Diabetes mellitus
(14)</a:t>
                      </a:r>
                    </a:p>
                  </a:txBody>
                  <a:tcPr>
                    <a:solidFill>
                      <a:srgbClr val="FFFFFF"/>
                    </a:solidFill>
                  </a:tcPr>
                </a:tc>
                <a:extLst>
                  <a:ext uri="{0D108BD9-81ED-4DB2-BD59-A6C34878D82A}">
                    <a16:rowId xmlns:a16="http://schemas.microsoft.com/office/drawing/2014/main" val="10005"/>
                  </a:ext>
                </a:extLst>
              </a:tr>
            </a:tbl>
          </a:graphicData>
        </a:graphic>
      </p:graphicFrame>
      <p:sp>
        <p:nvSpPr>
          <p:cNvPr id="345" name="TextBox 344"/>
          <p:cNvSpPr txBox="1"/>
          <p:nvPr/>
        </p:nvSpPr>
        <p:spPr>
          <a:xfrm>
            <a:off x="219600" y="4989699"/>
            <a:ext cx="5331600" cy="492443"/>
          </a:xfrm>
          <a:prstGeom prst="rect">
            <a:avLst/>
          </a:prstGeom>
          <a:noFill/>
        </p:spPr>
        <p:txBody>
          <a:bodyPr wrap="square" lIns="0" tIns="0" rIns="0" bIns="0">
            <a:spAutoFit/>
          </a:bodyPr>
          <a:lstStyle/>
          <a:p>
            <a:pPr algn="l">
              <a:defRPr sz="700">
                <a:solidFill>
                  <a:srgbClr val="000000"/>
                </a:solidFill>
                <a:latin typeface="Montserrat"/>
              </a:defRPr>
            </a:pPr>
            <a:r>
              <a:rPr sz="800"/>
              <a:t>El </a:t>
            </a:r>
            <a:r>
              <a:rPr sz="800" err="1"/>
              <a:t>número</a:t>
            </a:r>
            <a:r>
              <a:rPr sz="800"/>
              <a:t> de </a:t>
            </a:r>
            <a:r>
              <a:rPr sz="800" err="1"/>
              <a:t>casos</a:t>
            </a:r>
            <a:r>
              <a:rPr sz="800"/>
              <a:t> se </a:t>
            </a:r>
            <a:r>
              <a:rPr sz="800" err="1"/>
              <a:t>presentan</a:t>
            </a:r>
            <a:r>
              <a:rPr sz="800"/>
              <a:t> entre </a:t>
            </a:r>
            <a:r>
              <a:rPr sz="800" err="1"/>
              <a:t>paréntesis</a:t>
            </a:r>
            <a:r>
              <a:rPr sz="800"/>
              <a:t>.</a:t>
            </a:r>
            <a:br>
              <a:rPr sz="800"/>
            </a:br>
            <a:r>
              <a:rPr sz="800"/>
              <a:t>Fuente: IMSS/DPM/División de </a:t>
            </a:r>
            <a:r>
              <a:rPr sz="800" err="1"/>
              <a:t>Información</a:t>
            </a:r>
            <a:r>
              <a:rPr sz="800"/>
              <a:t> </a:t>
            </a:r>
            <a:r>
              <a:rPr sz="800" err="1"/>
              <a:t>en</a:t>
            </a:r>
            <a:r>
              <a:rPr sz="800"/>
              <a:t> Salud/</a:t>
            </a:r>
            <a:r>
              <a:rPr sz="800" err="1"/>
              <a:t>Motivos</a:t>
            </a:r>
            <a:r>
              <a:rPr sz="800"/>
              <a:t> de Consulta Externa (SUI27).</a:t>
            </a:r>
            <a:br>
              <a:rPr sz="800"/>
            </a:br>
            <a:r>
              <a:rPr sz="800"/>
              <a:t>Sistema de </a:t>
            </a:r>
            <a:r>
              <a:rPr sz="800" err="1"/>
              <a:t>información</a:t>
            </a:r>
            <a:r>
              <a:rPr sz="800"/>
              <a:t> Médico </a:t>
            </a:r>
            <a:r>
              <a:rPr sz="800" err="1"/>
              <a:t>Operativo</a:t>
            </a:r>
            <a:r>
              <a:rPr sz="800"/>
              <a:t> Central (SIMOC).</a:t>
            </a:r>
            <a:br>
              <a:rPr sz="800"/>
            </a:br>
            <a:r>
              <a:rPr sz="800" err="1"/>
              <a:t>Periodo</a:t>
            </a:r>
            <a:r>
              <a:rPr sz="800"/>
              <a:t>: </a:t>
            </a:r>
            <a:r>
              <a:rPr sz="800" err="1"/>
              <a:t>enero-diciembre</a:t>
            </a:r>
            <a:r>
              <a:rPr sz="800"/>
              <a:t> 2025</a:t>
            </a:r>
          </a:p>
        </p:txBody>
      </p:sp>
      <p:sp>
        <p:nvSpPr>
          <p:cNvPr id="346" name="TextBox 345"/>
          <p:cNvSpPr txBox="1"/>
          <p:nvPr/>
        </p:nvSpPr>
        <p:spPr>
          <a:xfrm>
            <a:off x="230400" y="9093600"/>
            <a:ext cx="4244400" cy="123111"/>
          </a:xfrm>
          <a:prstGeom prst="rect">
            <a:avLst/>
          </a:prstGeom>
          <a:noFill/>
        </p:spPr>
        <p:txBody>
          <a:bodyPr wrap="square" lIns="0" tIns="0" rIns="0" bIns="0">
            <a:spAutoFit/>
          </a:bodyPr>
          <a:lstStyle/>
          <a:p>
            <a:pPr algn="l">
              <a:defRPr sz="700">
                <a:solidFill>
                  <a:srgbClr val="000000"/>
                </a:solidFill>
                <a:latin typeface="Montserrat"/>
              </a:defRPr>
            </a:pPr>
            <a:r>
              <a:rPr sz="800"/>
              <a:t>Corte de </a:t>
            </a:r>
            <a:r>
              <a:rPr sz="800" err="1"/>
              <a:t>información</a:t>
            </a:r>
            <a:r>
              <a:rPr sz="800"/>
              <a:t>: </a:t>
            </a:r>
            <a:r>
              <a:rPr sz="800" err="1"/>
              <a:t>marzo</a:t>
            </a:r>
            <a:r>
              <a:rPr sz="800"/>
              <a:t>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COLIMA</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mayo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550191" cy="215444"/>
          </a:xfrm>
          <a:prstGeom prst="rect">
            <a:avLst/>
          </a:prstGeom>
          <a:noFill/>
        </p:spPr>
        <p:txBody>
          <a:bodyPr wrap="none">
            <a:spAutoFit/>
          </a:bodyPr>
          <a:lstStyle/>
          <a:p>
            <a:pPr algn="l">
              <a:defRPr sz="800" b="0">
                <a:solidFill>
                  <a:srgbClr val="FFFFFF"/>
                </a:solidFill>
                <a:latin typeface="Montserrat"/>
              </a:defRPr>
            </a:pPr>
            <a:r>
              <a:rPr>
                <a:solidFill>
                  <a:schemeClr val="tx1"/>
                </a:solidFill>
              </a:rPr>
              <a:t>Fuente: Portal de Control de Abasto. En 2026, se </a:t>
            </a:r>
            <a:r>
              <a:rPr err="1">
                <a:solidFill>
                  <a:schemeClr val="tx1"/>
                </a:solidFill>
              </a:rPr>
              <a:t>muestra</a:t>
            </a:r>
            <a:r>
              <a:rPr>
                <a:solidFill>
                  <a:schemeClr val="tx1"/>
                </a:solidFill>
              </a:rPr>
              <a:t> lo </a:t>
            </a:r>
            <a:r>
              <a:rPr err="1">
                <a:solidFill>
                  <a:schemeClr val="tx1"/>
                </a:solidFill>
              </a:rPr>
              <a:t>correspondiente</a:t>
            </a:r>
            <a:r>
              <a:rPr>
                <a:solidFill>
                  <a:schemeClr val="tx1"/>
                </a:solidFill>
              </a:rPr>
              <a:t> al </a:t>
            </a:r>
            <a:r>
              <a:rPr err="1">
                <a:solidFill>
                  <a:schemeClr val="tx1"/>
                </a:solidFill>
              </a:rPr>
              <a:t>periodo</a:t>
            </a:r>
            <a:r>
              <a:rPr>
                <a:solidFill>
                  <a:schemeClr val="tx1"/>
                </a:solidFill>
              </a:rPr>
              <a:t> del 1 de </a:t>
            </a:r>
            <a:r>
              <a:rPr err="1">
                <a:solidFill>
                  <a:schemeClr val="tx1"/>
                </a:solidFill>
              </a:rPr>
              <a:t>enero</a:t>
            </a:r>
            <a:r>
              <a:rPr>
                <a:solidFill>
                  <a:schemeClr val="tx1"/>
                </a:solidFill>
              </a:rPr>
              <a:t> al 31 de mayo de 2026.</a:t>
            </a:r>
          </a:p>
        </p:txBody>
      </p:sp>
      <p:sp>
        <p:nvSpPr>
          <p:cNvPr id="8" name="TextBox 7"/>
          <p:cNvSpPr txBox="1"/>
          <p:nvPr/>
        </p:nvSpPr>
        <p:spPr>
          <a:xfrm>
            <a:off x="274320" y="6284556"/>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650316"/>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extLst>
              <p:ext uri="{D42A27DB-BD31-4B8C-83A1-F6EECF244321}">
                <p14:modId xmlns:p14="http://schemas.microsoft.com/office/powerpoint/2010/main" val="1730838657"/>
              </p:ext>
            </p:extLst>
          </p:nvPr>
        </p:nvGraphicFramePr>
        <p:xfrm>
          <a:off x="457200" y="6924635"/>
          <a:ext cx="6858000" cy="1268788"/>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522442">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extLst>
                  <a:ext uri="{0D108BD9-81ED-4DB2-BD59-A6C34878D82A}">
                    <a16:rowId xmlns:a16="http://schemas.microsoft.com/office/drawing/2014/main" val="10000"/>
                  </a:ext>
                </a:extLst>
              </a:tr>
              <a:tr h="373173">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64,575</a:t>
                      </a:r>
                    </a:p>
                  </a:txBody>
                  <a:tcPr>
                    <a:solidFill>
                      <a:srgbClr val="FFFFFF"/>
                    </a:solidFill>
                  </a:tcPr>
                </a:tc>
                <a:tc>
                  <a:txBody>
                    <a:bodyPr/>
                    <a:lstStyle/>
                    <a:p>
                      <a:pPr algn="ctr"/>
                      <a:r>
                        <a:rPr sz="1100" b="0">
                          <a:solidFill>
                            <a:srgbClr val="434343"/>
                          </a:solidFill>
                          <a:latin typeface="Montserrat"/>
                        </a:rPr>
                        <a:t>653,883</a:t>
                      </a:r>
                    </a:p>
                  </a:txBody>
                  <a:tcPr>
                    <a:solidFill>
                      <a:srgbClr val="FFFFFF"/>
                    </a:solidFill>
                  </a:tcPr>
                </a:tc>
                <a:tc>
                  <a:txBody>
                    <a:bodyPr/>
                    <a:lstStyle/>
                    <a:p>
                      <a:pPr algn="ctr"/>
                      <a:r>
                        <a:rPr sz="1100" b="0">
                          <a:solidFill>
                            <a:srgbClr val="434343"/>
                          </a:solidFill>
                          <a:latin typeface="Montserrat"/>
                        </a:rPr>
                        <a:t>91.0%</a:t>
                      </a:r>
                    </a:p>
                  </a:txBody>
                  <a:tcPr>
                    <a:solidFill>
                      <a:srgbClr val="FFFFFF"/>
                    </a:solidFill>
                  </a:tcPr>
                </a:tc>
                <a:extLst>
                  <a:ext uri="{0D108BD9-81ED-4DB2-BD59-A6C34878D82A}">
                    <a16:rowId xmlns:a16="http://schemas.microsoft.com/office/drawing/2014/main" val="10001"/>
                  </a:ext>
                </a:extLst>
              </a:tr>
              <a:tr h="373173">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27,379</a:t>
                      </a:r>
                    </a:p>
                  </a:txBody>
                  <a:tcPr>
                    <a:solidFill>
                      <a:srgbClr val="D9D9D9"/>
                    </a:solidFill>
                  </a:tcPr>
                </a:tc>
                <a:tc>
                  <a:txBody>
                    <a:bodyPr/>
                    <a:lstStyle/>
                    <a:p>
                      <a:pPr algn="ctr"/>
                      <a:r>
                        <a:rPr sz="1100" b="1">
                          <a:solidFill>
                            <a:srgbClr val="006455"/>
                          </a:solidFill>
                          <a:latin typeface="Montserrat"/>
                        </a:rPr>
                        <a:t>770,842</a:t>
                      </a:r>
                    </a:p>
                  </a:txBody>
                  <a:tcPr>
                    <a:solidFill>
                      <a:srgbClr val="D9D9D9"/>
                    </a:solidFill>
                  </a:tcPr>
                </a:tc>
                <a:tc>
                  <a:txBody>
                    <a:bodyPr/>
                    <a:lstStyle/>
                    <a:p>
                      <a:pPr algn="ctr"/>
                      <a:r>
                        <a:rPr sz="1100" b="1">
                          <a:solidFill>
                            <a:srgbClr val="006455"/>
                          </a:solidFill>
                          <a:latin typeface="Montserrat"/>
                        </a:rPr>
                        <a:t>96.6%</a:t>
                      </a:r>
                    </a:p>
                  </a:txBody>
                  <a:tcPr>
                    <a:solidFill>
                      <a:srgbClr val="D9D9D9"/>
                    </a:solidFill>
                  </a:tcPr>
                </a:tc>
                <a:extLst>
                  <a:ext uri="{0D108BD9-81ED-4DB2-BD59-A6C34878D82A}">
                    <a16:rowId xmlns:a16="http://schemas.microsoft.com/office/drawing/2014/main" val="10002"/>
                  </a:ext>
                </a:extLst>
              </a:tr>
            </a:tbl>
          </a:graphicData>
        </a:graphic>
      </p:graphicFrame>
      <p:sp>
        <p:nvSpPr>
          <p:cNvPr id="11" name="TextBox 10"/>
          <p:cNvSpPr txBox="1"/>
          <p:nvPr/>
        </p:nvSpPr>
        <p:spPr>
          <a:xfrm>
            <a:off x="413802" y="8193426"/>
            <a:ext cx="6550191" cy="215444"/>
          </a:xfrm>
          <a:prstGeom prst="rect">
            <a:avLst/>
          </a:prstGeom>
          <a:noFill/>
        </p:spPr>
        <p:txBody>
          <a:bodyPr wrap="none">
            <a:spAutoFit/>
          </a:bodyPr>
          <a:lstStyle/>
          <a:p>
            <a:pPr algn="l">
              <a:defRPr sz="800" b="0">
                <a:solidFill>
                  <a:srgbClr val="FFFFFF"/>
                </a:solidFill>
                <a:latin typeface="Montserrat"/>
              </a:defRPr>
            </a:pPr>
            <a:r>
              <a:rPr>
                <a:solidFill>
                  <a:schemeClr val="tx1"/>
                </a:solidFill>
              </a:rPr>
              <a:t>Fuente: Portal de Control de Abasto. En 2026, se </a:t>
            </a:r>
            <a:r>
              <a:rPr err="1">
                <a:solidFill>
                  <a:schemeClr val="tx1"/>
                </a:solidFill>
              </a:rPr>
              <a:t>muestra</a:t>
            </a:r>
            <a:r>
              <a:rPr>
                <a:solidFill>
                  <a:schemeClr val="tx1"/>
                </a:solidFill>
              </a:rPr>
              <a:t> lo </a:t>
            </a:r>
            <a:r>
              <a:rPr err="1">
                <a:solidFill>
                  <a:schemeClr val="tx1"/>
                </a:solidFill>
              </a:rPr>
              <a:t>correspondiente</a:t>
            </a:r>
            <a:r>
              <a:rPr>
                <a:solidFill>
                  <a:schemeClr val="tx1"/>
                </a:solidFill>
              </a:rPr>
              <a:t> al </a:t>
            </a:r>
            <a:r>
              <a:rPr err="1">
                <a:solidFill>
                  <a:schemeClr val="tx1"/>
                </a:solidFill>
              </a:rPr>
              <a:t>periodo</a:t>
            </a:r>
            <a:r>
              <a:rPr>
                <a:solidFill>
                  <a:schemeClr val="tx1"/>
                </a:solidFill>
              </a:rPr>
              <a:t> del 1 de </a:t>
            </a:r>
            <a:r>
              <a:rPr err="1">
                <a:solidFill>
                  <a:schemeClr val="tx1"/>
                </a:solidFill>
              </a:rPr>
              <a:t>enero</a:t>
            </a:r>
            <a:r>
              <a:rPr>
                <a:solidFill>
                  <a:schemeClr val="tx1"/>
                </a:solidFill>
              </a:rPr>
              <a:t> al 31 de mayo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6CB3E-27FE-45F7-8BBB-33818D9BC142}"/>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COLIMA</a:t>
            </a:r>
          </a:p>
        </p:txBody>
      </p:sp>
      <p:sp>
        <p:nvSpPr>
          <p:cNvPr id="3" name="TextBox 2"/>
          <p:cNvSpPr txBox="1"/>
          <p:nvPr/>
        </p:nvSpPr>
        <p:spPr>
          <a:xfrm>
            <a:off x="180000" y="782478"/>
            <a:ext cx="5400000" cy="324000"/>
          </a:xfrm>
          <a:prstGeom prst="rect">
            <a:avLst/>
          </a:prstGeom>
          <a:noFill/>
        </p:spPr>
        <p:txBody>
          <a:bodyPr wrap="none" lIns="0" tIns="0" r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1088477"/>
            <a:ext cx="5400000" cy="251999"/>
          </a:xfrm>
          <a:prstGeom prst="rect">
            <a:avLst/>
          </a:prstGeom>
          <a:noFill/>
        </p:spPr>
        <p:txBody>
          <a:bodyPr wrap="none" lIns="0" tIns="0" r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358478"/>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06.png"/>
          <p:cNvPicPr>
            <a:picLocks noChangeAspect="1"/>
          </p:cNvPicPr>
          <p:nvPr/>
        </p:nvPicPr>
        <p:blipFill>
          <a:blip r:embed="rId2"/>
          <a:stretch>
            <a:fillRect/>
          </a:stretch>
        </p:blipFill>
        <p:spPr>
          <a:xfrm>
            <a:off x="129600" y="1531278"/>
            <a:ext cx="7441200" cy="2178000"/>
          </a:xfrm>
          <a:prstGeom prst="rect">
            <a:avLst/>
          </a:prstGeom>
        </p:spPr>
      </p:pic>
      <p:sp>
        <p:nvSpPr>
          <p:cNvPr id="7" name="TextBox 6"/>
          <p:cNvSpPr txBox="1"/>
          <p:nvPr/>
        </p:nvSpPr>
        <p:spPr>
          <a:xfrm>
            <a:off x="180000" y="4307417"/>
            <a:ext cx="6840000" cy="288000"/>
          </a:xfrm>
          <a:prstGeom prst="rect">
            <a:avLst/>
          </a:prstGeom>
          <a:noFill/>
        </p:spPr>
        <p:txBody>
          <a:bodyPr wrap="none" lIns="0" tIns="0" r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4577417"/>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extLst>
              <p:ext uri="{D42A27DB-BD31-4B8C-83A1-F6EECF244321}">
                <p14:modId xmlns:p14="http://schemas.microsoft.com/office/powerpoint/2010/main" val="2249747144"/>
              </p:ext>
            </p:extLst>
          </p:nvPr>
        </p:nvGraphicFramePr>
        <p:xfrm>
          <a:off x="371958" y="4757417"/>
          <a:ext cx="7008041" cy="21456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5532896">
                  <a:extLst>
                    <a:ext uri="{9D8B030D-6E8A-4147-A177-3AD203B41FA5}">
                      <a16:colId xmlns:a16="http://schemas.microsoft.com/office/drawing/2014/main" val="20000"/>
                    </a:ext>
                  </a:extLst>
                </a:gridCol>
                <a:gridCol w="1475145">
                  <a:extLst>
                    <a:ext uri="{9D8B030D-6E8A-4147-A177-3AD203B41FA5}">
                      <a16:colId xmlns:a16="http://schemas.microsoft.com/office/drawing/2014/main" val="20001"/>
                    </a:ext>
                  </a:extLst>
                </a:gridCol>
              </a:tblGrid>
              <a:tr h="198000">
                <a:tc gridSpan="2">
                  <a:txBody>
                    <a:bodyPr/>
                    <a:lstStyle/>
                    <a:p>
                      <a:pPr algn="ctr">
                        <a:defRPr sz="1000" b="1">
                          <a:solidFill>
                            <a:srgbClr val="FFFFFF"/>
                          </a:solidFill>
                          <a:latin typeface="Montserrat"/>
                        </a:defRPr>
                      </a:pPr>
                      <a:r>
                        <a:t>Con mayor </a:t>
                      </a:r>
                      <a:r>
                        <a:rPr err="1"/>
                        <a:t>demanda</a:t>
                      </a:r>
                      <a:r>
                        <a:t> de </a:t>
                      </a:r>
                      <a:r>
                        <a:rPr err="1"/>
                        <a:t>enero</a:t>
                      </a:r>
                      <a:r>
                        <a:t> a </a:t>
                      </a:r>
                      <a:r>
                        <a:rPr lang="es-MX"/>
                        <a:t>mayo</a:t>
                      </a:r>
                      <a:r>
                        <a:t> de 2026</a:t>
                      </a:r>
                    </a:p>
                  </a:txBody>
                  <a:tcPr marL="18000" marR="18000" marT="18000" marB="18000" anchor="ctr">
                    <a:solidFill>
                      <a:srgbClr val="006455"/>
                    </a:solidFill>
                  </a:tcPr>
                </a:tc>
                <a:tc hMerge="1">
                  <a:txBody>
                    <a:bodyPr/>
                    <a:lstStyle/>
                    <a:p>
                      <a:endParaRPr/>
                    </a:p>
                  </a:txBody>
                  <a:tcPr/>
                </a:tc>
                <a:extLst>
                  <a:ext uri="{0D108BD9-81ED-4DB2-BD59-A6C34878D82A}">
                    <a16:rowId xmlns:a16="http://schemas.microsoft.com/office/drawing/2014/main" val="10000"/>
                  </a:ext>
                </a:extLst>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extLst>
                  <a:ext uri="{0D108BD9-81ED-4DB2-BD59-A6C34878D82A}">
                    <a16:rowId xmlns:a16="http://schemas.microsoft.com/office/drawing/2014/main" val="10001"/>
                  </a:ext>
                </a:extLst>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117,271</a:t>
                      </a:r>
                    </a:p>
                  </a:txBody>
                  <a:tcPr marL="18000" marR="18000" marT="18000" marB="18000" anchor="ctr">
                    <a:solidFill>
                      <a:srgbClr val="F2F2F2"/>
                    </a:solidFill>
                  </a:tcPr>
                </a:tc>
                <a:extLst>
                  <a:ext uri="{0D108BD9-81ED-4DB2-BD59-A6C34878D82A}">
                    <a16:rowId xmlns:a16="http://schemas.microsoft.com/office/drawing/2014/main" val="10002"/>
                  </a:ext>
                </a:extLst>
              </a:tr>
              <a:tr h="162000">
                <a:tc>
                  <a:txBody>
                    <a:bodyPr/>
                    <a:lstStyle/>
                    <a:p>
                      <a:pPr algn="l">
                        <a:defRPr sz="900" b="0">
                          <a:solidFill>
                            <a:srgbClr val="333333"/>
                          </a:solidFill>
                          <a:latin typeface="Montserrat"/>
                        </a:defRPr>
                      </a:pPr>
                      <a:r>
                        <a:t>Dieta polimérica con fibra, suspensión oral o enteral  (nutrición)</a:t>
                      </a:r>
                    </a:p>
                  </a:txBody>
                  <a:tcPr marL="18000" marR="18000" marT="18000" marB="18000" anchor="ctr">
                    <a:solidFill>
                      <a:srgbClr val="FFFFFF"/>
                    </a:solidFill>
                  </a:tcPr>
                </a:tc>
                <a:tc>
                  <a:txBody>
                    <a:bodyPr/>
                    <a:lstStyle/>
                    <a:p>
                      <a:pPr algn="ctr">
                        <a:defRPr sz="900" b="0">
                          <a:solidFill>
                            <a:srgbClr val="333333"/>
                          </a:solidFill>
                          <a:latin typeface="Montserrat"/>
                        </a:defRPr>
                      </a:pPr>
                      <a:r>
                        <a:t>103,740</a:t>
                      </a:r>
                    </a:p>
                  </a:txBody>
                  <a:tcPr marL="18000" marR="18000" marT="18000" marB="18000" anchor="ctr">
                    <a:solidFill>
                      <a:srgbClr val="FFFFFF"/>
                    </a:solidFill>
                  </a:tcPr>
                </a:tc>
                <a:extLst>
                  <a:ext uri="{0D108BD9-81ED-4DB2-BD59-A6C34878D82A}">
                    <a16:rowId xmlns:a16="http://schemas.microsoft.com/office/drawing/2014/main" val="10003"/>
                  </a:ext>
                </a:extLst>
              </a:tr>
              <a:tr h="162000">
                <a:tc>
                  <a:txBody>
                    <a:bodyPr/>
                    <a:lstStyle/>
                    <a:p>
                      <a:pPr algn="l">
                        <a:defRPr sz="900" b="0">
                          <a:solidFill>
                            <a:srgbClr val="333333"/>
                          </a:solidFill>
                          <a:latin typeface="Montserrat"/>
                        </a:defRPr>
                      </a:pPr>
                      <a:r>
                        <a:t>Cloruro de sodio, solución inyectable (deshidratación)                                                                        </a:t>
                      </a:r>
                    </a:p>
                  </a:txBody>
                  <a:tcPr marL="18000" marR="18000" marT="18000" marB="18000" anchor="ctr">
                    <a:solidFill>
                      <a:srgbClr val="F2F2F2"/>
                    </a:solidFill>
                  </a:tcPr>
                </a:tc>
                <a:tc>
                  <a:txBody>
                    <a:bodyPr/>
                    <a:lstStyle/>
                    <a:p>
                      <a:pPr algn="ctr">
                        <a:defRPr sz="900" b="0">
                          <a:solidFill>
                            <a:srgbClr val="333333"/>
                          </a:solidFill>
                          <a:latin typeface="Montserrat"/>
                        </a:defRPr>
                      </a:pPr>
                      <a:r>
                        <a:t>81,089</a:t>
                      </a:r>
                    </a:p>
                  </a:txBody>
                  <a:tcPr marL="18000" marR="18000" marT="18000" marB="18000" anchor="ctr">
                    <a:solidFill>
                      <a:srgbClr val="F2F2F2"/>
                    </a:solidFill>
                  </a:tcPr>
                </a:tc>
                <a:extLst>
                  <a:ext uri="{0D108BD9-81ED-4DB2-BD59-A6C34878D82A}">
                    <a16:rowId xmlns:a16="http://schemas.microsoft.com/office/drawing/2014/main" val="10004"/>
                  </a:ext>
                </a:extLst>
              </a:tr>
              <a:tr h="162000">
                <a:tc>
                  <a:txBody>
                    <a:bodyPr/>
                    <a:lstStyle/>
                    <a:p>
                      <a:pPr algn="l">
                        <a:defRPr sz="900" b="0">
                          <a:solidFill>
                            <a:srgbClr val="333333"/>
                          </a:solidFill>
                          <a:latin typeface="Montserrat"/>
                        </a:defRPr>
                      </a:pPr>
                      <a:r>
                        <a:t>Cloruro de sodio, solución inyectable (deshidratación)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79,962</a:t>
                      </a:r>
                    </a:p>
                  </a:txBody>
                  <a:tcPr marL="18000" marR="18000" marT="18000" marB="18000" anchor="ctr">
                    <a:solidFill>
                      <a:srgbClr val="FFFFFF"/>
                    </a:solidFill>
                  </a:tcPr>
                </a:tc>
                <a:extLst>
                  <a:ext uri="{0D108BD9-81ED-4DB2-BD59-A6C34878D82A}">
                    <a16:rowId xmlns:a16="http://schemas.microsoft.com/office/drawing/2014/main" val="10005"/>
                  </a:ext>
                </a:extLst>
              </a:tr>
              <a:tr h="162000">
                <a:tc>
                  <a:txBody>
                    <a:bodyPr/>
                    <a:lstStyle/>
                    <a:p>
                      <a:pPr algn="l">
                        <a:defRPr sz="900" b="0">
                          <a:solidFill>
                            <a:srgbClr val="333333"/>
                          </a:solidFill>
                          <a:latin typeface="Montserrat"/>
                        </a:defRPr>
                      </a:pPr>
                      <a:r>
                        <a:t>Dieta polimérica sin fibra, suspensión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79,689</a:t>
                      </a:r>
                    </a:p>
                  </a:txBody>
                  <a:tcPr marL="18000" marR="18000" marT="18000" marB="18000" anchor="ctr">
                    <a:solidFill>
                      <a:srgbClr val="F2F2F2"/>
                    </a:solidFill>
                  </a:tcPr>
                </a:tc>
                <a:extLst>
                  <a:ext uri="{0D108BD9-81ED-4DB2-BD59-A6C34878D82A}">
                    <a16:rowId xmlns:a16="http://schemas.microsoft.com/office/drawing/2014/main" val="10006"/>
                  </a:ext>
                </a:extLst>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76,215</a:t>
                      </a:r>
                    </a:p>
                  </a:txBody>
                  <a:tcPr marL="18000" marR="18000" marT="18000" marB="18000" anchor="ctr">
                    <a:solidFill>
                      <a:srgbClr val="FFFFFF"/>
                    </a:solidFill>
                  </a:tcPr>
                </a:tc>
                <a:extLst>
                  <a:ext uri="{0D108BD9-81ED-4DB2-BD59-A6C34878D82A}">
                    <a16:rowId xmlns:a16="http://schemas.microsoft.com/office/drawing/2014/main" val="10007"/>
                  </a:ext>
                </a:extLst>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2F2F2"/>
                    </a:solidFill>
                  </a:tcPr>
                </a:tc>
                <a:tc>
                  <a:txBody>
                    <a:bodyPr/>
                    <a:lstStyle/>
                    <a:p>
                      <a:pPr algn="ctr">
                        <a:defRPr sz="900" b="0">
                          <a:solidFill>
                            <a:srgbClr val="333333"/>
                          </a:solidFill>
                          <a:latin typeface="Montserrat"/>
                        </a:defRPr>
                      </a:pPr>
                      <a:r>
                        <a:t>63,241</a:t>
                      </a:r>
                    </a:p>
                  </a:txBody>
                  <a:tcPr marL="18000" marR="18000" marT="18000" marB="18000" anchor="ctr">
                    <a:solidFill>
                      <a:srgbClr val="F2F2F2"/>
                    </a:solidFill>
                  </a:tcPr>
                </a:tc>
                <a:extLst>
                  <a:ext uri="{0D108BD9-81ED-4DB2-BD59-A6C34878D82A}">
                    <a16:rowId xmlns:a16="http://schemas.microsoft.com/office/drawing/2014/main" val="10008"/>
                  </a:ext>
                </a:extLst>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57,211</a:t>
                      </a:r>
                    </a:p>
                  </a:txBody>
                  <a:tcPr marL="18000" marR="18000" marT="18000" marB="18000" anchor="ctr">
                    <a:solidFill>
                      <a:srgbClr val="FFFFFF"/>
                    </a:solidFill>
                  </a:tcPr>
                </a:tc>
                <a:extLst>
                  <a:ext uri="{0D108BD9-81ED-4DB2-BD59-A6C34878D82A}">
                    <a16:rowId xmlns:a16="http://schemas.microsoft.com/office/drawing/2014/main" val="10009"/>
                  </a:ext>
                </a:extLst>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2F2F2"/>
                    </a:solidFill>
                  </a:tcPr>
                </a:tc>
                <a:tc>
                  <a:txBody>
                    <a:bodyPr/>
                    <a:lstStyle/>
                    <a:p>
                      <a:pPr algn="ctr">
                        <a:defRPr sz="900" b="0">
                          <a:solidFill>
                            <a:srgbClr val="333333"/>
                          </a:solidFill>
                          <a:latin typeface="Montserrat"/>
                        </a:defRPr>
                      </a:pPr>
                      <a:r>
                        <a:t>52,434</a:t>
                      </a:r>
                    </a:p>
                  </a:txBody>
                  <a:tcPr marL="18000" marR="18000" marT="18000" marB="18000" anchor="ctr">
                    <a:solidFill>
                      <a:srgbClr val="F2F2F2"/>
                    </a:solidFill>
                  </a:tcPr>
                </a:tc>
                <a:extLst>
                  <a:ext uri="{0D108BD9-81ED-4DB2-BD59-A6C34878D82A}">
                    <a16:rowId xmlns:a16="http://schemas.microsoft.com/office/drawing/2014/main" val="10010"/>
                  </a:ext>
                </a:extLst>
              </a:tr>
              <a:tr h="1620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900" b="0">
                          <a:solidFill>
                            <a:srgbClr val="333333"/>
                          </a:solidFill>
                          <a:latin typeface="Montserrat"/>
                        </a:defRPr>
                      </a:pPr>
                      <a:r>
                        <a:rPr lang="es-MX" sz="900" b="0" i="0" u="none" strike="noStrike" cap="none">
                          <a:solidFill>
                            <a:schemeClr val="dk1"/>
                          </a:solidFill>
                          <a:effectLst/>
                          <a:latin typeface="Montserrat" panose="00000500000000000000" pitchFamily="2" charset="0"/>
                          <a:ea typeface="+mn-ea"/>
                          <a:cs typeface="+mn-cs"/>
                          <a:sym typeface="Arial"/>
                        </a:rPr>
                        <a:t>Paracetamol, solución inyectable (analgésico)</a:t>
                      </a:r>
                      <a:r>
                        <a:t>.                                                                                                                                                       </a:t>
                      </a:r>
                    </a:p>
                  </a:txBody>
                  <a:tcPr marL="18000" marR="18000" marT="18000" marB="18000" anchor="ctr">
                    <a:solidFill>
                      <a:srgbClr val="FFFFFF"/>
                    </a:solidFill>
                  </a:tcPr>
                </a:tc>
                <a:tc>
                  <a:txBody>
                    <a:bodyPr/>
                    <a:lstStyle/>
                    <a:p>
                      <a:pPr algn="ctr">
                        <a:defRPr sz="900" b="0">
                          <a:solidFill>
                            <a:srgbClr val="333333"/>
                          </a:solidFill>
                          <a:latin typeface="Montserrat"/>
                        </a:defRPr>
                      </a:pPr>
                      <a:r>
                        <a:t>50,493</a:t>
                      </a:r>
                    </a:p>
                  </a:txBody>
                  <a:tcPr marL="18000" marR="18000" marT="18000" marB="18000" anchor="ctr">
                    <a:solidFill>
                      <a:srgbClr val="FFFFFF"/>
                    </a:solidFill>
                  </a:tcPr>
                </a:tc>
                <a:extLst>
                  <a:ext uri="{0D108BD9-81ED-4DB2-BD59-A6C34878D82A}">
                    <a16:rowId xmlns:a16="http://schemas.microsoft.com/office/drawing/2014/main" val="10011"/>
                  </a:ext>
                </a:extLst>
              </a:tr>
            </a:tbl>
          </a:graphicData>
        </a:graphic>
      </p:graphicFrame>
      <p:sp>
        <p:nvSpPr>
          <p:cNvPr id="10" name="TextBox 9"/>
          <p:cNvSpPr txBox="1"/>
          <p:nvPr/>
        </p:nvSpPr>
        <p:spPr>
          <a:xfrm>
            <a:off x="380200" y="7063374"/>
            <a:ext cx="6858000" cy="123111"/>
          </a:xfrm>
          <a:prstGeom prst="rect">
            <a:avLst/>
          </a:prstGeom>
          <a:noFill/>
        </p:spPr>
        <p:txBody>
          <a:bodyPr wrap="square" lIns="0" tIns="0" rIns="0" bIns="0">
            <a:spAutoFit/>
          </a:bodyPr>
          <a:lstStyle/>
          <a:p>
            <a:pPr algn="l">
              <a:defRPr sz="800">
                <a:solidFill>
                  <a:srgbClr val="FFFFFF"/>
                </a:solidFill>
                <a:latin typeface="Montserrat"/>
              </a:defRPr>
            </a:pPr>
            <a:r>
              <a:rPr>
                <a:solidFill>
                  <a:schemeClr val="tx1"/>
                </a:solidFill>
              </a:rPr>
              <a:t>Fuente: Portal de Control de Abasto. En 2026, se </a:t>
            </a:r>
            <a:r>
              <a:rPr err="1">
                <a:solidFill>
                  <a:schemeClr val="tx1"/>
                </a:solidFill>
              </a:rPr>
              <a:t>muestra</a:t>
            </a:r>
            <a:r>
              <a:rPr>
                <a:solidFill>
                  <a:schemeClr val="tx1"/>
                </a:solidFill>
              </a:rPr>
              <a:t> lo </a:t>
            </a:r>
            <a:r>
              <a:rPr err="1">
                <a:solidFill>
                  <a:schemeClr val="tx1"/>
                </a:solidFill>
              </a:rPr>
              <a:t>correspondiente</a:t>
            </a:r>
            <a:r>
              <a:rPr>
                <a:solidFill>
                  <a:schemeClr val="tx1"/>
                </a:solidFill>
              </a:rPr>
              <a:t> al </a:t>
            </a:r>
            <a:r>
              <a:rPr err="1">
                <a:solidFill>
                  <a:schemeClr val="tx1"/>
                </a:solidFill>
              </a:rPr>
              <a:t>periodo</a:t>
            </a:r>
            <a:r>
              <a:rPr>
                <a:solidFill>
                  <a:schemeClr val="tx1"/>
                </a:solidFill>
              </a:rPr>
              <a:t> del 1 de </a:t>
            </a:r>
            <a:r>
              <a:rPr err="1">
                <a:solidFill>
                  <a:schemeClr val="tx1"/>
                </a:solidFill>
              </a:rPr>
              <a:t>enero</a:t>
            </a:r>
            <a:r>
              <a:rPr>
                <a:solidFill>
                  <a:schemeClr val="tx1"/>
                </a:solidFill>
              </a:rPr>
              <a:t> al 3</a:t>
            </a:r>
            <a:r>
              <a:rPr lang="es-MX">
                <a:solidFill>
                  <a:schemeClr val="tx1"/>
                </a:solidFill>
              </a:rPr>
              <a:t>1</a:t>
            </a:r>
            <a:r>
              <a:rPr>
                <a:solidFill>
                  <a:schemeClr val="tx1"/>
                </a:solidFill>
              </a:rPr>
              <a:t> de </a:t>
            </a:r>
            <a:r>
              <a:rPr lang="es-MX">
                <a:solidFill>
                  <a:schemeClr val="tx1"/>
                </a:solidFill>
              </a:rPr>
              <a:t>mayo </a:t>
            </a:r>
            <a:r>
              <a:rPr>
                <a:solidFill>
                  <a:schemeClr val="tx1"/>
                </a:solidFill>
              </a:rPr>
              <a:t> de 2026.</a:t>
            </a:r>
          </a:p>
        </p:txBody>
      </p:sp>
      <p:sp>
        <p:nvSpPr>
          <p:cNvPr id="12" name="TextBox 6">
            <a:extLst>
              <a:ext uri="{FF2B5EF4-FFF2-40B4-BE49-F238E27FC236}">
                <a16:creationId xmlns:a16="http://schemas.microsoft.com/office/drawing/2014/main" id="{13748F5D-E2D9-365A-F200-58226A48C006}"/>
              </a:ext>
            </a:extLst>
          </p:cNvPr>
          <p:cNvSpPr txBox="1"/>
          <p:nvPr/>
        </p:nvSpPr>
        <p:spPr>
          <a:xfrm>
            <a:off x="235671" y="3763728"/>
            <a:ext cx="4047903" cy="215444"/>
          </a:xfrm>
          <a:prstGeom prst="rect">
            <a:avLst/>
          </a:prstGeom>
          <a:noFill/>
        </p:spPr>
        <p:txBody>
          <a:bodyPr wrap="none">
            <a:spAutoFit/>
          </a:bodyPr>
          <a:lstStyle/>
          <a:p>
            <a:pPr algn="l">
              <a:defRPr sz="800" b="0">
                <a:solidFill>
                  <a:srgbClr val="434343"/>
                </a:solidFill>
                <a:latin typeface="Montserrat"/>
              </a:defRPr>
            </a:pPr>
            <a:r>
              <a:t>Fuente: Portal de Control de Abasto. </a:t>
            </a:r>
            <a:r>
              <a:rPr lang="es-MX"/>
              <a:t>P</a:t>
            </a:r>
            <a:r>
              <a:rPr err="1"/>
              <a:t>eriodo</a:t>
            </a:r>
            <a:r>
              <a:t> de</a:t>
            </a:r>
            <a:r>
              <a:rPr lang="es-MX"/>
              <a:t> </a:t>
            </a:r>
            <a:r>
              <a:rPr err="1"/>
              <a:t>enero</a:t>
            </a:r>
            <a:r>
              <a:t> a</a:t>
            </a:r>
            <a:r>
              <a:rPr lang="es-MX"/>
              <a:t> mayo</a:t>
            </a:r>
            <a:r>
              <a:t> de </a:t>
            </a:r>
            <a:r>
              <a:rPr lang="es-MX"/>
              <a:t>cada año</a:t>
            </a:r>
            <a:r>
              <a:t>.</a:t>
            </a:r>
          </a:p>
        </p:txBody>
      </p:sp>
    </p:spTree>
    <p:extLst>
      <p:ext uri="{BB962C8B-B14F-4D97-AF65-F5344CB8AC3E}">
        <p14:creationId xmlns:p14="http://schemas.microsoft.com/office/powerpoint/2010/main" val="3818652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extLst>
              <p:ext uri="{D42A27DB-BD31-4B8C-83A1-F6EECF244321}">
                <p14:modId xmlns:p14="http://schemas.microsoft.com/office/powerpoint/2010/main" val="107443395"/>
              </p:ext>
            </p:extLst>
          </p:nvPr>
        </p:nvGraphicFramePr>
        <p:xfrm>
          <a:off x="287700" y="935722"/>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Acciones 2025</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545139"/>
            <a:ext cx="1599000" cy="771583"/>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884972"/>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0" y="2532101"/>
            <a:ext cx="17856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err="1">
                <a:solidFill>
                  <a:srgbClr val="BC955C"/>
                </a:solidFill>
                <a:latin typeface="Montserrat"/>
                <a:ea typeface="Montserrat"/>
                <a:cs typeface="Montserrat"/>
              </a:rPr>
              <a:t>Remodelación</a:t>
            </a:r>
            <a:r>
              <a:rPr lang="en-US" sz="1200" b="1" i="0" u="none" strike="noStrike">
                <a:solidFill>
                  <a:srgbClr val="BC955C"/>
                </a:solidFill>
                <a:latin typeface="Montserrat"/>
                <a:ea typeface="Montserrat"/>
                <a:cs typeface="Montserrat"/>
              </a:rPr>
              <a:t>:</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473446" y="2862990"/>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2" y="2864080"/>
            <a:ext cx="1785601"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a:solidFill>
                <a:srgbClr val="BC955C"/>
              </a:solidFill>
              <a:latin typeface="Montserrat"/>
              <a:ea typeface="Montserrat"/>
              <a:cs typeface="Montserrat"/>
            </a:endParaRPr>
          </a:p>
          <a:p>
            <a:pPr algn="ctr"/>
            <a:r>
              <a:rPr lang="en-US" sz="700" b="1" err="1">
                <a:solidFill>
                  <a:srgbClr val="BC955C"/>
                </a:solidFill>
                <a:latin typeface="Montserrat"/>
              </a:rPr>
              <a:t>Área</a:t>
            </a:r>
            <a:r>
              <a:rPr lang="en-US" sz="700" b="1">
                <a:solidFill>
                  <a:srgbClr val="BC955C"/>
                </a:solidFill>
                <a:latin typeface="Montserrat"/>
              </a:rPr>
              <a:t> de </a:t>
            </a:r>
            <a:endParaRPr lang="en-US"/>
          </a:p>
          <a:p>
            <a:pPr algn="ctr"/>
            <a:r>
              <a:rPr lang="en-US" sz="700" b="1" err="1">
                <a:solidFill>
                  <a:srgbClr val="BC955C"/>
                </a:solidFill>
                <a:latin typeface="Montserrat"/>
              </a:rPr>
              <a:t>Terapia</a:t>
            </a:r>
            <a:r>
              <a:rPr lang="en-US" sz="700" b="1">
                <a:solidFill>
                  <a:srgbClr val="BC955C"/>
                </a:solidFill>
                <a:latin typeface="Montserrat"/>
              </a:rPr>
              <a:t> </a:t>
            </a:r>
            <a:endParaRPr lang="en-US"/>
          </a:p>
          <a:p>
            <a:pPr algn="ctr"/>
            <a:r>
              <a:rPr lang="en-US" sz="700" b="1" err="1">
                <a:solidFill>
                  <a:srgbClr val="BC955C"/>
                </a:solidFill>
                <a:latin typeface="Montserrat"/>
              </a:rPr>
              <a:t>Intensiva</a:t>
            </a:r>
            <a:endParaRPr lang="en-US"/>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461141" y="3764689"/>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2" y="3755814"/>
            <a:ext cx="1785601"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a:solidFill>
                <a:srgbClr val="BC955C"/>
              </a:solidFill>
              <a:latin typeface="Montserrat"/>
              <a:ea typeface="Montserrat"/>
              <a:cs typeface="Montserrat"/>
            </a:endParaRPr>
          </a:p>
          <a:p>
            <a:pPr algn="ctr"/>
            <a:r>
              <a:rPr lang="en-US" sz="700" b="1" err="1">
                <a:solidFill>
                  <a:srgbClr val="BC955C"/>
                </a:solidFill>
                <a:latin typeface="Montserrat"/>
              </a:rPr>
              <a:t>Áreas</a:t>
            </a:r>
            <a:r>
              <a:rPr lang="en-US" sz="700" b="1">
                <a:solidFill>
                  <a:srgbClr val="BC955C"/>
                </a:solidFill>
                <a:latin typeface="Montserrat"/>
              </a:rPr>
              <a:t> de </a:t>
            </a:r>
            <a:endParaRPr lang="en-US"/>
          </a:p>
          <a:p>
            <a:pPr algn="ctr"/>
            <a:r>
              <a:rPr lang="en-US" sz="700" b="1" err="1">
                <a:solidFill>
                  <a:srgbClr val="BC955C"/>
                </a:solidFill>
                <a:latin typeface="Montserrat"/>
              </a:rPr>
              <a:t>Hemodiálisis</a:t>
            </a:r>
            <a:endParaRPr lang="en-US"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38097" y="4687193"/>
            <a:ext cx="1785599"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err="1">
                <a:solidFill>
                  <a:srgbClr val="BC955C"/>
                </a:solidFill>
                <a:latin typeface="Montserrat"/>
                <a:ea typeface="Montserrat"/>
                <a:cs typeface="Montserrat"/>
              </a:rPr>
              <a:t>Adquisición</a:t>
            </a:r>
            <a:r>
              <a:rPr lang="en-US" sz="1200" b="1" i="0" u="none" strike="noStrike">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448824" y="4941880"/>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0" y="5042812"/>
            <a:ext cx="1785599"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a:solidFill>
                <a:srgbClr val="BC955C"/>
              </a:solidFill>
              <a:latin typeface="Montserrat"/>
              <a:ea typeface="Montserrat"/>
              <a:cs typeface="Montserrat"/>
            </a:endParaRPr>
          </a:p>
          <a:p>
            <a:pPr algn="ctr"/>
            <a:r>
              <a:rPr lang="en-US" sz="700" b="1" err="1">
                <a:solidFill>
                  <a:srgbClr val="BC955C"/>
                </a:solidFill>
                <a:latin typeface="Montserrat"/>
              </a:rPr>
              <a:t>Tomógrafo</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 y="1363116"/>
            <a:ext cx="1785601"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err="1">
                <a:solidFill>
                  <a:srgbClr val="BC955C"/>
                </a:solidFill>
                <a:latin typeface="Montserrat"/>
                <a:ea typeface="Montserrat"/>
                <a:cs typeface="Montserrat"/>
              </a:rPr>
              <a:t>Construcción</a:t>
            </a:r>
            <a:r>
              <a:rPr lang="en-US" sz="1200" b="1" i="0" u="none" strike="noStrike">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461128" y="1607570"/>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 y="1631593"/>
            <a:ext cx="1785601"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graphicFrame>
        <p:nvGraphicFramePr>
          <p:cNvPr id="17" name="Table 16"/>
          <p:cNvGraphicFramePr>
            <a:graphicFrameLocks noGrp="1"/>
          </p:cNvGraphicFramePr>
          <p:nvPr>
            <p:extLst>
              <p:ext uri="{D42A27DB-BD31-4B8C-83A1-F6EECF244321}">
                <p14:modId xmlns:p14="http://schemas.microsoft.com/office/powerpoint/2010/main" val="814708504"/>
              </p:ext>
            </p:extLst>
          </p:nvPr>
        </p:nvGraphicFramePr>
        <p:xfrm>
          <a:off x="1785600" y="1413522"/>
          <a:ext cx="5295600" cy="1177867"/>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315000">
                <a:tc>
                  <a:txBody>
                    <a:bodyPr/>
                    <a:lstStyle/>
                    <a:p>
                      <a:pPr algn="ctr">
                        <a:defRPr sz="1000" b="1">
                          <a:solidFill>
                            <a:srgbClr val="FFFFFF"/>
                          </a:solidFill>
                          <a:latin typeface="Montserrat"/>
                        </a:defRPr>
                      </a:pPr>
                      <a:r>
                        <a:t>Obras de </a:t>
                      </a:r>
                      <a:r>
                        <a:rPr err="1"/>
                        <a:t>Infraestructura</a:t>
                      </a:r>
                      <a:r>
                        <a:t> 2025</a:t>
                      </a:r>
                    </a:p>
                  </a:txBody>
                  <a:tcPr marL="3600" marR="3600" marT="3600" marB="3600" anchor="ctr">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solidFill>
                      <a:srgbClr val="BC955C"/>
                    </a:solidFill>
                  </a:tcPr>
                </a:tc>
                <a:extLst>
                  <a:ext uri="{0D108BD9-81ED-4DB2-BD59-A6C34878D82A}">
                    <a16:rowId xmlns:a16="http://schemas.microsoft.com/office/drawing/2014/main" val="10000"/>
                  </a:ext>
                </a:extLst>
              </a:tr>
              <a:tr h="315000">
                <a:tc>
                  <a:txBody>
                    <a:bodyPr/>
                    <a:lstStyle/>
                    <a:p>
                      <a:pPr algn="l">
                        <a:lnSpc>
                          <a:spcPct val="100000"/>
                        </a:lnSpc>
                      </a:pPr>
                      <a:r>
                        <a:rPr sz="1000">
                          <a:latin typeface="Montserrat"/>
                        </a:rPr>
                        <a:t>Nueva Sala de </a:t>
                      </a:r>
                      <a:r>
                        <a:rPr sz="1000" err="1">
                          <a:latin typeface="Montserrat"/>
                        </a:rPr>
                        <a:t>Hemodinamia</a:t>
                      </a:r>
                      <a:r>
                        <a:rPr sz="1000">
                          <a:latin typeface="Montserrat"/>
                        </a:rPr>
                        <a:t> </a:t>
                      </a:r>
                      <a:r>
                        <a:rPr sz="1000" err="1">
                          <a:latin typeface="Montserrat"/>
                        </a:rPr>
                        <a:t>en</a:t>
                      </a:r>
                      <a:r>
                        <a:rPr sz="1000">
                          <a:latin typeface="Montserrat"/>
                        </a:rPr>
                        <a:t> </a:t>
                      </a:r>
                      <a:r>
                        <a:rPr sz="1000" err="1">
                          <a:latin typeface="Montserrat"/>
                        </a:rPr>
                        <a:t>el</a:t>
                      </a:r>
                      <a:r>
                        <a:rPr sz="1000">
                          <a:latin typeface="Montserrat"/>
                        </a:rPr>
                        <a:t> HGZ 1 </a:t>
                      </a:r>
                      <a:r>
                        <a:rPr sz="1000" err="1">
                          <a:latin typeface="Montserrat"/>
                        </a:rPr>
                        <a:t>en</a:t>
                      </a:r>
                      <a:r>
                        <a:rPr sz="1000">
                          <a:latin typeface="Montserrat"/>
                        </a:rPr>
                        <a:t> Villa de Álvarez (Etapa 4) se </a:t>
                      </a:r>
                      <a:r>
                        <a:rPr sz="1000" err="1">
                          <a:latin typeface="Montserrat"/>
                        </a:rPr>
                        <a:t>construyó</a:t>
                      </a:r>
                      <a:r>
                        <a:rPr sz="1000">
                          <a:latin typeface="Montserrat"/>
                        </a:rPr>
                        <a:t> </a:t>
                      </a:r>
                      <a:r>
                        <a:rPr sz="1000" err="1">
                          <a:latin typeface="Montserrat"/>
                        </a:rPr>
                        <a:t>en</a:t>
                      </a:r>
                      <a:r>
                        <a:rPr sz="1000">
                          <a:latin typeface="Montserrat"/>
                        </a:rPr>
                        <a:t> 2024 e </a:t>
                      </a:r>
                      <a:r>
                        <a:rPr sz="1000" err="1">
                          <a:latin typeface="Montserrat"/>
                        </a:rPr>
                        <a:t>inició</a:t>
                      </a:r>
                      <a:r>
                        <a:rPr sz="1000">
                          <a:latin typeface="Montserrat"/>
                        </a:rPr>
                        <a:t> </a:t>
                      </a:r>
                      <a:r>
                        <a:rPr sz="1000" err="1">
                          <a:latin typeface="Montserrat"/>
                        </a:rPr>
                        <a:t>operaciones</a:t>
                      </a:r>
                      <a:r>
                        <a:rPr sz="1000">
                          <a:latin typeface="Montserrat"/>
                        </a:rPr>
                        <a:t> </a:t>
                      </a:r>
                      <a:r>
                        <a:rPr sz="1000" err="1">
                          <a:latin typeface="Montserrat"/>
                        </a:rPr>
                        <a:t>en</a:t>
                      </a:r>
                      <a:r>
                        <a:rPr sz="1000">
                          <a:latin typeface="Montserrat"/>
                        </a:rPr>
                        <a:t> 2025</a:t>
                      </a:r>
                    </a:p>
                  </a:txBody>
                  <a:tcPr marL="3600" marR="3600" marT="3600" marB="3600" anchor="ctr">
                    <a:solidFill>
                      <a:srgbClr val="FFFFFF"/>
                    </a:solidFill>
                  </a:tcPr>
                </a:tc>
                <a:tc>
                  <a:txBody>
                    <a:bodyPr/>
                    <a:lstStyle/>
                    <a:p>
                      <a:pPr algn="ctr">
                        <a:lnSpc>
                          <a:spcPct val="100000"/>
                        </a:lnSpc>
                      </a:pPr>
                      <a:r>
                        <a:rPr sz="1000">
                          <a:latin typeface="Montserrat"/>
                        </a:rPr>
                        <a:t>$53.0</a:t>
                      </a:r>
                    </a:p>
                  </a:txBody>
                  <a:tcPr marL="3600" marR="3600" marT="3600" marB="3600" anchor="ctr">
                    <a:solidFill>
                      <a:srgbClr val="FFFFFF"/>
                    </a:solidFill>
                  </a:tcPr>
                </a:tc>
                <a:extLst>
                  <a:ext uri="{0D108BD9-81ED-4DB2-BD59-A6C34878D82A}">
                    <a16:rowId xmlns:a16="http://schemas.microsoft.com/office/drawing/2014/main" val="10001"/>
                  </a:ext>
                </a:extLst>
              </a:tr>
              <a:tr h="232867">
                <a:tc>
                  <a:txBody>
                    <a:bodyPr/>
                    <a:lstStyle/>
                    <a:p>
                      <a:pPr algn="l">
                        <a:lnSpc>
                          <a:spcPct val="100000"/>
                        </a:lnSpc>
                      </a:pPr>
                      <a:r>
                        <a:rPr sz="1000" err="1">
                          <a:latin typeface="Montserrat"/>
                        </a:rPr>
                        <a:t>Estudios</a:t>
                      </a:r>
                      <a:r>
                        <a:rPr sz="1000">
                          <a:latin typeface="Montserrat"/>
                        </a:rPr>
                        <a:t> de </a:t>
                      </a:r>
                      <a:r>
                        <a:rPr sz="1000" err="1">
                          <a:latin typeface="Montserrat"/>
                        </a:rPr>
                        <a:t>preinversión</a:t>
                      </a:r>
                      <a:r>
                        <a:rPr sz="1000">
                          <a:latin typeface="Montserrat"/>
                        </a:rPr>
                        <a:t> del HG</a:t>
                      </a:r>
                      <a:r>
                        <a:rPr lang="es-MX" sz="1000">
                          <a:latin typeface="Montserrat"/>
                        </a:rPr>
                        <a:t>Z</a:t>
                      </a:r>
                      <a:r>
                        <a:rPr sz="1000">
                          <a:latin typeface="Montserrat"/>
                        </a:rPr>
                        <a:t> 72 camas, Manzanillo</a:t>
                      </a:r>
                    </a:p>
                  </a:txBody>
                  <a:tcPr marL="3600" marR="3600" marT="3600" marB="3600" anchor="ctr">
                    <a:solidFill>
                      <a:srgbClr val="D9D9D9"/>
                    </a:solidFill>
                  </a:tcPr>
                </a:tc>
                <a:tc>
                  <a:txBody>
                    <a:bodyPr/>
                    <a:lstStyle/>
                    <a:p>
                      <a:pPr algn="ctr">
                        <a:lnSpc>
                          <a:spcPct val="100000"/>
                        </a:lnSpc>
                      </a:pPr>
                      <a:r>
                        <a:rPr sz="1000">
                          <a:latin typeface="Montserrat"/>
                        </a:rPr>
                        <a:t>$10.3</a:t>
                      </a:r>
                    </a:p>
                  </a:txBody>
                  <a:tcPr marL="3600" marR="3600" marT="3600" marB="3600" anchor="ctr">
                    <a:solidFill>
                      <a:srgbClr val="D9D9D9"/>
                    </a:solidFill>
                  </a:tcPr>
                </a:tc>
                <a:extLst>
                  <a:ext uri="{0D108BD9-81ED-4DB2-BD59-A6C34878D82A}">
                    <a16:rowId xmlns:a16="http://schemas.microsoft.com/office/drawing/2014/main" val="10002"/>
                  </a:ext>
                </a:extLst>
              </a:tr>
              <a:tr h="315000">
                <a:tc>
                  <a:txBody>
                    <a:bodyPr/>
                    <a:lstStyle/>
                    <a:p>
                      <a:pPr algn="ctr">
                        <a:lnSpc>
                          <a:spcPct val="100000"/>
                        </a:lnSpc>
                        <a:defRPr sz="900" b="1">
                          <a:solidFill>
                            <a:srgbClr val="BC955C"/>
                          </a:solidFill>
                          <a:latin typeface="Montserrat"/>
                        </a:defRPr>
                      </a:pPr>
                      <a:r>
                        <a:t>Subtotal</a:t>
                      </a:r>
                    </a:p>
                  </a:txBody>
                  <a:tcPr marL="3600" marR="3600" marT="3600" marB="3600" anchor="ctr">
                    <a:solidFill>
                      <a:srgbClr val="ECE1D2"/>
                    </a:solidFill>
                  </a:tcPr>
                </a:tc>
                <a:tc>
                  <a:txBody>
                    <a:bodyPr/>
                    <a:lstStyle/>
                    <a:p>
                      <a:pPr algn="ctr">
                        <a:lnSpc>
                          <a:spcPct val="100000"/>
                        </a:lnSpc>
                        <a:defRPr sz="900" b="1">
                          <a:solidFill>
                            <a:srgbClr val="BC955C"/>
                          </a:solidFill>
                          <a:latin typeface="Montserrat"/>
                        </a:defRPr>
                      </a:pPr>
                      <a:r>
                        <a:t>$63.3</a:t>
                      </a:r>
                    </a:p>
                  </a:txBody>
                  <a:tcPr marL="3600" marR="3600" marT="3600" marB="3600" anchor="ctr">
                    <a:solidFill>
                      <a:srgbClr val="ECE1D2"/>
                    </a:solidFill>
                  </a:tcPr>
                </a:tc>
                <a:extLst>
                  <a:ext uri="{0D108BD9-81ED-4DB2-BD59-A6C34878D82A}">
                    <a16:rowId xmlns:a16="http://schemas.microsoft.com/office/drawing/2014/main" val="10003"/>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2071006220"/>
              </p:ext>
            </p:extLst>
          </p:nvPr>
        </p:nvGraphicFramePr>
        <p:xfrm>
          <a:off x="1785600" y="2644775"/>
          <a:ext cx="5295600" cy="2864161"/>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334347">
                <a:tc>
                  <a:txBody>
                    <a:bodyPr/>
                    <a:lstStyle/>
                    <a:p>
                      <a:pPr algn="ctr">
                        <a:defRPr sz="1000" b="1">
                          <a:solidFill>
                            <a:srgbClr val="FFFFFF"/>
                          </a:solidFill>
                          <a:latin typeface="Montserrat"/>
                        </a:defRPr>
                      </a:pPr>
                      <a:r>
                        <a:t>Obras de </a:t>
                      </a:r>
                      <a:r>
                        <a:rPr err="1"/>
                        <a:t>Conservación</a:t>
                      </a:r>
                      <a:r>
                        <a:t> 2025</a:t>
                      </a:r>
                    </a:p>
                  </a:txBody>
                  <a:tcPr marL="3600" marR="3600" marT="3600" marB="3600" anchor="ctr">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solidFill>
                      <a:srgbClr val="BC955C"/>
                    </a:solidFill>
                  </a:tcPr>
                </a:tc>
                <a:extLst>
                  <a:ext uri="{0D108BD9-81ED-4DB2-BD59-A6C34878D82A}">
                    <a16:rowId xmlns:a16="http://schemas.microsoft.com/office/drawing/2014/main" val="10000"/>
                  </a:ext>
                </a:extLst>
              </a:tr>
              <a:tr h="204400">
                <a:tc>
                  <a:txBody>
                    <a:bodyPr/>
                    <a:lstStyle/>
                    <a:p>
                      <a:pPr algn="l">
                        <a:lnSpc>
                          <a:spcPct val="100000"/>
                        </a:lnSpc>
                      </a:pPr>
                      <a:r>
                        <a:rPr sz="1000">
                          <a:latin typeface="Montserrat"/>
                        </a:rPr>
                        <a:t>Mantenimiento de Infraestructura (PAO 2025)</a:t>
                      </a:r>
                    </a:p>
                  </a:txBody>
                  <a:tcPr marL="3600" marR="3600" marT="3600" marB="3600" anchor="ctr">
                    <a:solidFill>
                      <a:srgbClr val="FFFFFF"/>
                    </a:solidFill>
                  </a:tcPr>
                </a:tc>
                <a:tc>
                  <a:txBody>
                    <a:bodyPr/>
                    <a:lstStyle/>
                    <a:p>
                      <a:pPr algn="ctr">
                        <a:lnSpc>
                          <a:spcPct val="100000"/>
                        </a:lnSpc>
                      </a:pPr>
                      <a:r>
                        <a:rPr sz="1000">
                          <a:latin typeface="Montserrat"/>
                        </a:rPr>
                        <a:t>$161.4</a:t>
                      </a:r>
                    </a:p>
                  </a:txBody>
                  <a:tcPr marL="3600" marR="3600" marT="3600" marB="3600" anchor="ctr">
                    <a:solidFill>
                      <a:srgbClr val="FFFFFF"/>
                    </a:solidFill>
                  </a:tcPr>
                </a:tc>
                <a:extLst>
                  <a:ext uri="{0D108BD9-81ED-4DB2-BD59-A6C34878D82A}">
                    <a16:rowId xmlns:a16="http://schemas.microsoft.com/office/drawing/2014/main" val="10001"/>
                  </a:ext>
                </a:extLst>
              </a:tr>
              <a:tr h="480000">
                <a:tc>
                  <a:txBody>
                    <a:bodyPr/>
                    <a:lstStyle/>
                    <a:p>
                      <a:pPr algn="l">
                        <a:lnSpc>
                          <a:spcPct val="100000"/>
                        </a:lnSpc>
                      </a:pPr>
                      <a:r>
                        <a:rPr sz="1000" err="1">
                          <a:latin typeface="Montserrat"/>
                        </a:rPr>
                        <a:t>Intervención</a:t>
                      </a:r>
                      <a:r>
                        <a:rPr sz="1000">
                          <a:latin typeface="Montserrat"/>
                        </a:rPr>
                        <a:t> </a:t>
                      </a:r>
                      <a:r>
                        <a:rPr sz="1000" err="1">
                          <a:latin typeface="Montserrat"/>
                        </a:rPr>
                        <a:t>en</a:t>
                      </a:r>
                      <a:r>
                        <a:rPr sz="1000">
                          <a:latin typeface="Montserrat"/>
                        </a:rPr>
                        <a:t> </a:t>
                      </a:r>
                      <a:r>
                        <a:rPr sz="1000" err="1">
                          <a:latin typeface="Montserrat"/>
                        </a:rPr>
                        <a:t>áreas</a:t>
                      </a:r>
                      <a:r>
                        <a:rPr sz="1000">
                          <a:latin typeface="Montserrat"/>
                        </a:rPr>
                        <a:t> de residencias </a:t>
                      </a:r>
                      <a:r>
                        <a:rPr sz="1000" err="1">
                          <a:latin typeface="Montserrat"/>
                        </a:rPr>
                        <a:t>médicas</a:t>
                      </a:r>
                      <a:r>
                        <a:rPr sz="1000">
                          <a:latin typeface="Montserrat"/>
                        </a:rPr>
                        <a:t> </a:t>
                      </a:r>
                      <a:r>
                        <a:rPr sz="1000" err="1">
                          <a:latin typeface="Montserrat"/>
                        </a:rPr>
                        <a:t>en</a:t>
                      </a:r>
                      <a:r>
                        <a:rPr sz="1000">
                          <a:latin typeface="Montserrat"/>
                        </a:rPr>
                        <a:t> 5 </a:t>
                      </a:r>
                      <a:r>
                        <a:rPr sz="1000" err="1">
                          <a:latin typeface="Montserrat"/>
                        </a:rPr>
                        <a:t>unidades</a:t>
                      </a:r>
                      <a:r>
                        <a:rPr sz="1000">
                          <a:latin typeface="Montserrat"/>
                        </a:rPr>
                        <a:t> (HGZ No.1 Villa Álvarez, HGSZMF No.4 </a:t>
                      </a:r>
                      <a:r>
                        <a:rPr sz="1000" err="1">
                          <a:latin typeface="Montserrat"/>
                        </a:rPr>
                        <a:t>Tecomán</a:t>
                      </a:r>
                      <a:r>
                        <a:rPr sz="1000">
                          <a:latin typeface="Montserrat"/>
                        </a:rPr>
                        <a:t>, HGZ No.10 Manzanillo, UMF No.17 Manzanillo, UMF No. 19 Colima)</a:t>
                      </a:r>
                    </a:p>
                  </a:txBody>
                  <a:tcPr marL="3600" marR="3600" marT="3600" marB="3600" anchor="ctr">
                    <a:solidFill>
                      <a:srgbClr val="D9D9D9"/>
                    </a:solidFill>
                  </a:tcPr>
                </a:tc>
                <a:tc>
                  <a:txBody>
                    <a:bodyPr/>
                    <a:lstStyle/>
                    <a:p>
                      <a:pPr algn="ctr">
                        <a:lnSpc>
                          <a:spcPct val="100000"/>
                        </a:lnSpc>
                      </a:pPr>
                      <a:r>
                        <a:rPr sz="1000">
                          <a:latin typeface="Montserrat"/>
                        </a:rPr>
                        <a:t>$18.5</a:t>
                      </a:r>
                    </a:p>
                  </a:txBody>
                  <a:tcPr marL="3600" marR="3600" marT="3600" marB="3600" anchor="ctr">
                    <a:solidFill>
                      <a:srgbClr val="D9D9D9"/>
                    </a:solidFill>
                  </a:tcPr>
                </a:tc>
                <a:extLst>
                  <a:ext uri="{0D108BD9-81ED-4DB2-BD59-A6C34878D82A}">
                    <a16:rowId xmlns:a16="http://schemas.microsoft.com/office/drawing/2014/main" val="10002"/>
                  </a:ext>
                </a:extLst>
              </a:tr>
              <a:tr h="315867">
                <a:tc>
                  <a:txBody>
                    <a:bodyPr/>
                    <a:lstStyle/>
                    <a:p>
                      <a:pPr algn="l">
                        <a:lnSpc>
                          <a:spcPct val="100000"/>
                        </a:lnSpc>
                      </a:pPr>
                      <a:r>
                        <a:rPr sz="1000">
                          <a:latin typeface="Montserrat"/>
                        </a:rPr>
                        <a:t>Intervención en áreas de hemodiálisis interna (HGZ No.1 Villa de Álvarez y HGZ No. 10 Manzanillo)</a:t>
                      </a:r>
                    </a:p>
                  </a:txBody>
                  <a:tcPr marL="3600" marR="3600" marT="3600" marB="3600" anchor="ctr">
                    <a:solidFill>
                      <a:srgbClr val="FFFFFF"/>
                    </a:solidFill>
                  </a:tcPr>
                </a:tc>
                <a:tc>
                  <a:txBody>
                    <a:bodyPr/>
                    <a:lstStyle/>
                    <a:p>
                      <a:pPr algn="ctr">
                        <a:lnSpc>
                          <a:spcPct val="100000"/>
                        </a:lnSpc>
                      </a:pPr>
                      <a:r>
                        <a:rPr sz="1000">
                          <a:latin typeface="Montserrat"/>
                        </a:rPr>
                        <a:t>$12.5</a:t>
                      </a:r>
                    </a:p>
                  </a:txBody>
                  <a:tcPr marL="3600" marR="3600" marT="3600" marB="3600" anchor="ctr">
                    <a:solidFill>
                      <a:srgbClr val="FFFFFF"/>
                    </a:solidFill>
                  </a:tcPr>
                </a:tc>
                <a:extLst>
                  <a:ext uri="{0D108BD9-81ED-4DB2-BD59-A6C34878D82A}">
                    <a16:rowId xmlns:a16="http://schemas.microsoft.com/office/drawing/2014/main" val="10003"/>
                  </a:ext>
                </a:extLst>
              </a:tr>
              <a:tr h="313266">
                <a:tc>
                  <a:txBody>
                    <a:bodyPr/>
                    <a:lstStyle/>
                    <a:p>
                      <a:pPr algn="l">
                        <a:lnSpc>
                          <a:spcPct val="100000"/>
                        </a:lnSpc>
                      </a:pPr>
                      <a:r>
                        <a:rPr sz="1000">
                          <a:latin typeface="Montserrat"/>
                        </a:rPr>
                        <a:t>Intervención en áreas de accesibilidad (rampas) en 17 unidades, Colima</a:t>
                      </a:r>
                    </a:p>
                  </a:txBody>
                  <a:tcPr marL="3600" marR="3600" marT="3600" marB="3600" anchor="ctr">
                    <a:solidFill>
                      <a:srgbClr val="D9D9D9"/>
                    </a:solidFill>
                  </a:tcPr>
                </a:tc>
                <a:tc>
                  <a:txBody>
                    <a:bodyPr/>
                    <a:lstStyle/>
                    <a:p>
                      <a:pPr algn="ctr">
                        <a:lnSpc>
                          <a:spcPct val="100000"/>
                        </a:lnSpc>
                      </a:pPr>
                      <a:r>
                        <a:rPr sz="1000">
                          <a:latin typeface="Montserrat"/>
                        </a:rPr>
                        <a:t>$11.3</a:t>
                      </a:r>
                    </a:p>
                  </a:txBody>
                  <a:tcPr marL="3600" marR="3600" marT="3600" marB="3600" anchor="ctr">
                    <a:solidFill>
                      <a:srgbClr val="D9D9D9"/>
                    </a:solidFill>
                  </a:tcPr>
                </a:tc>
                <a:extLst>
                  <a:ext uri="{0D108BD9-81ED-4DB2-BD59-A6C34878D82A}">
                    <a16:rowId xmlns:a16="http://schemas.microsoft.com/office/drawing/2014/main" val="10004"/>
                  </a:ext>
                </a:extLst>
              </a:tr>
              <a:tr h="245534">
                <a:tc>
                  <a:txBody>
                    <a:bodyPr/>
                    <a:lstStyle/>
                    <a:p>
                      <a:pPr algn="l">
                        <a:lnSpc>
                          <a:spcPct val="100000"/>
                        </a:lnSpc>
                      </a:pPr>
                      <a:r>
                        <a:rPr sz="1000">
                          <a:latin typeface="Montserrat"/>
                        </a:rPr>
                        <a:t>Intervención en áreas de mejora en 2 subdelegaciones Colima y Manzanillo</a:t>
                      </a:r>
                    </a:p>
                  </a:txBody>
                  <a:tcPr marL="3600" marR="3600" marT="3600" marB="3600" anchor="ctr">
                    <a:solidFill>
                      <a:srgbClr val="FFFFFF"/>
                    </a:solidFill>
                  </a:tcPr>
                </a:tc>
                <a:tc>
                  <a:txBody>
                    <a:bodyPr/>
                    <a:lstStyle/>
                    <a:p>
                      <a:pPr algn="ctr">
                        <a:lnSpc>
                          <a:spcPct val="100000"/>
                        </a:lnSpc>
                      </a:pPr>
                      <a:r>
                        <a:rPr sz="1000">
                          <a:latin typeface="Montserrat"/>
                        </a:rPr>
                        <a:t>$7.7</a:t>
                      </a:r>
                    </a:p>
                  </a:txBody>
                  <a:tcPr marL="3600" marR="3600" marT="3600" marB="3600" anchor="ctr">
                    <a:solidFill>
                      <a:srgbClr val="FFFFFF"/>
                    </a:solidFill>
                  </a:tcPr>
                </a:tc>
                <a:extLst>
                  <a:ext uri="{0D108BD9-81ED-4DB2-BD59-A6C34878D82A}">
                    <a16:rowId xmlns:a16="http://schemas.microsoft.com/office/drawing/2014/main" val="10005"/>
                  </a:ext>
                </a:extLst>
              </a:tr>
              <a:tr h="272200">
                <a:tc>
                  <a:txBody>
                    <a:bodyPr/>
                    <a:lstStyle/>
                    <a:p>
                      <a:pPr algn="l">
                        <a:lnSpc>
                          <a:spcPct val="100000"/>
                        </a:lnSpc>
                      </a:pPr>
                      <a:r>
                        <a:rPr sz="1000">
                          <a:latin typeface="Montserrat"/>
                        </a:rPr>
                        <a:t>Intervención en áreas de terapia intensiva en HGZ No. 10 Manzanillo</a:t>
                      </a:r>
                    </a:p>
                  </a:txBody>
                  <a:tcPr marL="3600" marR="3600" marT="3600" marB="3600" anchor="ctr">
                    <a:solidFill>
                      <a:srgbClr val="D9D9D9"/>
                    </a:solidFill>
                  </a:tcPr>
                </a:tc>
                <a:tc>
                  <a:txBody>
                    <a:bodyPr/>
                    <a:lstStyle/>
                    <a:p>
                      <a:pPr algn="ctr">
                        <a:lnSpc>
                          <a:spcPct val="100000"/>
                        </a:lnSpc>
                      </a:pPr>
                      <a:r>
                        <a:rPr sz="1000">
                          <a:latin typeface="Montserrat"/>
                        </a:rPr>
                        <a:t>$3.1</a:t>
                      </a:r>
                    </a:p>
                  </a:txBody>
                  <a:tcPr marL="3600" marR="3600" marT="3600" marB="3600" anchor="ctr">
                    <a:solidFill>
                      <a:srgbClr val="D9D9D9"/>
                    </a:solidFill>
                  </a:tcPr>
                </a:tc>
                <a:extLst>
                  <a:ext uri="{0D108BD9-81ED-4DB2-BD59-A6C34878D82A}">
                    <a16:rowId xmlns:a16="http://schemas.microsoft.com/office/drawing/2014/main" val="10006"/>
                  </a:ext>
                </a:extLst>
              </a:tr>
              <a:tr h="146467">
                <a:tc>
                  <a:txBody>
                    <a:bodyPr/>
                    <a:lstStyle/>
                    <a:p>
                      <a:pPr algn="l">
                        <a:lnSpc>
                          <a:spcPct val="100000"/>
                        </a:lnSpc>
                      </a:pPr>
                      <a:r>
                        <a:rPr sz="1000">
                          <a:latin typeface="Montserrat"/>
                        </a:rPr>
                        <a:t>Intervención en áreas de salud mental en 3 unidades (HGSZMF No. 4 Tecomán, HGZ No.1 Villa de Álvarez, HGZ No. 10 Manzanillo)</a:t>
                      </a:r>
                    </a:p>
                  </a:txBody>
                  <a:tcPr marL="3600" marR="3600" marT="3600" marB="3600" anchor="ctr">
                    <a:solidFill>
                      <a:srgbClr val="FFFFFF"/>
                    </a:solidFill>
                  </a:tcPr>
                </a:tc>
                <a:tc>
                  <a:txBody>
                    <a:bodyPr/>
                    <a:lstStyle/>
                    <a:p>
                      <a:pPr algn="ctr">
                        <a:lnSpc>
                          <a:spcPct val="100000"/>
                        </a:lnSpc>
                      </a:pPr>
                      <a:r>
                        <a:rPr sz="1000">
                          <a:latin typeface="Montserrat"/>
                        </a:rPr>
                        <a:t>$1.1</a:t>
                      </a:r>
                    </a:p>
                  </a:txBody>
                  <a:tcPr marL="3600" marR="3600" marT="3600" marB="3600" anchor="ctr">
                    <a:solidFill>
                      <a:srgbClr val="FFFFFF"/>
                    </a:solidFill>
                  </a:tcPr>
                </a:tc>
                <a:extLst>
                  <a:ext uri="{0D108BD9-81ED-4DB2-BD59-A6C34878D82A}">
                    <a16:rowId xmlns:a16="http://schemas.microsoft.com/office/drawing/2014/main" val="10007"/>
                  </a:ext>
                </a:extLst>
              </a:tr>
              <a:tr h="280281">
                <a:tc>
                  <a:txBody>
                    <a:bodyPr/>
                    <a:lstStyle/>
                    <a:p>
                      <a:pPr algn="ctr">
                        <a:lnSpc>
                          <a:spcPct val="100000"/>
                        </a:lnSpc>
                        <a:defRPr sz="900" b="1">
                          <a:solidFill>
                            <a:srgbClr val="BC955C"/>
                          </a:solidFill>
                          <a:latin typeface="Montserrat"/>
                        </a:defRPr>
                      </a:pPr>
                      <a:r>
                        <a:t>Subtotal</a:t>
                      </a:r>
                    </a:p>
                  </a:txBody>
                  <a:tcPr marL="3600" marR="3600" marT="3600" marB="3600" anchor="ctr">
                    <a:solidFill>
                      <a:srgbClr val="ECE1D2"/>
                    </a:solidFill>
                  </a:tcPr>
                </a:tc>
                <a:tc>
                  <a:txBody>
                    <a:bodyPr/>
                    <a:lstStyle/>
                    <a:p>
                      <a:pPr algn="ctr">
                        <a:lnSpc>
                          <a:spcPct val="100000"/>
                        </a:lnSpc>
                        <a:defRPr sz="900" b="1">
                          <a:solidFill>
                            <a:srgbClr val="BC955C"/>
                          </a:solidFill>
                          <a:latin typeface="Montserrat"/>
                        </a:defRPr>
                      </a:pPr>
                      <a:r>
                        <a:t>$215.6</a:t>
                      </a:r>
                    </a:p>
                  </a:txBody>
                  <a:tcPr marL="3600" marR="3600" marT="3600" marB="3600" anchor="ctr">
                    <a:solidFill>
                      <a:srgbClr val="ECE1D2"/>
                    </a:solidFill>
                  </a:tcPr>
                </a:tc>
                <a:extLst>
                  <a:ext uri="{0D108BD9-81ED-4DB2-BD59-A6C34878D82A}">
                    <a16:rowId xmlns:a16="http://schemas.microsoft.com/office/drawing/2014/main" val="10008"/>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330998265"/>
              </p:ext>
            </p:extLst>
          </p:nvPr>
        </p:nvGraphicFramePr>
        <p:xfrm>
          <a:off x="1773156" y="5562322"/>
          <a:ext cx="5295600" cy="7641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299700">
                <a:tc>
                  <a:txBody>
                    <a:bodyPr/>
                    <a:lstStyle/>
                    <a:p>
                      <a:pPr algn="ctr">
                        <a:defRPr sz="1000" b="1">
                          <a:solidFill>
                            <a:srgbClr val="FFFFFF"/>
                          </a:solidFill>
                          <a:latin typeface="Montserrat"/>
                        </a:defRPr>
                      </a:pPr>
                      <a:r>
                        <a:t>Equipo Médico 2025, </a:t>
                      </a:r>
                      <a:r>
                        <a:rPr err="1"/>
                        <a:t>Instalación</a:t>
                      </a:r>
                      <a:r>
                        <a:t> 2026</a:t>
                      </a:r>
                    </a:p>
                  </a:txBody>
                  <a:tcPr marL="3600" marR="3600" marT="3600" marB="3600" anchor="ctr">
                    <a:solidFill>
                      <a:srgbClr val="BC955C"/>
                    </a:solidFill>
                  </a:tcPr>
                </a:tc>
                <a:tc>
                  <a:txBody>
                    <a:bodyPr/>
                    <a:lstStyle/>
                    <a:p>
                      <a:pPr algn="ctr">
                        <a:defRPr sz="1000" b="1">
                          <a:solidFill>
                            <a:srgbClr val="FFFFFF"/>
                          </a:solidFill>
                          <a:latin typeface="Montserrat"/>
                        </a:defRPr>
                      </a:pPr>
                      <a:r>
                        <a:t>Monto (mdp)</a:t>
                      </a:r>
                    </a:p>
                  </a:txBody>
                  <a:tcPr marL="3600" marR="3600" marT="3600" marB="3600">
                    <a:solidFill>
                      <a:srgbClr val="BC955C"/>
                    </a:solidFill>
                  </a:tcPr>
                </a:tc>
                <a:extLst>
                  <a:ext uri="{0D108BD9-81ED-4DB2-BD59-A6C34878D82A}">
                    <a16:rowId xmlns:a16="http://schemas.microsoft.com/office/drawing/2014/main" val="10000"/>
                  </a:ext>
                </a:extLst>
              </a:tr>
              <a:tr h="450000">
                <a:tc>
                  <a:txBody>
                    <a:bodyPr/>
                    <a:lstStyle/>
                    <a:p>
                      <a:pPr algn="l">
                        <a:lnSpc>
                          <a:spcPct val="100000"/>
                        </a:lnSpc>
                      </a:pPr>
                      <a:r>
                        <a:rPr sz="1000">
                          <a:latin typeface="Montserrat"/>
                        </a:rPr>
                        <a:t>Adquisición de 3  piezas de equipo médico: 1 refrigerador congelador de 5.4 pies cúbicos, 1 tomógrafo axial computarizado de alta resolucion, 1 mastógrafo digital con esterotaxia</a:t>
                      </a:r>
                    </a:p>
                  </a:txBody>
                  <a:tcPr marL="3600" marR="3600" marT="3600" marB="3600">
                    <a:solidFill>
                      <a:srgbClr val="FFFFFF"/>
                    </a:solidFill>
                  </a:tcPr>
                </a:tc>
                <a:tc>
                  <a:txBody>
                    <a:bodyPr/>
                    <a:lstStyle/>
                    <a:p>
                      <a:pPr algn="ctr">
                        <a:lnSpc>
                          <a:spcPct val="100000"/>
                        </a:lnSpc>
                      </a:pPr>
                      <a:r>
                        <a:rPr sz="1000">
                          <a:latin typeface="Montserrat"/>
                        </a:rPr>
                        <a:t>$34.1</a:t>
                      </a:r>
                    </a:p>
                  </a:txBody>
                  <a:tcPr marL="3600" marR="3600" marT="3600" marB="3600">
                    <a:solidFill>
                      <a:srgbClr val="FFFFFF"/>
                    </a:solidFill>
                  </a:tcPr>
                </a:tc>
                <a:extLst>
                  <a:ext uri="{0D108BD9-81ED-4DB2-BD59-A6C34878D82A}">
                    <a16:rowId xmlns:a16="http://schemas.microsoft.com/office/drawing/2014/main" val="10001"/>
                  </a:ext>
                </a:extLst>
              </a:tr>
            </a:tbl>
          </a:graphicData>
        </a:graphic>
      </p:graphicFrame>
      <p:sp>
        <p:nvSpPr>
          <p:cNvPr id="20" name="TextBox 19"/>
          <p:cNvSpPr txBox="1"/>
          <p:nvPr/>
        </p:nvSpPr>
        <p:spPr>
          <a:xfrm>
            <a:off x="6117458" y="707922"/>
            <a:ext cx="620683" cy="523220"/>
          </a:xfrm>
          <a:prstGeom prst="rect">
            <a:avLst/>
          </a:prstGeom>
          <a:noFill/>
        </p:spPr>
        <p:txBody>
          <a:bodyPr wrap="none">
            <a:spAutoFit/>
          </a:bodyPr>
          <a:lstStyle/>
          <a:p>
            <a:pPr algn="ctr">
              <a:defRPr sz="1400" b="1">
                <a:solidFill>
                  <a:srgbClr val="FFFFFF"/>
                </a:solidFill>
                <a:latin typeface="Montserrat"/>
              </a:defRPr>
            </a:pPr>
            <a:r>
              <a:t>313</a:t>
            </a:r>
          </a:p>
          <a:p>
            <a:pPr algn="ctr">
              <a:defRPr sz="1400" b="1">
                <a:solidFill>
                  <a:srgbClr val="FFFFFF"/>
                </a:solidFill>
                <a:latin typeface="Montserrat"/>
              </a:defRPr>
            </a:pPr>
            <a:r>
              <a:rPr err="1"/>
              <a:t>mdp</a:t>
            </a:r>
            <a:endParaRPr/>
          </a:p>
        </p:txBody>
      </p:sp>
      <p:graphicFrame>
        <p:nvGraphicFramePr>
          <p:cNvPr id="22" name="Google Shape;394;p15">
            <a:extLst>
              <a:ext uri="{FF2B5EF4-FFF2-40B4-BE49-F238E27FC236}">
                <a16:creationId xmlns:a16="http://schemas.microsoft.com/office/drawing/2014/main" id="{335BE50E-F190-C532-47F3-AD2E903F1A04}"/>
              </a:ext>
            </a:extLst>
          </p:cNvPr>
          <p:cNvGraphicFramePr/>
          <p:nvPr>
            <p:extLst>
              <p:ext uri="{D42A27DB-BD31-4B8C-83A1-F6EECF244321}">
                <p14:modId xmlns:p14="http://schemas.microsoft.com/office/powerpoint/2010/main" val="1942044844"/>
              </p:ext>
            </p:extLst>
          </p:nvPr>
        </p:nvGraphicFramePr>
        <p:xfrm>
          <a:off x="287700" y="6628552"/>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9F2241"/>
                          </a:solidFill>
                          <a:latin typeface="Montserrat"/>
                          <a:ea typeface="Montserrat"/>
                          <a:cs typeface="Montserrat"/>
                          <a:sym typeface="Montserrat"/>
                        </a:rPr>
                        <a:t>Acciones 2026</a:t>
                      </a:r>
                      <a:endParaRPr sz="2100" b="1" u="none" strike="noStrike" cap="none">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24" name="Google Shape;396;p15">
            <a:extLst>
              <a:ext uri="{FF2B5EF4-FFF2-40B4-BE49-F238E27FC236}">
                <a16:creationId xmlns:a16="http://schemas.microsoft.com/office/drawing/2014/main" id="{8544D68E-B1A4-A7B2-DB92-E42AA06757EA}"/>
              </a:ext>
            </a:extLst>
          </p:cNvPr>
          <p:cNvSpPr txBox="1"/>
          <p:nvPr/>
        </p:nvSpPr>
        <p:spPr>
          <a:xfrm>
            <a:off x="4031556" y="6663479"/>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a:ln>
                <a:noFill/>
              </a:ln>
              <a:solidFill>
                <a:srgbClr val="9F2241"/>
              </a:solidFill>
              <a:effectLst/>
              <a:uLnTx/>
              <a:uFillTx/>
              <a:latin typeface="Arial"/>
              <a:ea typeface="Arial"/>
              <a:cs typeface="Arial"/>
              <a:sym typeface="Arial"/>
            </a:endParaRPr>
          </a:p>
        </p:txBody>
      </p:sp>
      <p:pic>
        <p:nvPicPr>
          <p:cNvPr id="26" name="Google Shape;395;p15">
            <a:extLst>
              <a:ext uri="{FF2B5EF4-FFF2-40B4-BE49-F238E27FC236}">
                <a16:creationId xmlns:a16="http://schemas.microsoft.com/office/drawing/2014/main" id="{2D93BC3E-5191-A2B8-0CE5-3DBAD69F852B}"/>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6323639"/>
            <a:ext cx="1599000" cy="773189"/>
          </a:xfrm>
          <a:prstGeom prst="rect">
            <a:avLst/>
          </a:prstGeom>
          <a:noFill/>
          <a:ln>
            <a:noFill/>
          </a:ln>
        </p:spPr>
      </p:pic>
      <p:sp>
        <p:nvSpPr>
          <p:cNvPr id="28" name="CuadroTexto 9">
            <a:extLst>
              <a:ext uri="{FF2B5EF4-FFF2-40B4-BE49-F238E27FC236}">
                <a16:creationId xmlns:a16="http://schemas.microsoft.com/office/drawing/2014/main" id="{57E8B049-729B-8005-9EF1-849FB8B23F95}"/>
              </a:ext>
            </a:extLst>
          </p:cNvPr>
          <p:cNvSpPr txBox="1"/>
          <p:nvPr/>
        </p:nvSpPr>
        <p:spPr>
          <a:xfrm>
            <a:off x="-2" y="8220547"/>
            <a:ext cx="1785601"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err="1">
                <a:solidFill>
                  <a:srgbClr val="A42145"/>
                </a:solidFill>
                <a:latin typeface="Montserrat"/>
                <a:ea typeface="Montserrat"/>
                <a:cs typeface="Montserrat"/>
              </a:rPr>
              <a:t>Adquisición</a:t>
            </a:r>
            <a:r>
              <a:rPr lang="en-US" sz="1200" b="1" i="0" u="none" strike="noStrike">
                <a:solidFill>
                  <a:srgbClr val="A42145"/>
                </a:solidFill>
                <a:latin typeface="Montserrat"/>
                <a:ea typeface="Montserrat"/>
                <a:cs typeface="Montserrat"/>
              </a:rPr>
              <a:t>: </a:t>
            </a:r>
          </a:p>
        </p:txBody>
      </p:sp>
      <p:pic>
        <p:nvPicPr>
          <p:cNvPr id="30" name="Imagen 29" descr="Forma, Círculo&#10;&#10;El contenido generado por IA puede ser incorrecto.">
            <a:extLst>
              <a:ext uri="{FF2B5EF4-FFF2-40B4-BE49-F238E27FC236}">
                <a16:creationId xmlns:a16="http://schemas.microsoft.com/office/drawing/2014/main" id="{C1A34931-6AB9-F048-F106-D303160C3A19}"/>
              </a:ext>
            </a:extLst>
          </p:cNvPr>
          <p:cNvPicPr>
            <a:picLocks noChangeAspect="1"/>
          </p:cNvPicPr>
          <p:nvPr/>
        </p:nvPicPr>
        <p:blipFill>
          <a:blip r:embed="rId6"/>
          <a:stretch>
            <a:fillRect/>
          </a:stretch>
        </p:blipFill>
        <p:spPr>
          <a:xfrm>
            <a:off x="452518" y="8448465"/>
            <a:ext cx="872667" cy="849944"/>
          </a:xfrm>
          <a:prstGeom prst="rect">
            <a:avLst/>
          </a:prstGeom>
        </p:spPr>
      </p:pic>
      <p:sp>
        <p:nvSpPr>
          <p:cNvPr id="32" name="CuadroTexto 11">
            <a:extLst>
              <a:ext uri="{FF2B5EF4-FFF2-40B4-BE49-F238E27FC236}">
                <a16:creationId xmlns:a16="http://schemas.microsoft.com/office/drawing/2014/main" id="{C0C22F67-1DCF-826F-8E33-B53D997EC259}"/>
              </a:ext>
            </a:extLst>
          </p:cNvPr>
          <p:cNvSpPr txBox="1"/>
          <p:nvPr/>
        </p:nvSpPr>
        <p:spPr>
          <a:xfrm>
            <a:off x="-1" y="8454165"/>
            <a:ext cx="1785601" cy="76944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3</a:t>
            </a:r>
            <a:endParaRPr lang="en-US" sz="2000" b="1" i="0" u="none" strike="noStrike">
              <a:solidFill>
                <a:srgbClr val="A42145"/>
              </a:solidFill>
              <a:latin typeface="Montserrat"/>
              <a:ea typeface="Montserrat"/>
              <a:cs typeface="Montserrat"/>
            </a:endParaRPr>
          </a:p>
          <a:p>
            <a:pPr algn="ctr"/>
            <a:r>
              <a:rPr lang="en-US" sz="800" b="1" err="1">
                <a:solidFill>
                  <a:srgbClr val="A42145"/>
                </a:solidFill>
                <a:latin typeface="Montserrat"/>
                <a:ea typeface="Montserrat"/>
                <a:cs typeface="Montserrat"/>
              </a:rPr>
              <a:t>Equipos</a:t>
            </a:r>
            <a:r>
              <a:rPr lang="en-US" sz="800" b="1">
                <a:solidFill>
                  <a:srgbClr val="A42145"/>
                </a:solidFill>
                <a:latin typeface="Montserrat"/>
                <a:ea typeface="Montserrat"/>
                <a:cs typeface="Montserrat"/>
              </a:rPr>
              <a:t> </a:t>
            </a:r>
          </a:p>
          <a:p>
            <a:pPr algn="ctr"/>
            <a:r>
              <a:rPr lang="en-US" sz="800" b="1" err="1">
                <a:solidFill>
                  <a:srgbClr val="A42145"/>
                </a:solidFill>
                <a:latin typeface="Montserrat"/>
                <a:ea typeface="Montserrat"/>
                <a:cs typeface="Montserrat"/>
              </a:rPr>
              <a:t>Electrome</a:t>
            </a:r>
            <a:r>
              <a:rPr lang="en-US" sz="800" b="1">
                <a:solidFill>
                  <a:srgbClr val="A42145"/>
                </a:solidFill>
                <a:latin typeface="Montserrat"/>
                <a:ea typeface="Montserrat"/>
                <a:cs typeface="Montserrat"/>
              </a:rPr>
              <a:t>-</a:t>
            </a:r>
          </a:p>
          <a:p>
            <a:pPr algn="ctr"/>
            <a:r>
              <a:rPr lang="en-US" sz="800" b="1" err="1">
                <a:solidFill>
                  <a:srgbClr val="A42145"/>
                </a:solidFill>
                <a:latin typeface="Montserrat"/>
                <a:ea typeface="Montserrat"/>
                <a:cs typeface="Montserrat"/>
              </a:rPr>
              <a:t>cánicos</a:t>
            </a:r>
            <a:endParaRPr lang="en-US" sz="800" b="1" i="0" u="none" strike="noStrike" err="1">
              <a:solidFill>
                <a:srgbClr val="A42145"/>
              </a:solidFill>
              <a:latin typeface="Montserrat"/>
              <a:ea typeface="Montserrat"/>
              <a:cs typeface="Montserrat"/>
            </a:endParaRPr>
          </a:p>
        </p:txBody>
      </p:sp>
      <p:pic>
        <p:nvPicPr>
          <p:cNvPr id="34" name="Imagen 33" descr="Logotipo&#10;&#10;El contenido generado por IA puede ser incorrecto.">
            <a:extLst>
              <a:ext uri="{FF2B5EF4-FFF2-40B4-BE49-F238E27FC236}">
                <a16:creationId xmlns:a16="http://schemas.microsoft.com/office/drawing/2014/main" id="{E38E4696-D305-2F12-CDFD-88FFBE380B9A}"/>
              </a:ext>
            </a:extLst>
          </p:cNvPr>
          <p:cNvPicPr>
            <a:picLocks noChangeAspect="1"/>
          </p:cNvPicPr>
          <p:nvPr/>
        </p:nvPicPr>
        <p:blipFill>
          <a:blip r:embed="rId7"/>
          <a:stretch>
            <a:fillRect/>
          </a:stretch>
        </p:blipFill>
        <p:spPr>
          <a:xfrm>
            <a:off x="429165" y="7297978"/>
            <a:ext cx="880355" cy="883905"/>
          </a:xfrm>
          <a:prstGeom prst="rect">
            <a:avLst/>
          </a:prstGeom>
        </p:spPr>
      </p:pic>
      <p:graphicFrame>
        <p:nvGraphicFramePr>
          <p:cNvPr id="36" name="Table 10">
            <a:extLst>
              <a:ext uri="{FF2B5EF4-FFF2-40B4-BE49-F238E27FC236}">
                <a16:creationId xmlns:a16="http://schemas.microsoft.com/office/drawing/2014/main" id="{48668CBF-E259-13FA-5B0F-28BB8E472152}"/>
              </a:ext>
            </a:extLst>
          </p:cNvPr>
          <p:cNvGraphicFramePr>
            <a:graphicFrameLocks noGrp="1"/>
          </p:cNvGraphicFramePr>
          <p:nvPr>
            <p:extLst>
              <p:ext uri="{D42A27DB-BD31-4B8C-83A1-F6EECF244321}">
                <p14:modId xmlns:p14="http://schemas.microsoft.com/office/powerpoint/2010/main" val="2084157716"/>
              </p:ext>
            </p:extLst>
          </p:nvPr>
        </p:nvGraphicFramePr>
        <p:xfrm>
          <a:off x="1785600" y="7192022"/>
          <a:ext cx="5396400" cy="503998"/>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251999">
                <a:tc>
                  <a:txBody>
                    <a:bodyPr/>
                    <a:lstStyle/>
                    <a:p>
                      <a:pPr algn="ctr">
                        <a:defRPr sz="1000" b="1">
                          <a:solidFill>
                            <a:srgbClr val="FFFFFF"/>
                          </a:solidFill>
                          <a:latin typeface="Montserrat"/>
                        </a:defRPr>
                      </a:pPr>
                      <a:r>
                        <a:t>Obras de </a:t>
                      </a:r>
                      <a:r>
                        <a:rPr err="1"/>
                        <a:t>Infraestructura</a:t>
                      </a:r>
                      <a:r>
                        <a:t> 2026</a:t>
                      </a:r>
                    </a:p>
                  </a:txBody>
                  <a:tcPr marL="3600" marR="3600" marT="3600" marB="3600" anchor="ctr">
                    <a:solidFill>
                      <a:srgbClr val="9F2241"/>
                    </a:solidFill>
                  </a:tcPr>
                </a:tc>
                <a:tc>
                  <a:txBody>
                    <a:bodyPr/>
                    <a:lstStyle/>
                    <a:p>
                      <a:pPr algn="ctr">
                        <a:defRPr sz="1000" b="1">
                          <a:solidFill>
                            <a:srgbClr val="FFFFFF"/>
                          </a:solidFill>
                          <a:latin typeface="Montserrat"/>
                        </a:defRPr>
                      </a:pPr>
                      <a:r>
                        <a:t>Monto (mdp)</a:t>
                      </a:r>
                    </a:p>
                  </a:txBody>
                  <a:tcPr marL="3600" marR="3600" marT="3600" marB="3600" anchor="ctr">
                    <a:solidFill>
                      <a:srgbClr val="9F2241"/>
                    </a:solidFill>
                  </a:tcPr>
                </a:tc>
                <a:extLst>
                  <a:ext uri="{0D108BD9-81ED-4DB2-BD59-A6C34878D82A}">
                    <a16:rowId xmlns:a16="http://schemas.microsoft.com/office/drawing/2014/main" val="10000"/>
                  </a:ext>
                </a:extLst>
              </a:tr>
              <a:tr h="251999">
                <a:tc>
                  <a:txBody>
                    <a:bodyPr/>
                    <a:lstStyle/>
                    <a:p>
                      <a:pPr algn="l">
                        <a:lnSpc>
                          <a:spcPct val="100000"/>
                        </a:lnSpc>
                      </a:pPr>
                      <a:r>
                        <a:rPr sz="1000">
                          <a:latin typeface="Montserrat"/>
                        </a:rPr>
                        <a:t>Hospital General de Zona Manzanillo (72 camas)</a:t>
                      </a:r>
                    </a:p>
                  </a:txBody>
                  <a:tcPr marL="3600" marR="3600" marT="3600" marB="3600" anchor="ctr">
                    <a:solidFill>
                      <a:srgbClr val="FFFFFF"/>
                    </a:solidFill>
                  </a:tcPr>
                </a:tc>
                <a:tc>
                  <a:txBody>
                    <a:bodyPr/>
                    <a:lstStyle/>
                    <a:p>
                      <a:pPr algn="ctr">
                        <a:lnSpc>
                          <a:spcPct val="100000"/>
                        </a:lnSpc>
                      </a:pPr>
                      <a:r>
                        <a:rPr sz="1000">
                          <a:latin typeface="Montserrat"/>
                        </a:rPr>
                        <a:t>$1,645.2</a:t>
                      </a:r>
                    </a:p>
                  </a:txBody>
                  <a:tcPr marL="3600" marR="3600" marT="3600" marB="3600" anchor="ctr">
                    <a:solidFill>
                      <a:srgbClr val="FFFFFF"/>
                    </a:solidFill>
                  </a:tcPr>
                </a:tc>
                <a:extLst>
                  <a:ext uri="{0D108BD9-81ED-4DB2-BD59-A6C34878D82A}">
                    <a16:rowId xmlns:a16="http://schemas.microsoft.com/office/drawing/2014/main" val="10001"/>
                  </a:ext>
                </a:extLst>
              </a:tr>
            </a:tbl>
          </a:graphicData>
        </a:graphic>
      </p:graphicFrame>
      <p:graphicFrame>
        <p:nvGraphicFramePr>
          <p:cNvPr id="38" name="Table 11">
            <a:extLst>
              <a:ext uri="{FF2B5EF4-FFF2-40B4-BE49-F238E27FC236}">
                <a16:creationId xmlns:a16="http://schemas.microsoft.com/office/drawing/2014/main" id="{21663870-74C8-D606-6E27-C5401F0FAE89}"/>
              </a:ext>
            </a:extLst>
          </p:cNvPr>
          <p:cNvGraphicFramePr>
            <a:graphicFrameLocks noGrp="1"/>
          </p:cNvGraphicFramePr>
          <p:nvPr>
            <p:extLst>
              <p:ext uri="{D42A27DB-BD31-4B8C-83A1-F6EECF244321}">
                <p14:modId xmlns:p14="http://schemas.microsoft.com/office/powerpoint/2010/main" val="3874286387"/>
              </p:ext>
            </p:extLst>
          </p:nvPr>
        </p:nvGraphicFramePr>
        <p:xfrm>
          <a:off x="1785600" y="7715147"/>
          <a:ext cx="5396400" cy="503998"/>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251999">
                <a:tc>
                  <a:txBody>
                    <a:bodyPr/>
                    <a:lstStyle/>
                    <a:p>
                      <a:pPr algn="ctr">
                        <a:defRPr sz="1000" b="1">
                          <a:solidFill>
                            <a:srgbClr val="FFFFFF"/>
                          </a:solidFill>
                          <a:latin typeface="Montserrat"/>
                        </a:defRPr>
                      </a:pPr>
                      <a:r>
                        <a:t>Obras de Conservación 2026</a:t>
                      </a:r>
                    </a:p>
                  </a:txBody>
                  <a:tcPr marL="3600" marR="3600" marT="3600" marB="3600" anchor="ctr">
                    <a:solidFill>
                      <a:srgbClr val="9F2241"/>
                    </a:solidFill>
                  </a:tcPr>
                </a:tc>
                <a:tc>
                  <a:txBody>
                    <a:bodyPr/>
                    <a:lstStyle/>
                    <a:p>
                      <a:pPr algn="ctr">
                        <a:defRPr sz="1000" b="1">
                          <a:solidFill>
                            <a:srgbClr val="FFFFFF"/>
                          </a:solidFill>
                          <a:latin typeface="Montserrat"/>
                        </a:defRPr>
                      </a:pPr>
                      <a:r>
                        <a:t>Monto (mdp)</a:t>
                      </a:r>
                    </a:p>
                  </a:txBody>
                  <a:tcPr marL="3600" marR="3600" marT="3600" marB="3600" anchor="ctr">
                    <a:solidFill>
                      <a:srgbClr val="9F2241"/>
                    </a:solidFill>
                  </a:tcPr>
                </a:tc>
                <a:extLst>
                  <a:ext uri="{0D108BD9-81ED-4DB2-BD59-A6C34878D82A}">
                    <a16:rowId xmlns:a16="http://schemas.microsoft.com/office/drawing/2014/main" val="10000"/>
                  </a:ext>
                </a:extLst>
              </a:tr>
              <a:tr h="251999">
                <a:tc>
                  <a:txBody>
                    <a:bodyPr/>
                    <a:lstStyle/>
                    <a:p>
                      <a:pPr algn="l">
                        <a:lnSpc>
                          <a:spcPct val="100000"/>
                        </a:lnSpc>
                      </a:pPr>
                      <a:r>
                        <a:rPr sz="1000" err="1">
                          <a:latin typeface="Montserrat"/>
                        </a:rPr>
                        <a:t>Mantenimiento</a:t>
                      </a:r>
                      <a:r>
                        <a:rPr sz="1000">
                          <a:latin typeface="Montserrat"/>
                        </a:rPr>
                        <a:t> de </a:t>
                      </a:r>
                      <a:r>
                        <a:rPr sz="1000" err="1">
                          <a:latin typeface="Montserrat"/>
                        </a:rPr>
                        <a:t>infraestructura</a:t>
                      </a:r>
                      <a:r>
                        <a:rPr sz="1000">
                          <a:latin typeface="Montserrat"/>
                        </a:rPr>
                        <a:t> (PAO 2026)</a:t>
                      </a:r>
                    </a:p>
                  </a:txBody>
                  <a:tcPr marL="3600" marR="3600" marT="3600" marB="3600" anchor="ctr">
                    <a:solidFill>
                      <a:srgbClr val="FFFFFF"/>
                    </a:solidFill>
                  </a:tcPr>
                </a:tc>
                <a:tc>
                  <a:txBody>
                    <a:bodyPr/>
                    <a:lstStyle/>
                    <a:p>
                      <a:pPr algn="ctr">
                        <a:lnSpc>
                          <a:spcPct val="100000"/>
                        </a:lnSpc>
                      </a:pPr>
                      <a:r>
                        <a:rPr sz="1000">
                          <a:latin typeface="Montserrat"/>
                        </a:rPr>
                        <a:t>$52.7</a:t>
                      </a:r>
                    </a:p>
                  </a:txBody>
                  <a:tcPr marL="3600" marR="3600" marT="3600" marB="3600" anchor="ctr">
                    <a:solidFill>
                      <a:srgbClr val="FFFFFF"/>
                    </a:solidFill>
                  </a:tcPr>
                </a:tc>
                <a:extLst>
                  <a:ext uri="{0D108BD9-81ED-4DB2-BD59-A6C34878D82A}">
                    <a16:rowId xmlns:a16="http://schemas.microsoft.com/office/drawing/2014/main" val="10001"/>
                  </a:ext>
                </a:extLst>
              </a:tr>
            </a:tbl>
          </a:graphicData>
        </a:graphic>
      </p:graphicFrame>
      <p:graphicFrame>
        <p:nvGraphicFramePr>
          <p:cNvPr id="40" name="Table 12">
            <a:extLst>
              <a:ext uri="{FF2B5EF4-FFF2-40B4-BE49-F238E27FC236}">
                <a16:creationId xmlns:a16="http://schemas.microsoft.com/office/drawing/2014/main" id="{8E327579-09D3-4D0C-72B6-357AE578AD9E}"/>
              </a:ext>
            </a:extLst>
          </p:cNvPr>
          <p:cNvGraphicFramePr>
            <a:graphicFrameLocks noGrp="1"/>
          </p:cNvGraphicFramePr>
          <p:nvPr>
            <p:extLst>
              <p:ext uri="{D42A27DB-BD31-4B8C-83A1-F6EECF244321}">
                <p14:modId xmlns:p14="http://schemas.microsoft.com/office/powerpoint/2010/main" val="3061618966"/>
              </p:ext>
            </p:extLst>
          </p:nvPr>
        </p:nvGraphicFramePr>
        <p:xfrm>
          <a:off x="1785600" y="8246750"/>
          <a:ext cx="5396400" cy="643336"/>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265337">
                <a:tc>
                  <a:txBody>
                    <a:bodyPr/>
                    <a:lstStyle/>
                    <a:p>
                      <a:pPr algn="ctr">
                        <a:defRPr sz="1000" b="1">
                          <a:solidFill>
                            <a:srgbClr val="FFFFFF"/>
                          </a:solidFill>
                          <a:latin typeface="Montserrat"/>
                        </a:defRPr>
                      </a:pPr>
                      <a:r>
                        <a:rPr err="1"/>
                        <a:t>Equipamiento</a:t>
                      </a:r>
                      <a:r>
                        <a:t> </a:t>
                      </a:r>
                      <a:r>
                        <a:rPr err="1"/>
                        <a:t>Electromecánico</a:t>
                      </a:r>
                      <a:r>
                        <a:t> 2026</a:t>
                      </a:r>
                    </a:p>
                  </a:txBody>
                  <a:tcPr marL="3600" marR="3600" marT="3600" marB="3600" anchor="ctr">
                    <a:solidFill>
                      <a:srgbClr val="9F2241"/>
                    </a:solidFill>
                  </a:tcPr>
                </a:tc>
                <a:tc>
                  <a:txBody>
                    <a:bodyPr/>
                    <a:lstStyle/>
                    <a:p>
                      <a:pPr algn="ctr">
                        <a:defRPr sz="1000" b="1">
                          <a:solidFill>
                            <a:srgbClr val="FFFFFF"/>
                          </a:solidFill>
                          <a:latin typeface="Montserrat"/>
                        </a:defRPr>
                      </a:pPr>
                      <a:r>
                        <a:t>Monto (mdp)</a:t>
                      </a:r>
                    </a:p>
                  </a:txBody>
                  <a:tcPr marL="3600" marR="3600" marT="3600" marB="3600" anchor="ctr">
                    <a:solidFill>
                      <a:srgbClr val="9F2241"/>
                    </a:solidFill>
                  </a:tcPr>
                </a:tc>
                <a:extLst>
                  <a:ext uri="{0D108BD9-81ED-4DB2-BD59-A6C34878D82A}">
                    <a16:rowId xmlns:a16="http://schemas.microsoft.com/office/drawing/2014/main" val="10000"/>
                  </a:ext>
                </a:extLst>
              </a:tr>
              <a:tr h="377999">
                <a:tc>
                  <a:txBody>
                    <a:bodyPr/>
                    <a:lstStyle/>
                    <a:p>
                      <a:pPr algn="l">
                        <a:lnSpc>
                          <a:spcPct val="100000"/>
                        </a:lnSpc>
                      </a:pPr>
                      <a:r>
                        <a:rPr sz="1000">
                          <a:latin typeface="Montserrat"/>
                        </a:rPr>
                        <a:t>3 </a:t>
                      </a:r>
                      <a:r>
                        <a:rPr sz="1000" err="1">
                          <a:latin typeface="Montserrat"/>
                        </a:rPr>
                        <a:t>Equipos</a:t>
                      </a:r>
                      <a:r>
                        <a:rPr sz="1000">
                          <a:latin typeface="Montserrat"/>
                        </a:rPr>
                        <a:t> </a:t>
                      </a:r>
                      <a:r>
                        <a:rPr sz="1000" err="1">
                          <a:latin typeface="Montserrat"/>
                        </a:rPr>
                        <a:t>electromecánicos</a:t>
                      </a:r>
                      <a:r>
                        <a:rPr sz="1000">
                          <a:latin typeface="Montserrat"/>
                        </a:rPr>
                        <a:t> para 1 </a:t>
                      </a:r>
                      <a:r>
                        <a:rPr sz="1000" err="1">
                          <a:latin typeface="Montserrat"/>
                        </a:rPr>
                        <a:t>unidad</a:t>
                      </a:r>
                      <a:r>
                        <a:rPr sz="1000">
                          <a:latin typeface="Montserrat"/>
                        </a:rPr>
                        <a:t> </a:t>
                      </a:r>
                      <a:r>
                        <a:rPr sz="1000" err="1">
                          <a:latin typeface="Montserrat"/>
                        </a:rPr>
                        <a:t>médica</a:t>
                      </a:r>
                      <a:r>
                        <a:rPr sz="1000">
                          <a:latin typeface="Montserrat"/>
                        </a:rPr>
                        <a:t>, 2 </a:t>
                      </a:r>
                      <a:r>
                        <a:rPr sz="1000" err="1">
                          <a:latin typeface="Montserrat"/>
                        </a:rPr>
                        <a:t>lavadoras</a:t>
                      </a:r>
                      <a:r>
                        <a:rPr sz="1000">
                          <a:latin typeface="Montserrat"/>
                        </a:rPr>
                        <a:t> y 1 </a:t>
                      </a:r>
                      <a:r>
                        <a:rPr sz="1000" err="1">
                          <a:latin typeface="Montserrat"/>
                        </a:rPr>
                        <a:t>secadora</a:t>
                      </a:r>
                      <a:endParaRPr sz="1000">
                        <a:latin typeface="Montserrat"/>
                      </a:endParaRPr>
                    </a:p>
                  </a:txBody>
                  <a:tcPr marL="3600" marR="3600" marT="3600" marB="3600" anchor="ctr">
                    <a:solidFill>
                      <a:srgbClr val="FFFFFF"/>
                    </a:solidFill>
                  </a:tcPr>
                </a:tc>
                <a:tc>
                  <a:txBody>
                    <a:bodyPr/>
                    <a:lstStyle/>
                    <a:p>
                      <a:pPr algn="ctr">
                        <a:lnSpc>
                          <a:spcPct val="100000"/>
                        </a:lnSpc>
                      </a:pPr>
                      <a:r>
                        <a:rPr sz="1000">
                          <a:latin typeface="Montserrat"/>
                        </a:rPr>
                        <a:t>$7.5</a:t>
                      </a:r>
                    </a:p>
                  </a:txBody>
                  <a:tcPr marL="3600" marR="3600" marT="3600" marB="3600" anchor="ctr">
                    <a:solidFill>
                      <a:srgbClr val="FFFFFF"/>
                    </a:solidFill>
                  </a:tcPr>
                </a:tc>
                <a:extLst>
                  <a:ext uri="{0D108BD9-81ED-4DB2-BD59-A6C34878D82A}">
                    <a16:rowId xmlns:a16="http://schemas.microsoft.com/office/drawing/2014/main" val="10001"/>
                  </a:ext>
                </a:extLst>
              </a:tr>
            </a:tbl>
          </a:graphicData>
        </a:graphic>
      </p:graphicFrame>
      <p:sp>
        <p:nvSpPr>
          <p:cNvPr id="42" name="TextBox 13">
            <a:extLst>
              <a:ext uri="{FF2B5EF4-FFF2-40B4-BE49-F238E27FC236}">
                <a16:creationId xmlns:a16="http://schemas.microsoft.com/office/drawing/2014/main" id="{015E2F69-E69E-5D7A-2611-FBB060373777}"/>
              </a:ext>
            </a:extLst>
          </p:cNvPr>
          <p:cNvSpPr txBox="1"/>
          <p:nvPr/>
        </p:nvSpPr>
        <p:spPr>
          <a:xfrm>
            <a:off x="5781600" y="6486422"/>
            <a:ext cx="1306800" cy="338400"/>
          </a:xfrm>
          <a:prstGeom prst="rect">
            <a:avLst/>
          </a:prstGeom>
          <a:noFill/>
        </p:spPr>
        <p:txBody>
          <a:bodyPr wrap="none">
            <a:spAutoFit/>
          </a:bodyPr>
          <a:lstStyle/>
          <a:p>
            <a:pPr algn="ctr">
              <a:defRPr sz="1400" b="1">
                <a:solidFill>
                  <a:srgbClr val="FFFFFF"/>
                </a:solidFill>
                <a:latin typeface="Montserrat"/>
              </a:defRPr>
            </a:pPr>
            <a:r>
              <a:t>1,705.4</a:t>
            </a:r>
          </a:p>
          <a:p>
            <a:pPr algn="ctr">
              <a:defRPr sz="1400" b="1">
                <a:solidFill>
                  <a:srgbClr val="FFFFFF"/>
                </a:solidFill>
                <a:latin typeface="Montserrat"/>
              </a:defRPr>
            </a:pPr>
            <a:r>
              <a:t>mdp</a:t>
            </a:r>
          </a:p>
        </p:txBody>
      </p:sp>
      <p:sp>
        <p:nvSpPr>
          <p:cNvPr id="44" name="CuadroTexto 9">
            <a:extLst>
              <a:ext uri="{FF2B5EF4-FFF2-40B4-BE49-F238E27FC236}">
                <a16:creationId xmlns:a16="http://schemas.microsoft.com/office/drawing/2014/main" id="{1F6B6BB3-1071-C765-7E54-9CD306C7AB06}"/>
              </a:ext>
            </a:extLst>
          </p:cNvPr>
          <p:cNvSpPr txBox="1"/>
          <p:nvPr/>
        </p:nvSpPr>
        <p:spPr>
          <a:xfrm>
            <a:off x="0" y="7081588"/>
            <a:ext cx="1785601"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err="1">
                <a:solidFill>
                  <a:srgbClr val="A42145"/>
                </a:solidFill>
                <a:latin typeface="Montserrat"/>
                <a:ea typeface="Montserrat"/>
                <a:cs typeface="Montserrat"/>
              </a:rPr>
              <a:t>Construcción</a:t>
            </a:r>
            <a:r>
              <a:rPr lang="en-US" sz="1200" b="1" i="0" u="none" strike="noStrike">
                <a:solidFill>
                  <a:srgbClr val="A42145"/>
                </a:solidFill>
                <a:latin typeface="Montserrat"/>
                <a:ea typeface="Montserrat"/>
                <a:cs typeface="Montserrat"/>
              </a:rPr>
              <a:t>: </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extLst>
              <p:ext uri="{D42A27DB-BD31-4B8C-83A1-F6EECF244321}">
                <p14:modId xmlns:p14="http://schemas.microsoft.com/office/powerpoint/2010/main" val="144101923"/>
              </p:ext>
            </p:extLst>
          </p:nvPr>
        </p:nvGraphicFramePr>
        <p:xfrm>
          <a:off x="272202" y="71062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9F2241"/>
                          </a:solidFill>
                          <a:latin typeface="Montserrat"/>
                          <a:ea typeface="Montserrat"/>
                          <a:cs typeface="Montserrat"/>
                          <a:sym typeface="Montserrat"/>
                        </a:rPr>
                        <a:t>Acciones en planeación</a:t>
                      </a:r>
                      <a:endParaRPr sz="2100" b="1" u="none" strike="noStrike" cap="none">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extLst>
              <p:ext uri="{D42A27DB-BD31-4B8C-83A1-F6EECF244321}">
                <p14:modId xmlns:p14="http://schemas.microsoft.com/office/powerpoint/2010/main" val="363450226"/>
              </p:ext>
            </p:extLst>
          </p:nvPr>
        </p:nvGraphicFramePr>
        <p:xfrm>
          <a:off x="256086" y="5359618"/>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A42145"/>
                          </a:solidFill>
                          <a:latin typeface="Montserrat"/>
                          <a:ea typeface="Montserrat"/>
                          <a:cs typeface="Montserrat"/>
                          <a:sym typeface="Montserrat"/>
                        </a:rPr>
                        <a:t>Propuestas </a:t>
                      </a:r>
                      <a:r>
                        <a:rPr lang="es" sz="2100" b="1">
                          <a:solidFill>
                            <a:srgbClr val="A42145"/>
                          </a:solidFill>
                          <a:latin typeface="Montserrat"/>
                          <a:ea typeface="Montserrat"/>
                          <a:cs typeface="Montserrat"/>
                          <a:sym typeface="Montserrat"/>
                        </a:rPr>
                        <a:t>en</a:t>
                      </a:r>
                      <a:r>
                        <a:rPr lang="es" sz="2100" b="1" u="none" strike="noStrike" cap="none">
                          <a:solidFill>
                            <a:srgbClr val="A42145"/>
                          </a:solidFill>
                          <a:latin typeface="Montserrat"/>
                          <a:ea typeface="Montserrat"/>
                          <a:cs typeface="Montserrat"/>
                          <a:sym typeface="Montserrat"/>
                        </a:rPr>
                        <a:t> valoración</a:t>
                      </a:r>
                      <a:endParaRPr sz="2100" b="1" u="none" strike="noStrike" cap="none">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graphicFrame>
        <p:nvGraphicFramePr>
          <p:cNvPr id="20" name="Table 19"/>
          <p:cNvGraphicFramePr>
            <a:graphicFrameLocks noGrp="1"/>
          </p:cNvGraphicFramePr>
          <p:nvPr>
            <p:extLst>
              <p:ext uri="{D42A27DB-BD31-4B8C-83A1-F6EECF244321}">
                <p14:modId xmlns:p14="http://schemas.microsoft.com/office/powerpoint/2010/main" val="340894341"/>
              </p:ext>
            </p:extLst>
          </p:nvPr>
        </p:nvGraphicFramePr>
        <p:xfrm>
          <a:off x="691200" y="1228400"/>
          <a:ext cx="6390000" cy="2683721"/>
        </p:xfrm>
        <a:graphic>
          <a:graphicData uri="http://schemas.openxmlformats.org/drawingml/2006/table">
            <a:tbl>
              <a:tblPr firstRow="1" bandRow="1">
                <a:tableStyleId>{5C22544A-7EE6-4342-B048-85BDC9FD1C3A}</a:tableStyleId>
              </a:tblPr>
              <a:tblGrid>
                <a:gridCol w="504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tblGrid>
              <a:tr h="254164">
                <a:tc>
                  <a:txBody>
                    <a:bodyPr/>
                    <a:lstStyle/>
                    <a:p>
                      <a:pPr algn="ctr">
                        <a:defRPr sz="1000" b="1">
                          <a:solidFill>
                            <a:srgbClr val="FFFFFF"/>
                          </a:solidFill>
                          <a:latin typeface="Montserrat"/>
                        </a:defRPr>
                      </a:pPr>
                      <a:r>
                        <a:t>Obras de Infraestructura</a:t>
                      </a:r>
                    </a:p>
                  </a:txBody>
                  <a:tcPr anchor="ctr">
                    <a:solidFill>
                      <a:srgbClr val="9F2241"/>
                    </a:solidFill>
                  </a:tcPr>
                </a:tc>
                <a:tc>
                  <a:txBody>
                    <a:bodyPr/>
                    <a:lstStyle/>
                    <a:p>
                      <a:pPr algn="ctr">
                        <a:defRPr sz="1000" b="1">
                          <a:solidFill>
                            <a:srgbClr val="FFFFFF"/>
                          </a:solidFill>
                          <a:latin typeface="Montserrat"/>
                        </a:defRPr>
                      </a:pPr>
                      <a:r>
                        <a:t>Monto (mdp)</a:t>
                      </a:r>
                    </a:p>
                  </a:txBody>
                  <a:tcPr anchor="ctr">
                    <a:solidFill>
                      <a:srgbClr val="9F2241"/>
                    </a:solidFill>
                  </a:tcPr>
                </a:tc>
                <a:extLst>
                  <a:ext uri="{0D108BD9-81ED-4DB2-BD59-A6C34878D82A}">
                    <a16:rowId xmlns:a16="http://schemas.microsoft.com/office/drawing/2014/main" val="10000"/>
                  </a:ext>
                </a:extLst>
              </a:tr>
              <a:tr h="254164">
                <a:tc>
                  <a:txBody>
                    <a:bodyPr/>
                    <a:lstStyle/>
                    <a:p>
                      <a:pPr algn="l">
                        <a:defRPr sz="1000">
                          <a:latin typeface="Montserrat"/>
                        </a:defRPr>
                      </a:pPr>
                      <a:r>
                        <a:rPr err="1"/>
                        <a:t>Construcción</a:t>
                      </a:r>
                      <a:r>
                        <a:t> del HGZ de 72 camas </a:t>
                      </a:r>
                      <a:r>
                        <a:rPr err="1"/>
                        <a:t>en</a:t>
                      </a:r>
                      <a:r>
                        <a:t> </a:t>
                      </a:r>
                      <a:r>
                        <a:rPr err="1"/>
                        <a:t>Tecomán</a:t>
                      </a:r>
                      <a:endParaRPr/>
                    </a:p>
                  </a:txBody>
                  <a:tcPr anchor="ctr">
                    <a:solidFill>
                      <a:srgbClr val="FFFFFF"/>
                    </a:solidFill>
                  </a:tcPr>
                </a:tc>
                <a:tc>
                  <a:txBody>
                    <a:bodyPr/>
                    <a:lstStyle/>
                    <a:p>
                      <a:pPr algn="ctr">
                        <a:defRPr sz="1000">
                          <a:latin typeface="Montserrat"/>
                        </a:defRPr>
                      </a:pPr>
                      <a:r>
                        <a:t>$2,562.0</a:t>
                      </a:r>
                    </a:p>
                  </a:txBody>
                  <a:tcPr anchor="ctr">
                    <a:solidFill>
                      <a:srgbClr val="FFFFFF"/>
                    </a:solidFill>
                  </a:tcPr>
                </a:tc>
                <a:extLst>
                  <a:ext uri="{0D108BD9-81ED-4DB2-BD59-A6C34878D82A}">
                    <a16:rowId xmlns:a16="http://schemas.microsoft.com/office/drawing/2014/main" val="10001"/>
                  </a:ext>
                </a:extLst>
              </a:tr>
              <a:tr h="254164">
                <a:tc>
                  <a:txBody>
                    <a:bodyPr/>
                    <a:lstStyle/>
                    <a:p>
                      <a:pPr algn="l">
                        <a:defRPr sz="1000">
                          <a:latin typeface="Montserrat"/>
                        </a:defRPr>
                      </a:pPr>
                      <a:r>
                        <a:t>Sustitución y Ampliación de UMF No. 18 a UMF Plus 14+7, Villa de Álvarez</a:t>
                      </a:r>
                    </a:p>
                  </a:txBody>
                  <a:tcPr anchor="ctr">
                    <a:solidFill>
                      <a:srgbClr val="D9D9D9"/>
                    </a:solidFill>
                  </a:tcPr>
                </a:tc>
                <a:tc>
                  <a:txBody>
                    <a:bodyPr/>
                    <a:lstStyle/>
                    <a:p>
                      <a:pPr algn="ctr">
                        <a:defRPr sz="1000">
                          <a:latin typeface="Montserrat"/>
                        </a:defRPr>
                      </a:pPr>
                      <a:r>
                        <a:t>$444.5</a:t>
                      </a:r>
                    </a:p>
                  </a:txBody>
                  <a:tcPr anchor="ctr">
                    <a:solidFill>
                      <a:srgbClr val="D9D9D9"/>
                    </a:solidFill>
                  </a:tcPr>
                </a:tc>
                <a:extLst>
                  <a:ext uri="{0D108BD9-81ED-4DB2-BD59-A6C34878D82A}">
                    <a16:rowId xmlns:a16="http://schemas.microsoft.com/office/drawing/2014/main" val="10002"/>
                  </a:ext>
                </a:extLst>
              </a:tr>
              <a:tr h="254164">
                <a:tc>
                  <a:txBody>
                    <a:bodyPr/>
                    <a:lstStyle/>
                    <a:p>
                      <a:pPr algn="l">
                        <a:defRPr sz="1000">
                          <a:latin typeface="Montserrat"/>
                        </a:defRPr>
                      </a:pPr>
                      <a:r>
                        <a:t>UMF Plus Manzanillo 10+5 </a:t>
                      </a:r>
                      <a:r>
                        <a:rPr err="1"/>
                        <a:t>consultorios</a:t>
                      </a:r>
                      <a:r>
                        <a:rPr lang="es-MX"/>
                        <a:t> </a:t>
                      </a:r>
                      <a:r>
                        <a:rPr lang="es-MX" baseline="30000"/>
                        <a:t>1</a:t>
                      </a:r>
                      <a:endParaRPr baseline="30000"/>
                    </a:p>
                  </a:txBody>
                  <a:tcPr anchor="ctr">
                    <a:solidFill>
                      <a:srgbClr val="FFFFFF"/>
                    </a:solidFill>
                  </a:tcPr>
                </a:tc>
                <a:tc>
                  <a:txBody>
                    <a:bodyPr/>
                    <a:lstStyle/>
                    <a:p>
                      <a:pPr algn="ctr">
                        <a:defRPr sz="1000">
                          <a:latin typeface="Montserrat"/>
                        </a:defRPr>
                      </a:pPr>
                      <a:r>
                        <a:t>$444.5</a:t>
                      </a:r>
                    </a:p>
                  </a:txBody>
                  <a:tcPr anchor="ctr">
                    <a:solidFill>
                      <a:srgbClr val="FFFFFF"/>
                    </a:solidFill>
                  </a:tcPr>
                </a:tc>
                <a:extLst>
                  <a:ext uri="{0D108BD9-81ED-4DB2-BD59-A6C34878D82A}">
                    <a16:rowId xmlns:a16="http://schemas.microsoft.com/office/drawing/2014/main" val="10003"/>
                  </a:ext>
                </a:extLst>
              </a:tr>
              <a:tr h="254164">
                <a:tc>
                  <a:txBody>
                    <a:bodyPr/>
                    <a:lstStyle/>
                    <a:p>
                      <a:pPr algn="l">
                        <a:defRPr sz="1000">
                          <a:latin typeface="Montserrat"/>
                        </a:defRPr>
                      </a:pPr>
                      <a:r>
                        <a:t>Servicio de Resonancia Magnética HGZ 1, Villa de Álvarez</a:t>
                      </a:r>
                    </a:p>
                  </a:txBody>
                  <a:tcPr anchor="ctr">
                    <a:solidFill>
                      <a:srgbClr val="D9D9D9"/>
                    </a:solidFill>
                  </a:tcPr>
                </a:tc>
                <a:tc>
                  <a:txBody>
                    <a:bodyPr/>
                    <a:lstStyle/>
                    <a:p>
                      <a:pPr algn="ctr">
                        <a:defRPr sz="1000">
                          <a:latin typeface="Montserrat"/>
                        </a:defRPr>
                      </a:pPr>
                      <a:r>
                        <a:t>$65.5</a:t>
                      </a:r>
                    </a:p>
                  </a:txBody>
                  <a:tcPr anchor="ctr">
                    <a:solidFill>
                      <a:srgbClr val="D9D9D9"/>
                    </a:solidFill>
                  </a:tcPr>
                </a:tc>
                <a:extLst>
                  <a:ext uri="{0D108BD9-81ED-4DB2-BD59-A6C34878D82A}">
                    <a16:rowId xmlns:a16="http://schemas.microsoft.com/office/drawing/2014/main" val="10004"/>
                  </a:ext>
                </a:extLst>
              </a:tr>
              <a:tr h="254164">
                <a:tc>
                  <a:txBody>
                    <a:bodyPr/>
                    <a:lstStyle/>
                    <a:p>
                      <a:pPr algn="l">
                        <a:defRPr sz="1000">
                          <a:latin typeface="Montserrat"/>
                        </a:defRPr>
                      </a:pPr>
                      <a:r>
                        <a:t>Sustitución de equipo de Tomografía HGZ 1, Villa de Álvare</a:t>
                      </a:r>
                    </a:p>
                  </a:txBody>
                  <a:tcPr anchor="ctr">
                    <a:solidFill>
                      <a:srgbClr val="FFFFFF"/>
                    </a:solidFill>
                  </a:tcPr>
                </a:tc>
                <a:tc>
                  <a:txBody>
                    <a:bodyPr/>
                    <a:lstStyle/>
                    <a:p>
                      <a:pPr algn="ctr">
                        <a:defRPr sz="1000">
                          <a:latin typeface="Montserrat"/>
                        </a:defRPr>
                      </a:pPr>
                      <a:r>
                        <a:t>$46.9</a:t>
                      </a:r>
                    </a:p>
                  </a:txBody>
                  <a:tcPr anchor="ctr">
                    <a:solidFill>
                      <a:srgbClr val="FFFFFF"/>
                    </a:solidFill>
                  </a:tcPr>
                </a:tc>
                <a:extLst>
                  <a:ext uri="{0D108BD9-81ED-4DB2-BD59-A6C34878D82A}">
                    <a16:rowId xmlns:a16="http://schemas.microsoft.com/office/drawing/2014/main" val="10005"/>
                  </a:ext>
                </a:extLst>
              </a:tr>
              <a:tr h="254164">
                <a:tc>
                  <a:txBody>
                    <a:bodyPr/>
                    <a:lstStyle/>
                    <a:p>
                      <a:pPr algn="l">
                        <a:defRPr sz="1000">
                          <a:latin typeface="Montserrat"/>
                        </a:defRPr>
                      </a:pPr>
                      <a:r>
                        <a:rPr err="1"/>
                        <a:t>Fortalecimiento</a:t>
                      </a:r>
                      <a:r>
                        <a:t> de </a:t>
                      </a:r>
                      <a:r>
                        <a:rPr err="1"/>
                        <a:t>urgencias</a:t>
                      </a:r>
                      <a:r>
                        <a:t> UMF Colima</a:t>
                      </a:r>
                      <a:r>
                        <a:rPr lang="es-MX"/>
                        <a:t> </a:t>
                      </a:r>
                      <a:r>
                        <a:rPr lang="es-MX" baseline="30000"/>
                        <a:t>2</a:t>
                      </a:r>
                      <a:endParaRPr baseline="30000"/>
                    </a:p>
                  </a:txBody>
                  <a:tcPr anchor="ctr">
                    <a:solidFill>
                      <a:srgbClr val="D9D9D9"/>
                    </a:solidFill>
                  </a:tcPr>
                </a:tc>
                <a:tc>
                  <a:txBody>
                    <a:bodyPr/>
                    <a:lstStyle/>
                    <a:p>
                      <a:pPr algn="ctr">
                        <a:defRPr sz="1000">
                          <a:latin typeface="Montserrat"/>
                        </a:defRPr>
                      </a:pPr>
                      <a:r>
                        <a:t>$9.1</a:t>
                      </a:r>
                    </a:p>
                  </a:txBody>
                  <a:tcPr anchor="ctr">
                    <a:solidFill>
                      <a:srgbClr val="D9D9D9"/>
                    </a:solidFill>
                  </a:tcPr>
                </a:tc>
                <a:extLst>
                  <a:ext uri="{0D108BD9-81ED-4DB2-BD59-A6C34878D82A}">
                    <a16:rowId xmlns:a16="http://schemas.microsoft.com/office/drawing/2014/main" val="10006"/>
                  </a:ext>
                </a:extLst>
              </a:tr>
              <a:tr h="254164">
                <a:tc>
                  <a:txBody>
                    <a:bodyPr/>
                    <a:lstStyle/>
                    <a:p>
                      <a:pPr algn="l">
                        <a:defRPr sz="1000">
                          <a:latin typeface="Montserrat"/>
                        </a:defRPr>
                      </a:pPr>
                      <a:r>
                        <a:t>Centro de Colecta de Sangrado y Transfusión de los Laboratorios HGZ No. 10</a:t>
                      </a:r>
                    </a:p>
                  </a:txBody>
                  <a:tcPr anchor="ctr">
                    <a:solidFill>
                      <a:srgbClr val="FFFFFF"/>
                    </a:solidFill>
                  </a:tcPr>
                </a:tc>
                <a:tc>
                  <a:txBody>
                    <a:bodyPr/>
                    <a:lstStyle/>
                    <a:p>
                      <a:pPr algn="ctr">
                        <a:defRPr sz="1000">
                          <a:latin typeface="Montserrat"/>
                        </a:defRPr>
                      </a:pPr>
                      <a:r>
                        <a:t>$4.8</a:t>
                      </a:r>
                    </a:p>
                  </a:txBody>
                  <a:tcPr anchor="ctr">
                    <a:solidFill>
                      <a:srgbClr val="FFFFFF"/>
                    </a:solidFill>
                  </a:tcPr>
                </a:tc>
                <a:extLst>
                  <a:ext uri="{0D108BD9-81ED-4DB2-BD59-A6C34878D82A}">
                    <a16:rowId xmlns:a16="http://schemas.microsoft.com/office/drawing/2014/main" val="10007"/>
                  </a:ext>
                </a:extLst>
              </a:tr>
              <a:tr h="322154">
                <a:tc>
                  <a:txBody>
                    <a:bodyPr/>
                    <a:lstStyle/>
                    <a:p>
                      <a:pPr algn="l">
                        <a:defRPr sz="1000">
                          <a:latin typeface="Montserrat"/>
                        </a:defRPr>
                      </a:pPr>
                      <a:r>
                        <a:t>Centro de </a:t>
                      </a:r>
                      <a:r>
                        <a:rPr err="1"/>
                        <a:t>Colecta</a:t>
                      </a:r>
                      <a:r>
                        <a:t> de Sangrado y </a:t>
                      </a:r>
                      <a:r>
                        <a:rPr err="1"/>
                        <a:t>Transfusión</a:t>
                      </a:r>
                      <a:r>
                        <a:t> de </a:t>
                      </a:r>
                      <a:r>
                        <a:rPr err="1"/>
                        <a:t>los</a:t>
                      </a:r>
                      <a:r>
                        <a:t> Laboratorios HGSZ/MF No. 4</a:t>
                      </a:r>
                    </a:p>
                  </a:txBody>
                  <a:tcPr anchor="ctr">
                    <a:solidFill>
                      <a:srgbClr val="D9D9D9"/>
                    </a:solidFill>
                  </a:tcPr>
                </a:tc>
                <a:tc>
                  <a:txBody>
                    <a:bodyPr/>
                    <a:lstStyle/>
                    <a:p>
                      <a:pPr algn="ctr">
                        <a:defRPr sz="1000">
                          <a:latin typeface="Montserrat"/>
                        </a:defRPr>
                      </a:pPr>
                      <a:r>
                        <a:t>$1.5</a:t>
                      </a:r>
                    </a:p>
                  </a:txBody>
                  <a:tcPr anchor="ctr">
                    <a:solidFill>
                      <a:srgbClr val="D9D9D9"/>
                    </a:solidFill>
                  </a:tcPr>
                </a:tc>
                <a:extLst>
                  <a:ext uri="{0D108BD9-81ED-4DB2-BD59-A6C34878D82A}">
                    <a16:rowId xmlns:a16="http://schemas.microsoft.com/office/drawing/2014/main" val="10008"/>
                  </a:ext>
                </a:extLst>
              </a:tr>
              <a:tr h="254169">
                <a:tc>
                  <a:txBody>
                    <a:bodyPr/>
                    <a:lstStyle/>
                    <a:p>
                      <a:pPr algn="ctr">
                        <a:defRPr sz="1000" b="1">
                          <a:solidFill>
                            <a:srgbClr val="FFFFFF"/>
                          </a:solidFill>
                          <a:latin typeface="Montserrat"/>
                        </a:defRPr>
                      </a:pPr>
                      <a:r>
                        <a:rPr lang="es-MX"/>
                        <a:t>Subtotal</a:t>
                      </a:r>
                      <a:endParaRPr/>
                    </a:p>
                  </a:txBody>
                  <a:tcPr anchor="ctr">
                    <a:solidFill>
                      <a:srgbClr val="9F2241"/>
                    </a:solidFill>
                  </a:tcPr>
                </a:tc>
                <a:tc>
                  <a:txBody>
                    <a:bodyPr/>
                    <a:lstStyle/>
                    <a:p>
                      <a:pPr algn="ctr">
                        <a:defRPr sz="1000" b="1">
                          <a:solidFill>
                            <a:srgbClr val="FFFFFF"/>
                          </a:solidFill>
                          <a:latin typeface="Montserrat"/>
                        </a:defRPr>
                      </a:pPr>
                      <a:r>
                        <a:t>$3,578.8</a:t>
                      </a:r>
                    </a:p>
                  </a:txBody>
                  <a:tcPr anchor="ctr">
                    <a:solidFill>
                      <a:srgbClr val="9F2241"/>
                    </a:solidFill>
                  </a:tcPr>
                </a:tc>
                <a:extLst>
                  <a:ext uri="{0D108BD9-81ED-4DB2-BD59-A6C34878D82A}">
                    <a16:rowId xmlns:a16="http://schemas.microsoft.com/office/drawing/2014/main" val="10009"/>
                  </a:ext>
                </a:extLst>
              </a:tr>
            </a:tbl>
          </a:graphicData>
        </a:graphic>
      </p:graphicFrame>
      <p:sp>
        <p:nvSpPr>
          <p:cNvPr id="21" name="TextBox 20"/>
          <p:cNvSpPr txBox="1"/>
          <p:nvPr/>
        </p:nvSpPr>
        <p:spPr>
          <a:xfrm>
            <a:off x="5936399" y="663200"/>
            <a:ext cx="1306800" cy="338400"/>
          </a:xfrm>
          <a:prstGeom prst="rect">
            <a:avLst/>
          </a:prstGeom>
          <a:noFill/>
        </p:spPr>
        <p:txBody>
          <a:bodyPr wrap="none">
            <a:spAutoFit/>
          </a:bodyPr>
          <a:lstStyle/>
          <a:p>
            <a:pPr algn="ctr">
              <a:defRPr sz="1400" b="1">
                <a:solidFill>
                  <a:srgbClr val="FFFFFF"/>
                </a:solidFill>
                <a:latin typeface="Montserrat"/>
              </a:defRPr>
            </a:pPr>
            <a:r>
              <a:t>3,578.8 mdp</a:t>
            </a:r>
          </a:p>
        </p:txBody>
      </p:sp>
      <p:graphicFrame>
        <p:nvGraphicFramePr>
          <p:cNvPr id="22" name="Table 21"/>
          <p:cNvGraphicFramePr>
            <a:graphicFrameLocks noGrp="1"/>
          </p:cNvGraphicFramePr>
          <p:nvPr>
            <p:extLst>
              <p:ext uri="{D42A27DB-BD31-4B8C-83A1-F6EECF244321}">
                <p14:modId xmlns:p14="http://schemas.microsoft.com/office/powerpoint/2010/main" val="254881745"/>
              </p:ext>
            </p:extLst>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628000">
                  <a:extLst>
                    <a:ext uri="{9D8B030D-6E8A-4147-A177-3AD203B41FA5}">
                      <a16:colId xmlns:a16="http://schemas.microsoft.com/office/drawing/2014/main" val="20002"/>
                    </a:ext>
                  </a:extLst>
                </a:gridCol>
              </a:tblGrid>
              <a:tr h="465300">
                <a:tc gridSpan="3">
                  <a:txBody>
                    <a:bodyPr/>
                    <a:lstStyle/>
                    <a:p>
                      <a:pPr algn="ctr">
                        <a:defRPr sz="1400" b="1">
                          <a:solidFill>
                            <a:srgbClr val="FFFFFF"/>
                          </a:solidFill>
                          <a:latin typeface="Montserrat"/>
                        </a:defRPr>
                      </a:pPr>
                      <a:r>
                        <a:t>2 </a:t>
                      </a:r>
                      <a:r>
                        <a:rPr err="1"/>
                        <a:t>Predios</a:t>
                      </a:r>
                      <a:r>
                        <a:t> </a:t>
                      </a:r>
                      <a:r>
                        <a:rPr err="1"/>
                        <a:t>en</a:t>
                      </a:r>
                      <a:r>
                        <a:t> </a:t>
                      </a:r>
                      <a:r>
                        <a:rPr err="1"/>
                        <a:t>ruta</a:t>
                      </a:r>
                      <a:r>
                        <a:t> 2026</a:t>
                      </a:r>
                    </a:p>
                  </a:txBody>
                  <a:tcPr marL="72000" marR="72000" anchor="ctr">
                    <a:solidFill>
                      <a:srgbClr val="705085"/>
                    </a:solidFill>
                  </a:tcPr>
                </a:tc>
                <a:tc hMerge="1">
                  <a:txBody>
                    <a:bodyPr/>
                    <a:lstStyle/>
                    <a:p>
                      <a:endParaRPr/>
                    </a:p>
                  </a:txBody>
                  <a:tcPr marL="72000" marR="72000" anchor="ctr"/>
                </a:tc>
                <a:tc hMerge="1">
                  <a:txBody>
                    <a:bodyPr/>
                    <a:lstStyle/>
                    <a:p>
                      <a:endParaRPr/>
                    </a:p>
                  </a:txBody>
                  <a:tcPr marL="72000" marR="72000" anchor="ctr"/>
                </a:tc>
                <a:extLst>
                  <a:ext uri="{0D108BD9-81ED-4DB2-BD59-A6C34878D82A}">
                    <a16:rowId xmlns:a16="http://schemas.microsoft.com/office/drawing/2014/main" val="10000"/>
                  </a:ext>
                </a:extLst>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endParaRPr/>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extLst>
                  <a:ext uri="{0D108BD9-81ED-4DB2-BD59-A6C34878D82A}">
                    <a16:rowId xmlns:a16="http://schemas.microsoft.com/office/drawing/2014/main" val="10001"/>
                  </a:ext>
                </a:extLst>
              </a:tr>
              <a:tr h="465300">
                <a:tc rowSpan="2">
                  <a:txBody>
                    <a:bodyPr/>
                    <a:lstStyle/>
                    <a:p>
                      <a:endParaRPr/>
                    </a:p>
                  </a:txBody>
                  <a:tcPr marL="72000" marR="72000" anchor="ctr">
                    <a:noFill/>
                  </a:tcPr>
                </a:tc>
                <a:tc>
                  <a:txBody>
                    <a:bodyPr/>
                    <a:lstStyle/>
                    <a:p>
                      <a:pPr algn="ctr">
                        <a:defRPr sz="1200" b="1">
                          <a:solidFill>
                            <a:srgbClr val="FFFFFF"/>
                          </a:solidFill>
                          <a:latin typeface="Montserrat"/>
                        </a:defRPr>
                      </a:pPr>
                      <a:r>
                        <a:t>1 Reserva IMSS</a:t>
                      </a:r>
                    </a:p>
                  </a:txBody>
                  <a:tcPr marL="72000" marR="72000" anchor="ctr">
                    <a:noFill/>
                  </a:tcPr>
                </a:tc>
                <a:tc>
                  <a:txBody>
                    <a:bodyPr/>
                    <a:lstStyle/>
                    <a:p>
                      <a:pPr algn="ctr">
                        <a:defRPr sz="1200" b="0">
                          <a:solidFill>
                            <a:srgbClr val="FFFFFF"/>
                          </a:solidFill>
                          <a:latin typeface="Montserrat"/>
                        </a:defRPr>
                      </a:pPr>
                      <a:r>
                        <a:t>Cuauhtémoc</a:t>
                      </a:r>
                    </a:p>
                  </a:txBody>
                  <a:tcPr marL="72000" marR="72000" anchor="ctr">
                    <a:noFill/>
                  </a:tcPr>
                </a:tc>
                <a:extLst>
                  <a:ext uri="{0D108BD9-81ED-4DB2-BD59-A6C34878D82A}">
                    <a16:rowId xmlns:a16="http://schemas.microsoft.com/office/drawing/2014/main" val="10002"/>
                  </a:ext>
                </a:extLst>
              </a:tr>
              <a:tr h="465300">
                <a:tc vMerge="1">
                  <a:txBody>
                    <a:bodyPr/>
                    <a:lstStyle/>
                    <a:p>
                      <a:endParaRPr/>
                    </a:p>
                  </a:txBody>
                  <a:tcPr marL="72000" marR="72000" anchor="ctr"/>
                </a:tc>
                <a:tc>
                  <a:txBody>
                    <a:bodyPr/>
                    <a:lstStyle/>
                    <a:p>
                      <a:pPr algn="ctr">
                        <a:defRPr sz="1200" b="1">
                          <a:solidFill>
                            <a:srgbClr val="FFFFFF"/>
                          </a:solidFill>
                          <a:latin typeface="Montserrat"/>
                        </a:defRPr>
                      </a:pPr>
                      <a:r>
                        <a:t>1 Donación</a:t>
                      </a:r>
                    </a:p>
                  </a:txBody>
                  <a:tcPr marL="72000" marR="72000" anchor="ctr">
                    <a:noFill/>
                  </a:tcPr>
                </a:tc>
                <a:tc>
                  <a:txBody>
                    <a:bodyPr/>
                    <a:lstStyle/>
                    <a:p>
                      <a:pPr algn="ctr">
                        <a:defRPr sz="1200" b="0">
                          <a:solidFill>
                            <a:srgbClr val="FFFFFF"/>
                          </a:solidFill>
                          <a:latin typeface="Montserrat"/>
                        </a:defRPr>
                      </a:pPr>
                      <a:r>
                        <a:t>Tecom</a:t>
                      </a:r>
                      <a:r>
                        <a:rPr lang="es-MX"/>
                        <a:t>á</a:t>
                      </a:r>
                      <a:r>
                        <a:t>n</a:t>
                      </a:r>
                    </a:p>
                  </a:txBody>
                  <a:tcPr marL="72000" marR="72000" anchor="ctr">
                    <a:noFill/>
                  </a:tcPr>
                </a:tc>
                <a:extLst>
                  <a:ext uri="{0D108BD9-81ED-4DB2-BD59-A6C34878D82A}">
                    <a16:rowId xmlns:a16="http://schemas.microsoft.com/office/drawing/2014/main" val="10003"/>
                  </a:ext>
                </a:extLst>
              </a:tr>
            </a:tbl>
          </a:graphicData>
        </a:graphic>
      </p:graphicFrame>
      <p:sp>
        <p:nvSpPr>
          <p:cNvPr id="23" name="Oval 22"/>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705085"/>
                </a:solidFill>
                <a:latin typeface="Montserrat"/>
              </a:defRPr>
            </a:pPr>
            <a:r>
              <a:t>15</a:t>
            </a:r>
          </a:p>
        </p:txBody>
      </p:sp>
      <p:sp>
        <p:nvSpPr>
          <p:cNvPr id="24" name="Rectangle 23"/>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a:defRPr sz="1500" b="1">
                <a:solidFill>
                  <a:srgbClr val="FFFFFF"/>
                </a:solidFill>
                <a:latin typeface="Montserrat"/>
              </a:defRPr>
            </a:pPr>
            <a:r>
              <a:t>12 CECI IMSS</a:t>
            </a:r>
          </a:p>
          <a:p>
            <a:pPr algn="ctr">
              <a:defRPr sz="1500" b="1">
                <a:solidFill>
                  <a:srgbClr val="FFFFFF"/>
                </a:solidFill>
                <a:latin typeface="Montserrat"/>
              </a:defRPr>
            </a:pPr>
            <a:r>
              <a:t>3 CECI CAMPO</a:t>
            </a:r>
          </a:p>
        </p:txBody>
      </p:sp>
      <p:sp>
        <p:nvSpPr>
          <p:cNvPr id="25" name="TextBox 24"/>
          <p:cNvSpPr txBox="1"/>
          <p:nvPr/>
        </p:nvSpPr>
        <p:spPr>
          <a:xfrm>
            <a:off x="191800" y="9539478"/>
            <a:ext cx="7574400" cy="230400"/>
          </a:xfrm>
          <a:prstGeom prst="rect">
            <a:avLst/>
          </a:prstGeom>
          <a:noFill/>
        </p:spPr>
        <p:txBody>
          <a:bodyPr wrap="square" lIns="0" tIns="0" rIns="0" bIns="0">
            <a:spAutoFit/>
          </a:bodyPr>
          <a:lstStyle/>
          <a:p>
            <a:pPr algn="l">
              <a:defRPr sz="900">
                <a:solidFill>
                  <a:srgbClr val="FFFFFF"/>
                </a:solidFill>
                <a:latin typeface="Montserrat"/>
              </a:defRPr>
            </a:pPr>
            <a:r>
              <a:t>¹ Terrenos validados. 2 CECI para entregar a SICT en Cuauhtémoc y Tecomán</a:t>
            </a:r>
          </a:p>
        </p:txBody>
      </p:sp>
      <p:sp>
        <p:nvSpPr>
          <p:cNvPr id="5" name="CuadroTexto 4">
            <a:extLst>
              <a:ext uri="{FF2B5EF4-FFF2-40B4-BE49-F238E27FC236}">
                <a16:creationId xmlns:a16="http://schemas.microsoft.com/office/drawing/2014/main" id="{1BEFB9FC-5F8E-BFC5-0416-7D507AFA7F9F}"/>
              </a:ext>
            </a:extLst>
          </p:cNvPr>
          <p:cNvSpPr txBox="1"/>
          <p:nvPr/>
        </p:nvSpPr>
        <p:spPr>
          <a:xfrm>
            <a:off x="691200" y="4005476"/>
            <a:ext cx="6390000" cy="507831"/>
          </a:xfrm>
          <a:prstGeom prst="rect">
            <a:avLst/>
          </a:prstGeom>
          <a:noFill/>
        </p:spPr>
        <p:txBody>
          <a:bodyPr wrap="square" lIns="0" tIns="0" rIns="0" bIns="0">
            <a:spAutoFit/>
          </a:bodyPr>
          <a:lstStyle>
            <a:defPPr marR="0" lvl="0" algn="l" rtl="0">
              <a:lnSpc>
                <a:spcPct val="100000"/>
              </a:lnSpc>
              <a:spcBef>
                <a:spcPts val="0"/>
              </a:spcBef>
              <a:spcAft>
                <a:spcPts val="0"/>
              </a:spcAft>
            </a:defPPr>
            <a:lvl1pPr>
              <a:defRPr sz="900">
                <a:latin typeface="Montserrat"/>
              </a:defRPr>
            </a:lvl1pPr>
          </a:lstStyle>
          <a:p>
            <a:r>
              <a:rPr lang="es-MX" sz="800" baseline="30000"/>
              <a:t>1 </a:t>
            </a:r>
            <a:r>
              <a:rPr lang="es-MX" sz="800"/>
              <a:t>Se encuentra autorizado el proyecto, sin embargo, aún no se cuenta con un terreno, se están realizado las gestiones correspondientes para la búsqueda de terrenos en donación en coordinación con el Ayuntamiento de Manzanillo y SEIDUM</a:t>
            </a:r>
          </a:p>
          <a:p>
            <a:r>
              <a:rPr lang="es-MX" sz="800" baseline="30000"/>
              <a:t>2</a:t>
            </a:r>
            <a:r>
              <a:rPr lang="es-MX" sz="800"/>
              <a:t> Proyecto aprobado por la CTIM, sin embargo, aún no se cuenta con la fuente de financiamiento.</a:t>
            </a:r>
          </a:p>
          <a:p>
            <a:r>
              <a:rPr lang="es-MX" sz="800"/>
              <a:t> </a:t>
            </a:r>
          </a:p>
        </p:txBody>
      </p:sp>
    </p:spTree>
    <p:extLst>
      <p:ext uri="{BB962C8B-B14F-4D97-AF65-F5344CB8AC3E}">
        <p14:creationId xmlns:p14="http://schemas.microsoft.com/office/powerpoint/2010/main" val="30077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extLst>
              <p:ext uri="{D42A27DB-BD31-4B8C-83A1-F6EECF244321}">
                <p14:modId xmlns:p14="http://schemas.microsoft.com/office/powerpoint/2010/main" val="4050699555"/>
              </p:ext>
            </p:extLst>
          </p:nvPr>
        </p:nvGraphicFramePr>
        <p:xfrm>
          <a:off x="287700" y="10046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2414803"/>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3672126"/>
            <a:ext cx="926657" cy="813175"/>
          </a:xfrm>
          <a:prstGeom prst="rect">
            <a:avLst/>
          </a:prstGeom>
          <a:noFill/>
          <a:ln>
            <a:noFill/>
          </a:ln>
        </p:spPr>
      </p:pic>
      <p:sp>
        <p:nvSpPr>
          <p:cNvPr id="460" name="Google Shape;460;p16"/>
          <p:cNvSpPr/>
          <p:nvPr/>
        </p:nvSpPr>
        <p:spPr>
          <a:xfrm>
            <a:off x="866642" y="162408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COLIMA</a:t>
            </a:r>
          </a:p>
        </p:txBody>
      </p:sp>
      <p:graphicFrame>
        <p:nvGraphicFramePr>
          <p:cNvPr id="467" name="Table 466"/>
          <p:cNvGraphicFramePr>
            <a:graphicFrameLocks noGrp="1"/>
          </p:cNvGraphicFramePr>
          <p:nvPr>
            <p:extLst>
              <p:ext uri="{D42A27DB-BD31-4B8C-83A1-F6EECF244321}">
                <p14:modId xmlns:p14="http://schemas.microsoft.com/office/powerpoint/2010/main" val="1054656950"/>
              </p:ext>
            </p:extLst>
          </p:nvPr>
        </p:nvGraphicFramePr>
        <p:xfrm>
          <a:off x="2311200" y="1670400"/>
          <a:ext cx="5032800" cy="88164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33000">
                <a:tc gridSpan="2">
                  <a:txBody>
                    <a:bodyPr/>
                    <a:lstStyle/>
                    <a:p>
                      <a:pPr algn="ctr"/>
                      <a:r>
                        <a:rPr sz="1000" b="1">
                          <a:solidFill>
                            <a:srgbClr val="FFFFFF"/>
                          </a:solidFill>
                          <a:latin typeface="Montserrat"/>
                        </a:rPr>
                        <a:t>GUARDERÍAS</a:t>
                      </a:r>
                    </a:p>
                  </a:txBody>
                  <a:tcPr marL="0" marR="0" marT="0" marB="0" anchor="ctr">
                    <a:solidFill>
                      <a:srgbClr val="006455"/>
                    </a:solidFill>
                  </a:tcPr>
                </a:tc>
                <a:tc hMerge="1">
                  <a:txBody>
                    <a:bodyPr/>
                    <a:lstStyle/>
                    <a:p>
                      <a:endParaRPr/>
                    </a:p>
                  </a:txBody>
                  <a:tcPr/>
                </a:tc>
                <a:extLst>
                  <a:ext uri="{0D108BD9-81ED-4DB2-BD59-A6C34878D82A}">
                    <a16:rowId xmlns:a16="http://schemas.microsoft.com/office/drawing/2014/main" val="10000"/>
                  </a:ext>
                </a:extLst>
              </a:tr>
              <a:tr h="333000">
                <a:tc>
                  <a:txBody>
                    <a:bodyPr/>
                    <a:lstStyle/>
                    <a:p>
                      <a:pPr algn="ctr"/>
                      <a:r>
                        <a:rPr sz="1000" b="1">
                          <a:latin typeface="Montserrat"/>
                        </a:rPr>
                        <a:t>16 unidades</a:t>
                      </a:r>
                    </a:p>
                    <a:p>
                      <a:pPr algn="ctr">
                        <a:defRPr sz="1000">
                          <a:solidFill>
                            <a:srgbClr val="505050"/>
                          </a:solidFill>
                          <a:latin typeface="Montserrat"/>
                        </a:defRPr>
                      </a:pPr>
                      <a:r>
                        <a:t>1 directas</a:t>
                      </a:r>
                    </a:p>
                    <a:p>
                      <a:pPr algn="ctr">
                        <a:defRPr sz="1000">
                          <a:solidFill>
                            <a:srgbClr val="505050"/>
                          </a:solidFill>
                          <a:latin typeface="Montserrat"/>
                        </a:defRPr>
                      </a:pPr>
                      <a:r>
                        <a:t>15 indirectas</a:t>
                      </a:r>
                    </a:p>
                  </a:txBody>
                  <a:tcPr anchor="ctr">
                    <a:solidFill>
                      <a:srgbClr val="FFFFFF"/>
                    </a:solidFill>
                  </a:tcPr>
                </a:tc>
                <a:tc>
                  <a:txBody>
                    <a:bodyPr/>
                    <a:lstStyle/>
                    <a:p>
                      <a:pPr algn="ctr"/>
                      <a:r>
                        <a:rPr sz="1000" b="1">
                          <a:latin typeface="Montserrat"/>
                        </a:rPr>
                        <a:t>2,541 </a:t>
                      </a:r>
                      <a:r>
                        <a:rPr sz="1000" b="1" err="1">
                          <a:latin typeface="Montserrat"/>
                        </a:rPr>
                        <a:t>inscritos</a:t>
                      </a:r>
                      <a:endParaRPr sz="1000" b="1">
                        <a:latin typeface="Montserrat"/>
                      </a:endParaRPr>
                    </a:p>
                    <a:p>
                      <a:pPr algn="ctr">
                        <a:defRPr sz="1000">
                          <a:solidFill>
                            <a:srgbClr val="505050"/>
                          </a:solidFill>
                          <a:latin typeface="Montserrat"/>
                        </a:defRPr>
                      </a:pPr>
                      <a:r>
                        <a:t>377 </a:t>
                      </a:r>
                      <a:r>
                        <a:rPr err="1"/>
                        <a:t>en</a:t>
                      </a:r>
                      <a:r>
                        <a:t> </a:t>
                      </a:r>
                      <a:r>
                        <a:rPr err="1"/>
                        <a:t>espera</a:t>
                      </a:r>
                      <a:endParaRPr/>
                    </a:p>
                  </a:txBody>
                  <a:tcPr anchor="ctr">
                    <a:solidFill>
                      <a:srgbClr val="FFFFFF"/>
                    </a:solidFill>
                  </a:tcPr>
                </a:tc>
                <a:extLst>
                  <a:ext uri="{0D108BD9-81ED-4DB2-BD59-A6C34878D82A}">
                    <a16:rowId xmlns:a16="http://schemas.microsoft.com/office/drawing/2014/main" val="10001"/>
                  </a:ext>
                </a:extLst>
              </a:tr>
            </a:tbl>
          </a:graphicData>
        </a:graphic>
      </p:graphicFrame>
      <p:graphicFrame>
        <p:nvGraphicFramePr>
          <p:cNvPr id="468" name="Table 467"/>
          <p:cNvGraphicFramePr>
            <a:graphicFrameLocks noGrp="1"/>
          </p:cNvGraphicFramePr>
          <p:nvPr>
            <p:extLst>
              <p:ext uri="{D42A27DB-BD31-4B8C-83A1-F6EECF244321}">
                <p14:modId xmlns:p14="http://schemas.microsoft.com/office/powerpoint/2010/main" val="2033664608"/>
              </p:ext>
            </p:extLst>
          </p:nvPr>
        </p:nvGraphicFramePr>
        <p:xfrm>
          <a:off x="2311200" y="2632392"/>
          <a:ext cx="5032800" cy="1124618"/>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74278">
                <a:tc gridSpan="2">
                  <a:txBody>
                    <a:bodyPr/>
                    <a:lstStyle/>
                    <a:p>
                      <a:pPr algn="ctr">
                        <a:defRPr sz="1000" b="1">
                          <a:solidFill>
                            <a:srgbClr val="FFFFFF"/>
                          </a:solidFill>
                          <a:latin typeface="Montserrat"/>
                        </a:defRPr>
                      </a:pPr>
                      <a:r>
                        <a:t>BIENESTAR SOCIAL</a:t>
                      </a:r>
                    </a:p>
                  </a:txBody>
                  <a:tcPr anchor="ctr">
                    <a:solidFill>
                      <a:srgbClr val="006455"/>
                    </a:solidFill>
                  </a:tcPr>
                </a:tc>
                <a:tc hMerge="1">
                  <a:txBody>
                    <a:bodyPr/>
                    <a:lstStyle/>
                    <a:p>
                      <a:endParaRPr/>
                    </a:p>
                  </a:txBody>
                  <a:tcPr/>
                </a:tc>
                <a:extLst>
                  <a:ext uri="{0D108BD9-81ED-4DB2-BD59-A6C34878D82A}">
                    <a16:rowId xmlns:a16="http://schemas.microsoft.com/office/drawing/2014/main" val="10000"/>
                  </a:ext>
                </a:extLst>
              </a:tr>
              <a:tr h="750340">
                <a:tc>
                  <a:txBody>
                    <a:bodyPr/>
                    <a:lstStyle/>
                    <a:p>
                      <a:pPr algn="ctr">
                        <a:defRPr sz="800" b="1">
                          <a:latin typeface="Montserrat"/>
                        </a:defRPr>
                      </a:pPr>
                      <a:r>
                        <a:t>3 Centros de </a:t>
                      </a:r>
                      <a:r>
                        <a:rPr err="1"/>
                        <a:t>Seguridad</a:t>
                      </a:r>
                      <a:r>
                        <a:t> Social</a:t>
                      </a:r>
                    </a:p>
                  </a:txBody>
                  <a:tcPr marL="28800" marR="28800" marT="0" marB="0" anchor="ctr">
                    <a:solidFill>
                      <a:srgbClr val="FFFFFF"/>
                    </a:solidFill>
                  </a:tcPr>
                </a:tc>
                <a:tc>
                  <a:txBody>
                    <a:bodyPr/>
                    <a:lstStyle/>
                    <a:p>
                      <a:pPr algn="ctr">
                        <a:defRPr sz="800">
                          <a:latin typeface="Montserrat"/>
                        </a:defRPr>
                      </a:pPr>
                      <a:r>
                        <a:t>Colima, Manzanillo y </a:t>
                      </a:r>
                      <a:r>
                        <a:rPr err="1"/>
                        <a:t>Tecomán</a:t>
                      </a:r>
                      <a:endParaRPr/>
                    </a:p>
                  </a:txBody>
                  <a:tcPr marL="28800" marR="28800" marT="0" marB="0" anchor="ctr">
                    <a:solidFill>
                      <a:srgbClr val="FFFFFF"/>
                    </a:solidFill>
                  </a:tcPr>
                </a:tc>
                <a:extLst>
                  <a:ext uri="{0D108BD9-81ED-4DB2-BD59-A6C34878D82A}">
                    <a16:rowId xmlns:a16="http://schemas.microsoft.com/office/drawing/2014/main" val="10001"/>
                  </a:ext>
                </a:extLst>
              </a:tr>
            </a:tbl>
          </a:graphicData>
        </a:graphic>
      </p:graphicFrame>
      <p:graphicFrame>
        <p:nvGraphicFramePr>
          <p:cNvPr id="469" name="Table 468"/>
          <p:cNvGraphicFramePr>
            <a:graphicFrameLocks noGrp="1"/>
          </p:cNvGraphicFramePr>
          <p:nvPr>
            <p:extLst>
              <p:ext uri="{D42A27DB-BD31-4B8C-83A1-F6EECF244321}">
                <p14:modId xmlns:p14="http://schemas.microsoft.com/office/powerpoint/2010/main" val="2709566797"/>
              </p:ext>
            </p:extLst>
          </p:nvPr>
        </p:nvGraphicFramePr>
        <p:xfrm>
          <a:off x="2311200" y="3846180"/>
          <a:ext cx="5032800" cy="8172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408600">
                <a:tc gridSpan="2">
                  <a:txBody>
                    <a:bodyPr/>
                    <a:lstStyle/>
                    <a:p>
                      <a:pPr algn="ctr">
                        <a:defRPr sz="1000" b="1">
                          <a:solidFill>
                            <a:srgbClr val="FFFFFF"/>
                          </a:solidFill>
                          <a:latin typeface="Montserrat"/>
                        </a:defRPr>
                      </a:pPr>
                      <a:r>
                        <a:t>CENTROS VACACIONALES, VELATORIOS Y TIENDAS</a:t>
                      </a:r>
                    </a:p>
                  </a:txBody>
                  <a:tcPr anchor="ctr">
                    <a:solidFill>
                      <a:srgbClr val="006455"/>
                    </a:solidFill>
                  </a:tcPr>
                </a:tc>
                <a:tc hMerge="1">
                  <a:txBody>
                    <a:bodyPr/>
                    <a:lstStyle/>
                    <a:p>
                      <a:endParaRPr/>
                    </a:p>
                  </a:txBody>
                  <a:tcPr/>
                </a:tc>
                <a:extLst>
                  <a:ext uri="{0D108BD9-81ED-4DB2-BD59-A6C34878D82A}">
                    <a16:rowId xmlns:a16="http://schemas.microsoft.com/office/drawing/2014/main" val="10000"/>
                  </a:ext>
                </a:extLst>
              </a:tr>
              <a:tr h="408600">
                <a:tc>
                  <a:txBody>
                    <a:bodyPr/>
                    <a:lstStyle/>
                    <a:p>
                      <a:pPr algn="ctr">
                        <a:defRPr sz="800" b="1">
                          <a:latin typeface="Montserrat"/>
                        </a:defRPr>
                      </a:pPr>
                      <a:r>
                        <a:t>1 Tienda IMSS-SNTSS</a:t>
                      </a:r>
                    </a:p>
                  </a:txBody>
                  <a:tcPr marL="28800" marR="28800" marT="0" marB="0" anchor="ctr">
                    <a:solidFill>
                      <a:srgbClr val="FFFFFF"/>
                    </a:solidFill>
                  </a:tcPr>
                </a:tc>
                <a:tc>
                  <a:txBody>
                    <a:bodyPr/>
                    <a:lstStyle/>
                    <a:p>
                      <a:pPr algn="ctr">
                        <a:defRPr sz="800">
                          <a:latin typeface="Montserrat"/>
                        </a:defRPr>
                      </a:pPr>
                      <a:r>
                        <a:t>No. 10 Colima</a:t>
                      </a:r>
                    </a:p>
                  </a:txBody>
                  <a:tcPr marL="28800" marR="28800" marT="0" marB="0" anchor="ctr">
                    <a:solidFill>
                      <a:srgbClr val="FFFFFF"/>
                    </a:solidFill>
                  </a:tcPr>
                </a:tc>
                <a:extLst>
                  <a:ext uri="{0D108BD9-81ED-4DB2-BD59-A6C34878D82A}">
                    <a16:rowId xmlns:a16="http://schemas.microsoft.com/office/drawing/2014/main" val="10001"/>
                  </a:ext>
                </a:extLst>
              </a:tr>
            </a:tbl>
          </a:graphicData>
        </a:graphic>
      </p:graphicFrame>
      <p:pic>
        <p:nvPicPr>
          <p:cNvPr id="470" name="Picture 469" descr="map_tipo2_06_col.png"/>
          <p:cNvPicPr>
            <a:picLocks noChangeAspect="1"/>
          </p:cNvPicPr>
          <p:nvPr/>
        </p:nvPicPr>
        <p:blipFill>
          <a:blip r:embed="rId6"/>
          <a:stretch>
            <a:fillRect/>
          </a:stretch>
        </p:blipFill>
        <p:spPr>
          <a:xfrm>
            <a:off x="2386801" y="5357706"/>
            <a:ext cx="4694398" cy="3445852"/>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sz="1000" b="0">
                <a:solidFill>
                  <a:srgbClr val="000000"/>
                </a:solidFill>
                <a:latin typeface="Montserrat"/>
              </a:defRPr>
            </a:pPr>
            <a:r>
              <a:t>Guarderías    16</a:t>
            </a:r>
          </a:p>
        </p:txBody>
      </p:sp>
      <p:sp>
        <p:nvSpPr>
          <p:cNvPr id="472" name="TextBox 471"/>
          <p:cNvSpPr txBox="1"/>
          <p:nvPr/>
        </p:nvSpPr>
        <p:spPr>
          <a:xfrm>
            <a:off x="347134" y="9539196"/>
            <a:ext cx="4258800" cy="230400"/>
          </a:xfrm>
          <a:prstGeom prst="rect">
            <a:avLst/>
          </a:prstGeom>
          <a:noFill/>
        </p:spPr>
        <p:txBody>
          <a:bodyPr wrap="square" lIns="0" tIns="0" rIns="0" bIns="0">
            <a:spAutoFit/>
          </a:bodyPr>
          <a:lstStyle/>
          <a:p>
            <a:pPr algn="l">
              <a:defRPr sz="900">
                <a:solidFill>
                  <a:srgbClr val="FFFFFF"/>
                </a:solidFill>
                <a:latin typeface="Montserrat"/>
              </a:defRPr>
            </a:pPr>
            <a:r>
              <a:t>Fuente: Dirección de Prestaciones Económicas y Sociales, mayo de 2026.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a:solidFill>
                            <a:srgbClr val="BC955C"/>
                          </a:solidFill>
                          <a:latin typeface="Montserrat"/>
                          <a:ea typeface="Montserrat"/>
                          <a:cs typeface="Montserrat"/>
                          <a:sym typeface="Montserrat"/>
                        </a:rPr>
                        <a:t>Actividad económica</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MX" sz="1500" b="1" u="none" strike="noStrike" cap="none">
                          <a:solidFill>
                            <a:srgbClr val="BC955C"/>
                          </a:solidFill>
                          <a:latin typeface="Montserrat"/>
                          <a:ea typeface="Montserrat"/>
                          <a:cs typeface="Montserrat"/>
                          <a:sym typeface="Montserrat"/>
                        </a:rPr>
                        <a:t>Puestos de trabajo, </a:t>
                      </a:r>
                      <a:r>
                        <a:rPr lang="es-MX" sz="1500" b="1" u="none" strike="noStrike" cap="none">
                          <a:solidFill>
                            <a:srgbClr val="BC955C"/>
                          </a:solidFill>
                          <a:latin typeface="Montserrat"/>
                          <a:ea typeface="Montserrat"/>
                          <a:cs typeface="Montserrat"/>
                          <a:sym typeface="Montserra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4"/>
                            </a:ext>
                          </a:extLst>
                        </a:rPr>
                        <a:t>por </a:t>
                      </a:r>
                      <a:r>
                        <a:rPr lang="es-MX" sz="1500" b="1" u="none" strike="noStrike" cap="none">
                          <a:solidFill>
                            <a:srgbClr val="BC955C"/>
                          </a:solidFill>
                          <a:latin typeface="Montserrat"/>
                          <a:ea typeface="Montserrat"/>
                          <a:cs typeface="Montserrat"/>
                          <a:sym typeface="Montserra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5"/>
                            </a:ext>
                          </a:extLst>
                        </a:rPr>
                        <a:t>tipo de sector</a:t>
                      </a:r>
                      <a:endParaRPr lang="es-MX"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graphicFrame>
        <p:nvGraphicFramePr>
          <p:cNvPr id="479" name="Table 478"/>
          <p:cNvGraphicFramePr>
            <a:graphicFrameLocks noGrp="1"/>
          </p:cNvGraphicFramePr>
          <p:nvPr/>
        </p:nvGraphicFramePr>
        <p:xfrm>
          <a:off x="284400" y="1087200"/>
          <a:ext cx="6984000" cy="1943159"/>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92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92000">
                  <a:extLst>
                    <a:ext uri="{9D8B030D-6E8A-4147-A177-3AD203B41FA5}">
                      <a16:colId xmlns:a16="http://schemas.microsoft.com/office/drawing/2014/main" val="20007"/>
                    </a:ext>
                  </a:extLst>
                </a:gridCol>
              </a:tblGrid>
              <a:tr h="251999">
                <a:tc gridSpan="8">
                  <a:txBody>
                    <a:bodyPr/>
                    <a:lstStyle/>
                    <a:p>
                      <a:pPr algn="ctr">
                        <a:defRPr sz="1000" b="1">
                          <a:solidFill>
                            <a:srgbClr val="FFFFFF"/>
                          </a:solidFill>
                          <a:latin typeface="Montserrat"/>
                        </a:defRPr>
                      </a:pPr>
                      <a:r>
                        <a:t>PRINCIPALES EMPLEADORES</a:t>
                      </a:r>
                    </a:p>
                  </a:txBody>
                  <a:tcPr anchor="ctr">
                    <a:solidFill>
                      <a:srgbClr val="BC955C"/>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850" b="1">
                          <a:solidFill>
                            <a:srgbClr val="FFFFFF"/>
                          </a:solidFill>
                          <a:latin typeface="Montserrat"/>
                        </a:defRPr>
                      </a:pPr>
                      <a:r>
                        <a:t>Empleador público</a:t>
                      </a:r>
                    </a:p>
                  </a:txBody>
                  <a:tcPr anchor="ctr">
                    <a:solidFill>
                      <a:srgbClr val="BC955C"/>
                    </a:solidFill>
                  </a:tcPr>
                </a:tc>
                <a:tc>
                  <a:txBody>
                    <a:bodyPr/>
                    <a:lstStyle/>
                    <a:p>
                      <a:pPr algn="ctr">
                        <a:defRPr sz="850" b="1">
                          <a:solidFill>
                            <a:srgbClr val="FFFFFF"/>
                          </a:solidFill>
                          <a:latin typeface="Montserrat"/>
                        </a:defRPr>
                      </a:pPr>
                      <a:r>
                        <a:t>Empleos Anterior</a:t>
                      </a:r>
                    </a:p>
                  </a:txBody>
                  <a:tcPr anchor="ctr">
                    <a:solidFill>
                      <a:srgbClr val="BC955C"/>
                    </a:solidFill>
                  </a:tcPr>
                </a:tc>
                <a:tc>
                  <a:txBody>
                    <a:bodyPr/>
                    <a:lstStyle/>
                    <a:p>
                      <a:pPr algn="ctr">
                        <a:defRPr sz="850" b="1">
                          <a:solidFill>
                            <a:srgbClr val="FFFFFF"/>
                          </a:solidFill>
                          <a:latin typeface="Montserrat"/>
                        </a:defRPr>
                      </a:pPr>
                      <a:r>
                        <a:t>Empleos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solidFill>
                      <a:srgbClr val="BC955C"/>
                    </a:solidFill>
                  </a:tcPr>
                </a:tc>
                <a:tc>
                  <a:txBody>
                    <a:bodyPr/>
                    <a:lstStyle/>
                    <a:p>
                      <a:pPr algn="ctr">
                        <a:defRPr sz="850" b="1">
                          <a:solidFill>
                            <a:srgbClr val="FFFFFF"/>
                          </a:solidFill>
                          <a:latin typeface="Montserrat"/>
                        </a:defRPr>
                      </a:pPr>
                      <a:r>
                        <a:t>Empleador Privado</a:t>
                      </a:r>
                    </a:p>
                  </a:txBody>
                  <a:tcPr anchor="ctr">
                    <a:solidFill>
                      <a:srgbClr val="BC955C"/>
                    </a:solidFill>
                  </a:tcPr>
                </a:tc>
                <a:tc>
                  <a:txBody>
                    <a:bodyPr/>
                    <a:lstStyle/>
                    <a:p>
                      <a:pPr algn="ctr">
                        <a:defRPr sz="850" b="1">
                          <a:solidFill>
                            <a:srgbClr val="FFFFFF"/>
                          </a:solidFill>
                          <a:latin typeface="Montserrat"/>
                        </a:defRPr>
                      </a:pPr>
                      <a:r>
                        <a:t>Empleos Anterior</a:t>
                      </a:r>
                    </a:p>
                  </a:txBody>
                  <a:tcPr anchor="ctr">
                    <a:solidFill>
                      <a:srgbClr val="BC955C"/>
                    </a:solidFill>
                  </a:tcPr>
                </a:tc>
                <a:tc>
                  <a:txBody>
                    <a:bodyPr/>
                    <a:lstStyle/>
                    <a:p>
                      <a:pPr algn="ctr">
                        <a:defRPr sz="850" b="1">
                          <a:solidFill>
                            <a:srgbClr val="FFFFFF"/>
                          </a:solidFill>
                          <a:latin typeface="Montserrat"/>
                        </a:defRPr>
                      </a:pPr>
                      <a:r>
                        <a:t>Empleos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solidFill>
                      <a:srgbClr val="BC955C"/>
                    </a:solidFill>
                  </a:tcPr>
                </a:tc>
                <a:extLst>
                  <a:ext uri="{0D108BD9-81ED-4DB2-BD59-A6C34878D82A}">
                    <a16:rowId xmlns:a16="http://schemas.microsoft.com/office/drawing/2014/main" val="10001"/>
                  </a:ext>
                </a:extLst>
              </a:tr>
              <a:tr h="288000">
                <a:tc>
                  <a:txBody>
                    <a:bodyPr/>
                    <a:lstStyle/>
                    <a:p>
                      <a:pPr algn="ctr">
                        <a:defRPr sz="850">
                          <a:latin typeface="Montserrat"/>
                        </a:defRPr>
                      </a:pPr>
                      <a:r>
                        <a:t>Gobierno del Estado de Colima</a:t>
                      </a:r>
                    </a:p>
                  </a:txBody>
                  <a:tcPr anchor="ctr">
                    <a:solidFill>
                      <a:srgbClr val="FFFFFF"/>
                    </a:solidFill>
                  </a:tcPr>
                </a:tc>
                <a:tc>
                  <a:txBody>
                    <a:bodyPr/>
                    <a:lstStyle/>
                    <a:p>
                      <a:pPr algn="ctr">
                        <a:defRPr sz="850">
                          <a:latin typeface="Montserrat"/>
                        </a:defRPr>
                      </a:pPr>
                      <a:r>
                        <a:t>6,381</a:t>
                      </a:r>
                    </a:p>
                  </a:txBody>
                  <a:tcPr anchor="ctr">
                    <a:solidFill>
                      <a:srgbClr val="FFFFFF"/>
                    </a:solidFill>
                  </a:tcPr>
                </a:tc>
                <a:tc>
                  <a:txBody>
                    <a:bodyPr/>
                    <a:lstStyle/>
                    <a:p>
                      <a:pPr algn="ctr">
                        <a:defRPr sz="850">
                          <a:latin typeface="Montserrat"/>
                        </a:defRPr>
                      </a:pPr>
                      <a:r>
                        <a:t>6,402</a:t>
                      </a:r>
                    </a:p>
                  </a:txBody>
                  <a:tcPr anchor="ctr">
                    <a:solidFill>
                      <a:srgbClr val="FFFFFF"/>
                    </a:solidFill>
                  </a:tcPr>
                </a:tc>
                <a:tc>
                  <a:txBody>
                    <a:bodyPr/>
                    <a:lstStyle/>
                    <a:p>
                      <a:pPr algn="ctr">
                        <a:defRPr sz="850" b="1">
                          <a:solidFill>
                            <a:srgbClr val="006455"/>
                          </a:solidFill>
                          <a:latin typeface="Montserrat"/>
                        </a:defRPr>
                      </a:pPr>
                      <a:r>
                        <a:t>0.3%</a:t>
                      </a:r>
                    </a:p>
                  </a:txBody>
                  <a:tcPr anchor="ctr">
                    <a:solidFill>
                      <a:srgbClr val="FFFFFF"/>
                    </a:solidFill>
                  </a:tcPr>
                </a:tc>
                <a:tc>
                  <a:txBody>
                    <a:bodyPr/>
                    <a:lstStyle/>
                    <a:p>
                      <a:pPr algn="ctr">
                        <a:defRPr sz="850">
                          <a:latin typeface="Montserrat"/>
                        </a:defRPr>
                      </a:pPr>
                      <a:r>
                        <a:t>Grupo Yazaki S.A. de C.V.</a:t>
                      </a:r>
                    </a:p>
                  </a:txBody>
                  <a:tcPr anchor="ctr">
                    <a:solidFill>
                      <a:srgbClr val="FFFFFF"/>
                    </a:solidFill>
                  </a:tcPr>
                </a:tc>
                <a:tc>
                  <a:txBody>
                    <a:bodyPr/>
                    <a:lstStyle/>
                    <a:p>
                      <a:pPr algn="ctr">
                        <a:defRPr sz="850">
                          <a:latin typeface="Montserrat"/>
                        </a:defRPr>
                      </a:pPr>
                      <a:r>
                        <a:t>4,431</a:t>
                      </a:r>
                    </a:p>
                  </a:txBody>
                  <a:tcPr anchor="ctr">
                    <a:solidFill>
                      <a:srgbClr val="FFFFFF"/>
                    </a:solidFill>
                  </a:tcPr>
                </a:tc>
                <a:tc>
                  <a:txBody>
                    <a:bodyPr/>
                    <a:lstStyle/>
                    <a:p>
                      <a:pPr algn="ctr">
                        <a:defRPr sz="850">
                          <a:latin typeface="Montserrat"/>
                        </a:defRPr>
                      </a:pPr>
                      <a:r>
                        <a:t>4,425</a:t>
                      </a:r>
                    </a:p>
                  </a:txBody>
                  <a:tcPr anchor="ctr">
                    <a:solidFill>
                      <a:srgbClr val="FFFFFF"/>
                    </a:solidFill>
                  </a:tcPr>
                </a:tc>
                <a:tc>
                  <a:txBody>
                    <a:bodyPr/>
                    <a:lstStyle/>
                    <a:p>
                      <a:pPr algn="ctr">
                        <a:defRPr sz="850" b="1">
                          <a:solidFill>
                            <a:srgbClr val="691C32"/>
                          </a:solidFill>
                          <a:latin typeface="Montserrat"/>
                        </a:defRPr>
                      </a:pPr>
                      <a:r>
                        <a:t>-0.1%</a:t>
                      </a:r>
                    </a:p>
                  </a:txBody>
                  <a:tcPr anchor="ctr">
                    <a:solidFill>
                      <a:srgbClr val="FFFFFF"/>
                    </a:solidFill>
                  </a:tcPr>
                </a:tc>
                <a:extLst>
                  <a:ext uri="{0D108BD9-81ED-4DB2-BD59-A6C34878D82A}">
                    <a16:rowId xmlns:a16="http://schemas.microsoft.com/office/drawing/2014/main" val="10002"/>
                  </a:ext>
                </a:extLst>
              </a:tr>
              <a:tr h="490320">
                <a:tc>
                  <a:txBody>
                    <a:bodyPr/>
                    <a:lstStyle/>
                    <a:p>
                      <a:pPr algn="ctr">
                        <a:defRPr sz="850">
                          <a:latin typeface="Montserrat"/>
                        </a:defRPr>
                      </a:pPr>
                      <a:r>
                        <a:t>Instituto Mexicano del Seguro Social</a:t>
                      </a:r>
                    </a:p>
                  </a:txBody>
                  <a:tcPr anchor="ctr">
                    <a:solidFill>
                      <a:srgbClr val="D9D9D9"/>
                    </a:solidFill>
                  </a:tcPr>
                </a:tc>
                <a:tc>
                  <a:txBody>
                    <a:bodyPr/>
                    <a:lstStyle/>
                    <a:p>
                      <a:pPr algn="ctr">
                        <a:defRPr sz="850">
                          <a:latin typeface="Montserrat"/>
                        </a:defRPr>
                      </a:pPr>
                      <a:r>
                        <a:t>5,080</a:t>
                      </a:r>
                    </a:p>
                  </a:txBody>
                  <a:tcPr anchor="ctr">
                    <a:solidFill>
                      <a:srgbClr val="D9D9D9"/>
                    </a:solidFill>
                  </a:tcPr>
                </a:tc>
                <a:tc>
                  <a:txBody>
                    <a:bodyPr/>
                    <a:lstStyle/>
                    <a:p>
                      <a:pPr algn="ctr">
                        <a:defRPr sz="850">
                          <a:latin typeface="Montserrat"/>
                        </a:defRPr>
                      </a:pPr>
                      <a:r>
                        <a:t>5,102</a:t>
                      </a:r>
                    </a:p>
                  </a:txBody>
                  <a:tcPr anchor="ctr">
                    <a:solidFill>
                      <a:srgbClr val="D9D9D9"/>
                    </a:solidFill>
                  </a:tcPr>
                </a:tc>
                <a:tc>
                  <a:txBody>
                    <a:bodyPr/>
                    <a:lstStyle/>
                    <a:p>
                      <a:pPr algn="ctr">
                        <a:defRPr sz="850" b="1">
                          <a:solidFill>
                            <a:srgbClr val="006455"/>
                          </a:solidFill>
                          <a:latin typeface="Montserrat"/>
                        </a:defRPr>
                      </a:pPr>
                      <a:r>
                        <a:t>0.4%</a:t>
                      </a:r>
                    </a:p>
                  </a:txBody>
                  <a:tcPr anchor="ctr">
                    <a:solidFill>
                      <a:srgbClr val="D9D9D9"/>
                    </a:solidFill>
                  </a:tcPr>
                </a:tc>
                <a:tc>
                  <a:txBody>
                    <a:bodyPr/>
                    <a:lstStyle/>
                    <a:p>
                      <a:pPr algn="ctr">
                        <a:defRPr sz="850">
                          <a:latin typeface="Montserrat"/>
                        </a:defRPr>
                      </a:pPr>
                      <a:r>
                        <a:t>Ssa México S.A. de C.V.</a:t>
                      </a:r>
                    </a:p>
                  </a:txBody>
                  <a:tcPr anchor="ctr">
                    <a:solidFill>
                      <a:srgbClr val="D9D9D9"/>
                    </a:solidFill>
                  </a:tcPr>
                </a:tc>
                <a:tc>
                  <a:txBody>
                    <a:bodyPr/>
                    <a:lstStyle/>
                    <a:p>
                      <a:pPr algn="ctr">
                        <a:defRPr sz="850">
                          <a:latin typeface="Montserrat"/>
                        </a:defRPr>
                      </a:pPr>
                      <a:r>
                        <a:t>2,419</a:t>
                      </a:r>
                    </a:p>
                  </a:txBody>
                  <a:tcPr anchor="ctr">
                    <a:solidFill>
                      <a:srgbClr val="D9D9D9"/>
                    </a:solidFill>
                  </a:tcPr>
                </a:tc>
                <a:tc>
                  <a:txBody>
                    <a:bodyPr/>
                    <a:lstStyle/>
                    <a:p>
                      <a:pPr algn="ctr">
                        <a:defRPr sz="850">
                          <a:latin typeface="Montserrat"/>
                        </a:defRPr>
                      </a:pPr>
                      <a:r>
                        <a:t>2,354</a:t>
                      </a:r>
                    </a:p>
                  </a:txBody>
                  <a:tcPr anchor="ctr">
                    <a:solidFill>
                      <a:srgbClr val="D9D9D9"/>
                    </a:solidFill>
                  </a:tcPr>
                </a:tc>
                <a:tc>
                  <a:txBody>
                    <a:bodyPr/>
                    <a:lstStyle/>
                    <a:p>
                      <a:pPr algn="ctr">
                        <a:defRPr sz="850" b="1">
                          <a:solidFill>
                            <a:srgbClr val="691C32"/>
                          </a:solidFill>
                          <a:latin typeface="Montserrat"/>
                        </a:defRPr>
                      </a:pPr>
                      <a:r>
                        <a:t>-2.7%</a:t>
                      </a:r>
                    </a:p>
                  </a:txBody>
                  <a:tcPr anchor="ctr">
                    <a:solidFill>
                      <a:srgbClr val="D9D9D9"/>
                    </a:solidFill>
                  </a:tcPr>
                </a:tc>
                <a:extLst>
                  <a:ext uri="{0D108BD9-81ED-4DB2-BD59-A6C34878D82A}">
                    <a16:rowId xmlns:a16="http://schemas.microsoft.com/office/drawing/2014/main" val="10003"/>
                  </a:ext>
                </a:extLst>
              </a:tr>
              <a:tr h="490320">
                <a:tc>
                  <a:txBody>
                    <a:bodyPr/>
                    <a:lstStyle/>
                    <a:p>
                      <a:pPr algn="ctr">
                        <a:defRPr sz="850">
                          <a:latin typeface="Montserrat"/>
                        </a:defRPr>
                      </a:pPr>
                      <a:r>
                        <a:t>Universidad de Colima</a:t>
                      </a:r>
                    </a:p>
                  </a:txBody>
                  <a:tcPr anchor="ctr">
                    <a:solidFill>
                      <a:srgbClr val="FFFFFF"/>
                    </a:solidFill>
                  </a:tcPr>
                </a:tc>
                <a:tc>
                  <a:txBody>
                    <a:bodyPr/>
                    <a:lstStyle/>
                    <a:p>
                      <a:pPr algn="ctr">
                        <a:defRPr sz="850">
                          <a:latin typeface="Montserrat"/>
                        </a:defRPr>
                      </a:pPr>
                      <a:r>
                        <a:t>3,973</a:t>
                      </a:r>
                    </a:p>
                  </a:txBody>
                  <a:tcPr anchor="ctr">
                    <a:solidFill>
                      <a:srgbClr val="FFFFFF"/>
                    </a:solidFill>
                  </a:tcPr>
                </a:tc>
                <a:tc>
                  <a:txBody>
                    <a:bodyPr/>
                    <a:lstStyle/>
                    <a:p>
                      <a:pPr algn="ctr">
                        <a:defRPr sz="850">
                          <a:latin typeface="Montserrat"/>
                        </a:defRPr>
                      </a:pPr>
                      <a:r>
                        <a:t>3,968</a:t>
                      </a:r>
                    </a:p>
                  </a:txBody>
                  <a:tcPr anchor="ctr">
                    <a:solidFill>
                      <a:srgbClr val="FFFFFF"/>
                    </a:solidFill>
                  </a:tcPr>
                </a:tc>
                <a:tc>
                  <a:txBody>
                    <a:bodyPr/>
                    <a:lstStyle/>
                    <a:p>
                      <a:pPr algn="ctr">
                        <a:defRPr sz="850" b="1">
                          <a:solidFill>
                            <a:srgbClr val="691C32"/>
                          </a:solidFill>
                          <a:latin typeface="Montserrat"/>
                        </a:defRPr>
                      </a:pPr>
                      <a:r>
                        <a:t>-0.1%</a:t>
                      </a:r>
                    </a:p>
                  </a:txBody>
                  <a:tcPr anchor="ctr">
                    <a:solidFill>
                      <a:srgbClr val="FFFFFF"/>
                    </a:solidFill>
                  </a:tcPr>
                </a:tc>
                <a:tc>
                  <a:txBody>
                    <a:bodyPr/>
                    <a:lstStyle/>
                    <a:p>
                      <a:pPr algn="ctr">
                        <a:defRPr sz="850">
                          <a:latin typeface="Montserrat"/>
                        </a:defRPr>
                      </a:pPr>
                      <a:r>
                        <a:t>Suarcrem Holding S.A. de C.V.</a:t>
                      </a:r>
                    </a:p>
                  </a:txBody>
                  <a:tcPr anchor="ctr">
                    <a:solidFill>
                      <a:srgbClr val="FFFFFF"/>
                    </a:solidFill>
                  </a:tcPr>
                </a:tc>
                <a:tc>
                  <a:txBody>
                    <a:bodyPr/>
                    <a:lstStyle/>
                    <a:p>
                      <a:pPr algn="ctr">
                        <a:defRPr sz="850">
                          <a:latin typeface="Montserrat"/>
                        </a:defRPr>
                      </a:pPr>
                      <a:r>
                        <a:t>1,759</a:t>
                      </a:r>
                    </a:p>
                  </a:txBody>
                  <a:tcPr anchor="ctr">
                    <a:solidFill>
                      <a:srgbClr val="FFFFFF"/>
                    </a:solidFill>
                  </a:tcPr>
                </a:tc>
                <a:tc>
                  <a:txBody>
                    <a:bodyPr/>
                    <a:lstStyle/>
                    <a:p>
                      <a:pPr algn="ctr">
                        <a:defRPr sz="850">
                          <a:latin typeface="Montserrat"/>
                        </a:defRPr>
                      </a:pPr>
                      <a:r>
                        <a:t>1,726</a:t>
                      </a:r>
                    </a:p>
                  </a:txBody>
                  <a:tcPr anchor="ctr">
                    <a:solidFill>
                      <a:srgbClr val="FFFFFF"/>
                    </a:solidFill>
                  </a:tcPr>
                </a:tc>
                <a:tc>
                  <a:txBody>
                    <a:bodyPr/>
                    <a:lstStyle/>
                    <a:p>
                      <a:pPr algn="ctr">
                        <a:defRPr sz="850" b="1">
                          <a:solidFill>
                            <a:srgbClr val="691C32"/>
                          </a:solidFill>
                          <a:latin typeface="Montserrat"/>
                        </a:defRPr>
                      </a:pPr>
                      <a:r>
                        <a:t>-1.9%</a:t>
                      </a:r>
                    </a:p>
                  </a:txBody>
                  <a:tcPr anchor="ctr">
                    <a:solidFill>
                      <a:srgbClr val="FFFFFF"/>
                    </a:solidFill>
                  </a:tcPr>
                </a:tc>
                <a:extLst>
                  <a:ext uri="{0D108BD9-81ED-4DB2-BD59-A6C34878D82A}">
                    <a16:rowId xmlns:a16="http://schemas.microsoft.com/office/drawing/2014/main" val="10004"/>
                  </a:ext>
                </a:extLst>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xmlns:r="http://schemas.openxmlformats.org/officeDocument/2006/relationships"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-4.61%</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-1.46%</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-0.91%</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+0.19%</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+1.12%</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+2.84%</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+2.88%</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+4.31%</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+10.07%</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838800">
                  <a:extLst>
                    <a:ext uri="{9D8B030D-6E8A-4147-A177-3AD203B41FA5}">
                      <a16:colId xmlns:a16="http://schemas.microsoft.com/office/drawing/2014/main" val="20001"/>
                    </a:ext>
                  </a:extLst>
                </a:gridCol>
                <a:gridCol w="838800">
                  <a:extLst>
                    <a:ext uri="{9D8B030D-6E8A-4147-A177-3AD203B41FA5}">
                      <a16:colId xmlns:a16="http://schemas.microsoft.com/office/drawing/2014/main" val="20002"/>
                    </a:ext>
                  </a:extLst>
                </a:gridCol>
                <a:gridCol w="838800">
                  <a:extLst>
                    <a:ext uri="{9D8B030D-6E8A-4147-A177-3AD203B41FA5}">
                      <a16:colId xmlns:a16="http://schemas.microsoft.com/office/drawing/2014/main" val="20003"/>
                    </a:ext>
                  </a:extLst>
                </a:gridCol>
                <a:gridCol w="8388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tblGrid>
              <a:tr h="286560">
                <a:tc rowSpan="2">
                  <a:txBody>
                    <a:bodyPr/>
                    <a:lstStyle/>
                    <a:p>
                      <a:pPr algn="ctr">
                        <a:defRPr sz="1000" b="1">
                          <a:solidFill>
                            <a:srgbClr val="FFFFFF"/>
                          </a:solidFill>
                          <a:latin typeface="Montserrat"/>
                        </a:defRPr>
                      </a:pPr>
                      <a:r>
                        <a:t>Mes</a:t>
                      </a:r>
                    </a:p>
                  </a:txBody>
                  <a:tcPr anchor="ctr">
                    <a:solidFill>
                      <a:srgbClr val="BC955C"/>
                    </a:solidFill>
                  </a:tcPr>
                </a:tc>
                <a:tc gridSpan="2">
                  <a:txBody>
                    <a:bodyPr/>
                    <a:lstStyle/>
                    <a:p>
                      <a:pPr algn="ctr">
                        <a:defRPr sz="1000" b="1">
                          <a:solidFill>
                            <a:srgbClr val="FFFFFF"/>
                          </a:solidFill>
                          <a:latin typeface="Montserrat"/>
                        </a:defRPr>
                      </a:pPr>
                      <a:r>
                        <a:t>Permanente</a:t>
                      </a:r>
                    </a:p>
                  </a:txBody>
                  <a:tcPr anchor="ctr">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gridSpan="2">
                  <a:txBody>
                    <a:bodyPr/>
                    <a:lstStyle/>
                    <a:p>
                      <a:pPr algn="ctr">
                        <a:defRPr sz="1000" b="1">
                          <a:solidFill>
                            <a:srgbClr val="FFFFFF"/>
                          </a:solidFill>
                          <a:latin typeface="Montserrat"/>
                        </a:defRPr>
                      </a:pPr>
                      <a:r>
                        <a:t>Eventual</a:t>
                      </a:r>
                    </a:p>
                  </a:txBody>
                  <a:tcPr anchor="ctr">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rowSpan="2">
                  <a:txBody>
                    <a:bodyPr/>
                    <a:lstStyle/>
                    <a:p>
                      <a:pPr algn="ctr">
                        <a:defRPr sz="1000" b="1">
                          <a:solidFill>
                            <a:srgbClr val="FFFFFF"/>
                          </a:solidFill>
                          <a:latin typeface="Montserrat"/>
                        </a:defRPr>
                      </a:pPr>
                      <a:r>
                        <a:t>Total</a:t>
                      </a:r>
                    </a:p>
                  </a:txBody>
                  <a:tcPr anchor="ctr">
                    <a:solidFill>
                      <a:srgbClr val="BC955C"/>
                    </a:solidFill>
                  </a:tcPr>
                </a:tc>
                <a:extLst>
                  <a:ext uri="{0D108BD9-81ED-4DB2-BD59-A6C34878D82A}">
                    <a16:rowId xmlns:a16="http://schemas.microsoft.com/office/drawing/2014/main" val="10000"/>
                  </a:ext>
                </a:extLst>
              </a:tr>
              <a:tr h="286560">
                <a:tc vMerge="1">
                  <a:txBody>
                    <a:bodyPr/>
                    <a:lstStyle/>
                    <a:p>
                      <a:pPr algn="ctr">
                        <a:defRPr sz="1000" b="1">
                          <a:solidFill>
                            <a:srgbClr val="FFFFFF"/>
                          </a:solidFill>
                          <a:latin typeface="Montserrat"/>
                        </a:defRPr>
                      </a:pPr>
                      <a:endParaRPr/>
                    </a:p>
                  </a:txBody>
                  <a:tcPr anchor="ctr">
                    <a:solidFill>
                      <a:srgbClr val="BC955C"/>
                    </a:solidFill>
                  </a:tcPr>
                </a:tc>
                <a:tc>
                  <a:txBody>
                    <a:bodyPr/>
                    <a:lstStyle/>
                    <a:p>
                      <a:pPr algn="ctr">
                        <a:defRPr sz="1000" b="1">
                          <a:solidFill>
                            <a:srgbClr val="FFFFFF"/>
                          </a:solidFill>
                          <a:latin typeface="Montserrat"/>
                        </a:defRPr>
                      </a:pPr>
                      <a:r>
                        <a:t>Urbano</a:t>
                      </a:r>
                    </a:p>
                  </a:txBody>
                  <a:tcPr anchor="ctr">
                    <a:solidFill>
                      <a:srgbClr val="BC955C"/>
                    </a:solidFill>
                  </a:tcPr>
                </a:tc>
                <a:tc>
                  <a:txBody>
                    <a:bodyPr/>
                    <a:lstStyle/>
                    <a:p>
                      <a:pPr algn="ctr">
                        <a:defRPr sz="1000" b="1">
                          <a:solidFill>
                            <a:srgbClr val="FFFFFF"/>
                          </a:solidFill>
                          <a:latin typeface="Montserrat"/>
                        </a:defRPr>
                      </a:pPr>
                      <a:r>
                        <a:t>Campo</a:t>
                      </a:r>
                    </a:p>
                  </a:txBody>
                  <a:tcPr anchor="ctr">
                    <a:solidFill>
                      <a:srgbClr val="BC955C"/>
                    </a:solidFill>
                  </a:tcPr>
                </a:tc>
                <a:tc>
                  <a:txBody>
                    <a:bodyPr/>
                    <a:lstStyle/>
                    <a:p>
                      <a:pPr algn="ctr">
                        <a:defRPr sz="1000" b="1">
                          <a:solidFill>
                            <a:srgbClr val="FFFFFF"/>
                          </a:solidFill>
                          <a:latin typeface="Montserrat"/>
                        </a:defRPr>
                      </a:pPr>
                      <a:r>
                        <a:t>Urbano</a:t>
                      </a:r>
                    </a:p>
                  </a:txBody>
                  <a:tcPr anchor="ctr">
                    <a:solidFill>
                      <a:srgbClr val="BC955C"/>
                    </a:solidFill>
                  </a:tcPr>
                </a:tc>
                <a:tc>
                  <a:txBody>
                    <a:bodyPr/>
                    <a:lstStyle/>
                    <a:p>
                      <a:pPr algn="ctr">
                        <a:defRPr sz="1000" b="1">
                          <a:solidFill>
                            <a:srgbClr val="FFFFFF"/>
                          </a:solidFill>
                          <a:latin typeface="Montserrat"/>
                        </a:defRPr>
                      </a:pPr>
                      <a:r>
                        <a:t>Campo</a:t>
                      </a:r>
                    </a:p>
                  </a:txBody>
                  <a:tcPr anchor="ctr">
                    <a:solidFill>
                      <a:srgbClr val="BC955C"/>
                    </a:solidFill>
                  </a:tcPr>
                </a:tc>
                <a:tc vMerge="1">
                  <a:txBody>
                    <a:bodyPr/>
                    <a:lstStyle/>
                    <a:p>
                      <a:pPr algn="ctr">
                        <a:defRPr sz="1000" b="1">
                          <a:solidFill>
                            <a:srgbClr val="FFFFFF"/>
                          </a:solidFill>
                          <a:latin typeface="Montserrat"/>
                        </a:defRPr>
                      </a:pPr>
                      <a:endParaRPr/>
                    </a:p>
                  </a:txBody>
                  <a:tcPr anchor="ctr">
                    <a:solidFill>
                      <a:srgbClr val="BC955C"/>
                    </a:solidFill>
                  </a:tcPr>
                </a:tc>
                <a:extLst>
                  <a:ext uri="{0D108BD9-81ED-4DB2-BD59-A6C34878D82A}">
                    <a16:rowId xmlns:a16="http://schemas.microsoft.com/office/drawing/2014/main" val="10001"/>
                  </a:ext>
                </a:extLst>
              </a:tr>
              <a:tr h="270000">
                <a:tc>
                  <a:txBody>
                    <a:bodyPr/>
                    <a:lstStyle/>
                    <a:p>
                      <a:pPr algn="ctr">
                        <a:defRPr sz="900">
                          <a:latin typeface="Montserrat"/>
                        </a:defRPr>
                      </a:pPr>
                      <a:r>
                        <a:t>May 2025</a:t>
                      </a:r>
                    </a:p>
                  </a:txBody>
                  <a:tcPr>
                    <a:solidFill>
                      <a:srgbClr val="FFFFFF"/>
                    </a:solidFill>
                  </a:tcPr>
                </a:tc>
                <a:tc>
                  <a:txBody>
                    <a:bodyPr/>
                    <a:lstStyle/>
                    <a:p>
                      <a:pPr algn="ctr">
                        <a:defRPr sz="900">
                          <a:latin typeface="Montserrat"/>
                        </a:defRPr>
                      </a:pPr>
                      <a:r>
                        <a:t>126,417</a:t>
                      </a:r>
                    </a:p>
                  </a:txBody>
                  <a:tcPr>
                    <a:solidFill>
                      <a:srgbClr val="FFFFFF"/>
                    </a:solidFill>
                  </a:tcPr>
                </a:tc>
                <a:tc>
                  <a:txBody>
                    <a:bodyPr/>
                    <a:lstStyle/>
                    <a:p>
                      <a:pPr algn="ctr">
                        <a:defRPr sz="900">
                          <a:latin typeface="Montserrat"/>
                        </a:defRPr>
                      </a:pPr>
                      <a:r>
                        <a:t>6,397</a:t>
                      </a:r>
                    </a:p>
                  </a:txBody>
                  <a:tcPr>
                    <a:solidFill>
                      <a:srgbClr val="FFFFFF"/>
                    </a:solidFill>
                  </a:tcPr>
                </a:tc>
                <a:tc>
                  <a:txBody>
                    <a:bodyPr/>
                    <a:lstStyle/>
                    <a:p>
                      <a:pPr algn="ctr">
                        <a:defRPr sz="900">
                          <a:latin typeface="Montserrat"/>
                        </a:defRPr>
                      </a:pPr>
                      <a:r>
                        <a:t>22,154</a:t>
                      </a:r>
                    </a:p>
                  </a:txBody>
                  <a:tcPr>
                    <a:solidFill>
                      <a:srgbClr val="FFFFFF"/>
                    </a:solidFill>
                  </a:tcPr>
                </a:tc>
                <a:tc>
                  <a:txBody>
                    <a:bodyPr/>
                    <a:lstStyle/>
                    <a:p>
                      <a:pPr algn="ctr">
                        <a:defRPr sz="900">
                          <a:latin typeface="Montserrat"/>
                        </a:defRPr>
                      </a:pPr>
                      <a:r>
                        <a:t>1,442</a:t>
                      </a:r>
                    </a:p>
                  </a:txBody>
                  <a:tcPr>
                    <a:solidFill>
                      <a:srgbClr val="FFFFFF"/>
                    </a:solidFill>
                  </a:tcPr>
                </a:tc>
                <a:tc>
                  <a:txBody>
                    <a:bodyPr/>
                    <a:lstStyle/>
                    <a:p>
                      <a:pPr algn="ctr">
                        <a:defRPr sz="900">
                          <a:latin typeface="Montserrat"/>
                        </a:defRPr>
                      </a:pPr>
                      <a:r>
                        <a:t>156,410</a:t>
                      </a:r>
                    </a:p>
                  </a:txBody>
                  <a:tcPr>
                    <a:solidFill>
                      <a:srgbClr val="FFFFFF"/>
                    </a:solidFill>
                  </a:tcPr>
                </a:tc>
                <a:extLst>
                  <a:ext uri="{0D108BD9-81ED-4DB2-BD59-A6C34878D82A}">
                    <a16:rowId xmlns:a16="http://schemas.microsoft.com/office/drawing/2014/main" val="10002"/>
                  </a:ext>
                </a:extLst>
              </a:tr>
              <a:tr h="270000">
                <a:tc>
                  <a:txBody>
                    <a:bodyPr/>
                    <a:lstStyle/>
                    <a:p>
                      <a:pPr algn="ctr">
                        <a:defRPr sz="900">
                          <a:latin typeface="Montserrat"/>
                        </a:defRPr>
                      </a:pPr>
                      <a:r>
                        <a:t>May 2026</a:t>
                      </a:r>
                    </a:p>
                  </a:txBody>
                  <a:tcPr>
                    <a:solidFill>
                      <a:srgbClr val="D9D9D9"/>
                    </a:solidFill>
                  </a:tcPr>
                </a:tc>
                <a:tc>
                  <a:txBody>
                    <a:bodyPr/>
                    <a:lstStyle/>
                    <a:p>
                      <a:pPr algn="ctr">
                        <a:defRPr sz="900">
                          <a:latin typeface="Montserrat"/>
                        </a:defRPr>
                      </a:pPr>
                      <a:r>
                        <a:t>128,437</a:t>
                      </a:r>
                    </a:p>
                  </a:txBody>
                  <a:tcPr>
                    <a:solidFill>
                      <a:srgbClr val="D9D9D9"/>
                    </a:solidFill>
                  </a:tcPr>
                </a:tc>
                <a:tc>
                  <a:txBody>
                    <a:bodyPr/>
                    <a:lstStyle/>
                    <a:p>
                      <a:pPr algn="ctr">
                        <a:defRPr sz="900">
                          <a:latin typeface="Montserrat"/>
                        </a:defRPr>
                      </a:pPr>
                      <a:r>
                        <a:t>6,602</a:t>
                      </a:r>
                    </a:p>
                  </a:txBody>
                  <a:tcPr>
                    <a:solidFill>
                      <a:srgbClr val="D9D9D9"/>
                    </a:solidFill>
                  </a:tcPr>
                </a:tc>
                <a:tc>
                  <a:txBody>
                    <a:bodyPr/>
                    <a:lstStyle/>
                    <a:p>
                      <a:pPr algn="ctr">
                        <a:defRPr sz="900">
                          <a:latin typeface="Montserrat"/>
                        </a:defRPr>
                      </a:pPr>
                      <a:r>
                        <a:t>21,257</a:t>
                      </a:r>
                    </a:p>
                  </a:txBody>
                  <a:tcPr>
                    <a:solidFill>
                      <a:srgbClr val="D9D9D9"/>
                    </a:solidFill>
                  </a:tcPr>
                </a:tc>
                <a:tc>
                  <a:txBody>
                    <a:bodyPr/>
                    <a:lstStyle/>
                    <a:p>
                      <a:pPr algn="ctr">
                        <a:defRPr sz="900">
                          <a:latin typeface="Montserrat"/>
                        </a:defRPr>
                      </a:pPr>
                      <a:r>
                        <a:t>1,440</a:t>
                      </a:r>
                    </a:p>
                  </a:txBody>
                  <a:tcPr>
                    <a:solidFill>
                      <a:srgbClr val="D9D9D9"/>
                    </a:solidFill>
                  </a:tcPr>
                </a:tc>
                <a:tc>
                  <a:txBody>
                    <a:bodyPr/>
                    <a:lstStyle/>
                    <a:p>
                      <a:pPr algn="ctr">
                        <a:defRPr sz="900">
                          <a:latin typeface="Montserrat"/>
                        </a:defRPr>
                      </a:pPr>
                      <a:r>
                        <a:t>157,736</a:t>
                      </a:r>
                    </a:p>
                  </a:txBody>
                  <a:tcPr>
                    <a:solidFill>
                      <a:srgbClr val="D9D9D9"/>
                    </a:solidFill>
                  </a:tcPr>
                </a:tc>
                <a:extLst>
                  <a:ext uri="{0D108BD9-81ED-4DB2-BD59-A6C34878D82A}">
                    <a16:rowId xmlns:a16="http://schemas.microsoft.com/office/drawing/2014/main" val="10003"/>
                  </a:ext>
                </a:extLst>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+1.6%</a:t>
                      </a:r>
                    </a:p>
                  </a:txBody>
                  <a:tcPr>
                    <a:solidFill>
                      <a:srgbClr val="FFFFFF"/>
                    </a:solidFill>
                  </a:tcPr>
                </a:tc>
                <a:tc>
                  <a:txBody>
                    <a:bodyPr/>
                    <a:lstStyle/>
                    <a:p>
                      <a:pPr algn="ctr">
                        <a:defRPr sz="900" b="1">
                          <a:solidFill>
                            <a:srgbClr val="006455"/>
                          </a:solidFill>
                          <a:latin typeface="Montserrat"/>
                        </a:defRPr>
                      </a:pPr>
                      <a:r>
                        <a:t>+3.2%</a:t>
                      </a:r>
                    </a:p>
                  </a:txBody>
                  <a:tcPr>
                    <a:solidFill>
                      <a:srgbClr val="FFFFFF"/>
                    </a:solidFill>
                  </a:tcPr>
                </a:tc>
                <a:tc>
                  <a:txBody>
                    <a:bodyPr/>
                    <a:lstStyle/>
                    <a:p>
                      <a:pPr algn="ctr">
                        <a:defRPr sz="900" b="0">
                          <a:solidFill>
                            <a:srgbClr val="691C32"/>
                          </a:solidFill>
                          <a:latin typeface="Montserrat"/>
                        </a:defRPr>
                      </a:pPr>
                      <a:r>
                        <a:t>-4.0%</a:t>
                      </a:r>
                    </a:p>
                  </a:txBody>
                  <a:tcPr>
                    <a:solidFill>
                      <a:srgbClr val="FFFFFF"/>
                    </a:solidFill>
                  </a:tcPr>
                </a:tc>
                <a:tc>
                  <a:txBody>
                    <a:bodyPr/>
                    <a:lstStyle/>
                    <a:p>
                      <a:pPr algn="ctr">
                        <a:defRPr sz="900" b="0">
                          <a:solidFill>
                            <a:srgbClr val="691C32"/>
                          </a:solidFill>
                          <a:latin typeface="Montserrat"/>
                        </a:defRPr>
                      </a:pPr>
                      <a:r>
                        <a:t>-0.1%</a:t>
                      </a:r>
                    </a:p>
                  </a:txBody>
                  <a:tcPr>
                    <a:solidFill>
                      <a:srgbClr val="FFFFFF"/>
                    </a:solidFill>
                  </a:tcPr>
                </a:tc>
                <a:tc>
                  <a:txBody>
                    <a:bodyPr/>
                    <a:lstStyle/>
                    <a:p>
                      <a:pPr algn="ctr">
                        <a:defRPr sz="900" b="1">
                          <a:solidFill>
                            <a:srgbClr val="006455"/>
                          </a:solidFill>
                          <a:latin typeface="Montserrat"/>
                        </a:defRPr>
                      </a:pPr>
                      <a:r>
                        <a:t>+0.8%</a:t>
                      </a:r>
                    </a:p>
                  </a:txBody>
                  <a:tcPr>
                    <a:solidFill>
                      <a:srgbClr val="FFFFFF"/>
                    </a:solidFill>
                  </a:tcPr>
                </a:tc>
                <a:extLst>
                  <a:ext uri="{0D108BD9-81ED-4DB2-BD59-A6C34878D82A}">
                    <a16:rowId xmlns:a16="http://schemas.microsoft.com/office/drawing/2014/main" val="10004"/>
                  </a:ext>
                </a:extLst>
              </a:tr>
            </a:tbl>
          </a:graphicData>
        </a:graphic>
      </p:graphicFrame>
      <p:sp>
        <p:nvSpPr>
          <p:cNvPr id="493" name="TextBox 492"/>
          <p:cNvSpPr txBox="1"/>
          <p:nvPr/>
        </p:nvSpPr>
        <p:spPr>
          <a:xfrm>
            <a:off x="208800" y="96444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Incorporación y Recaudación.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MX" sz="2000" b="1" u="none" strike="noStrike" cap="none">
                          <a:solidFill>
                            <a:srgbClr val="BC955C"/>
                          </a:solidFill>
                          <a:latin typeface="Montserrat"/>
                          <a:ea typeface="Montserrat"/>
                          <a:cs typeface="Montserrat"/>
                          <a:sym typeface="Montserrat"/>
                        </a:rPr>
                        <a:t>Puestos de trabajo y salario base de </a:t>
                      </a:r>
                      <a:r>
                        <a:rPr lang="es-MX" sz="2000" b="1" u="none" strike="noStrike" cap="none">
                          <a:solidFill>
                            <a:srgbClr val="BC955C"/>
                          </a:solidFill>
                          <a:latin typeface="Montserrat"/>
                          <a:ea typeface="Montserrat"/>
                          <a:cs typeface="Montserrat"/>
                          <a:sym typeface="Montserra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textRoundtripDataId="6"/>
                            </a:ext>
                          </a:extLst>
                        </a:rPr>
                        <a:t>cotización</a:t>
                      </a:r>
                      <a:endParaRPr lang="es-MX"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468179" y="2859883"/>
            <a:ext cx="1119730"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a:solidFill>
                  <a:srgbClr val="5B0F00"/>
                </a:solidFill>
                <a:latin typeface="Montserrat"/>
                <a:ea typeface="Montserrat"/>
                <a:cs typeface="Montserrat"/>
                <a:sym typeface="Montserrat"/>
              </a:rPr>
              <a:t> </a:t>
            </a:r>
            <a:r>
              <a:rPr lang="es" sz="1400" b="1" i="0" u="none" strike="noStrike" cap="none">
                <a:solidFill>
                  <a:srgbClr val="5B0F00"/>
                </a:solidFill>
                <a:latin typeface="Montserrat"/>
                <a:ea typeface="Montserrat"/>
                <a:cs typeface="Montserrat"/>
                <a:sym typeface="Montserrat"/>
              </a:rPr>
              <a:t>Puestos de trabajo comparación interanual de cada año</a:t>
            </a:r>
            <a:endParaRPr sz="2000" b="1" i="0" u="none" strike="noStrike" cap="none">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5D1EFEE1-D20D-FBAE-E513-772942965BF7}"/>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COLIMA</a:t>
            </a:r>
          </a:p>
        </p:txBody>
      </p:sp>
      <p:sp>
        <p:nvSpPr>
          <p:cNvPr id="502" name="TextBox 501"/>
          <p:cNvSpPr txBox="1"/>
          <p:nvPr/>
        </p:nvSpPr>
        <p:spPr>
          <a:xfrm>
            <a:off x="6582742" y="3118908"/>
            <a:ext cx="945854" cy="553998"/>
          </a:xfrm>
          <a:prstGeom prst="rect">
            <a:avLst/>
          </a:prstGeom>
          <a:noFill/>
        </p:spPr>
        <p:txBody>
          <a:bodyPr wrap="square">
            <a:spAutoFit/>
          </a:bodyPr>
          <a:lstStyle/>
          <a:p>
            <a:pPr algn="ctr">
              <a:defRPr sz="1400" b="1">
                <a:solidFill>
                  <a:srgbClr val="FFFFFF"/>
                </a:solidFill>
                <a:latin typeface="Montserrat"/>
              </a:defRPr>
            </a:pPr>
            <a:r>
              <a:t>$595.89</a:t>
            </a:r>
          </a:p>
          <a:p>
            <a:pPr algn="ctr">
              <a:defRPr sz="800" b="1">
                <a:solidFill>
                  <a:srgbClr val="FFFFFF"/>
                </a:solidFill>
                <a:latin typeface="Montserrat"/>
              </a:defRPr>
            </a:pPr>
            <a:r>
              <a:t>SBC</a:t>
            </a:r>
          </a:p>
          <a:p>
            <a:pPr algn="ctr">
              <a:defRPr sz="800" b="0">
                <a:solidFill>
                  <a:srgbClr val="FFFFFF"/>
                </a:solidFill>
                <a:latin typeface="Montserrat"/>
              </a:defRPr>
            </a:pPr>
            <a:r>
              <a:t>Mayo</a:t>
            </a:r>
          </a:p>
        </p:txBody>
      </p:sp>
      <p:graphicFrame>
        <p:nvGraphicFramePr>
          <p:cNvPr id="503" name="Table 502"/>
          <p:cNvGraphicFramePr>
            <a:graphicFrameLocks noGrp="1"/>
          </p:cNvGraphicFramePr>
          <p:nvPr/>
        </p:nvGraphicFramePr>
        <p:xfrm>
          <a:off x="478800" y="1130400"/>
          <a:ext cx="6638400" cy="1021080"/>
        </p:xfrm>
        <a:graphic>
          <a:graphicData uri="http://schemas.openxmlformats.org/drawingml/2006/table">
            <a:tbl>
              <a:tblPr firstRow="1" bandRow="1">
                <a:tableStyleId>{5C22544A-7EE6-4342-B048-85BDC9FD1C3A}</a:tableStyleId>
              </a:tblPr>
              <a:tblGrid>
                <a:gridCol w="1106400">
                  <a:extLst>
                    <a:ext uri="{9D8B030D-6E8A-4147-A177-3AD203B41FA5}">
                      <a16:colId xmlns:a16="http://schemas.microsoft.com/office/drawing/2014/main" val="20000"/>
                    </a:ext>
                  </a:extLst>
                </a:gridCol>
                <a:gridCol w="1106400">
                  <a:extLst>
                    <a:ext uri="{9D8B030D-6E8A-4147-A177-3AD203B41FA5}">
                      <a16:colId xmlns:a16="http://schemas.microsoft.com/office/drawing/2014/main" val="20001"/>
                    </a:ext>
                  </a:extLst>
                </a:gridCol>
                <a:gridCol w="1106400">
                  <a:extLst>
                    <a:ext uri="{9D8B030D-6E8A-4147-A177-3AD203B41FA5}">
                      <a16:colId xmlns:a16="http://schemas.microsoft.com/office/drawing/2014/main" val="20002"/>
                    </a:ext>
                  </a:extLst>
                </a:gridCol>
                <a:gridCol w="1106400">
                  <a:extLst>
                    <a:ext uri="{9D8B030D-6E8A-4147-A177-3AD203B41FA5}">
                      <a16:colId xmlns:a16="http://schemas.microsoft.com/office/drawing/2014/main" val="20003"/>
                    </a:ext>
                  </a:extLst>
                </a:gridCol>
                <a:gridCol w="1106400">
                  <a:extLst>
                    <a:ext uri="{9D8B030D-6E8A-4147-A177-3AD203B41FA5}">
                      <a16:colId xmlns:a16="http://schemas.microsoft.com/office/drawing/2014/main" val="20004"/>
                    </a:ext>
                  </a:extLst>
                </a:gridCol>
                <a:gridCol w="1106400">
                  <a:extLst>
                    <a:ext uri="{9D8B030D-6E8A-4147-A177-3AD203B41FA5}">
                      <a16:colId xmlns:a16="http://schemas.microsoft.com/office/drawing/2014/main" val="20005"/>
                    </a:ext>
                  </a:extLst>
                </a:gridCol>
              </a:tblGrid>
              <a:tr h="288000">
                <a:tc>
                  <a:txBody>
                    <a:bodyPr/>
                    <a:lstStyle/>
                    <a:p>
                      <a:pPr algn="ctr">
                        <a:defRPr sz="1100" b="1">
                          <a:solidFill>
                            <a:srgbClr val="FFFFFF"/>
                          </a:solidFill>
                          <a:latin typeface="Montserrat"/>
                        </a:defRPr>
                      </a:pPr>
                      <a:endParaRPr/>
                    </a:p>
                  </a:txBody>
                  <a:tcPr anchor="ctr">
                    <a:noFill/>
                  </a:tcPr>
                </a:tc>
                <a:tc>
                  <a:txBody>
                    <a:bodyPr/>
                    <a:lstStyle/>
                    <a:p>
                      <a:pPr algn="ctr">
                        <a:defRPr sz="1100" b="1">
                          <a:solidFill>
                            <a:srgbClr val="FFFFFF"/>
                          </a:solidFill>
                          <a:latin typeface="Montserrat"/>
                        </a:defRPr>
                      </a:pPr>
                      <a:r>
                        <a:t>2018 diciembre</a:t>
                      </a:r>
                    </a:p>
                  </a:txBody>
                  <a:tcPr anchor="ctr">
                    <a:solidFill>
                      <a:srgbClr val="A42145"/>
                    </a:solidFill>
                  </a:tcPr>
                </a:tc>
                <a:tc>
                  <a:txBody>
                    <a:bodyPr/>
                    <a:lstStyle/>
                    <a:p>
                      <a:pPr algn="ctr">
                        <a:defRPr sz="1100" b="1">
                          <a:solidFill>
                            <a:srgbClr val="FFFFFF"/>
                          </a:solidFill>
                          <a:latin typeface="Montserrat"/>
                        </a:defRPr>
                      </a:pPr>
                      <a:r>
                        <a:t>2026 Mayo</a:t>
                      </a:r>
                    </a:p>
                  </a:txBody>
                  <a:tcPr anchor="ctr">
                    <a:solidFill>
                      <a:srgbClr val="A42145"/>
                    </a:solidFill>
                  </a:tcPr>
                </a:tc>
                <a:tc>
                  <a:txBody>
                    <a:bodyPr/>
                    <a:lstStyle/>
                    <a:p>
                      <a:pPr algn="ctr">
                        <a:defRPr sz="1100" b="1">
                          <a:solidFill>
                            <a:srgbClr val="FFFFFF"/>
                          </a:solidFill>
                          <a:latin typeface="Montserrat"/>
                        </a:defRPr>
                      </a:pPr>
                      <a:r>
                        <a:t>Variación %</a:t>
                      </a:r>
                    </a:p>
                  </a:txBody>
                  <a:tcPr anchor="ctr">
                    <a:solidFill>
                      <a:srgbClr val="A42145"/>
                    </a:solidFill>
                  </a:tcPr>
                </a:tc>
                <a:tc>
                  <a:txBody>
                    <a:bodyPr/>
                    <a:lstStyle/>
                    <a:p>
                      <a:pPr algn="ctr">
                        <a:defRPr sz="1100" b="1">
                          <a:solidFill>
                            <a:srgbClr val="FFFFFF"/>
                          </a:solidFill>
                          <a:latin typeface="Montserrat"/>
                        </a:defRPr>
                      </a:pPr>
                      <a:r>
                        <a:t>Nacional 2026</a:t>
                      </a:r>
                    </a:p>
                  </a:txBody>
                  <a:tcPr anchor="ctr">
                    <a:solidFill>
                      <a:srgbClr val="A42145"/>
                    </a:solidFill>
                  </a:tcPr>
                </a:tc>
                <a:tc>
                  <a:txBody>
                    <a:bodyPr/>
                    <a:lstStyle/>
                    <a:p>
                      <a:pPr algn="ctr">
                        <a:defRPr sz="1100" b="1">
                          <a:solidFill>
                            <a:srgbClr val="FFFFFF"/>
                          </a:solidFill>
                          <a:latin typeface="Montserrat"/>
                        </a:defRPr>
                      </a:pPr>
                      <a:r>
                        <a:t>Salario Mensual</a:t>
                      </a:r>
                    </a:p>
                  </a:txBody>
                  <a:tcPr anchor="ctr">
                    <a:solidFill>
                      <a:srgbClr val="A42145"/>
                    </a:solidFill>
                  </a:tcPr>
                </a:tc>
                <a:extLst>
                  <a:ext uri="{0D108BD9-81ED-4DB2-BD59-A6C34878D82A}">
                    <a16:rowId xmlns:a16="http://schemas.microsoft.com/office/drawing/2014/main" val="10000"/>
                  </a:ext>
                </a:extLst>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$296.55</a:t>
                      </a:r>
                    </a:p>
                  </a:txBody>
                  <a:tcPr anchor="ctr">
                    <a:solidFill>
                      <a:srgbClr val="EEEEEE"/>
                    </a:solidFill>
                  </a:tcPr>
                </a:tc>
                <a:tc>
                  <a:txBody>
                    <a:bodyPr/>
                    <a:lstStyle/>
                    <a:p>
                      <a:pPr algn="ctr">
                        <a:defRPr sz="1100" b="1">
                          <a:latin typeface="Montserrat"/>
                        </a:defRPr>
                      </a:pPr>
                      <a:r>
                        <a:t>$595.89</a:t>
                      </a:r>
                    </a:p>
                  </a:txBody>
                  <a:tcPr anchor="ctr">
                    <a:solidFill>
                      <a:srgbClr val="EEEEEE"/>
                    </a:solidFill>
                  </a:tcPr>
                </a:tc>
                <a:tc>
                  <a:txBody>
                    <a:bodyPr/>
                    <a:lstStyle/>
                    <a:p>
                      <a:pPr algn="ctr">
                        <a:defRPr sz="1100">
                          <a:latin typeface="Montserrat"/>
                        </a:defRPr>
                      </a:pPr>
                      <a:r>
                        <a:t>42.1%</a:t>
                      </a:r>
                    </a:p>
                  </a:txBody>
                  <a:tcPr anchor="ctr">
                    <a:solidFill>
                      <a:srgbClr val="EEEEEE"/>
                    </a:solidFill>
                  </a:tcPr>
                </a:tc>
                <a:tc>
                  <a:txBody>
                    <a:bodyPr/>
                    <a:lstStyle/>
                    <a:p>
                      <a:pPr algn="ctr">
                        <a:defRPr sz="1100" b="1">
                          <a:latin typeface="Montserrat"/>
                        </a:defRPr>
                      </a:pPr>
                      <a:r>
                        <a:t>$671.25</a:t>
                      </a:r>
                    </a:p>
                  </a:txBody>
                  <a:tcPr anchor="ctr">
                    <a:solidFill>
                      <a:srgbClr val="EEEEEE"/>
                    </a:solidFill>
                  </a:tcPr>
                </a:tc>
                <a:tc>
                  <a:txBody>
                    <a:bodyPr/>
                    <a:lstStyle/>
                    <a:p>
                      <a:pPr algn="ctr">
                        <a:defRPr sz="1100" b="1">
                          <a:solidFill>
                            <a:srgbClr val="9F2241"/>
                          </a:solidFill>
                          <a:latin typeface="Montserrat"/>
                        </a:defRPr>
                      </a:pPr>
                      <a:r>
                        <a:t>$17,876.7</a:t>
                      </a:r>
                    </a:p>
                  </a:txBody>
                  <a:tcPr anchor="ctr">
                    <a:solidFill>
                      <a:srgbClr val="EEEEEE"/>
                    </a:solidFill>
                  </a:tcPr>
                </a:tc>
                <a:extLst>
                  <a:ext uri="{0D108BD9-81ED-4DB2-BD59-A6C34878D82A}">
                    <a16:rowId xmlns:a16="http://schemas.microsoft.com/office/drawing/2014/main" val="10001"/>
                  </a:ext>
                </a:extLst>
              </a:tr>
            </a:tbl>
          </a:graphicData>
        </a:graphic>
      </p:graphicFrame>
      <p:graphicFrame>
        <p:nvGraphicFramePr>
          <p:cNvPr id="504" name="Chart 503"/>
          <p:cNvGraphicFramePr>
            <a:graphicFrameLocks noGrp="1"/>
          </p:cNvGraphicFramePr>
          <p:nvPr>
            <p:extLst>
              <p:ext uri="{D42A27DB-BD31-4B8C-83A1-F6EECF244321}">
                <p14:modId xmlns:p14="http://schemas.microsoft.com/office/powerpoint/2010/main" val="4264038712"/>
              </p:ext>
            </p:extLst>
          </p:nvPr>
        </p:nvGraphicFramePr>
        <p:xfrm>
          <a:off x="244689" y="2851200"/>
          <a:ext cx="6163200" cy="3600000"/>
        </p:xfrm>
        <a:graphic>
          <a:graphicData uri="http://schemas.openxmlformats.org/drawingml/2006/chart">
            <c:chart xmlns:c="http://schemas.openxmlformats.org/drawingml/2006/chart" xmlns:r="http://schemas.openxmlformats.org/officeDocument/2006/relationships" r:id="rId5"/>
          </a:graphicData>
        </a:graphic>
      </p:graphicFrame>
      <p:sp>
        <p:nvSpPr>
          <p:cNvPr id="505" name="TextBox 504"/>
          <p:cNvSpPr txBox="1"/>
          <p:nvPr/>
        </p:nvSpPr>
        <p:spPr>
          <a:xfrm>
            <a:off x="380161"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022626"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1665091"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341424"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2992356"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3643288"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311154"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4962086"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5596085"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extLst>
              <p:ext uri="{D42A27DB-BD31-4B8C-83A1-F6EECF244321}">
                <p14:modId xmlns:p14="http://schemas.microsoft.com/office/powerpoint/2010/main" val="2583590188"/>
              </p:ext>
            </p:extLst>
          </p:nvPr>
        </p:nvGraphicFramePr>
        <p:xfrm>
          <a:off x="320400" y="6649200"/>
          <a:ext cx="7038000" cy="24138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2520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gridCol w="1278000">
                  <a:extLst>
                    <a:ext uri="{9D8B030D-6E8A-4147-A177-3AD203B41FA5}">
                      <a16:colId xmlns:a16="http://schemas.microsoft.com/office/drawing/2014/main" val="20002"/>
                    </a:ext>
                  </a:extLst>
                </a:gridCol>
              </a:tblGrid>
              <a:tr h="251999">
                <a:tc gridSpan="3">
                  <a:txBody>
                    <a:bodyPr/>
                    <a:lstStyle/>
                    <a:p>
                      <a:pPr algn="ctr">
                        <a:defRPr sz="1100" b="1">
                          <a:solidFill>
                            <a:srgbClr val="FFFFFF"/>
                          </a:solidFill>
                          <a:latin typeface="Montserrat"/>
                        </a:defRPr>
                      </a:pPr>
                      <a:r>
                        <a:t>PRINCIPALES DEUDORES</a:t>
                      </a:r>
                    </a:p>
                  </a:txBody>
                  <a:tcPr anchor="ctr">
                    <a:solidFill>
                      <a:srgbClr val="006455"/>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1100" b="1">
                          <a:solidFill>
                            <a:srgbClr val="FFFFFF"/>
                          </a:solidFill>
                          <a:latin typeface="Montserrat"/>
                        </a:defRPr>
                      </a:pPr>
                      <a:r>
                        <a:t>Categoría</a:t>
                      </a:r>
                    </a:p>
                  </a:txBody>
                  <a:tcPr anchor="ctr">
                    <a:solidFill>
                      <a:srgbClr val="006455"/>
                    </a:solidFill>
                  </a:tcPr>
                </a:tc>
                <a:tc>
                  <a:txBody>
                    <a:bodyPr/>
                    <a:lstStyle/>
                    <a:p>
                      <a:pPr algn="ctr">
                        <a:defRPr sz="1100" b="1">
                          <a:solidFill>
                            <a:srgbClr val="FFFFFF"/>
                          </a:solidFill>
                          <a:latin typeface="Montserrat"/>
                        </a:defRPr>
                      </a:pPr>
                      <a:r>
                        <a:t>Deudores</a:t>
                      </a:r>
                    </a:p>
                  </a:txBody>
                  <a:tcPr anchor="ctr">
                    <a:solidFill>
                      <a:srgbClr val="006455"/>
                    </a:solidFill>
                  </a:tcPr>
                </a:tc>
                <a:tc>
                  <a:txBody>
                    <a:bodyPr/>
                    <a:lstStyle/>
                    <a:p>
                      <a:pPr algn="ctr">
                        <a:defRPr sz="1100" b="1">
                          <a:solidFill>
                            <a:srgbClr val="FFFFFF"/>
                          </a:solidFill>
                          <a:latin typeface="Montserrat"/>
                        </a:defRPr>
                      </a:pPr>
                      <a:r>
                        <a:t>Monto de deuda (mdp)</a:t>
                      </a:r>
                    </a:p>
                  </a:txBody>
                  <a:tcPr anchor="ctr">
                    <a:solidFill>
                      <a:srgbClr val="006455"/>
                    </a:solidFill>
                  </a:tcPr>
                </a:tc>
                <a:extLst>
                  <a:ext uri="{0D108BD9-81ED-4DB2-BD59-A6C34878D82A}">
                    <a16:rowId xmlns:a16="http://schemas.microsoft.com/office/drawing/2014/main" val="10001"/>
                  </a:ext>
                </a:extLst>
              </a:tr>
              <a:tr h="288000">
                <a:tc rowSpan="3">
                  <a:txBody>
                    <a:bodyPr/>
                    <a:lstStyle/>
                    <a:p>
                      <a:pPr algn="ctr">
                        <a:defRPr sz="1100">
                          <a:solidFill>
                            <a:srgbClr val="FFFFFF"/>
                          </a:solidFill>
                          <a:latin typeface="Montserrat"/>
                        </a:defRPr>
                      </a:pPr>
                      <a:r>
                        <a:t>Principal</a:t>
                      </a:r>
                      <a:r>
                        <a:rPr lang="es-MX"/>
                        <a:t>es</a:t>
                      </a:r>
                      <a:r>
                        <a:t> </a:t>
                      </a:r>
                      <a:r>
                        <a:rPr err="1"/>
                        <a:t>deudor</a:t>
                      </a:r>
                      <a:r>
                        <a:rPr lang="es-MX"/>
                        <a:t>es</a:t>
                      </a:r>
                      <a:r>
                        <a:t> </a:t>
                      </a:r>
                      <a:r>
                        <a:rPr err="1"/>
                        <a:t>público</a:t>
                      </a:r>
                      <a:r>
                        <a:rPr lang="es-MX"/>
                        <a:t>s</a:t>
                      </a:r>
                      <a:endParaRPr/>
                    </a:p>
                  </a:txBody>
                  <a:tcPr anchor="ctr">
                    <a:solidFill>
                      <a:srgbClr val="006455"/>
                    </a:solidFill>
                  </a:tcPr>
                </a:tc>
                <a:tc>
                  <a:txBody>
                    <a:bodyPr/>
                    <a:lstStyle/>
                    <a:p>
                      <a:pPr algn="ctr">
                        <a:defRPr sz="900">
                          <a:latin typeface="Montserrat"/>
                        </a:defRPr>
                      </a:pPr>
                      <a:r>
                        <a:t>Municipio de Villa de Álvarez</a:t>
                      </a:r>
                    </a:p>
                  </a:txBody>
                  <a:tcPr anchor="ctr">
                    <a:solidFill>
                      <a:srgbClr val="FFFFFF"/>
                    </a:solidFill>
                  </a:tcPr>
                </a:tc>
                <a:tc>
                  <a:txBody>
                    <a:bodyPr/>
                    <a:lstStyle/>
                    <a:p>
                      <a:pPr algn="ctr">
                        <a:defRPr sz="900">
                          <a:latin typeface="Montserrat"/>
                        </a:defRPr>
                      </a:pPr>
                      <a:r>
                        <a:t>$67.90</a:t>
                      </a:r>
                    </a:p>
                  </a:txBody>
                  <a:tcPr anchor="ctr">
                    <a:solidFill>
                      <a:srgbClr val="FFFFFF"/>
                    </a:solidFill>
                  </a:tcPr>
                </a:tc>
                <a:extLst>
                  <a:ext uri="{0D108BD9-81ED-4DB2-BD59-A6C34878D82A}">
                    <a16:rowId xmlns:a16="http://schemas.microsoft.com/office/drawing/2014/main" val="10002"/>
                  </a:ext>
                </a:extLst>
              </a:tr>
              <a:tr h="288000">
                <a:tc vMerge="1">
                  <a:txBody>
                    <a:bodyPr/>
                    <a:lstStyle/>
                    <a:p>
                      <a:endParaRPr/>
                    </a:p>
                  </a:txBody>
                  <a:tcPr>
                    <a:solidFill>
                      <a:srgbClr val="EEEEEE"/>
                    </a:solidFill>
                  </a:tcPr>
                </a:tc>
                <a:tc>
                  <a:txBody>
                    <a:bodyPr/>
                    <a:lstStyle/>
                    <a:p>
                      <a:pPr algn="ctr">
                        <a:defRPr sz="900">
                          <a:latin typeface="Montserrat"/>
                        </a:defRPr>
                      </a:pPr>
                      <a:r>
                        <a:t>Universidad de Colima</a:t>
                      </a:r>
                    </a:p>
                  </a:txBody>
                  <a:tcPr anchor="ctr">
                    <a:solidFill>
                      <a:srgbClr val="EEEEEE"/>
                    </a:solidFill>
                  </a:tcPr>
                </a:tc>
                <a:tc>
                  <a:txBody>
                    <a:bodyPr/>
                    <a:lstStyle/>
                    <a:p>
                      <a:pPr algn="ctr">
                        <a:defRPr sz="900">
                          <a:latin typeface="Montserrat"/>
                        </a:defRPr>
                      </a:pPr>
                      <a:r>
                        <a:t>$31.46</a:t>
                      </a:r>
                    </a:p>
                  </a:txBody>
                  <a:tcPr anchor="ctr">
                    <a:solidFill>
                      <a:srgbClr val="EEEEEE"/>
                    </a:solidFill>
                  </a:tcPr>
                </a:tc>
                <a:extLst>
                  <a:ext uri="{0D108BD9-81ED-4DB2-BD59-A6C34878D82A}">
                    <a16:rowId xmlns:a16="http://schemas.microsoft.com/office/drawing/2014/main" val="10003"/>
                  </a:ext>
                </a:extLst>
              </a:tr>
              <a:tr h="288000">
                <a:tc vMerge="1">
                  <a:txBody>
                    <a:bodyPr/>
                    <a:lstStyle/>
                    <a:p>
                      <a:endParaRPr/>
                    </a:p>
                  </a:txBody>
                  <a:tcPr>
                    <a:solidFill>
                      <a:srgbClr val="FFFFFF"/>
                    </a:solidFill>
                  </a:tcPr>
                </a:tc>
                <a:tc>
                  <a:txBody>
                    <a:bodyPr/>
                    <a:lstStyle/>
                    <a:p>
                      <a:pPr algn="ctr">
                        <a:defRPr sz="900">
                          <a:latin typeface="Montserrat"/>
                        </a:defRPr>
                      </a:pPr>
                      <a:r>
                        <a:t>Instituto de Educación Inicial del Estado de Colima</a:t>
                      </a:r>
                    </a:p>
                  </a:txBody>
                  <a:tcPr anchor="ctr">
                    <a:solidFill>
                      <a:srgbClr val="FFFFFF"/>
                    </a:solidFill>
                  </a:tcPr>
                </a:tc>
                <a:tc>
                  <a:txBody>
                    <a:bodyPr/>
                    <a:lstStyle/>
                    <a:p>
                      <a:pPr algn="ctr">
                        <a:defRPr sz="900">
                          <a:latin typeface="Montserrat"/>
                        </a:defRPr>
                      </a:pPr>
                      <a:r>
                        <a:t>$13.39</a:t>
                      </a:r>
                    </a:p>
                  </a:txBody>
                  <a:tcPr anchor="ctr">
                    <a:solidFill>
                      <a:srgbClr val="FFFFFF"/>
                    </a:solidFill>
                  </a:tcPr>
                </a:tc>
                <a:extLst>
                  <a:ext uri="{0D108BD9-81ED-4DB2-BD59-A6C34878D82A}">
                    <a16:rowId xmlns:a16="http://schemas.microsoft.com/office/drawing/2014/main" val="10004"/>
                  </a:ext>
                </a:extLst>
              </a:tr>
              <a:tr h="288000">
                <a:tc rowSpan="3">
                  <a:txBody>
                    <a:bodyPr/>
                    <a:lstStyle/>
                    <a:p>
                      <a:pPr algn="ctr">
                        <a:defRPr sz="1100">
                          <a:solidFill>
                            <a:srgbClr val="FFFFFF"/>
                          </a:solidFill>
                          <a:latin typeface="Montserrat"/>
                        </a:defRPr>
                      </a:pPr>
                      <a:r>
                        <a:t>Principal</a:t>
                      </a:r>
                      <a:r>
                        <a:rPr lang="es-MX"/>
                        <a:t>es</a:t>
                      </a:r>
                      <a:r>
                        <a:t> </a:t>
                      </a:r>
                      <a:r>
                        <a:rPr err="1"/>
                        <a:t>deudor</a:t>
                      </a:r>
                      <a:r>
                        <a:rPr lang="es-MX"/>
                        <a:t>es</a:t>
                      </a:r>
                      <a:r>
                        <a:t> privado</a:t>
                      </a:r>
                      <a:r>
                        <a:rPr lang="es-MX"/>
                        <a:t>s</a:t>
                      </a:r>
                      <a:endParaRPr/>
                    </a:p>
                  </a:txBody>
                  <a:tcPr anchor="ctr">
                    <a:solidFill>
                      <a:srgbClr val="006455"/>
                    </a:solidFill>
                  </a:tcPr>
                </a:tc>
                <a:tc>
                  <a:txBody>
                    <a:bodyPr/>
                    <a:lstStyle/>
                    <a:p>
                      <a:pPr algn="ctr">
                        <a:defRPr sz="900">
                          <a:latin typeface="Montserrat"/>
                        </a:defRPr>
                      </a:pPr>
                      <a:r>
                        <a:t>Tiendas Bueno Bonito y Barato del Sur SAS de CV</a:t>
                      </a:r>
                    </a:p>
                  </a:txBody>
                  <a:tcPr anchor="ctr">
                    <a:solidFill>
                      <a:srgbClr val="EEEEEE"/>
                    </a:solidFill>
                  </a:tcPr>
                </a:tc>
                <a:tc>
                  <a:txBody>
                    <a:bodyPr/>
                    <a:lstStyle/>
                    <a:p>
                      <a:pPr algn="ctr">
                        <a:defRPr sz="900">
                          <a:latin typeface="Montserrat"/>
                        </a:defRPr>
                      </a:pPr>
                      <a:r>
                        <a:t>$16.03</a:t>
                      </a:r>
                    </a:p>
                  </a:txBody>
                  <a:tcPr anchor="ctr">
                    <a:solidFill>
                      <a:srgbClr val="EEEEEE"/>
                    </a:solidFill>
                  </a:tcPr>
                </a:tc>
                <a:extLst>
                  <a:ext uri="{0D108BD9-81ED-4DB2-BD59-A6C34878D82A}">
                    <a16:rowId xmlns:a16="http://schemas.microsoft.com/office/drawing/2014/main" val="10005"/>
                  </a:ext>
                </a:extLst>
              </a:tr>
              <a:tr h="288000">
                <a:tc vMerge="1">
                  <a:txBody>
                    <a:bodyPr/>
                    <a:lstStyle/>
                    <a:p>
                      <a:endParaRPr/>
                    </a:p>
                  </a:txBody>
                  <a:tcPr>
                    <a:solidFill>
                      <a:srgbClr val="FFFFFF"/>
                    </a:solidFill>
                  </a:tcPr>
                </a:tc>
                <a:tc>
                  <a:txBody>
                    <a:bodyPr/>
                    <a:lstStyle/>
                    <a:p>
                      <a:pPr algn="ctr">
                        <a:defRPr sz="900">
                          <a:latin typeface="Montserrat"/>
                        </a:defRPr>
                      </a:pPr>
                      <a:r>
                        <a:t>Hefreva Soluciones en Logística SAS de CV</a:t>
                      </a:r>
                    </a:p>
                  </a:txBody>
                  <a:tcPr anchor="ctr">
                    <a:solidFill>
                      <a:srgbClr val="FFFFFF"/>
                    </a:solidFill>
                  </a:tcPr>
                </a:tc>
                <a:tc>
                  <a:txBody>
                    <a:bodyPr/>
                    <a:lstStyle/>
                    <a:p>
                      <a:pPr algn="ctr">
                        <a:defRPr sz="900">
                          <a:latin typeface="Montserrat"/>
                        </a:defRPr>
                      </a:pPr>
                      <a:r>
                        <a:t>$7.25</a:t>
                      </a:r>
                    </a:p>
                  </a:txBody>
                  <a:tcPr anchor="ctr">
                    <a:solidFill>
                      <a:srgbClr val="FFFFFF"/>
                    </a:solidFill>
                  </a:tcPr>
                </a:tc>
                <a:extLst>
                  <a:ext uri="{0D108BD9-81ED-4DB2-BD59-A6C34878D82A}">
                    <a16:rowId xmlns:a16="http://schemas.microsoft.com/office/drawing/2014/main" val="10006"/>
                  </a:ext>
                </a:extLst>
              </a:tr>
              <a:tr h="288000">
                <a:tc vMerge="1">
                  <a:txBody>
                    <a:bodyPr/>
                    <a:lstStyle/>
                    <a:p>
                      <a:endParaRPr/>
                    </a:p>
                  </a:txBody>
                  <a:tcPr>
                    <a:solidFill>
                      <a:srgbClr val="006455"/>
                    </a:solidFill>
                  </a:tcPr>
                </a:tc>
                <a:tc>
                  <a:txBody>
                    <a:bodyPr/>
                    <a:lstStyle/>
                    <a:p>
                      <a:pPr algn="ctr">
                        <a:defRPr sz="900">
                          <a:latin typeface="Montserrat"/>
                        </a:defRPr>
                      </a:pPr>
                      <a:r>
                        <a:rPr err="1"/>
                        <a:t>Compañía</a:t>
                      </a:r>
                      <a:r>
                        <a:t> </a:t>
                      </a:r>
                      <a:r>
                        <a:rPr err="1"/>
                        <a:t>Isdamar</a:t>
                      </a:r>
                      <a:r>
                        <a:t> SA de CV</a:t>
                      </a:r>
                    </a:p>
                  </a:txBody>
                  <a:tcPr anchor="ctr">
                    <a:solidFill>
                      <a:srgbClr val="EEEEEE"/>
                    </a:solidFill>
                  </a:tcPr>
                </a:tc>
                <a:tc>
                  <a:txBody>
                    <a:bodyPr/>
                    <a:lstStyle/>
                    <a:p>
                      <a:pPr algn="ctr">
                        <a:defRPr sz="900">
                          <a:latin typeface="Montserrat"/>
                        </a:defRPr>
                      </a:pPr>
                      <a:r>
                        <a:t>$4.67</a:t>
                      </a:r>
                    </a:p>
                  </a:txBody>
                  <a:tcPr anchor="ctr">
                    <a:solidFill>
                      <a:srgbClr val="EEEEEE"/>
                    </a:solidFill>
                  </a:tcPr>
                </a:tc>
                <a:extLst>
                  <a:ext uri="{0D108BD9-81ED-4DB2-BD59-A6C34878D82A}">
                    <a16:rowId xmlns:a16="http://schemas.microsoft.com/office/drawing/2014/main" val="10007"/>
                  </a:ext>
                </a:extLst>
              </a:tr>
            </a:tbl>
          </a:graphicData>
        </a:graphic>
      </p:graphicFrame>
      <p:sp>
        <p:nvSpPr>
          <p:cNvPr id="515" name="TextBox 514"/>
          <p:cNvSpPr txBox="1"/>
          <p:nvPr/>
        </p:nvSpPr>
        <p:spPr>
          <a:xfrm>
            <a:off x="478800" y="2185855"/>
            <a:ext cx="6638400" cy="246221"/>
          </a:xfrm>
          <a:prstGeom prst="rect">
            <a:avLst/>
          </a:prstGeom>
          <a:noFill/>
        </p:spPr>
        <p:txBody>
          <a:bodyPr wrap="square" lIns="0" tIns="0" rIns="0" bIns="0">
            <a:spAutoFit/>
          </a:bodyPr>
          <a:lstStyle/>
          <a:p>
            <a:pPr>
              <a:defRPr sz="800">
                <a:solidFill>
                  <a:srgbClr val="FFFFFF"/>
                </a:solidFill>
                <a:latin typeface="Montserrat"/>
              </a:defRPr>
            </a:pPr>
            <a:r>
              <a:rPr>
                <a:solidFill>
                  <a:schemeClr val="tx1"/>
                </a:solidFill>
              </a:rPr>
              <a:t>Salario Base de Cotización</a:t>
            </a:r>
            <a:r>
              <a:rPr lang="es-MX">
                <a:solidFill>
                  <a:schemeClr val="tx1"/>
                </a:solidFill>
              </a:rPr>
              <a:t>: se utilizó como deflactor del salario el cociente del INPC entre diciembre 2018 (103.02) y  preliminar de mayo  2026 (145.714) de 0.7069998.</a:t>
            </a:r>
            <a:endParaRPr>
              <a:solidFill>
                <a:schemeClr val="tx1"/>
              </a:solidFill>
            </a:endParaRPr>
          </a:p>
        </p:txBody>
      </p:sp>
      <p:sp>
        <p:nvSpPr>
          <p:cNvPr id="516" name="TextBox 515"/>
          <p:cNvSpPr txBox="1"/>
          <p:nvPr/>
        </p:nvSpPr>
        <p:spPr>
          <a:xfrm>
            <a:off x="251999" y="95616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Incorporación y Recaudación. Corte de información mayo 2026.</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23</Slides>
  <Notes>21</Notes>
  <HiddenSlides>0</HiddenSlide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Simple Light</vt:lpstr>
      <vt:lpstr>1_Simple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revision>1</cp:revision>
  <dcterms:modified xsi:type="dcterms:W3CDTF">2026-07-02T18:36:16Z</dcterms:modified>
</cp:coreProperties>
</file>