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7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8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9.xml" ContentType="application/vnd.openxmlformats-officedocument.drawingml.chart+xml"/>
  <Override PartName="/ppt/notesSlides/notesSlide19.xml" ContentType="application/vnd.openxmlformats-officedocument.presentationml.notesSlide+xml"/>
  <Override PartName="/ppt/charts/chart10.xml" ContentType="application/vnd.openxmlformats-officedocument.drawingml.chart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89" r:id="rId3"/>
    <p:sldId id="258" r:id="rId4"/>
    <p:sldId id="259" r:id="rId5"/>
    <p:sldId id="260" r:id="rId6"/>
    <p:sldId id="261" r:id="rId7"/>
    <p:sldId id="287" r:id="rId8"/>
    <p:sldId id="262" r:id="rId9"/>
    <p:sldId id="280" r:id="rId10"/>
    <p:sldId id="267" r:id="rId11"/>
    <p:sldId id="298" r:id="rId12"/>
    <p:sldId id="302" r:id="rId13"/>
    <p:sldId id="303" r:id="rId14"/>
    <p:sldId id="305" r:id="rId15"/>
    <p:sldId id="281" r:id="rId16"/>
    <p:sldId id="306" r:id="rId17"/>
    <p:sldId id="288" r:id="rId18"/>
    <p:sldId id="270" r:id="rId19"/>
    <p:sldId id="271" r:id="rId20"/>
    <p:sldId id="272" r:id="rId21"/>
    <p:sldId id="300" r:id="rId22"/>
    <p:sldId id="297" r:id="rId23"/>
    <p:sldId id="299" r:id="rId24"/>
    <p:sldId id="277" r:id="rId25"/>
    <p:sldId id="278" r:id="rId26"/>
    <p:sldId id="279" r:id="rId27"/>
    <p:sldId id="282" r:id="rId28"/>
  </p:sldIdLst>
  <p:sldSz cx="7772400" cy="10058400"/>
  <p:notesSz cx="6858000" cy="9144000"/>
  <p:embeddedFontLst>
    <p:embeddedFont>
      <p:font typeface="Montserrat" panose="00000500000000000000" pitchFamily="2" charset="0"/>
      <p:regular r:id="rId30"/>
      <p:bold r:id="rId31"/>
      <p:italic r:id="rId32"/>
      <p:boldItalic r:id="rId33"/>
    </p:embeddedFont>
    <p:embeddedFont>
      <p:font typeface="Noto Sans" panose="020B0502040504020204" pitchFamily="3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3CE6B6-5148-41EE-A92C-F0FBA8E60EAB}" v="12" dt="2026-07-02T20:20:21.200"/>
    <p1510:client id="{C19DF61A-DE5D-4734-82B0-F6C276344D3B}" v="2" dt="2026-07-02T21:13:10.979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759"/>
  </p:normalViewPr>
  <p:slideViewPr>
    <p:cSldViewPr snapToGrid="0">
      <p:cViewPr>
        <p:scale>
          <a:sx n="80" d="100"/>
          <a:sy n="80" d="100"/>
        </p:scale>
        <p:origin x="498" y="-330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52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a Patricia Galvan Chavez" userId="S::laura.galvan@imss.gob.mx::6b13af50-ce8b-483e-8fc4-f994efaf3289" providerId="AD" clId="Web-{3B6E8A53-38A0-A7B6-0052-EF5BBFB04F4D}"/>
    <pc:docChg chg="modSld">
      <pc:chgData name="Laura Patricia Galvan Chavez" userId="S::laura.galvan@imss.gob.mx::6b13af50-ce8b-483e-8fc4-f994efaf3289" providerId="AD" clId="Web-{3B6E8A53-38A0-A7B6-0052-EF5BBFB04F4D}" dt="2026-06-23T20:00:59.416" v="12" actId="1076"/>
      <pc:docMkLst>
        <pc:docMk/>
      </pc:docMkLst>
      <pc:sldChg chg="addSp delSp modSp">
        <pc:chgData name="Laura Patricia Galvan Chavez" userId="S::laura.galvan@imss.gob.mx::6b13af50-ce8b-483e-8fc4-f994efaf3289" providerId="AD" clId="Web-{3B6E8A53-38A0-A7B6-0052-EF5BBFB04F4D}" dt="2026-06-23T20:00:59.416" v="12" actId="1076"/>
        <pc:sldMkLst>
          <pc:docMk/>
          <pc:sldMk cId="0" sldId="260"/>
        </pc:sldMkLst>
        <pc:picChg chg="mod">
          <ac:chgData name="Laura Patricia Galvan Chavez" userId="S::laura.galvan@imss.gob.mx::6b13af50-ce8b-483e-8fc4-f994efaf3289" providerId="AD" clId="Web-{3B6E8A53-38A0-A7B6-0052-EF5BBFB04F4D}" dt="2026-06-23T20:00:47.150" v="9" actId="14100"/>
          <ac:picMkLst>
            <pc:docMk/>
            <pc:sldMk cId="0" sldId="260"/>
            <ac:picMk id="2" creationId="{16B0CE27-0BAE-3A7C-EEBD-6C9D0E38A237}"/>
          </ac:picMkLst>
        </pc:picChg>
        <pc:picChg chg="add mod">
          <ac:chgData name="Laura Patricia Galvan Chavez" userId="S::laura.galvan@imss.gob.mx::6b13af50-ce8b-483e-8fc4-f994efaf3289" providerId="AD" clId="Web-{3B6E8A53-38A0-A7B6-0052-EF5BBFB04F4D}" dt="2026-06-23T20:00:59.416" v="12" actId="1076"/>
          <ac:picMkLst>
            <pc:docMk/>
            <pc:sldMk cId="0" sldId="260"/>
            <ac:picMk id="3" creationId="{664C994E-E12D-C0B3-CBCC-CCD898890F93}"/>
          </ac:picMkLst>
        </pc:picChg>
      </pc:sldChg>
    </pc:docChg>
  </pc:docChgLst>
  <pc:docChgLst>
    <pc:chgData name="Laura Patricia Galvan Chavez" userId="S::laura.galvan@imss.gob.mx::6b13af50-ce8b-483e-8fc4-f994efaf3289" providerId="AD" clId="Web-{9BF4DF03-0383-2EE5-1595-9E136702CED4}"/>
    <pc:docChg chg="modSld">
      <pc:chgData name="Laura Patricia Galvan Chavez" userId="S::laura.galvan@imss.gob.mx::6b13af50-ce8b-483e-8fc4-f994efaf3289" providerId="AD" clId="Web-{9BF4DF03-0383-2EE5-1595-9E136702CED4}" dt="2026-06-23T22:53:19.934" v="28" actId="20577"/>
      <pc:docMkLst>
        <pc:docMk/>
      </pc:docMkLst>
      <pc:sldChg chg="modSp">
        <pc:chgData name="Laura Patricia Galvan Chavez" userId="S::laura.galvan@imss.gob.mx::6b13af50-ce8b-483e-8fc4-f994efaf3289" providerId="AD" clId="Web-{9BF4DF03-0383-2EE5-1595-9E136702CED4}" dt="2026-06-23T22:51:11.901" v="3"/>
        <pc:sldMkLst>
          <pc:docMk/>
          <pc:sldMk cId="0" sldId="260"/>
        </pc:sldMkLst>
        <pc:graphicFrameChg chg="mod modGraphic">
          <ac:chgData name="Laura Patricia Galvan Chavez" userId="S::laura.galvan@imss.gob.mx::6b13af50-ce8b-483e-8fc4-f994efaf3289" providerId="AD" clId="Web-{9BF4DF03-0383-2EE5-1595-9E136702CED4}" dt="2026-06-23T22:51:11.901" v="3"/>
          <ac:graphicFrameMkLst>
            <pc:docMk/>
            <pc:sldMk cId="0" sldId="260"/>
            <ac:graphicFrameMk id="5" creationId="{EEA9DB8B-9828-0F39-BADF-093B6FA4ADDC}"/>
          </ac:graphicFrameMkLst>
        </pc:graphicFrameChg>
      </pc:sldChg>
      <pc:sldChg chg="addSp delSp modSp">
        <pc:chgData name="Laura Patricia Galvan Chavez" userId="S::laura.galvan@imss.gob.mx::6b13af50-ce8b-483e-8fc4-f994efaf3289" providerId="AD" clId="Web-{9BF4DF03-0383-2EE5-1595-9E136702CED4}" dt="2026-06-23T22:52:40.262" v="12" actId="1076"/>
        <pc:sldMkLst>
          <pc:docMk/>
          <pc:sldMk cId="3240565764" sldId="297"/>
        </pc:sldMkLst>
      </pc:sldChg>
    </pc:docChg>
  </pc:docChgLst>
  <pc:docChgLst>
    <pc:chgData name="Gerardo Jahir Lara Garcia" userId="84d5cd65-4601-4e92-b448-a9da4809e012" providerId="ADAL" clId="{848F2E50-180B-4DB9-9EF6-4803D25AC9EC}"/>
    <pc:docChg chg="undo custSel modSld">
      <pc:chgData name="Gerardo Jahir Lara Garcia" userId="84d5cd65-4601-4e92-b448-a9da4809e012" providerId="ADAL" clId="{848F2E50-180B-4DB9-9EF6-4803D25AC9EC}" dt="2026-07-02T20:24:11.091" v="683" actId="20577"/>
      <pc:docMkLst>
        <pc:docMk/>
      </pc:docMkLst>
      <pc:sldChg chg="modSp mod">
        <pc:chgData name="Gerardo Jahir Lara Garcia" userId="84d5cd65-4601-4e92-b448-a9da4809e012" providerId="ADAL" clId="{848F2E50-180B-4DB9-9EF6-4803D25AC9EC}" dt="2026-07-02T20:24:11.091" v="683" actId="20577"/>
        <pc:sldMkLst>
          <pc:docMk/>
          <pc:sldMk cId="0" sldId="259"/>
        </pc:sldMkLst>
        <pc:graphicFrameChg chg="modGraphic">
          <ac:chgData name="Gerardo Jahir Lara Garcia" userId="84d5cd65-4601-4e92-b448-a9da4809e012" providerId="ADAL" clId="{848F2E50-180B-4DB9-9EF6-4803D25AC9EC}" dt="2026-07-02T20:24:11.091" v="683" actId="20577"/>
          <ac:graphicFrameMkLst>
            <pc:docMk/>
            <pc:sldMk cId="0" sldId="259"/>
            <ac:graphicFrameMk id="135" creationId="{00000000-0000-0000-0000-000000000000}"/>
          </ac:graphicFrameMkLst>
        </pc:graphicFrameChg>
        <pc:graphicFrameChg chg="modGraphic">
          <ac:chgData name="Gerardo Jahir Lara Garcia" userId="84d5cd65-4601-4e92-b448-a9da4809e012" providerId="ADAL" clId="{848F2E50-180B-4DB9-9EF6-4803D25AC9EC}" dt="2026-07-02T20:23:55.127" v="681" actId="20577"/>
          <ac:graphicFrameMkLst>
            <pc:docMk/>
            <pc:sldMk cId="0" sldId="259"/>
            <ac:graphicFrameMk id="137" creationId="{00000000-0000-0000-0000-000000000000}"/>
          </ac:graphicFrameMkLst>
        </pc:graphicFrameChg>
      </pc:sldChg>
      <pc:sldChg chg="modSp mod">
        <pc:chgData name="Gerardo Jahir Lara Garcia" userId="84d5cd65-4601-4e92-b448-a9da4809e012" providerId="ADAL" clId="{848F2E50-180B-4DB9-9EF6-4803D25AC9EC}" dt="2026-07-02T19:43:14.299" v="246" actId="20577"/>
        <pc:sldMkLst>
          <pc:docMk/>
          <pc:sldMk cId="0" sldId="271"/>
        </pc:sldMkLst>
        <pc:spChg chg="mod">
          <ac:chgData name="Gerardo Jahir Lara Garcia" userId="84d5cd65-4601-4e92-b448-a9da4809e012" providerId="ADAL" clId="{848F2E50-180B-4DB9-9EF6-4803D25AC9EC}" dt="2026-07-02T19:41:04.158" v="232" actId="20577"/>
          <ac:spMkLst>
            <pc:docMk/>
            <pc:sldMk cId="0" sldId="271"/>
            <ac:spMk id="338" creationId="{00000000-0000-0000-0000-000000000000}"/>
          </ac:spMkLst>
        </pc:spChg>
        <pc:spChg chg="mod">
          <ac:chgData name="Gerardo Jahir Lara Garcia" userId="84d5cd65-4601-4e92-b448-a9da4809e012" providerId="ADAL" clId="{848F2E50-180B-4DB9-9EF6-4803D25AC9EC}" dt="2026-07-02T19:41:18.483" v="234" actId="20577"/>
          <ac:spMkLst>
            <pc:docMk/>
            <pc:sldMk cId="0" sldId="271"/>
            <ac:spMk id="341" creationId="{00000000-0000-0000-0000-000000000000}"/>
          </ac:spMkLst>
        </pc:spChg>
        <pc:spChg chg="mod">
          <ac:chgData name="Gerardo Jahir Lara Garcia" userId="84d5cd65-4601-4e92-b448-a9da4809e012" providerId="ADAL" clId="{848F2E50-180B-4DB9-9EF6-4803D25AC9EC}" dt="2026-07-02T19:43:14.299" v="246" actId="20577"/>
          <ac:spMkLst>
            <pc:docMk/>
            <pc:sldMk cId="0" sldId="271"/>
            <ac:spMk id="343" creationId="{00000000-0000-0000-0000-000000000000}"/>
          </ac:spMkLst>
        </pc:spChg>
      </pc:sldChg>
      <pc:sldChg chg="addSp delSp modSp mod">
        <pc:chgData name="Gerardo Jahir Lara Garcia" userId="84d5cd65-4601-4e92-b448-a9da4809e012" providerId="ADAL" clId="{848F2E50-180B-4DB9-9EF6-4803D25AC9EC}" dt="2026-07-02T20:21:33.309" v="676" actId="20577"/>
        <pc:sldMkLst>
          <pc:docMk/>
          <pc:sldMk cId="0" sldId="272"/>
        </pc:sldMkLst>
        <pc:spChg chg="mod">
          <ac:chgData name="Gerardo Jahir Lara Garcia" userId="84d5cd65-4601-4e92-b448-a9da4809e012" providerId="ADAL" clId="{848F2E50-180B-4DB9-9EF6-4803D25AC9EC}" dt="2026-07-02T20:20:46.436" v="637" actId="1036"/>
          <ac:spMkLst>
            <pc:docMk/>
            <pc:sldMk cId="0" sldId="272"/>
            <ac:spMk id="5" creationId="{00000000-0000-0000-0000-000000000000}"/>
          </ac:spMkLst>
        </pc:spChg>
        <pc:spChg chg="mod">
          <ac:chgData name="Gerardo Jahir Lara Garcia" userId="84d5cd65-4601-4e92-b448-a9da4809e012" providerId="ADAL" clId="{848F2E50-180B-4DB9-9EF6-4803D25AC9EC}" dt="2026-07-02T19:45:19.094" v="361" actId="1035"/>
          <ac:spMkLst>
            <pc:docMk/>
            <pc:sldMk cId="0" sldId="272"/>
            <ac:spMk id="7" creationId="{00000000-0000-0000-0000-000000000000}"/>
          </ac:spMkLst>
        </pc:spChg>
        <pc:spChg chg="mod">
          <ac:chgData name="Gerardo Jahir Lara Garcia" userId="84d5cd65-4601-4e92-b448-a9da4809e012" providerId="ADAL" clId="{848F2E50-180B-4DB9-9EF6-4803D25AC9EC}" dt="2026-07-02T19:45:23.853" v="377" actId="1035"/>
          <ac:spMkLst>
            <pc:docMk/>
            <pc:sldMk cId="0" sldId="272"/>
            <ac:spMk id="8" creationId="{00000000-0000-0000-0000-000000000000}"/>
          </ac:spMkLst>
        </pc:spChg>
        <pc:graphicFrameChg chg="mod modGraphic">
          <ac:chgData name="Gerardo Jahir Lara Garcia" userId="84d5cd65-4601-4e92-b448-a9da4809e012" providerId="ADAL" clId="{848F2E50-180B-4DB9-9EF6-4803D25AC9EC}" dt="2026-07-02T20:21:33.309" v="676" actId="20577"/>
          <ac:graphicFrameMkLst>
            <pc:docMk/>
            <pc:sldMk cId="0" sldId="272"/>
            <ac:graphicFrameMk id="10" creationId="{00000000-0000-0000-0000-000000000000}"/>
          </ac:graphicFrameMkLst>
        </pc:graphicFrameChg>
        <pc:graphicFrameChg chg="add del mod">
          <ac:chgData name="Gerardo Jahir Lara Garcia" userId="84d5cd65-4601-4e92-b448-a9da4809e012" providerId="ADAL" clId="{848F2E50-180B-4DB9-9EF6-4803D25AC9EC}" dt="2026-07-02T20:19:37.216" v="493" actId="478"/>
          <ac:graphicFrameMkLst>
            <pc:docMk/>
            <pc:sldMk cId="0" sldId="272"/>
            <ac:graphicFrameMk id="12" creationId="{980C3623-3C83-2D16-C4C4-03B396A5AF34}"/>
          </ac:graphicFrameMkLst>
        </pc:graphicFrameChg>
        <pc:graphicFrameChg chg="add del mod">
          <ac:chgData name="Gerardo Jahir Lara Garcia" userId="84d5cd65-4601-4e92-b448-a9da4809e012" providerId="ADAL" clId="{848F2E50-180B-4DB9-9EF6-4803D25AC9EC}" dt="2026-07-02T20:20:20.205" v="568" actId="478"/>
          <ac:graphicFrameMkLst>
            <pc:docMk/>
            <pc:sldMk cId="0" sldId="272"/>
            <ac:graphicFrameMk id="13" creationId="{980C3623-3C83-2D16-C4C4-03B396A5AF34}"/>
          </ac:graphicFrameMkLst>
        </pc:graphicFrameChg>
        <pc:graphicFrameChg chg="add mod">
          <ac:chgData name="Gerardo Jahir Lara Garcia" userId="84d5cd65-4601-4e92-b448-a9da4809e012" providerId="ADAL" clId="{848F2E50-180B-4DB9-9EF6-4803D25AC9EC}" dt="2026-07-02T20:20:51.724" v="648" actId="1037"/>
          <ac:graphicFrameMkLst>
            <pc:docMk/>
            <pc:sldMk cId="0" sldId="272"/>
            <ac:graphicFrameMk id="14" creationId="{980C3623-3C83-2D16-C4C4-03B396A5AF34}"/>
          </ac:graphicFrameMkLst>
        </pc:graphicFrameChg>
        <pc:picChg chg="del">
          <ac:chgData name="Gerardo Jahir Lara Garcia" userId="84d5cd65-4601-4e92-b448-a9da4809e012" providerId="ADAL" clId="{848F2E50-180B-4DB9-9EF6-4803D25AC9EC}" dt="2026-07-02T19:44:35.920" v="247" actId="478"/>
          <ac:picMkLst>
            <pc:docMk/>
            <pc:sldMk cId="0" sldId="272"/>
            <ac:picMk id="6" creationId="{00000000-0000-0000-0000-000000000000}"/>
          </ac:picMkLst>
        </pc:picChg>
        <pc:cxnChg chg="mod">
          <ac:chgData name="Gerardo Jahir Lara Garcia" userId="84d5cd65-4601-4e92-b448-a9da4809e012" providerId="ADAL" clId="{848F2E50-180B-4DB9-9EF6-4803D25AC9EC}" dt="2026-07-02T19:45:23.853" v="377" actId="1035"/>
          <ac:cxnSpMkLst>
            <pc:docMk/>
            <pc:sldMk cId="0" sldId="272"/>
            <ac:cxnSpMk id="9" creationId="{00000000-0000-0000-0000-000000000000}"/>
          </ac:cxnSpMkLst>
        </pc:cxnChg>
      </pc:sldChg>
      <pc:sldChg chg="modSp mod">
        <pc:chgData name="Gerardo Jahir Lara Garcia" userId="84d5cd65-4601-4e92-b448-a9da4809e012" providerId="ADAL" clId="{848F2E50-180B-4DB9-9EF6-4803D25AC9EC}" dt="2026-07-02T19:55:47.117" v="407" actId="1035"/>
        <pc:sldMkLst>
          <pc:docMk/>
          <pc:sldMk cId="0" sldId="277"/>
        </pc:sldMkLst>
        <pc:spChg chg="mod">
          <ac:chgData name="Gerardo Jahir Lara Garcia" userId="84d5cd65-4601-4e92-b448-a9da4809e012" providerId="ADAL" clId="{848F2E50-180B-4DB9-9EF6-4803D25AC9EC}" dt="2026-07-02T19:55:36.764" v="404" actId="20577"/>
          <ac:spMkLst>
            <pc:docMk/>
            <pc:sldMk cId="0" sldId="277"/>
            <ac:spMk id="472" creationId="{00000000-0000-0000-0000-000000000000}"/>
          </ac:spMkLst>
        </pc:spChg>
        <pc:graphicFrameChg chg="modGraphic">
          <ac:chgData name="Gerardo Jahir Lara Garcia" userId="84d5cd65-4601-4e92-b448-a9da4809e012" providerId="ADAL" clId="{848F2E50-180B-4DB9-9EF6-4803D25AC9EC}" dt="2026-07-02T16:52:31.906" v="11" actId="20577"/>
          <ac:graphicFrameMkLst>
            <pc:docMk/>
            <pc:sldMk cId="0" sldId="277"/>
            <ac:graphicFrameMk id="467" creationId="{00000000-0000-0000-0000-000000000000}"/>
          </ac:graphicFrameMkLst>
        </pc:graphicFrameChg>
        <pc:graphicFrameChg chg="mod">
          <ac:chgData name="Gerardo Jahir Lara Garcia" userId="84d5cd65-4601-4e92-b448-a9da4809e012" providerId="ADAL" clId="{848F2E50-180B-4DB9-9EF6-4803D25AC9EC}" dt="2026-07-02T19:55:47.117" v="407" actId="1035"/>
          <ac:graphicFrameMkLst>
            <pc:docMk/>
            <pc:sldMk cId="0" sldId="277"/>
            <ac:graphicFrameMk id="468" creationId="{00000000-0000-0000-0000-000000000000}"/>
          </ac:graphicFrameMkLst>
        </pc:graphicFrameChg>
        <pc:graphicFrameChg chg="modGraphic">
          <ac:chgData name="Gerardo Jahir Lara Garcia" userId="84d5cd65-4601-4e92-b448-a9da4809e012" providerId="ADAL" clId="{848F2E50-180B-4DB9-9EF6-4803D25AC9EC}" dt="2026-07-02T19:55:24.203" v="401" actId="20577"/>
          <ac:graphicFrameMkLst>
            <pc:docMk/>
            <pc:sldMk cId="0" sldId="277"/>
            <ac:graphicFrameMk id="469" creationId="{00000000-0000-0000-0000-000000000000}"/>
          </ac:graphicFrameMkLst>
        </pc:graphicFrameChg>
      </pc:sldChg>
      <pc:sldChg chg="modSp mod">
        <pc:chgData name="Gerardo Jahir Lara Garcia" userId="84d5cd65-4601-4e92-b448-a9da4809e012" providerId="ADAL" clId="{848F2E50-180B-4DB9-9EF6-4803D25AC9EC}" dt="2026-07-02T20:22:23.410" v="679" actId="2062"/>
        <pc:sldMkLst>
          <pc:docMk/>
          <pc:sldMk cId="0" sldId="278"/>
        </pc:sldMkLst>
        <pc:graphicFrameChg chg="modGraphic">
          <ac:chgData name="Gerardo Jahir Lara Garcia" userId="84d5cd65-4601-4e92-b448-a9da4809e012" providerId="ADAL" clId="{848F2E50-180B-4DB9-9EF6-4803D25AC9EC}" dt="2026-07-02T20:22:18.195" v="678" actId="2062"/>
          <ac:graphicFrameMkLst>
            <pc:docMk/>
            <pc:sldMk cId="0" sldId="278"/>
            <ac:graphicFrameMk id="479" creationId="{00000000-0000-0000-0000-000000000000}"/>
          </ac:graphicFrameMkLst>
        </pc:graphicFrameChg>
        <pc:graphicFrameChg chg="modGraphic">
          <ac:chgData name="Gerardo Jahir Lara Garcia" userId="84d5cd65-4601-4e92-b448-a9da4809e012" providerId="ADAL" clId="{848F2E50-180B-4DB9-9EF6-4803D25AC9EC}" dt="2026-07-02T20:22:23.410" v="679" actId="2062"/>
          <ac:graphicFrameMkLst>
            <pc:docMk/>
            <pc:sldMk cId="0" sldId="278"/>
            <ac:graphicFrameMk id="492" creationId="{00000000-0000-0000-0000-000000000000}"/>
          </ac:graphicFrameMkLst>
        </pc:graphicFrameChg>
      </pc:sldChg>
      <pc:sldChg chg="modSp mod">
        <pc:chgData name="Gerardo Jahir Lara Garcia" userId="84d5cd65-4601-4e92-b448-a9da4809e012" providerId="ADAL" clId="{848F2E50-180B-4DB9-9EF6-4803D25AC9EC}" dt="2026-07-02T17:37:26.980" v="228"/>
        <pc:sldMkLst>
          <pc:docMk/>
          <pc:sldMk cId="30077326" sldId="299"/>
        </pc:sldMkLst>
        <pc:spChg chg="mod">
          <ac:chgData name="Gerardo Jahir Lara Garcia" userId="84d5cd65-4601-4e92-b448-a9da4809e012" providerId="ADAL" clId="{848F2E50-180B-4DB9-9EF6-4803D25AC9EC}" dt="2026-07-02T17:37:26.980" v="228"/>
          <ac:spMkLst>
            <pc:docMk/>
            <pc:sldMk cId="30077326" sldId="299"/>
            <ac:spMk id="26" creationId="{00000000-0000-0000-0000-000000000000}"/>
          </ac:spMkLst>
        </pc:spChg>
        <pc:graphicFrameChg chg="modGraphic">
          <ac:chgData name="Gerardo Jahir Lara Garcia" userId="84d5cd65-4601-4e92-b448-a9da4809e012" providerId="ADAL" clId="{848F2E50-180B-4DB9-9EF6-4803D25AC9EC}" dt="2026-07-02T17:37:07.566" v="227" actId="20577"/>
          <ac:graphicFrameMkLst>
            <pc:docMk/>
            <pc:sldMk cId="30077326" sldId="299"/>
            <ac:graphicFrameMk id="23" creationId="{00000000-0000-0000-0000-000000000000}"/>
          </ac:graphicFrameMkLst>
        </pc:graphicFrameChg>
      </pc:sldChg>
      <pc:sldChg chg="addSp delSp modSp mod">
        <pc:chgData name="Gerardo Jahir Lara Garcia" userId="84d5cd65-4601-4e92-b448-a9da4809e012" providerId="ADAL" clId="{848F2E50-180B-4DB9-9EF6-4803D25AC9EC}" dt="2026-07-02T20:21:53.324" v="677" actId="2062"/>
        <pc:sldMkLst>
          <pc:docMk/>
          <pc:sldMk cId="4037960979" sldId="300"/>
        </pc:sldMkLst>
        <pc:spChg chg="mod">
          <ac:chgData name="Gerardo Jahir Lara Garcia" userId="84d5cd65-4601-4e92-b448-a9da4809e012" providerId="ADAL" clId="{848F2E50-180B-4DB9-9EF6-4803D25AC9EC}" dt="2026-07-02T17:11:58.323" v="159" actId="1035"/>
          <ac:spMkLst>
            <pc:docMk/>
            <pc:sldMk cId="4037960979" sldId="300"/>
            <ac:spMk id="7" creationId="{00000000-0000-0000-0000-000000000000}"/>
          </ac:spMkLst>
        </pc:spChg>
        <pc:graphicFrameChg chg="add del mod">
          <ac:chgData name="Gerardo Jahir Lara Garcia" userId="84d5cd65-4601-4e92-b448-a9da4809e012" providerId="ADAL" clId="{848F2E50-180B-4DB9-9EF6-4803D25AC9EC}" dt="2026-07-02T20:16:56.018" v="452" actId="478"/>
          <ac:graphicFrameMkLst>
            <pc:docMk/>
            <pc:sldMk cId="4037960979" sldId="300"/>
            <ac:graphicFrameMk id="6" creationId="{037B2FDF-B096-4F50-B370-A193E8FBC4B4}"/>
          </ac:graphicFrameMkLst>
        </pc:graphicFrameChg>
        <pc:graphicFrameChg chg="mod modGraphic">
          <ac:chgData name="Gerardo Jahir Lara Garcia" userId="84d5cd65-4601-4e92-b448-a9da4809e012" providerId="ADAL" clId="{848F2E50-180B-4DB9-9EF6-4803D25AC9EC}" dt="2026-07-02T20:21:53.324" v="677" actId="2062"/>
          <ac:graphicFrameMkLst>
            <pc:docMk/>
            <pc:sldMk cId="4037960979" sldId="300"/>
            <ac:graphicFrameMk id="9" creationId="{00000000-0000-0000-0000-000000000000}"/>
          </ac:graphicFrameMkLst>
        </pc:graphicFrameChg>
        <pc:graphicFrameChg chg="add del mod">
          <ac:chgData name="Gerardo Jahir Lara Garcia" userId="84d5cd65-4601-4e92-b448-a9da4809e012" providerId="ADAL" clId="{848F2E50-180B-4DB9-9EF6-4803D25AC9EC}" dt="2026-07-02T20:17:46.902" v="492" actId="1037"/>
          <ac:graphicFrameMkLst>
            <pc:docMk/>
            <pc:sldMk cId="4037960979" sldId="300"/>
            <ac:graphicFrameMk id="11" creationId="{037B2FDF-B096-4F50-B370-A193E8FBC4B4}"/>
          </ac:graphicFrameMkLst>
        </pc:graphicFrameChg>
        <pc:graphicFrameChg chg="add del mod">
          <ac:chgData name="Gerardo Jahir Lara Garcia" userId="84d5cd65-4601-4e92-b448-a9da4809e012" providerId="ADAL" clId="{848F2E50-180B-4DB9-9EF6-4803D25AC9EC}" dt="2026-07-02T20:16:44.851" v="408" actId="478"/>
          <ac:graphicFrameMkLst>
            <pc:docMk/>
            <pc:sldMk cId="4037960979" sldId="300"/>
            <ac:graphicFrameMk id="12" creationId="{037B2FDF-B096-4F50-B370-A193E8FBC4B4}"/>
          </ac:graphicFrameMkLst>
        </pc:graphicFrameChg>
        <pc:picChg chg="del">
          <ac:chgData name="Gerardo Jahir Lara Garcia" userId="84d5cd65-4601-4e92-b448-a9da4809e012" providerId="ADAL" clId="{848F2E50-180B-4DB9-9EF6-4803D25AC9EC}" dt="2026-07-02T17:11:32.912" v="87" actId="478"/>
          <ac:picMkLst>
            <pc:docMk/>
            <pc:sldMk cId="4037960979" sldId="300"/>
            <ac:picMk id="6" creationId="{00000000-0000-0000-0000-000000000000}"/>
          </ac:picMkLst>
        </pc:picChg>
        <pc:cxnChg chg="mod">
          <ac:chgData name="Gerardo Jahir Lara Garcia" userId="84d5cd65-4601-4e92-b448-a9da4809e012" providerId="ADAL" clId="{848F2E50-180B-4DB9-9EF6-4803D25AC9EC}" dt="2026-07-02T17:11:58.323" v="159" actId="1035"/>
          <ac:cxnSpMkLst>
            <pc:docMk/>
            <pc:sldMk cId="4037960979" sldId="300"/>
            <ac:cxnSpMk id="8" creationId="{00000000-0000-0000-0000-000000000000}"/>
          </ac:cxnSpMkLst>
        </pc:cxnChg>
      </pc:sldChg>
    </pc:docChg>
  </pc:docChgLst>
  <pc:docChgLst>
    <pc:chgData name="Laura Patricia Galvan Chavez" userId="6b13af50-ce8b-483e-8fc4-f994efaf3289" providerId="ADAL" clId="{655D084B-7DF1-4C24-9447-417D7DC498B8}"/>
    <pc:docChg chg="custSel modSld">
      <pc:chgData name="Laura Patricia Galvan Chavez" userId="6b13af50-ce8b-483e-8fc4-f994efaf3289" providerId="ADAL" clId="{655D084B-7DF1-4C24-9447-417D7DC498B8}" dt="2026-07-02T21:13:21.463" v="93" actId="1036"/>
      <pc:docMkLst>
        <pc:docMk/>
      </pc:docMkLst>
      <pc:sldChg chg="modSp mod">
        <pc:chgData name="Laura Patricia Galvan Chavez" userId="6b13af50-ce8b-483e-8fc4-f994efaf3289" providerId="ADAL" clId="{655D084B-7DF1-4C24-9447-417D7DC498B8}" dt="2026-07-02T21:01:19.569" v="73" actId="20577"/>
        <pc:sldMkLst>
          <pc:docMk/>
          <pc:sldMk cId="0" sldId="259"/>
        </pc:sldMkLst>
        <pc:graphicFrameChg chg="modGraphic">
          <ac:chgData name="Laura Patricia Galvan Chavez" userId="6b13af50-ce8b-483e-8fc4-f994efaf3289" providerId="ADAL" clId="{655D084B-7DF1-4C24-9447-417D7DC498B8}" dt="2026-07-02T21:01:19.569" v="73" actId="20577"/>
          <ac:graphicFrameMkLst>
            <pc:docMk/>
            <pc:sldMk cId="0" sldId="259"/>
            <ac:graphicFrameMk id="137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7-02T21:04:03.693" v="77" actId="20577"/>
        <pc:sldMkLst>
          <pc:docMk/>
          <pc:sldMk cId="0" sldId="260"/>
        </pc:sldMkLst>
        <pc:graphicFrameChg chg="modGraphic">
          <ac:chgData name="Laura Patricia Galvan Chavez" userId="6b13af50-ce8b-483e-8fc4-f994efaf3289" providerId="ADAL" clId="{655D084B-7DF1-4C24-9447-417D7DC498B8}" dt="2026-07-02T21:04:03.693" v="77" actId="20577"/>
          <ac:graphicFrameMkLst>
            <pc:docMk/>
            <pc:sldMk cId="0" sldId="260"/>
            <ac:graphicFrameMk id="12" creationId="{7424A6CA-3059-9478-E7F8-A03427E55609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9T18:25:09.172" v="59" actId="1076"/>
        <pc:sldMkLst>
          <pc:docMk/>
          <pc:sldMk cId="0" sldId="267"/>
        </pc:sldMkLst>
        <pc:spChg chg="mod">
          <ac:chgData name="Laura Patricia Galvan Chavez" userId="6b13af50-ce8b-483e-8fc4-f994efaf3289" providerId="ADAL" clId="{655D084B-7DF1-4C24-9447-417D7DC498B8}" dt="2026-06-29T18:25:09.172" v="59" actId="1076"/>
          <ac:spMkLst>
            <pc:docMk/>
            <pc:sldMk cId="0" sldId="267"/>
            <ac:spMk id="235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9T18:25:09.172" v="59" actId="1076"/>
          <ac:spMkLst>
            <pc:docMk/>
            <pc:sldMk cId="0" sldId="267"/>
            <ac:spMk id="236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9T18:25:09.172" v="59" actId="1076"/>
          <ac:spMkLst>
            <pc:docMk/>
            <pc:sldMk cId="0" sldId="267"/>
            <ac:spMk id="237" creationId="{00000000-0000-0000-0000-000000000000}"/>
          </ac:spMkLst>
        </pc:spChg>
        <pc:graphicFrameChg chg="mod">
          <ac:chgData name="Laura Patricia Galvan Chavez" userId="6b13af50-ce8b-483e-8fc4-f994efaf3289" providerId="ADAL" clId="{655D084B-7DF1-4C24-9447-417D7DC498B8}" dt="2026-06-29T18:25:09.172" v="59" actId="1076"/>
          <ac:graphicFrameMkLst>
            <pc:docMk/>
            <pc:sldMk cId="0" sldId="267"/>
            <ac:graphicFrameMk id="234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9T18:26:43.227" v="64" actId="1076"/>
        <pc:sldMkLst>
          <pc:docMk/>
          <pc:sldMk cId="0" sldId="277"/>
        </pc:sldMkLst>
        <pc:picChg chg="mod">
          <ac:chgData name="Laura Patricia Galvan Chavez" userId="6b13af50-ce8b-483e-8fc4-f994efaf3289" providerId="ADAL" clId="{655D084B-7DF1-4C24-9447-417D7DC498B8}" dt="2026-06-29T18:26:43.227" v="64" actId="1076"/>
          <ac:picMkLst>
            <pc:docMk/>
            <pc:sldMk cId="0" sldId="277"/>
            <ac:picMk id="3" creationId="{8EBF7904-E169-D0C1-4124-83784D9A294D}"/>
          </ac:picMkLst>
        </pc:picChg>
      </pc:sldChg>
      <pc:sldChg chg="modSp mod">
        <pc:chgData name="Laura Patricia Galvan Chavez" userId="6b13af50-ce8b-483e-8fc4-f994efaf3289" providerId="ADAL" clId="{655D084B-7DF1-4C24-9447-417D7DC498B8}" dt="2026-07-02T21:13:21.463" v="93" actId="1036"/>
        <pc:sldMkLst>
          <pc:docMk/>
          <pc:sldMk cId="0" sldId="278"/>
        </pc:sldMkLst>
        <pc:graphicFrameChg chg="mod">
          <ac:chgData name="Laura Patricia Galvan Chavez" userId="6b13af50-ce8b-483e-8fc4-f994efaf3289" providerId="ADAL" clId="{655D084B-7DF1-4C24-9447-417D7DC498B8}" dt="2026-07-02T21:13:21.463" v="93" actId="1036"/>
          <ac:graphicFrameMkLst>
            <pc:docMk/>
            <pc:sldMk cId="0" sldId="278"/>
            <ac:graphicFrameMk id="475" creationId="{00000000-0000-0000-0000-000000000000}"/>
          </ac:graphicFrameMkLst>
        </pc:graphicFrameChg>
        <pc:graphicFrameChg chg="mod modGraphic">
          <ac:chgData name="Laura Patricia Galvan Chavez" userId="6b13af50-ce8b-483e-8fc4-f994efaf3289" providerId="ADAL" clId="{655D084B-7DF1-4C24-9447-417D7DC498B8}" dt="2026-07-02T21:13:13.715" v="92" actId="108"/>
          <ac:graphicFrameMkLst>
            <pc:docMk/>
            <pc:sldMk cId="0" sldId="278"/>
            <ac:graphicFrameMk id="479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9T18:27:05.780" v="69" actId="20577"/>
        <pc:sldMkLst>
          <pc:docMk/>
          <pc:sldMk cId="0" sldId="279"/>
        </pc:sldMkLst>
        <pc:graphicFrameChg chg="modGraphic">
          <ac:chgData name="Laura Patricia Galvan Chavez" userId="6b13af50-ce8b-483e-8fc4-f994efaf3289" providerId="ADAL" clId="{655D084B-7DF1-4C24-9447-417D7DC498B8}" dt="2026-06-29T18:27:05.780" v="69" actId="20577"/>
          <ac:graphicFrameMkLst>
            <pc:docMk/>
            <pc:sldMk cId="0" sldId="279"/>
            <ac:graphicFrameMk id="514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9T18:24:55.933" v="58" actId="1076"/>
        <pc:sldMkLst>
          <pc:docMk/>
          <pc:sldMk cId="540716406" sldId="280"/>
        </pc:sldMkLst>
        <pc:spChg chg="mod">
          <ac:chgData name="Laura Patricia Galvan Chavez" userId="6b13af50-ce8b-483e-8fc4-f994efaf3289" providerId="ADAL" clId="{655D084B-7DF1-4C24-9447-417D7DC498B8}" dt="2026-06-29T18:24:55.933" v="58" actId="1076"/>
          <ac:spMkLst>
            <pc:docMk/>
            <pc:sldMk cId="540716406" sldId="280"/>
            <ac:spMk id="238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9T18:24:55.933" v="58" actId="1076"/>
          <ac:spMkLst>
            <pc:docMk/>
            <pc:sldMk cId="540716406" sldId="280"/>
            <ac:spMk id="239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9T18:24:55.933" v="58" actId="1076"/>
          <ac:spMkLst>
            <pc:docMk/>
            <pc:sldMk cId="540716406" sldId="280"/>
            <ac:spMk id="240" creationId="{00000000-0000-0000-0000-000000000000}"/>
          </ac:spMkLst>
        </pc:spChg>
        <pc:graphicFrameChg chg="mod">
          <ac:chgData name="Laura Patricia Galvan Chavez" userId="6b13af50-ce8b-483e-8fc4-f994efaf3289" providerId="ADAL" clId="{655D084B-7DF1-4C24-9447-417D7DC498B8}" dt="2026-06-29T18:24:55.933" v="58" actId="1076"/>
          <ac:graphicFrameMkLst>
            <pc:docMk/>
            <pc:sldMk cId="540716406" sldId="280"/>
            <ac:graphicFrameMk id="237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9T20:02:12.205" v="71" actId="1076"/>
        <pc:sldMkLst>
          <pc:docMk/>
          <pc:sldMk cId="3805655920" sldId="288"/>
        </pc:sldMkLst>
        <pc:spChg chg="mod">
          <ac:chgData name="Laura Patricia Galvan Chavez" userId="6b13af50-ce8b-483e-8fc4-f994efaf3289" providerId="ADAL" clId="{655D084B-7DF1-4C24-9447-417D7DC498B8}" dt="2026-06-29T20:02:12.205" v="71" actId="1076"/>
          <ac:spMkLst>
            <pc:docMk/>
            <pc:sldMk cId="3805655920" sldId="288"/>
            <ac:spMk id="4" creationId="{00000000-0000-0000-0000-000000000000}"/>
          </ac:spMkLst>
        </pc:spChg>
      </pc:sldChg>
      <pc:sldChg chg="modSp mod">
        <pc:chgData name="Laura Patricia Galvan Chavez" userId="6b13af50-ce8b-483e-8fc4-f994efaf3289" providerId="ADAL" clId="{655D084B-7DF1-4C24-9447-417D7DC498B8}" dt="2026-06-29T18:22:39.876" v="57" actId="20577"/>
        <pc:sldMkLst>
          <pc:docMk/>
          <pc:sldMk cId="3763779569" sldId="289"/>
        </pc:sldMkLst>
        <pc:spChg chg="mod">
          <ac:chgData name="Laura Patricia Galvan Chavez" userId="6b13af50-ce8b-483e-8fc4-f994efaf3289" providerId="ADAL" clId="{655D084B-7DF1-4C24-9447-417D7DC498B8}" dt="2026-06-29T18:22:01.117" v="39" actId="20577"/>
          <ac:spMkLst>
            <pc:docMk/>
            <pc:sldMk cId="3763779569" sldId="289"/>
            <ac:spMk id="7" creationId="{1C7ADEFA-C5B8-9BEB-34E9-FEC5B40B106B}"/>
          </ac:spMkLst>
        </pc:spChg>
        <pc:graphicFrameChg chg="modGraphic">
          <ac:chgData name="Laura Patricia Galvan Chavez" userId="6b13af50-ce8b-483e-8fc4-f994efaf3289" providerId="ADAL" clId="{655D084B-7DF1-4C24-9447-417D7DC498B8}" dt="2026-06-29T18:22:39.876" v="57" actId="20577"/>
          <ac:graphicFrameMkLst>
            <pc:docMk/>
            <pc:sldMk cId="3763779569" sldId="289"/>
            <ac:graphicFrameMk id="9" creationId="{28E12B00-2514-5A81-5DC3-B83FA4CA6347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9T18:25:22.421" v="61" actId="20577"/>
        <pc:sldMkLst>
          <pc:docMk/>
          <pc:sldMk cId="0" sldId="305"/>
        </pc:sldMkLst>
        <pc:spChg chg="mod">
          <ac:chgData name="Laura Patricia Galvan Chavez" userId="6b13af50-ce8b-483e-8fc4-f994efaf3289" providerId="ADAL" clId="{655D084B-7DF1-4C24-9447-417D7DC498B8}" dt="2026-06-29T18:25:22.421" v="61" actId="20577"/>
          <ac:spMkLst>
            <pc:docMk/>
            <pc:sldMk cId="0" sldId="305"/>
            <ac:spMk id="4" creationId="{00000000-0000-0000-0000-000000000000}"/>
          </ac:spMkLst>
        </pc:spChg>
      </pc:sldChg>
    </pc:docChg>
  </pc:docChgLst>
  <pc:docChgLst>
    <pc:chgData name="Rohan Myron Oprisko" userId="a7c52ab4-f8b1-4d15-aaf6-6388cc510347" providerId="ADAL" clId="{97C26823-81C0-4343-94EC-E87AB1317939}"/>
    <pc:docChg chg="custSel modSld">
      <pc:chgData name="Rohan Myron Oprisko" userId="a7c52ab4-f8b1-4d15-aaf6-6388cc510347" providerId="ADAL" clId="{97C26823-81C0-4343-94EC-E87AB1317939}" dt="2026-06-24T15:59:11.103" v="2" actId="22"/>
      <pc:docMkLst>
        <pc:docMk/>
      </pc:docMkLst>
      <pc:sldChg chg="addSp delSp mod">
        <pc:chgData name="Rohan Myron Oprisko" userId="a7c52ab4-f8b1-4d15-aaf6-6388cc510347" providerId="ADAL" clId="{97C26823-81C0-4343-94EC-E87AB1317939}" dt="2026-06-24T15:59:11.103" v="2" actId="22"/>
        <pc:sldMkLst>
          <pc:docMk/>
          <pc:sldMk cId="748044913" sldId="287"/>
        </pc:sldMkLst>
        <pc:spChg chg="add">
          <ac:chgData name="Rohan Myron Oprisko" userId="a7c52ab4-f8b1-4d15-aaf6-6388cc510347" providerId="ADAL" clId="{97C26823-81C0-4343-94EC-E87AB1317939}" dt="2026-06-24T15:59:11.103" v="2" actId="22"/>
          <ac:spMkLst>
            <pc:docMk/>
            <pc:sldMk cId="748044913" sldId="287"/>
            <ac:spMk id="10" creationId="{35D31894-D4FE-9987-2A69-D5931143BF8C}"/>
          </ac:spMkLst>
        </pc:spChg>
        <pc:spChg chg="add">
          <ac:chgData name="Rohan Myron Oprisko" userId="a7c52ab4-f8b1-4d15-aaf6-6388cc510347" providerId="ADAL" clId="{97C26823-81C0-4343-94EC-E87AB1317939}" dt="2026-06-24T15:59:11.103" v="2" actId="22"/>
          <ac:spMkLst>
            <pc:docMk/>
            <pc:sldMk cId="748044913" sldId="287"/>
            <ac:spMk id="12" creationId="{7CE69F92-A7DA-8AE7-6CAB-0C7F2EB4EC4A}"/>
          </ac:spMkLst>
        </pc:spChg>
      </pc:sldChg>
    </pc:docChg>
  </pc:docChgLst>
  <pc:docChgLst>
    <pc:chgData name="Laura Patricia Galvan Chavez" userId="S::laura.galvan@imss.gob.mx::6b13af50-ce8b-483e-8fc4-f994efaf3289" providerId="AD" clId="Web-{8D964A0B-6884-03C1-8D21-79C3AB3BB84B}"/>
    <pc:docChg chg="modSld">
      <pc:chgData name="Laura Patricia Galvan Chavez" userId="S::laura.galvan@imss.gob.mx::6b13af50-ce8b-483e-8fc4-f994efaf3289" providerId="AD" clId="Web-{8D964A0B-6884-03C1-8D21-79C3AB3BB84B}" dt="2026-06-23T19:18:30.499" v="9"/>
      <pc:docMkLst>
        <pc:docMk/>
      </pc:docMkLst>
      <pc:sldChg chg="addSp delSp modSp">
        <pc:chgData name="Laura Patricia Galvan Chavez" userId="S::laura.galvan@imss.gob.mx::6b13af50-ce8b-483e-8fc4-f994efaf3289" providerId="AD" clId="Web-{8D964A0B-6884-03C1-8D21-79C3AB3BB84B}" dt="2026-06-23T19:18:30.499" v="9"/>
        <pc:sldMkLst>
          <pc:docMk/>
          <pc:sldMk cId="0" sldId="260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erardo.larag\Downloads\Gr&#225;ficas%20Estados%20(1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erardo.larag\Downloads\Copia%20de%20reporte_revision_FE_12_GRO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006455"/>
              </a:solidFill>
            </c:spPr>
            <c:extLst>
              <c:ext xmlns:c16="http://schemas.microsoft.com/office/drawing/2014/chart" uri="{C3380CC4-5D6E-409C-BE32-E72D297353CC}">
                <c16:uniqueId val="{00000001-26DC-410B-BE10-9ABCCB29CA1E}"/>
              </c:ext>
            </c:extLst>
          </c:dPt>
          <c:dPt>
            <c:idx val="1"/>
            <c:bubble3D val="0"/>
            <c:spPr>
              <a:solidFill>
                <a:schemeClr val="tx2"/>
              </a:solidFill>
            </c:spPr>
            <c:extLst>
              <c:ext xmlns:c16="http://schemas.microsoft.com/office/drawing/2014/chart" uri="{C3380CC4-5D6E-409C-BE32-E72D297353CC}">
                <c16:uniqueId val="{00000003-26DC-410B-BE10-9ABCCB29CA1E}"/>
              </c:ext>
            </c:extLst>
          </c:dPt>
          <c:dPt>
            <c:idx val="2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5-26DC-410B-BE10-9ABCCB29CA1E}"/>
              </c:ext>
            </c:extLst>
          </c:dPt>
          <c:dPt>
            <c:idx val="3"/>
            <c:bubble3D val="0"/>
            <c:spPr>
              <a:solidFill>
                <a:srgbClr val="BC955C"/>
              </a:solidFill>
            </c:spPr>
            <c:extLst>
              <c:ext xmlns:c16="http://schemas.microsoft.com/office/drawing/2014/chart" uri="{C3380CC4-5D6E-409C-BE32-E72D297353CC}">
                <c16:uniqueId val="{00000007-26DC-410B-BE10-9ABCCB29CA1E}"/>
              </c:ext>
            </c:extLst>
          </c:dPt>
          <c:dPt>
            <c:idx val="4"/>
            <c:bubble3D val="0"/>
            <c:spPr>
              <a:solidFill>
                <a:srgbClr val="9E9E9E"/>
              </a:solidFill>
            </c:spPr>
            <c:extLst>
              <c:ext xmlns:c16="http://schemas.microsoft.com/office/drawing/2014/chart" uri="{C3380CC4-5D6E-409C-BE32-E72D297353CC}">
                <c16:uniqueId val="{00000009-26DC-410B-BE10-9ABCCB29CA1E}"/>
              </c:ext>
            </c:extLst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1121289</c:v>
                </c:pt>
                <c:pt idx="1">
                  <c:v>650033</c:v>
                </c:pt>
                <c:pt idx="2">
                  <c:v>417630</c:v>
                </c:pt>
                <c:pt idx="3">
                  <c:v>1107030</c:v>
                </c:pt>
                <c:pt idx="4">
                  <c:v>38078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6DC-410B-BE10-9ABCCB29CA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D29A-4991-841D-5120A9F14231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D29A-4991-841D-5120A9F14231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40.612860626741082</c:v>
                </c:pt>
                <c:pt idx="1">
                  <c:v>59.387139373258918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29A-4991-841D-5120A9F142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FBF6-417A-8FF9-B93D99FA6E2D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FBF6-417A-8FF9-B93D99FA6E2D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17.044916783000001</c:v>
                </c:pt>
                <c:pt idx="1">
                  <c:v>82.955083216999995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BF6-417A-8FF9-B93D99FA6E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7A8A-4664-9AFE-6617ED400CE7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7A8A-4664-9AFE-6617ED400CE7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41.899377979407753</c:v>
                </c:pt>
                <c:pt idx="1">
                  <c:v>58.100622020592247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A8A-4664-9AFE-6617ED400C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52B-4F0D-A3F5-0658532B6E47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052B-4F0D-A3F5-0658532B6E47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33.812821245002858</c:v>
                </c:pt>
                <c:pt idx="1">
                  <c:v>66.187178754997149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52B-4F0D-A3F5-0658532B6E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Pt>
            <c:idx val="3"/>
            <c:invertIfNegative val="1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1-5BEB-4E20-9336-B5920A38773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53</c:v>
                </c:pt>
                <c:pt idx="2">
                  <c:v>49</c:v>
                </c:pt>
                <c:pt idx="3">
                  <c:v>54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5BEB-4E20-9336-B5920A38773E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239824256"/>
        <c:axId val="239852160"/>
      </c:barChart>
      <c:catAx>
        <c:axId val="23982425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  <a:endParaRPr lang="es-MX"/>
          </a:p>
        </c:txPr>
        <c:crossAx val="239852160"/>
        <c:crosses val="autoZero"/>
        <c:auto val="1"/>
        <c:lblAlgn val="ctr"/>
        <c:lblOffset val="100"/>
        <c:noMultiLvlLbl val="0"/>
      </c:catAx>
      <c:valAx>
        <c:axId val="23985216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3982425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0957420131400776E-2"/>
          <c:y val="0.18548444665570649"/>
          <c:w val="0.84652634981136909"/>
          <c:h val="0.7002747252747252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'Recetas Hidalgo'!$B$1</c:f>
              <c:strCache>
                <c:ptCount val="1"/>
                <c:pt idx="0">
                  <c:v>Recetas Surtidas</c:v>
                </c:pt>
              </c:strCache>
            </c:strRef>
          </c:tx>
          <c:spPr>
            <a:solidFill>
              <a:srgbClr val="005C4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'Recetas Hidalgo'!$A$2:$A$9</c:f>
              <c:numCache>
                <c:formatCode>General</c:formatCode>
                <c:ptCount val="8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  <c:pt idx="7">
                  <c:v>2026</c:v>
                </c:pt>
              </c:numCache>
            </c:numRef>
          </c:cat>
          <c:val>
            <c:numRef>
              <c:f>'Recetas Hidalgo'!$B$2:$B$9</c:f>
              <c:numCache>
                <c:formatCode>#,##0</c:formatCode>
                <c:ptCount val="8"/>
                <c:pt idx="0">
                  <c:v>1231108</c:v>
                </c:pt>
                <c:pt idx="1">
                  <c:v>1128123</c:v>
                </c:pt>
                <c:pt idx="2">
                  <c:v>976847</c:v>
                </c:pt>
                <c:pt idx="3">
                  <c:v>1193377</c:v>
                </c:pt>
                <c:pt idx="4">
                  <c:v>1436392</c:v>
                </c:pt>
                <c:pt idx="5">
                  <c:v>1360681</c:v>
                </c:pt>
                <c:pt idx="6">
                  <c:v>1265542</c:v>
                </c:pt>
                <c:pt idx="7">
                  <c:v>1479058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5A-4039-9A18-C6F2212CEDF3}"/>
            </c:ext>
          </c:extLst>
        </c:ser>
        <c:ser>
          <c:idx val="1"/>
          <c:order val="1"/>
          <c:tx>
            <c:strRef>
              <c:f>'Recetas Hidalgo'!$C$1</c:f>
              <c:strCache>
                <c:ptCount val="1"/>
                <c:pt idx="0">
                  <c:v>Recetas Negadas</c:v>
                </c:pt>
              </c:strCache>
            </c:strRef>
          </c:tx>
          <c:spPr>
            <a:solidFill>
              <a:srgbClr val="9F224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6218260392382157E-17"/>
                  <c:y val="-3.3444816053511704E-2"/>
                </c:manualLayout>
              </c:layout>
              <c:tx>
                <c:rich>
                  <a:bodyPr/>
                  <a:lstStyle/>
                  <a:p>
                    <a:fld id="{3D7E3B9C-432D-4546-B32A-3FBD7D06A57D}" type="VALUE">
                      <a:rPr lang="en-US">
                        <a:solidFill>
                          <a:srgbClr val="C00000"/>
                        </a:solidFill>
                      </a:rPr>
                      <a:pPr/>
                      <a:t>[VALOR]</a:t>
                    </a:fld>
                    <a:endParaRPr lang="es-MX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CB5A-4039-9A18-C6F2212CEDF3}"/>
                </c:ext>
              </c:extLst>
            </c:dLbl>
            <c:dLbl>
              <c:idx val="1"/>
              <c:layout>
                <c:manualLayout>
                  <c:x val="-3.2436520784764315E-17"/>
                  <c:y val="-5.01672240802676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B5A-4039-9A18-C6F2212CEDF3}"/>
                </c:ext>
              </c:extLst>
            </c:dLbl>
            <c:dLbl>
              <c:idx val="2"/>
              <c:layout>
                <c:manualLayout>
                  <c:x val="1.7692852087756545E-3"/>
                  <c:y val="-5.295429208472686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B5A-4039-9A18-C6F2212CEDF3}"/>
                </c:ext>
              </c:extLst>
            </c:dLbl>
            <c:dLbl>
              <c:idx val="3"/>
              <c:layout>
                <c:manualLayout>
                  <c:x val="-6.4873041569528629E-17"/>
                  <c:y val="-5.01672240802676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B5A-4039-9A18-C6F2212CEDF3}"/>
                </c:ext>
              </c:extLst>
            </c:dLbl>
            <c:dLbl>
              <c:idx val="4"/>
              <c:layout>
                <c:manualLayout>
                  <c:x val="6.4873041569528629E-17"/>
                  <c:y val="-3.065774804905239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B5A-4039-9A18-C6F2212CEDF3}"/>
                </c:ext>
              </c:extLst>
            </c:dLbl>
            <c:dLbl>
              <c:idx val="5"/>
              <c:layout>
                <c:manualLayout>
                  <c:x val="-1.2974608313905726E-16"/>
                  <c:y val="-3.62318840579710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B5A-4039-9A18-C6F2212CEDF3}"/>
                </c:ext>
              </c:extLst>
            </c:dLbl>
            <c:dLbl>
              <c:idx val="6"/>
              <c:layout>
                <c:manualLayout>
                  <c:x val="-1.2974608313905726E-16"/>
                  <c:y val="-5.01672240802675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B5A-4039-9A18-C6F2212CEDF3}"/>
                </c:ext>
              </c:extLst>
            </c:dLbl>
            <c:dLbl>
              <c:idx val="7"/>
              <c:layout>
                <c:manualLayout>
                  <c:x val="0"/>
                  <c:y val="-4.2619552363646854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CB5A-4039-9A18-C6F2212CEDF3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t" anchorCtr="0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9F2241"/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'Recetas Hidalgo'!$A$2:$A$9</c:f>
              <c:numCache>
                <c:formatCode>General</c:formatCode>
                <c:ptCount val="8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  <c:pt idx="7">
                  <c:v>2026</c:v>
                </c:pt>
              </c:numCache>
            </c:numRef>
          </c:cat>
          <c:val>
            <c:numRef>
              <c:f>'Recetas Hidalgo'!$C$2:$C$9</c:f>
              <c:numCache>
                <c:formatCode>#,##0</c:formatCode>
                <c:ptCount val="8"/>
                <c:pt idx="0">
                  <c:v>8718</c:v>
                </c:pt>
                <c:pt idx="1">
                  <c:v>92058</c:v>
                </c:pt>
                <c:pt idx="2">
                  <c:v>114923</c:v>
                </c:pt>
                <c:pt idx="3">
                  <c:v>109669</c:v>
                </c:pt>
                <c:pt idx="4">
                  <c:v>31779</c:v>
                </c:pt>
                <c:pt idx="5" formatCode="General">
                  <c:v>30202</c:v>
                </c:pt>
                <c:pt idx="6" formatCode="General">
                  <c:v>113796</c:v>
                </c:pt>
                <c:pt idx="7">
                  <c:v>101966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CB5A-4039-9A18-C6F2212CED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541536224"/>
        <c:axId val="1217249616"/>
      </c:barChart>
      <c:lineChart>
        <c:grouping val="standard"/>
        <c:varyColors val="0"/>
        <c:ser>
          <c:idx val="2"/>
          <c:order val="2"/>
          <c:tx>
            <c:strRef>
              <c:f>'Recetas Hidalgo'!$D$1</c:f>
              <c:strCache>
                <c:ptCount val="1"/>
                <c:pt idx="0">
                  <c:v>% Recetas Surtidas</c:v>
                </c:pt>
              </c:strCache>
            </c:strRef>
          </c:tx>
          <c:spPr>
            <a:ln w="28575" cap="rnd">
              <a:solidFill>
                <a:srgbClr val="BC955C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rgbClr val="BC955C"/>
              </a:solidFill>
              <a:ln w="9525">
                <a:solidFill>
                  <a:srgbClr val="BC955C"/>
                </a:solidFill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fld id="{B5C42B9F-C331-4511-8C37-43CED9169BF7}" type="VALUE">
                      <a:rPr lang="en-US" b="1">
                        <a:solidFill>
                          <a:schemeClr val="bg1"/>
                        </a:solidFill>
                      </a:rPr>
                      <a:pPr/>
                      <a:t>[VALOR]</a:t>
                    </a:fld>
                    <a:endParaRPr lang="es-MX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A-CB5A-4039-9A18-C6F2212CEDF3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0">
                    <a:spAutoFit/>
                  </a:bodyPr>
                  <a:lstStyle/>
                  <a:p>
                    <a:pPr algn="ctr" rtl="0">
                      <a:defRPr lang="en-US" sz="900" b="1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64729F4A-FAD0-4AD4-961A-55757DFA5259}" type="VALUE">
                      <a:rPr lang="en-US" b="1">
                        <a:solidFill>
                          <a:schemeClr val="bg1"/>
                        </a:solidFill>
                      </a:rPr>
                      <a:pPr algn="ctr" rtl="0">
                        <a:defRPr lang="en-US" b="1">
                          <a:solidFill>
                            <a:schemeClr val="bg1"/>
                          </a:solidFill>
                        </a:defRPr>
                      </a:pPr>
                      <a:t>[VALOR]</a:t>
                    </a:fld>
                    <a:endParaRPr lang="es-MX"/>
                  </a:p>
                </c:rich>
              </c:tx>
              <c:spPr>
                <a:solidFill>
                  <a:srgbClr val="BC955C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9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MX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CB5A-4039-9A18-C6F2212CEDF3}"/>
                </c:ext>
              </c:extLst>
            </c:dLbl>
            <c:dLbl>
              <c:idx val="2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lang="en-US" sz="900" b="1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878FD7F6-37BC-46C7-909C-A5754D797449}" type="VALUE">
                      <a:rPr lang="en-US" b="1">
                        <a:solidFill>
                          <a:schemeClr val="bg1"/>
                        </a:solidFill>
                      </a:rPr>
                      <a:pPr>
                        <a:defRPr lang="en-US" b="1">
                          <a:solidFill>
                            <a:schemeClr val="bg1"/>
                          </a:solidFill>
                        </a:defRPr>
                      </a:pPr>
                      <a:t>[VALOR]</a:t>
                    </a:fld>
                    <a:endParaRPr lang="es-MX"/>
                  </a:p>
                </c:rich>
              </c:tx>
              <c:spPr>
                <a:solidFill>
                  <a:srgbClr val="BC955C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en-US" sz="9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MX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C-CB5A-4039-9A18-C6F2212CEDF3}"/>
                </c:ext>
              </c:extLst>
            </c:dLbl>
            <c:spPr>
              <a:solidFill>
                <a:srgbClr val="BC955C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'Recetas Hidalgo'!$A$2:$A$9</c:f>
              <c:numCache>
                <c:formatCode>General</c:formatCode>
                <c:ptCount val="8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  <c:pt idx="7">
                  <c:v>2026</c:v>
                </c:pt>
              </c:numCache>
            </c:numRef>
          </c:cat>
          <c:val>
            <c:numRef>
              <c:f>'Recetas Hidalgo'!$D$2:$D$9</c:f>
              <c:numCache>
                <c:formatCode>0%</c:formatCode>
                <c:ptCount val="8"/>
                <c:pt idx="0">
                  <c:v>0.99</c:v>
                </c:pt>
                <c:pt idx="1">
                  <c:v>0.92</c:v>
                </c:pt>
                <c:pt idx="2">
                  <c:v>0.89</c:v>
                </c:pt>
                <c:pt idx="3">
                  <c:v>0.91</c:v>
                </c:pt>
                <c:pt idx="4">
                  <c:v>0.97</c:v>
                </c:pt>
                <c:pt idx="5">
                  <c:v>0.97</c:v>
                </c:pt>
                <c:pt idx="6">
                  <c:v>0.91</c:v>
                </c:pt>
                <c:pt idx="7">
                  <c:v>0.94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CB5A-4039-9A18-C6F2212CED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41537616"/>
        <c:axId val="1217242896"/>
      </c:lineChart>
      <c:catAx>
        <c:axId val="1541536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217249616"/>
        <c:crosses val="autoZero"/>
        <c:auto val="1"/>
        <c:lblAlgn val="ctr"/>
        <c:lblOffset val="100"/>
        <c:noMultiLvlLbl val="0"/>
      </c:catAx>
      <c:valAx>
        <c:axId val="1217249616"/>
        <c:scaling>
          <c:orientation val="minMax"/>
          <c:max val="2100000"/>
          <c:min val="0"/>
        </c:scaling>
        <c:delete val="0"/>
        <c:axPos val="l"/>
        <c:numFmt formatCode="#,##0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541536224"/>
        <c:crosses val="autoZero"/>
        <c:crossBetween val="between"/>
      </c:valAx>
      <c:valAx>
        <c:axId val="1217242896"/>
        <c:scaling>
          <c:logBase val="10"/>
          <c:orientation val="minMax"/>
          <c:min val="1.0000000000000004E-6"/>
        </c:scaling>
        <c:delete val="0"/>
        <c:axPos val="r"/>
        <c:numFmt formatCode="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541537616"/>
        <c:crosses val="max"/>
        <c:crossBetween val="between"/>
        <c:majorUnit val="0.2"/>
      </c:valAx>
      <c:catAx>
        <c:axId val="154153761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17242896"/>
        <c:crossesAt val="0.84000000000000008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</c:legendEntry>
      <c:layout>
        <c:manualLayout>
          <c:xMode val="edge"/>
          <c:yMode val="edge"/>
          <c:x val="9.9872446833568884E-2"/>
          <c:y val="0.92538630988434134"/>
          <c:w val="0.802638236927115"/>
          <c:h val="6.1083830867295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cked"/>
        <c:varyColors val="0"/>
        <c:ser>
          <c:idx val="0"/>
          <c:order val="0"/>
          <c:tx>
            <c:strRef>
              <c:f>Hidalgo!$A$1</c:f>
              <c:strCache>
                <c:ptCount val="1"/>
                <c:pt idx="0">
                  <c:v>año</c:v>
                </c:pt>
              </c:strCache>
            </c:strRef>
          </c:tx>
          <c:spPr>
            <a:ln w="28575" cap="rnd">
              <a:solidFill>
                <a:srgbClr val="10312B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Hidalgo!$A$2:$A$9</c:f>
              <c:numCache>
                <c:formatCode>General</c:formatCode>
                <c:ptCount val="8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  <c:pt idx="7">
                  <c:v>2026</c:v>
                </c:pt>
              </c:numCache>
            </c:numRef>
          </c:cat>
          <c:val>
            <c:numRef>
              <c:f>Hidalgo!$A$2:$A$9</c:f>
              <c:numCache>
                <c:formatCode>General</c:formatCode>
                <c:ptCount val="8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  <c:pt idx="7">
                  <c:v>2026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4D6-46F9-B2F8-FE6C9D63DFC5}"/>
            </c:ext>
          </c:extLst>
        </c:ser>
        <c:ser>
          <c:idx val="1"/>
          <c:order val="1"/>
          <c:tx>
            <c:strRef>
              <c:f>Hidalgo!$B$1</c:f>
              <c:strCache>
                <c:ptCount val="1"/>
                <c:pt idx="0">
                  <c:v>piezas consumidas</c:v>
                </c:pt>
              </c:strCache>
            </c:strRef>
          </c:tx>
          <c:spPr>
            <a:ln w="22225" cap="rnd">
              <a:solidFill>
                <a:srgbClr val="005C4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C4C"/>
              </a:solidFill>
              <a:ln w="9525">
                <a:solidFill>
                  <a:srgbClr val="005C4C"/>
                </a:solidFill>
              </a:ln>
              <a:effectLst/>
            </c:spPr>
          </c:marker>
          <c:dLbls>
            <c:dLbl>
              <c:idx val="2"/>
              <c:layout>
                <c:manualLayout>
                  <c:x val="-4.9764328816627838E-2"/>
                  <c:y val="-7.327730359297988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4D6-46F9-B2F8-FE6C9D63DFC5}"/>
                </c:ext>
              </c:extLst>
            </c:dLbl>
            <c:spPr>
              <a:solidFill>
                <a:srgbClr val="005C4C"/>
              </a:solidFill>
              <a:ln>
                <a:solidFill>
                  <a:srgbClr val="10312B">
                    <a:alpha val="96000"/>
                  </a:srgbClr>
                </a:solidFill>
                <a:round/>
              </a:ln>
              <a:effectLst>
                <a:softEdge rad="0"/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defRPr>
                </a:pPr>
                <a:endParaRPr lang="es-MX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Hidalgo!$A$2:$A$9</c:f>
              <c:numCache>
                <c:formatCode>General</c:formatCode>
                <c:ptCount val="8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  <c:pt idx="7">
                  <c:v>2026</c:v>
                </c:pt>
              </c:numCache>
            </c:numRef>
          </c:cat>
          <c:val>
            <c:numRef>
              <c:f>Hidalgo!$B$2:$B$9</c:f>
              <c:numCache>
                <c:formatCode>#,##0</c:formatCode>
                <c:ptCount val="8"/>
                <c:pt idx="0">
                  <c:v>3949517</c:v>
                </c:pt>
                <c:pt idx="1">
                  <c:v>4933309</c:v>
                </c:pt>
                <c:pt idx="2">
                  <c:v>3247267</c:v>
                </c:pt>
                <c:pt idx="3">
                  <c:v>3794421</c:v>
                </c:pt>
                <c:pt idx="4">
                  <c:v>4245798</c:v>
                </c:pt>
                <c:pt idx="5">
                  <c:v>4613925</c:v>
                </c:pt>
                <c:pt idx="6">
                  <c:v>6539359</c:v>
                </c:pt>
                <c:pt idx="7">
                  <c:v>7107708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4D6-46F9-B2F8-FE6C9D63DFC5}"/>
            </c:ext>
          </c:extLst>
        </c:ser>
        <c:dLbls>
          <c:dLblPos val="b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696358959"/>
        <c:axId val="1698566751"/>
      </c:lineChart>
      <c:catAx>
        <c:axId val="1696358959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pPr>
            <a:endParaRPr lang="es-MX"/>
          </a:p>
        </c:txPr>
        <c:crossAx val="1698566751"/>
        <c:crosses val="autoZero"/>
        <c:auto val="1"/>
        <c:lblAlgn val="ctr"/>
        <c:lblOffset val="100"/>
        <c:noMultiLvlLbl val="0"/>
      </c:catAx>
      <c:valAx>
        <c:axId val="1698566751"/>
        <c:scaling>
          <c:orientation val="minMax"/>
          <c:max val="7200000"/>
          <c:min val="3000000"/>
        </c:scaling>
        <c:delete val="1"/>
        <c:axPos val="l"/>
        <c:numFmt formatCode="General" sourceLinked="1"/>
        <c:majorTickMark val="out"/>
        <c:minorTickMark val="none"/>
        <c:tickLblPos val="nextTo"/>
        <c:crossAx val="16963589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Comercio</c:v>
                </c:pt>
                <c:pt idx="1">
                  <c:v>Agricultura, Ganaderia, Silvicultura, Pesca y Caza</c:v>
                </c:pt>
                <c:pt idx="2">
                  <c:v>Industrias de la Transformación</c:v>
                </c:pt>
                <c:pt idx="3">
                  <c:v>Ind Eléctrica y Captación y Suministro de Agua Potable</c:v>
                </c:pt>
                <c:pt idx="4">
                  <c:v>Industrias Extractivas</c:v>
                </c:pt>
                <c:pt idx="5">
                  <c:v>Servicios Sociales y Comunales</c:v>
                </c:pt>
                <c:pt idx="6">
                  <c:v>Transportes y Comunicaciones</c:v>
                </c:pt>
                <c:pt idx="7">
                  <c:v>Industria de la Construcción</c:v>
                </c:pt>
                <c:pt idx="8">
                  <c:v>Servicios para Empresas, Personas y el Hogar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69789</c:v>
                </c:pt>
                <c:pt idx="1">
                  <c:v>2835</c:v>
                </c:pt>
                <c:pt idx="2">
                  <c:v>82663</c:v>
                </c:pt>
                <c:pt idx="3">
                  <c:v>2864</c:v>
                </c:pt>
                <c:pt idx="4">
                  <c:v>3975</c:v>
                </c:pt>
                <c:pt idx="5">
                  <c:v>31511</c:v>
                </c:pt>
                <c:pt idx="6">
                  <c:v>23888</c:v>
                </c:pt>
                <c:pt idx="7">
                  <c:v>28271</c:v>
                </c:pt>
                <c:pt idx="8">
                  <c:v>43632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021-48D0-9BB7-DE42FABD16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Comercio</c:v>
                </c:pt>
                <c:pt idx="1">
                  <c:v>Agricultura, Ganaderia, Silvicultura, Pesca y Caza</c:v>
                </c:pt>
                <c:pt idx="2">
                  <c:v>Industrias de la Transformación</c:v>
                </c:pt>
                <c:pt idx="3">
                  <c:v>Ind Eléctrica y Captación y Suministro de Agua Potable</c:v>
                </c:pt>
                <c:pt idx="4">
                  <c:v>Industrias Extractivas</c:v>
                </c:pt>
                <c:pt idx="5">
                  <c:v>Servicios Sociales y Comunales</c:v>
                </c:pt>
                <c:pt idx="6">
                  <c:v>Transportes y Comunicaciones</c:v>
                </c:pt>
                <c:pt idx="7">
                  <c:v>Industria de la Construcción</c:v>
                </c:pt>
                <c:pt idx="8">
                  <c:v>Servicios para Empresas, Personas y el Hogar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67266</c:v>
                </c:pt>
                <c:pt idx="1">
                  <c:v>2795</c:v>
                </c:pt>
                <c:pt idx="2">
                  <c:v>81547</c:v>
                </c:pt>
                <c:pt idx="3">
                  <c:v>2893</c:v>
                </c:pt>
                <c:pt idx="4">
                  <c:v>4059</c:v>
                </c:pt>
                <c:pt idx="5">
                  <c:v>34779</c:v>
                </c:pt>
                <c:pt idx="6">
                  <c:v>27994</c:v>
                </c:pt>
                <c:pt idx="7">
                  <c:v>33678</c:v>
                </c:pt>
                <c:pt idx="8">
                  <c:v>90069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C021-48D0-9BB7-DE42FABD16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250939264"/>
        <c:axId val="250940800"/>
      </c:barChart>
      <c:catAx>
        <c:axId val="250939264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  <a:endParaRPr lang="es-MX"/>
          </a:p>
        </c:txPr>
        <c:crossAx val="250940800"/>
        <c:crosses val="autoZero"/>
        <c:auto val="1"/>
        <c:lblAlgn val="ctr"/>
        <c:lblOffset val="100"/>
        <c:noMultiLvlLbl val="0"/>
      </c:catAx>
      <c:valAx>
        <c:axId val="25094080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250939264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227968</c:v>
                </c:pt>
                <c:pt idx="1">
                  <c:v>233231</c:v>
                </c:pt>
                <c:pt idx="2">
                  <c:v>221589</c:v>
                </c:pt>
                <c:pt idx="3">
                  <c:v>224565</c:v>
                </c:pt>
                <c:pt idx="4">
                  <c:v>250837</c:v>
                </c:pt>
                <c:pt idx="5">
                  <c:v>264145</c:v>
                </c:pt>
                <c:pt idx="6">
                  <c:v>278561</c:v>
                </c:pt>
                <c:pt idx="7">
                  <c:v>289428</c:v>
                </c:pt>
                <c:pt idx="8">
                  <c:v>345080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9E7-4D21-8AC8-00D3CB4898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250782080"/>
        <c:axId val="250783616"/>
      </c:barChart>
      <c:catAx>
        <c:axId val="250782080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250783616"/>
        <c:crosses val="autoZero"/>
        <c:auto val="1"/>
        <c:lblAlgn val="ctr"/>
        <c:lblOffset val="100"/>
        <c:noMultiLvlLbl val="0"/>
      </c:catAx>
      <c:valAx>
        <c:axId val="25078361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50782080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2425340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chart" Target="../charts/chart1.xml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2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chart" Target="../charts/chart6.xml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10.xml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Hidalgo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76711" y="5472000"/>
            <a:ext cx="141897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rPr dirty="0" err="1"/>
              <a:t>Ficha</a:t>
            </a:r>
            <a:r>
              <a:rPr dirty="0"/>
              <a:t>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rPr dirty="0"/>
              <a:t>Ju</a:t>
            </a:r>
            <a:r>
              <a:rPr lang="es-MX" dirty="0"/>
              <a:t>l</a:t>
            </a:r>
            <a:r>
              <a:rPr dirty="0"/>
              <a:t>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5" name="Google Shape;66;p15">
            <a:extLst>
              <a:ext uri="{FF2B5EF4-FFF2-40B4-BE49-F238E27FC236}">
                <a16:creationId xmlns:a16="http://schemas.microsoft.com/office/drawing/2014/main" id="{78FBC792-77A1-32B5-B15F-8984E3F58A68}"/>
              </a:ext>
            </a:extLst>
          </p:cNvPr>
          <p:cNvSpPr/>
          <p:nvPr/>
        </p:nvSpPr>
        <p:spPr>
          <a:xfrm>
            <a:off x="0" y="571500"/>
            <a:ext cx="7772400" cy="17718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68;p15">
            <a:extLst>
              <a:ext uri="{FF2B5EF4-FFF2-40B4-BE49-F238E27FC236}">
                <a16:creationId xmlns:a16="http://schemas.microsoft.com/office/drawing/2014/main" id="{1C7ADEFA-C5B8-9BEB-34E9-FEC5B40B106B}"/>
              </a:ext>
            </a:extLst>
          </p:cNvPr>
          <p:cNvSpPr txBox="1"/>
          <p:nvPr/>
        </p:nvSpPr>
        <p:spPr>
          <a:xfrm>
            <a:off x="2542325" y="609546"/>
            <a:ext cx="3838200" cy="167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1" i="0" u="none" strike="noStrike" cap="none" dirty="0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Dr. </a:t>
            </a:r>
            <a:r>
              <a:rPr lang="es" sz="1200" b="1" dirty="0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Jorge Luis Zendejas Villanueva</a:t>
            </a:r>
            <a:endParaRPr sz="12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Médico Cirujano, Especialista en Cirugía General, certificado por el consejo de Cirugía General A. C.</a:t>
            </a:r>
            <a:endParaRPr sz="12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Maestro en Ciencias de la Salud con enfoque en Sistemas de Salud.</a:t>
            </a:r>
            <a:endParaRPr sz="12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1" dirty="0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Inicio</a:t>
            </a:r>
            <a:r>
              <a:rPr lang="es" sz="1200" b="1" i="0" u="none" strike="noStrike" cap="none" dirty="0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 en el cargo</a:t>
            </a:r>
            <a:r>
              <a:rPr lang="es" sz="1200" b="1" dirty="0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lang="es" sz="12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200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2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enero 2025</a:t>
            </a:r>
            <a:endParaRPr sz="1200" b="1" i="0" u="none" strike="noStrike" cap="none" dirty="0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9" name="Google Shape;69;p15">
            <a:extLst>
              <a:ext uri="{FF2B5EF4-FFF2-40B4-BE49-F238E27FC236}">
                <a16:creationId xmlns:a16="http://schemas.microsoft.com/office/drawing/2014/main" id="{28E12B00-2514-5A81-5DC3-B83FA4CA63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6280615"/>
              </p:ext>
            </p:extLst>
          </p:nvPr>
        </p:nvGraphicFramePr>
        <p:xfrm>
          <a:off x="1000670" y="2647430"/>
          <a:ext cx="4849521" cy="5760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573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2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b="1" u="none" strike="noStrike" cap="none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Prestaciones Médicas</a:t>
                      </a:r>
                      <a:endParaRPr sz="850" b="1" u="none" strike="noStrike" cap="none" dirty="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Dr. </a:t>
                      </a:r>
                      <a:r>
                        <a:rPr lang="es" sz="900" b="1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Héctor Peña Dehesa.</a:t>
                      </a:r>
                      <a:endParaRPr sz="900" b="1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Médico Cirujano. Especialidad en Ginecología y Obstetricia, y en Medicina Materno Fetal. Maestría en Administración Pública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del cargo:</a:t>
                      </a:r>
                      <a:r>
                        <a:rPr lang="es" sz="9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 a</a:t>
                      </a:r>
                      <a:r>
                        <a:rPr lang="es" sz="9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gosto </a:t>
                      </a:r>
                      <a:r>
                        <a:rPr lang="es" sz="9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2025</a:t>
                      </a:r>
                      <a:endParaRPr sz="900" b="1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b="1" u="none" strike="noStrike" cap="none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Salud en el Trabajo, Prestaciones Económicas y Sociales</a:t>
                      </a:r>
                      <a:endParaRPr sz="850" b="1" u="none" strike="noStrike" cap="none" dirty="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Mtra. Ma. Guadalupe Mayorga Delgado</a:t>
                      </a:r>
                      <a:endParaRPr sz="900" b="1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Maestría Alta Dirección Hospitalaria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del cargo: </a:t>
                      </a:r>
                      <a:r>
                        <a:rPr lang="es" sz="9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enero 2021</a:t>
                      </a:r>
                      <a:endParaRPr sz="900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b="1" u="none" strike="noStrike" cap="none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Afiliación y Cobranza</a:t>
                      </a:r>
                      <a:endParaRPr sz="850" b="1" u="none" strike="noStrike" cap="none" dirty="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L. C. Aimé Serna Frías</a:t>
                      </a:r>
                      <a:endParaRPr sz="900" b="1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Licenciatura en Contaduría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del cargo</a:t>
                      </a:r>
                      <a:r>
                        <a:rPr lang="es" sz="9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:  abril 2025</a:t>
                      </a:r>
                      <a:endParaRPr sz="900" b="1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b="1" u="none" strike="noStrike" cap="none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Desarrollo de Personal</a:t>
                      </a:r>
                      <a:endParaRPr sz="850" b="1" u="none" strike="noStrike" cap="none" dirty="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Dr. Francisco Javier Narváez Quijano</a:t>
                      </a:r>
                      <a:endParaRPr sz="900" b="1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Doctorado en Administración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del cargo:</a:t>
                      </a:r>
                      <a:r>
                        <a:rPr lang="es" sz="9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 junio 2021</a:t>
                      </a:r>
                      <a:endParaRPr sz="900" b="1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b="1" u="none" strike="noStrike" cap="none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Finanzas</a:t>
                      </a:r>
                      <a:endParaRPr sz="850" b="1" u="none" strike="noStrike" cap="none" dirty="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L. C. Alejandra Vergara Palomo</a:t>
                      </a:r>
                      <a:endParaRPr sz="900" b="1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Licenciatura en Contaduría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del cargo:</a:t>
                      </a:r>
                      <a:r>
                        <a:rPr lang="es" sz="9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marzo 2018</a:t>
                      </a:r>
                      <a:endParaRPr sz="900" b="1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b="1" u="none" strike="noStrike" cap="none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Administrativos</a:t>
                      </a:r>
                      <a:endParaRPr sz="850" b="1" u="none" strike="noStrike" cap="none" dirty="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Mtro. Heliodoro Soto Holguín, </a:t>
                      </a:r>
                      <a:endParaRPr sz="900" b="1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Maestría Gestión Pública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del cargo:</a:t>
                      </a:r>
                      <a:r>
                        <a:rPr lang="es" sz="9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 octubre 2023</a:t>
                      </a:r>
                      <a:endParaRPr sz="900" b="1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b="1" u="none" strike="noStrike" cap="none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Jurídicos</a:t>
                      </a:r>
                      <a:endParaRPr sz="850" b="1" u="none" strike="noStrike" cap="none" dirty="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Mtro. Braulio César Azuela Domínguez</a:t>
                      </a:r>
                      <a:endParaRPr sz="900" b="1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Maestría en Derecho Fiscal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del cargo: </a:t>
                      </a:r>
                      <a:r>
                        <a:rPr lang="es" sz="9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octubre 202</a:t>
                      </a:r>
                      <a:r>
                        <a:rPr lang="es" sz="9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sz="900" b="1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35999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50" b="1" u="none" strike="noStrike" cap="none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Secretari</a:t>
                      </a:r>
                      <a:r>
                        <a:rPr lang="es" sz="850" b="1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</a:t>
                      </a:r>
                      <a:r>
                        <a:rPr lang="es" sz="850" b="1" u="none" strike="noStrike" cap="none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General </a:t>
                      </a:r>
                      <a:br>
                        <a:rPr lang="es" sz="850" b="1" u="none" strike="noStrike" cap="none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850" b="1" u="none" strike="noStrike" cap="none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la Sección XXII</a:t>
                      </a:r>
                      <a:endParaRPr sz="850" b="1" u="none" strike="noStrike" cap="none" dirty="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90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Dr. Ezequiel Olvera Maldonado</a:t>
                      </a:r>
                      <a:endParaRPr sz="900" b="1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Médico Cirujano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b="1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del cargo:</a:t>
                      </a:r>
                      <a:r>
                        <a:rPr lang="es" sz="9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febrero 2023 </a:t>
                      </a:r>
                      <a:endParaRPr sz="900" b="1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1" name="Google Shape;71;p15">
            <a:extLst>
              <a:ext uri="{FF2B5EF4-FFF2-40B4-BE49-F238E27FC236}">
                <a16:creationId xmlns:a16="http://schemas.microsoft.com/office/drawing/2014/main" id="{00CAC980-FF39-1CE3-9AC1-4EC955FF030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9203" b="9211"/>
          <a:stretch/>
        </p:blipFill>
        <p:spPr>
          <a:xfrm>
            <a:off x="5863569" y="2642978"/>
            <a:ext cx="835625" cy="721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72;p15">
            <a:extLst>
              <a:ext uri="{FF2B5EF4-FFF2-40B4-BE49-F238E27FC236}">
                <a16:creationId xmlns:a16="http://schemas.microsoft.com/office/drawing/2014/main" id="{161B2AF7-93FA-807A-E6C3-12FF4762D2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4732" r="999" b="8509"/>
          <a:stretch/>
        </p:blipFill>
        <p:spPr>
          <a:xfrm>
            <a:off x="5863569" y="3364751"/>
            <a:ext cx="835625" cy="721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73;p15">
            <a:extLst>
              <a:ext uri="{FF2B5EF4-FFF2-40B4-BE49-F238E27FC236}">
                <a16:creationId xmlns:a16="http://schemas.microsoft.com/office/drawing/2014/main" id="{7D1FFD06-F1E9-A4B0-341B-DB95D2BB494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445" r="3436" b="14527"/>
          <a:stretch>
            <a:fillRect/>
          </a:stretch>
        </p:blipFill>
        <p:spPr>
          <a:xfrm>
            <a:off x="5863132" y="4078886"/>
            <a:ext cx="836500" cy="721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74;p15">
            <a:extLst>
              <a:ext uri="{FF2B5EF4-FFF2-40B4-BE49-F238E27FC236}">
                <a16:creationId xmlns:a16="http://schemas.microsoft.com/office/drawing/2014/main" id="{827B789B-1157-DFFF-933C-9C0F62E121E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4025" b="10121"/>
          <a:stretch>
            <a:fillRect/>
          </a:stretch>
        </p:blipFill>
        <p:spPr>
          <a:xfrm>
            <a:off x="5863132" y="5522430"/>
            <a:ext cx="836500" cy="721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75;p15">
            <a:extLst>
              <a:ext uri="{FF2B5EF4-FFF2-40B4-BE49-F238E27FC236}">
                <a16:creationId xmlns:a16="http://schemas.microsoft.com/office/drawing/2014/main" id="{4B5F6A10-8528-D83E-CCC8-7F13D95AEF4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3934" r="6452" b="11495"/>
          <a:stretch>
            <a:fillRect/>
          </a:stretch>
        </p:blipFill>
        <p:spPr>
          <a:xfrm>
            <a:off x="5862694" y="6232115"/>
            <a:ext cx="836500" cy="733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76;p15">
            <a:extLst>
              <a:ext uri="{FF2B5EF4-FFF2-40B4-BE49-F238E27FC236}">
                <a16:creationId xmlns:a16="http://schemas.microsoft.com/office/drawing/2014/main" id="{F16D136A-A81E-F4B6-E165-3E50E38D32AE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4095" t="2768" r="1538" b="8769"/>
          <a:stretch>
            <a:fillRect/>
          </a:stretch>
        </p:blipFill>
        <p:spPr>
          <a:xfrm>
            <a:off x="5862694" y="6970428"/>
            <a:ext cx="836500" cy="705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77;p15">
            <a:extLst>
              <a:ext uri="{FF2B5EF4-FFF2-40B4-BE49-F238E27FC236}">
                <a16:creationId xmlns:a16="http://schemas.microsoft.com/office/drawing/2014/main" id="{14690254-4504-2DC1-F1BD-955D784B3DF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l="11246" r="8251" b="17090"/>
          <a:stretch>
            <a:fillRect/>
          </a:stretch>
        </p:blipFill>
        <p:spPr>
          <a:xfrm>
            <a:off x="5863132" y="4800658"/>
            <a:ext cx="836500" cy="721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78;p15">
            <a:extLst>
              <a:ext uri="{FF2B5EF4-FFF2-40B4-BE49-F238E27FC236}">
                <a16:creationId xmlns:a16="http://schemas.microsoft.com/office/drawing/2014/main" id="{DCE7C46B-6E88-AAE7-47B7-7CF0EA8AAD1C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 t="6691" b="17129"/>
          <a:stretch>
            <a:fillRect/>
          </a:stretch>
        </p:blipFill>
        <p:spPr>
          <a:xfrm>
            <a:off x="242823" y="609545"/>
            <a:ext cx="2100662" cy="1712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7DE9DCFC-D60C-38D8-CCA2-E5B45A8B630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62695" y="7668023"/>
            <a:ext cx="836499" cy="739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53%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1005822"/>
              </p:ext>
            </p:extLst>
          </p:nvPr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106414" y="1671343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rPr dirty="0"/>
              <a:t>1,121,289</a:t>
            </a:r>
            <a:br>
              <a:rPr dirty="0"/>
            </a:br>
            <a:r>
              <a:rPr dirty="0"/>
              <a:t>34%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7200" y="168161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428800" y="1846799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5945018" y="3782674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rPr dirty="0"/>
              <a:t>650,033</a:t>
            </a:r>
            <a:br>
              <a:rPr dirty="0"/>
            </a:br>
            <a:r>
              <a:rPr dirty="0"/>
              <a:t>19%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8982" y="3844255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5133668" y="4006566"/>
            <a:ext cx="122400" cy="1224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237600" y="3876967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rPr dirty="0"/>
              <a:t>417,630</a:t>
            </a:r>
            <a:br>
              <a:rPr dirty="0"/>
            </a:br>
            <a:r>
              <a:rPr dirty="0"/>
              <a:t>13%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5586" y="3862748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2620801" y="40326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583200" y="2992498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>
              <a:defRPr sz="1400" b="1">
                <a:solidFill>
                  <a:srgbClr val="595959"/>
                </a:solidFill>
                <a:latin typeface="Montserrat"/>
              </a:defRPr>
            </a:pPr>
            <a:r>
              <a:rPr dirty="0"/>
              <a:t>1,107,030</a:t>
            </a:r>
            <a:br>
              <a:rPr dirty="0"/>
            </a:br>
            <a:r>
              <a:rPr dirty="0"/>
              <a:t>33%</a:t>
            </a:r>
          </a:p>
        </p:txBody>
      </p:sp>
      <p:pic>
        <p:nvPicPr>
          <p:cNvPr id="128" name="Picture 127" descr="1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084" y="2584798"/>
            <a:ext cx="1247031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2001600" y="2752193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1314000" y="12095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>
              <a:defRPr sz="1400" b="1">
                <a:solidFill>
                  <a:srgbClr val="595959"/>
                </a:solidFill>
                <a:latin typeface="Montserrat"/>
              </a:defRPr>
            </a:pPr>
            <a:r>
              <a:rPr dirty="0" err="1"/>
              <a:t>Otros</a:t>
            </a:r>
            <a:br>
              <a:rPr dirty="0"/>
            </a:br>
            <a:r>
              <a:rPr dirty="0"/>
              <a:t>38,078</a:t>
            </a:r>
            <a:br>
              <a:rPr dirty="0"/>
            </a:br>
            <a:r>
              <a:rPr dirty="0"/>
              <a:t>1%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80000" y="1219448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2423231" y="1342748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3,334,060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9507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mayo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6588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8136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130072"/>
              </p:ext>
            </p:extLst>
          </p:nvPr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Categoría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834,539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1,121,289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490,444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720,698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226,929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345,080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52%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75,185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111,649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11,455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10,382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176,875</a:t>
                      </a:r>
                    </a:p>
                  </a:txBody>
                  <a:tcPr anchor="ctr"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247,114</a:t>
                      </a:r>
                    </a:p>
                  </a:txBody>
                  <a:tcPr anchor="ctr"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CCE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173,225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243,211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1,703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642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-62%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3,261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344,095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400,591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16%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121,678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148,925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22%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153,845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147,977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-4%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68,572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103,689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51%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840994"/>
              </p:ext>
            </p:extLst>
          </p:nvPr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mayo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Variación</a:t>
                      </a:r>
                      <a:endParaRPr dirty="0"/>
                    </a:p>
                  </a:txBody>
                  <a:tcPr marL="0" marR="0" marT="216000" marB="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713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640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rPr dirty="0"/>
                        <a:t>-10%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0933992"/>
              </p:ext>
            </p:extLst>
          </p:nvPr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mayo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Variación</a:t>
                      </a:r>
                      <a:endParaRPr dirty="0"/>
                    </a:p>
                  </a:txBody>
                  <a:tcPr marL="0" marR="0" marT="216000" marB="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6,432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8,955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rPr dirty="0"/>
                        <a:t>39%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13_h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38442"/>
              </p:ext>
            </p:extLst>
          </p:nvPr>
        </p:nvGraphicFramePr>
        <p:xfrm>
          <a:off x="97200" y="6854400"/>
          <a:ext cx="4359600" cy="12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Nivel</a:t>
                      </a:r>
                      <a:endParaRPr dirty="0"/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1</a:t>
                      </a:r>
                      <a:r>
                        <a:rPr lang="es-MX" sz="1000" dirty="0">
                          <a:latin typeface="Montserrat"/>
                        </a:rPr>
                        <a:t>6</a:t>
                      </a:r>
                      <a:r>
                        <a:rPr lang="es-MX" sz="1050" baseline="30000" dirty="0">
                          <a:latin typeface="Montserrat"/>
                        </a:rPr>
                        <a:t>1</a:t>
                      </a:r>
                      <a:endParaRPr sz="700" baseline="30000" dirty="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84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es-MX" sz="1000" dirty="0">
                          <a:latin typeface="Montserrat"/>
                        </a:rPr>
                        <a:t>7</a:t>
                      </a:r>
                      <a:endParaRPr sz="1000" dirty="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5</a:t>
                      </a:r>
                      <a:r>
                        <a:rPr lang="es-MX" sz="1000" dirty="0">
                          <a:latin typeface="Montserrat"/>
                        </a:rPr>
                        <a:t>33</a:t>
                      </a:r>
                      <a:endParaRPr sz="1000" dirty="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30</a:t>
                      </a:r>
                      <a:r>
                        <a:rPr lang="es-MX" sz="1000" dirty="0">
                          <a:latin typeface="Montserrat"/>
                        </a:rPr>
                        <a:t>0</a:t>
                      </a:r>
                      <a:endParaRPr sz="1000" dirty="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129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5</a:t>
                      </a:r>
                      <a:r>
                        <a:rPr lang="es-MX" sz="1000" dirty="0">
                          <a:latin typeface="Montserrat"/>
                        </a:rPr>
                        <a:t>33</a:t>
                      </a:r>
                      <a:endParaRPr sz="1000" dirty="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35</a:t>
                      </a:r>
                      <a:r>
                        <a:rPr lang="es-MX" sz="1000" dirty="0">
                          <a:latin typeface="Montserrat"/>
                        </a:rPr>
                        <a:t>1</a:t>
                      </a:r>
                      <a:endParaRPr sz="1000" dirty="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7603871"/>
              </p:ext>
            </p:extLst>
          </p:nvPr>
        </p:nvGraphicFramePr>
        <p:xfrm>
          <a:off x="4579200" y="6854400"/>
          <a:ext cx="3096000" cy="126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9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217</a:t>
                      </a:r>
                      <a:r>
                        <a:rPr lang="es-MX" sz="1050" baseline="30000" dirty="0"/>
                        <a:t>2</a:t>
                      </a:r>
                      <a:endParaRPr baseline="30000" dirty="0"/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217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7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4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221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239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260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1673762"/>
              </p:ext>
            </p:extLst>
          </p:nvPr>
        </p:nvGraphicFramePr>
        <p:xfrm>
          <a:off x="5659200" y="1155600"/>
          <a:ext cx="202680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2o Nivel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6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  <a:r>
                        <a:rPr lang="es-MX" dirty="0"/>
                        <a:t>1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9540000"/>
            <a:ext cx="72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¹ Incluye 14 UMF, 2 UMFH y no incluye 5 Unidades Auxiliares de Medicina Familiar.</a:t>
            </a:r>
            <a:br/>
            <a:r>
              <a:t>² No incluye Unidades médicas móviles (UMM) ni Brigadas de salud (BS).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774000"/>
            <a:ext cx="1713600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rPr dirty="0"/>
              <a:t>Corte de </a:t>
            </a:r>
            <a:r>
              <a:rPr dirty="0" err="1"/>
              <a:t>información</a:t>
            </a:r>
            <a:r>
              <a:rPr dirty="0"/>
              <a:t>: ma</a:t>
            </a:r>
            <a:r>
              <a:rPr lang="es-MX" dirty="0"/>
              <a:t>y</a:t>
            </a:r>
            <a:r>
              <a:rPr dirty="0"/>
              <a:t>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153;g3d7b9a303e3_0_33">
            <a:extLst>
              <a:ext uri="{FF2B5EF4-FFF2-40B4-BE49-F238E27FC236}">
                <a16:creationId xmlns:a16="http://schemas.microsoft.com/office/drawing/2014/main" id="{EEA9DB8B-9828-0F39-BADF-093B6FA4AD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9642851"/>
              </p:ext>
            </p:extLst>
          </p:nvPr>
        </p:nvGraphicFramePr>
        <p:xfrm>
          <a:off x="288000" y="1096350"/>
          <a:ext cx="71987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 b="1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de Zona Tepeji del Río, Hidalgo</a:t>
                      </a:r>
                      <a:endParaRPr lang="es-ES" sz="18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" name="Imagen 1">
            <a:extLst>
              <a:ext uri="{FF2B5EF4-FFF2-40B4-BE49-F238E27FC236}">
                <a16:creationId xmlns:a16="http://schemas.microsoft.com/office/drawing/2014/main" id="{16B0CE27-0BAE-3A7C-EEBD-6C9D0E38A2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00" y="1808669"/>
            <a:ext cx="2881236" cy="226917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64C994E-E12D-C0B3-CBCC-CCD898890F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8640" y="1508202"/>
            <a:ext cx="4523909" cy="28678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hid_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00" y="4371000"/>
            <a:ext cx="7488000" cy="72720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488097"/>
              </p:ext>
            </p:extLst>
          </p:nvPr>
        </p:nvGraphicFramePr>
        <p:xfrm>
          <a:off x="75600" y="5142899"/>
          <a:ext cx="7650000" cy="23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Unidad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rPr dirty="0"/>
                        <a:t>HGZMF 6 </a:t>
                      </a:r>
                      <a:r>
                        <a:rPr dirty="0" err="1"/>
                        <a:t>Tepeji</a:t>
                      </a:r>
                      <a:r>
                        <a:rPr dirty="0"/>
                        <a:t> del Río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2 Tulancingo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33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1 Pachuca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  <a:r>
                        <a:rPr lang="es-MX" dirty="0"/>
                        <a:t>57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  <a:r>
                        <a:rPr lang="es-MX" dirty="0"/>
                        <a:t>02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  <a:r>
                        <a:rPr lang="es-MX" dirty="0"/>
                        <a:t>6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5 Tula de Hidalgo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1977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8 Cd. Sahagún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 33 Tizayuca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2000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36 Pachuca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2021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5</a:t>
                      </a:r>
                      <a:r>
                        <a:rPr lang="es-MX" dirty="0"/>
                        <a:t>33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30</a:t>
                      </a:r>
                      <a:r>
                        <a:rPr lang="es-MX" dirty="0"/>
                        <a:t>0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2</a:t>
                      </a:r>
                      <a:r>
                        <a:rPr lang="es-MX" dirty="0"/>
                        <a:t>6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121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00800" y="9507600"/>
            <a:ext cx="73872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/>
              <a:t>¹Incluye </a:t>
            </a:r>
            <a:r>
              <a:rPr dirty="0" err="1"/>
              <a:t>salas</a:t>
            </a:r>
            <a:r>
              <a:rPr dirty="0"/>
              <a:t> de </a:t>
            </a:r>
            <a:r>
              <a:rPr dirty="0" err="1"/>
              <a:t>quirófano</a:t>
            </a:r>
            <a:r>
              <a:rPr dirty="0"/>
              <a:t>, </a:t>
            </a:r>
            <a:r>
              <a:rPr dirty="0" err="1"/>
              <a:t>salas</a:t>
            </a:r>
            <a:r>
              <a:rPr dirty="0"/>
              <a:t> </a:t>
            </a:r>
            <a:r>
              <a:rPr dirty="0" err="1"/>
              <a:t>híbridas</a:t>
            </a:r>
            <a:r>
              <a:rPr dirty="0"/>
              <a:t> y </a:t>
            </a:r>
            <a:r>
              <a:rPr dirty="0" err="1"/>
              <a:t>salas</a:t>
            </a:r>
            <a:r>
              <a:rPr dirty="0"/>
              <a:t> </a:t>
            </a:r>
            <a:r>
              <a:rPr dirty="0" err="1"/>
              <a:t>mixtas</a:t>
            </a:r>
            <a:r>
              <a:rPr dirty="0"/>
              <a:t>, no </a:t>
            </a:r>
            <a:r>
              <a:rPr dirty="0" err="1"/>
              <a:t>considera</a:t>
            </a:r>
            <a:r>
              <a:rPr dirty="0"/>
              <a:t> </a:t>
            </a:r>
            <a:r>
              <a:rPr dirty="0" err="1"/>
              <a:t>salas</a:t>
            </a:r>
            <a:r>
              <a:rPr dirty="0"/>
              <a:t> de </a:t>
            </a:r>
            <a:r>
              <a:rPr dirty="0" err="1"/>
              <a:t>tococirugía</a:t>
            </a:r>
            <a:r>
              <a:rPr dirty="0"/>
              <a:t> y </a:t>
            </a:r>
            <a:r>
              <a:rPr dirty="0" err="1"/>
              <a:t>expulsión</a:t>
            </a:r>
            <a:r>
              <a:rPr dirty="0"/>
              <a:t>.</a:t>
            </a:r>
            <a:br>
              <a:rPr dirty="0"/>
            </a:br>
            <a:r>
              <a:rPr dirty="0" err="1"/>
              <a:t>Fuente</a:t>
            </a:r>
            <a:r>
              <a:rPr dirty="0"/>
              <a:t>: </a:t>
            </a:r>
            <a:r>
              <a:rPr dirty="0" err="1"/>
              <a:t>Cédula</a:t>
            </a:r>
            <a:r>
              <a:rPr dirty="0"/>
              <a:t> de </a:t>
            </a:r>
            <a:r>
              <a:rPr dirty="0" err="1"/>
              <a:t>actualización</a:t>
            </a:r>
            <a:r>
              <a:rPr dirty="0"/>
              <a:t> de variables </a:t>
            </a:r>
            <a:r>
              <a:rPr dirty="0" err="1"/>
              <a:t>seleccionados</a:t>
            </a:r>
            <a:r>
              <a:rPr dirty="0"/>
              <a:t> del IFU </a:t>
            </a:r>
            <a:r>
              <a:rPr dirty="0" err="1"/>
              <a:t>enviados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el OOAD.</a:t>
            </a:r>
            <a:br>
              <a:rPr dirty="0"/>
            </a:br>
            <a:r>
              <a:rPr dirty="0"/>
              <a:t>Corte de </a:t>
            </a:r>
            <a:r>
              <a:rPr dirty="0" err="1"/>
              <a:t>Información</a:t>
            </a:r>
            <a:r>
              <a:rPr dirty="0"/>
              <a:t>: ma</a:t>
            </a:r>
            <a:r>
              <a:rPr lang="es-MX" dirty="0"/>
              <a:t>y</a:t>
            </a:r>
            <a:r>
              <a:rPr dirty="0"/>
              <a:t>o de 2026</a:t>
            </a:r>
          </a:p>
        </p:txBody>
      </p:sp>
      <p:graphicFrame>
        <p:nvGraphicFramePr>
          <p:cNvPr id="12" name="Table 4">
            <a:extLst>
              <a:ext uri="{FF2B5EF4-FFF2-40B4-BE49-F238E27FC236}">
                <a16:creationId xmlns:a16="http://schemas.microsoft.com/office/drawing/2014/main" id="{7424A6CA-3059-9478-E7F8-A03427E556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2502247"/>
              </p:ext>
            </p:extLst>
          </p:nvPr>
        </p:nvGraphicFramePr>
        <p:xfrm>
          <a:off x="75600" y="7559400"/>
          <a:ext cx="7650000" cy="188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IMSS-</a:t>
                      </a:r>
                      <a:r>
                        <a:rPr dirty="0" err="1"/>
                        <a:t>Coplamar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Huejutla de Reyes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73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2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4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Zacualtipán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1976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60</a:t>
                      </a:r>
                      <a:endParaRPr dirty="0"/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20</a:t>
                      </a:r>
                      <a:endParaRPr dirty="0"/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4</a:t>
                      </a:r>
                      <a:endParaRPr dirty="0"/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Metepec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65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  <a:r>
                        <a:rPr lang="es-MX" dirty="0"/>
                        <a:t>5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4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Ixmiquilpan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1982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63</a:t>
                      </a:r>
                      <a:endParaRPr dirty="0"/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  <a:r>
                        <a:rPr lang="es-MX" dirty="0"/>
                        <a:t>6</a:t>
                      </a:r>
                      <a:endParaRPr dirty="0"/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4</a:t>
                      </a:r>
                      <a:endParaRPr dirty="0"/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261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66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5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16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794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3</a:t>
                      </a:r>
                      <a:r>
                        <a:rPr lang="es-MX" dirty="0"/>
                        <a:t>66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2</a:t>
                      </a:r>
                      <a:r>
                        <a:rPr lang="es-MX" dirty="0"/>
                        <a:t>6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22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  <a:r>
                        <a:rPr lang="es-MX" dirty="0"/>
                        <a:t>37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453899"/>
              </p:ext>
            </p:extLst>
          </p:nvPr>
        </p:nvGraphicFramePr>
        <p:xfrm>
          <a:off x="93600" y="1180800"/>
          <a:ext cx="7534799" cy="245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Aparatos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Tomografía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5 Tula de Hidalgo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Pachuca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 dirty="0"/>
                        <a:t>3</a:t>
                      </a:r>
                      <a:endParaRPr dirty="0"/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33 Tizayuca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Tulancingo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36 Pachuca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6D1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6 Tepeji del Río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8 Cd. Sahagún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6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05199" y="96696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406799" y="9568800"/>
            <a:ext cx="714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 err="1"/>
              <a:t>Proyectos</a:t>
            </a:r>
            <a:r>
              <a:rPr dirty="0"/>
              <a:t> de </a:t>
            </a:r>
            <a:r>
              <a:rPr dirty="0" err="1"/>
              <a:t>implementación</a:t>
            </a:r>
            <a:r>
              <a:rPr dirty="0"/>
              <a:t>/</a:t>
            </a:r>
            <a:r>
              <a:rPr dirty="0" err="1"/>
              <a:t>sustitución</a:t>
            </a:r>
            <a:r>
              <a:rPr dirty="0"/>
              <a:t> 2019-2025. </a:t>
            </a:r>
            <a:r>
              <a:rPr dirty="0" err="1"/>
              <a:t>Incluye</a:t>
            </a:r>
            <a:r>
              <a:rPr dirty="0"/>
              <a:t> </a:t>
            </a:r>
            <a:r>
              <a:rPr dirty="0" err="1"/>
              <a:t>equipo</a:t>
            </a:r>
            <a:r>
              <a:rPr dirty="0"/>
              <a:t> de la </a:t>
            </a:r>
            <a:r>
              <a:rPr dirty="0" err="1"/>
              <a:t>compra</a:t>
            </a:r>
            <a:r>
              <a:rPr dirty="0"/>
              <a:t> 2025-2026.</a:t>
            </a:r>
            <a:br>
              <a:rPr dirty="0"/>
            </a:br>
            <a:r>
              <a:rPr dirty="0" err="1"/>
              <a:t>Fuente</a:t>
            </a:r>
            <a:r>
              <a:rPr dirty="0"/>
              <a:t>: </a:t>
            </a:r>
            <a:r>
              <a:rPr dirty="0" err="1"/>
              <a:t>Cédula</a:t>
            </a:r>
            <a:r>
              <a:rPr dirty="0"/>
              <a:t> de </a:t>
            </a:r>
            <a:r>
              <a:rPr dirty="0" err="1"/>
              <a:t>actualización</a:t>
            </a:r>
            <a:r>
              <a:rPr dirty="0"/>
              <a:t> de variables </a:t>
            </a:r>
            <a:r>
              <a:rPr dirty="0" err="1"/>
              <a:t>seleccionadas</a:t>
            </a:r>
            <a:r>
              <a:rPr dirty="0"/>
              <a:t> del IFU, </a:t>
            </a:r>
            <a:r>
              <a:rPr dirty="0" err="1"/>
              <a:t>enviadas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el OOAD.</a:t>
            </a:r>
            <a:br>
              <a:rPr dirty="0"/>
            </a:br>
            <a:r>
              <a:rPr dirty="0"/>
              <a:t>Corte de </a:t>
            </a:r>
            <a:r>
              <a:rPr dirty="0" err="1"/>
              <a:t>información</a:t>
            </a:r>
            <a:r>
              <a:rPr dirty="0"/>
              <a:t>: ma</a:t>
            </a:r>
            <a:r>
              <a:rPr lang="es-MX" dirty="0"/>
              <a:t>y</a:t>
            </a:r>
            <a:r>
              <a:rPr dirty="0"/>
              <a:t>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4948096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1CE90A97-C673-C209-4463-B2C3555C78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16056038-6E36-A958-03AC-D2A018EC081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777C1620-B208-EFCB-2E29-6BEE7D419B4C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B3CD9260-704A-3E5A-E7A6-1BD63EDD1114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985FEE11-3A98-90B7-FD70-FE48B89F025E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CuadroTexto 6">
            <a:extLst>
              <a:ext uri="{FF2B5EF4-FFF2-40B4-BE49-F238E27FC236}">
                <a16:creationId xmlns:a16="http://schemas.microsoft.com/office/drawing/2014/main" id="{35D31894-D4FE-9987-2A69-D5931143BF8C}"/>
              </a:ext>
            </a:extLst>
          </p:cNvPr>
          <p:cNvSpPr txBox="1"/>
          <p:nvPr/>
        </p:nvSpPr>
        <p:spPr>
          <a:xfrm>
            <a:off x="5064096" y="8117456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CuadroTexto 8">
            <a:extLst>
              <a:ext uri="{FF2B5EF4-FFF2-40B4-BE49-F238E27FC236}">
                <a16:creationId xmlns:a16="http://schemas.microsoft.com/office/drawing/2014/main" id="{7CE69F92-A7DA-8AE7-6CAB-0C7F2EB4EC4A}"/>
              </a:ext>
            </a:extLst>
          </p:cNvPr>
          <p:cNvSpPr txBox="1"/>
          <p:nvPr/>
        </p:nvSpPr>
        <p:spPr>
          <a:xfrm>
            <a:off x="4701239" y="4744510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9565200"/>
            <a:ext cx="46800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Corte de información: semana 24, 7 junio 2026</a:t>
            </a:r>
            <a:br/>
            <a:r>
              <a:t>¹Las consultas de medicina familiar incluyen los hospitales con 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7488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+4,350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42336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+170,816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+77,525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4852230"/>
              </p:ext>
            </p:extLst>
          </p:nvPr>
        </p:nvGraphicFramePr>
        <p:xfrm>
          <a:off x="144000" y="1620000"/>
          <a:ext cx="7469999" cy="182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Indicador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1,689,874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rPr dirty="0"/>
                        <a:t>170,816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779,192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1,737,132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44.9%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479,638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77,525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rPr dirty="0"/>
                        <a:t>236,434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rPr dirty="0"/>
                        <a:t>564,290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rPr dirty="0"/>
                        <a:t>41.9%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21,179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4,350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9,473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28,016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rPr dirty="0"/>
                        <a:t>33.8%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16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319510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sz="1800" dirty="0"/>
              <a:t>9 UMF de lunes a </a:t>
            </a:r>
            <a:r>
              <a:rPr sz="1800" dirty="0" err="1"/>
              <a:t>viernes</a:t>
            </a:r>
            <a:endParaRPr sz="1800" dirty="0"/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95616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 el año 2025 no incluye información de HR y UMR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curso:2025 (del 26 de dic de 2024 al 25 de dic de 2025).</a:t>
            </a:r>
            <a:br/>
            <a:r>
              <a:t>Corte de información: Semana 24, 7 junio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3 Cuautepec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25,438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11,485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 SantiagoTulant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23,783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1,576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10,498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27 Tlaxcoapan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47,516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1,685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21,511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25 Mineral Monte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27,001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1,840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15,502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29 Huichapan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20,577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-687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9,943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31 Zimapan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14,157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1,266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7,122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26 Mixquiahuala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60,148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15,442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28,579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75,168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 Cruz Azul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21,037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10,177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37 Doxey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118,342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1,003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53,715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128,412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357,999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24,172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168,532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414,972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40.6%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841600"/>
              </p:ext>
            </p:extLst>
          </p:nvPr>
        </p:nvGraphicFramePr>
        <p:xfrm>
          <a:off x="3675900" y="3493590"/>
          <a:ext cx="1524750" cy="160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75900" y="4092138"/>
            <a:ext cx="15247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9F2241"/>
                </a:solidFill>
                <a:latin typeface="Montserrat"/>
              </a:rPr>
              <a:t>40.6%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900" y="4954038"/>
            <a:ext cx="15247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7549" y="3883078"/>
            <a:ext cx="2854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rPr sz="2400" dirty="0"/>
              <a:t>414,972 </a:t>
            </a:r>
            <a:br>
              <a:rPr sz="2400" dirty="0"/>
            </a:br>
            <a:r>
              <a:rPr sz="2400" dirty="0"/>
              <a:t>Meta 2026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47600" y="51851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rPr sz="1800" dirty="0"/>
              <a:t>7 </a:t>
            </a:r>
            <a:r>
              <a:rPr sz="1800" dirty="0" err="1"/>
              <a:t>Unidades</a:t>
            </a:r>
            <a:r>
              <a:rPr sz="1800" dirty="0"/>
              <a:t> </a:t>
            </a:r>
            <a:r>
              <a:rPr sz="1800" dirty="0" err="1"/>
              <a:t>Médicas</a:t>
            </a:r>
            <a:r>
              <a:rPr sz="1800" dirty="0"/>
              <a:t> de </a:t>
            </a:r>
            <a:r>
              <a:rPr sz="1800" dirty="0" err="1"/>
              <a:t>tiempo</a:t>
            </a:r>
            <a:r>
              <a:rPr sz="1800" dirty="0"/>
              <a:t> </a:t>
            </a:r>
            <a:r>
              <a:rPr sz="1800" dirty="0" err="1"/>
              <a:t>completo</a:t>
            </a:r>
            <a:r>
              <a:rPr sz="1800" dirty="0"/>
              <a:t> (24 </a:t>
            </a:r>
            <a:r>
              <a:rPr sz="1800" dirty="0" err="1"/>
              <a:t>consultorios</a:t>
            </a:r>
            <a:r>
              <a:rPr sz="1800" dirty="0"/>
              <a:t>)</a:t>
            </a:r>
            <a:endParaRPr dirty="0"/>
          </a:p>
        </p:txBody>
      </p:sp>
      <p:sp>
        <p:nvSpPr>
          <p:cNvPr id="184" name="TextBox 183"/>
          <p:cNvSpPr txBox="1"/>
          <p:nvPr/>
        </p:nvSpPr>
        <p:spPr>
          <a:xfrm>
            <a:off x="125999" y="5602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185" name="Connector 184"/>
          <p:cNvCxnSpPr/>
          <p:nvPr/>
        </p:nvCxnSpPr>
        <p:spPr>
          <a:xfrm>
            <a:off x="118800" y="55272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8" name="Table 1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809877"/>
              </p:ext>
            </p:extLst>
          </p:nvPr>
        </p:nvGraphicFramePr>
        <p:xfrm>
          <a:off x="151200" y="5962800"/>
          <a:ext cx="7473599" cy="161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7 Atotonilco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65,449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8,640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33,438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15 Apan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49,006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4,044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23,078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16 Actopan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60,088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15,560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28,008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68,880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18 Tizayuca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139,638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7,888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62,597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137,760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32 Pachuca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137,520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12,923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63,771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137,760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34 Tulancingo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150,012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23,008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68,124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35 La Colonia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95,621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20,076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43,021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697,334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92,139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322,037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695,400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46.3%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D3259E39-A033-378D-AB8C-E99AA07652C5}"/>
              </a:ext>
            </a:extLst>
          </p:cNvPr>
          <p:cNvSpPr txBox="1"/>
          <p:nvPr/>
        </p:nvSpPr>
        <p:spPr>
          <a:xfrm>
            <a:off x="4333475" y="7849602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Sin unidades médicas propuestas</a:t>
            </a:r>
          </a:p>
        </p:txBody>
      </p:sp>
      <p:sp>
        <p:nvSpPr>
          <p:cNvPr id="16" name="TextBox 186">
            <a:extLst>
              <a:ext uri="{FF2B5EF4-FFF2-40B4-BE49-F238E27FC236}">
                <a16:creationId xmlns:a16="http://schemas.microsoft.com/office/drawing/2014/main" id="{9038622B-899A-3A0C-2BB4-8C289E80EA0C}"/>
              </a:ext>
            </a:extLst>
          </p:cNvPr>
          <p:cNvSpPr txBox="1"/>
          <p:nvPr/>
        </p:nvSpPr>
        <p:spPr>
          <a:xfrm>
            <a:off x="1940400" y="762315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(118,860 consultas)</a:t>
            </a:r>
          </a:p>
        </p:txBody>
      </p:sp>
      <p:graphicFrame>
        <p:nvGraphicFramePr>
          <p:cNvPr id="18" name="Chart 188">
            <a:extLst>
              <a:ext uri="{FF2B5EF4-FFF2-40B4-BE49-F238E27FC236}">
                <a16:creationId xmlns:a16="http://schemas.microsoft.com/office/drawing/2014/main" id="{734F45CB-1DD3-E478-C6B7-3F68B9680C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7515876"/>
              </p:ext>
            </p:extLst>
          </p:nvPr>
        </p:nvGraphicFramePr>
        <p:xfrm>
          <a:off x="385200" y="7590750"/>
          <a:ext cx="1555200" cy="153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0" name="TextBox 189">
            <a:extLst>
              <a:ext uri="{FF2B5EF4-FFF2-40B4-BE49-F238E27FC236}">
                <a16:creationId xmlns:a16="http://schemas.microsoft.com/office/drawing/2014/main" id="{0CB7154D-72B9-4C98-BD48-64B8A19581D0}"/>
              </a:ext>
            </a:extLst>
          </p:cNvPr>
          <p:cNvSpPr txBox="1"/>
          <p:nvPr/>
        </p:nvSpPr>
        <p:spPr>
          <a:xfrm>
            <a:off x="385200" y="832995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dirty="0">
                <a:solidFill>
                  <a:srgbClr val="9F2241"/>
                </a:solidFill>
                <a:latin typeface="Montserrat"/>
              </a:rPr>
              <a:t>17%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3445312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95724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No incluye la productividad de especialidad generada en UMF ni en HR. En el año 2025 no incluye información de HR y UMR.</a:t>
            </a:r>
            <a:br/>
            <a:r>
              <a:t>El año de proceso inicia del 26 de diciembre del año anterior al 25 de diciembre del año en curso:2025 (del 26 de dic de 2024 al 25 de dic de 2025). Corte de información: Semana: 24, 7 junio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264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36 Pachuca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164,182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31,670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86,075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170,820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6 Tepeji del Río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36,486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11,561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18,929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33 Tizayuca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9,612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Pachuca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165,053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15,812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76,006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186,150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Tulancingo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37,045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9,347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18,197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49,640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8 Cd. Sahagún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38,114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7,279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20,007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62,050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5 Tula de Hidalgo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18,296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7,608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26,280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479,638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77,525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236,434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564,290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41.9%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432814"/>
              </p:ext>
            </p:extLst>
          </p:nvPr>
        </p:nvGraphicFramePr>
        <p:xfrm>
          <a:off x="4084865" y="5254718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084865" y="5974718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41.9%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084865" y="6874718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230065" y="5561077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rPr dirty="0"/>
              <a:t>564,290 </a:t>
            </a:r>
            <a:br>
              <a:rPr dirty="0"/>
            </a:br>
            <a:r>
              <a:rPr dirty="0"/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673044918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95616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24, 7 junio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235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Pachuca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3,017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8,154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Tulancingo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1,239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2,718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36 Pachuca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8,294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3,053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9,149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8 Cd. Sahagún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2,377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2,928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6 Tepeji del Río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2,718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33 Tizayuca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1,427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2,349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21,179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4,350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9,473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28,016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33.8%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999986"/>
              </p:ext>
            </p:extLst>
          </p:nvPr>
        </p:nvGraphicFramePr>
        <p:xfrm>
          <a:off x="4202559" y="4814640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202559" y="553464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33.8%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202559" y="643464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1380759" y="529092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rPr dirty="0"/>
              <a:t>28,016 </a:t>
            </a:r>
            <a:br>
              <a:rPr dirty="0"/>
            </a:br>
            <a:r>
              <a:rPr dirty="0"/>
              <a:t>Meta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253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168 en Hospitales, 2 en sede, 18 en UMF y 65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19945"/>
            <a:ext cx="353013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dirty="0"/>
              <a:t>168 </a:t>
            </a:r>
            <a:r>
              <a:rPr dirty="0" err="1"/>
              <a:t>en</a:t>
            </a:r>
            <a:r>
              <a:rPr dirty="0"/>
              <a:t> Hospitales</a:t>
            </a:r>
            <a:r>
              <a:rPr lang="es-MX" dirty="0"/>
              <a:t> (1 de 4)</a:t>
            </a:r>
            <a:endParaRPr dirty="0"/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175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33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815999"/>
          <a:ext cx="3456000" cy="304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36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815999"/>
          <a:ext cx="3456000" cy="4029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1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Clínica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6015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7891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253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1545"/>
            <a:ext cx="3579826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dirty="0"/>
              <a:t>168 </a:t>
            </a:r>
            <a:r>
              <a:rPr dirty="0" err="1"/>
              <a:t>en</a:t>
            </a:r>
            <a:r>
              <a:rPr dirty="0"/>
              <a:t> Hospitales (</a:t>
            </a:r>
            <a:r>
              <a:rPr lang="es-MX" dirty="0"/>
              <a:t>2 de 4</a:t>
            </a:r>
            <a:r>
              <a:rPr dirty="0"/>
              <a:t>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5495365"/>
              </p:ext>
            </p:extLst>
          </p:nvPr>
        </p:nvGraphicFramePr>
        <p:xfrm>
          <a:off x="360000" y="39669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010927"/>
              </p:ext>
            </p:extLst>
          </p:nvPr>
        </p:nvGraphicFramePr>
        <p:xfrm>
          <a:off x="3960000" y="299535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Huejutla de Reyes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 err="1"/>
                        <a:t>Pediatría</a:t>
                      </a:r>
                      <a:endParaRPr dirty="0"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2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9116780"/>
              </p:ext>
            </p:extLst>
          </p:nvPr>
        </p:nvGraphicFramePr>
        <p:xfrm>
          <a:off x="360000" y="5151000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Hospital Rural </a:t>
                      </a:r>
                      <a:r>
                        <a:rPr dirty="0" err="1"/>
                        <a:t>Ixmiquilpan</a:t>
                      </a:r>
                      <a:endParaRPr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7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37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3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9419225"/>
              </p:ext>
            </p:extLst>
          </p:nvPr>
        </p:nvGraphicFramePr>
        <p:xfrm>
          <a:off x="3960000" y="51510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Hospital Rural </a:t>
                      </a:r>
                      <a:r>
                        <a:rPr dirty="0" err="1"/>
                        <a:t>Metepec</a:t>
                      </a:r>
                      <a:endParaRPr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34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4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2415094"/>
              </p:ext>
            </p:extLst>
          </p:nvPr>
        </p:nvGraphicFramePr>
        <p:xfrm>
          <a:off x="360000" y="73344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Zacualtipán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253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1138994"/>
            <a:ext cx="3940502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dirty="0"/>
              <a:t>2 </a:t>
            </a:r>
            <a:r>
              <a:rPr dirty="0" err="1"/>
              <a:t>Sede</a:t>
            </a:r>
            <a:r>
              <a:rPr dirty="0"/>
              <a:t> </a:t>
            </a:r>
            <a:r>
              <a:rPr dirty="0" err="1"/>
              <a:t>delegacional</a:t>
            </a:r>
            <a:r>
              <a:rPr lang="es-MX" dirty="0"/>
              <a:t> (3 de 4)</a:t>
            </a:r>
            <a:endParaRPr dirty="0"/>
          </a:p>
        </p:txBody>
      </p:sp>
      <p:cxnSp>
        <p:nvCxnSpPr>
          <p:cNvPr id="11" name="Connector 10"/>
          <p:cNvCxnSpPr/>
          <p:nvPr/>
        </p:nvCxnSpPr>
        <p:spPr>
          <a:xfrm>
            <a:off x="360000" y="155504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5206274"/>
              </p:ext>
            </p:extLst>
          </p:nvPr>
        </p:nvGraphicFramePr>
        <p:xfrm>
          <a:off x="360000" y="162704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Box 3"/>
          <p:cNvSpPr txBox="1"/>
          <p:nvPr/>
        </p:nvSpPr>
        <p:spPr>
          <a:xfrm>
            <a:off x="360000" y="260655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18 en Unidades de Medicina Familiar</a:t>
            </a:r>
          </a:p>
        </p:txBody>
      </p:sp>
      <p:cxnSp>
        <p:nvCxnSpPr>
          <p:cNvPr id="14" name="Connector 4"/>
          <p:cNvCxnSpPr/>
          <p:nvPr/>
        </p:nvCxnSpPr>
        <p:spPr>
          <a:xfrm>
            <a:off x="360000" y="300255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030888"/>
              </p:ext>
            </p:extLst>
          </p:nvPr>
        </p:nvGraphicFramePr>
        <p:xfrm>
          <a:off x="360000" y="307455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Unidad de Medicina Familiar 18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262265"/>
              </p:ext>
            </p:extLst>
          </p:nvPr>
        </p:nvGraphicFramePr>
        <p:xfrm>
          <a:off x="3960000" y="3074550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Especialidad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677804"/>
              </p:ext>
            </p:extLst>
          </p:nvPr>
        </p:nvGraphicFramePr>
        <p:xfrm>
          <a:off x="360000" y="4226549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844002"/>
              </p:ext>
            </p:extLst>
          </p:nvPr>
        </p:nvGraphicFramePr>
        <p:xfrm>
          <a:off x="3960000" y="422654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Unidad de Medicina Familiar 31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9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266914"/>
              </p:ext>
            </p:extLst>
          </p:nvPr>
        </p:nvGraphicFramePr>
        <p:xfrm>
          <a:off x="360000" y="5378548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Medicina Familiar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41000"/>
              </p:ext>
            </p:extLst>
          </p:nvPr>
        </p:nvGraphicFramePr>
        <p:xfrm>
          <a:off x="3960000" y="5378548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1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31302"/>
              </p:ext>
            </p:extLst>
          </p:nvPr>
        </p:nvGraphicFramePr>
        <p:xfrm>
          <a:off x="360000" y="6530547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Especialidad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2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8933274"/>
              </p:ext>
            </p:extLst>
          </p:nvPr>
        </p:nvGraphicFramePr>
        <p:xfrm>
          <a:off x="3960000" y="6530547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696428"/>
              </p:ext>
            </p:extLst>
          </p:nvPr>
        </p:nvGraphicFramePr>
        <p:xfrm>
          <a:off x="360000" y="7430546"/>
          <a:ext cx="3456000" cy="795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253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81545"/>
            <a:ext cx="4984057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dirty="0"/>
              <a:t>65 </a:t>
            </a:r>
            <a:r>
              <a:rPr dirty="0" err="1"/>
              <a:t>especialistas</a:t>
            </a:r>
            <a:r>
              <a:rPr dirty="0"/>
              <a:t> </a:t>
            </a:r>
            <a:r>
              <a:rPr dirty="0" err="1"/>
              <a:t>sustitutos</a:t>
            </a:r>
            <a:r>
              <a:rPr lang="es-MX" dirty="0"/>
              <a:t> (4 de 4)</a:t>
            </a:r>
            <a:endParaRPr dirty="0"/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0000" y="6912299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rPr dirty="0" err="1"/>
              <a:t>Sustitutos</a:t>
            </a:r>
            <a:r>
              <a:rPr dirty="0"/>
              <a:t> se </a:t>
            </a:r>
            <a:r>
              <a:rPr dirty="0" err="1"/>
              <a:t>integran</a:t>
            </a:r>
            <a:r>
              <a:rPr dirty="0"/>
              <a:t> a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Listados</a:t>
            </a:r>
            <a:r>
              <a:rPr dirty="0"/>
              <a:t> de Bolsa de </a:t>
            </a:r>
            <a:r>
              <a:rPr dirty="0" err="1"/>
              <a:t>Trabajo</a:t>
            </a:r>
            <a:r>
              <a:rPr dirty="0"/>
              <a:t>, para </a:t>
            </a:r>
            <a:r>
              <a:rPr dirty="0" err="1"/>
              <a:t>cubrir</a:t>
            </a:r>
            <a:r>
              <a:rPr dirty="0"/>
              <a:t> las </a:t>
            </a:r>
            <a:r>
              <a:rPr dirty="0" err="1"/>
              <a:t>futuras</a:t>
            </a:r>
            <a:r>
              <a:rPr dirty="0"/>
              <a:t> </a:t>
            </a:r>
            <a:r>
              <a:rPr dirty="0" err="1"/>
              <a:t>vacantes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jubilación</a:t>
            </a:r>
            <a:r>
              <a:rPr dirty="0"/>
              <a:t>, </a:t>
            </a:r>
            <a:r>
              <a:rPr dirty="0" err="1"/>
              <a:t>renuncia</a:t>
            </a:r>
            <a:r>
              <a:rPr dirty="0"/>
              <a:t>, </a:t>
            </a:r>
            <a:r>
              <a:rPr dirty="0" err="1"/>
              <a:t>fallecimiento</a:t>
            </a:r>
            <a:r>
              <a:rPr dirty="0"/>
              <a:t>, etc., </a:t>
            </a:r>
            <a:r>
              <a:rPr dirty="0" err="1"/>
              <a:t>así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ausentismo</a:t>
            </a:r>
            <a:r>
              <a:rPr dirty="0"/>
              <a:t> </a:t>
            </a:r>
            <a:r>
              <a:rPr dirty="0" err="1"/>
              <a:t>programado</a:t>
            </a:r>
            <a:r>
              <a:rPr dirty="0"/>
              <a:t> y no </a:t>
            </a:r>
            <a:r>
              <a:rPr dirty="0" err="1"/>
              <a:t>programado</a:t>
            </a:r>
            <a:r>
              <a:rPr dirty="0"/>
              <a:t>.</a:t>
            </a:r>
          </a:p>
        </p:txBody>
      </p:sp>
      <p:graphicFrame>
        <p:nvGraphicFramePr>
          <p:cNvPr id="10" name="Table 5">
            <a:extLst>
              <a:ext uri="{FF2B5EF4-FFF2-40B4-BE49-F238E27FC236}">
                <a16:creationId xmlns:a16="http://schemas.microsoft.com/office/drawing/2014/main" id="{0E0F3271-30A2-7D12-975E-A54ABA26F3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912856"/>
              </p:ext>
            </p:extLst>
          </p:nvPr>
        </p:nvGraphicFramePr>
        <p:xfrm>
          <a:off x="2052000" y="1577399"/>
          <a:ext cx="3456000" cy="491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Sustitución</a:t>
                      </a:r>
                      <a:r>
                        <a:t> 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Audiología</a:t>
                      </a:r>
                      <a:r>
                        <a:t> </a:t>
                      </a:r>
                      <a:r>
                        <a:rPr err="1"/>
                        <a:t>Otoneurología</a:t>
                      </a:r>
                      <a:r>
                        <a:t> y </a:t>
                      </a:r>
                      <a:r>
                        <a:rPr err="1"/>
                        <a:t>Foniatría</a:t>
                      </a:r>
                      <a:endParaRPr/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Ginecología</a:t>
                      </a:r>
                      <a:r>
                        <a:t> y </a:t>
                      </a:r>
                      <a:r>
                        <a:rPr err="1"/>
                        <a:t>Obstetricia</a:t>
                      </a:r>
                      <a:endParaRPr/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Otorrinolaringología</a:t>
                      </a:r>
                      <a:r>
                        <a:t> y </a:t>
                      </a:r>
                      <a:r>
                        <a:rPr err="1"/>
                        <a:t>Cirugía</a:t>
                      </a:r>
                      <a:r>
                        <a:t> de Cabeza y Cuello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Pediatría</a:t>
                      </a:r>
                      <a:endParaRPr/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175751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Radioncología</a:t>
                      </a:r>
                      <a:r>
                        <a:t> Directa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786952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Traumatología</a:t>
                      </a:r>
                      <a:r>
                        <a:t> y </a:t>
                      </a:r>
                      <a:r>
                        <a:rPr err="1"/>
                        <a:t>Ortopedia</a:t>
                      </a:r>
                      <a:endParaRPr/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465778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65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1522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5860900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dirty="0" err="1"/>
              <a:t>Contrataciones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especialidad</a:t>
            </a:r>
            <a:r>
              <a:rPr lang="es-MX" dirty="0"/>
              <a:t> (1 de 2)</a:t>
            </a:r>
            <a:endParaRPr dirty="0"/>
          </a:p>
        </p:txBody>
      </p:sp>
      <p:cxnSp>
        <p:nvCxnSpPr>
          <p:cNvPr id="4" name="Connector 3"/>
          <p:cNvCxnSpPr/>
          <p:nvPr/>
        </p:nvCxnSpPr>
        <p:spPr>
          <a:xfrm>
            <a:off x="223200" y="1124915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191994"/>
              </p:ext>
            </p:extLst>
          </p:nvPr>
        </p:nvGraphicFramePr>
        <p:xfrm>
          <a:off x="1007999" y="1655999"/>
          <a:ext cx="5756399" cy="73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Especialidad</a:t>
                      </a:r>
                      <a:endParaRPr dirty="0"/>
                    </a:p>
                  </a:txBody>
                  <a:tcPr marL="14400" marR="14400" marT="14400" marB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14.6%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31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26.8%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28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50.1%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59.6%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67.9%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73.1%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77.4%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80.6%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82.6%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84.1%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85.3%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86.5%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87.7%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88.9%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89.7%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90.5%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91.3%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92.8%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93.6%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94.4%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 Pediátrica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94.8%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 Pediátrica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95.2%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95.6%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5848076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dirty="0" err="1"/>
              <a:t>Contrataciones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especialidad</a:t>
            </a:r>
            <a:r>
              <a:rPr lang="es-MX" dirty="0"/>
              <a:t> (2 de 2)</a:t>
            </a:r>
            <a:endParaRPr dirty="0"/>
          </a:p>
        </p:txBody>
      </p:sp>
      <p:cxnSp>
        <p:nvCxnSpPr>
          <p:cNvPr id="4" name="Connector 3"/>
          <p:cNvCxnSpPr/>
          <p:nvPr/>
        </p:nvCxnSpPr>
        <p:spPr>
          <a:xfrm>
            <a:off x="223200" y="10976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468162"/>
              </p:ext>
            </p:extLst>
          </p:nvPr>
        </p:nvGraphicFramePr>
        <p:xfrm>
          <a:off x="1007999" y="1332149"/>
          <a:ext cx="5756399" cy="43047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16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Especialidad</a:t>
                      </a:r>
                      <a:endParaRPr dirty="0"/>
                    </a:p>
                  </a:txBody>
                  <a:tcPr marL="14400" marR="14400" marT="14400" marB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 err="1"/>
                        <a:t>Endocrinología</a:t>
                      </a:r>
                      <a:endParaRPr dirty="0"/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96.0%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96.4%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96.8%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97.2%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97.6%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98.4%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98.8%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99.2%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Clínica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99.6%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3169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99.9%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317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253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100.0%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49F0CE32-688A-CC5B-A70E-30EE45EC4A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5667773"/>
              </p:ext>
            </p:extLst>
          </p:nvPr>
        </p:nvGraphicFramePr>
        <p:xfrm>
          <a:off x="287050" y="661778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1800" y="4423820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>
                <a:solidFill>
                  <a:schemeClr val="tx1"/>
                </a:solidFill>
              </a:rPr>
              <a:t>Corte de </a:t>
            </a:r>
            <a:r>
              <a:rPr dirty="0" err="1">
                <a:solidFill>
                  <a:schemeClr val="tx1"/>
                </a:solidFill>
              </a:rPr>
              <a:t>información</a:t>
            </a:r>
            <a:r>
              <a:rPr dirty="0">
                <a:solidFill>
                  <a:schemeClr val="tx1"/>
                </a:solidFill>
              </a:rPr>
              <a:t>: </a:t>
            </a:r>
            <a:r>
              <a:rPr dirty="0" err="1">
                <a:solidFill>
                  <a:schemeClr val="tx1"/>
                </a:solidFill>
              </a:rPr>
              <a:t>semana</a:t>
            </a:r>
            <a:r>
              <a:rPr dirty="0">
                <a:solidFill>
                  <a:schemeClr val="tx1"/>
                </a:solidFill>
              </a:rPr>
              <a:t> 24, 7 </a:t>
            </a:r>
            <a:r>
              <a:rPr dirty="0" err="1">
                <a:solidFill>
                  <a:schemeClr val="tx1"/>
                </a:solidFill>
              </a:rPr>
              <a:t>junio</a:t>
            </a:r>
            <a:r>
              <a:rPr dirty="0">
                <a:solidFill>
                  <a:schemeClr val="tx1"/>
                </a:solidFill>
              </a:rPr>
              <a:t>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6392451"/>
              </p:ext>
            </p:extLst>
          </p:nvPr>
        </p:nvGraphicFramePr>
        <p:xfrm>
          <a:off x="32400" y="1530900"/>
          <a:ext cx="3639599" cy="35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Especialidad</a:t>
                      </a:r>
                      <a:endParaRPr dirty="0"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3,917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1164019"/>
              </p:ext>
            </p:extLst>
          </p:nvPr>
        </p:nvGraphicFramePr>
        <p:xfrm>
          <a:off x="3992400" y="1905300"/>
          <a:ext cx="3639599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1,054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231">
            <a:extLst>
              <a:ext uri="{FF2B5EF4-FFF2-40B4-BE49-F238E27FC236}">
                <a16:creationId xmlns:a16="http://schemas.microsoft.com/office/drawing/2014/main" id="{CCFFDF1B-BF11-3059-13BF-2C47004ED933}"/>
              </a:ext>
            </a:extLst>
          </p:cNvPr>
          <p:cNvSpPr txBox="1"/>
          <p:nvPr/>
        </p:nvSpPr>
        <p:spPr>
          <a:xfrm>
            <a:off x="642541" y="6543353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rPr dirty="0"/>
              <a:t>Corte de </a:t>
            </a:r>
            <a:r>
              <a:rPr dirty="0" err="1"/>
              <a:t>información</a:t>
            </a:r>
            <a:r>
              <a:rPr dirty="0"/>
              <a:t>: </a:t>
            </a:r>
            <a:r>
              <a:rPr lang="es-MX" dirty="0"/>
              <a:t>18</a:t>
            </a:r>
            <a:r>
              <a:rPr dirty="0"/>
              <a:t> </a:t>
            </a:r>
            <a:r>
              <a:rPr lang="es-MX" dirty="0"/>
              <a:t>junio</a:t>
            </a:r>
            <a:r>
              <a:rPr dirty="0"/>
              <a:t> 2026</a:t>
            </a:r>
          </a:p>
        </p:txBody>
      </p:sp>
      <p:graphicFrame>
        <p:nvGraphicFramePr>
          <p:cNvPr id="10" name="Google Shape;230;g370e87ffe7a_2_137">
            <a:extLst>
              <a:ext uri="{FF2B5EF4-FFF2-40B4-BE49-F238E27FC236}">
                <a16:creationId xmlns:a16="http://schemas.microsoft.com/office/drawing/2014/main" id="{67DAD578-AAC6-7BA6-50C7-12D1797AC8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0777978"/>
              </p:ext>
            </p:extLst>
          </p:nvPr>
        </p:nvGraphicFramePr>
        <p:xfrm>
          <a:off x="200058" y="5302644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Vive saludable, Vive feliz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232">
            <a:extLst>
              <a:ext uri="{FF2B5EF4-FFF2-40B4-BE49-F238E27FC236}">
                <a16:creationId xmlns:a16="http://schemas.microsoft.com/office/drawing/2014/main" id="{215E0680-95A3-43D2-901C-C934B8AB5D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469618"/>
              </p:ext>
            </p:extLst>
          </p:nvPr>
        </p:nvGraphicFramePr>
        <p:xfrm>
          <a:off x="659906" y="5797178"/>
          <a:ext cx="6352206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3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3169">
                  <a:extLst>
                    <a:ext uri="{9D8B030D-6E8A-4147-A177-3AD203B41FA5}">
                      <a16:colId xmlns:a16="http://schemas.microsoft.com/office/drawing/2014/main" val="178174308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Total de Escuelas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Escuelas visitadas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Población 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Menores tamizados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2,999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2,811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331,482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236,366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14" name="Table 232">
            <a:extLst>
              <a:ext uri="{FF2B5EF4-FFF2-40B4-BE49-F238E27FC236}">
                <a16:creationId xmlns:a16="http://schemas.microsoft.com/office/drawing/2014/main" id="{04CDC8D1-8C0E-5649-9FAB-B6D839D15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399588"/>
              </p:ext>
            </p:extLst>
          </p:nvPr>
        </p:nvGraphicFramePr>
        <p:xfrm>
          <a:off x="1735038" y="6777081"/>
          <a:ext cx="3705868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Brigadas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Personal de enfermería IMSS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18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90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TextBox 231">
            <a:extLst>
              <a:ext uri="{FF2B5EF4-FFF2-40B4-BE49-F238E27FC236}">
                <a16:creationId xmlns:a16="http://schemas.microsoft.com/office/drawing/2014/main" id="{0E5787FF-F722-3D47-EB18-EE2FD9BCA2DD}"/>
              </a:ext>
            </a:extLst>
          </p:cNvPr>
          <p:cNvSpPr txBox="1"/>
          <p:nvPr/>
        </p:nvSpPr>
        <p:spPr>
          <a:xfrm>
            <a:off x="1735038" y="7517068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rPr lang="es-MX"/>
              <a:t>En cada brigada participan 5 personas del IMSS.</a:t>
            </a:r>
            <a:endParaRPr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D0127F8-1988-3476-5A45-330328FA0C50}"/>
              </a:ext>
            </a:extLst>
          </p:cNvPr>
          <p:cNvSpPr txBox="1"/>
          <p:nvPr/>
        </p:nvSpPr>
        <p:spPr>
          <a:xfrm>
            <a:off x="578428" y="8360824"/>
            <a:ext cx="1841269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dirty="0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6,095</a:t>
            </a:r>
            <a:endParaRPr lang="en-US" sz="2800" b="1" i="0" u="none" strike="noStrike" dirty="0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 i="0" u="none" strike="noStrike" dirty="0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Valoraciones</a:t>
            </a:r>
            <a:r>
              <a:rPr lang="en-US" sz="1200" b="1" i="0" u="none" strike="noStrike" dirty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 </a:t>
            </a:r>
            <a:br>
              <a:rPr lang="en-US" sz="1200" b="1" dirty="0">
                <a:latin typeface="Montserrat"/>
                <a:ea typeface="Montserrat"/>
                <a:cs typeface="Montserrat"/>
              </a:rPr>
            </a:br>
            <a:r>
              <a:rPr lang="en-US" sz="1200" b="1" i="0" u="none" strike="noStrike" dirty="0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nutricionales</a:t>
            </a:r>
            <a:endParaRPr lang="en-US" sz="1200" b="1" i="0" u="none" strike="noStrike" dirty="0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B2DD745-B4CC-0668-FA6A-E40EACADAB9B}"/>
              </a:ext>
            </a:extLst>
          </p:cNvPr>
          <p:cNvSpPr txBox="1"/>
          <p:nvPr/>
        </p:nvSpPr>
        <p:spPr>
          <a:xfrm>
            <a:off x="2943053" y="8360824"/>
            <a:ext cx="1832957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dirty="0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7,466</a:t>
            </a:r>
            <a:endParaRPr lang="en-US" sz="2800" b="1" i="0" u="none" strike="noStrike" dirty="0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 i="0" u="none" strike="noStrike" dirty="0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Valoraciones</a:t>
            </a:r>
            <a:r>
              <a:rPr lang="en-US" sz="1200" b="1" i="0" u="none" strike="noStrike" dirty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 </a:t>
            </a:r>
            <a:br>
              <a:rPr lang="en-US" sz="1200" b="1" dirty="0">
                <a:latin typeface="Montserrat"/>
                <a:ea typeface="Montserrat"/>
                <a:cs typeface="Montserrat"/>
              </a:rPr>
            </a:br>
            <a:r>
              <a:rPr lang="en-US" sz="1200" b="1" dirty="0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bucales</a:t>
            </a:r>
            <a:endParaRPr lang="en-US" sz="1200" b="1" i="0" u="none" strike="noStrike" dirty="0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EDE84A7-AE98-1F4B-6E61-1841DD8387B4}"/>
              </a:ext>
            </a:extLst>
          </p:cNvPr>
          <p:cNvSpPr txBox="1"/>
          <p:nvPr/>
        </p:nvSpPr>
        <p:spPr>
          <a:xfrm>
            <a:off x="5218315" y="8360824"/>
            <a:ext cx="184126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10,427</a:t>
            </a:r>
            <a:endParaRPr lang="en-US" sz="2800" b="1" i="0" u="none" strike="noStrike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Salud visual</a:t>
            </a:r>
            <a:endParaRPr lang="en-US" sz="1200" b="1" i="0" u="none" strike="noStrike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24" name="Imagen 23" descr="Icono&#10;&#10;El contenido generado por IA puede ser incorrecto.">
            <a:extLst>
              <a:ext uri="{FF2B5EF4-FFF2-40B4-BE49-F238E27FC236}">
                <a16:creationId xmlns:a16="http://schemas.microsoft.com/office/drawing/2014/main" id="{882A415A-B8F2-D348-7EE3-E70FB978A1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1994" y="7747761"/>
            <a:ext cx="730135" cy="669175"/>
          </a:xfrm>
          <a:prstGeom prst="rect">
            <a:avLst/>
          </a:prstGeom>
        </p:spPr>
      </p:pic>
      <p:pic>
        <p:nvPicPr>
          <p:cNvPr id="26" name="Imagen 25" descr="Icono&#10;&#10;El contenido generado por IA puede ser incorrecto.">
            <a:extLst>
              <a:ext uri="{FF2B5EF4-FFF2-40B4-BE49-F238E27FC236}">
                <a16:creationId xmlns:a16="http://schemas.microsoft.com/office/drawing/2014/main" id="{28650FDC-8F56-F5D6-D680-8474414E74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5945" y="7894792"/>
            <a:ext cx="924445" cy="491944"/>
          </a:xfrm>
          <a:prstGeom prst="rect">
            <a:avLst/>
          </a:prstGeom>
        </p:spPr>
      </p:pic>
      <p:pic>
        <p:nvPicPr>
          <p:cNvPr id="28" name="Imagen 27" descr="Icono&#10;&#10;El contenido generado por IA puede ser incorrecto.">
            <a:extLst>
              <a:ext uri="{FF2B5EF4-FFF2-40B4-BE49-F238E27FC236}">
                <a16:creationId xmlns:a16="http://schemas.microsoft.com/office/drawing/2014/main" id="{CB88206A-1D33-B85B-D290-7E2E7E59CA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7379" y="7729750"/>
            <a:ext cx="603366" cy="713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9,765	 Personal de Salud: 5,359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+110.0%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154008"/>
              </p:ext>
            </p:extLst>
          </p:nvPr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rPr dirty="0"/>
                        <a:t>2018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rPr dirty="0"/>
                        <a:t>2026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rPr dirty="0"/>
                        <a:t>63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+84.6%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457755"/>
              </p:ext>
            </p:extLst>
          </p:nvPr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18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801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rPr dirty="0"/>
                        <a:t>1,479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+62.1%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860045"/>
              </p:ext>
            </p:extLst>
          </p:nvPr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1,209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rPr dirty="0"/>
                        <a:t>1,960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+51.5%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045583"/>
              </p:ext>
            </p:extLst>
          </p:nvPr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889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rPr dirty="0"/>
                        <a:t>1,347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+116.3%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633617"/>
              </p:ext>
            </p:extLst>
          </p:nvPr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80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rPr dirty="0"/>
                        <a:t>173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+19.1%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332855"/>
              </p:ext>
            </p:extLst>
          </p:nvPr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283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rPr dirty="0"/>
                        <a:t>337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637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277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1127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129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70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103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79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381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rPr dirty="0"/>
              <a:t>Fuente: </a:t>
            </a:r>
            <a:r>
              <a:rPr dirty="0" err="1"/>
              <a:t>Dirección</a:t>
            </a:r>
            <a:r>
              <a:rPr dirty="0"/>
              <a:t> de Administración. Base SIAP </a:t>
            </a:r>
            <a:r>
              <a:rPr dirty="0" err="1"/>
              <a:t>comparativa</a:t>
            </a:r>
            <a:r>
              <a:rPr dirty="0"/>
              <a:t> del </a:t>
            </a:r>
            <a:r>
              <a:rPr dirty="0" err="1"/>
              <a:t>diciembre</a:t>
            </a:r>
            <a:r>
              <a:rPr dirty="0"/>
              <a:t> 2018 con el 15 de </a:t>
            </a:r>
            <a:r>
              <a:rPr dirty="0" err="1"/>
              <a:t>junio</a:t>
            </a:r>
            <a:r>
              <a:rPr dirty="0"/>
              <a:t>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mayo 2026.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7,095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384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199859" y="6825600"/>
            <a:ext cx="405881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rPr lang="es-MX" dirty="0"/>
              <a:t>60</a:t>
            </a:r>
            <a:endParaRPr dirty="0"/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89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2,208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243979" y="7880400"/>
            <a:ext cx="492443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rPr dirty="0"/>
              <a:t>56</a:t>
            </a:r>
            <a:r>
              <a:rPr lang="es-MX" dirty="0"/>
              <a:t>2</a:t>
            </a:r>
            <a:endParaRPr dirty="0"/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11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3108019" y="8690400"/>
            <a:ext cx="151676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rPr dirty="0"/>
              <a:t>10,</a:t>
            </a:r>
            <a:r>
              <a:rPr lang="es-MX" dirty="0"/>
              <a:t>249</a:t>
            </a:r>
            <a:endParaRPr dirty="0"/>
          </a:p>
        </p:txBody>
      </p:sp>
      <p:graphicFrame>
        <p:nvGraphicFramePr>
          <p:cNvPr id="344" name="Table 3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0684503"/>
              </p:ext>
            </p:extLst>
          </p:nvPr>
        </p:nvGraphicFramePr>
        <p:xfrm>
          <a:off x="86250" y="1548000"/>
          <a:ext cx="7567200" cy="341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(116,799)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(16,426)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(993)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(1,647)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(109)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(95,558)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(8,152)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latin typeface="Montserrat"/>
                        </a:rPr>
                        <a:t>Cirugía</a:t>
                      </a:r>
                      <a:r>
                        <a:rPr sz="900" b="0" dirty="0">
                          <a:latin typeface="Montserrat"/>
                        </a:rPr>
                        <a:t> de Hernias (</a:t>
                      </a:r>
                      <a:r>
                        <a:rPr sz="900" b="0" dirty="0" err="1">
                          <a:latin typeface="Montserrat"/>
                        </a:rPr>
                        <a:t>Hernioplastía</a:t>
                      </a:r>
                      <a:r>
                        <a:rPr sz="900" b="0" dirty="0">
                          <a:latin typeface="Montserrat"/>
                        </a:rPr>
                        <a:t>)
(706)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(1,082)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(73)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(25,423)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(8,037)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(593)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(825)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(59)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(17,921)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(7,849)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(498)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Hernias
(782)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(58)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(10,903)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Problemas y enfermedades de la columna vertebral
(6,531)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(404)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latin typeface="Montserrat"/>
                        </a:rPr>
                        <a:t>Tumores</a:t>
                      </a:r>
                      <a:r>
                        <a:rPr sz="900" b="0" dirty="0">
                          <a:latin typeface="Montserrat"/>
                        </a:rPr>
                        <a:t> </a:t>
                      </a:r>
                      <a:r>
                        <a:rPr sz="900" b="0" dirty="0" err="1">
                          <a:latin typeface="Montserrat"/>
                        </a:rPr>
                        <a:t>malignos</a:t>
                      </a:r>
                      <a:r>
                        <a:rPr sz="900" b="0" dirty="0">
                          <a:latin typeface="Montserrat"/>
                        </a:rPr>
                        <a:t>
(628)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latin typeface="Montserrat"/>
                        </a:rPr>
                        <a:t>Otras</a:t>
                      </a:r>
                      <a:r>
                        <a:rPr sz="900" b="0" dirty="0">
                          <a:latin typeface="Montserrat"/>
                        </a:rPr>
                        <a:t> </a:t>
                      </a:r>
                      <a:r>
                        <a:rPr sz="900" b="0" dirty="0" err="1">
                          <a:latin typeface="Montserrat"/>
                        </a:rPr>
                        <a:t>enfermedades</a:t>
                      </a:r>
                      <a:r>
                        <a:rPr sz="900" b="0" dirty="0">
                          <a:latin typeface="Montserrat"/>
                        </a:rPr>
                        <a:t> </a:t>
                      </a:r>
                      <a:r>
                        <a:rPr sz="900" b="0" dirty="0" err="1">
                          <a:latin typeface="Montserrat"/>
                        </a:rPr>
                        <a:t>respiratorias</a:t>
                      </a:r>
                      <a:r>
                        <a:rPr sz="900" b="0" dirty="0">
                          <a:latin typeface="Montserrat"/>
                        </a:rPr>
                        <a:t>
(57)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328609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mayo de cada año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17832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muestra lo correspondiente al periodo del 1 de enero al 31 de mayo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70135"/>
            <a:ext cx="414408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rPr sz="1800" b="1" dirty="0" err="1"/>
              <a:t>Recetas</a:t>
            </a:r>
            <a:r>
              <a:rPr sz="1800" b="1" dirty="0"/>
              <a:t> </a:t>
            </a:r>
            <a:r>
              <a:rPr sz="1800" b="1" dirty="0" err="1"/>
              <a:t>manuales</a:t>
            </a:r>
            <a:r>
              <a:rPr sz="1800" b="1" dirty="0"/>
              <a:t> y </a:t>
            </a:r>
            <a:r>
              <a:rPr sz="1800" b="1" dirty="0" err="1"/>
              <a:t>electrónicas</a:t>
            </a:r>
            <a:endParaRPr sz="1800" b="1" dirty="0"/>
          </a:p>
        </p:txBody>
      </p:sp>
      <p:cxnSp>
        <p:nvCxnSpPr>
          <p:cNvPr id="9" name="Connector 8"/>
          <p:cNvCxnSpPr/>
          <p:nvPr/>
        </p:nvCxnSpPr>
        <p:spPr>
          <a:xfrm>
            <a:off x="274320" y="6935895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1090700"/>
              </p:ext>
            </p:extLst>
          </p:nvPr>
        </p:nvGraphicFramePr>
        <p:xfrm>
          <a:off x="457200" y="7210215"/>
          <a:ext cx="6858000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109,840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1,129,986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b="1" i="0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71,021</a:t>
                      </a:r>
                      <a:endParaRPr sz="1100" b="1" i="0" u="none" strike="noStrike" cap="none" dirty="0">
                        <a:solidFill>
                          <a:srgbClr val="006455"/>
                        </a:solidFill>
                        <a:latin typeface="Montserra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006455"/>
                          </a:solidFill>
                          <a:latin typeface="Montserrat"/>
                        </a:rPr>
                        <a:t>1,</a:t>
                      </a:r>
                      <a:r>
                        <a:rPr lang="es-MX" sz="1100" b="1" dirty="0">
                          <a:solidFill>
                            <a:srgbClr val="006455"/>
                          </a:solidFill>
                          <a:latin typeface="Montserrat"/>
                        </a:rPr>
                        <a:t>510,003</a:t>
                      </a:r>
                      <a:endParaRPr sz="1100" b="1" dirty="0">
                        <a:solidFill>
                          <a:srgbClr val="006455"/>
                        </a:solidFill>
                        <a:latin typeface="Montserrat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006455"/>
                          </a:solidFill>
                          <a:latin typeface="Montserrat"/>
                        </a:rPr>
                        <a:t>95.</a:t>
                      </a:r>
                      <a:r>
                        <a:rPr lang="es-MX" sz="1100" b="1" dirty="0">
                          <a:solidFill>
                            <a:srgbClr val="006455"/>
                          </a:solidFill>
                          <a:latin typeface="Montserrat"/>
                        </a:rPr>
                        <a:t>5</a:t>
                      </a:r>
                      <a:r>
                        <a:rPr sz="1100" b="1" dirty="0">
                          <a:solidFill>
                            <a:srgbClr val="006455"/>
                          </a:solidFill>
                          <a:latin typeface="Montserrat"/>
                        </a:rPr>
                        <a:t>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965160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muestra lo correspondiente al periodo del 1 de enero al 31 de mayo de 2026.</a:t>
            </a:r>
          </a:p>
        </p:txBody>
      </p:sp>
      <p:graphicFrame>
        <p:nvGraphicFramePr>
          <p:cNvPr id="14" name="Gráfico 13">
            <a:extLst>
              <a:ext uri="{FF2B5EF4-FFF2-40B4-BE49-F238E27FC236}">
                <a16:creationId xmlns:a16="http://schemas.microsoft.com/office/drawing/2014/main" id="{980C3623-3C83-2D16-C4C4-03B396A5AF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1780346"/>
              </p:ext>
            </p:extLst>
          </p:nvPr>
        </p:nvGraphicFramePr>
        <p:xfrm>
          <a:off x="-443789" y="1072447"/>
          <a:ext cx="8414657" cy="54156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833B5-FC28-CA2A-C10C-B918E20D5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720855"/>
            <a:ext cx="5400000" cy="32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1135709"/>
            <a:ext cx="220573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rPr sz="1800" dirty="0" err="1"/>
              <a:t>Piezas</a:t>
            </a:r>
            <a:r>
              <a:rPr sz="1800" dirty="0"/>
              <a:t> </a:t>
            </a:r>
            <a:r>
              <a:rPr sz="1800" dirty="0" err="1"/>
              <a:t>consumidas</a:t>
            </a:r>
            <a:endParaRPr sz="1800" dirty="0"/>
          </a:p>
        </p:txBody>
      </p:sp>
      <p:cxnSp>
        <p:nvCxnSpPr>
          <p:cNvPr id="5" name="Connector 4"/>
          <p:cNvCxnSpPr/>
          <p:nvPr/>
        </p:nvCxnSpPr>
        <p:spPr>
          <a:xfrm>
            <a:off x="180000" y="140571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80000" y="4396255"/>
            <a:ext cx="6840000" cy="288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rPr dirty="0" err="1"/>
              <a:t>Medicamentos</a:t>
            </a:r>
            <a:r>
              <a:rPr dirty="0"/>
              <a:t> con mayor </a:t>
            </a:r>
            <a:r>
              <a:rPr dirty="0" err="1"/>
              <a:t>demanda</a:t>
            </a:r>
            <a:endParaRPr dirty="0"/>
          </a:p>
        </p:txBody>
      </p:sp>
      <p:cxnSp>
        <p:nvCxnSpPr>
          <p:cNvPr id="8" name="Connector 7"/>
          <p:cNvCxnSpPr/>
          <p:nvPr/>
        </p:nvCxnSpPr>
        <p:spPr>
          <a:xfrm>
            <a:off x="180000" y="4666255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7448242"/>
              </p:ext>
            </p:extLst>
          </p:nvPr>
        </p:nvGraphicFramePr>
        <p:xfrm>
          <a:off x="180000" y="4846255"/>
          <a:ext cx="7200000" cy="255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Con mayor </a:t>
                      </a:r>
                      <a:r>
                        <a:rPr dirty="0" err="1"/>
                        <a:t>demanda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enero</a:t>
                      </a:r>
                      <a:r>
                        <a:rPr dirty="0"/>
                        <a:t> a </a:t>
                      </a:r>
                      <a:r>
                        <a:rPr lang="es-MX" dirty="0"/>
                        <a:t>mayo</a:t>
                      </a:r>
                      <a:r>
                        <a:rPr dirty="0"/>
                        <a:t>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239,331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 err="1"/>
                        <a:t>Cloruro</a:t>
                      </a:r>
                      <a:r>
                        <a:rPr dirty="0"/>
                        <a:t> de sodio, </a:t>
                      </a:r>
                      <a:r>
                        <a:rPr dirty="0" err="1"/>
                        <a:t>solución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inyectable</a:t>
                      </a:r>
                      <a:r>
                        <a:rPr dirty="0"/>
                        <a:t> al 0.9% (</a:t>
                      </a:r>
                      <a:r>
                        <a:rPr dirty="0" err="1"/>
                        <a:t>deshidratación</a:t>
                      </a:r>
                      <a:r>
                        <a:rPr dirty="0"/>
                        <a:t>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229,953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199,295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 err="1"/>
                        <a:t>Metformina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tableta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hipoglucemiante</a:t>
                      </a:r>
                      <a:r>
                        <a:rPr dirty="0"/>
                        <a:t>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198,918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 err="1"/>
                        <a:t>Atorvastatina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tableta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reducir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colesterol</a:t>
                      </a:r>
                      <a:r>
                        <a:rPr dirty="0"/>
                        <a:t> y </a:t>
                      </a:r>
                      <a:r>
                        <a:rPr dirty="0" err="1"/>
                        <a:t>triglicéridos</a:t>
                      </a:r>
                      <a:r>
                        <a:rPr dirty="0"/>
                        <a:t>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135,154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 err="1"/>
                        <a:t>Pantoprazol</a:t>
                      </a:r>
                      <a:r>
                        <a:rPr dirty="0"/>
                        <a:t> o </a:t>
                      </a:r>
                      <a:r>
                        <a:rPr dirty="0" err="1"/>
                        <a:t>Rabeprazol</a:t>
                      </a:r>
                      <a:r>
                        <a:rPr dirty="0"/>
                        <a:t> u </a:t>
                      </a:r>
                      <a:r>
                        <a:rPr dirty="0" err="1"/>
                        <a:t>Omeprazol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tableta</a:t>
                      </a:r>
                      <a:r>
                        <a:rPr dirty="0"/>
                        <a:t> o </a:t>
                      </a:r>
                      <a:r>
                        <a:rPr dirty="0" err="1"/>
                        <a:t>gragea</a:t>
                      </a:r>
                      <a:r>
                        <a:rPr dirty="0"/>
                        <a:t> o </a:t>
                      </a:r>
                      <a:r>
                        <a:rPr dirty="0" err="1"/>
                        <a:t>cápsula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antiácido</a:t>
                      </a:r>
                      <a:r>
                        <a:rPr dirty="0"/>
                        <a:t>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126,602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/>
                        <a:t>SITAGLIPTINA, METFORMINA. COMPRIMIDO O TABLETA CADA COMPRIMIDO CONTIENE: FOSFATO DE SITAGLIPTINA MONOHIDRATADA O CLORHIDRATO DE SITAGLIPTINA MONOHIDRATADA EQUIVALENTE A 50 MG DE SITAGLIPTINA CLORHIDRATO DE METFORMINA 850 MG. ENVASE CON 28 COMPRIMIDOS O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114,076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/>
                        <a:t>Electrolitos </a:t>
                      </a:r>
                      <a:r>
                        <a:rPr dirty="0" err="1"/>
                        <a:t>orales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solución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hidratación</a:t>
                      </a:r>
                      <a:r>
                        <a:rPr dirty="0"/>
                        <a:t>)  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110,687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/>
                        <a:t>101,640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 err="1"/>
                        <a:t>Insulina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glargina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solución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inyectable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hipoglucemiante</a:t>
                      </a:r>
                      <a:r>
                        <a:rPr dirty="0"/>
                        <a:t>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/>
                        <a:t>98,674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9651600"/>
            <a:ext cx="6858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/>
              <a:t>Fuente: Portal de Control de Abasto. En 2026, se </a:t>
            </a:r>
            <a:r>
              <a:rPr dirty="0" err="1"/>
              <a:t>muestra</a:t>
            </a:r>
            <a:r>
              <a:rPr dirty="0"/>
              <a:t> lo </a:t>
            </a:r>
            <a:r>
              <a:rPr dirty="0" err="1"/>
              <a:t>correspondiente</a:t>
            </a:r>
            <a:r>
              <a:rPr dirty="0"/>
              <a:t> al </a:t>
            </a:r>
            <a:r>
              <a:rPr dirty="0" err="1"/>
              <a:t>periodo</a:t>
            </a:r>
            <a:r>
              <a:rPr dirty="0"/>
              <a:t> del 1 de </a:t>
            </a:r>
            <a:r>
              <a:rPr dirty="0" err="1"/>
              <a:t>enero</a:t>
            </a:r>
            <a:r>
              <a:rPr dirty="0"/>
              <a:t> al 3</a:t>
            </a:r>
            <a:r>
              <a:rPr lang="es-MX" dirty="0"/>
              <a:t>1</a:t>
            </a:r>
            <a:r>
              <a:rPr dirty="0"/>
              <a:t> de </a:t>
            </a:r>
            <a:r>
              <a:rPr lang="es-MX" dirty="0"/>
              <a:t>mayo</a:t>
            </a:r>
            <a:r>
              <a:rPr dirty="0"/>
              <a:t> de 2026.</a:t>
            </a:r>
          </a:p>
        </p:txBody>
      </p:sp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037B2FDF-B096-4F50-B370-A193E8FBC4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1758554"/>
              </p:ext>
            </p:extLst>
          </p:nvPr>
        </p:nvGraphicFramePr>
        <p:xfrm>
          <a:off x="407175" y="1546161"/>
          <a:ext cx="6913446" cy="2750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379609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graphicFrame>
        <p:nvGraphicFramePr>
          <p:cNvPr id="11" name="Google Shape;394;p15">
            <a:extLst>
              <a:ext uri="{FF2B5EF4-FFF2-40B4-BE49-F238E27FC236}">
                <a16:creationId xmlns:a16="http://schemas.microsoft.com/office/drawing/2014/main" id="{F73B28C8-D856-7361-D4AC-F8625480B8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680536"/>
              </p:ext>
            </p:extLst>
          </p:nvPr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" name="Google Shape;395;p15">
            <a:extLst>
              <a:ext uri="{FF2B5EF4-FFF2-40B4-BE49-F238E27FC236}">
                <a16:creationId xmlns:a16="http://schemas.microsoft.com/office/drawing/2014/main" id="{4DAA6195-2089-CC51-232C-A7443FD98E0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689113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396;p15">
            <a:extLst>
              <a:ext uri="{FF2B5EF4-FFF2-40B4-BE49-F238E27FC236}">
                <a16:creationId xmlns:a16="http://schemas.microsoft.com/office/drawing/2014/main" id="{A222F0F2-98DD-7D22-23C8-B08D36FC9531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CuadroTexto 10">
            <a:extLst>
              <a:ext uri="{FF2B5EF4-FFF2-40B4-BE49-F238E27FC236}">
                <a16:creationId xmlns:a16="http://schemas.microsoft.com/office/drawing/2014/main" id="{607CE27F-407B-A891-41CE-84A8A8F0BF93}"/>
              </a:ext>
            </a:extLst>
          </p:cNvPr>
          <p:cNvSpPr txBox="1"/>
          <p:nvPr/>
        </p:nvSpPr>
        <p:spPr>
          <a:xfrm>
            <a:off x="-1070640" y="1678391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25" name="Imagen 24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9B5D5AD6-0CEA-C133-4D06-0D5AF4C291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430862" y="2046200"/>
            <a:ext cx="875508" cy="854908"/>
          </a:xfrm>
          <a:prstGeom prst="rect">
            <a:avLst/>
          </a:prstGeom>
        </p:spPr>
      </p:pic>
      <p:sp>
        <p:nvSpPr>
          <p:cNvPr id="27" name="CuadroTexto 12">
            <a:extLst>
              <a:ext uri="{FF2B5EF4-FFF2-40B4-BE49-F238E27FC236}">
                <a16:creationId xmlns:a16="http://schemas.microsoft.com/office/drawing/2014/main" id="{88620010-3683-4AC3-8679-4D8AD6BBE175}"/>
              </a:ext>
            </a:extLst>
          </p:cNvPr>
          <p:cNvSpPr txBox="1"/>
          <p:nvPr/>
        </p:nvSpPr>
        <p:spPr>
          <a:xfrm>
            <a:off x="-1078328" y="2158464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3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 dirty="0" err="1">
                <a:solidFill>
                  <a:srgbClr val="BC955C"/>
                </a:solidFill>
                <a:latin typeface="Montserrat"/>
              </a:rPr>
              <a:t>Hospitales</a:t>
            </a:r>
            <a:endParaRPr lang="en-US" sz="800" dirty="0"/>
          </a:p>
        </p:txBody>
      </p:sp>
      <p:graphicFrame>
        <p:nvGraphicFramePr>
          <p:cNvPr id="29" name="Table 17">
            <a:extLst>
              <a:ext uri="{FF2B5EF4-FFF2-40B4-BE49-F238E27FC236}">
                <a16:creationId xmlns:a16="http://schemas.microsoft.com/office/drawing/2014/main" id="{F2E6FF8E-C8F6-6E66-96EB-8BD4E5D800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225702"/>
              </p:ext>
            </p:extLst>
          </p:nvPr>
        </p:nvGraphicFramePr>
        <p:xfrm>
          <a:off x="1785600" y="1665643"/>
          <a:ext cx="5295600" cy="185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22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 dirty="0"/>
                        <a:t>Obras de </a:t>
                      </a:r>
                      <a:r>
                        <a:rPr sz="1000" dirty="0" err="1"/>
                        <a:t>Conservación</a:t>
                      </a:r>
                      <a:r>
                        <a:rPr sz="1000" dirty="0"/>
                        <a:t> 2025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Monto (</a:t>
                      </a:r>
                      <a:r>
                        <a:rPr sz="1000" err="1"/>
                        <a:t>mdp</a:t>
                      </a:r>
                      <a:r>
                        <a:rPr sz="1000"/>
                        <a:t>)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22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Mantenimiento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Infraestructura</a:t>
                      </a:r>
                      <a:r>
                        <a:rPr sz="1000">
                          <a:latin typeface="Montserrat"/>
                        </a:rPr>
                        <a:t> (PAO 2025)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$370.9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22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Remodelación</a:t>
                      </a:r>
                      <a:r>
                        <a:rPr sz="1000">
                          <a:latin typeface="Montserrat"/>
                        </a:rPr>
                        <a:t> y </a:t>
                      </a:r>
                      <a:r>
                        <a:rPr sz="1000" err="1">
                          <a:latin typeface="Montserrat"/>
                        </a:rPr>
                        <a:t>mejora</a:t>
                      </a:r>
                      <a:r>
                        <a:rPr sz="1000">
                          <a:latin typeface="Montserrat"/>
                        </a:rPr>
                        <a:t> de imagen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el</a:t>
                      </a:r>
                      <a:r>
                        <a:rPr sz="1000">
                          <a:latin typeface="Montserrat"/>
                        </a:rPr>
                        <a:t> HGS No. 33 </a:t>
                      </a:r>
                      <a:r>
                        <a:rPr sz="1000" err="1">
                          <a:latin typeface="Montserrat"/>
                        </a:rPr>
                        <a:t>Tizayuca</a:t>
                      </a:r>
                      <a:r>
                        <a:rPr sz="1000">
                          <a:latin typeface="Montserrat"/>
                        </a:rPr>
                        <a:t>, HGZMF No. 1 Pachuca y HGZ No. 2 </a:t>
                      </a:r>
                      <a:r>
                        <a:rPr sz="1000" err="1">
                          <a:latin typeface="Montserrat"/>
                        </a:rPr>
                        <a:t>Tulancingo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$130.7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22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Intervención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áreas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urgencias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UMF No. 27 </a:t>
                      </a:r>
                      <a:r>
                        <a:rPr sz="1000" err="1">
                          <a:latin typeface="Montserrat"/>
                        </a:rPr>
                        <a:t>Tlaxcoapan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$10.1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22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HGZMF No. 1 Pachuca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$5.8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22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sz="1000"/>
                        <a:t>Subtotal</a:t>
                      </a: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sz="1000" dirty="0"/>
                        <a:t>$517.5</a:t>
                      </a:r>
                    </a:p>
                  </a:txBody>
                  <a:tcPr marL="3600" marR="3600" marT="3600" marB="36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" name="Table 18">
            <a:extLst>
              <a:ext uri="{FF2B5EF4-FFF2-40B4-BE49-F238E27FC236}">
                <a16:creationId xmlns:a16="http://schemas.microsoft.com/office/drawing/2014/main" id="{0374C091-8595-D3D5-BAC9-0E6CE66C92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4172612"/>
              </p:ext>
            </p:extLst>
          </p:nvPr>
        </p:nvGraphicFramePr>
        <p:xfrm>
          <a:off x="1785600" y="3740156"/>
          <a:ext cx="5295600" cy="749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01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Equipo Médico 2025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0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Adquisición</a:t>
                      </a:r>
                      <a:r>
                        <a:rPr sz="1000">
                          <a:latin typeface="Montserrat"/>
                        </a:rPr>
                        <a:t> de 11  </a:t>
                      </a:r>
                      <a:r>
                        <a:rPr sz="1000" err="1">
                          <a:latin typeface="Montserrat"/>
                        </a:rPr>
                        <a:t>piezas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equipo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médico</a:t>
                      </a:r>
                      <a:r>
                        <a:rPr sz="1000">
                          <a:latin typeface="Montserrat"/>
                        </a:rPr>
                        <a:t>: 2 </a:t>
                      </a:r>
                      <a:r>
                        <a:rPr sz="1000" err="1">
                          <a:latin typeface="Montserrat"/>
                        </a:rPr>
                        <a:t>congeladores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horizontales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refrigerantes</a:t>
                      </a:r>
                      <a:r>
                        <a:rPr sz="1000">
                          <a:latin typeface="Montserrat"/>
                        </a:rPr>
                        <a:t> para </a:t>
                      </a:r>
                      <a:r>
                        <a:rPr sz="1000" err="1">
                          <a:latin typeface="Montserrat"/>
                        </a:rPr>
                        <a:t>vacunas</a:t>
                      </a:r>
                      <a:r>
                        <a:rPr sz="1000">
                          <a:latin typeface="Montserrat"/>
                        </a:rPr>
                        <a:t>, 3 </a:t>
                      </a:r>
                      <a:r>
                        <a:rPr sz="1000" err="1">
                          <a:latin typeface="Montserrat"/>
                        </a:rPr>
                        <a:t>refrigeradores</a:t>
                      </a:r>
                      <a:r>
                        <a:rPr sz="1000">
                          <a:latin typeface="Montserrat"/>
                        </a:rPr>
                        <a:t> para </a:t>
                      </a:r>
                      <a:r>
                        <a:rPr sz="1000" err="1">
                          <a:latin typeface="Montserrat"/>
                        </a:rPr>
                        <a:t>vacunas</a:t>
                      </a:r>
                      <a:r>
                        <a:rPr sz="1000">
                          <a:latin typeface="Montserrat"/>
                        </a:rPr>
                        <a:t>, 6 </a:t>
                      </a:r>
                      <a:r>
                        <a:rPr sz="1000" err="1">
                          <a:latin typeface="Montserrat"/>
                        </a:rPr>
                        <a:t>refrigeradores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congeladores</a:t>
                      </a:r>
                      <a:r>
                        <a:rPr sz="1000">
                          <a:latin typeface="Montserrat"/>
                        </a:rPr>
                        <a:t> de 5.4 pies </a:t>
                      </a:r>
                      <a:r>
                        <a:rPr sz="1000" err="1">
                          <a:latin typeface="Montserrat"/>
                        </a:rPr>
                        <a:t>cúbicos</a:t>
                      </a:r>
                      <a:r>
                        <a:rPr sz="1000">
                          <a:latin typeface="Montserrat"/>
                        </a:rPr>
                        <a:t>.</a:t>
                      </a: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 dirty="0">
                          <a:latin typeface="Montserrat"/>
                        </a:rPr>
                        <a:t>$0.6</a:t>
                      </a:r>
                    </a:p>
                  </a:txBody>
                  <a:tcPr marL="3600" marR="3600" marT="3600" marB="36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3" name="Table 19">
            <a:extLst>
              <a:ext uri="{FF2B5EF4-FFF2-40B4-BE49-F238E27FC236}">
                <a16:creationId xmlns:a16="http://schemas.microsoft.com/office/drawing/2014/main" id="{BBB80E2D-B321-EF3C-4F08-A17CA5DBB4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777263"/>
              </p:ext>
            </p:extLst>
          </p:nvPr>
        </p:nvGraphicFramePr>
        <p:xfrm>
          <a:off x="1785600" y="4705980"/>
          <a:ext cx="5295600" cy="55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2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Equip</a:t>
                      </a:r>
                      <a:r>
                        <a:rPr lang="es-MX" dirty="0"/>
                        <a:t>o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Electromecánico</a:t>
                      </a:r>
                      <a:r>
                        <a:rPr dirty="0"/>
                        <a:t> 2025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2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 err="1">
                          <a:latin typeface="Montserrat"/>
                        </a:rPr>
                        <a:t>Adquisición</a:t>
                      </a:r>
                      <a:r>
                        <a:rPr sz="1000" dirty="0">
                          <a:latin typeface="Montserrat"/>
                        </a:rPr>
                        <a:t> de </a:t>
                      </a:r>
                      <a:r>
                        <a:rPr sz="1000" dirty="0" err="1">
                          <a:latin typeface="Montserrat"/>
                        </a:rPr>
                        <a:t>elevadores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 dirty="0">
                          <a:latin typeface="Montserrat"/>
                        </a:rPr>
                        <a:t>$18.1</a:t>
                      </a:r>
                    </a:p>
                  </a:txBody>
                  <a:tcPr marL="3600" marR="3600" marT="3600" marB="36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" name="TextBox 20">
            <a:extLst>
              <a:ext uri="{FF2B5EF4-FFF2-40B4-BE49-F238E27FC236}">
                <a16:creationId xmlns:a16="http://schemas.microsoft.com/office/drawing/2014/main" id="{BA8B09FF-6B1D-AED2-996F-9193748ED074}"/>
              </a:ext>
            </a:extLst>
          </p:cNvPr>
          <p:cNvSpPr txBox="1"/>
          <p:nvPr/>
        </p:nvSpPr>
        <p:spPr>
          <a:xfrm>
            <a:off x="6172598" y="810574"/>
            <a:ext cx="66396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dirty="0"/>
              <a:t>5</a:t>
            </a:r>
            <a:r>
              <a:rPr lang="es-MX" dirty="0"/>
              <a:t>36.2</a:t>
            </a:r>
            <a:endParaRPr dirty="0"/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dirty="0" err="1"/>
              <a:t>mdp</a:t>
            </a:r>
            <a:endParaRPr dirty="0"/>
          </a:p>
        </p:txBody>
      </p:sp>
      <p:sp>
        <p:nvSpPr>
          <p:cNvPr id="37" name="CuadroTexto 10">
            <a:extLst>
              <a:ext uri="{FF2B5EF4-FFF2-40B4-BE49-F238E27FC236}">
                <a16:creationId xmlns:a16="http://schemas.microsoft.com/office/drawing/2014/main" id="{1AE7387D-D400-F56C-75BC-0081E3E887C5}"/>
              </a:ext>
            </a:extLst>
          </p:cNvPr>
          <p:cNvSpPr txBox="1"/>
          <p:nvPr/>
        </p:nvSpPr>
        <p:spPr>
          <a:xfrm>
            <a:off x="-1074484" y="3037091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39" name="Imagen 38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4783BE6-AA4F-60B1-0498-49D61F28ACC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427018" y="3450073"/>
            <a:ext cx="875508" cy="854908"/>
          </a:xfrm>
          <a:prstGeom prst="rect">
            <a:avLst/>
          </a:prstGeom>
        </p:spPr>
      </p:pic>
      <p:sp>
        <p:nvSpPr>
          <p:cNvPr id="41" name="CuadroTexto 12">
            <a:extLst>
              <a:ext uri="{FF2B5EF4-FFF2-40B4-BE49-F238E27FC236}">
                <a16:creationId xmlns:a16="http://schemas.microsoft.com/office/drawing/2014/main" id="{144C7C6D-6EC9-ACFF-E0F1-F03D8FBC33D7}"/>
              </a:ext>
            </a:extLst>
          </p:cNvPr>
          <p:cNvSpPr txBox="1"/>
          <p:nvPr/>
        </p:nvSpPr>
        <p:spPr>
          <a:xfrm>
            <a:off x="-1078328" y="3486836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Piezas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equipo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médico</a:t>
            </a:r>
            <a:endParaRPr lang="en-US" sz="700" b="1" dirty="0">
              <a:solidFill>
                <a:srgbClr val="BC955C"/>
              </a:solidFill>
              <a:latin typeface="Montserrat"/>
            </a:endParaRPr>
          </a:p>
        </p:txBody>
      </p:sp>
      <p:graphicFrame>
        <p:nvGraphicFramePr>
          <p:cNvPr id="43" name="Google Shape;394;p15">
            <a:extLst>
              <a:ext uri="{FF2B5EF4-FFF2-40B4-BE49-F238E27FC236}">
                <a16:creationId xmlns:a16="http://schemas.microsoft.com/office/drawing/2014/main" id="{0C37E5EC-0903-A12B-7EA6-3FE5AA6CE8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7903140"/>
              </p:ext>
            </p:extLst>
          </p:nvPr>
        </p:nvGraphicFramePr>
        <p:xfrm>
          <a:off x="287700" y="59629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5" name="Google Shape;396;p15">
            <a:extLst>
              <a:ext uri="{FF2B5EF4-FFF2-40B4-BE49-F238E27FC236}">
                <a16:creationId xmlns:a16="http://schemas.microsoft.com/office/drawing/2014/main" id="{83ACA916-5330-3199-466D-E9E78CF0B5B4}"/>
              </a:ext>
            </a:extLst>
          </p:cNvPr>
          <p:cNvSpPr txBox="1"/>
          <p:nvPr/>
        </p:nvSpPr>
        <p:spPr>
          <a:xfrm>
            <a:off x="4031556" y="591320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" name="Google Shape;395;p15">
            <a:extLst>
              <a:ext uri="{FF2B5EF4-FFF2-40B4-BE49-F238E27FC236}">
                <a16:creationId xmlns:a16="http://schemas.microsoft.com/office/drawing/2014/main" id="{661D4D17-FCD1-44B4-DB04-90DFCB713A56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5533611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CuadroTexto 9">
            <a:extLst>
              <a:ext uri="{FF2B5EF4-FFF2-40B4-BE49-F238E27FC236}">
                <a16:creationId xmlns:a16="http://schemas.microsoft.com/office/drawing/2014/main" id="{3C4AF3A6-5D39-F3A7-67C3-257F91AA01E1}"/>
              </a:ext>
            </a:extLst>
          </p:cNvPr>
          <p:cNvSpPr txBox="1"/>
          <p:nvPr/>
        </p:nvSpPr>
        <p:spPr>
          <a:xfrm>
            <a:off x="-1049183" y="6513526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51" name="Imagen 5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20D02A74-151E-F7FD-41D5-A9B10B4CA6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991" y="6863393"/>
            <a:ext cx="872667" cy="849944"/>
          </a:xfrm>
          <a:prstGeom prst="rect">
            <a:avLst/>
          </a:prstGeom>
        </p:spPr>
      </p:pic>
      <p:sp>
        <p:nvSpPr>
          <p:cNvPr id="53" name="CuadroTexto 11">
            <a:extLst>
              <a:ext uri="{FF2B5EF4-FFF2-40B4-BE49-F238E27FC236}">
                <a16:creationId xmlns:a16="http://schemas.microsoft.com/office/drawing/2014/main" id="{E7E66788-54D3-48F7-2758-7555DEE4CF14}"/>
              </a:ext>
            </a:extLst>
          </p:cNvPr>
          <p:cNvSpPr txBox="1"/>
          <p:nvPr/>
        </p:nvSpPr>
        <p:spPr>
          <a:xfrm>
            <a:off x="-1053468" y="6998147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Hospital</a:t>
            </a:r>
            <a:endParaRPr lang="en-US" sz="8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55" name="Imagen 54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23411871-F2BC-51B8-371F-065AD3734C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584" y="7774414"/>
            <a:ext cx="872667" cy="849944"/>
          </a:xfrm>
          <a:prstGeom prst="rect">
            <a:avLst/>
          </a:prstGeom>
        </p:spPr>
      </p:pic>
      <p:sp>
        <p:nvSpPr>
          <p:cNvPr id="57" name="CuadroTexto 11">
            <a:extLst>
              <a:ext uri="{FF2B5EF4-FFF2-40B4-BE49-F238E27FC236}">
                <a16:creationId xmlns:a16="http://schemas.microsoft.com/office/drawing/2014/main" id="{70E505F0-8EE9-E7B8-E032-845F35059D2E}"/>
              </a:ext>
            </a:extLst>
          </p:cNvPr>
          <p:cNvSpPr txBox="1"/>
          <p:nvPr/>
        </p:nvSpPr>
        <p:spPr>
          <a:xfrm>
            <a:off x="-1057776" y="7829987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>
                <a:solidFill>
                  <a:srgbClr val="A42145"/>
                </a:solidFill>
                <a:latin typeface="Montserrat"/>
              </a:rPr>
              <a:t>Salas de</a:t>
            </a:r>
          </a:p>
          <a:p>
            <a:pPr algn="ctr"/>
            <a:r>
              <a:rPr lang="en-US" sz="700" b="1" dirty="0" err="1">
                <a:solidFill>
                  <a:srgbClr val="A42145"/>
                </a:solidFill>
                <a:latin typeface="Montserrat"/>
              </a:rPr>
              <a:t>Hemodiálisis</a:t>
            </a:r>
            <a:endParaRPr lang="en-US" sz="700" b="1" dirty="0">
              <a:solidFill>
                <a:srgbClr val="A42145"/>
              </a:solidFill>
              <a:latin typeface="Montserrat"/>
            </a:endParaRPr>
          </a:p>
        </p:txBody>
      </p:sp>
      <p:graphicFrame>
        <p:nvGraphicFramePr>
          <p:cNvPr id="59" name="Table 10">
            <a:extLst>
              <a:ext uri="{FF2B5EF4-FFF2-40B4-BE49-F238E27FC236}">
                <a16:creationId xmlns:a16="http://schemas.microsoft.com/office/drawing/2014/main" id="{E62D02EF-1F19-5735-A13A-D8CBB99091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610423"/>
              </p:ext>
            </p:extLst>
          </p:nvPr>
        </p:nvGraphicFramePr>
        <p:xfrm>
          <a:off x="1785600" y="6533190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Obras de </a:t>
                      </a:r>
                      <a:r>
                        <a:rPr sz="1000" err="1"/>
                        <a:t>Infraestructura</a:t>
                      </a:r>
                      <a:r>
                        <a:rPr sz="1000"/>
                        <a:t> 2026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Monto (mdp)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HGZ 144 camas Tula</a:t>
                      </a: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 dirty="0">
                          <a:latin typeface="Montserrat"/>
                        </a:rPr>
                        <a:t>$2,580.2</a:t>
                      </a:r>
                    </a:p>
                  </a:txBody>
                  <a:tcPr marL="3600" marR="3600" marT="3600" marB="36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1" name="Table 11">
            <a:extLst>
              <a:ext uri="{FF2B5EF4-FFF2-40B4-BE49-F238E27FC236}">
                <a16:creationId xmlns:a16="http://schemas.microsoft.com/office/drawing/2014/main" id="{DF384BAD-D898-1F73-C1EB-9F5AB764AE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843888"/>
              </p:ext>
            </p:extLst>
          </p:nvPr>
        </p:nvGraphicFramePr>
        <p:xfrm>
          <a:off x="1785600" y="7257333"/>
          <a:ext cx="5396400" cy="1067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Obras de </a:t>
                      </a:r>
                      <a:r>
                        <a:rPr sz="1000" err="1"/>
                        <a:t>Conservación</a:t>
                      </a:r>
                      <a:r>
                        <a:rPr sz="1000"/>
                        <a:t> 2026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Monto (mdp)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$121.7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</a:t>
                      </a:r>
                      <a:r>
                        <a:rPr sz="1000" err="1">
                          <a:latin typeface="Montserrat"/>
                        </a:rPr>
                        <a:t>Hemodiálisis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HGZ No. 36 y HGZMF No. 1 Pachuca de Soto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$90.7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 dirty="0"/>
                        <a:t>Subtotal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 dirty="0"/>
                        <a:t>$212.4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3" name="TextBox 12">
            <a:extLst>
              <a:ext uri="{FF2B5EF4-FFF2-40B4-BE49-F238E27FC236}">
                <a16:creationId xmlns:a16="http://schemas.microsoft.com/office/drawing/2014/main" id="{94D06FA6-094B-C647-5FEE-D34D915E5889}"/>
              </a:ext>
            </a:extLst>
          </p:cNvPr>
          <p:cNvSpPr txBox="1"/>
          <p:nvPr/>
        </p:nvSpPr>
        <p:spPr>
          <a:xfrm>
            <a:off x="6082225" y="5676469"/>
            <a:ext cx="82747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dirty="0"/>
              <a:t>2,</a:t>
            </a:r>
            <a:r>
              <a:rPr lang="es-MX" dirty="0"/>
              <a:t>792.6</a:t>
            </a:r>
            <a:endParaRPr dirty="0"/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dirty="0" err="1"/>
              <a:t>mdp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3713693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767031"/>
              </p:ext>
            </p:extLst>
          </p:nvPr>
        </p:nvGraphicFramePr>
        <p:xfrm>
          <a:off x="287700" y="810867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1399875"/>
              </p:ext>
            </p:extLst>
          </p:nvPr>
        </p:nvGraphicFramePr>
        <p:xfrm>
          <a:off x="147600" y="2764973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3735807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3876104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4642751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5233738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5022173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763349"/>
              </p:ext>
            </p:extLst>
          </p:nvPr>
        </p:nvGraphicFramePr>
        <p:xfrm>
          <a:off x="691200" y="1235659"/>
          <a:ext cx="63900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Obras de </a:t>
                      </a:r>
                      <a:r>
                        <a:rPr dirty="0" err="1"/>
                        <a:t>Infraestructura</a:t>
                      </a:r>
                      <a:endParaRPr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dirty="0" err="1"/>
                        <a:t>Fortalecimiento</a:t>
                      </a:r>
                      <a:r>
                        <a:rPr dirty="0"/>
                        <a:t> HR </a:t>
                      </a:r>
                      <a:r>
                        <a:rPr dirty="0" err="1"/>
                        <a:t>Huejutla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los</a:t>
                      </a:r>
                      <a:r>
                        <a:rPr dirty="0"/>
                        <a:t> Reyes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$535.0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253755"/>
              </p:ext>
            </p:extLst>
          </p:nvPr>
        </p:nvGraphicFramePr>
        <p:xfrm>
          <a:off x="691200" y="1919657"/>
          <a:ext cx="63900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Obras de </a:t>
                      </a:r>
                      <a:r>
                        <a:rPr dirty="0" err="1"/>
                        <a:t>Conservación</a:t>
                      </a:r>
                      <a:endParaRPr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dirty="0" err="1"/>
                        <a:t>Fortalecimiento</a:t>
                      </a:r>
                      <a:r>
                        <a:rPr dirty="0"/>
                        <a:t> de UCIN </a:t>
                      </a:r>
                      <a:r>
                        <a:rPr dirty="0" err="1"/>
                        <a:t>en</a:t>
                      </a:r>
                      <a:r>
                        <a:rPr dirty="0"/>
                        <a:t> HGZ No. 36 y HGZMF No. 1 Pachuca de Soto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$13.1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936399" y="670459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548.1 mdp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3373351"/>
              </p:ext>
            </p:extLst>
          </p:nvPr>
        </p:nvGraphicFramePr>
        <p:xfrm>
          <a:off x="2552400" y="3877373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5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Predios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en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ruta</a:t>
                      </a:r>
                      <a:r>
                        <a:rPr dirty="0"/>
                        <a:t>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300">
                <a:tc rowSpan="2">
                  <a:txBody>
                    <a:bodyPr/>
                    <a:lstStyle/>
                    <a:p>
                      <a:endParaRPr dirty="0"/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Tepeapulco (Cd. Sahagún), Mineral de la Reforma</a:t>
                      </a:r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3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Donación</a:t>
                      </a:r>
                      <a:endParaRPr dirty="0"/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Tizayuca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Tepeji</a:t>
                      </a:r>
                      <a:r>
                        <a:rPr dirty="0"/>
                        <a:t> del Río</a:t>
                      </a:r>
                      <a:r>
                        <a:rPr lang="es-MX" dirty="0"/>
                        <a:t>, Tulancingo</a:t>
                      </a:r>
                      <a:endParaRPr dirty="0"/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885600" y="3898973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705085"/>
                </a:solidFill>
                <a:latin typeface="Montserrat"/>
              </a:defRPr>
            </a:pPr>
            <a:r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3600" y="4683773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8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 CECI CAMPO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52401" y="5778642"/>
            <a:ext cx="492840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Montserrat"/>
              </a:defRPr>
            </a:pPr>
            <a:r>
              <a:rPr dirty="0"/>
              <a:t>¹ </a:t>
            </a:r>
            <a:r>
              <a:rPr dirty="0" err="1"/>
              <a:t>Terrenos</a:t>
            </a:r>
            <a:r>
              <a:rPr dirty="0"/>
              <a:t> </a:t>
            </a:r>
            <a:r>
              <a:rPr dirty="0" err="1"/>
              <a:t>validados</a:t>
            </a:r>
            <a:r>
              <a:rPr dirty="0"/>
              <a:t>. </a:t>
            </a:r>
            <a:r>
              <a:rPr lang="es-MX" dirty="0"/>
              <a:t>2 reserva territorial IMSS para construcción por la SICT en  Tepeapulco (Cd. Sahagún)  y Mineral de la Reforma. 3 predios en proceso de integración del expediente para donación en Tepeji del Río, Tizayuca y Tulancingo de Bravo.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2619679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4795" y="4050736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763718"/>
              </p:ext>
            </p:extLst>
          </p:nvPr>
        </p:nvGraphicFramePr>
        <p:xfrm>
          <a:off x="2311200" y="1670400"/>
          <a:ext cx="5032800" cy="8205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1948">
                <a:tc gridSpan="2"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19 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18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latin typeface="Montserrat"/>
                        </a:rPr>
                        <a:t>2,244 </a:t>
                      </a:r>
                      <a:r>
                        <a:rPr sz="1000" b="1" dirty="0" err="1">
                          <a:latin typeface="Montserrat"/>
                        </a:rPr>
                        <a:t>inscritos</a:t>
                      </a:r>
                      <a:endParaRPr sz="1000" b="1" dirty="0">
                        <a:latin typeface="Montserrat"/>
                      </a:endParaRP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182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en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espera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2291179"/>
              </p:ext>
            </p:extLst>
          </p:nvPr>
        </p:nvGraphicFramePr>
        <p:xfrm>
          <a:off x="2311200" y="2726696"/>
          <a:ext cx="5032800" cy="6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rPr sz="1000" dirty="0"/>
                        <a:t>3 Centros de </a:t>
                      </a:r>
                      <a:r>
                        <a:rPr sz="1000" dirty="0" err="1"/>
                        <a:t>Seguridad</a:t>
                      </a:r>
                      <a:r>
                        <a:rPr sz="1000" dirty="0"/>
                        <a:t> Social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sz="1000" dirty="0" err="1"/>
                        <a:t>Tepeji</a:t>
                      </a:r>
                      <a:r>
                        <a:rPr sz="1000" dirty="0"/>
                        <a:t> del Río, Ciudad Sahagún y Pachuca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6405579"/>
              </p:ext>
            </p:extLst>
          </p:nvPr>
        </p:nvGraphicFramePr>
        <p:xfrm>
          <a:off x="2386800" y="3669076"/>
          <a:ext cx="5032800" cy="72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0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rPr lang="es-MX" sz="1000" dirty="0"/>
                        <a:t>1</a:t>
                      </a:r>
                      <a:r>
                        <a:rPr sz="1000" dirty="0"/>
                        <a:t> Tiendas IMSS-SNTSS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sz="1000" dirty="0"/>
                        <a:t>No. 137 </a:t>
                      </a:r>
                      <a:r>
                        <a:rPr sz="1000" dirty="0" err="1"/>
                        <a:t>Tepeji</a:t>
                      </a:r>
                      <a:r>
                        <a:rPr sz="1000" dirty="0"/>
                        <a:t> del Rio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rPr sz="1000"/>
                        <a:t>1 Velatorio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sz="1000" dirty="0"/>
                        <a:t>Pachuca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ontserrat"/>
              </a:defRPr>
            </a:pPr>
            <a:r>
              <a:t>Guarderías    19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76200" y="9640800"/>
            <a:ext cx="42588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r>
              <a:rPr dirty="0"/>
              <a:t>Fuente: </a:t>
            </a:r>
            <a:r>
              <a:rPr dirty="0" err="1"/>
              <a:t>Dirección</a:t>
            </a:r>
            <a:r>
              <a:rPr dirty="0"/>
              <a:t> de </a:t>
            </a:r>
            <a:r>
              <a:rPr dirty="0" err="1"/>
              <a:t>Prestaciones</a:t>
            </a:r>
            <a:r>
              <a:rPr dirty="0"/>
              <a:t> </a:t>
            </a:r>
            <a:r>
              <a:rPr dirty="0" err="1"/>
              <a:t>Económicas</a:t>
            </a:r>
            <a:r>
              <a:rPr dirty="0"/>
              <a:t> y </a:t>
            </a:r>
            <a:r>
              <a:rPr dirty="0" err="1"/>
              <a:t>Sociales</a:t>
            </a:r>
            <a:r>
              <a:rPr dirty="0"/>
              <a:t>, mayo de 2026.</a:t>
            </a:r>
            <a:endParaRPr lang="es-MX" dirty="0"/>
          </a:p>
        </p:txBody>
      </p:sp>
      <p:pic>
        <p:nvPicPr>
          <p:cNvPr id="3" name="Picture 469" descr="map_tipo2_13_hgo.png">
            <a:extLst>
              <a:ext uri="{FF2B5EF4-FFF2-40B4-BE49-F238E27FC236}">
                <a16:creationId xmlns:a16="http://schemas.microsoft.com/office/drawing/2014/main" id="{8EBF7904-E169-D0C1-4124-83784D9A29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7025" y="5303831"/>
            <a:ext cx="4412141" cy="340938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2085927680"/>
              </p:ext>
            </p:extLst>
          </p:nvPr>
        </p:nvGraphicFramePr>
        <p:xfrm>
          <a:off x="282450" y="3430062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086786"/>
              </p:ext>
            </p:extLst>
          </p:nvPr>
        </p:nvGraphicFramePr>
        <p:xfrm>
          <a:off x="284400" y="1087200"/>
          <a:ext cx="6984000" cy="23317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Variación</a:t>
                      </a:r>
                      <a:endParaRPr dirty="0"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rPr dirty="0"/>
                        <a:t>ADMINISTRACION DEL SISTEMA PORTUARIO NACIONAL TUXPAN SA DE CV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52,631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52,631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rPr lang="es-MX" sz="850" b="1" i="0" u="none" strike="noStrike" cap="none" dirty="0">
                          <a:solidFill>
                            <a:srgbClr val="691C32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-1.0%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rPr dirty="0"/>
                        <a:t>Nueva Wal Mart de México S. de R.L.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3,744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3,707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rPr dirty="0"/>
                        <a:t>-1.0%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rPr dirty="0"/>
                        <a:t>Instituto Mexicano del Seguro Social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9,700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9,765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0.7%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rPr dirty="0"/>
                        <a:t>Ica Fluor Daniel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rPr dirty="0"/>
                        <a:t>3,488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rPr dirty="0"/>
                        <a:t>3,242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-7.1%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rPr dirty="0"/>
                        <a:t>UAEH </a:t>
                      </a:r>
                      <a:r>
                        <a:rPr dirty="0" err="1"/>
                        <a:t>Educación</a:t>
                      </a:r>
                      <a:r>
                        <a:rPr dirty="0"/>
                        <a:t> Superior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rPr dirty="0"/>
                        <a:t>5,880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rPr dirty="0"/>
                        <a:t>5,886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rPr dirty="0"/>
                        <a:t>Meli </a:t>
                      </a:r>
                      <a:r>
                        <a:rPr dirty="0" err="1"/>
                        <a:t>Operaciones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Logisticas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Ii</a:t>
                      </a:r>
                      <a:r>
                        <a:rPr dirty="0"/>
                        <a:t> S. de R.L.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rPr dirty="0"/>
                        <a:t>2,638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rPr dirty="0"/>
                        <a:t>2,919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10.7%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-3.62%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-1.41%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-1.35%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+1.01%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+2.11%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+10.37%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+17.19%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+19.13%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+106.43%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220280"/>
              </p:ext>
            </p:extLst>
          </p:nvPr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236,270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2,162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50,880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289,428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May 2026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285,623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1,974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57,381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102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345,080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 err="1"/>
                        <a:t>Variación</a:t>
                      </a:r>
                      <a:r>
                        <a:rPr dirty="0"/>
                        <a:t>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+20.9%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-8.7%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+12.8%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rPr dirty="0"/>
                        <a:t>-12.1%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+19.2%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6444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0773AC79-3E90-3182-C0B0-06065976D053}"/>
              </a:ext>
            </a:extLst>
          </p:cNvPr>
          <p:cNvSpPr/>
          <p:nvPr/>
        </p:nvSpPr>
        <p:spPr>
          <a:xfrm>
            <a:off x="766491" y="1159656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$554.70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Mayo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102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Mayo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$305.99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$554.70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28.2%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$671.25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rPr dirty="0"/>
                        <a:t>$16,641.0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958308"/>
              </p:ext>
            </p:extLst>
          </p:nvPr>
        </p:nvGraphicFramePr>
        <p:xfrm>
          <a:off x="320400" y="6649200"/>
          <a:ext cx="7038000" cy="154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PRINCIPALES DEUDORES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Categoría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Deudores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Principal</a:t>
                      </a:r>
                      <a:r>
                        <a:rPr lang="es-MX" dirty="0"/>
                        <a:t>es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deudor</a:t>
                      </a:r>
                      <a:r>
                        <a:rPr lang="es-MX" dirty="0"/>
                        <a:t>es</a:t>
                      </a:r>
                      <a:r>
                        <a:rPr dirty="0"/>
                        <a:t> privado</a:t>
                      </a:r>
                      <a:r>
                        <a:rPr lang="es-MX"/>
                        <a:t>s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Imagen </a:t>
                      </a:r>
                      <a:r>
                        <a:rPr dirty="0" err="1"/>
                        <a:t>Corporativa</a:t>
                      </a:r>
                      <a:r>
                        <a:rPr dirty="0"/>
                        <a:t> Atlanta SA de CV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$43.27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 err="1"/>
                        <a:t>Miscelaneas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Hersaco</a:t>
                      </a:r>
                      <a:r>
                        <a:rPr dirty="0"/>
                        <a:t> SAS de CV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$27.40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Compañía de Real del Monte y Pachuca S.A de C.V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$23.30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>
                <a:solidFill>
                  <a:schemeClr val="tx1"/>
                </a:solidFill>
              </a:rPr>
              <a:t>Salario Base de </a:t>
            </a:r>
            <a:r>
              <a:rPr dirty="0" err="1">
                <a:solidFill>
                  <a:schemeClr val="tx1"/>
                </a:solidFill>
              </a:rPr>
              <a:t>Cotización</a:t>
            </a:r>
            <a:r>
              <a:rPr dirty="0">
                <a:solidFill>
                  <a:schemeClr val="tx1"/>
                </a:solidFill>
              </a:rPr>
              <a:t>: </a:t>
            </a:r>
            <a:r>
              <a:rPr dirty="0" err="1">
                <a:solidFill>
                  <a:schemeClr val="tx1"/>
                </a:solidFill>
              </a:rPr>
              <a:t>tado</a:t>
            </a:r>
            <a:r>
              <a:rPr dirty="0">
                <a:solidFill>
                  <a:schemeClr val="tx1"/>
                </a:solidFill>
              </a:rPr>
              <a:t>: Se </a:t>
            </a:r>
            <a:r>
              <a:rPr dirty="0" err="1">
                <a:solidFill>
                  <a:schemeClr val="tx1"/>
                </a:solidFill>
              </a:rPr>
              <a:t>utilizó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como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deflactor</a:t>
            </a:r>
            <a:r>
              <a:rPr dirty="0">
                <a:solidFill>
                  <a:schemeClr val="tx1"/>
                </a:solidFill>
              </a:rPr>
              <a:t> del </a:t>
            </a:r>
            <a:r>
              <a:rPr dirty="0" err="1">
                <a:solidFill>
                  <a:schemeClr val="tx1"/>
                </a:solidFill>
              </a:rPr>
              <a:t>salario</a:t>
            </a:r>
            <a:r>
              <a:rPr dirty="0">
                <a:solidFill>
                  <a:schemeClr val="tx1"/>
                </a:solidFill>
              </a:rPr>
              <a:t> el </a:t>
            </a:r>
            <a:r>
              <a:rPr dirty="0" err="1">
                <a:solidFill>
                  <a:schemeClr val="tx1"/>
                </a:solidFill>
              </a:rPr>
              <a:t>cociente</a:t>
            </a:r>
            <a:r>
              <a:rPr dirty="0">
                <a:solidFill>
                  <a:schemeClr val="tx1"/>
                </a:solidFill>
              </a:rPr>
              <a:t> del INPC entre </a:t>
            </a:r>
            <a:r>
              <a:rPr dirty="0" err="1">
                <a:solidFill>
                  <a:schemeClr val="tx1"/>
                </a:solidFill>
              </a:rPr>
              <a:t>diciembre</a:t>
            </a:r>
            <a:r>
              <a:rPr dirty="0">
                <a:solidFill>
                  <a:schemeClr val="tx1"/>
                </a:solidFill>
              </a:rPr>
              <a:t> 2018 (103.02) y </a:t>
            </a:r>
            <a:r>
              <a:rPr dirty="0" err="1">
                <a:solidFill>
                  <a:schemeClr val="tx1"/>
                </a:solidFill>
              </a:rPr>
              <a:t>abril</a:t>
            </a:r>
            <a:r>
              <a:rPr dirty="0">
                <a:solidFill>
                  <a:schemeClr val="tx1"/>
                </a:solidFill>
              </a:rPr>
              <a:t>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mayo 2026.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>
            <p:extLst>
              <p:ext uri="{D42A27DB-BD31-4B8C-83A1-F6EECF244321}">
                <p14:modId xmlns:p14="http://schemas.microsoft.com/office/powerpoint/2010/main" val="2516326280"/>
              </p:ext>
            </p:extLst>
          </p:nvPr>
        </p:nvGraphicFramePr>
        <p:xfrm>
          <a:off x="3884217" y="8138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025549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025549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HIDALGO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 err="1">
                <a:solidFill>
                  <a:schemeClr val="tx1"/>
                </a:solidFill>
              </a:rPr>
              <a:t>enero-diciembre</a:t>
            </a:r>
            <a:r>
              <a:rPr dirty="0">
                <a:solidFill>
                  <a:schemeClr val="tx1"/>
                </a:solidFill>
              </a:rPr>
              <a:t>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622800"/>
            <a:ext cx="1958400" cy="2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46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217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6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242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744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634,273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2,405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585,302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2,243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7,270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22,778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18,923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5,155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3,800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9,528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48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182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236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434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315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756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159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247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866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59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443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1,421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649138"/>
              </p:ext>
            </p:extLst>
          </p:nvPr>
        </p:nvGraphicFramePr>
        <p:xfrm>
          <a:off x="310896" y="7991856"/>
          <a:ext cx="7004303" cy="714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2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2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Concepto</a:t>
                      </a:r>
                      <a:endParaRPr dirty="0"/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Comités</a:t>
                      </a:r>
                      <a:r>
                        <a:rPr dirty="0"/>
                        <a:t> de Salud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740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896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5,009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6,498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277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31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459716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38" name="Connector 537"/>
          <p:cNvCxnSpPr/>
          <p:nvPr/>
        </p:nvCxnSpPr>
        <p:spPr>
          <a:xfrm>
            <a:off x="6024916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289716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650,033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204916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A08250"/>
                </a:solidFill>
                <a:latin typeface="Montserrat"/>
              </a:defRPr>
            </a:pPr>
            <a:r>
              <a:t>151,754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254516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A08250"/>
                </a:solidFill>
                <a:latin typeface="Montserrat"/>
              </a:defRPr>
            </a:pPr>
            <a:r>
              <a:t>498,279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463316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3" name="Connector 542"/>
          <p:cNvCxnSpPr/>
          <p:nvPr/>
        </p:nvCxnSpPr>
        <p:spPr>
          <a:xfrm>
            <a:off x="6024916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484116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274,537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312916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463657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7" name="TextBox 546"/>
          <p:cNvSpPr txBox="1"/>
          <p:nvPr/>
        </p:nvSpPr>
        <p:spPr>
          <a:xfrm>
            <a:off x="5463657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ontserrat"/>
              </a:defRPr>
            </a:pPr>
            <a:r>
              <a:t>634,273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463657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9" name="TextBox 548"/>
          <p:cNvSpPr txBox="1"/>
          <p:nvPr/>
        </p:nvSpPr>
        <p:spPr>
          <a:xfrm>
            <a:off x="5463657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ontserrat"/>
              </a:defRPr>
            </a:pPr>
            <a:r>
              <a:t>5,155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687</TotalTime>
  <Words>4458</Words>
  <Application>Microsoft Office PowerPoint</Application>
  <PresentationFormat>Personalizado</PresentationFormat>
  <Paragraphs>1744</Paragraphs>
  <Slides>27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2" baseType="lpstr">
      <vt:lpstr>Noto Sans</vt:lpstr>
      <vt:lpstr>Arial</vt:lpstr>
      <vt:lpstr>Montserrat</vt:lpstr>
      <vt:lpstr>Calibri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Martinez Flores</dc:creator>
  <cp:lastModifiedBy>Laura Patricia Galvan Chavez</cp:lastModifiedBy>
  <cp:revision>129</cp:revision>
  <dcterms:modified xsi:type="dcterms:W3CDTF">2026-07-02T21:13:23Z</dcterms:modified>
</cp:coreProperties>
</file>