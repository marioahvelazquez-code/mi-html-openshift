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89" r:id="rId3"/>
    <p:sldId id="258" r:id="rId4"/>
    <p:sldId id="259" r:id="rId5"/>
    <p:sldId id="260" r:id="rId6"/>
    <p:sldId id="301" r:id="rId45"/>
    <p:sldId id="261" r:id="rId7"/>
    <p:sldId id="302" r:id="rId46"/>
    <p:sldId id="287" r:id="rId8"/>
    <p:sldId id="262" r:id="rId9"/>
    <p:sldId id="263" r:id="rId10"/>
    <p:sldId id="303" r:id="rId47"/>
    <p:sldId id="280" r:id="rId11"/>
    <p:sldId id="267" r:id="rId12"/>
    <p:sldId id="298" r:id="rId13"/>
    <p:sldId id="304" r:id="rId48"/>
    <p:sldId id="305" r:id="rId49"/>
    <p:sldId id="306" r:id="rId50"/>
    <p:sldId id="307" r:id="rId51"/>
    <p:sldId id="281" r:id="rId14"/>
    <p:sldId id="308" r:id="rId44"/>
    <p:sldId id="309" r:id="rId43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</p:sldIdLst>
  <p:sldSz cx="7772400" cy="10058400"/>
  <p:notesSz cx="6858000" cy="9144000"/>
  <p:embeddedFontLst>
    <p:embeddedFont>
      <p:font typeface="Montserrat" panose="00000500000000000000" pitchFamily="2" charset="0"/>
      <p:regular r:id="rId27"/>
      <p:bold r:id="rId28"/>
      <p:italic r:id="rId29"/>
      <p:boldItalic r:id="rId30"/>
    </p:embeddedFont>
    <p:embeddedFont>
      <p:font typeface="Noto Sans" panose="020B0502040504020204" pitchFamily="34" charset="0"/>
      <p:regular r:id="rId31"/>
      <p:bold r:id="rId32"/>
      <p:italic r:id="rId33"/>
      <p:boldItalic r:id="rId34"/>
    </p:embeddedFont>
    <p:embeddedFont>
      <p:font typeface="Noto Sans Black" panose="020B0604020202020204" charset="0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DBF915-2AE0-CD0C-C535-360A98581E24}" v="2" dt="2026-05-12T23:24:46.355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font" Target="fonts/font6.fntdata"/><Relationship Id="rId33" Type="http://schemas.openxmlformats.org/officeDocument/2006/relationships/font" Target="fonts/font7.fntdata"/><Relationship Id="rId34" Type="http://schemas.openxmlformats.org/officeDocument/2006/relationships/font" Target="fonts/font8.fntdata"/><Relationship Id="rId35" Type="http://schemas.openxmlformats.org/officeDocument/2006/relationships/font" Target="fonts/font9.fntdata"/><Relationship Id="rId36" Type="http://schemas.openxmlformats.org/officeDocument/2006/relationships/font" Target="fonts/font10.fntdata"/><Relationship Id="rId37" Type="http://schemas.openxmlformats.org/officeDocument/2006/relationships/font" Target="fonts/font11.fntdata"/><Relationship Id="rId43" Type="http://schemas.openxmlformats.org/officeDocument/2006/relationships/slide" Target="slides/slide33.xml"/><Relationship Id="rId44" Type="http://schemas.openxmlformats.org/officeDocument/2006/relationships/slide" Target="slides/slide32.xml"/><Relationship Id="rId45" Type="http://schemas.openxmlformats.org/officeDocument/2006/relationships/slide" Target="slides/slide25.xml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49" Type="http://schemas.openxmlformats.org/officeDocument/2006/relationships/slide" Target="slides/slide29.xml"/><Relationship Id="rId50" Type="http://schemas.openxmlformats.org/officeDocument/2006/relationships/slide" Target="slides/slide30.xml"/><Relationship Id="rId51" Type="http://schemas.openxmlformats.org/officeDocument/2006/relationships/slide" Target="slides/slide31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6:13.495" v="0"/>
      <pc:docMkLst>
        <pc:docMk/>
      </pc:docMkLst>
      <pc:sldChg chg="add">
        <pc:chgData name="Carlos Esponda Rosales" userId="08a2b2cc-6d12-4dea-90fe-c484bece8186" providerId="ADAL" clId="{6846A1DD-3EC1-5A12-B3C5-9C410579EE4F}" dt="2026-05-08T17:36:13.495" v="0"/>
        <pc:sldMkLst>
          <pc:docMk/>
          <pc:sldMk cId="2914491268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custSel modSld sldOrd">
      <pc:chgData name="Edgar Rosales Ortega" userId="d1d54fc2-1570-4978-babc-e22e1526833f" providerId="ADAL" clId="{66BE7C30-C669-4152-AC74-10076FC0590C}" dt="2026-05-07T19:13:10.817" v="122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13:55.521" v="111" actId="1036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13:55.521" v="111" actId="1036"/>
          <ac:spMkLst>
            <pc:docMk/>
            <pc:sldMk cId="0" sldId="260"/>
            <ac:spMk id="7" creationId="{8382AF01-7334-4981-80B3-0CFDE2EEDB3F}"/>
          </ac:spMkLst>
        </pc:spChg>
        <pc:graphicFrameChg chg="add mod">
          <ac:chgData name="Edgar Rosales Ortega" userId="d1d54fc2-1570-4978-babc-e22e1526833f" providerId="ADAL" clId="{66BE7C30-C669-4152-AC74-10076FC0590C}" dt="2026-04-30T23:13:45.630" v="41" actId="1076"/>
          <ac:graphicFrameMkLst>
            <pc:docMk/>
            <pc:sldMk cId="0" sldId="260"/>
            <ac:graphicFrameMk id="6" creationId="{05D392A7-4856-B5FA-7BA0-DACBE1B0143E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13:55.521" v="111" actId="1036"/>
          <ac:picMkLst>
            <pc:docMk/>
            <pc:sldMk cId="0" sldId="260"/>
            <ac:picMk id="5" creationId="{6CC13DD0-CDE9-DA9A-B21F-4F6777C651C1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4-23T16:24:58.541" v="24" actId="1076"/>
        <pc:sldMkLst>
          <pc:docMk/>
          <pc:sldMk cId="0" sldId="261"/>
        </pc:sldMkLst>
        <pc:spChg chg="mod">
          <ac:chgData name="Edgar Rosales Ortega" userId="d1d54fc2-1570-4978-babc-e22e1526833f" providerId="ADAL" clId="{66BE7C30-C669-4152-AC74-10076FC0590C}" dt="2026-04-23T16:24:45.419" v="22"/>
          <ac:spMkLst>
            <pc:docMk/>
            <pc:sldMk cId="0" sldId="261"/>
            <ac:spMk id="16" creationId="{9A60B5AE-6A52-40E0-BA55-4A26B285A8CB}"/>
          </ac:spMkLst>
        </pc:spChg>
        <pc:spChg chg="mod">
          <ac:chgData name="Edgar Rosales Ortega" userId="d1d54fc2-1570-4978-babc-e22e1526833f" providerId="ADAL" clId="{66BE7C30-C669-4152-AC74-10076FC0590C}" dt="2026-04-23T16:24:45.419" v="22"/>
          <ac:spMkLst>
            <pc:docMk/>
            <pc:sldMk cId="0" sldId="261"/>
            <ac:spMk id="17" creationId="{61D90382-60EB-098E-75D1-0BEC13CE7E81}"/>
          </ac:spMkLst>
        </pc:spChg>
        <pc:spChg chg="mod">
          <ac:chgData name="Edgar Rosales Ortega" userId="d1d54fc2-1570-4978-babc-e22e1526833f" providerId="ADAL" clId="{66BE7C30-C669-4152-AC74-10076FC0590C}" dt="2026-04-23T16:24:45.419" v="22"/>
          <ac:spMkLst>
            <pc:docMk/>
            <pc:sldMk cId="0" sldId="261"/>
            <ac:spMk id="19" creationId="{3FCEE298-4446-4A50-BD3E-D57BC2E1A790}"/>
          </ac:spMkLst>
        </pc:spChg>
        <pc:spChg chg="mod">
          <ac:chgData name="Edgar Rosales Ortega" userId="d1d54fc2-1570-4978-babc-e22e1526833f" providerId="ADAL" clId="{66BE7C30-C669-4152-AC74-10076FC0590C}" dt="2026-04-23T16:24:45.419" v="22"/>
          <ac:spMkLst>
            <pc:docMk/>
            <pc:sldMk cId="0" sldId="261"/>
            <ac:spMk id="22" creationId="{28619D78-1686-20B9-2ABA-6F2391182686}"/>
          </ac:spMkLst>
        </pc:spChg>
        <pc:spChg chg="mod">
          <ac:chgData name="Edgar Rosales Ortega" userId="d1d54fc2-1570-4978-babc-e22e1526833f" providerId="ADAL" clId="{66BE7C30-C669-4152-AC74-10076FC0590C}" dt="2026-04-23T16:24:45.419" v="22"/>
          <ac:spMkLst>
            <pc:docMk/>
            <pc:sldMk cId="0" sldId="261"/>
            <ac:spMk id="23" creationId="{A26AEFA8-5436-75D3-C758-BA8AA5B3E09E}"/>
          </ac:spMkLst>
        </pc:spChg>
        <pc:spChg chg="mod">
          <ac:chgData name="Edgar Rosales Ortega" userId="d1d54fc2-1570-4978-babc-e22e1526833f" providerId="ADAL" clId="{66BE7C30-C669-4152-AC74-10076FC0590C}" dt="2026-04-23T16:24:45.419" v="22"/>
          <ac:spMkLst>
            <pc:docMk/>
            <pc:sldMk cId="0" sldId="261"/>
            <ac:spMk id="24" creationId="{447CD27E-6218-1FB9-1FAE-A2237CEC39ED}"/>
          </ac:spMkLst>
        </pc:spChg>
        <pc:spChg chg="mod">
          <ac:chgData name="Edgar Rosales Ortega" userId="d1d54fc2-1570-4978-babc-e22e1526833f" providerId="ADAL" clId="{66BE7C30-C669-4152-AC74-10076FC0590C}" dt="2026-04-23T16:24:45.419" v="22"/>
          <ac:spMkLst>
            <pc:docMk/>
            <pc:sldMk cId="0" sldId="261"/>
            <ac:spMk id="25" creationId="{8F81BDF3-E550-6075-30DD-797C29A5FB27}"/>
          </ac:spMkLst>
        </pc:spChg>
        <pc:spChg chg="mod">
          <ac:chgData name="Edgar Rosales Ortega" userId="d1d54fc2-1570-4978-babc-e22e1526833f" providerId="ADAL" clId="{66BE7C30-C669-4152-AC74-10076FC0590C}" dt="2026-04-23T16:24:58.541" v="24" actId="1076"/>
          <ac:spMkLst>
            <pc:docMk/>
            <pc:sldMk cId="0" sldId="261"/>
            <ac:spMk id="27" creationId="{F2714972-880C-9688-5F2A-6F90DD3AA8FA}"/>
          </ac:spMkLst>
        </pc:spChg>
        <pc:spChg chg="mod">
          <ac:chgData name="Edgar Rosales Ortega" userId="d1d54fc2-1570-4978-babc-e22e1526833f" providerId="ADAL" clId="{66BE7C30-C669-4152-AC74-10076FC0590C}" dt="2026-04-23T16:24:58.541" v="24" actId="1076"/>
          <ac:spMkLst>
            <pc:docMk/>
            <pc:sldMk cId="0" sldId="261"/>
            <ac:spMk id="29" creationId="{4A5AFF74-816E-A49A-0D84-693297F31E69}"/>
          </ac:spMkLst>
        </pc:spChg>
        <pc:spChg chg="mod">
          <ac:chgData name="Edgar Rosales Ortega" userId="d1d54fc2-1570-4978-babc-e22e1526833f" providerId="ADAL" clId="{66BE7C30-C669-4152-AC74-10076FC0590C}" dt="2026-04-23T16:24:58.541" v="24" actId="1076"/>
          <ac:spMkLst>
            <pc:docMk/>
            <pc:sldMk cId="0" sldId="261"/>
            <ac:spMk id="30" creationId="{B1EC9B91-702F-6C44-5D6C-23F8928BE439}"/>
          </ac:spMkLst>
        </pc:spChg>
        <pc:spChg chg="mod">
          <ac:chgData name="Edgar Rosales Ortega" userId="d1d54fc2-1570-4978-babc-e22e1526833f" providerId="ADAL" clId="{66BE7C30-C669-4152-AC74-10076FC0590C}" dt="2026-04-23T16:24:58.541" v="24" actId="1076"/>
          <ac:spMkLst>
            <pc:docMk/>
            <pc:sldMk cId="0" sldId="261"/>
            <ac:spMk id="32" creationId="{006AD9CD-2780-E740-1C8C-6EACF39C50C6}"/>
          </ac:spMkLst>
        </pc:spChg>
        <pc:spChg chg="mod">
          <ac:chgData name="Edgar Rosales Ortega" userId="d1d54fc2-1570-4978-babc-e22e1526833f" providerId="ADAL" clId="{66BE7C30-C669-4152-AC74-10076FC0590C}" dt="2026-04-23T16:24:58.541" v="24" actId="1076"/>
          <ac:spMkLst>
            <pc:docMk/>
            <pc:sldMk cId="0" sldId="261"/>
            <ac:spMk id="33" creationId="{5F123575-3BEE-8375-1288-E5091D498E81}"/>
          </ac:spMkLst>
        </pc:spChg>
        <pc:spChg chg="mod">
          <ac:chgData name="Edgar Rosales Ortega" userId="d1d54fc2-1570-4978-babc-e22e1526833f" providerId="ADAL" clId="{66BE7C30-C669-4152-AC74-10076FC0590C}" dt="2026-04-23T16:24:58.541" v="24" actId="1076"/>
          <ac:spMkLst>
            <pc:docMk/>
            <pc:sldMk cId="0" sldId="261"/>
            <ac:spMk id="34" creationId="{F291BCB1-6C69-CE80-1204-77B7A34B5960}"/>
          </ac:spMkLst>
        </pc:spChg>
        <pc:spChg chg="mod">
          <ac:chgData name="Edgar Rosales Ortega" userId="d1d54fc2-1570-4978-babc-e22e1526833f" providerId="ADAL" clId="{66BE7C30-C669-4152-AC74-10076FC0590C}" dt="2026-04-23T16:24:58.541" v="24" actId="1076"/>
          <ac:spMkLst>
            <pc:docMk/>
            <pc:sldMk cId="0" sldId="261"/>
            <ac:spMk id="35" creationId="{FECB2C17-083B-8E9A-9318-544388B7FA0C}"/>
          </ac:spMkLst>
        </pc:spChg>
        <pc:grpChg chg="add mod">
          <ac:chgData name="Edgar Rosales Ortega" userId="d1d54fc2-1570-4978-babc-e22e1526833f" providerId="ADAL" clId="{66BE7C30-C669-4152-AC74-10076FC0590C}" dt="2026-04-23T16:24:45.419" v="22"/>
          <ac:grpSpMkLst>
            <pc:docMk/>
            <pc:sldMk cId="0" sldId="261"/>
            <ac:grpSpMk id="15" creationId="{6F1E9E07-5573-4BB2-3BB0-C8509AE0A884}"/>
          </ac:grpSpMkLst>
        </pc:grpChg>
        <pc:grpChg chg="add mod">
          <ac:chgData name="Edgar Rosales Ortega" userId="d1d54fc2-1570-4978-babc-e22e1526833f" providerId="ADAL" clId="{66BE7C30-C669-4152-AC74-10076FC0590C}" dt="2026-04-23T16:24:58.541" v="24" actId="1076"/>
          <ac:grpSpMkLst>
            <pc:docMk/>
            <pc:sldMk cId="0" sldId="261"/>
            <ac:grpSpMk id="26" creationId="{A36DF2AC-F32D-ADD1-3964-F97564924BEE}"/>
          </ac:grpSpMkLst>
        </pc:grpChg>
        <pc:picChg chg="mod">
          <ac:chgData name="Edgar Rosales Ortega" userId="d1d54fc2-1570-4978-babc-e22e1526833f" providerId="ADAL" clId="{66BE7C30-C669-4152-AC74-10076FC0590C}" dt="2026-04-23T16:24:45.419" v="22"/>
          <ac:picMkLst>
            <pc:docMk/>
            <pc:sldMk cId="0" sldId="261"/>
            <ac:picMk id="18" creationId="{E80D2EB8-2C4E-5C34-8FD5-5E1D5E74BCC5}"/>
          </ac:picMkLst>
        </pc:picChg>
        <pc:picChg chg="mod">
          <ac:chgData name="Edgar Rosales Ortega" userId="d1d54fc2-1570-4978-babc-e22e1526833f" providerId="ADAL" clId="{66BE7C30-C669-4152-AC74-10076FC0590C}" dt="2026-04-23T16:24:45.419" v="22"/>
          <ac:picMkLst>
            <pc:docMk/>
            <pc:sldMk cId="0" sldId="261"/>
            <ac:picMk id="21" creationId="{FA077940-501E-A491-26CF-906DA2019C2D}"/>
          </ac:picMkLst>
        </pc:picChg>
        <pc:picChg chg="mod">
          <ac:chgData name="Edgar Rosales Ortega" userId="d1d54fc2-1570-4978-babc-e22e1526833f" providerId="ADAL" clId="{66BE7C30-C669-4152-AC74-10076FC0590C}" dt="2026-04-23T16:24:58.541" v="24" actId="1076"/>
          <ac:picMkLst>
            <pc:docMk/>
            <pc:sldMk cId="0" sldId="261"/>
            <ac:picMk id="28" creationId="{AEE7FE33-1622-ABF4-9C1F-173008E6A736}"/>
          </ac:picMkLst>
        </pc:picChg>
        <pc:picChg chg="mod">
          <ac:chgData name="Edgar Rosales Ortega" userId="d1d54fc2-1570-4978-babc-e22e1526833f" providerId="ADAL" clId="{66BE7C30-C669-4152-AC74-10076FC0590C}" dt="2026-04-23T16:24:58.541" v="24" actId="1076"/>
          <ac:picMkLst>
            <pc:docMk/>
            <pc:sldMk cId="0" sldId="261"/>
            <ac:picMk id="31" creationId="{84F9DA91-1702-5E82-DDF7-148673E1F2A2}"/>
          </ac:picMkLst>
        </pc:picChg>
      </pc:sldChg>
      <pc:sldChg chg="delSp mod">
        <pc:chgData name="Edgar Rosales Ortega" userId="d1d54fc2-1570-4978-babc-e22e1526833f" providerId="ADAL" clId="{66BE7C30-C669-4152-AC74-10076FC0590C}" dt="2026-05-07T19:12:27.653" v="114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9:12:33.750" v="116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52:19.926" v="36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19:15.807" v="25" actId="20577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9:12:42.568" v="117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9:12:42.568" v="117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1:16.485" v="113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7:57.821" v="37" actId="1076"/>
          <ac:spMkLst>
            <pc:docMk/>
            <pc:sldMk cId="0" sldId="279"/>
            <ac:spMk id="2" creationId="{27F5C3B4-C02D-4899-6560-7B5406E99DC1}"/>
          </ac:spMkLst>
        </pc:spChg>
        <pc:spChg chg="mod">
          <ac:chgData name="Edgar Rosales Ortega" userId="d1d54fc2-1570-4978-babc-e22e1526833f" providerId="ADAL" clId="{66BE7C30-C669-4152-AC74-10076FC0590C}" dt="2026-05-05T18:01:16.485" v="113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52:17.039" v="34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19:19.271" v="26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0:59.310" v="112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9:13:10.817" v="122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9:13:10.817" v="122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52:12.129" v="32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19:22.354" v="27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9:12:57.037" v="119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9:12:57.037" v="119" actId="14100"/>
          <ac:picMkLst>
            <pc:docMk/>
            <pc:sldMk cId="3240565764" sldId="297"/>
            <ac:picMk id="5" creationId="{4689FF38-8CFA-FB37-4E7B-B5603B7FC116}"/>
          </ac:picMkLst>
        </pc:picChg>
      </pc:sldChg>
      <pc:sldChg chg="ord">
        <pc:chgData name="Edgar Rosales Ortega" userId="d1d54fc2-1570-4978-babc-e22e1526833f" providerId="ADAL" clId="{66BE7C30-C669-4152-AC74-10076FC0590C}" dt="2026-04-17T20:41:21.129" v="7"/>
        <pc:sldMkLst>
          <pc:docMk/>
          <pc:sldMk cId="3015847869" sldId="298"/>
        </pc:sldMkLst>
      </pc:sldChg>
    </pc:docChg>
  </pc:docChgLst>
  <pc:docChgLst>
    <pc:chgData name="Gerardo Jahir Lara Garcia" userId="S::gerardo.larag@imss.gob.mx::84d5cd65-4601-4e92-b448-a9da4809e012" providerId="AD" clId="Web-{10DBF915-2AE0-CD0C-C535-360A98581E24}"/>
    <pc:docChg chg="modSld">
      <pc:chgData name="Gerardo Jahir Lara Garcia" userId="S::gerardo.larag@imss.gob.mx::84d5cd65-4601-4e92-b448-a9da4809e012" providerId="AD" clId="Web-{10DBF915-2AE0-CD0C-C535-360A98581E24}" dt="2026-05-12T23:24:46.355" v="1"/>
      <pc:docMkLst>
        <pc:docMk/>
      </pc:docMkLst>
      <pc:sldChg chg="addSp">
        <pc:chgData name="Gerardo Jahir Lara Garcia" userId="S::gerardo.larag@imss.gob.mx::84d5cd65-4601-4e92-b448-a9da4809e012" providerId="AD" clId="Web-{10DBF915-2AE0-CD0C-C535-360A98581E24}" dt="2026-05-12T23:24:46.355" v="1"/>
        <pc:sldMkLst>
          <pc:docMk/>
          <pc:sldMk cId="364733940" sldId="284"/>
        </pc:sldMkLst>
        <pc:spChg chg="add">
          <ac:chgData name="Gerardo Jahir Lara Garcia" userId="S::gerardo.larag@imss.gob.mx::84d5cd65-4601-4e92-b448-a9da4809e012" providerId="AD" clId="Web-{10DBF915-2AE0-CD0C-C535-360A98581E24}" dt="2026-05-12T23:24:46.355" v="1"/>
          <ac:spMkLst>
            <pc:docMk/>
            <pc:sldMk cId="364733940" sldId="284"/>
            <ac:spMk id="3" creationId="{ABCC6279-D2EB-1F1F-D811-3FFF80887FF1}"/>
          </ac:spMkLst>
        </pc:spChg>
        <pc:spChg chg="add">
          <ac:chgData name="Gerardo Jahir Lara Garcia" userId="S::gerardo.larag@imss.gob.mx::84d5cd65-4601-4e92-b448-a9da4809e012" providerId="AD" clId="Web-{10DBF915-2AE0-CD0C-C535-360A98581E24}" dt="2026-05-12T23:24:46.355" v="1"/>
          <ac:spMkLst>
            <pc:docMk/>
            <pc:sldMk cId="364733940" sldId="284"/>
            <ac:spMk id="6" creationId="{4578A0AA-9DC1-3453-263A-76BE5A8BE282}"/>
          </ac:spMkLst>
        </pc:spChg>
        <pc:spChg chg="add">
          <ac:chgData name="Gerardo Jahir Lara Garcia" userId="S::gerardo.larag@imss.gob.mx::84d5cd65-4601-4e92-b448-a9da4809e012" providerId="AD" clId="Web-{10DBF915-2AE0-CD0C-C535-360A98581E24}" dt="2026-05-12T23:24:46.355" v="1"/>
          <ac:spMkLst>
            <pc:docMk/>
            <pc:sldMk cId="364733940" sldId="284"/>
            <ac:spMk id="9" creationId="{907F7F6F-8FF8-56A0-795F-B2A127C97D4D}"/>
          </ac:spMkLst>
        </pc:spChg>
        <pc:picChg chg="add">
          <ac:chgData name="Gerardo Jahir Lara Garcia" userId="S::gerardo.larag@imss.gob.mx::84d5cd65-4601-4e92-b448-a9da4809e012" providerId="AD" clId="Web-{10DBF915-2AE0-CD0C-C535-360A98581E24}" dt="2026-05-12T23:24:46.355" v="1"/>
          <ac:picMkLst>
            <pc:docMk/>
            <pc:sldMk cId="364733940" sldId="284"/>
            <ac:picMk id="4" creationId="{488C755F-8E2D-8CE1-6C1B-6DBB55EE2CD3}"/>
          </ac:picMkLst>
        </pc:picChg>
        <pc:picChg chg="add">
          <ac:chgData name="Gerardo Jahir Lara Garcia" userId="S::gerardo.larag@imss.gob.mx::84d5cd65-4601-4e92-b448-a9da4809e012" providerId="AD" clId="Web-{10DBF915-2AE0-CD0C-C535-360A98581E24}" dt="2026-05-12T23:24:46.355" v="1"/>
          <ac:picMkLst>
            <pc:docMk/>
            <pc:sldMk cId="364733940" sldId="284"/>
            <ac:picMk id="8" creationId="{4F2E1097-3694-6090-CBA5-667DCD67E48E}"/>
          </ac:picMkLst>
        </pc:picChg>
      </pc:sldChg>
      <pc:sldChg chg="addSp">
        <pc:chgData name="Gerardo Jahir Lara Garcia" userId="S::gerardo.larag@imss.gob.mx::84d5cd65-4601-4e92-b448-a9da4809e012" providerId="AD" clId="Web-{10DBF915-2AE0-CD0C-C535-360A98581E24}" dt="2026-05-12T23:24:35.230" v="0"/>
        <pc:sldMkLst>
          <pc:docMk/>
          <pc:sldMk cId="3240565764" sldId="297"/>
        </pc:sldMkLst>
        <pc:spChg chg="add">
          <ac:chgData name="Gerardo Jahir Lara Garcia" userId="S::gerardo.larag@imss.gob.mx::84d5cd65-4601-4e92-b448-a9da4809e012" providerId="AD" clId="Web-{10DBF915-2AE0-CD0C-C535-360A98581E24}" dt="2026-05-12T23:24:35.230" v="0"/>
          <ac:spMkLst>
            <pc:docMk/>
            <pc:sldMk cId="3240565764" sldId="297"/>
            <ac:spMk id="3" creationId="{21AE8FA6-CA77-F761-93C9-BF2570CBBE30}"/>
          </ac:spMkLst>
        </pc:spChg>
        <pc:spChg chg="add">
          <ac:chgData name="Gerardo Jahir Lara Garcia" userId="S::gerardo.larag@imss.gob.mx::84d5cd65-4601-4e92-b448-a9da4809e012" providerId="AD" clId="Web-{10DBF915-2AE0-CD0C-C535-360A98581E24}" dt="2026-05-12T23:24:35.230" v="0"/>
          <ac:spMkLst>
            <pc:docMk/>
            <pc:sldMk cId="3240565764" sldId="297"/>
            <ac:spMk id="7" creationId="{FD4175D4-66CF-7FBC-B843-C149C5339DF1}"/>
          </ac:spMkLst>
        </pc:spChg>
        <pc:spChg chg="add">
          <ac:chgData name="Gerardo Jahir Lara Garcia" userId="S::gerardo.larag@imss.gob.mx::84d5cd65-4601-4e92-b448-a9da4809e012" providerId="AD" clId="Web-{10DBF915-2AE0-CD0C-C535-360A98581E24}" dt="2026-05-12T23:24:35.230" v="0"/>
          <ac:spMkLst>
            <pc:docMk/>
            <pc:sldMk cId="3240565764" sldId="297"/>
            <ac:spMk id="9" creationId="{50F1217E-09B0-81A3-6E99-CB1DE729ADDF}"/>
          </ac:spMkLst>
        </pc:spChg>
        <pc:spChg chg="add">
          <ac:chgData name="Gerardo Jahir Lara Garcia" userId="S::gerardo.larag@imss.gob.mx::84d5cd65-4601-4e92-b448-a9da4809e012" providerId="AD" clId="Web-{10DBF915-2AE0-CD0C-C535-360A98581E24}" dt="2026-05-12T23:24:35.230" v="0"/>
          <ac:spMkLst>
            <pc:docMk/>
            <pc:sldMk cId="3240565764" sldId="297"/>
            <ac:spMk id="10" creationId="{991C7EE4-1170-AC4C-597D-3383D8E8A8F9}"/>
          </ac:spMkLst>
        </pc:spChg>
        <pc:spChg chg="add">
          <ac:chgData name="Gerardo Jahir Lara Garcia" userId="S::gerardo.larag@imss.gob.mx::84d5cd65-4601-4e92-b448-a9da4809e012" providerId="AD" clId="Web-{10DBF915-2AE0-CD0C-C535-360A98581E24}" dt="2026-05-12T23:24:35.230" v="0"/>
          <ac:spMkLst>
            <pc:docMk/>
            <pc:sldMk cId="3240565764" sldId="297"/>
            <ac:spMk id="12" creationId="{CA535D92-E281-11D7-D7CB-F8BAB9F176B8}"/>
          </ac:spMkLst>
        </pc:spChg>
        <pc:picChg chg="add">
          <ac:chgData name="Gerardo Jahir Lara Garcia" userId="S::gerardo.larag@imss.gob.mx::84d5cd65-4601-4e92-b448-a9da4809e012" providerId="AD" clId="Web-{10DBF915-2AE0-CD0C-C535-360A98581E24}" dt="2026-05-12T23:24:35.230" v="0"/>
          <ac:picMkLst>
            <pc:docMk/>
            <pc:sldMk cId="3240565764" sldId="297"/>
            <ac:picMk id="4" creationId="{AE9FD96F-084C-5DEE-6966-05F8D1633A42}"/>
          </ac:picMkLst>
        </pc:picChg>
        <pc:picChg chg="add">
          <ac:chgData name="Gerardo Jahir Lara Garcia" userId="S::gerardo.larag@imss.gob.mx::84d5cd65-4601-4e92-b448-a9da4809e012" providerId="AD" clId="Web-{10DBF915-2AE0-CD0C-C535-360A98581E24}" dt="2026-05-12T23:24:35.230" v="0"/>
          <ac:picMkLst>
            <pc:docMk/>
            <pc:sldMk cId="3240565764" sldId="297"/>
            <ac:picMk id="8" creationId="{170CBE01-E044-2F44-556A-69D0B561DC01}"/>
          </ac:picMkLst>
        </pc:picChg>
        <pc:picChg chg="add">
          <ac:chgData name="Gerardo Jahir Lara Garcia" userId="S::gerardo.larag@imss.gob.mx::84d5cd65-4601-4e92-b448-a9da4809e012" providerId="AD" clId="Web-{10DBF915-2AE0-CD0C-C535-360A98581E24}" dt="2026-05-12T23:24:35.230" v="0"/>
          <ac:picMkLst>
            <pc:docMk/>
            <pc:sldMk cId="3240565764" sldId="297"/>
            <ac:picMk id="11" creationId="{F7B31A16-FD1A-331A-6F76-259EB810FD76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691C32"/>
              </a:solidFill>
            </c:spPr>
          </c:dPt>
          <c:dPt>
            <c:idx val="2"/>
            <c:spPr>
              <a:solidFill>
                <a:srgbClr val="BC955C"/>
              </a:solidFill>
            </c:spPr>
          </c:dPt>
          <c:dPt>
            <c:idx val="3"/>
            <c:spPr>
              <a:solidFill>
                <a:srgbClr val="9E9E9E"/>
              </a:solidFill>
            </c:spPr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4458754.0</c:v>
                </c:pt>
                <c:pt idx="1">
                  <c:v>329033.0</c:v>
                </c:pt>
                <c:pt idx="2">
                  <c:v>1706275.0</c:v>
                </c:pt>
                <c:pt idx="3">
                  <c:v>22140.0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41.82357868425251</c:v>
                </c:pt>
                <c:pt idx="1">
                  <c:v>58.17642131574749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9.4813941774</c:v>
                </c:pt>
                <c:pt idx="1">
                  <c:v>90.5186058226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41.4</c:v>
                </c:pt>
                <c:pt idx="1">
                  <c:v>58.6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42.07</c:v>
                </c:pt>
                <c:pt idx="1">
                  <c:v>57.93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355</c:v>
                </c:pt>
                <c:pt idx="1">
                  <c:v>677</c:v>
                </c:pt>
                <c:pt idx="2">
                  <c:v>637</c:v>
                </c:pt>
                <c:pt idx="3">
                  <c:v>614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Servicios para Empresas, Personas y el Hogar</c:v>
                </c:pt>
                <c:pt idx="2">
                  <c:v>Transportes y Comunicaciones</c:v>
                </c:pt>
                <c:pt idx="3">
                  <c:v>Agricultura, Ganaderia, Silvicultura, Pesca y Caza</c:v>
                </c:pt>
                <c:pt idx="4">
                  <c:v>Industria de la Construcción</c:v>
                </c:pt>
                <c:pt idx="5">
                  <c:v>Industrias de la Transformación</c:v>
                </c:pt>
                <c:pt idx="6">
                  <c:v>Servicios Sociales y Comunales</c:v>
                </c:pt>
                <c:pt idx="7">
                  <c:v>Ind Eléctrica y Captación y Suministro de Agua Potable</c:v>
                </c:pt>
                <c:pt idx="8">
                  <c:v>Comercio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4761</c:v>
                </c:pt>
                <c:pt idx="1">
                  <c:v>392984</c:v>
                </c:pt>
                <c:pt idx="2">
                  <c:v>169579</c:v>
                </c:pt>
                <c:pt idx="3">
                  <c:v>11255</c:v>
                </c:pt>
                <c:pt idx="4">
                  <c:v>177038</c:v>
                </c:pt>
                <c:pt idx="5">
                  <c:v>668430</c:v>
                </c:pt>
                <c:pt idx="6">
                  <c:v>129462</c:v>
                </c:pt>
                <c:pt idx="7">
                  <c:v>12109</c:v>
                </c:pt>
                <c:pt idx="8">
                  <c:v>382409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Servicios para Empresas, Personas y el Hogar</c:v>
                </c:pt>
                <c:pt idx="2">
                  <c:v>Transportes y Comunicaciones</c:v>
                </c:pt>
                <c:pt idx="3">
                  <c:v>Agricultura, Ganaderia, Silvicultura, Pesca y Caza</c:v>
                </c:pt>
                <c:pt idx="4">
                  <c:v>Industria de la Construcción</c:v>
                </c:pt>
                <c:pt idx="5">
                  <c:v>Industrias de la Transformación</c:v>
                </c:pt>
                <c:pt idx="6">
                  <c:v>Servicios Sociales y Comunales</c:v>
                </c:pt>
                <c:pt idx="7">
                  <c:v>Ind Eléctrica y Captación y Suministro de Agua Potable</c:v>
                </c:pt>
                <c:pt idx="8">
                  <c:v>Comercio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4395</c:v>
                </c:pt>
                <c:pt idx="1">
                  <c:v>393144</c:v>
                </c:pt>
                <c:pt idx="2">
                  <c:v>170161</c:v>
                </c:pt>
                <c:pt idx="3">
                  <c:v>11347</c:v>
                </c:pt>
                <c:pt idx="4">
                  <c:v>178679</c:v>
                </c:pt>
                <c:pt idx="5">
                  <c:v>676535</c:v>
                </c:pt>
                <c:pt idx="6">
                  <c:v>131689</c:v>
                </c:pt>
                <c:pt idx="7">
                  <c:v>12470</c:v>
                </c:pt>
                <c:pt idx="8">
                  <c:v>394477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1594494</c:v>
                </c:pt>
                <c:pt idx="1">
                  <c:v>1638911</c:v>
                </c:pt>
                <c:pt idx="2">
                  <c:v>1597182</c:v>
                </c:pt>
                <c:pt idx="3">
                  <c:v>1648874</c:v>
                </c:pt>
                <c:pt idx="4">
                  <c:v>1735312</c:v>
                </c:pt>
                <c:pt idx="5">
                  <c:v>1826259</c:v>
                </c:pt>
                <c:pt idx="6">
                  <c:v>1898720</c:v>
                </c:pt>
                <c:pt idx="7">
                  <c:v>1948027</c:v>
                </c:pt>
                <c:pt idx="8">
                  <c:v>1972897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3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3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Nuevo León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_Nuevo Leó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68% de la población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4,458,754</a:t>
            </a:r>
            <a:br/>
            <a:r>
              <a:t>68%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329,033</a:t>
            </a:r>
            <a:br/>
            <a:r>
              <a:t>5%</a:t>
            </a:r>
          </a:p>
        </p:txBody>
      </p:sp>
      <p:pic>
        <p:nvPicPr>
          <p:cNvPr id="122" name="Picture 121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1,706,275</a:t>
            </a:r>
            <a:br/>
            <a:r>
              <a:t>26%</a:t>
            </a:r>
          </a:p>
        </p:txBody>
      </p:sp>
      <p:pic>
        <p:nvPicPr>
          <p:cNvPr id="125" name="Picture 124" descr="19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0400" y="3290400"/>
            <a:ext cx="955500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22,140</a:t>
            </a:r>
            <a:br/>
            <a:r>
              <a:t>0.34%</a:t>
            </a:r>
          </a:p>
        </p:txBody>
      </p:sp>
      <p:pic>
        <p:nvPicPr>
          <p:cNvPr id="128" name="Picture 127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6,516,202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4" name="Table 133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4,122,799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4,458,754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2,310,445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2,557,298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1,608,191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1,972,897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329,831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481,765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45,425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61,396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326,998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193,710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-41%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289,905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157,894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12,699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4,696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24,394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31,120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1,812,354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1,901,456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663,871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729,338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898,001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819,245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250,482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352,873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3,253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3,460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21,965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29,929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36%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>
            <p:extLst>
              <p:ext uri="{D42A27DB-BD31-4B8C-83A1-F6EECF244321}">
                <p14:modId xmlns:p14="http://schemas.microsoft.com/office/powerpoint/2010/main" val="2976514392"/>
              </p:ext>
            </p:extLst>
          </p:nvPr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19_n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1706400" y="6854400"/>
          <a:ext cx="4359600" cy="140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50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499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156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58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1,316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546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Tercer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1,342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380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557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2,658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1,082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23472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(aut)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47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46 UMF, 3 UMFH, 1 UMF-UMAA y no incluye 7 Unidades Auxiliares de Medicina Familiar.</a:t>
            </a:r>
            <a:br/>
            <a:r>
              <a:t>3. Incluye la UMFR 1 unidades.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97;g3d0b4d3c5c9_2_44">
            <a:extLst>
              <a:ext uri="{FF2B5EF4-FFF2-40B4-BE49-F238E27FC236}">
                <a16:creationId xmlns:a16="http://schemas.microsoft.com/office/drawing/2014/main" id="{6CC13DD0-CDE9-DA9A-B21F-4F6777C651C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710" y="2003451"/>
            <a:ext cx="2632199" cy="23748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Google Shape;200;g3d0b4d3c5c9_2_44">
            <a:extLst>
              <a:ext uri="{FF2B5EF4-FFF2-40B4-BE49-F238E27FC236}">
                <a16:creationId xmlns:a16="http://schemas.microsoft.com/office/drawing/2014/main" id="{05D392A7-4856-B5FA-7BA0-DACBE1B014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67336266"/>
              </p:ext>
            </p:extLst>
          </p:nvPr>
        </p:nvGraphicFramePr>
        <p:xfrm>
          <a:off x="288000" y="1191600"/>
          <a:ext cx="7198700" cy="5181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6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Traumatologia y Ortopedia No. 21, Monterrey</a:t>
                      </a:r>
                      <a:endParaRPr sz="1800" b="1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8382AF01-7334-4981-80B3-0CFDE2EEDB3F}"/>
              </a:ext>
            </a:extLst>
          </p:cNvPr>
          <p:cNvSpPr txBox="1"/>
          <p:nvPr/>
        </p:nvSpPr>
        <p:spPr>
          <a:xfrm>
            <a:off x="2985371" y="1884624"/>
            <a:ext cx="4523300" cy="2580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05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</a:t>
            </a:r>
            <a:r>
              <a:rPr lang="es-ES" sz="1050" b="1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s-ES" sz="105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1 de noviembre de 1945, se inicia la atención médica y servicios de seguridad social en la entidad.</a:t>
            </a:r>
          </a:p>
          <a:p>
            <a:pPr rtl="0" fontAlgn="base">
              <a:buFont typeface="Arial" panose="020B0604020202020204" pitchFamily="34" charset="0"/>
              <a:buChar char="•"/>
            </a:pPr>
            <a:endParaRPr lang="es-ES" sz="1050" b="0" i="0" u="none" strike="noStrike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algn="just" rtl="0" fontAlgn="base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05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La primera unidad en abrir fue la Unidad de Medicina Familiar No. 3</a:t>
            </a:r>
            <a:r>
              <a:rPr lang="es-ES" sz="1050" b="1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,</a:t>
            </a:r>
            <a:r>
              <a:rPr lang="es-ES" sz="105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que funcionó como el primer punto de atención primaria para trabajadores y sus familias.</a:t>
            </a:r>
            <a:endParaRPr lang="es-ES" sz="1050" i="0" u="none" strike="noStrike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just" rtl="0" fontAlgn="base"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s-ES" sz="1050" b="0" i="0" u="none" strike="noStrike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algn="just" rtl="0" fontAlgn="base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05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15 de mayo de 1952 se inauguró el primer hospital que operó formalmente bajo el IMSS en Monterrey,  Unidad Médica de Alta Especialidad No. 21 de Traumatología y Ortopedia.</a:t>
            </a:r>
          </a:p>
          <a:p>
            <a:pPr algn="just" rtl="0" fontAlgn="base"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s-ES" sz="1050" b="0" i="0" u="none" strike="noStrike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  <a:p>
            <a:pPr algn="just" rtl="0" fontAlgn="base"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05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Este hospital se convirtió en el primer establecimiento hospitalario de mayor complejidad en la región, y brindó cobertura principalmente a trabajadores de la industria siderúrgica, cementera, vidriera, cervecera.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19_NUEVO_LE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5600" y="6476399"/>
          <a:ext cx="7650000" cy="253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17 Monterrey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12 Linares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1964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10 Sabinas Hgo.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11 Montemorelos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1964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4 Villa Guadalupe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2 Monterrey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6 S. Nicolas Garza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33 Félix U. Gómez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1993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UMAA 65 Sto Domingo (Aut)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2006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67 Apodaca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2010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5" name="Grupo 14">
            <a:extLst>
              <a:ext uri="{FF2B5EF4-FFF2-40B4-BE49-F238E27FC236}">
                <a16:creationId xmlns:a16="http://schemas.microsoft.com/office/drawing/2014/main" id="{6F1E9E07-5573-4BB2-3BB0-C8509AE0A884}"/>
              </a:ext>
            </a:extLst>
          </p:cNvPr>
          <p:cNvGrpSpPr/>
          <p:nvPr/>
        </p:nvGrpSpPr>
        <p:grpSpPr>
          <a:xfrm>
            <a:off x="538696" y="4827421"/>
            <a:ext cx="6695008" cy="4050179"/>
            <a:chOff x="538696" y="4827421"/>
            <a:chExt cx="6695008" cy="4050179"/>
          </a:xfrm>
        </p:grpSpPr>
        <p:sp>
          <p:nvSpPr>
            <p:cNvPr id="16" name="Google Shape;234;g3d635d120e2_2_8">
              <a:extLst>
                <a:ext uri="{FF2B5EF4-FFF2-40B4-BE49-F238E27FC236}">
                  <a16:creationId xmlns:a16="http://schemas.microsoft.com/office/drawing/2014/main" id="{9A60B5AE-6A52-40E0-BA55-4A26B285A8CB}"/>
                </a:ext>
              </a:extLst>
            </p:cNvPr>
            <p:cNvSpPr/>
            <p:nvPr/>
          </p:nvSpPr>
          <p:spPr>
            <a:xfrm>
              <a:off x="1532270" y="6767998"/>
              <a:ext cx="1734278" cy="275535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Tomógrafos</a:t>
              </a: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235;g3d635d120e2_2_8">
              <a:extLst>
                <a:ext uri="{FF2B5EF4-FFF2-40B4-BE49-F238E27FC236}">
                  <a16:creationId xmlns:a16="http://schemas.microsoft.com/office/drawing/2014/main" id="{61D90382-60EB-098E-75D1-0BEC13CE7E81}"/>
                </a:ext>
              </a:extLst>
            </p:cNvPr>
            <p:cNvSpPr/>
            <p:nvPr/>
          </p:nvSpPr>
          <p:spPr>
            <a:xfrm>
              <a:off x="1083240" y="6767998"/>
              <a:ext cx="460404" cy="275535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4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pic>
          <p:nvPicPr>
            <p:cNvPr id="18" name="Google Shape;236;g3d635d120e2_2_8">
              <a:extLst>
                <a:ext uri="{FF2B5EF4-FFF2-40B4-BE49-F238E27FC236}">
                  <a16:creationId xmlns:a16="http://schemas.microsoft.com/office/drawing/2014/main" id="{E80D2EB8-2C4E-5C34-8FD5-5E1D5E74BCC5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98603" y="5611330"/>
              <a:ext cx="2163582" cy="113973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Google Shape;242;g3d635d120e2_2_8">
              <a:extLst>
                <a:ext uri="{FF2B5EF4-FFF2-40B4-BE49-F238E27FC236}">
                  <a16:creationId xmlns:a16="http://schemas.microsoft.com/office/drawing/2014/main" id="{3FCEE298-4446-4A50-BD3E-D57BC2E1A790}"/>
                </a:ext>
              </a:extLst>
            </p:cNvPr>
            <p:cNvSpPr txBox="1"/>
            <p:nvPr/>
          </p:nvSpPr>
          <p:spPr>
            <a:xfrm>
              <a:off x="1273686" y="7056785"/>
              <a:ext cx="2347800" cy="55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 17 Monterrey</a:t>
              </a:r>
              <a:endParaRPr sz="1300" b="0" i="0" u="none" strike="noStrik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 4 Guadalupe</a:t>
              </a:r>
              <a:endParaRPr sz="1300" b="0" i="0" u="none" strike="noStrik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HTO 21 Monterrey</a:t>
              </a:r>
              <a:endParaRPr sz="1300" b="0" i="0" u="none" strike="noStrik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HC 34 Monterrey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$118.7 mdp</a:t>
              </a:r>
              <a:endParaRPr sz="1300" b="1" i="0" u="none" strike="noStrik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endParaRPr sz="1300" b="0" i="0" u="none" strike="noStrik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20" name="Google Shape;229;g3d635d120e2_2_8">
              <a:extLst>
                <a:ext uri="{FF2B5EF4-FFF2-40B4-BE49-F238E27FC236}">
                  <a16:creationId xmlns:a16="http://schemas.microsoft.com/office/drawing/2014/main" id="{E627C803-CBD1-F47B-CFAE-CAF8DA45223F}"/>
                </a:ext>
              </a:extLst>
            </p:cNvPr>
            <p:cNvGrpSpPr/>
            <p:nvPr/>
          </p:nvGrpSpPr>
          <p:grpSpPr>
            <a:xfrm>
              <a:off x="4498304" y="6727131"/>
              <a:ext cx="1976199" cy="390948"/>
              <a:chOff x="5290923" y="7426607"/>
              <a:chExt cx="2192702" cy="381007"/>
            </a:xfrm>
          </p:grpSpPr>
          <p:sp>
            <p:nvSpPr>
              <p:cNvPr id="24" name="Google Shape;230;g3d635d120e2_2_8">
                <a:extLst>
                  <a:ext uri="{FF2B5EF4-FFF2-40B4-BE49-F238E27FC236}">
                    <a16:creationId xmlns:a16="http://schemas.microsoft.com/office/drawing/2014/main" id="{447CD27E-6218-1FB9-1FAE-A2237CEC39ED}"/>
                  </a:ext>
                </a:extLst>
              </p:cNvPr>
              <p:cNvSpPr/>
              <p:nvPr/>
            </p:nvSpPr>
            <p:spPr>
              <a:xfrm>
                <a:off x="5290923" y="7426607"/>
                <a:ext cx="454200" cy="381000"/>
              </a:xfrm>
              <a:prstGeom prst="rect">
                <a:avLst/>
              </a:prstGeom>
              <a:gradFill>
                <a:gsLst>
                  <a:gs pos="0">
                    <a:srgbClr val="691932"/>
                  </a:gs>
                  <a:gs pos="100000">
                    <a:srgbClr val="A42145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s">
                    <a:solidFill>
                      <a:srgbClr val="FFFFFF"/>
                    </a:solidFill>
                    <a:latin typeface="Noto Sans Black"/>
                    <a:ea typeface="Noto Sans Black"/>
                    <a:cs typeface="Noto Sans Black"/>
                    <a:sym typeface="Noto Sans Black"/>
                  </a:rPr>
                  <a:t>10</a:t>
                </a:r>
                <a:endParaRPr sz="1400" b="0" i="0" u="none" strike="noStrike" cap="none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endParaRPr>
              </a:p>
            </p:txBody>
          </p:sp>
          <p:sp>
            <p:nvSpPr>
              <p:cNvPr id="25" name="Google Shape;231;g3d635d120e2_2_8">
                <a:extLst>
                  <a:ext uri="{FF2B5EF4-FFF2-40B4-BE49-F238E27FC236}">
                    <a16:creationId xmlns:a16="http://schemas.microsoft.com/office/drawing/2014/main" id="{8F81BDF3-E550-6075-30DD-797C29A5FB27}"/>
                  </a:ext>
                </a:extLst>
              </p:cNvPr>
              <p:cNvSpPr/>
              <p:nvPr/>
            </p:nvSpPr>
            <p:spPr>
              <a:xfrm>
                <a:off x="5745125" y="7426614"/>
                <a:ext cx="1738500" cy="381000"/>
              </a:xfrm>
              <a:prstGeom prst="rect">
                <a:avLst/>
              </a:prstGeom>
              <a:gradFill>
                <a:gsLst>
                  <a:gs pos="0">
                    <a:srgbClr val="006455"/>
                  </a:gs>
                  <a:gs pos="100000">
                    <a:srgbClr val="1C342D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s" sz="1300" b="1" i="0" u="none" strike="noStrike" cap="none" dirty="0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Mastógrafos</a:t>
                </a:r>
                <a:endParaRPr sz="1100" b="0" i="0" u="none" strike="noStrike" cap="none" dirty="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1" name="Google Shape;232;g3d635d120e2_2_8">
              <a:extLst>
                <a:ext uri="{FF2B5EF4-FFF2-40B4-BE49-F238E27FC236}">
                  <a16:creationId xmlns:a16="http://schemas.microsoft.com/office/drawing/2014/main" id="{FA077940-501E-A491-26CF-906DA2019C2D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296151" y="5400982"/>
              <a:ext cx="2233472" cy="14043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Google Shape;241;g3d635d120e2_2_8">
              <a:extLst>
                <a:ext uri="{FF2B5EF4-FFF2-40B4-BE49-F238E27FC236}">
                  <a16:creationId xmlns:a16="http://schemas.microsoft.com/office/drawing/2014/main" id="{28619D78-1686-20B9-2ABA-6F2391182686}"/>
                </a:ext>
              </a:extLst>
            </p:cNvPr>
            <p:cNvSpPr txBox="1"/>
            <p:nvPr/>
          </p:nvSpPr>
          <p:spPr>
            <a:xfrm>
              <a:off x="4306560" y="7071000"/>
              <a:ext cx="2382600" cy="180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25" tIns="89025" rIns="89025" bIns="890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6"/>
                <a:buFont typeface="Arial"/>
                <a:buNone/>
              </a:pPr>
              <a:r>
                <a:rPr lang="es" sz="1266" b="1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5 UMF</a:t>
              </a:r>
              <a:endParaRPr sz="1266" b="1" i="0" u="none" strike="noStrik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4"/>
                <a:buFont typeface="Arial"/>
                <a:buNone/>
              </a:pPr>
              <a:r>
                <a:rPr lang="es" sz="974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UMF 14 Cadereyta, UMF 35 Monterrey, UMF 31 San Nicolas de los Garza, UMF 43 Escobedo</a:t>
              </a:r>
              <a:endParaRPr sz="974" b="0" i="0" u="none" strike="noStrik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74"/>
                <a:buFont typeface="Arial"/>
                <a:buNone/>
              </a:pPr>
              <a:r>
                <a:rPr lang="es" sz="1266" b="1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5 Hospitales</a:t>
              </a:r>
              <a:endParaRPr sz="1266" b="1" i="0" u="none" strike="noStrik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71"/>
                <a:buFont typeface="Arial"/>
                <a:buNone/>
              </a:pPr>
              <a:r>
                <a:rPr lang="es" sz="974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HGO 23 Monterrey, HGZ 17 Monterrey, HGZMF 6 S. Nicolás de los Garza, HGSMF 11 Montemorelos, HGZ 33 Félix U. Gómez 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71"/>
                <a:buFont typeface="Arial"/>
                <a:buNone/>
              </a:pPr>
              <a:r>
                <a:rPr lang="es" sz="1300" b="1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$33.8 mdp</a:t>
              </a:r>
              <a:endParaRPr sz="1300" b="1" i="0" u="none" strike="noStrik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6"/>
                <a:buFont typeface="Arial"/>
                <a:buNone/>
              </a:pPr>
              <a:endParaRPr sz="1266" b="0" i="0" u="none" strike="noStrike" cap="none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A26AEFA8-5436-75D3-C758-BA8AA5B3E09E}"/>
                </a:ext>
              </a:extLst>
            </p:cNvPr>
            <p:cNvSpPr txBox="1"/>
            <p:nvPr/>
          </p:nvSpPr>
          <p:spPr>
            <a:xfrm>
              <a:off x="538696" y="4827421"/>
              <a:ext cx="669500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>
                <a:buNone/>
              </a:pPr>
              <a:r>
                <a:rPr lang="es-ES" sz="1400" b="1" i="0" u="none" strike="noStrike" dirty="0">
                  <a:solidFill>
                    <a:srgbClr val="006858"/>
                  </a:solidFill>
                  <a:effectLst/>
                  <a:latin typeface="Montserrat" panose="00000500000000000000" pitchFamily="2" charset="0"/>
                </a:rPr>
                <a:t>Fortalecimiento de equipo médico</a:t>
              </a:r>
              <a:endParaRPr lang="es-ES" b="0" dirty="0">
                <a:effectLst/>
              </a:endParaRPr>
            </a:p>
            <a:p>
              <a:pPr algn="ctr" rtl="0">
                <a:buNone/>
              </a:pPr>
              <a:r>
                <a:rPr lang="es-ES" sz="1400" b="1" i="0" u="none" strike="noStrike" dirty="0">
                  <a:solidFill>
                    <a:srgbClr val="006858"/>
                  </a:solidFill>
                  <a:effectLst/>
                  <a:latin typeface="Montserrat" panose="00000500000000000000" pitchFamily="2" charset="0"/>
                </a:rPr>
                <a:t>Compra 2025-2026 equipo mayor  (Instalación abril-mayo)</a:t>
              </a:r>
              <a:endParaRPr lang="es-MX" dirty="0"/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A36DF2AC-F32D-ADD1-3964-F97564924BEE}"/>
              </a:ext>
            </a:extLst>
          </p:cNvPr>
          <p:cNvGrpSpPr/>
          <p:nvPr/>
        </p:nvGrpSpPr>
        <p:grpSpPr>
          <a:xfrm>
            <a:off x="663634" y="6394488"/>
            <a:ext cx="6695008" cy="3487808"/>
            <a:chOff x="557617" y="4459671"/>
            <a:chExt cx="6695008" cy="3487808"/>
          </a:xfrm>
        </p:grpSpPr>
        <p:sp>
          <p:nvSpPr>
            <p:cNvPr id="27" name="Google Shape;237;g3d635d120e2_2_8">
              <a:extLst>
                <a:ext uri="{FF2B5EF4-FFF2-40B4-BE49-F238E27FC236}">
                  <a16:creationId xmlns:a16="http://schemas.microsoft.com/office/drawing/2014/main" id="{F2714972-880C-9688-5F2A-6F90DD3AA8FA}"/>
                </a:ext>
              </a:extLst>
            </p:cNvPr>
            <p:cNvSpPr/>
            <p:nvPr/>
          </p:nvSpPr>
          <p:spPr>
            <a:xfrm>
              <a:off x="1287255" y="6871239"/>
              <a:ext cx="2010300" cy="3735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Resonador magnético</a:t>
              </a:r>
              <a:endParaRPr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28" name="Google Shape;238;g3d635d120e2_2_8">
              <a:extLst>
                <a:ext uri="{FF2B5EF4-FFF2-40B4-BE49-F238E27FC236}">
                  <a16:creationId xmlns:a16="http://schemas.microsoft.com/office/drawing/2014/main" id="{AEE7FE33-1622-ABF4-9C1F-173008E6A736}"/>
                </a:ext>
              </a:extLst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13394" y="5326097"/>
              <a:ext cx="2437581" cy="15451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39;g3d635d120e2_2_8">
              <a:extLst>
                <a:ext uri="{FF2B5EF4-FFF2-40B4-BE49-F238E27FC236}">
                  <a16:creationId xmlns:a16="http://schemas.microsoft.com/office/drawing/2014/main" id="{4A5AFF74-816E-A49A-0D84-693297F31E69}"/>
                </a:ext>
              </a:extLst>
            </p:cNvPr>
            <p:cNvSpPr/>
            <p:nvPr/>
          </p:nvSpPr>
          <p:spPr>
            <a:xfrm>
              <a:off x="813398" y="6889679"/>
              <a:ext cx="4542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30" name="Google Shape;243;g3d635d120e2_2_8">
              <a:extLst>
                <a:ext uri="{FF2B5EF4-FFF2-40B4-BE49-F238E27FC236}">
                  <a16:creationId xmlns:a16="http://schemas.microsoft.com/office/drawing/2014/main" id="{B1EC9B91-702F-6C44-5D6C-23F8928BE439}"/>
                </a:ext>
              </a:extLst>
            </p:cNvPr>
            <p:cNvSpPr txBox="1"/>
            <p:nvPr/>
          </p:nvSpPr>
          <p:spPr>
            <a:xfrm>
              <a:off x="891795" y="7300829"/>
              <a:ext cx="2278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HES 25 Monterrey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dirty="0">
                  <a:solidFill>
                    <a:schemeClr val="dk2"/>
                  </a:solidFill>
                  <a:latin typeface="Montserrat"/>
                </a:rPr>
                <a:t>$40.6 mdp</a:t>
              </a:r>
              <a:endParaRPr lang="es" sz="1300" b="1" dirty="0">
                <a:solidFill>
                  <a:schemeClr val="dk2"/>
                </a:solidFill>
                <a:latin typeface="Montserrat"/>
                <a:sym typeface="Montserrat"/>
              </a:endParaRPr>
            </a:p>
          </p:txBody>
        </p:sp>
        <p:pic>
          <p:nvPicPr>
            <p:cNvPr id="31" name="Picture 4">
              <a:extLst>
                <a:ext uri="{FF2B5EF4-FFF2-40B4-BE49-F238E27FC236}">
                  <a16:creationId xmlns:a16="http://schemas.microsoft.com/office/drawing/2014/main" id="{84F9DA91-1702-5E82-DDF7-148673E1F2A2}"/>
                </a:ext>
              </a:extLst>
            </p:cNvPr>
            <p:cNvPicPr preferRelativeResize="0">
              <a:picLocks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27734" y="5178830"/>
              <a:ext cx="2197135" cy="19659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" name="Google Shape;237;g3d635d120e2_2_8">
              <a:extLst>
                <a:ext uri="{FF2B5EF4-FFF2-40B4-BE49-F238E27FC236}">
                  <a16:creationId xmlns:a16="http://schemas.microsoft.com/office/drawing/2014/main" id="{006AD9CD-2780-E740-1C8C-6EACF39C50C6}"/>
                </a:ext>
              </a:extLst>
            </p:cNvPr>
            <p:cNvSpPr/>
            <p:nvPr/>
          </p:nvSpPr>
          <p:spPr>
            <a:xfrm>
              <a:off x="4998031" y="7114079"/>
              <a:ext cx="1826838" cy="3735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Angiógrafo</a:t>
              </a:r>
              <a:endParaRPr sz="13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3" name="Google Shape;239;g3d635d120e2_2_8">
              <a:extLst>
                <a:ext uri="{FF2B5EF4-FFF2-40B4-BE49-F238E27FC236}">
                  <a16:creationId xmlns:a16="http://schemas.microsoft.com/office/drawing/2014/main" id="{5F123575-3BEE-8375-1288-E5091D498E81}"/>
                </a:ext>
              </a:extLst>
            </p:cNvPr>
            <p:cNvSpPr/>
            <p:nvPr/>
          </p:nvSpPr>
          <p:spPr>
            <a:xfrm>
              <a:off x="4543831" y="7123474"/>
              <a:ext cx="4542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34" name="Google Shape;243;g3d635d120e2_2_8">
              <a:extLst>
                <a:ext uri="{FF2B5EF4-FFF2-40B4-BE49-F238E27FC236}">
                  <a16:creationId xmlns:a16="http://schemas.microsoft.com/office/drawing/2014/main" id="{F291BCB1-6C69-CE80-1204-77B7A34B5960}"/>
                </a:ext>
              </a:extLst>
            </p:cNvPr>
            <p:cNvSpPr txBox="1"/>
            <p:nvPr/>
          </p:nvSpPr>
          <p:spPr>
            <a:xfrm>
              <a:off x="4974425" y="7516379"/>
              <a:ext cx="2278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HC 34 Monterrey</a:t>
              </a: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dirty="0">
                  <a:solidFill>
                    <a:schemeClr val="dk2"/>
                  </a:solidFill>
                  <a:latin typeface="Montserrat"/>
                </a:rPr>
                <a:t>$25.3 mdp</a:t>
              </a:r>
              <a:endParaRPr lang="es" sz="1300" b="1" dirty="0">
                <a:solidFill>
                  <a:schemeClr val="dk2"/>
                </a:solidFill>
                <a:latin typeface="Montserrat"/>
                <a:sym typeface="Montserrat"/>
              </a:endParaRPr>
            </a:p>
          </p:txBody>
        </p: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FECB2C17-083B-8E9A-9318-544388B7FA0C}"/>
                </a:ext>
              </a:extLst>
            </p:cNvPr>
            <p:cNvSpPr txBox="1"/>
            <p:nvPr/>
          </p:nvSpPr>
          <p:spPr>
            <a:xfrm>
              <a:off x="557617" y="4459671"/>
              <a:ext cx="669500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rtl="0">
                <a:buNone/>
              </a:pPr>
              <a:r>
                <a:rPr lang="es-ES" sz="1400" b="1" i="0" u="none" strike="noStrike" dirty="0">
                  <a:solidFill>
                    <a:srgbClr val="006858"/>
                  </a:solidFill>
                  <a:effectLst/>
                  <a:latin typeface="Montserrat" panose="00000500000000000000" pitchFamily="2" charset="0"/>
                </a:rPr>
                <a:t>Fortalecimiento de equipo médico</a:t>
              </a:r>
              <a:endParaRPr lang="es-ES" b="0" dirty="0">
                <a:effectLst/>
              </a:endParaRPr>
            </a:p>
            <a:p>
              <a:pPr algn="ctr" rtl="0">
                <a:buNone/>
              </a:pPr>
              <a:r>
                <a:rPr lang="es-ES" sz="1400" b="1" i="0" u="none" strike="noStrike" dirty="0">
                  <a:solidFill>
                    <a:srgbClr val="006858"/>
                  </a:solidFill>
                  <a:effectLst/>
                  <a:latin typeface="Montserrat" panose="00000500000000000000" pitchFamily="2" charset="0"/>
                </a:rPr>
                <a:t>Compra 2025-2026 equipo mayor  (Instalación abril-mayo)</a:t>
              </a:r>
              <a:endParaRPr lang="es-MX" dirty="0"/>
            </a:p>
          </p:txBody>
        </p:sp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259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11 Montemorelos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33 Félix U. Gómez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65 Sto Domingo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 Villa Guadalupe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10 Sabinas Hgo.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12 Linares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67 Apodaca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17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6 S. Nicolas Garza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1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1910858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AB47F6B8-3D81-1F6D-BBBD-610B443984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350BAFD6-A418-706F-1BEE-901C47C1522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50323EF9-3D95-46FC-1F11-6282A6A2B567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C666A425-99C8-FE55-B993-C52B0B7830DF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9589BCC6-E47E-A7A7-2E53-6C9BD31FB292}"/>
              </a:ext>
            </a:extLst>
          </p:cNvPr>
          <p:cNvSpPr txBox="1"/>
          <p:nvPr/>
        </p:nvSpPr>
        <p:spPr>
          <a:xfrm>
            <a:off x="5064096" y="5124571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47030EF-CEDF-3320-1981-AA79D2D29757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E6592EC-604D-D607-CEFD-A4AD87C69C0C}"/>
              </a:ext>
            </a:extLst>
          </p:cNvPr>
          <p:cNvSpPr txBox="1"/>
          <p:nvPr/>
        </p:nvSpPr>
        <p:spPr>
          <a:xfrm>
            <a:off x="4701239" y="8131971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22, 24 mayo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+27,591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+752,007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+155,568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7,479,758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752,007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3,137,196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7,464,504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42.0%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1,869,251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155,568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857,082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2,070,280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41.4%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119,452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27,591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57,239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136,056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42.1%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50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23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22, 24 mayo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3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 Monterrey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184,083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20,078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75,540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UMFH 13 Gral. Teran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22,638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9,524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 Monterrey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196,188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35,534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84,399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200,448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38 Monterrey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36,351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3,542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13,926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45 Hidalgo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48,032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3,569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22,807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48 Cd. Anáhuac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11,961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4,732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47 Lampazos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10,228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3,563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46 Villa Aldama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8,851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2,955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51 China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11,750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4,252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53 Galeana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9,973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4,224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55 Dr. Arroyo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10,198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50 Cerralvo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11,740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2,212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4,177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49 Agualeguas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6,200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-76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54 Aramberri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-192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1,587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56 La Ascención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4,474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1,672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26 Monterrey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294,601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37,387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129,736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288,144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18 Hualahuises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5,719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-393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2,338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52 San Rafael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10,553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2,162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35 Monterrey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281,279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1,950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114,299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275,616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36 Monterrey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138,851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56,869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41 Dr. González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1,809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72 Buena Vista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64,795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12,160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27,226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73 San Nicolas de los Garza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122,181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97,900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53,208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1,499,241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217,548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629,127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1,504,240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41.8%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6192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691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41.8%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781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6192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1,504,240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>
            <a:extLst>
              <a:ext uri="{FF2B5EF4-FFF2-40B4-BE49-F238E27FC236}">
                <a16:creationId xmlns:a16="http://schemas.microsoft.com/office/drawing/2014/main" id="{9036A9B7-BAF4-52BB-2C3C-B325A3B7219A}"/>
              </a:ext>
            </a:extLst>
          </p:cNvPr>
          <p:cNvSpPr txBox="1"/>
          <p:nvPr/>
        </p:nvSpPr>
        <p:spPr>
          <a:xfrm>
            <a:off x="4282734" y="6179801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8 Nuevas UMTC con   27 consultorios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0C37F19-71B3-7E8E-95D3-685C11090B9A}"/>
              </a:ext>
            </a:extLst>
          </p:cNvPr>
          <p:cNvSpPr txBox="1"/>
          <p:nvPr/>
        </p:nvSpPr>
        <p:spPr>
          <a:xfrm>
            <a:off x="4581075" y="7217881"/>
            <a:ext cx="319132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+mj-lt"/>
              <a:buAutoNum type="arabicParenR"/>
            </a:pPr>
            <a:r>
              <a:rPr lang="es-MX" sz="1200" dirty="0">
                <a:latin typeface="Montserrat" panose="00000500000000000000" pitchFamily="2" charset="0"/>
              </a:rPr>
              <a:t>UMF 3 Monterrey</a:t>
            </a:r>
          </a:p>
          <a:p>
            <a:pPr marL="228600" indent="-228600">
              <a:buFont typeface="+mj-lt"/>
              <a:buAutoNum type="arabicParenR"/>
            </a:pPr>
            <a:r>
              <a:rPr lang="es-MX" sz="1200" dirty="0">
                <a:latin typeface="Montserrat" panose="00000500000000000000" pitchFamily="2" charset="0"/>
              </a:rPr>
              <a:t>UMF 5 Monterrey</a:t>
            </a:r>
          </a:p>
          <a:p>
            <a:pPr marL="228600" indent="-228600">
              <a:buFont typeface="+mj-lt"/>
              <a:buAutoNum type="arabicParenR"/>
            </a:pPr>
            <a:r>
              <a:rPr lang="es-MX" sz="1200" dirty="0">
                <a:latin typeface="Montserrat" panose="00000500000000000000" pitchFamily="2" charset="0"/>
              </a:rPr>
              <a:t>HGZMF 6 S. Nicolas Garza</a:t>
            </a:r>
          </a:p>
          <a:p>
            <a:pPr marL="228600" indent="-228600">
              <a:buFont typeface="+mj-lt"/>
              <a:buAutoNum type="arabicParenR"/>
            </a:pPr>
            <a:r>
              <a:rPr lang="es-MX" sz="1200" dirty="0">
                <a:latin typeface="Montserrat" panose="00000500000000000000" pitchFamily="2" charset="0"/>
              </a:rPr>
              <a:t>UMF 73 San Nicolas de los Garza</a:t>
            </a:r>
          </a:p>
          <a:p>
            <a:pPr marL="228600" indent="-228600">
              <a:buFont typeface="+mj-lt"/>
              <a:buAutoNum type="arabicParenR"/>
            </a:pPr>
            <a:r>
              <a:rPr lang="es-MX" sz="1200" dirty="0">
                <a:latin typeface="Montserrat" panose="00000500000000000000" pitchFamily="2" charset="0"/>
              </a:rPr>
              <a:t>UMF 35 Monterrey</a:t>
            </a:r>
          </a:p>
          <a:p>
            <a:pPr marL="228600" indent="-228600">
              <a:buFont typeface="+mj-lt"/>
              <a:buAutoNum type="arabicParenR"/>
            </a:pPr>
            <a:r>
              <a:rPr lang="es-MX" sz="1200" dirty="0">
                <a:latin typeface="Montserrat" panose="00000500000000000000" pitchFamily="2" charset="0"/>
              </a:rPr>
              <a:t>UMF 36 Monterrey</a:t>
            </a:r>
          </a:p>
          <a:p>
            <a:pPr marL="228600" indent="-228600">
              <a:buFont typeface="+mj-lt"/>
              <a:buAutoNum type="arabicParenR"/>
            </a:pPr>
            <a:r>
              <a:rPr lang="es-MX" sz="1200" dirty="0">
                <a:latin typeface="Montserrat" panose="00000500000000000000" pitchFamily="2" charset="0"/>
              </a:rPr>
              <a:t>UMF 72 Buena Vista</a:t>
            </a:r>
          </a:p>
          <a:p>
            <a:pPr marL="228600" indent="-228600">
              <a:buFont typeface="+mj-lt"/>
              <a:buAutoNum type="arabicParenR"/>
            </a:pPr>
            <a:r>
              <a:rPr lang="es-MX" sz="1200" dirty="0">
                <a:latin typeface="Montserrat" panose="00000500000000000000" pitchFamily="2" charset="0"/>
              </a:rPr>
              <a:t>UMF 26 Monterrey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50 Unidades de Medicina Familiar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27 Unidades Médicas de tiempo completo (113 consultorios)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22, 24 mayo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(613,481 consultas)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51200" y="1695600"/>
          <a:ext cx="7473599" cy="347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8 El Cercado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84,593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11,646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35,725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82,656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15 Monterrey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442,430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40,119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175,459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14 Cadereyta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106,748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17,716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51,349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UMFH 16 Allende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59,886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6,314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25,951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19 Apodaca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239,234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4,184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100,817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20 V. Juárez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199,722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13,284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83,522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24 Villa García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184,587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4,458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76,509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179,088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UMF-UMAA 7 San Pedro Garza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362,165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26,470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159,909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399,504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27 V. Guadalupe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151,208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9,083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63,507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151,536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44 Ciénega Flores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74,416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5,989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32,233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37 Monterrey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112,937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4,141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51,809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28 Monterrey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371,644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33,882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148,391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371,952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32 V. Guadalupe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401,295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57,372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167,109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399,504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31 S. Nicolas Garza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394,183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27,028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166,965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413,280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9 Salinas Victoria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75,200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12,720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30,301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42 El Carmen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46,537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2,120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17,532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29 V. Guadalupe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160,660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20,178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65,151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39 Monterrey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134,231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15,625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55,321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30 Pino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304,145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46,838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125,592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43 Escobedo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282,838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25,036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121,157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275,520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58 S. Pedro Garza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114,207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30,700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47,862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64 Sta. Catarina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137,189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9,774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58,622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9%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4202025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 productividad de especialidad generada en UMF ni en HR</a:t>
            </a:r>
            <a:br/>
            <a:r>
              <a:t>En el año 2025 no incluye información de HR y UMU.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</a:t>
            </a:r>
            <a:br/>
            <a:r>
              <a:t>Corte de información: Semana: 22, 24 mayo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341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6 S. Nicolas Garza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190,943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-22,134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91,692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177,390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120,684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-12,080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56,348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118,260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33 Félix U. Gómez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227,779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6,282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101,807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223,380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67 Apodaca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182,034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53,415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79,994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177,390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 Villa Guadalupe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161,999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-5,182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70,896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164,250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17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138,706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3,542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62,523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157,680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65 Sto Domingo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54,224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21,297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58,400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12 Linares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13,859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6,828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11 Montemorelos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26,587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11,345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40,880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10 Sabinas Hgo.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3,308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1,511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1,120,123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47,014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504,241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1,152,670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43.7%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Table 236"/>
          <p:cNvGraphicFramePr>
            <a:graphicFrameLocks noGrp="1"/>
          </p:cNvGraphicFramePr>
          <p:nvPr/>
        </p:nvGraphicFramePr>
        <p:xfrm>
          <a:off x="144000" y="4950000"/>
          <a:ext cx="7340399" cy="255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UMFR 1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44,647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18,886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HTO 21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188,644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17,452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80,413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197,100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 23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128,746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24,701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66,217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164,250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25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315,451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52,873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149,981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400,770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HC 34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63,488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11,180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32,835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91,980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HPSIQ 22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8,152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4,509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17,520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749,128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108,554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352,841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917,610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38.5%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1,869,251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155,568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857,082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2,070,280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41.4%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8" name="Chart 237"/>
          <p:cNvGraphicFramePr>
            <a:graphicFrameLocks noGrp="1"/>
          </p:cNvGraphicFramePr>
          <p:nvPr/>
        </p:nvGraphicFramePr>
        <p:xfrm>
          <a:off x="4780800" y="8262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9" name="TextBox 238"/>
          <p:cNvSpPr txBox="1"/>
          <p:nvPr/>
        </p:nvSpPr>
        <p:spPr>
          <a:xfrm>
            <a:off x="4780800" y="898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41.4%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80800" y="988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730799" y="8262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2,070,280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553201765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22, 24 mayo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312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2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2,479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6 S. Nicolas Garza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11,043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1,610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5,162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11,712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33 Félix U. Gómez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5,055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13,176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 Villa Guadalupe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6,442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2,785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67 Apodaca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11,712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17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6,258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2,338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6,900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UMAA 65 Sto Domingo (Aut)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2,443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7,308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11 Montemorelos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1,122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1,566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12 Linares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1,566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58,930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9,023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25,486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66,435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38.4%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4305600"/>
          <a:ext cx="7340399" cy="19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HC 34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8,782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5,957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9,498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HTO 21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24,428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7,284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25,623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 23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13,879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6,667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15,525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25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13,433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4,744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7,099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18,975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60,522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18,568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31,753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69,621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45.6%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119,452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27,591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57,239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136,056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42.1%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5" name="Chart 234"/>
          <p:cNvGraphicFramePr>
            <a:graphicFrameLocks noGrp="1"/>
          </p:cNvGraphicFramePr>
          <p:nvPr/>
        </p:nvGraphicFramePr>
        <p:xfrm>
          <a:off x="4780800" y="7041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6" name="TextBox 235"/>
          <p:cNvSpPr txBox="1"/>
          <p:nvPr/>
        </p:nvSpPr>
        <p:spPr>
          <a:xfrm>
            <a:off x="4780800" y="7761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42.1%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4780800" y="8661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730799" y="7041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136,056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399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127 en Hospitales, 2 en sede, 22 en UMF y 248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127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2807999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2807999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4463998"/>
          <a:ext cx="3456000" cy="259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11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33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1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4463998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5847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61.1%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71.6%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75.6%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79.1%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A20C4CA6-8BFA-859B-3085-CED55AF654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1724064"/>
              </p:ext>
            </p:extLst>
          </p:nvPr>
        </p:nvGraphicFramePr>
        <p:xfrm>
          <a:off x="287050" y="927185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22, 24 mayo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3,281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1,464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1,039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15,916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3,842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31,963	 Personal de Salud: 22,232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+109.4%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127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266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+35.8%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3,464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4,704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+10.6%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7,203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7,964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+18.1%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5,086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6,006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+47.8%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1,410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2,084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-3.4%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1,250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1,208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178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59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Geriatría Directa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104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132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114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110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388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31,714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1,295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383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399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8,743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3,285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41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45,037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(432,283)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(47,954)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(5,952)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(7,061)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(630)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(408,579)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(37,308)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(3,179)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(7,056)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(614)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(86,770)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(29,899)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(2,824)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(4,844)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(407)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(78,709)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(28,515)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(2,738)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(3,794)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(309)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(53,118)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(19,617)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(1,975)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 la vesicula biliar
(2,319)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Otras enfermedades respiratorias
(280)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293,884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4,431,795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295,650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4,192,701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93.4%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BFAB3-3619-9B51-51CB-ABBE24267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1,776,849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833,877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652,220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579,457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550,601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Albendazol, suspensión oral (antiparasitario)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449,354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Amlodipino, tableta o cápsula (presión alta o angina)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381,315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Hidroclorotiazida, tableta (diurético)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332,687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Metoprolol, tableta (hipertensión)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324,570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290,365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4491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68626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1673293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946" y="2016882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15734" y="2030672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8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  <a:endParaRPr lang="en-US" dirty="0" err="1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41" y="2931281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216694" y="2945071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9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dirty="0" err="1"/>
          </a:p>
        </p:txBody>
      </p:sp>
      <p:sp>
        <p:nvSpPr>
          <p:cNvPr id="10" name="CuadroTexto 10">
            <a:extLst>
              <a:ext uri="{FF2B5EF4-FFF2-40B4-BE49-F238E27FC236}">
                <a16:creationId xmlns:a16="http://schemas.microsoft.com/office/drawing/2014/main" id="{991C7EE4-1170-AC4C-597D-3383D8E8A8F9}"/>
              </a:ext>
            </a:extLst>
          </p:cNvPr>
          <p:cNvSpPr txBox="1"/>
          <p:nvPr/>
        </p:nvSpPr>
        <p:spPr>
          <a:xfrm>
            <a:off x="-1156903" y="3853785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1" name="Imagen 1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7B31A16-FD1A-331A-6F76-259EB810FD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724" y="4197372"/>
            <a:ext cx="875508" cy="854908"/>
          </a:xfrm>
          <a:prstGeom prst="rect">
            <a:avLst/>
          </a:prstGeom>
        </p:spPr>
      </p:pic>
      <p:sp>
        <p:nvSpPr>
          <p:cNvPr id="12" name="CuadroTexto 12">
            <a:extLst>
              <a:ext uri="{FF2B5EF4-FFF2-40B4-BE49-F238E27FC236}">
                <a16:creationId xmlns:a16="http://schemas.microsoft.com/office/drawing/2014/main" id="{CA535D92-E281-11D7-D7CB-F8BAB9F176B8}"/>
              </a:ext>
            </a:extLst>
          </p:cNvPr>
          <p:cNvSpPr txBox="1"/>
          <p:nvPr/>
        </p:nvSpPr>
        <p:spPr>
          <a:xfrm>
            <a:off x="-1203613" y="4281501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Resonancia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Magnética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785600" y="1584000"/>
          <a:ext cx="5295600" cy="55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558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$1,582.6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urgencias en 20 unidades, Nuevo León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$193.6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20 unidades, Nuevo León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$169.6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8 unidades (H. de Cardiología No. 34 Monterrey,</a:t>
                      </a: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H. de Gineco-Obst. No. 23 Monterrey, HGZ No.17, HGZ No.2, HGZ No. 33, en Monterrey, HGZ No.4 Guadalupe, HGZ No.6 San Nicolas de los Garza, HGZ No.67 Apodaca)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$162.2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9 unidades (HGSZ No.12 Linares, HGZ No.17, HGZ No.2, HGZ No.33 en Monterrey; HGZ No.4 Guadalupe, HGZ No.67 Apodaca, HGZ No.6, UMAA  No.65, UMAA No.7, en San Nicolas de los Garza)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$48.5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subdelegaciones No.1, 2, 3 y 4 Nuevo León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$38.0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13 unidades, Nuevo León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$22.0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4 unidades (HGZ No.17, HGZ No.33 en Monterrey; HGZ No.4 Guadalupe, HGZ No.6 San Nicolas de los Garza)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55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$2,218.9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785600" y="7344000"/>
          <a:ext cx="5295600" cy="19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99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99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53  piezas de equipo médico: 4 congeladores horizontales de refrigerantes para vacunas, 21 refrigeradores para vacunas, 4 refrigeradores congeladores de 5.4 pies cúbicos, 3 unidades de anestesia básicas (con protección antimagnética), 1 barrera de cristal de plomo, 1 cofre de plomo, 1 monitor de radiación de pared, 2 monitores de signos vitales para el traslado del paciente, (con protección antimagnética), 5 mastógrafos digitales con estereotaxia y tomosíntesis, 4 unidades para to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$229.6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785600" y="950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$37.6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2,486.1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55375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154552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Hospital</a:t>
            </a:r>
            <a:endParaRPr lang="en-US" sz="8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F2E1097-3694-6090-CBA5-667DCD67E4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463" y="2938439"/>
            <a:ext cx="872667" cy="849944"/>
          </a:xfrm>
          <a:prstGeom prst="rect">
            <a:avLst/>
          </a:prstGeom>
        </p:spPr>
      </p:pic>
      <p:sp>
        <p:nvSpPr>
          <p:cNvPr id="9" name="CuadroTexto 11">
            <a:extLst>
              <a:ext uri="{FF2B5EF4-FFF2-40B4-BE49-F238E27FC236}">
                <a16:creationId xmlns:a16="http://schemas.microsoft.com/office/drawing/2014/main" id="{907F7F6F-8FF8-56A0-795F-B2A127C97D4D}"/>
              </a:ext>
            </a:extLst>
          </p:cNvPr>
          <p:cNvSpPr txBox="1"/>
          <p:nvPr/>
        </p:nvSpPr>
        <p:spPr>
          <a:xfrm>
            <a:off x="-1233656" y="3065573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</a:rPr>
              <a:t>UMF</a:t>
            </a:r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85600" y="1584000"/>
          <a:ext cx="5396400" cy="15119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Hospital General Regional Santa Catarina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$2,892.5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UMF No.15  Monterrey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$481.6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UMF 10 + 5  Benito Juárez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$220.8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Transformación a UMF Plus General Escobedo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$207.3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Transformación a UMF Plus Salinas Victoria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$203.6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$4,005.8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785600" y="3275994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$452.5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785600" y="3959992"/>
          <a:ext cx="5396400" cy="1259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629997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629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42 Equipos electromecánicos para 7 unidades; 4 elevadores, 11 equipos de casa de máquinas, 21 equipos de aire acondicionado, 4 lavadoras y 2 secadoras. Nuevo León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$388.7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4,847.0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27719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771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771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Centro de Atención Oncológica HGZ No. 47 Apodaca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$264.0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71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Plus No. 1, Paraje San José II García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$210.0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71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Santa Catarina (ZIMIX)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$210.0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71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Clínica de Detección de Cáncer de mama, Fuente Bella General Escobedo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$200.0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71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Centro de Simulación para la Excelencia Clínica y Quirúrgica en la ciudad de Monterrey, Nuevo León.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$164.4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71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Hospital Santa Cecilia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$160.0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71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Remodelación Teatro IMSS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$98.0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7198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Club del Adulto Mayor CSS No. 1 Monterrey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$4.2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7207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$1,310.6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4535989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5219987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5903985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936399" y="10188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1,310.6 mdp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Monterrey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Pesquería, Escobedo (3), Zuazua, García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6" name="Oval 25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82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82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0 CECI CAMPO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En validación o en integración de expediente para donación: 7 en Pesquería, Escobedo, Zuazua, García y Monterrey.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79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5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74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12,505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2,976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1831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Laboratorio de STyA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Subdelegación No.4, Monterrey , NL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CRESTCAP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Monterrey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41831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8 Centros de Seguridad Social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Monterrey 1, Monterrey 2 (San Nicolás de Los Garza), Cadereyta Jiménez (No. 5), Guadalupe Cercado (No. 3), Linares (No. 7), Montemorelos (No. 6), Sabinas Hidalgo (No. 4) e Independencia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418323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Monterrey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32 Monterrey Independencia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Velatorio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Monterrey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19_n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2656800" cy="4816938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79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31,900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31,963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Cadena Comercial OXXO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14,602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14,423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Servicios de Agua y Drenaje De Monterrey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6,156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6,147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México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14,177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14,068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Tiendas Soriana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11,362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11,612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-7.69%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+0.04%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+0.34%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+0.82%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+0.93%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+1.21%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+1.72%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+2.98%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+3.16%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1,769,266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5,097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172,917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1,948,027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1,796,953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4,959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170,248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737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1,972,897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27F5C3B4-C02D-4899-6560-7B5406E99DC1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$723.80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$397.12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$723.80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28.8%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$21,714.0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Aeropuertos y Servicios Auxiliares Sin Tipo de Sociedad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Servicios de Agua y Drenaje de Monterrey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Banobras Fid 2012 Sistema Integral del Tránsito Metropolitano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Global Facilities Management S A P I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$27.29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Promotora Educativa Metropolitana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$25.12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Talento en Ingeniería de Soluciones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$12.75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46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1,316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546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5600" y="2055600"/>
          <a:ext cx="7650000" cy="161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HTO 21 Monterrey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HGO 23 Monterrey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1972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370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HES 25 Monterrey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HC 34 Monterrey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1995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1,342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380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2,658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926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373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30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Equipo relevante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7600" y="10116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3600" y="1692000"/>
          <a:ext cx="7534799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UMAE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HTO 21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HGO 23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HC 34 Monterrey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HES 25 Monterrey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50 Unidades de Medicina Familiar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27 Unidades Médicas de tiempo completo (113 consultorios)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22, 24 mayo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5600"/>
          <a:ext cx="7473599" cy="105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66 Pueblo Nuevo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203,361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2,336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90,933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68 Rincón de la Sierra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172,619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7,245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70,626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69 Lincoln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134,701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14,360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57,849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70 Zuazua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96,914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1,420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41,260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71 Metroplex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140,739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10,142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59,388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5,188,389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460,180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2,180,849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5,165,072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42.2%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399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127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30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67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5241599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5241599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Cardiología 34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399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127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367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1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Especialidades 25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 y Nutrición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15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Gineco Obstetricia 23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5997599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de Traumatología y Ortopedia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5997599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UMAA 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399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 Sede delegacional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Materno Fetal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0000" y="2901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22 en Unidades de Medicina Familiar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0000" y="3297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3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3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4269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4269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516959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960000" y="5169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0000" y="6321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960000" y="6321596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0000" y="7221595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54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960000" y="7221595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73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0000" y="8121594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960000" y="8121594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C/hosp 13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399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22 en Unidades de Medicina Familiar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con UMAA No. 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Física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0000" y="2649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248 especialistas (sustitutos)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0000" y="3045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3117599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3117599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Nuclear e Imagenología Molecular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7293598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3)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Radioncología Directa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 Ginecológica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248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70000" y="10353597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Endocrinología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Dermatología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 y Nutrición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Endoscopia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Materno Fetal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Nuclear e Imagenología Molecular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Patología Clínica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 Ginecológica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NUEVO LEÓN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57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399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452</Words>
  <Application>Microsoft Office PowerPoint</Application>
  <PresentationFormat>Personalizado</PresentationFormat>
  <Paragraphs>111</Paragraphs>
  <Slides>24</Slides>
  <Notes>21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5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96</cp:revision>
  <dcterms:modified xsi:type="dcterms:W3CDTF">2026-05-12T23:24:46Z</dcterms:modified>
</cp:coreProperties>
</file>