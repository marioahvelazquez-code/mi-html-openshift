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2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itchFamily="2" charset="77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EF7A32-C894-0B48-A627-388DD343585F}" v="1" dt="2026-05-20T17:36:24.740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04"/>
  </p:normalViewPr>
  <p:slideViewPr>
    <p:cSldViewPr snapToGrid="0">
      <p:cViewPr varScale="1">
        <p:scale>
          <a:sx n="78" d="100"/>
          <a:sy n="78" d="100"/>
        </p:scale>
        <p:origin x="3024" y="19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42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20T17:36:24.740" v="1"/>
      <pc:docMkLst>
        <pc:docMk/>
      </pc:docMkLst>
      <pc:sldChg chg="addSp modSp">
        <pc:chgData name="Carlos Esponda Rosales" userId="08a2b2cc-6d12-4dea-90fe-c484bece8186" providerId="ADAL" clId="{6846A1DD-3EC1-5A12-B3C5-9C410579EE4F}" dt="2026-05-20T17:36:24.740" v="1"/>
        <pc:sldMkLst>
          <pc:docMk/>
          <pc:sldMk cId="0" sldId="277"/>
        </pc:sldMkLst>
        <pc:spChg chg="add mod">
          <ac:chgData name="Carlos Esponda Rosales" userId="08a2b2cc-6d12-4dea-90fe-c484bece8186" providerId="ADAL" clId="{6846A1DD-3EC1-5A12-B3C5-9C410579EE4F}" dt="2026-05-20T17:36:24.740" v="1"/>
          <ac:spMkLst>
            <pc:docMk/>
            <pc:sldMk cId="0" sldId="277"/>
            <ac:spMk id="2" creationId="{D26B4AD6-7E08-37A4-21E2-44DFDA92F892}"/>
          </ac:spMkLst>
        </pc:spChg>
      </pc:sldChg>
      <pc:sldChg chg="add">
        <pc:chgData name="Carlos Esponda Rosales" userId="08a2b2cc-6d12-4dea-90fe-c484bece8186" providerId="ADAL" clId="{6846A1DD-3EC1-5A12-B3C5-9C410579EE4F}" dt="2026-05-08T17:35:33.748" v="0"/>
        <pc:sldMkLst>
          <pc:docMk/>
          <pc:sldMk cId="2283600474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07:41.084" v="80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2:48.626" v="70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2:38.238" v="65" actId="1076"/>
          <ac:spMkLst>
            <pc:docMk/>
            <pc:sldMk cId="0" sldId="260"/>
            <ac:spMk id="5" creationId="{60058A55-02DF-1736-7362-9DD37D4E55AC}"/>
          </ac:spMkLst>
        </pc:spChg>
        <pc:graphicFrameChg chg="add mod">
          <ac:chgData name="Edgar Rosales Ortega" userId="d1d54fc2-1570-4978-babc-e22e1526833f" providerId="ADAL" clId="{66BE7C30-C669-4152-AC74-10076FC0590C}" dt="2026-04-30T23:12:23.728" v="27" actId="1076"/>
          <ac:graphicFrameMkLst>
            <pc:docMk/>
            <pc:sldMk cId="0" sldId="260"/>
            <ac:graphicFrameMk id="2" creationId="{3A291D4D-45DB-1D09-1C49-37F4F48A7029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2:47.429" v="69" actId="1076"/>
          <ac:picMkLst>
            <pc:docMk/>
            <pc:sldMk cId="0" sldId="260"/>
            <ac:picMk id="3" creationId="{F7A74E6B-C197-C9E7-A7CC-59769F7AB8E6}"/>
          </ac:picMkLst>
        </pc:picChg>
        <pc:picChg chg="add mod">
          <ac:chgData name="Edgar Rosales Ortega" userId="d1d54fc2-1570-4978-babc-e22e1526833f" providerId="ADAL" clId="{66BE7C30-C669-4152-AC74-10076FC0590C}" dt="2026-04-30T23:12:48.626" v="70" actId="1076"/>
          <ac:picMkLst>
            <pc:docMk/>
            <pc:sldMk cId="0" sldId="260"/>
            <ac:picMk id="4" creationId="{82AFE4E4-256F-46A9-E6DE-7373788D92FC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07:04.957" v="7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07:10.484" v="75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1:06.939" v="22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8:18.690" v="11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07:19.742" v="7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07:19.742" v="7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0:01.677" v="7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25.284" v="23" actId="1076"/>
          <ac:spMkLst>
            <pc:docMk/>
            <pc:sldMk cId="0" sldId="279"/>
            <ac:spMk id="2" creationId="{C19A8202-565C-FBCD-162A-E62DCB62C714}"/>
          </ac:spMkLst>
        </pc:spChg>
        <pc:spChg chg="mod">
          <ac:chgData name="Edgar Rosales Ortega" userId="d1d54fc2-1570-4978-babc-e22e1526833f" providerId="ADAL" clId="{66BE7C30-C669-4152-AC74-10076FC0590C}" dt="2026-05-05T18:00:01.677" v="7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1:03.643" v="20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8:22.684" v="12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9:48.515" v="7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07:41.084" v="80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07:41.084" v="80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0:57.220" v="18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8:26.272" v="13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07:30.821" v="78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07:30.821" v="78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038E88E4-AF9A-3A6B-F80C-50B7D83B6DFB}"/>
    <pc:docChg chg="modSld">
      <pc:chgData name="Gerardo Jahir Lara Garcia" userId="S::gerardo.larag@imss.gob.mx::84d5cd65-4601-4e92-b448-a9da4809e012" providerId="AD" clId="Web-{038E88E4-AF9A-3A6B-F80C-50B7D83B6DFB}" dt="2026-05-12T23:08:38.547" v="26"/>
      <pc:docMkLst>
        <pc:docMk/>
      </pc:docMkLst>
      <pc:sldChg chg="addSp delSp modSp">
        <pc:chgData name="Gerardo Jahir Lara Garcia" userId="S::gerardo.larag@imss.gob.mx::84d5cd65-4601-4e92-b448-a9da4809e012" providerId="AD" clId="Web-{038E88E4-AF9A-3A6B-F80C-50B7D83B6DFB}" dt="2026-05-12T23:08:11.187" v="23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038E88E4-AF9A-3A6B-F80C-50B7D83B6DFB}" dt="2026-05-12T23:01:27.125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038E88E4-AF9A-3A6B-F80C-50B7D83B6DFB}" dt="2026-05-12T23:08:04.921" v="16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038E88E4-AF9A-3A6B-F80C-50B7D83B6DFB}" dt="2026-05-12T23:08:08.859" v="21" actId="20577"/>
          <ac:spMkLst>
            <pc:docMk/>
            <pc:sldMk cId="364733940" sldId="284"/>
            <ac:spMk id="9" creationId="{907F7F6F-8FF8-56A0-795F-B2A127C97D4D}"/>
          </ac:spMkLst>
        </pc:spChg>
        <pc:picChg chg="add">
          <ac:chgData name="Gerardo Jahir Lara Garcia" userId="S::gerardo.larag@imss.gob.mx::84d5cd65-4601-4e92-b448-a9da4809e012" providerId="AD" clId="Web-{038E88E4-AF9A-3A6B-F80C-50B7D83B6DFB}" dt="2026-05-12T23:01:27.125" v="1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038E88E4-AF9A-3A6B-F80C-50B7D83B6DFB}" dt="2026-05-12T23:01:27.125" v="1"/>
          <ac:picMkLst>
            <pc:docMk/>
            <pc:sldMk cId="364733940" sldId="284"/>
            <ac:picMk id="8" creationId="{4F2E1097-3694-6090-CBA5-667DCD67E48E}"/>
          </ac:picMkLst>
        </pc:picChg>
      </pc:sldChg>
      <pc:sldChg chg="addSp delSp modSp">
        <pc:chgData name="Gerardo Jahir Lara Garcia" userId="S::gerardo.larag@imss.gob.mx::84d5cd65-4601-4e92-b448-a9da4809e012" providerId="AD" clId="Web-{038E88E4-AF9A-3A6B-F80C-50B7D83B6DFB}" dt="2026-05-12T23:08:38.547" v="2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038E88E4-AF9A-3A6B-F80C-50B7D83B6DFB}" dt="2026-05-12T23:03:19.739" v="7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038E88E4-AF9A-3A6B-F80C-50B7D83B6DFB}" dt="2026-05-12T23:03:19.754" v="9" actId="1076"/>
          <ac:spMkLst>
            <pc:docMk/>
            <pc:sldMk cId="3240565764" sldId="297"/>
            <ac:spMk id="7" creationId="{FD4175D4-66CF-7FBC-B843-C149C5339DF1}"/>
          </ac:spMkLst>
        </pc:spChg>
        <pc:spChg chg="add">
          <ac:chgData name="Gerardo Jahir Lara Garcia" userId="S::gerardo.larag@imss.gob.mx::84d5cd65-4601-4e92-b448-a9da4809e012" providerId="AD" clId="Web-{038E88E4-AF9A-3A6B-F80C-50B7D83B6DFB}" dt="2026-05-12T23:01:16.031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038E88E4-AF9A-3A6B-F80C-50B7D83B6DFB}" dt="2026-05-12T23:01:16.031" v="0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038E88E4-AF9A-3A6B-F80C-50B7D83B6DFB}" dt="2026-05-12T23:03:19.739" v="8" actId="1076"/>
          <ac:picMkLst>
            <pc:docMk/>
            <pc:sldMk cId="3240565764" sldId="297"/>
            <ac:picMk id="4" creationId="{AE9FD96F-084C-5DEE-6966-05F8D1633A42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875422.0</c:v>
                </c:pt>
                <c:pt idx="1">
                  <c:v>310794.0</c:v>
                </c:pt>
                <c:pt idx="2">
                  <c:v>869488.0</c:v>
                </c:pt>
                <c:pt idx="3">
                  <c:v>11768.0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31.703950110138717</c:v>
                </c:pt>
                <c:pt idx="1">
                  <c:v>68.29604988986128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11.607165996700001</c:v>
                </c:pt>
                <c:pt idx="1">
                  <c:v>88.3928340033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27.681512093813588</c:v>
                </c:pt>
                <c:pt idx="1">
                  <c:v>72.31848790618642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32.218316513588086</c:v>
                </c:pt>
                <c:pt idx="1">
                  <c:v>67.78168348641191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44</c:v>
                </c:pt>
                <c:pt idx="2">
                  <c:v>59</c:v>
                </c:pt>
                <c:pt idx="3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 de la Construcción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482</c:v>
                </c:pt>
                <c:pt idx="1">
                  <c:v>44560</c:v>
                </c:pt>
                <c:pt idx="2">
                  <c:v>43803</c:v>
                </c:pt>
                <c:pt idx="3">
                  <c:v>11329</c:v>
                </c:pt>
                <c:pt idx="4">
                  <c:v>1632</c:v>
                </c:pt>
                <c:pt idx="5">
                  <c:v>14640</c:v>
                </c:pt>
                <c:pt idx="6">
                  <c:v>51979</c:v>
                </c:pt>
                <c:pt idx="7">
                  <c:v>7839</c:v>
                </c:pt>
                <c:pt idx="8">
                  <c:v>44396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 de la Construcción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251</c:v>
                </c:pt>
                <c:pt idx="1">
                  <c:v>39803</c:v>
                </c:pt>
                <c:pt idx="2">
                  <c:v>43662</c:v>
                </c:pt>
                <c:pt idx="3">
                  <c:v>11451</c:v>
                </c:pt>
                <c:pt idx="4">
                  <c:v>1658</c:v>
                </c:pt>
                <c:pt idx="5">
                  <c:v>15056</c:v>
                </c:pt>
                <c:pt idx="6">
                  <c:v>54164</c:v>
                </c:pt>
                <c:pt idx="7">
                  <c:v>8196</c:v>
                </c:pt>
                <c:pt idx="8">
                  <c:v>47208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209641</c:v>
                </c:pt>
                <c:pt idx="1">
                  <c:v>209357</c:v>
                </c:pt>
                <c:pt idx="2">
                  <c:v>208949</c:v>
                </c:pt>
                <c:pt idx="3">
                  <c:v>205634</c:v>
                </c:pt>
                <c:pt idx="4">
                  <c:v>214838</c:v>
                </c:pt>
                <c:pt idx="5">
                  <c:v>216611</c:v>
                </c:pt>
                <c:pt idx="6">
                  <c:v>223022</c:v>
                </c:pt>
                <c:pt idx="7">
                  <c:v>220660</c:v>
                </c:pt>
                <c:pt idx="8">
                  <c:v>221449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Morelos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_Mor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42%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875,422</a:t>
            </a:r>
            <a:br/>
            <a:r>
              <a:t>42%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310,794</a:t>
            </a:r>
            <a:br/>
            <a:r>
              <a:t>15%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869,488</a:t>
            </a:r>
            <a:br/>
            <a:r>
              <a:t>42%</a:t>
            </a:r>
          </a:p>
        </p:txBody>
      </p:sp>
      <p:pic>
        <p:nvPicPr>
          <p:cNvPr id="125" name="Picture 124" descr="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11,768</a:t>
            </a:r>
            <a:br/>
            <a:r>
              <a:t>0.57%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2,067,472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749,643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879,036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396,813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504,176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212,112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221,449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97,526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108,088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129,630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352,830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374,860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1,280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1,119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6,631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8,386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526512184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7_m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21 UMF y no incluye 2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79;g3d0b4d3c5c9_0_38">
            <a:extLst>
              <a:ext uri="{FF2B5EF4-FFF2-40B4-BE49-F238E27FC236}">
                <a16:creationId xmlns:a16="http://schemas.microsoft.com/office/drawing/2014/main" id="{3A291D4D-45DB-1D09-1C49-37F4F48A70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55104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Inmueble ubicado sobre el Boulevard Juárez, Morelos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180;g3d0b4d3c5c9_0_38">
            <a:extLst>
              <a:ext uri="{FF2B5EF4-FFF2-40B4-BE49-F238E27FC236}">
                <a16:creationId xmlns:a16="http://schemas.microsoft.com/office/drawing/2014/main" id="{F7A74E6B-C197-C9E7-A7CC-59769F7AB8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46" y="1849656"/>
            <a:ext cx="2612006" cy="188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81;g3d0b4d3c5c9_0_38">
            <a:extLst>
              <a:ext uri="{FF2B5EF4-FFF2-40B4-BE49-F238E27FC236}">
                <a16:creationId xmlns:a16="http://schemas.microsoft.com/office/drawing/2014/main" id="{82AFE4E4-256F-46A9-E6DE-7373788D92F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910" y="3840758"/>
            <a:ext cx="2877477" cy="17488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0058A55-02DF-1736-7362-9DD37D4E55AC}"/>
              </a:ext>
            </a:extLst>
          </p:cNvPr>
          <p:cNvSpPr txBox="1"/>
          <p:nvPr/>
        </p:nvSpPr>
        <p:spPr>
          <a:xfrm>
            <a:off x="3722700" y="1987337"/>
            <a:ext cx="3889512" cy="322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 de agosto de 1956, se publica en el Diario Oficial de la Federación el inició de los servicios del IMSS.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De inicio las consultas se otorgaban principalmente a través de la Clínica No. 20 en Cuernavaca, y mediante espacios adaptados, con atención de medicina general, prevención y servicios básicos.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Morelos fue el inmueble ubicado sobre el Boulevard Juárez, en Cuernavaca, habilitado en 1956 con 30 a 40 camas, ofreció servicios de hospitalización general, atención de partos, quirófano básico, medicina general, urgencias, farmacia y apoyo de laboratorio.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1962 se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aperturó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el Hospital General de Zona No. 5 en Zacatepec, como primera unidad formal de segundo nivel en la entidad.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17_MOREL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600" y="6476399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74146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51A6929-CD7B-5C51-A3ED-06568BF99F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CE7E4DF7-BA6E-9DFE-8069-61EF3E9D585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E7AD36F-05BB-4E2E-7F96-0F2053FD717E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1999D56-B3F8-8ED2-C70C-B2D58A23E806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4AEF0293-D8D4-B328-E581-8C3193BA2CCF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87D7A0-5A9D-D337-1600-14A45713F466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07BE85B-6AA0-0E34-1DEC-F2865AA89039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+3,350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+115,801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+45,760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1,638,570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115,801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555,418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1,664,152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388,412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45,760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131,955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476,690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25,463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3,350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8,524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26,457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Tepoztlán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Oacalco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Temixco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59,053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Tepalcingo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Tlaltizapán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Tlaquiltenango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23,613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Miacatlán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Tezoyuca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Jantetelco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Casasano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Chinameca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Yecapixtla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69,827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252,288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18,077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85,205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268,752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52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2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31.7%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1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52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268,752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adroTexto 205">
            <a:extLst>
              <a:ext uri="{FF2B5EF4-FFF2-40B4-BE49-F238E27FC236}">
                <a16:creationId xmlns:a16="http://schemas.microsoft.com/office/drawing/2014/main" id="{28D2ADD3-5CCD-6DFD-4F18-7FE06A203F82}"/>
              </a:ext>
            </a:extLst>
          </p:cNvPr>
          <p:cNvSpPr txBox="1"/>
          <p:nvPr/>
        </p:nvSpPr>
        <p:spPr>
          <a:xfrm>
            <a:off x="4080058" y="5485600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 UMTC con   4 consultorios</a:t>
            </a:r>
          </a:p>
        </p:txBody>
      </p:sp>
      <p:graphicFrame>
        <p:nvGraphicFramePr>
          <p:cNvPr id="207" name="Tabla 206">
            <a:extLst>
              <a:ext uri="{FF2B5EF4-FFF2-40B4-BE49-F238E27FC236}">
                <a16:creationId xmlns:a16="http://schemas.microsoft.com/office/drawing/2014/main" id="{EC2BBE10-2250-D1EB-7E07-E3C5486E6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031993"/>
              </p:ext>
            </p:extLst>
          </p:nvPr>
        </p:nvGraphicFramePr>
        <p:xfrm>
          <a:off x="4496303" y="6789551"/>
          <a:ext cx="2808830" cy="109537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16 Temixco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15 </a:t>
                      </a:r>
                      <a:r>
                        <a:rPr lang="es-MX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Casasano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24 Yecapixtla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08" name="TextBox 20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9 Unidades Médicas de tiempo completo (21 consultorios)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(103,010 consultas)</a:t>
            </a:r>
          </a:p>
        </p:txBody>
      </p:sp>
      <p:graphicFrame>
        <p:nvGraphicFramePr>
          <p:cNvPr id="215" name="Table 214"/>
          <p:cNvGraphicFramePr>
            <a:graphicFrameLocks noGrp="1"/>
          </p:cNvGraphicFramePr>
          <p:nvPr/>
        </p:nvGraphicFramePr>
        <p:xfrm>
          <a:off x="151200" y="1695600"/>
          <a:ext cx="7473599" cy="166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 Villa Ayala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54,721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19,658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Cuernavaca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293,728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21,205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98,832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289,296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Jiutepec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103,494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Xochitepec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30,763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11,331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E. Zapata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43,040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14,386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Puente Ixtla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30,558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3,951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11,295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Jojutla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44,338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7,662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16,851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Yautepec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43,367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9,634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15,561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23 Civac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100,935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6,888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32,763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744,944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65,212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255,333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769,328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" name="Chart 215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7" name="TextBox 216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319401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270,841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93,354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72,122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22,170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86,870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388,412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45,760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131,955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476,690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65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3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27.7%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2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65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476,690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58642498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18,615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25,463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3,350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8,524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26,457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29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0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49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29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26,457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136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33 en Hospitales, 2 en sede, 6 en UMF y 95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6083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190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501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C/mf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83CAB7C-B4BC-BC9E-DCB7-AC105C6E59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4085591"/>
              </p:ext>
            </p:extLst>
          </p:nvPr>
        </p:nvGraphicFramePr>
        <p:xfrm>
          <a:off x="287050" y="927185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4,967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1,384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7,961	 Personal de Salud: 4,795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+68.1%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825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1,131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+19.1%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1,560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+20.1%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984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1,182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+146.4%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572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6,912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1,612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1,093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9,982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(98,784)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(7,448)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(2,087)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(83,680)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(6,964)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(1,534)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(27,409)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(5,357)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(440)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(14,577)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(5,317)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(596)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(10,167)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(5,316)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(567)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112,273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1,057,917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74,395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1,168,281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ADE2A-FF97-0CEC-17A1-6AAF5020F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317,424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288,703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223,178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190,892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166,036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124,916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121,889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105,300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104,059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95,185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600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6904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212636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26426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75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 pista atlética del estadio, alberca olímpica, chapoteadero, fosa de clavados, área de Hotel Tepozteco 5 Cuartos de Máquinas en Centro Vacacional, Oaxtepec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$148.1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para la Construcción del HGZ de 90 Camas, Yecapixtla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$73.3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HGRMF 1 Cuernavaca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Club de Personas Mayores en la Unidad Deportiva "Fidel Velázquez"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 baños de 4 Centros de Seguridad Social (Puente de Ixtla, Tlaltizapán, Tlaquiltenango y Yautepec)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4 baños en 4 Centros de Seguridad Social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$275.6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5184000"/>
          <a:ext cx="52956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$168.4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y rehabilitación del HGR No.1 en Cuernavaca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$85.8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Mejora de Imagen en HGZ7MF No. 5 en Zacatepec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$43.1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Dignificación de 3 Unidades Médicas Familiares (UMF No. 23 en Jiutepec; UMF No. 4 en Jojutla y UMF No. 6 en Puente de Ixtla)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HGRMF No.1 Cuernavaca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3 unidades (HGRMF No.1 Cuernavaca, HGZMF No.5 Zacatepec, HGZMF No. 7 Cuáutla)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cocinas y comedores de HGZ/MF No. 5 en Zacatepec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$348.6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932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 piezas de equipo médico: 1 congelador horizontal de refrigerantes para vacunas, 1 Refrigerador para vacunas, 1 Refrigerador congelador de 5.4 pies cúbicos.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104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630.9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CECI</a:t>
            </a:r>
            <a:endParaRPr lang="en-US" sz="800" b="1" dirty="0">
              <a:solidFill>
                <a:srgbClr val="A42145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90 camas Yecapixtla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$2,354.8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200 Yecapixtla, CECI 110 Cuautla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$94.0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$2,448.8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2519997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320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 Equipos electromecánicos para 2 unidades; 2 lavadoras, 1 secadora y 2 equipos para aire acondicionado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2,595.2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Yecapixtla, Cuautla, Yautepec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Temixco, Jojutla, Miacatlán, Emiliano Zapata, Xochitepec, Tepalcingo, Tlaquiltenango, Mazatepec, Jonacatepec de Leandro Valle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Yecapixtla y Cuautla.</a:t>
            </a:r>
            <a:br/>
            <a:r>
              <a:t>En integración de expediente para donación: 8 en Temixco, Jojutla, Xochitepec, Mazatepec, Jonacatepec, Yecapixtla, Cuautla y Yautepec.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6B4AD6-7E08-37A4-21E2-44DFDA92F892}"/>
              </a:ext>
            </a:extLst>
          </p:cNvPr>
          <p:cNvSpPr txBox="1"/>
          <p:nvPr/>
        </p:nvSpPr>
        <p:spPr>
          <a:xfrm>
            <a:off x="168728" y="5812971"/>
            <a:ext cx="360317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Montserrat"/>
              </a:defRPr>
            </a:pPr>
            <a:r>
              <a:rPr lang="en-US" sz="900" dirty="0"/>
              <a:t>*</a:t>
            </a:r>
            <a:r>
              <a:rPr lang="en-US" sz="900" dirty="0" err="1"/>
              <a:t>Actualmente</a:t>
            </a:r>
            <a:r>
              <a:rPr lang="en-US" sz="900" dirty="0"/>
              <a:t> la Tienda IMSS-SNTSS se </a:t>
            </a:r>
            <a:r>
              <a:rPr lang="en-US" sz="900" dirty="0" err="1"/>
              <a:t>encuentra</a:t>
            </a:r>
            <a:r>
              <a:rPr lang="en-US" sz="900" dirty="0"/>
              <a:t> fuera de </a:t>
            </a:r>
            <a:r>
              <a:rPr lang="en-US" sz="900" dirty="0" err="1"/>
              <a:t>servicio</a:t>
            </a:r>
            <a:endParaRPr dirty="0"/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27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26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3,571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217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9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 F. Velázquez, Jiutepec, Yautepec, Tlaltizapán, Villa de Ayala, Tlaquiltenango, Puente de Ixtla, Zacatepec y Jojutla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Unidades Deportivas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 y Fidel Velázquez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Vacacional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Oaxtepec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29 Cuernavaca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7_m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27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Morelos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Grupo Protector 53 SA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92,775.0%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8,014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Saint-Gobain México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3,230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3,273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del Estado de Morelos Licenciatura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-47.93%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-10.68%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-0.32%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+1.59%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+2.84%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+4.20%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+4.55%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+6.33%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188,082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220,660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189,829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5,002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24,526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221,449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C19A8202-565C-FBCD-162A-E62DCB62C714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$583.84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$338.43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$583.84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21.9%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$17,515.2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del Estado de 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$541.74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de Agua Potable y Saneamiento de Cuernavaca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$67.08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Operador de Agua Potable y Saneamiento del Municipio de Cuautla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Holiday Labs México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$8.96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Lax Constructora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Mexicanos Preponderantes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$1.88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136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917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0000" y="5997596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95 especialistas (sustitutos)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000" y="6393596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465596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465596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70000" y="11541595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363</Words>
  <Application>Microsoft Macintosh PowerPoint</Application>
  <PresentationFormat>Custom</PresentationFormat>
  <Paragraphs>92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Noto Sans</vt:lpstr>
      <vt:lpstr>Montserrat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97</cp:revision>
  <dcterms:modified xsi:type="dcterms:W3CDTF">2026-05-20T17:36:28Z</dcterms:modified>
</cp:coreProperties>
</file>