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306" r:id="rId51"/>
    <p:sldId id="281" r:id="rId14"/>
    <p:sldId id="307" r:id="rId45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24C0C-4157-2CAC-F3A9-8B6CC6BDE17E}" v="26" dt="2026-05-12T22:59:45.16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17.622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17.622" v="0"/>
        <pc:sldMkLst>
          <pc:docMk/>
          <pc:sldMk cId="2182519711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6:34.161" v="13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1:50.614" v="121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1:50.614" v="121" actId="1037"/>
          <ac:spMkLst>
            <pc:docMk/>
            <pc:sldMk cId="0" sldId="260"/>
            <ac:spMk id="7" creationId="{B10B1EC4-D9B2-82D8-4893-1BBFCA8EF2B0}"/>
          </ac:spMkLst>
        </pc:spChg>
        <pc:graphicFrameChg chg="add mod">
          <ac:chgData name="Edgar Rosales Ortega" userId="d1d54fc2-1570-4978-babc-e22e1526833f" providerId="ADAL" clId="{66BE7C30-C669-4152-AC74-10076FC0590C}" dt="2026-04-30T23:11:37.190" v="49" actId="1076"/>
          <ac:graphicFrameMkLst>
            <pc:docMk/>
            <pc:sldMk cId="0" sldId="260"/>
            <ac:graphicFrameMk id="6" creationId="{715CDBFD-3BB3-40B5-2C33-FF2DD041119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1:50.614" v="121" actId="1037"/>
          <ac:picMkLst>
            <pc:docMk/>
            <pc:sldMk cId="0" sldId="260"/>
            <ac:picMk id="5" creationId="{1F025F07-2D21-624A-9DBA-04CFE6579F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9:13.628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0" creationId="{902FC935-D3A7-BEC0-D71F-1683265EFB7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1" creationId="{FED9923E-DFB4-6C3E-E6A1-5669AD6FC02C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2" creationId="{7E3AD75F-29E3-1CF6-9E94-4414FE5EE7D7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3" creationId="{F8372CA4-864B-6EC8-0595-001C54A3336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5" creationId="{9A2C4B83-0440-C178-7838-DD368F53CEAE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6" creationId="{EF3FD006-5AC7-7105-673A-269ABE86F2D4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7" creationId="{880187D2-D5DB-5C35-C6E2-EC4CD238A207}"/>
          </ac:spMkLst>
        </pc:spChg>
        <pc:grpChg chg="add mod">
          <ac:chgData name="Edgar Rosales Ortega" userId="d1d54fc2-1570-4978-babc-e22e1526833f" providerId="ADAL" clId="{66BE7C30-C669-4152-AC74-10076FC0590C}" dt="2026-05-05T17:59:13.628" v="122" actId="164"/>
          <ac:grpSpMkLst>
            <pc:docMk/>
            <pc:sldMk cId="0" sldId="261"/>
            <ac:grpSpMk id="3" creationId="{DAC4FF54-FD2E-9C3D-8AAA-7180436BC9AA}"/>
          </ac:grpSpMkLst>
        </pc:grp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2" creationId="{DD614EFC-44AF-FF0E-63F7-44A85291A7DD}"/>
          </ac:picMkLst>
        </pc:pic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14" creationId="{2CCB841C-8E7B-AB40-20DE-37F14533EC1C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9:05:38.239" v="12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5:50.63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0:34.116" v="4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3:11.418" v="3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5:59.890" v="13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5:59.890" v="13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32.801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10.791" v="45" actId="1076"/>
          <ac:spMkLst>
            <pc:docMk/>
            <pc:sldMk cId="0" sldId="279"/>
            <ac:spMk id="2" creationId="{53411080-CEE4-F85C-436A-D3EDF8B88A54}"/>
          </ac:spMkLst>
        </pc:spChg>
        <pc:spChg chg="mod">
          <ac:chgData name="Edgar Rosales Ortega" userId="d1d54fc2-1570-4978-babc-e22e1526833f" providerId="ADAL" clId="{66BE7C30-C669-4152-AC74-10076FC0590C}" dt="2026-05-05T17:59:32.801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0:31.516" v="4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3:15.065" v="3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20.790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6:34.161" v="13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6:34.161" v="13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26.128" v="4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3:18.615" v="3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6:11.730" v="13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6:11.730" v="13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30:28.290" v="7"/>
        <pc:sldMkLst>
          <pc:docMk/>
          <pc:sldMk cId="4191754590" sldId="298"/>
        </pc:sldMkLst>
      </pc:sldChg>
    </pc:docChg>
  </pc:docChgLst>
  <pc:docChgLst>
    <pc:chgData name="Gerardo Jahir Lara Garcia" userId="S::gerardo.larag@imss.gob.mx::84d5cd65-4601-4e92-b448-a9da4809e012" providerId="AD" clId="Web-{3F324C0C-4157-2CAC-F3A9-8B6CC6BDE17E}"/>
    <pc:docChg chg="modSld">
      <pc:chgData name="Gerardo Jahir Lara Garcia" userId="S::gerardo.larag@imss.gob.mx::84d5cd65-4601-4e92-b448-a9da4809e012" providerId="AD" clId="Web-{3F324C0C-4157-2CAC-F3A9-8B6CC6BDE17E}" dt="2026-05-12T22:59:45.165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3F324C0C-4157-2CAC-F3A9-8B6CC6BDE17E}" dt="2026-05-12T22:59:45.165" v="22" actId="1076"/>
        <pc:sldMkLst>
          <pc:docMk/>
          <pc:sldMk cId="364733940" sldId="284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9:06.804" v="16"/>
          <ac:picMkLst>
            <pc:docMk/>
            <pc:sldMk cId="364733940" sldId="284"/>
            <ac:picMk id="3" creationId="{DEB0BC89-F271-524A-D530-39B7FBCA8B85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9:45.165" v="22" actId="1076"/>
          <ac:picMkLst>
            <pc:docMk/>
            <pc:sldMk cId="364733940" sldId="284"/>
            <ac:picMk id="4" creationId="{E6DD4534-F8C1-A22D-207C-63104DEE92D3}"/>
          </ac:picMkLst>
        </pc:picChg>
      </pc:sldChg>
      <pc:sldChg chg="addSp delSp modSp">
        <pc:chgData name="Gerardo Jahir Lara Garcia" userId="S::gerardo.larag@imss.gob.mx::84d5cd65-4601-4e92-b448-a9da4809e012" providerId="AD" clId="Web-{3F324C0C-4157-2CAC-F3A9-8B6CC6BDE17E}" dt="2026-05-12T22:58:26.162" v="14" actId="1076"/>
        <pc:sldMkLst>
          <pc:docMk/>
          <pc:sldMk cId="3240565764" sldId="297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8:12.224" v="11"/>
          <ac:picMkLst>
            <pc:docMk/>
            <pc:sldMk cId="3240565764" sldId="297"/>
            <ac:picMk id="3" creationId="{702E0763-A68F-B367-8E91-D94094CE3943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8:26.162" v="14" actId="1076"/>
          <ac:picMkLst>
            <pc:docMk/>
            <pc:sldMk cId="3240565764" sldId="297"/>
            <ac:picMk id="4" creationId="{189FB785-75AE-1755-BA88-04ECEAF4084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1657353.0</c:v>
                </c:pt>
                <c:pt idx="1">
                  <c:v>1144803.0</c:v>
                </c:pt>
                <c:pt idx="2">
                  <c:v>617421.0</c:v>
                </c:pt>
                <c:pt idx="3">
                  <c:v>1656418.0</c:v>
                </c:pt>
                <c:pt idx="4">
                  <c:v>13388.0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30.293320144705987</c:v>
                </c:pt>
                <c:pt idx="1">
                  <c:v>69.70667985529401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10.597694392</c:v>
                </c:pt>
                <c:pt idx="1">
                  <c:v>89.402305608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31.916233663989924</c:v>
                </c:pt>
                <c:pt idx="1">
                  <c:v>68.08376633601007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29.64374052501396</c:v>
                </c:pt>
                <c:pt idx="1">
                  <c:v>70.35625947498605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105</c:v>
                </c:pt>
                <c:pt idx="2">
                  <c:v>102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2337</c:v>
                </c:pt>
                <c:pt idx="1">
                  <c:v>57293</c:v>
                </c:pt>
                <c:pt idx="2">
                  <c:v>67422</c:v>
                </c:pt>
                <c:pt idx="3">
                  <c:v>102096</c:v>
                </c:pt>
                <c:pt idx="4">
                  <c:v>122276</c:v>
                </c:pt>
                <c:pt idx="5">
                  <c:v>81211</c:v>
                </c:pt>
                <c:pt idx="6">
                  <c:v>5524</c:v>
                </c:pt>
                <c:pt idx="7">
                  <c:v>24979</c:v>
                </c:pt>
                <c:pt idx="8">
                  <c:v>30918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1838</c:v>
                </c:pt>
                <c:pt idx="1">
                  <c:v>53859</c:v>
                </c:pt>
                <c:pt idx="2">
                  <c:v>64248</c:v>
                </c:pt>
                <c:pt idx="3">
                  <c:v>102653</c:v>
                </c:pt>
                <c:pt idx="4">
                  <c:v>123324</c:v>
                </c:pt>
                <c:pt idx="5">
                  <c:v>82360</c:v>
                </c:pt>
                <c:pt idx="6">
                  <c:v>5643</c:v>
                </c:pt>
                <c:pt idx="7">
                  <c:v>26841</c:v>
                </c:pt>
                <c:pt idx="8">
                  <c:v>33407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440124</c:v>
                </c:pt>
                <c:pt idx="1">
                  <c:v>452977</c:v>
                </c:pt>
                <c:pt idx="2">
                  <c:v>460651</c:v>
                </c:pt>
                <c:pt idx="3">
                  <c:v>457487</c:v>
                </c:pt>
                <c:pt idx="4">
                  <c:v>462608</c:v>
                </c:pt>
                <c:pt idx="5">
                  <c:v>477659</c:v>
                </c:pt>
                <c:pt idx="6">
                  <c:v>486293</c:v>
                </c:pt>
                <c:pt idx="7">
                  <c:v>494056</c:v>
                </c:pt>
                <c:pt idx="8">
                  <c:v>494173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Michoacán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_Michoac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55%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1,657,353</a:t>
            </a:r>
            <a:br/>
            <a:r>
              <a:t>33%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1,144,803</a:t>
            </a:r>
            <a:br/>
            <a:r>
              <a:t>22%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617,421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1,656,418</a:t>
            </a:r>
            <a:br/>
            <a:r>
              <a:t>33%</a:t>
            </a:r>
          </a:p>
        </p:txBody>
      </p:sp>
      <p:pic>
        <p:nvPicPr>
          <p:cNvPr id="128" name="Picture 127" descr="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13,388</a:t>
            </a:r>
            <a:br/>
            <a:r>
              <a:t>0.26%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5,089,383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1,502,653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1,663,453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818,523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961,165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248,008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253,521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684,130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702,288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1,087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11,343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6_m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988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39 UMF, 7 UMFH, 1 UMF-UMAA y no incluye 17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5;g3d0b4d3c5c9_0_28">
            <a:extLst>
              <a:ext uri="{FF2B5EF4-FFF2-40B4-BE49-F238E27FC236}">
                <a16:creationId xmlns:a16="http://schemas.microsoft.com/office/drawing/2014/main" id="{1F025F07-2D21-624A-9DBA-04CFE6579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50809"/>
          <a:stretch/>
        </p:blipFill>
        <p:spPr>
          <a:xfrm>
            <a:off x="405622" y="2113793"/>
            <a:ext cx="2852708" cy="1776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67;g3d0b4d3c5c9_0_28">
            <a:extLst>
              <a:ext uri="{FF2B5EF4-FFF2-40B4-BE49-F238E27FC236}">
                <a16:creationId xmlns:a16="http://schemas.microsoft.com/office/drawing/2014/main" id="{715CDBFD-3BB3-40B5-2C33-FF2DD0411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514213"/>
              </p:ext>
            </p:extLst>
          </p:nvPr>
        </p:nvGraphicFramePr>
        <p:xfrm>
          <a:off x="288000" y="1191600"/>
          <a:ext cx="719870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</a:t>
                      </a: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Zacapu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10B1EC4-D9B2-82D8-4893-1BBFCA8EF2B0}"/>
              </a:ext>
            </a:extLst>
          </p:cNvPr>
          <p:cNvSpPr txBox="1"/>
          <p:nvPr/>
        </p:nvSpPr>
        <p:spPr>
          <a:xfrm>
            <a:off x="3579960" y="2053244"/>
            <a:ext cx="3889512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 de marzo de 1958 inició el régimen obligatorio del IMSS en la entidad.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22 de agosto de 1961 se inauguró el primer hospital del IMSS en la entidad, en Zacapu, Michoacán: el Hospital General de Zona No. 2.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Inició operaciones con servicios básicos de hospitalización, cirugía general, medicina interna, gineco-obstetricia, pediatría, laboratorio clínico y rayos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ich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DAC4FF54-FD2E-9C3D-8AAA-7180436BC9AA}"/>
              </a:ext>
            </a:extLst>
          </p:cNvPr>
          <p:cNvGrpSpPr/>
          <p:nvPr/>
        </p:nvGrpSpPr>
        <p:grpSpPr>
          <a:xfrm>
            <a:off x="0" y="5226867"/>
            <a:ext cx="7772400" cy="3561730"/>
            <a:chOff x="0" y="5226867"/>
            <a:chExt cx="7772400" cy="3561730"/>
          </a:xfrm>
        </p:grpSpPr>
        <p:pic>
          <p:nvPicPr>
            <p:cNvPr id="2" name="Google Shape;220;g3d635d120e2_2_8" title="HGZ 86 URUAPAN.jpg">
              <a:extLst>
                <a:ext uri="{FF2B5EF4-FFF2-40B4-BE49-F238E27FC236}">
                  <a16:creationId xmlns:a16="http://schemas.microsoft.com/office/drawing/2014/main" id="{DD614EFC-44AF-FF0E-63F7-44A85291A7D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715313" y="6007274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0" name="Google Shape;222;g3d635d120e2_2_8">
              <a:extLst>
                <a:ext uri="{FF2B5EF4-FFF2-40B4-BE49-F238E27FC236}">
                  <a16:creationId xmlns:a16="http://schemas.microsoft.com/office/drawing/2014/main" id="{902FC935-D3A7-BEC0-D71F-1683265EFB70}"/>
                </a:ext>
              </a:extLst>
            </p:cNvPr>
            <p:cNvSpPr/>
            <p:nvPr/>
          </p:nvSpPr>
          <p:spPr>
            <a:xfrm>
              <a:off x="1137854" y="7583478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23;g3d635d120e2_2_8">
              <a:extLst>
                <a:ext uri="{FF2B5EF4-FFF2-40B4-BE49-F238E27FC236}">
                  <a16:creationId xmlns:a16="http://schemas.microsoft.com/office/drawing/2014/main" id="{FED9923E-DFB4-6C3E-E6A1-5669AD6FC02C}"/>
                </a:ext>
              </a:extLst>
            </p:cNvPr>
            <p:cNvSpPr/>
            <p:nvPr/>
          </p:nvSpPr>
          <p:spPr>
            <a:xfrm>
              <a:off x="715322" y="7583467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2" name="Google Shape;224;g3d635d120e2_2_8">
              <a:extLst>
                <a:ext uri="{FF2B5EF4-FFF2-40B4-BE49-F238E27FC236}">
                  <a16:creationId xmlns:a16="http://schemas.microsoft.com/office/drawing/2014/main" id="{7E3AD75F-29E3-1CF6-9E94-4414FE5EE7D7}"/>
                </a:ext>
              </a:extLst>
            </p:cNvPr>
            <p:cNvSpPr/>
            <p:nvPr/>
          </p:nvSpPr>
          <p:spPr>
            <a:xfrm>
              <a:off x="4278797" y="7569600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" name="Google Shape;225;g3d635d120e2_2_8">
              <a:extLst>
                <a:ext uri="{FF2B5EF4-FFF2-40B4-BE49-F238E27FC236}">
                  <a16:creationId xmlns:a16="http://schemas.microsoft.com/office/drawing/2014/main" id="{F8372CA4-864B-6EC8-0595-001C54A33360}"/>
                </a:ext>
              </a:extLst>
            </p:cNvPr>
            <p:cNvSpPr/>
            <p:nvPr/>
          </p:nvSpPr>
          <p:spPr>
            <a:xfrm>
              <a:off x="4737004" y="7569600"/>
              <a:ext cx="2038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" name="Google Shape;227;g3d635d120e2_2_8">
              <a:extLst>
                <a:ext uri="{FF2B5EF4-FFF2-40B4-BE49-F238E27FC236}">
                  <a16:creationId xmlns:a16="http://schemas.microsoft.com/office/drawing/2014/main" id="{2CCB841C-8E7B-AB40-20DE-37F14533EC1C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56529" y="6007274"/>
              <a:ext cx="2471605" cy="1562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33;g3d635d120e2_2_8">
              <a:extLst>
                <a:ext uri="{FF2B5EF4-FFF2-40B4-BE49-F238E27FC236}">
                  <a16:creationId xmlns:a16="http://schemas.microsoft.com/office/drawing/2014/main" id="{9A2C4B83-0440-C178-7838-DD368F53CEAE}"/>
                </a:ext>
              </a:extLst>
            </p:cNvPr>
            <p:cNvSpPr txBox="1"/>
            <p:nvPr/>
          </p:nvSpPr>
          <p:spPr>
            <a:xfrm>
              <a:off x="0" y="522686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F3FD006-5AC7-7105-673A-269ABE86F2D4}"/>
                </a:ext>
              </a:extLst>
            </p:cNvPr>
            <p:cNvSpPr txBox="1"/>
            <p:nvPr/>
          </p:nvSpPr>
          <p:spPr>
            <a:xfrm>
              <a:off x="1137854" y="7994603"/>
              <a:ext cx="15273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</a:p>
            <a:p>
              <a:pPr>
                <a:buNone/>
              </a:pPr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$4.3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endParaRPr lang="es-MX" b="1" dirty="0">
                <a:latin typeface="Montserrat" panose="00000500000000000000" pitchFamily="2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80187D2-D5DB-5C35-C6E2-EC4CD238A207}"/>
                </a:ext>
              </a:extLst>
            </p:cNvPr>
            <p:cNvSpPr txBox="1"/>
            <p:nvPr/>
          </p:nvSpPr>
          <p:spPr>
            <a:xfrm>
              <a:off x="4787543" y="8049933"/>
              <a:ext cx="152731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  <a:endParaRPr lang="es-MX" b="0" dirty="0">
                <a:effectLst/>
                <a:latin typeface="Montserrat" panose="00000500000000000000" pitchFamily="2" charset="0"/>
              </a:endParaRPr>
            </a:p>
            <a:p>
              <a:pPr marR="63500"/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$38.2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br>
                <a:rPr lang="es-MX" dirty="0">
                  <a:solidFill>
                    <a:srgbClr val="595959"/>
                  </a:solidFill>
                  <a:latin typeface="Montserrat" panose="00000500000000000000" pitchFamily="2" charset="0"/>
                </a:rPr>
              </a:br>
              <a:endParaRPr lang="es-MX" dirty="0">
                <a:solidFill>
                  <a:srgbClr val="595959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34617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DE7BE87-5A78-D635-27A7-F00B42CFF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2551D3D-350D-F5FD-A51A-86F44C0970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D9E3FE5-59FF-D04C-6FCE-9A1C9A1FCA73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6C05BA-6161-DF12-DA3D-3B514476A8D8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3DC7D2F-0957-ED6E-C51A-B058293BDD80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7CB526-4F3B-0BEA-451C-ED7095F6015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D5E7C2-0152-5266-A2A7-4183603B9E2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+12,242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+275,897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+274,954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2,861,066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275,897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969,179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2,868,528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273,645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14,861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4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Puruaran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Infiernillo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Taretán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20 Pátzcuaro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Cd.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43,183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Sahuayo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Jiquilpan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Tancitaro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Purepero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Zinapécuaro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Mineral Angangeo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Nvo. Urecho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Jungapeo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Nva. Italia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Tepalcatepec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Coalcomán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La Huacana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Villa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Tuzantla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Churumuco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Cuitzeo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Maravatio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Villa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Huetamo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Sta. Clara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Cotija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La 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Tlalpujahua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Quiroga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Yurecuaro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Tacámbaro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515,110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48,441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175,179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578,276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85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5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4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85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578,276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adroTexto 196">
            <a:extLst>
              <a:ext uri="{FF2B5EF4-FFF2-40B4-BE49-F238E27FC236}">
                <a16:creationId xmlns:a16="http://schemas.microsoft.com/office/drawing/2014/main" id="{4133803A-5103-23E0-3F33-B7C41730ED27}"/>
              </a:ext>
            </a:extLst>
          </p:cNvPr>
          <p:cNvSpPr txBox="1"/>
          <p:nvPr/>
        </p:nvSpPr>
        <p:spPr>
          <a:xfrm>
            <a:off x="4080058" y="54590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 UMTC con   4 consultorios</a:t>
            </a:r>
          </a:p>
        </p:txBody>
      </p:sp>
      <p:graphicFrame>
        <p:nvGraphicFramePr>
          <p:cNvPr id="198" name="Tabla 197">
            <a:extLst>
              <a:ext uri="{FF2B5EF4-FFF2-40B4-BE49-F238E27FC236}">
                <a16:creationId xmlns:a16="http://schemas.microsoft.com/office/drawing/2014/main" id="{ADE1AF86-E3E5-428E-6FB4-342E1D65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93726"/>
              </p:ext>
            </p:extLst>
          </p:nvPr>
        </p:nvGraphicFramePr>
        <p:xfrm>
          <a:off x="4683854" y="66745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20 Pátzcuaro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5 Sahuayo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La Mira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Cd Hidalgo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(51 consultorios)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(227,857 consultas)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80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391,785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18 Zitácuaro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15,898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Jacona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64,281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21,049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Guacamayas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22,493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77 La Piedad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143,865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48,907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76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142,311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15,486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73,866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26,405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64 Puruandiro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10,737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75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319,790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103,843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81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208,591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70,738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82 Zamora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65,803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84 Tacícuaro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145,731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17,569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50,400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85 Tarimbaro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51,997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1,976,857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179,987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664,749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1,928,028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Chart 20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72962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143,444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50,055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80,132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273,645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95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6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5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95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857,385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8041134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14,861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60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3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29.6%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72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60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50,132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279 en Hospitales, 0 en sede, 47 en UMF y 81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73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731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5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Villamar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Ario de Rosales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Tuxpan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Paracho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Huetamo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168604B-5EA7-3699-0604-D9AAD8C6B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874022"/>
              </p:ext>
            </p:extLst>
          </p:nvPr>
        </p:nvGraphicFramePr>
        <p:xfrm>
          <a:off x="287050" y="8806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14,745	 Personal de Salud: 8,652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3,306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+178.9%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-6.7%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12,058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3,707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1,277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17,763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(176,766)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(2,353)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(158,738)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(14,050)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(1,798)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(3,744)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(37,441)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(1,494)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(3,294)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(27,666)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(11,976)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(1,262)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(2,008)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(23,663)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(10,032)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(945)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(1,571)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208,157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2,035,932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164,368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2,049,438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8638-6C4F-EB81-BFFD-8F490BC0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641,534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423,288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361,744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221,555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210,401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197,780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195,342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193,345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180,039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51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81878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89FB785-75AE-1755-BA88-04ECEAF40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49" y="1708672"/>
            <a:ext cx="1668136" cy="3977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 1 Charo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23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Lázaro Cárdenas y Morelia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$83.0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10 unidades, Michoacán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55 unidades, Michoacán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(HGR No.1 Charo, HGZ No.83 Morelia, UMF No. 80 Morelia, UM F No.81 Uruapan, UMF No.82 Zamora)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(HGR No.1 Charo, HGZ No.12 Lázaro Cardenas, HGZ No.83 Morelia)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$780.2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0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piezas de equipo médico: 2 congeladores horizontales de refrigerantes para vacunas, 1 refrigerador para vacunas, 2 refrigeradores congeladores de 5.4 pies cúbicos, 1 monitor de signos vitales para el traslado del paciente (con protección antimagnética), 1 resonancia magnética, 1 mastógrafo digital con estereotaxia y tomosíntesis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77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837.4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6DD4534-F8C1-A22D-207C-63104DEE9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82" y="2357676"/>
            <a:ext cx="3600170" cy="6981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Villas del Pedregal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$3,794.5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UMF PLUS (Nuevo San Juan, La Piedad, Jacona, Lázaro Cárdenas y Zacapu)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$3,321.9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Zitacuaro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$2,634.3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del Centro de Radioterapia en HGR No. 1, Charo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$332.0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$10,082.7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527993"/>
          <a:ext cx="5396400" cy="7055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Reconversión de 7 Hospitales Rurales en Hospitales de Zona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$707.4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especialidades y servicios del HGZ No. 86 Uruapan (UCIN endoscopia, neurología, ampliación hemodiálisis y Resonador)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8 Uruapan, Incremento de 4 a 10 sillones de hemodiálisis y una UCIA, 5 camas.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mayor del HGZ No. 12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2 Zacapu, equipo de tomografía, 1 quirófano, incremento de 7 a 10 sillones de hemodiálisis.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Integral de Unidad Deportiva Zacapu, Techado de alberca y construcción de vestidores y regaderas en Centro de Seguridad Social de Lázaro Cárdenas, Mantenimiento Integral de alberca, canchas y otros del CSS Morelia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10 UMRs (UMR Capula, UMF Lombardía, UMR Opopeo, UMR Rincón de Nicolás Romero, entre otras).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UMF No. 81 Uruapan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HGSZMF No. 9 Apatzingan,  sillones de hemodiálisis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 No. 7 La Piedad, 10 sillones de hemodiálisis y un equipo de tomografía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la Unidad de hemodiálisis Zamora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$1,614.7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076396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7 unidades; 1 elevador, 4 lavadoras, 4 secadoras, 3 equipos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11,742.7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Uruapan, Tarímbaro, Jiquilpan, Tacámbaro de Collados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Zamora, Jacona, La Piedad, Morelia, Sahuayo, Zacapu, Lázaro Cárdenas, Ciudad Hidalgo, Taretán, Ario de Rosales, Apatzingán de la Constitución, Pátzcuaro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 Jiquilpan 150, Uruapan 250 niños y Tarimbaro 250 niños, inicio de obra 6 de mayo 2026. En integración de expediente para donación: 10 en Sahuayo, Morelia, Lázaro Cárdenas, Taretán, Ario de Rosales, Apatzingán, Pátzcuaro, Ciudad Hidalgo, Zacapu, y Tacámbaro.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6,645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Lázaro Cárdenas, Morelia y Los Reyes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Morelia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Zacapu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27 Morelia y No. 148 Zamora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6_mi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40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Michoacán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Arcelormittal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4,894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Morelia Mich Sin Tipo de Sociedad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Abarrotera del Duero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-21.35%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-5.99%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-4.71%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+7.45%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384,677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387,101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26,344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58,654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3411080-CEE4-F85C-436A-D3EDF8B88A5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$551.27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$296.37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$551.27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$16,538.1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Policía Auxiliar del Estado de Michoacán de Ocampo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Intercultural Indígena de Michoacán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H. Ayuntamiento de Ziracuarétiro Michoacán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Administrativos Hoteleros del Sur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Contrucciones y Diseños Casa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809,581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716,952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30,465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9,554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14,534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1,144,803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244,728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900,075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168,498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809,581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7,341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Ario de Rosales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Buenavista Tomatlán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Coalcomán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Huetamo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133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Paracho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133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Tuxpan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Villamar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390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430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37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Medicina Fam 72 (Yurécuaro)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37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5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521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32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3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750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Buenavista Tomatlán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Coalcomán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Medicina Fam 72 (Yurécuaro)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320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2026-05-12T23:00:06Z</dcterms:modified>
</cp:coreProperties>
</file>